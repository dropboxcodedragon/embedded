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75" r:id="rId4"/>
    <p:sldMasterId id="2147483690" r:id="rId5"/>
  </p:sldMasterIdLst>
  <p:notesMasterIdLst>
    <p:notesMasterId r:id="rId13"/>
  </p:notesMasterIdLst>
  <p:handoutMasterIdLst>
    <p:handoutMasterId r:id="rId58"/>
  </p:handoutMasterIdLst>
  <p:sldIdLst>
    <p:sldId id="316" r:id="rId6"/>
    <p:sldId id="310" r:id="rId7"/>
    <p:sldId id="321" r:id="rId8"/>
    <p:sldId id="374" r:id="rId9"/>
    <p:sldId id="318" r:id="rId10"/>
    <p:sldId id="371" r:id="rId11"/>
    <p:sldId id="372" r:id="rId12"/>
    <p:sldId id="373" r:id="rId14"/>
    <p:sldId id="375" r:id="rId15"/>
    <p:sldId id="377" r:id="rId16"/>
    <p:sldId id="378" r:id="rId17"/>
    <p:sldId id="380" r:id="rId18"/>
    <p:sldId id="382" r:id="rId19"/>
    <p:sldId id="379" r:id="rId20"/>
    <p:sldId id="394" r:id="rId21"/>
    <p:sldId id="395" r:id="rId22"/>
    <p:sldId id="383" r:id="rId23"/>
    <p:sldId id="376" r:id="rId24"/>
    <p:sldId id="407" r:id="rId25"/>
    <p:sldId id="411" r:id="rId26"/>
    <p:sldId id="412" r:id="rId27"/>
    <p:sldId id="413" r:id="rId28"/>
    <p:sldId id="414" r:id="rId29"/>
    <p:sldId id="415" r:id="rId30"/>
    <p:sldId id="416" r:id="rId31"/>
    <p:sldId id="417" r:id="rId32"/>
    <p:sldId id="418" r:id="rId33"/>
    <p:sldId id="419" r:id="rId34"/>
    <p:sldId id="420" r:id="rId35"/>
    <p:sldId id="423" r:id="rId36"/>
    <p:sldId id="424" r:id="rId37"/>
    <p:sldId id="402" r:id="rId38"/>
    <p:sldId id="403" r:id="rId39"/>
    <p:sldId id="396" r:id="rId40"/>
    <p:sldId id="398" r:id="rId41"/>
    <p:sldId id="399" r:id="rId42"/>
    <p:sldId id="400" r:id="rId43"/>
    <p:sldId id="401" r:id="rId44"/>
    <p:sldId id="404" r:id="rId45"/>
    <p:sldId id="405" r:id="rId46"/>
    <p:sldId id="429" r:id="rId47"/>
    <p:sldId id="384" r:id="rId48"/>
    <p:sldId id="385" r:id="rId49"/>
    <p:sldId id="386" r:id="rId50"/>
    <p:sldId id="387" r:id="rId51"/>
    <p:sldId id="388" r:id="rId52"/>
    <p:sldId id="389" r:id="rId53"/>
    <p:sldId id="390" r:id="rId54"/>
    <p:sldId id="391" r:id="rId55"/>
    <p:sldId id="392" r:id="rId56"/>
    <p:sldId id="393" r:id="rId57"/>
  </p:sldIdLst>
  <p:sldSz cx="12187555" cy="7021830"/>
  <p:notesSz cx="9296400" cy="70104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14680" lvl="1" indent="-15748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28725" lvl="2" indent="-314325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43405" lvl="3" indent="-471805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57450" lvl="4" indent="-62865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-62865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-62865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-62865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-62865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4" userDrawn="1">
          <p15:clr>
            <a:srgbClr val="A4A3A4"/>
          </p15:clr>
        </p15:guide>
        <p15:guide id="2" orient="horz" pos="685" userDrawn="1">
          <p15:clr>
            <a:srgbClr val="A4A3A4"/>
          </p15:clr>
        </p15:guide>
        <p15:guide id="3" pos="2614" userDrawn="1">
          <p15:clr>
            <a:srgbClr val="A4A3A4"/>
          </p15:clr>
        </p15:guide>
        <p15:guide id="4" pos="5159" userDrawn="1">
          <p15:clr>
            <a:srgbClr val="A4A3A4"/>
          </p15:clr>
        </p15:guide>
        <p15:guide id="5" pos="3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7A8287"/>
    <a:srgbClr val="717171"/>
    <a:srgbClr val="B30000"/>
    <a:srgbClr val="7E0000"/>
    <a:srgbClr val="9E0A26"/>
    <a:srgbClr val="0D9342"/>
    <a:srgbClr val="747474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083"/>
    <p:restoredTop sz="97673"/>
  </p:normalViewPr>
  <p:slideViewPr>
    <p:cSldViewPr snapToGrid="0" showGuides="1">
      <p:cViewPr varScale="1">
        <p:scale>
          <a:sx n="91" d="100"/>
          <a:sy n="91" d="100"/>
        </p:scale>
        <p:origin x="384" y="84"/>
      </p:cViewPr>
      <p:guideLst>
        <p:guide orient="horz" pos="1534"/>
        <p:guide orient="horz" pos="685"/>
        <p:guide pos="2614"/>
        <p:guide pos="5159"/>
        <p:guide pos="34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50" d="100"/>
        <a:sy n="50" d="100"/>
      </p:scale>
      <p:origin x="0" y="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2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1.xml"/><Relationship Id="rId59" Type="http://schemas.openxmlformats.org/officeDocument/2006/relationships/presProps" Target="presProps.xml"/><Relationship Id="rId58" Type="http://schemas.openxmlformats.org/officeDocument/2006/relationships/handoutMaster" Target="handoutMasters/handoutMaster1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4376738" cy="349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92" tIns="46146" rIns="92292" bIns="46146" numCol="1" anchor="t" anchorCtr="0" compatLnSpc="1"/>
          <a:lstStyle>
            <a:lvl1pPr defTabSz="922655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226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277225" y="0"/>
            <a:ext cx="1017588" cy="349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92" tIns="46146" rIns="92292" bIns="46146" numCol="1" anchor="t" anchorCtr="0" compatLnSpc="1"/>
          <a:lstStyle>
            <a:lvl1pPr algn="r" defTabSz="922655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226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236681-7156-4480-AE64-29C68A5EE95B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7975"/>
            <a:ext cx="4027488" cy="350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92" tIns="46146" rIns="92292" bIns="46146" numCol="1" anchor="b" anchorCtr="0" compatLnSpc="1"/>
          <a:lstStyle>
            <a:lvl1pPr defTabSz="923925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Template-WSU Hrz 201.ppt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92" tIns="46146" rIns="92292" bIns="46146" numCol="1" anchor="b" anchorCtr="0" compatLnSpc="1"/>
          <a:lstStyle>
            <a:lvl1pPr algn="r" defTabSz="922655" eaLnBrk="1" hangingPunct="1">
              <a:defRPr sz="1200"/>
            </a:lvl1pPr>
          </a:lstStyle>
          <a:p>
            <a:pPr marL="0" marR="0" lvl="0" indent="0" algn="r" defTabSz="9226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CA73A3-3EE7-4293-867F-9B8FBD0D780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7938"/>
            <a:ext cx="3757613" cy="275590"/>
          </a:xfrm>
          <a:prstGeom prst="rect">
            <a:avLst/>
          </a:prstGeom>
          <a:noFill/>
        </p:spPr>
        <p:txBody>
          <a:bodyPr lIns="91650" tIns="45825" rIns="91650" bIns="45825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30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WASHINGTON STATE UNIVERSITY</a:t>
            </a:r>
            <a:endParaRPr kumimoji="0" lang="en-US" sz="1200" b="0" i="0" u="none" strike="noStrike" kern="1200" cap="none" spc="301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49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92" tIns="46146" rIns="92292" bIns="46146" numCol="1" anchor="t" anchorCtr="0" compatLnSpc="1"/>
          <a:lstStyle>
            <a:lvl1pPr defTabSz="922655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226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738" y="0"/>
            <a:ext cx="4029075" cy="349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92" tIns="46146" rIns="92292" bIns="46146" numCol="1" anchor="t" anchorCtr="0" compatLnSpc="1"/>
          <a:lstStyle>
            <a:lvl1pPr algn="r" defTabSz="922655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226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555C18-098B-43F1-AC78-45EDEB57A733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41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370138" y="527050"/>
            <a:ext cx="4562475" cy="262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275" y="3330575"/>
            <a:ext cx="7435850" cy="3152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92" tIns="46146" rIns="92292" bIns="46146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61468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228725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843405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45745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7975"/>
            <a:ext cx="4027488" cy="350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92" tIns="46146" rIns="92292" bIns="46146" numCol="1" anchor="b" anchorCtr="0" compatLnSpc="1"/>
          <a:lstStyle>
            <a:lvl1pPr defTabSz="923925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Template-WSU Hrz 201.ppt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92" tIns="46146" rIns="92292" bIns="46146" numCol="1" anchor="b" anchorCtr="0" compatLnSpc="1"/>
          <a:lstStyle>
            <a:lvl1pPr algn="r" defTabSz="922655" eaLnBrk="1" hangingPunct="1">
              <a:defRPr sz="1200"/>
            </a:lvl1pPr>
          </a:lstStyle>
          <a:p>
            <a:pPr marL="0" marR="0" lvl="0" indent="0" algn="r" defTabSz="9226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BAE9E6-DFE7-48C6-84B7-49545C10A24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146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2872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4340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5745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73400" algn="l" defTabSz="122936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88080" algn="l" defTabSz="122936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302760" algn="l" defTabSz="122936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917440" algn="l" defTabSz="122936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操作系统的本身是一个比较复杂的东西，任务的管理和调度实现的底层是很复杂和困难的。但是呢，我们一般都是把操作系统本身作为一个工具一个平台，我们的目的是使用它的功能而不是开发一个操作系统。</a:t>
            </a:r>
            <a:endParaRPr lang="en-US" altLang="zh-CN"/>
          </a:p>
          <a:p>
            <a:r>
              <a:rPr lang="zh-CN" altLang="zh-CN"/>
              <a:t>实际上真正能使用操作系统的人并不多，反而是跑裸机的占大多数，这也和产品的具体要求有关，很多简单的系统只需要裸机即可满足。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226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555C18-098B-43F1-AC78-45EDEB57A733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FreeRTOS 的优点：小巧、支持多平台、功能模块化。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226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555C18-098B-43F1-AC78-45EDEB57A733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FreeRTOS 是开源的，下载后可以自由修改和使用。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226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555C18-098B-43F1-AC78-45EDEB57A733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226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555C18-098B-43F1-AC78-45EDEB57A733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226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555C18-098B-43F1-AC78-45EDEB57A733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image" Target="../media/image6.png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image" Target="../media/image7.png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image" Target="../media/image8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image" Target="../media/image9.png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 flipH="1">
            <a:off x="0" y="0"/>
            <a:ext cx="646113" cy="702151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9" name="Picture 11"/>
          <p:cNvPicPr>
            <a:picLocks noChangeAspect="1"/>
          </p:cNvPicPr>
          <p:nvPr userDrawn="1"/>
        </p:nvPicPr>
        <p:blipFill>
          <a:blip r:embed="rId2"/>
          <a:srcRect r="36736"/>
          <a:stretch>
            <a:fillRect/>
          </a:stretch>
        </p:blipFill>
        <p:spPr>
          <a:xfrm>
            <a:off x="-9525" y="0"/>
            <a:ext cx="12196763" cy="693738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</p:pic>
      <p:sp>
        <p:nvSpPr>
          <p:cNvPr id="13" name="Rectangle 13"/>
          <p:cNvSpPr/>
          <p:nvPr/>
        </p:nvSpPr>
        <p:spPr bwMode="gray">
          <a:xfrm flipH="1">
            <a:off x="-9525" y="0"/>
            <a:ext cx="644525" cy="693738"/>
          </a:xfrm>
          <a:prstGeom prst="rect">
            <a:avLst/>
          </a:prstGeom>
          <a:gradFill>
            <a:gsLst>
              <a:gs pos="0">
                <a:schemeClr val="tx1">
                  <a:lumMod val="85000"/>
                </a:schemeClr>
              </a:gs>
              <a:gs pos="100000">
                <a:schemeClr val="tx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81" name="图片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575" y="61913"/>
            <a:ext cx="568325" cy="569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 bwMode="invGray">
          <a:xfrm>
            <a:off x="645207" y="2304521"/>
            <a:ext cx="11542027" cy="579812"/>
          </a:xfrm>
        </p:spPr>
        <p:txBody>
          <a:bodyPr anchorCtr="0"/>
          <a:lstStyle>
            <a:lvl1pPr algn="ctr">
              <a:defRPr sz="3200">
                <a:solidFill>
                  <a:schemeClr val="bg2"/>
                </a:solidFill>
                <a:effectLst/>
              </a:defRPr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idx="1"/>
          </p:nvPr>
        </p:nvSpPr>
        <p:spPr bwMode="invGray">
          <a:xfrm>
            <a:off x="645205" y="3097375"/>
            <a:ext cx="11542029" cy="588214"/>
          </a:xfrm>
        </p:spPr>
        <p:txBody>
          <a:bodyPr rIns="0" anchorCtr="0"/>
          <a:lstStyle>
            <a:lvl1pPr marL="0" indent="0" algn="ctr">
              <a:buFont typeface="Arial" panose="020B0604020202020204" pitchFamily="34" charset="0"/>
              <a:buNone/>
              <a:defRPr sz="30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pPr fontAlgn="base"/>
            <a:r>
              <a:rPr lang="en-US" strike="noStrike" noProof="1" dirty="0"/>
              <a:t>Click to edit Master subtitle style</a:t>
            </a:r>
            <a:endParaRPr lang="en-US" strike="noStrike" noProof="1" dirty="0"/>
          </a:p>
        </p:txBody>
      </p:sp>
      <p:sp>
        <p:nvSpPr>
          <p:cNvPr id="15" name="Rectangle 6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34150"/>
            <a:ext cx="20669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7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754313" y="6534150"/>
            <a:ext cx="81311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1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8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888663" y="6534150"/>
            <a:ext cx="12985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C31438-4DFE-43A2-9E78-3724DF25393C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 rot="5400000" flipH="1">
            <a:off x="5771356" y="-5772944"/>
            <a:ext cx="644525" cy="1218723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0"/>
          <p:cNvSpPr/>
          <p:nvPr/>
        </p:nvSpPr>
        <p:spPr bwMode="gray">
          <a:xfrm rot="5400000" flipH="1">
            <a:off x="6042025" y="-5399087"/>
            <a:ext cx="103188" cy="121872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 bwMode="invGray">
          <a:xfrm>
            <a:off x="645207" y="2304521"/>
            <a:ext cx="11542027" cy="579812"/>
          </a:xfrm>
        </p:spPr>
        <p:txBody>
          <a:bodyPr anchorCtr="0"/>
          <a:lstStyle>
            <a:lvl1pPr algn="ctr">
              <a:defRPr sz="3200">
                <a:solidFill>
                  <a:schemeClr val="bg2"/>
                </a:solidFill>
                <a:effectLst/>
              </a:defRPr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idx="1"/>
          </p:nvPr>
        </p:nvSpPr>
        <p:spPr bwMode="invGray">
          <a:xfrm>
            <a:off x="645205" y="3097375"/>
            <a:ext cx="11542029" cy="588214"/>
          </a:xfrm>
        </p:spPr>
        <p:txBody>
          <a:bodyPr rIns="0" anchorCtr="0"/>
          <a:lstStyle>
            <a:lvl1pPr marL="0" indent="0" algn="ctr">
              <a:buFont typeface="Arial" panose="020B0604020202020204" pitchFamily="34" charset="0"/>
              <a:buNone/>
              <a:defRPr sz="30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pPr fontAlgn="base"/>
            <a:r>
              <a:rPr lang="en-US" strike="noStrike" noProof="1" dirty="0"/>
              <a:t>Click to edit Master subtitle style</a:t>
            </a:r>
            <a:endParaRPr lang="en-US" strike="noStrike" noProof="1" dirty="0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34150"/>
            <a:ext cx="20669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7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754313" y="6534150"/>
            <a:ext cx="81311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1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8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888663" y="6534150"/>
            <a:ext cx="12985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388FB5-9160-4F34-A476-BD340846AC9E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 rot="5400000" flipH="1">
            <a:off x="5107781" y="-5107781"/>
            <a:ext cx="1971675" cy="1218723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0"/>
          <p:cNvSpPr/>
          <p:nvPr/>
        </p:nvSpPr>
        <p:spPr bwMode="gray">
          <a:xfrm rot="5400000" flipH="1">
            <a:off x="6042025" y="-4070350"/>
            <a:ext cx="103188" cy="121872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128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23625" y="257175"/>
            <a:ext cx="728663" cy="728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Rectangle 6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34150"/>
            <a:ext cx="20669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8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888663" y="6534150"/>
            <a:ext cx="12985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6C6D9-AAF1-4BF0-937E-892E43D18C84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 rot="5400000" flipH="1">
            <a:off x="4691063" y="-3157537"/>
            <a:ext cx="2805113" cy="1218723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0"/>
          <p:cNvSpPr/>
          <p:nvPr/>
        </p:nvSpPr>
        <p:spPr bwMode="gray">
          <a:xfrm rot="5400000" flipH="1">
            <a:off x="6042025" y="-1703387"/>
            <a:ext cx="103188" cy="121872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152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23625" y="257175"/>
            <a:ext cx="728663" cy="728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FD804A-F784-4013-AD92-560D09364ABB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 rot="5400000" flipH="1">
            <a:off x="5145088" y="-20637"/>
            <a:ext cx="1897063" cy="12187238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rgbClr val="9E0A26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0"/>
          <p:cNvSpPr/>
          <p:nvPr/>
        </p:nvSpPr>
        <p:spPr bwMode="gray">
          <a:xfrm rot="5400000" flipH="1">
            <a:off x="5991225" y="-1066800"/>
            <a:ext cx="204788" cy="12187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 bwMode="invGray">
          <a:xfrm>
            <a:off x="645207" y="2304521"/>
            <a:ext cx="11542027" cy="579812"/>
          </a:xfrm>
        </p:spPr>
        <p:txBody>
          <a:bodyPr anchorCtr="0"/>
          <a:lstStyle>
            <a:lvl1pPr algn="ctr">
              <a:defRPr sz="3200">
                <a:solidFill>
                  <a:schemeClr val="bg2"/>
                </a:solidFill>
                <a:effectLst/>
              </a:defRPr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idx="1"/>
          </p:nvPr>
        </p:nvSpPr>
        <p:spPr bwMode="invGray">
          <a:xfrm>
            <a:off x="645205" y="3097375"/>
            <a:ext cx="11542029" cy="588214"/>
          </a:xfrm>
        </p:spPr>
        <p:txBody>
          <a:bodyPr rIns="0" anchorCtr="0"/>
          <a:lstStyle>
            <a:lvl1pPr marL="0" indent="0" algn="ctr">
              <a:buFont typeface="Arial" panose="020B0604020202020204" pitchFamily="34" charset="0"/>
              <a:buNone/>
              <a:defRPr sz="30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pPr fontAlgn="base"/>
            <a:r>
              <a:rPr lang="en-US" strike="noStrike" noProof="1" dirty="0"/>
              <a:t>Click to edit Master subtitle style</a:t>
            </a:r>
            <a:endParaRPr lang="en-US" strike="noStrike" noProof="1" dirty="0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34150"/>
            <a:ext cx="20669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7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754313" y="6534150"/>
            <a:ext cx="81311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1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8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888663" y="6534150"/>
            <a:ext cx="12985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970104-7198-4BD1-AC36-68873D2D364E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448" y="1404676"/>
            <a:ext cx="11531790" cy="579812"/>
          </a:xfrm>
        </p:spPr>
        <p:txBody>
          <a:bodyPr/>
          <a:lstStyle>
            <a:lvl1pPr>
              <a:defRPr sz="3200">
                <a:latin typeface="Lucida Sans" pitchFamily="34" charset="0"/>
              </a:defRPr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1767" y="2341682"/>
            <a:ext cx="10359152" cy="2155714"/>
          </a:xfrm>
        </p:spPr>
        <p:txBody>
          <a:bodyPr lIns="614660" rIns="614660"/>
          <a:lstStyle>
            <a:lvl1pPr marL="462915" indent="-241300">
              <a:spcBef>
                <a:spcPts val="1615"/>
              </a:spcBef>
              <a:buSzPct val="100000"/>
              <a:buFont typeface="Arial" panose="020B0604020202020204" pitchFamily="34" charset="0"/>
              <a:buChar char="•"/>
              <a:defRPr sz="2700" b="0"/>
            </a:lvl1pPr>
            <a:lvl2pPr marL="685165" indent="-222250">
              <a:spcBef>
                <a:spcPts val="540"/>
              </a:spcBef>
              <a:buSzPct val="75000"/>
              <a:buFont typeface="Lucida Sans" pitchFamily="34" charset="0"/>
              <a:buChar char="–"/>
              <a:defRPr sz="2700"/>
            </a:lvl2pPr>
            <a:lvl3pPr marL="1069340" indent="-295275">
              <a:spcBef>
                <a:spcPts val="540"/>
              </a:spcBef>
              <a:buSzPct val="100000"/>
              <a:buFont typeface="Arial" panose="020B0604020202020204" pitchFamily="34" charset="0"/>
              <a:buChar char="•"/>
              <a:defRPr sz="2200"/>
            </a:lvl3pPr>
            <a:lvl4pPr marL="1229360" indent="-222250">
              <a:spcBef>
                <a:spcPts val="540"/>
              </a:spcBef>
              <a:buSzPct val="100000"/>
              <a:buFont typeface="Lucida Sans" pitchFamily="34" charset="0"/>
              <a:buChar char="–"/>
              <a:defRPr sz="2200"/>
            </a:lvl4pPr>
            <a:lvl5pPr marL="1450975" indent="-222250">
              <a:spcBef>
                <a:spcPts val="540"/>
              </a:spcBef>
              <a:buSzPct val="100000"/>
              <a:buFont typeface="Arial" panose="020B0604020202020204" pitchFamily="34" charset="0"/>
              <a:buChar char="•"/>
              <a:defRPr sz="2200"/>
            </a:lvl5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base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base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base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base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81250" y="7516813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ADA95E-ED9E-482F-ABFD-6CE64A2D4A2B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55448" y="864757"/>
            <a:ext cx="11531790" cy="630230"/>
          </a:xfrm>
        </p:spPr>
        <p:txBody>
          <a:bodyPr/>
          <a:lstStyle>
            <a:lvl1pPr algn="ctr">
              <a:lnSpc>
                <a:spcPct val="100000"/>
              </a:lnSpc>
              <a:defRPr sz="3200">
                <a:solidFill>
                  <a:schemeClr val="bg2"/>
                </a:solidFill>
                <a:effectLst/>
              </a:defRPr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655448" y="1532366"/>
            <a:ext cx="11531790" cy="588214"/>
          </a:xfrm>
        </p:spPr>
        <p:txBody>
          <a:bodyPr rIns="0"/>
          <a:lstStyle>
            <a:lvl1pPr marL="0" indent="0" algn="ctr">
              <a:buFontTx/>
              <a:buNone/>
              <a:defRPr sz="30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pPr fontAlgn="base"/>
            <a:r>
              <a:rPr lang="en-US" strike="noStrike" noProof="1" dirty="0"/>
              <a:t>Click to edit Master subtitle style</a:t>
            </a:r>
            <a:endParaRPr lang="en-US" strike="noStrike" noProof="1" dirty="0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4A2AC8-C6EE-4E10-A998-D15131537773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08" y="1476597"/>
            <a:ext cx="11542033" cy="579812"/>
          </a:xfrm>
        </p:spPr>
        <p:txBody>
          <a:bodyPr/>
          <a:lstStyle/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7057" y="2330051"/>
            <a:ext cx="5334344" cy="2815025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7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2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2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base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base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base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base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4518" y="2330051"/>
            <a:ext cx="5291197" cy="2815025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7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2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2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base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base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base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base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1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67A510D-99EA-450F-A733-49970FAE03E3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362" y="1245917"/>
            <a:ext cx="11577876" cy="579812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605" y="2092378"/>
            <a:ext cx="5384813" cy="504184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614680" indent="0">
              <a:buNone/>
              <a:defRPr sz="2700" b="1"/>
            </a:lvl2pPr>
            <a:lvl3pPr marL="1229360" indent="0">
              <a:buNone/>
              <a:defRPr sz="2400" b="1"/>
            </a:lvl3pPr>
            <a:lvl4pPr marL="1844040" indent="0">
              <a:buNone/>
              <a:defRPr sz="2200" b="1"/>
            </a:lvl4pPr>
            <a:lvl5pPr marL="2458720" indent="0">
              <a:buNone/>
              <a:defRPr sz="2200" b="1"/>
            </a:lvl5pPr>
            <a:lvl6pPr marL="3073400" indent="0">
              <a:buNone/>
              <a:defRPr sz="2200" b="1"/>
            </a:lvl6pPr>
            <a:lvl7pPr marL="3688080" indent="0">
              <a:buNone/>
              <a:defRPr sz="2200" b="1"/>
            </a:lvl7pPr>
            <a:lvl8pPr marL="4302760" indent="0">
              <a:buNone/>
              <a:defRPr sz="2200" b="1"/>
            </a:lvl8pPr>
            <a:lvl9pPr marL="4917440" indent="0">
              <a:buNone/>
              <a:defRPr sz="2200" b="1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6603" y="2683987"/>
            <a:ext cx="5384813" cy="1827666"/>
          </a:xfrm>
        </p:spPr>
        <p:txBody>
          <a:bodyPr/>
          <a:lstStyle>
            <a:lvl1pPr>
              <a:defRPr lang="en-US" sz="24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22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22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9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9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base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base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base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base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8192" y="2092378"/>
            <a:ext cx="5386928" cy="504184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614680" indent="0">
              <a:buNone/>
              <a:defRPr sz="2700" b="1"/>
            </a:lvl2pPr>
            <a:lvl3pPr marL="1229360" indent="0">
              <a:buNone/>
              <a:defRPr sz="2400" b="1"/>
            </a:lvl3pPr>
            <a:lvl4pPr marL="1844040" indent="0">
              <a:buNone/>
              <a:defRPr sz="2200" b="1"/>
            </a:lvl4pPr>
            <a:lvl5pPr marL="2458720" indent="0">
              <a:buNone/>
              <a:defRPr sz="2200" b="1"/>
            </a:lvl5pPr>
            <a:lvl6pPr marL="3073400" indent="0">
              <a:buNone/>
              <a:defRPr sz="2200" b="1"/>
            </a:lvl6pPr>
            <a:lvl7pPr marL="3688080" indent="0">
              <a:buNone/>
              <a:defRPr sz="2200" b="1"/>
            </a:lvl7pPr>
            <a:lvl8pPr marL="4302760" indent="0">
              <a:buNone/>
              <a:defRPr sz="2200" b="1"/>
            </a:lvl8pPr>
            <a:lvl9pPr marL="4917440" indent="0">
              <a:buNone/>
              <a:defRPr sz="2200" b="1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98191" y="2683987"/>
            <a:ext cx="5386928" cy="1827666"/>
          </a:xfrm>
        </p:spPr>
        <p:txBody>
          <a:bodyPr/>
          <a:lstStyle>
            <a:lvl1pPr>
              <a:defRPr lang="en-US" sz="24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22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22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9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9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base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base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base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base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1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1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1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436D3D-CAEA-4384-88C1-9AC1E84A4E98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724" y="2042479"/>
            <a:ext cx="11562514" cy="579812"/>
          </a:xfrm>
        </p:spPr>
        <p:txBody>
          <a:bodyPr/>
          <a:lstStyle/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F4618-6A8D-4B87-BA21-9E1344F61FFC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8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25664E-C931-454D-B62B-E550BCDD2E89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365" y="804272"/>
            <a:ext cx="4009517" cy="1260460"/>
          </a:xfrm>
        </p:spPr>
        <p:txBody>
          <a:bodyPr/>
          <a:lstStyle>
            <a:lvl1pPr algn="l">
              <a:defRPr sz="27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4873" y="1402991"/>
            <a:ext cx="6813006" cy="2483104"/>
          </a:xfrm>
        </p:spPr>
        <p:txBody>
          <a:bodyPr/>
          <a:lstStyle>
            <a:lvl1pPr marL="222250" indent="-222250">
              <a:buSzPct val="125000"/>
              <a:buFont typeface="Arial" panose="020B0604020202020204" pitchFamily="34" charset="0"/>
              <a:buChar char="•"/>
              <a:defRPr lang="en-US" sz="32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 marL="614680" indent="-222250" defTabSz="1229360">
              <a:buSzPct val="125000"/>
              <a:buFont typeface="Arial" panose="020B0604020202020204" pitchFamily="34" charset="0"/>
              <a:buChar char="•"/>
              <a:defRPr lang="en-US" sz="30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buSzPct val="125000"/>
              <a:buFont typeface="Arial" panose="020B0604020202020204" pitchFamily="34" charset="0"/>
              <a:buChar char="•"/>
              <a:defRPr lang="en-US" sz="30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 marL="1310640" indent="-243205">
              <a:buSzPct val="125000"/>
              <a:buFont typeface="Arial" panose="020B0604020202020204" pitchFamily="34" charset="0"/>
              <a:buChar char="•"/>
              <a:defRPr lang="en-US" sz="27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buSzPct val="125000"/>
              <a:buFont typeface="Arial" panose="020B0604020202020204" pitchFamily="34" charset="0"/>
              <a:buChar char="•"/>
              <a:defRPr lang="en-US" sz="27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base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base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base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base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365" y="2592747"/>
            <a:ext cx="4009517" cy="420154"/>
          </a:xfrm>
        </p:spPr>
        <p:txBody>
          <a:bodyPr/>
          <a:lstStyle>
            <a:lvl1pPr marL="0" indent="0">
              <a:buNone/>
              <a:defRPr sz="1900"/>
            </a:lvl1pPr>
            <a:lvl2pPr marL="614680" indent="0">
              <a:buNone/>
              <a:defRPr sz="1600"/>
            </a:lvl2pPr>
            <a:lvl3pPr marL="1229360" indent="0">
              <a:buNone/>
              <a:defRPr sz="1300"/>
            </a:lvl3pPr>
            <a:lvl4pPr marL="1844040" indent="0">
              <a:buNone/>
              <a:defRPr sz="1200"/>
            </a:lvl4pPr>
            <a:lvl5pPr marL="2458720" indent="0">
              <a:buNone/>
              <a:defRPr sz="1200"/>
            </a:lvl5pPr>
            <a:lvl6pPr marL="3073400" indent="0">
              <a:buNone/>
              <a:defRPr sz="1200"/>
            </a:lvl6pPr>
            <a:lvl7pPr marL="3688080" indent="0">
              <a:buNone/>
              <a:defRPr sz="1200"/>
            </a:lvl7pPr>
            <a:lvl8pPr marL="4302760" indent="0">
              <a:buNone/>
              <a:defRPr sz="1200"/>
            </a:lvl8pPr>
            <a:lvl9pPr marL="4917440" indent="0">
              <a:buNone/>
              <a:defRPr sz="12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1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1577E-4725-42A5-AEB8-A6992A795B0C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8784" y="5426260"/>
            <a:ext cx="7312343" cy="504184"/>
          </a:xfrm>
        </p:spPr>
        <p:txBody>
          <a:bodyPr/>
          <a:lstStyle>
            <a:lvl1pPr algn="l">
              <a:defRPr sz="2700" b="1"/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8784" y="1221672"/>
            <a:ext cx="7312343" cy="798290"/>
          </a:xfrm>
        </p:spPr>
        <p:txBody>
          <a:bodyPr vert="horz" wrap="square" lIns="122932" tIns="61466" rIns="122932" bIns="61466" numCol="1" anchor="t" anchorCtr="1" compatLnSpc="1">
            <a:spAutoFit/>
          </a:bodyPr>
          <a:lstStyle>
            <a:lvl1pPr marL="0" indent="0">
              <a:buNone/>
              <a:defRPr sz="4300"/>
            </a:lvl1pPr>
            <a:lvl2pPr marL="614680" indent="0">
              <a:buNone/>
              <a:defRPr sz="3800"/>
            </a:lvl2pPr>
            <a:lvl3pPr marL="1229360" indent="0">
              <a:buNone/>
              <a:defRPr sz="3200"/>
            </a:lvl3pPr>
            <a:lvl4pPr marL="1844040" indent="0">
              <a:buNone/>
              <a:defRPr sz="2700"/>
            </a:lvl4pPr>
            <a:lvl5pPr marL="2458720" indent="0">
              <a:buNone/>
              <a:defRPr sz="2700"/>
            </a:lvl5pPr>
            <a:lvl6pPr marL="3073400" indent="0">
              <a:buNone/>
              <a:defRPr sz="2700"/>
            </a:lvl6pPr>
            <a:lvl7pPr marL="3688080" indent="0">
              <a:buNone/>
              <a:defRPr sz="2700"/>
            </a:lvl7pPr>
            <a:lvl8pPr marL="4302760" indent="0">
              <a:buNone/>
              <a:defRPr sz="2700"/>
            </a:lvl8pPr>
            <a:lvl9pPr marL="4917440" indent="0">
              <a:buNone/>
              <a:defRPr sz="27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C60C30"/>
              </a:buClr>
              <a:buSzPct val="100000"/>
              <a:buFont typeface="Arial" panose="020B0604020202020204" pitchFamily="34" charset="0"/>
              <a:buNone/>
              <a:defRPr/>
            </a:pPr>
            <a:endParaRPr kumimoji="0" lang="en-US" sz="43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Lucida Sans" pitchFamily="34" charset="0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8784" y="6006682"/>
            <a:ext cx="7312343" cy="420154"/>
          </a:xfrm>
        </p:spPr>
        <p:txBody>
          <a:bodyPr/>
          <a:lstStyle>
            <a:lvl1pPr marL="0" indent="0">
              <a:buNone/>
              <a:defRPr sz="1900"/>
            </a:lvl1pPr>
            <a:lvl2pPr marL="614680" indent="0">
              <a:buNone/>
              <a:defRPr sz="1600"/>
            </a:lvl2pPr>
            <a:lvl3pPr marL="1229360" indent="0">
              <a:buNone/>
              <a:defRPr sz="1300"/>
            </a:lvl3pPr>
            <a:lvl4pPr marL="1844040" indent="0">
              <a:buNone/>
              <a:defRPr sz="1200"/>
            </a:lvl4pPr>
            <a:lvl5pPr marL="2458720" indent="0">
              <a:buNone/>
              <a:defRPr sz="1200"/>
            </a:lvl5pPr>
            <a:lvl6pPr marL="3073400" indent="0">
              <a:buNone/>
              <a:defRPr sz="1200"/>
            </a:lvl6pPr>
            <a:lvl7pPr marL="3688080" indent="0">
              <a:buNone/>
              <a:defRPr sz="1200"/>
            </a:lvl7pPr>
            <a:lvl8pPr marL="4302760" indent="0">
              <a:buNone/>
              <a:defRPr sz="1200"/>
            </a:lvl8pPr>
            <a:lvl9pPr marL="4917440" indent="0">
              <a:buNone/>
              <a:defRPr sz="1200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1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4C1F32-AE4F-4177-AF49-BDA05C8112D2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81225"/>
            <a:ext cx="10358438" cy="150495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978275"/>
            <a:ext cx="8529638" cy="17954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7C6C03-2BC5-427E-B5AB-96290FD0574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18E90-849A-469C-BD9D-B33C00DEC6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80988"/>
            <a:ext cx="10968038" cy="11699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7C6C03-2BC5-427E-B5AB-96290FD0574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18E90-849A-469C-BD9D-B33C00DEC6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025" y="4511675"/>
            <a:ext cx="10360025" cy="139541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025" y="2976563"/>
            <a:ext cx="10360025" cy="15351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7C6C03-2BC5-427E-B5AB-96290FD0574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18E90-849A-469C-BD9D-B33C00DEC6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80988"/>
            <a:ext cx="10968038" cy="11699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38300"/>
            <a:ext cx="5407025" cy="46339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69025" y="1638300"/>
            <a:ext cx="5408613" cy="46339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7C6C03-2BC5-427E-B5AB-96290FD0574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18E90-849A-469C-BD9D-B33C00DEC6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80988"/>
            <a:ext cx="10968038" cy="11699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71625"/>
            <a:ext cx="5384800" cy="655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227263"/>
            <a:ext cx="5384800" cy="40449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1250" y="1571625"/>
            <a:ext cx="5386388" cy="655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1250" y="2227263"/>
            <a:ext cx="5386388" cy="40449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7C6C03-2BC5-427E-B5AB-96290FD0574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18E90-849A-469C-BD9D-B33C00DEC6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80988"/>
            <a:ext cx="10968038" cy="11699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7C6C03-2BC5-427E-B5AB-96290FD0574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18E90-849A-469C-BD9D-B33C00DEC6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7C6C03-2BC5-427E-B5AB-96290FD0574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18E90-849A-469C-BD9D-B33C00DEC6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9400"/>
            <a:ext cx="4010025" cy="11906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4088" y="279400"/>
            <a:ext cx="6813550" cy="59928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70025"/>
            <a:ext cx="4010025" cy="48021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7C6C03-2BC5-427E-B5AB-96290FD0574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18E90-849A-469C-BD9D-B33C00DEC6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914900"/>
            <a:ext cx="7312025" cy="5810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27063"/>
            <a:ext cx="7312025" cy="42132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495925"/>
            <a:ext cx="7312025" cy="8239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7C6C03-2BC5-427E-B5AB-96290FD0574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18E90-849A-469C-BD9D-B33C00DEC6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80988"/>
            <a:ext cx="10968038" cy="11699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7C6C03-2BC5-427E-B5AB-96290FD0574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18E90-849A-469C-BD9D-B33C00DEC6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6025" y="280988"/>
            <a:ext cx="2741613" cy="59912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80988"/>
            <a:ext cx="8074025" cy="59912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7C6C03-2BC5-427E-B5AB-96290FD0574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18E90-849A-469C-BD9D-B33C00DEC6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 flipH="1">
            <a:off x="0" y="0"/>
            <a:ext cx="646113" cy="702151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9" name="Picture 11"/>
          <p:cNvPicPr>
            <a:picLocks noChangeAspect="1"/>
          </p:cNvPicPr>
          <p:nvPr userDrawn="1"/>
        </p:nvPicPr>
        <p:blipFill>
          <a:blip r:embed="rId2"/>
          <a:srcRect r="36736"/>
          <a:stretch>
            <a:fillRect/>
          </a:stretch>
        </p:blipFill>
        <p:spPr>
          <a:xfrm>
            <a:off x="-9525" y="0"/>
            <a:ext cx="12196763" cy="693738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</p:pic>
      <p:sp>
        <p:nvSpPr>
          <p:cNvPr id="13" name="Rectangle 13"/>
          <p:cNvSpPr/>
          <p:nvPr/>
        </p:nvSpPr>
        <p:spPr bwMode="gray">
          <a:xfrm flipH="1">
            <a:off x="-9525" y="0"/>
            <a:ext cx="644525" cy="693738"/>
          </a:xfrm>
          <a:prstGeom prst="rect">
            <a:avLst/>
          </a:prstGeom>
          <a:gradFill>
            <a:gsLst>
              <a:gs pos="0">
                <a:schemeClr val="tx1">
                  <a:lumMod val="85000"/>
                </a:schemeClr>
              </a:gs>
              <a:gs pos="100000">
                <a:schemeClr val="tx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81" name="图片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575" y="61913"/>
            <a:ext cx="568325" cy="569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 bwMode="invGray">
          <a:xfrm>
            <a:off x="645207" y="2304521"/>
            <a:ext cx="11542027" cy="579812"/>
          </a:xfrm>
        </p:spPr>
        <p:txBody>
          <a:bodyPr anchorCtr="0"/>
          <a:lstStyle>
            <a:lvl1pPr algn="ctr">
              <a:defRPr sz="3200">
                <a:solidFill>
                  <a:schemeClr val="bg2"/>
                </a:solidFill>
                <a:effectLst/>
              </a:defRPr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idx="1"/>
          </p:nvPr>
        </p:nvSpPr>
        <p:spPr bwMode="invGray">
          <a:xfrm>
            <a:off x="645205" y="3097375"/>
            <a:ext cx="11542029" cy="588214"/>
          </a:xfrm>
        </p:spPr>
        <p:txBody>
          <a:bodyPr rIns="0" anchorCtr="0"/>
          <a:lstStyle>
            <a:lvl1pPr marL="0" indent="0" algn="ctr">
              <a:buFont typeface="Arial" panose="020B0604020202020204" pitchFamily="34" charset="0"/>
              <a:buNone/>
              <a:defRPr sz="30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pPr fontAlgn="base"/>
            <a:r>
              <a:rPr lang="en-US" strike="noStrike" noProof="1" dirty="0"/>
              <a:t>Click to edit Master subtitle style</a:t>
            </a:r>
            <a:endParaRPr lang="en-US" strike="noStrike" noProof="1" dirty="0"/>
          </a:p>
        </p:txBody>
      </p:sp>
      <p:sp>
        <p:nvSpPr>
          <p:cNvPr id="15" name="Rectangle 6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34150"/>
            <a:ext cx="20669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7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754313" y="6534150"/>
            <a:ext cx="81311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1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8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888663" y="6534150"/>
            <a:ext cx="12985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C31438-4DFE-43A2-9E78-3724DF25393C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 rot="5400000" flipH="1">
            <a:off x="5771356" y="-5772944"/>
            <a:ext cx="644525" cy="1218723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0"/>
          <p:cNvSpPr/>
          <p:nvPr/>
        </p:nvSpPr>
        <p:spPr bwMode="gray">
          <a:xfrm rot="5400000" flipH="1">
            <a:off x="6042025" y="-5399087"/>
            <a:ext cx="103188" cy="121872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 bwMode="invGray">
          <a:xfrm>
            <a:off x="645207" y="2304521"/>
            <a:ext cx="11542027" cy="579812"/>
          </a:xfrm>
        </p:spPr>
        <p:txBody>
          <a:bodyPr anchorCtr="0"/>
          <a:lstStyle>
            <a:lvl1pPr algn="ctr">
              <a:defRPr sz="3200">
                <a:solidFill>
                  <a:schemeClr val="bg2"/>
                </a:solidFill>
                <a:effectLst/>
              </a:defRPr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idx="1"/>
          </p:nvPr>
        </p:nvSpPr>
        <p:spPr bwMode="invGray">
          <a:xfrm>
            <a:off x="645205" y="3097375"/>
            <a:ext cx="11542029" cy="588214"/>
          </a:xfrm>
        </p:spPr>
        <p:txBody>
          <a:bodyPr rIns="0" anchorCtr="0"/>
          <a:lstStyle>
            <a:lvl1pPr marL="0" indent="0" algn="ctr">
              <a:buFont typeface="Arial" panose="020B0604020202020204" pitchFamily="34" charset="0"/>
              <a:buNone/>
              <a:defRPr sz="30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pPr fontAlgn="base"/>
            <a:r>
              <a:rPr lang="en-US" strike="noStrike" noProof="1" dirty="0"/>
              <a:t>Click to edit Master subtitle style</a:t>
            </a:r>
            <a:endParaRPr lang="en-US" strike="noStrike" noProof="1" dirty="0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34150"/>
            <a:ext cx="20669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7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754313" y="6534150"/>
            <a:ext cx="81311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1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8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888663" y="6534150"/>
            <a:ext cx="12985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388FB5-9160-4F34-A476-BD340846AC9E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 rot="5400000" flipH="1">
            <a:off x="5107781" y="-5107781"/>
            <a:ext cx="1971675" cy="1218723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0"/>
          <p:cNvSpPr/>
          <p:nvPr/>
        </p:nvSpPr>
        <p:spPr bwMode="gray">
          <a:xfrm rot="5400000" flipH="1">
            <a:off x="6042025" y="-4070350"/>
            <a:ext cx="103188" cy="121872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128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23625" y="257175"/>
            <a:ext cx="728663" cy="728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Rectangle 6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34150"/>
            <a:ext cx="20669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8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888663" y="6534150"/>
            <a:ext cx="12985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6C6D9-AAF1-4BF0-937E-892E43D18C84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 rot="5400000" flipH="1">
            <a:off x="4691063" y="-3157537"/>
            <a:ext cx="2805113" cy="1218723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0"/>
          <p:cNvSpPr/>
          <p:nvPr/>
        </p:nvSpPr>
        <p:spPr bwMode="gray">
          <a:xfrm rot="5400000" flipH="1">
            <a:off x="6042025" y="-1703387"/>
            <a:ext cx="103188" cy="121872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152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23625" y="257175"/>
            <a:ext cx="728663" cy="728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FD804A-F784-4013-AD92-560D09364ABB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 rot="5400000" flipH="1">
            <a:off x="5145088" y="-20637"/>
            <a:ext cx="1897063" cy="12187238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100000">
                <a:srgbClr val="9E0A26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0"/>
          <p:cNvSpPr/>
          <p:nvPr/>
        </p:nvSpPr>
        <p:spPr bwMode="gray">
          <a:xfrm rot="5400000" flipH="1">
            <a:off x="5991225" y="-1066800"/>
            <a:ext cx="204788" cy="12187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 bwMode="invGray">
          <a:xfrm>
            <a:off x="645207" y="2304521"/>
            <a:ext cx="11542027" cy="579812"/>
          </a:xfrm>
        </p:spPr>
        <p:txBody>
          <a:bodyPr anchorCtr="0"/>
          <a:lstStyle>
            <a:lvl1pPr algn="ctr">
              <a:defRPr sz="3200">
                <a:solidFill>
                  <a:schemeClr val="bg2"/>
                </a:solidFill>
                <a:effectLst/>
              </a:defRPr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idx="1"/>
          </p:nvPr>
        </p:nvSpPr>
        <p:spPr bwMode="invGray">
          <a:xfrm>
            <a:off x="645205" y="3097375"/>
            <a:ext cx="11542029" cy="588214"/>
          </a:xfrm>
        </p:spPr>
        <p:txBody>
          <a:bodyPr rIns="0" anchorCtr="0"/>
          <a:lstStyle>
            <a:lvl1pPr marL="0" indent="0" algn="ctr">
              <a:buFont typeface="Arial" panose="020B0604020202020204" pitchFamily="34" charset="0"/>
              <a:buNone/>
              <a:defRPr sz="30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pPr fontAlgn="base"/>
            <a:r>
              <a:rPr lang="en-US" strike="noStrike" noProof="1" dirty="0"/>
              <a:t>Click to edit Master subtitle style</a:t>
            </a:r>
            <a:endParaRPr lang="en-US" strike="noStrike" noProof="1" dirty="0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34150"/>
            <a:ext cx="20669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7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754313" y="6534150"/>
            <a:ext cx="81311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1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8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888663" y="6534150"/>
            <a:ext cx="129857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970104-7198-4BD1-AC36-68873D2D364E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448" y="1404676"/>
            <a:ext cx="11531790" cy="579812"/>
          </a:xfrm>
        </p:spPr>
        <p:txBody>
          <a:bodyPr/>
          <a:lstStyle>
            <a:lvl1pPr>
              <a:defRPr sz="3200">
                <a:latin typeface="Lucida Sans" pitchFamily="34" charset="0"/>
              </a:defRPr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1767" y="2341682"/>
            <a:ext cx="10359152" cy="2155714"/>
          </a:xfrm>
        </p:spPr>
        <p:txBody>
          <a:bodyPr lIns="614660" rIns="614660"/>
          <a:lstStyle>
            <a:lvl1pPr marL="462915" indent="-241300">
              <a:spcBef>
                <a:spcPts val="1615"/>
              </a:spcBef>
              <a:buSzPct val="100000"/>
              <a:buFont typeface="Arial" panose="020B0604020202020204" pitchFamily="34" charset="0"/>
              <a:buChar char="•"/>
              <a:defRPr sz="2700" b="0"/>
            </a:lvl1pPr>
            <a:lvl2pPr marL="685165" indent="-222250">
              <a:spcBef>
                <a:spcPts val="540"/>
              </a:spcBef>
              <a:buSzPct val="75000"/>
              <a:buFont typeface="Lucida Sans" pitchFamily="34" charset="0"/>
              <a:buChar char="–"/>
              <a:defRPr sz="2700"/>
            </a:lvl2pPr>
            <a:lvl3pPr marL="1069340" indent="-295275">
              <a:spcBef>
                <a:spcPts val="540"/>
              </a:spcBef>
              <a:buSzPct val="100000"/>
              <a:buFont typeface="Arial" panose="020B0604020202020204" pitchFamily="34" charset="0"/>
              <a:buChar char="•"/>
              <a:defRPr sz="2200"/>
            </a:lvl3pPr>
            <a:lvl4pPr marL="1229360" indent="-222250">
              <a:spcBef>
                <a:spcPts val="540"/>
              </a:spcBef>
              <a:buSzPct val="100000"/>
              <a:buFont typeface="Lucida Sans" pitchFamily="34" charset="0"/>
              <a:buChar char="–"/>
              <a:defRPr sz="2200"/>
            </a:lvl4pPr>
            <a:lvl5pPr marL="1450975" indent="-222250">
              <a:spcBef>
                <a:spcPts val="540"/>
              </a:spcBef>
              <a:buSzPct val="100000"/>
              <a:buFont typeface="Arial" panose="020B0604020202020204" pitchFamily="34" charset="0"/>
              <a:buChar char="•"/>
              <a:defRPr sz="2200"/>
            </a:lvl5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base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base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base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base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81250" y="7516813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ADA95E-ED9E-482F-ABFD-6CE64A2D4A2B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55448" y="864757"/>
            <a:ext cx="11531790" cy="630230"/>
          </a:xfrm>
        </p:spPr>
        <p:txBody>
          <a:bodyPr/>
          <a:lstStyle>
            <a:lvl1pPr algn="ctr">
              <a:lnSpc>
                <a:spcPct val="100000"/>
              </a:lnSpc>
              <a:defRPr sz="3200">
                <a:solidFill>
                  <a:schemeClr val="bg2"/>
                </a:solidFill>
                <a:effectLst/>
              </a:defRPr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655448" y="1532366"/>
            <a:ext cx="11531790" cy="588214"/>
          </a:xfrm>
        </p:spPr>
        <p:txBody>
          <a:bodyPr rIns="0"/>
          <a:lstStyle>
            <a:lvl1pPr marL="0" indent="0" algn="ctr">
              <a:buFontTx/>
              <a:buNone/>
              <a:defRPr sz="30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pPr fontAlgn="base"/>
            <a:r>
              <a:rPr lang="en-US" strike="noStrike" noProof="1" dirty="0"/>
              <a:t>Click to edit Master subtitle style</a:t>
            </a:r>
            <a:endParaRPr lang="en-US" strike="noStrike" noProof="1" dirty="0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4A2AC8-C6EE-4E10-A998-D15131537773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08" y="1476597"/>
            <a:ext cx="11542033" cy="579812"/>
          </a:xfrm>
        </p:spPr>
        <p:txBody>
          <a:bodyPr/>
          <a:lstStyle/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7057" y="2330051"/>
            <a:ext cx="5334344" cy="2815025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7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2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2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base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base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base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base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4518" y="2330051"/>
            <a:ext cx="5291197" cy="2815025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7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2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805"/>
              </a:spcAft>
              <a:buSzPct val="125000"/>
              <a:buFont typeface="Arial" panose="020B0604020202020204" pitchFamily="34" charset="0"/>
              <a:buChar char="•"/>
              <a:defRPr lang="en-US" sz="22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base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base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base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base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1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67A510D-99EA-450F-A733-49970FAE03E3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362" y="1245917"/>
            <a:ext cx="11577876" cy="579812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605" y="2092378"/>
            <a:ext cx="5384813" cy="504184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614680" indent="0">
              <a:buNone/>
              <a:defRPr sz="2700" b="1"/>
            </a:lvl2pPr>
            <a:lvl3pPr marL="1229360" indent="0">
              <a:buNone/>
              <a:defRPr sz="2400" b="1"/>
            </a:lvl3pPr>
            <a:lvl4pPr marL="1844040" indent="0">
              <a:buNone/>
              <a:defRPr sz="2200" b="1"/>
            </a:lvl4pPr>
            <a:lvl5pPr marL="2458720" indent="0">
              <a:buNone/>
              <a:defRPr sz="2200" b="1"/>
            </a:lvl5pPr>
            <a:lvl6pPr marL="3073400" indent="0">
              <a:buNone/>
              <a:defRPr sz="2200" b="1"/>
            </a:lvl6pPr>
            <a:lvl7pPr marL="3688080" indent="0">
              <a:buNone/>
              <a:defRPr sz="2200" b="1"/>
            </a:lvl7pPr>
            <a:lvl8pPr marL="4302760" indent="0">
              <a:buNone/>
              <a:defRPr sz="2200" b="1"/>
            </a:lvl8pPr>
            <a:lvl9pPr marL="4917440" indent="0">
              <a:buNone/>
              <a:defRPr sz="2200" b="1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6603" y="2683987"/>
            <a:ext cx="5384813" cy="1827666"/>
          </a:xfrm>
        </p:spPr>
        <p:txBody>
          <a:bodyPr/>
          <a:lstStyle>
            <a:lvl1pPr>
              <a:defRPr lang="en-US" sz="24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22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22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9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9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base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base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base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base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8192" y="2092378"/>
            <a:ext cx="5386928" cy="504184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614680" indent="0">
              <a:buNone/>
              <a:defRPr sz="2700" b="1"/>
            </a:lvl2pPr>
            <a:lvl3pPr marL="1229360" indent="0">
              <a:buNone/>
              <a:defRPr sz="2400" b="1"/>
            </a:lvl3pPr>
            <a:lvl4pPr marL="1844040" indent="0">
              <a:buNone/>
              <a:defRPr sz="2200" b="1"/>
            </a:lvl4pPr>
            <a:lvl5pPr marL="2458720" indent="0">
              <a:buNone/>
              <a:defRPr sz="2200" b="1"/>
            </a:lvl5pPr>
            <a:lvl6pPr marL="3073400" indent="0">
              <a:buNone/>
              <a:defRPr sz="2200" b="1"/>
            </a:lvl6pPr>
            <a:lvl7pPr marL="3688080" indent="0">
              <a:buNone/>
              <a:defRPr sz="2200" b="1"/>
            </a:lvl7pPr>
            <a:lvl8pPr marL="4302760" indent="0">
              <a:buNone/>
              <a:defRPr sz="2200" b="1"/>
            </a:lvl8pPr>
            <a:lvl9pPr marL="4917440" indent="0">
              <a:buNone/>
              <a:defRPr sz="2200" b="1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98191" y="2683987"/>
            <a:ext cx="5386928" cy="1827666"/>
          </a:xfrm>
        </p:spPr>
        <p:txBody>
          <a:bodyPr/>
          <a:lstStyle>
            <a:lvl1pPr>
              <a:defRPr lang="en-US" sz="24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22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22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9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9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base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base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base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base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1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1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1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436D3D-CAEA-4384-88C1-9AC1E84A4E98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724" y="2042479"/>
            <a:ext cx="11562514" cy="579812"/>
          </a:xfrm>
        </p:spPr>
        <p:txBody>
          <a:bodyPr/>
          <a:lstStyle/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0F4618-6A8D-4B87-BA21-9E1344F61FFC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8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25664E-C931-454D-B62B-E550BCDD2E89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365" y="804272"/>
            <a:ext cx="4009517" cy="1260460"/>
          </a:xfrm>
        </p:spPr>
        <p:txBody>
          <a:bodyPr/>
          <a:lstStyle>
            <a:lvl1pPr algn="l">
              <a:defRPr sz="27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4873" y="1402991"/>
            <a:ext cx="6813006" cy="2483104"/>
          </a:xfrm>
        </p:spPr>
        <p:txBody>
          <a:bodyPr/>
          <a:lstStyle>
            <a:lvl1pPr marL="222250" indent="-222250">
              <a:buSzPct val="125000"/>
              <a:buFont typeface="Arial" panose="020B0604020202020204" pitchFamily="34" charset="0"/>
              <a:buChar char="•"/>
              <a:defRPr lang="en-US" sz="32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 marL="614680" indent="-222250" defTabSz="1229360">
              <a:buSzPct val="125000"/>
              <a:buFont typeface="Arial" panose="020B0604020202020204" pitchFamily="34" charset="0"/>
              <a:buChar char="•"/>
              <a:defRPr lang="en-US" sz="30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buSzPct val="125000"/>
              <a:buFont typeface="Arial" panose="020B0604020202020204" pitchFamily="34" charset="0"/>
              <a:buChar char="•"/>
              <a:defRPr lang="en-US" sz="30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 marL="1310640" indent="-243205">
              <a:buSzPct val="125000"/>
              <a:buFont typeface="Arial" panose="020B0604020202020204" pitchFamily="34" charset="0"/>
              <a:buChar char="•"/>
              <a:defRPr lang="en-US" sz="27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buSzPct val="125000"/>
              <a:buFont typeface="Arial" panose="020B0604020202020204" pitchFamily="34" charset="0"/>
              <a:buChar char="•"/>
              <a:defRPr lang="en-US" sz="27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base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base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base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base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365" y="2592747"/>
            <a:ext cx="4009517" cy="420154"/>
          </a:xfrm>
        </p:spPr>
        <p:txBody>
          <a:bodyPr/>
          <a:lstStyle>
            <a:lvl1pPr marL="0" indent="0">
              <a:buNone/>
              <a:defRPr sz="1900"/>
            </a:lvl1pPr>
            <a:lvl2pPr marL="614680" indent="0">
              <a:buNone/>
              <a:defRPr sz="1600"/>
            </a:lvl2pPr>
            <a:lvl3pPr marL="1229360" indent="0">
              <a:buNone/>
              <a:defRPr sz="1300"/>
            </a:lvl3pPr>
            <a:lvl4pPr marL="1844040" indent="0">
              <a:buNone/>
              <a:defRPr sz="1200"/>
            </a:lvl4pPr>
            <a:lvl5pPr marL="2458720" indent="0">
              <a:buNone/>
              <a:defRPr sz="1200"/>
            </a:lvl5pPr>
            <a:lvl6pPr marL="3073400" indent="0">
              <a:buNone/>
              <a:defRPr sz="1200"/>
            </a:lvl6pPr>
            <a:lvl7pPr marL="3688080" indent="0">
              <a:buNone/>
              <a:defRPr sz="1200"/>
            </a:lvl7pPr>
            <a:lvl8pPr marL="4302760" indent="0">
              <a:buNone/>
              <a:defRPr sz="1200"/>
            </a:lvl8pPr>
            <a:lvl9pPr marL="4917440" indent="0">
              <a:buNone/>
              <a:defRPr sz="12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1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1577E-4725-42A5-AEB8-A6992A795B0C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575" y="227013"/>
            <a:ext cx="1568450" cy="217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8784" y="5426260"/>
            <a:ext cx="7312343" cy="504184"/>
          </a:xfrm>
        </p:spPr>
        <p:txBody>
          <a:bodyPr/>
          <a:lstStyle>
            <a:lvl1pPr algn="l">
              <a:defRPr sz="2700" b="1"/>
            </a:lvl1pPr>
          </a:lstStyle>
          <a:p>
            <a:pPr fontAlgn="base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8784" y="1221672"/>
            <a:ext cx="7312343" cy="798290"/>
          </a:xfrm>
        </p:spPr>
        <p:txBody>
          <a:bodyPr vert="horz" wrap="square" lIns="122932" tIns="61466" rIns="122932" bIns="61466" numCol="1" anchor="t" anchorCtr="1" compatLnSpc="1">
            <a:spAutoFit/>
          </a:bodyPr>
          <a:lstStyle>
            <a:lvl1pPr marL="0" indent="0">
              <a:buNone/>
              <a:defRPr sz="4300"/>
            </a:lvl1pPr>
            <a:lvl2pPr marL="614680" indent="0">
              <a:buNone/>
              <a:defRPr sz="3800"/>
            </a:lvl2pPr>
            <a:lvl3pPr marL="1229360" indent="0">
              <a:buNone/>
              <a:defRPr sz="3200"/>
            </a:lvl3pPr>
            <a:lvl4pPr marL="1844040" indent="0">
              <a:buNone/>
              <a:defRPr sz="2700"/>
            </a:lvl4pPr>
            <a:lvl5pPr marL="2458720" indent="0">
              <a:buNone/>
              <a:defRPr sz="2700"/>
            </a:lvl5pPr>
            <a:lvl6pPr marL="3073400" indent="0">
              <a:buNone/>
              <a:defRPr sz="2700"/>
            </a:lvl6pPr>
            <a:lvl7pPr marL="3688080" indent="0">
              <a:buNone/>
              <a:defRPr sz="2700"/>
            </a:lvl7pPr>
            <a:lvl8pPr marL="4302760" indent="0">
              <a:buNone/>
              <a:defRPr sz="2700"/>
            </a:lvl8pPr>
            <a:lvl9pPr marL="4917440" indent="0">
              <a:buNone/>
              <a:defRPr sz="27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C60C30"/>
              </a:buClr>
              <a:buSzPct val="100000"/>
              <a:buFont typeface="Arial" panose="020B0604020202020204" pitchFamily="34" charset="0"/>
              <a:buNone/>
              <a:defRPr/>
            </a:pPr>
            <a:endParaRPr kumimoji="0" lang="en-US" sz="43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Lucida Sans" pitchFamily="34" charset="0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8784" y="6006682"/>
            <a:ext cx="7312343" cy="420154"/>
          </a:xfrm>
        </p:spPr>
        <p:txBody>
          <a:bodyPr/>
          <a:lstStyle>
            <a:lvl1pPr marL="0" indent="0">
              <a:buNone/>
              <a:defRPr sz="1900"/>
            </a:lvl1pPr>
            <a:lvl2pPr marL="614680" indent="0">
              <a:buNone/>
              <a:defRPr sz="1600"/>
            </a:lvl2pPr>
            <a:lvl3pPr marL="1229360" indent="0">
              <a:buNone/>
              <a:defRPr sz="1300"/>
            </a:lvl3pPr>
            <a:lvl4pPr marL="1844040" indent="0">
              <a:buNone/>
              <a:defRPr sz="1200"/>
            </a:lvl4pPr>
            <a:lvl5pPr marL="2458720" indent="0">
              <a:buNone/>
              <a:defRPr sz="1200"/>
            </a:lvl5pPr>
            <a:lvl6pPr marL="3073400" indent="0">
              <a:buNone/>
              <a:defRPr sz="1200"/>
            </a:lvl6pPr>
            <a:lvl7pPr marL="3688080" indent="0">
              <a:buNone/>
              <a:defRPr sz="1200"/>
            </a:lvl7pPr>
            <a:lvl8pPr marL="4302760" indent="0">
              <a:buNone/>
              <a:defRPr sz="1200"/>
            </a:lvl8pPr>
            <a:lvl9pPr marL="4917440" indent="0">
              <a:buNone/>
              <a:defRPr sz="1200"/>
            </a:lvl9pPr>
          </a:lstStyle>
          <a:p>
            <a:pPr lvl="0" fontAlgn="base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1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4C1F32-AE4F-4177-AF49-BDA05C8112D2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6053753" y="909138"/>
            <a:ext cx="5907139" cy="5791822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06" tIns="45703" rIns="91406" bIns="45703" numCol="1" anchor="t" anchorCtr="0" compatLnSpc="1"/>
          <a:lstStyle/>
          <a:p>
            <a:pPr lvl="0"/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32349" y="1760224"/>
            <a:ext cx="6640948" cy="51784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02689" y="1387615"/>
            <a:ext cx="5391089" cy="2151865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53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01419" y="3821952"/>
            <a:ext cx="2879945" cy="58017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45" b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071" y="1359050"/>
            <a:ext cx="10795538" cy="489977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75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2"/>
            </p:custDataLst>
          </p:nvPr>
        </p:nvSpPr>
        <p:spPr bwMode="auto">
          <a:xfrm>
            <a:off x="837260" y="3395387"/>
            <a:ext cx="3970477" cy="3522330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06" tIns="45703" rIns="91406" bIns="45703" numCol="1" anchor="t" anchorCtr="0" compatLnSpc="1"/>
          <a:lstStyle/>
          <a:p>
            <a:endParaRPr lang="zh-CN" altLang="en-US" sz="1800"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7260" y="648109"/>
            <a:ext cx="2129014" cy="1081011"/>
          </a:xfrm>
        </p:spPr>
        <p:txBody>
          <a:bodyPr wrap="square" anchor="ctr" anchorCtr="0">
            <a:normAutofit/>
          </a:bodyPr>
          <a:lstStyle>
            <a:lvl1pPr algn="l">
              <a:defRPr sz="4915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7808" y="2099825"/>
            <a:ext cx="3554704" cy="4829953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1155279" y="2458469"/>
            <a:ext cx="2942152" cy="3513444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06" tIns="45703" rIns="91406" bIns="45703" numCol="1" anchor="t" anchorCtr="0" compatLnSpc="1"/>
          <a:lstStyle/>
          <a:p>
            <a:endParaRPr lang="zh-CN" altLang="en-US" sz="1800">
              <a:cs typeface="微软雅黑" panose="020B0503020204020204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869633" y="1632635"/>
            <a:ext cx="3756560" cy="32614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59009" y="3489968"/>
            <a:ext cx="5890652" cy="1760848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4505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459009" y="2447043"/>
            <a:ext cx="5890652" cy="95977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4915" b="1" u="none" strike="noStrike" kern="1200" cap="none" spc="10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071" y="1359050"/>
            <a:ext cx="5322534" cy="4899463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9950" y="1359050"/>
            <a:ext cx="5320659" cy="4899463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072" y="1359050"/>
            <a:ext cx="5300317" cy="463216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55" b="1"/>
            </a:lvl1pPr>
            <a:lvl2pPr marL="467995" indent="0">
              <a:buNone/>
              <a:defRPr sz="2050" b="1"/>
            </a:lvl2pPr>
            <a:lvl3pPr marL="935990" indent="0">
              <a:buNone/>
              <a:defRPr sz="1845" b="1"/>
            </a:lvl3pPr>
            <a:lvl4pPr marL="1404620" indent="0">
              <a:buNone/>
              <a:defRPr sz="1640" b="1"/>
            </a:lvl4pPr>
            <a:lvl5pPr marL="1872615" indent="0">
              <a:buNone/>
              <a:defRPr sz="1640" b="1"/>
            </a:lvl5pPr>
            <a:lvl6pPr marL="2340610" indent="0">
              <a:buNone/>
              <a:defRPr sz="1640" b="1"/>
            </a:lvl6pPr>
            <a:lvl7pPr marL="2808605" indent="0">
              <a:buNone/>
              <a:defRPr sz="1640" b="1"/>
            </a:lvl7pPr>
            <a:lvl8pPr marL="3276600" indent="0">
              <a:buNone/>
              <a:defRPr sz="1640" b="1"/>
            </a:lvl8pPr>
            <a:lvl9pPr marL="3745230" indent="0">
              <a:buNone/>
              <a:defRPr sz="164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072" y="2143689"/>
            <a:ext cx="5300317" cy="4126883"/>
          </a:xfrm>
        </p:spPr>
        <p:txBody>
          <a:bodyPr wrap="square">
            <a:normAutofit/>
          </a:bodyPr>
          <a:lstStyle>
            <a:lvl1pPr>
              <a:defRPr sz="2255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69950" y="1359050"/>
            <a:ext cx="5327295" cy="463216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55" b="1"/>
            </a:lvl1pPr>
            <a:lvl2pPr marL="467995" indent="0">
              <a:buNone/>
              <a:defRPr sz="2050" b="1"/>
            </a:lvl2pPr>
            <a:lvl3pPr marL="935990" indent="0">
              <a:buNone/>
              <a:defRPr sz="1845" b="1"/>
            </a:lvl3pPr>
            <a:lvl4pPr marL="1404620" indent="0">
              <a:buNone/>
              <a:defRPr sz="1640" b="1"/>
            </a:lvl4pPr>
            <a:lvl5pPr marL="1872615" indent="0">
              <a:buNone/>
              <a:defRPr sz="1640" b="1"/>
            </a:lvl5pPr>
            <a:lvl6pPr marL="2340610" indent="0">
              <a:buNone/>
              <a:defRPr sz="1640" b="1"/>
            </a:lvl6pPr>
            <a:lvl7pPr marL="2808605" indent="0">
              <a:buNone/>
              <a:defRPr sz="1640" b="1"/>
            </a:lvl7pPr>
            <a:lvl8pPr marL="3276600" indent="0">
              <a:buNone/>
              <a:defRPr sz="1640" b="1"/>
            </a:lvl8pPr>
            <a:lvl9pPr marL="3745230" indent="0">
              <a:buNone/>
              <a:defRPr sz="164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69950" y="2143689"/>
            <a:ext cx="5327295" cy="4126883"/>
          </a:xfrm>
        </p:spPr>
        <p:txBody>
          <a:bodyPr wrap="square">
            <a:normAutofit/>
          </a:bodyPr>
          <a:lstStyle>
            <a:lvl1pPr>
              <a:defRPr sz="2255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071" y="443034"/>
            <a:ext cx="10802173" cy="5815479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071" y="1378693"/>
            <a:ext cx="10802173" cy="57579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55" b="0"/>
            </a:lvl1pPr>
            <a:lvl2pPr marL="467995" indent="0">
              <a:buNone/>
              <a:defRPr sz="2050" b="1"/>
            </a:lvl2pPr>
            <a:lvl3pPr marL="935990" indent="0">
              <a:buNone/>
              <a:defRPr sz="1845" b="1"/>
            </a:lvl3pPr>
            <a:lvl4pPr marL="1404620" indent="0">
              <a:buNone/>
              <a:defRPr sz="1640" b="1"/>
            </a:lvl4pPr>
            <a:lvl5pPr marL="1872615" indent="0">
              <a:buNone/>
              <a:defRPr sz="1640" b="1"/>
            </a:lvl5pPr>
            <a:lvl6pPr marL="2340610" indent="0">
              <a:buNone/>
              <a:defRPr sz="1640" b="1"/>
            </a:lvl6pPr>
            <a:lvl7pPr marL="2808605" indent="0">
              <a:buNone/>
              <a:defRPr sz="1640" b="1"/>
            </a:lvl7pPr>
            <a:lvl8pPr marL="3276600" indent="0">
              <a:buNone/>
              <a:defRPr sz="1640" b="1"/>
            </a:lvl8pPr>
            <a:lvl9pPr marL="3745230" indent="0">
              <a:buNone/>
              <a:defRPr sz="164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214960" y="937752"/>
            <a:ext cx="5595525" cy="5915283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06" tIns="45703" rIns="91406" bIns="45703" numCol="1" anchor="t" anchorCtr="0" compatLnSpc="1"/>
          <a:lstStyle/>
          <a:p>
            <a:pPr lvl="0"/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5988406" y="2504807"/>
            <a:ext cx="5415210" cy="44306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695071" y="1387615"/>
            <a:ext cx="5398706" cy="2151865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53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07461" y="6437198"/>
            <a:ext cx="2742200" cy="364992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01744" y="3822586"/>
            <a:ext cx="2878950" cy="57938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45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5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6" Type="http://schemas.openxmlformats.org/officeDocument/2006/relationships/theme" Target="../theme/theme3.xml"/><Relationship Id="rId15" Type="http://schemas.openxmlformats.org/officeDocument/2006/relationships/image" Target="../media/image5.png"/><Relationship Id="rId14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8" Type="http://schemas.openxmlformats.org/officeDocument/2006/relationships/theme" Target="../theme/theme4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 bwMode="gray">
          <a:xfrm rot="5400000" flipH="1">
            <a:off x="5882481" y="716756"/>
            <a:ext cx="422275" cy="1218723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 bwMode="gray">
          <a:xfrm flipH="1">
            <a:off x="0" y="0"/>
            <a:ext cx="12187238" cy="6937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 bwMode="gray">
          <a:xfrm flipH="1">
            <a:off x="0" y="0"/>
            <a:ext cx="646113" cy="693738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50000"/>
                </a:schemeClr>
              </a:gs>
              <a:gs pos="100000">
                <a:schemeClr val="bg2">
                  <a:alpha val="2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3"/>
          <p:cNvSpPr>
            <a:spLocks noGrp="1"/>
          </p:cNvSpPr>
          <p:nvPr>
            <p:ph type="body"/>
          </p:nvPr>
        </p:nvSpPr>
        <p:spPr>
          <a:xfrm>
            <a:off x="1543050" y="2354263"/>
            <a:ext cx="9748838" cy="2182812"/>
          </a:xfrm>
          <a:prstGeom prst="rect">
            <a:avLst/>
          </a:prstGeom>
          <a:noFill/>
          <a:ln w="9525">
            <a:noFill/>
          </a:ln>
        </p:spPr>
        <p:txBody>
          <a:bodyPr lIns="122932" tIns="61466" rIns="122932" bIns="61466" anchor="t" anchorCtr="1">
            <a:spAutoFit/>
          </a:bodyPr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30" name="Rectangle 2"/>
          <p:cNvSpPr>
            <a:spLocks noGrp="1"/>
          </p:cNvSpPr>
          <p:nvPr>
            <p:ph type="title"/>
          </p:nvPr>
        </p:nvSpPr>
        <p:spPr>
          <a:xfrm>
            <a:off x="646113" y="1404938"/>
            <a:ext cx="11541125" cy="579437"/>
          </a:xfrm>
          <a:prstGeom prst="rect">
            <a:avLst/>
          </a:prstGeom>
          <a:noFill/>
          <a:ln w="9525">
            <a:noFill/>
          </a:ln>
        </p:spPr>
        <p:txBody>
          <a:bodyPr lIns="614660" tIns="61466" rIns="614660" bIns="61466" anchor="b" anchorCtr="1">
            <a:spAutoFit/>
          </a:bodyPr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 eaLnBrk="1" hangingPunct="1">
              <a:defRPr sz="13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 algn="ctr" eaLnBrk="1" hangingPunct="1">
              <a:defRPr sz="13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 algn="r" eaLnBrk="1" hangingPunct="1">
              <a:defRPr sz="13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FD804A-F784-4013-AD92-560D09364ABB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4" name="图片 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65100" y="122238"/>
            <a:ext cx="328613" cy="373062"/>
          </a:xfrm>
          <a:prstGeom prst="rect">
            <a:avLst/>
          </a:prstGeom>
          <a:noFill/>
          <a:ln w="9525">
            <a:noFill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Lucida Sans" pitchFamily="34" charset="0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Lucida Sans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Lucida Sans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Lucida Sans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Lucida Sans" pitchFamily="34" charset="0"/>
        </a:defRPr>
      </a:lvl5pPr>
      <a:lvl6pPr marL="614680" algn="l" rtl="0" fontAlgn="base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accent2"/>
          </a:solidFill>
          <a:latin typeface="Arial" panose="020B0604020202020204" pitchFamily="34" charset="0"/>
        </a:defRPr>
      </a:lvl6pPr>
      <a:lvl7pPr marL="1229360" algn="l" rtl="0" fontAlgn="base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accent2"/>
          </a:solidFill>
          <a:latin typeface="Arial" panose="020B0604020202020204" pitchFamily="34" charset="0"/>
        </a:defRPr>
      </a:lvl7pPr>
      <a:lvl8pPr marL="1844040" algn="l" rtl="0" fontAlgn="base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accent2"/>
          </a:solidFill>
          <a:latin typeface="Arial" panose="020B0604020202020204" pitchFamily="34" charset="0"/>
        </a:defRPr>
      </a:lvl8pPr>
      <a:lvl9pPr marL="2458720" algn="l" rtl="0" fontAlgn="base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220980" indent="-220980" algn="l" rtl="0" eaLnBrk="0" fontAlgn="base" hangingPunct="0">
        <a:spcBef>
          <a:spcPct val="250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3200" dirty="0">
          <a:solidFill>
            <a:schemeClr val="bg2"/>
          </a:solidFill>
          <a:latin typeface="Lucida Sans" pitchFamily="34" charset="0"/>
          <a:ea typeface="+mn-ea"/>
          <a:cs typeface="+mn-cs"/>
        </a:defRPr>
      </a:lvl1pPr>
      <a:lvl2pPr marL="462280" indent="-240030" algn="l" rtl="0" eaLnBrk="0" fontAlgn="base" hangingPunct="0">
        <a:lnSpc>
          <a:spcPct val="95000"/>
        </a:lnSpc>
        <a:spcBef>
          <a:spcPct val="10000"/>
        </a:spcBef>
        <a:spcAft>
          <a:spcPct val="0"/>
        </a:spcAft>
        <a:buClr>
          <a:srgbClr val="C60C30"/>
        </a:buClr>
        <a:buSzPct val="100000"/>
        <a:buFont typeface="Lucida Sans" pitchFamily="34" charset="0"/>
        <a:buChar char="–"/>
        <a:defRPr lang="en-US" sz="3000" dirty="0">
          <a:solidFill>
            <a:schemeClr val="bg2"/>
          </a:solidFill>
          <a:latin typeface="Lucida Sans" pitchFamily="34" charset="0"/>
          <a:ea typeface="+mn-ea"/>
          <a:cs typeface="+mn-cs"/>
        </a:defRPr>
      </a:lvl2pPr>
      <a:lvl3pPr marL="684530" indent="-220980" algn="l" rtl="0" eaLnBrk="0" fontAlgn="base" hangingPunct="0">
        <a:lnSpc>
          <a:spcPct val="95000"/>
        </a:lnSpc>
        <a:spcBef>
          <a:spcPct val="100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2700" dirty="0">
          <a:solidFill>
            <a:schemeClr val="bg2"/>
          </a:solidFill>
          <a:latin typeface="Lucida Sans" pitchFamily="34" charset="0"/>
          <a:ea typeface="+mn-ea"/>
          <a:cs typeface="+mn-cs"/>
        </a:defRPr>
      </a:lvl3pPr>
      <a:lvl4pPr marL="925830" indent="-240030" algn="l" rtl="0" eaLnBrk="0" fontAlgn="base" hangingPunct="0">
        <a:lnSpc>
          <a:spcPct val="95000"/>
        </a:lnSpc>
        <a:spcBef>
          <a:spcPct val="10000"/>
        </a:spcBef>
        <a:spcAft>
          <a:spcPct val="0"/>
        </a:spcAft>
        <a:buClr>
          <a:srgbClr val="C60C30"/>
        </a:buClr>
        <a:buSzPct val="100000"/>
        <a:buFont typeface="Lucida Sans" pitchFamily="34" charset="0"/>
        <a:buChar char="–"/>
        <a:defRPr lang="en-US" dirty="0">
          <a:solidFill>
            <a:schemeClr val="bg2"/>
          </a:solidFill>
          <a:latin typeface="Lucida Sans" pitchFamily="34" charset="0"/>
          <a:ea typeface="+mn-ea"/>
          <a:cs typeface="+mn-cs"/>
        </a:defRPr>
      </a:lvl4pPr>
      <a:lvl5pPr marL="1148080" indent="-220980" algn="l" rtl="0" eaLnBrk="0" fontAlgn="base" hangingPunct="0">
        <a:lnSpc>
          <a:spcPct val="95000"/>
        </a:lnSpc>
        <a:spcBef>
          <a:spcPct val="100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2200" dirty="0">
          <a:solidFill>
            <a:schemeClr val="bg2"/>
          </a:solidFill>
          <a:latin typeface="Lucida Sans" pitchFamily="34" charset="0"/>
          <a:ea typeface="+mn-ea"/>
          <a:cs typeface="+mn-cs"/>
        </a:defRPr>
      </a:lvl5pPr>
      <a:lvl6pPr marL="1534795" indent="299085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700">
          <a:solidFill>
            <a:schemeClr val="tx1"/>
          </a:solidFill>
          <a:latin typeface="+mn-lt"/>
        </a:defRPr>
      </a:lvl6pPr>
      <a:lvl7pPr marL="2149475" indent="299085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700">
          <a:solidFill>
            <a:schemeClr val="tx1"/>
          </a:solidFill>
          <a:latin typeface="+mn-lt"/>
        </a:defRPr>
      </a:lvl7pPr>
      <a:lvl8pPr marL="2763520" indent="299085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700">
          <a:solidFill>
            <a:schemeClr val="tx1"/>
          </a:solidFill>
          <a:latin typeface="+mn-lt"/>
        </a:defRPr>
      </a:lvl8pPr>
      <a:lvl9pPr marL="3378200" indent="299085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7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468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936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4404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5872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7340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8808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30276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91744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文本占位符 2"/>
          <p:cNvSpPr>
            <a:spLocks noGrp="1"/>
          </p:cNvSpPr>
          <p:nvPr>
            <p:ph type="body"/>
          </p:nvPr>
        </p:nvSpPr>
        <p:spPr>
          <a:xfrm>
            <a:off x="609600" y="1638300"/>
            <a:ext cx="10968038" cy="46339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507163"/>
            <a:ext cx="2843213" cy="37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7C6C03-2BC5-427E-B5AB-96290FD0574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4013" y="6507163"/>
            <a:ext cx="3859213" cy="374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4425" y="6507163"/>
            <a:ext cx="2843213" cy="3746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918E90-849A-469C-BD9D-B33C00DEC6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EAEAEA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 bwMode="gray">
          <a:xfrm rot="5400000" flipH="1">
            <a:off x="5882481" y="716756"/>
            <a:ext cx="422275" cy="1218723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 bwMode="gray">
          <a:xfrm flipH="1">
            <a:off x="0" y="0"/>
            <a:ext cx="12187238" cy="6937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 bwMode="gray">
          <a:xfrm flipH="1">
            <a:off x="0" y="0"/>
            <a:ext cx="646113" cy="693738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50000"/>
                </a:schemeClr>
              </a:gs>
              <a:gs pos="100000">
                <a:schemeClr val="bg2">
                  <a:alpha val="2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932" tIns="61466" rIns="122932" bIns="61466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3"/>
          <p:cNvSpPr>
            <a:spLocks noGrp="1"/>
          </p:cNvSpPr>
          <p:nvPr>
            <p:ph type="body"/>
          </p:nvPr>
        </p:nvSpPr>
        <p:spPr>
          <a:xfrm>
            <a:off x="1543050" y="2354263"/>
            <a:ext cx="9748838" cy="2182812"/>
          </a:xfrm>
          <a:prstGeom prst="rect">
            <a:avLst/>
          </a:prstGeom>
          <a:noFill/>
          <a:ln w="9525">
            <a:noFill/>
          </a:ln>
        </p:spPr>
        <p:txBody>
          <a:bodyPr lIns="122932" tIns="61466" rIns="122932" bIns="61466" anchor="t" anchorCtr="1">
            <a:spAutoFit/>
          </a:bodyPr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30" name="Rectangle 2"/>
          <p:cNvSpPr>
            <a:spLocks noGrp="1"/>
          </p:cNvSpPr>
          <p:nvPr>
            <p:ph type="title"/>
          </p:nvPr>
        </p:nvSpPr>
        <p:spPr>
          <a:xfrm>
            <a:off x="646113" y="1404938"/>
            <a:ext cx="11541125" cy="579437"/>
          </a:xfrm>
          <a:prstGeom prst="rect">
            <a:avLst/>
          </a:prstGeom>
          <a:noFill/>
          <a:ln w="9525">
            <a:noFill/>
          </a:ln>
        </p:spPr>
        <p:txBody>
          <a:bodyPr lIns="614660" tIns="61466" rIns="614660" bIns="61466" anchor="b" anchorCtr="1">
            <a:spAutoFit/>
          </a:bodyPr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646113" y="6592888"/>
            <a:ext cx="1668463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 eaLnBrk="1" hangingPunct="1">
              <a:defRPr sz="13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314575" y="6592888"/>
            <a:ext cx="8201025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 algn="ctr" eaLnBrk="1" hangingPunct="1">
              <a:defRPr sz="130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10528300" y="6592888"/>
            <a:ext cx="1658938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2932" tIns="61466" rIns="122932" bIns="61466" numCol="1" anchor="b" anchorCtr="0" compatLnSpc="1"/>
          <a:lstStyle>
            <a:lvl1pPr algn="r" eaLnBrk="1" hangingPunct="1">
              <a:defRPr sz="13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FD804A-F784-4013-AD92-560D09364ABB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4" name="图片 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65100" y="122238"/>
            <a:ext cx="328613" cy="373062"/>
          </a:xfrm>
          <a:prstGeom prst="rect">
            <a:avLst/>
          </a:prstGeom>
          <a:noFill/>
          <a:ln w="9525">
            <a:noFill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ransition/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Lucida Sans" pitchFamily="34" charset="0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Lucida Sans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Lucida Sans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Lucida Sans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Lucida Sans" pitchFamily="34" charset="0"/>
        </a:defRPr>
      </a:lvl5pPr>
      <a:lvl6pPr marL="614680" algn="l" rtl="0" fontAlgn="base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accent2"/>
          </a:solidFill>
          <a:latin typeface="Arial" panose="020B0604020202020204" pitchFamily="34" charset="0"/>
        </a:defRPr>
      </a:lvl6pPr>
      <a:lvl7pPr marL="1229360" algn="l" rtl="0" fontAlgn="base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accent2"/>
          </a:solidFill>
          <a:latin typeface="Arial" panose="020B0604020202020204" pitchFamily="34" charset="0"/>
        </a:defRPr>
      </a:lvl7pPr>
      <a:lvl8pPr marL="1844040" algn="l" rtl="0" fontAlgn="base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accent2"/>
          </a:solidFill>
          <a:latin typeface="Arial" panose="020B0604020202020204" pitchFamily="34" charset="0"/>
        </a:defRPr>
      </a:lvl8pPr>
      <a:lvl9pPr marL="2458720" algn="l" rtl="0" fontAlgn="base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220980" indent="-220980" algn="l" rtl="0" eaLnBrk="0" fontAlgn="base" hangingPunct="0">
        <a:spcBef>
          <a:spcPct val="250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3200" dirty="0">
          <a:solidFill>
            <a:schemeClr val="bg2"/>
          </a:solidFill>
          <a:latin typeface="Lucida Sans" pitchFamily="34" charset="0"/>
          <a:ea typeface="+mn-ea"/>
          <a:cs typeface="+mn-cs"/>
        </a:defRPr>
      </a:lvl1pPr>
      <a:lvl2pPr marL="462280" indent="-240030" algn="l" rtl="0" eaLnBrk="0" fontAlgn="base" hangingPunct="0">
        <a:lnSpc>
          <a:spcPct val="95000"/>
        </a:lnSpc>
        <a:spcBef>
          <a:spcPct val="10000"/>
        </a:spcBef>
        <a:spcAft>
          <a:spcPct val="0"/>
        </a:spcAft>
        <a:buClr>
          <a:srgbClr val="C60C30"/>
        </a:buClr>
        <a:buSzPct val="100000"/>
        <a:buFont typeface="Lucida Sans" pitchFamily="34" charset="0"/>
        <a:buChar char="–"/>
        <a:defRPr lang="en-US" sz="3000" dirty="0">
          <a:solidFill>
            <a:schemeClr val="bg2"/>
          </a:solidFill>
          <a:latin typeface="Lucida Sans" pitchFamily="34" charset="0"/>
          <a:ea typeface="+mn-ea"/>
          <a:cs typeface="+mn-cs"/>
        </a:defRPr>
      </a:lvl2pPr>
      <a:lvl3pPr marL="684530" indent="-220980" algn="l" rtl="0" eaLnBrk="0" fontAlgn="base" hangingPunct="0">
        <a:lnSpc>
          <a:spcPct val="95000"/>
        </a:lnSpc>
        <a:spcBef>
          <a:spcPct val="100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2700" dirty="0">
          <a:solidFill>
            <a:schemeClr val="bg2"/>
          </a:solidFill>
          <a:latin typeface="Lucida Sans" pitchFamily="34" charset="0"/>
          <a:ea typeface="+mn-ea"/>
          <a:cs typeface="+mn-cs"/>
        </a:defRPr>
      </a:lvl3pPr>
      <a:lvl4pPr marL="925830" indent="-240030" algn="l" rtl="0" eaLnBrk="0" fontAlgn="base" hangingPunct="0">
        <a:lnSpc>
          <a:spcPct val="95000"/>
        </a:lnSpc>
        <a:spcBef>
          <a:spcPct val="10000"/>
        </a:spcBef>
        <a:spcAft>
          <a:spcPct val="0"/>
        </a:spcAft>
        <a:buClr>
          <a:srgbClr val="C60C30"/>
        </a:buClr>
        <a:buSzPct val="100000"/>
        <a:buFont typeface="Lucida Sans" pitchFamily="34" charset="0"/>
        <a:buChar char="–"/>
        <a:defRPr lang="en-US" dirty="0">
          <a:solidFill>
            <a:schemeClr val="bg2"/>
          </a:solidFill>
          <a:latin typeface="Lucida Sans" pitchFamily="34" charset="0"/>
          <a:ea typeface="+mn-ea"/>
          <a:cs typeface="+mn-cs"/>
        </a:defRPr>
      </a:lvl4pPr>
      <a:lvl5pPr marL="1148080" indent="-220980" algn="l" rtl="0" eaLnBrk="0" fontAlgn="base" hangingPunct="0">
        <a:lnSpc>
          <a:spcPct val="95000"/>
        </a:lnSpc>
        <a:spcBef>
          <a:spcPct val="100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2200" dirty="0">
          <a:solidFill>
            <a:schemeClr val="bg2"/>
          </a:solidFill>
          <a:latin typeface="Lucida Sans" pitchFamily="34" charset="0"/>
          <a:ea typeface="+mn-ea"/>
          <a:cs typeface="+mn-cs"/>
        </a:defRPr>
      </a:lvl5pPr>
      <a:lvl6pPr marL="1534795" indent="299085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700">
          <a:solidFill>
            <a:schemeClr val="tx1"/>
          </a:solidFill>
          <a:latin typeface="+mn-lt"/>
        </a:defRPr>
      </a:lvl6pPr>
      <a:lvl7pPr marL="2149475" indent="299085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700">
          <a:solidFill>
            <a:schemeClr val="tx1"/>
          </a:solidFill>
          <a:latin typeface="+mn-lt"/>
        </a:defRPr>
      </a:lvl7pPr>
      <a:lvl8pPr marL="2763520" indent="299085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700">
          <a:solidFill>
            <a:schemeClr val="tx1"/>
          </a:solidFill>
          <a:latin typeface="+mn-lt"/>
        </a:defRPr>
      </a:lvl8pPr>
      <a:lvl9pPr marL="3378200" indent="299085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7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468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936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4404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5872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7340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8808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30276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917440" algn="l" defTabSz="122936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547" y="443034"/>
            <a:ext cx="10796063" cy="71973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071" y="1366032"/>
            <a:ext cx="10797412" cy="4892796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071" y="6437198"/>
            <a:ext cx="2885023" cy="3649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7128" y="6437198"/>
            <a:ext cx="4113300" cy="3649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07461" y="6437198"/>
            <a:ext cx="2883148" cy="3649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83165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35990" rtl="0" eaLnBrk="1" latinLnBrk="0" hangingPunct="1">
        <a:lnSpc>
          <a:spcPct val="100000"/>
        </a:lnSpc>
        <a:spcBef>
          <a:spcPct val="0"/>
        </a:spcBef>
        <a:buNone/>
        <a:defRPr sz="3275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315" indent="-234315" algn="l" defTabSz="935990" rtl="0" eaLnBrk="1" latinLnBrk="0" hangingPunct="1">
        <a:lnSpc>
          <a:spcPct val="130000"/>
        </a:lnSpc>
        <a:spcBef>
          <a:spcPct val="205000"/>
        </a:spcBef>
        <a:buFont typeface="Arial" panose="020B0604020202020204" pitchFamily="34" charset="0"/>
        <a:buChar char="•"/>
        <a:defRPr sz="2455" kern="1200">
          <a:solidFill>
            <a:schemeClr val="tx1"/>
          </a:solidFill>
          <a:latin typeface="+mn-lt"/>
          <a:ea typeface="+mn-ea"/>
          <a:cs typeface="+mn-cs"/>
        </a:defRPr>
      </a:lvl1pPr>
      <a:lvl2pPr marL="551180" indent="-211455" algn="l" defTabSz="93599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17880" indent="-165735" algn="l" defTabSz="93599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4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55370" indent="-153035" algn="l" defTabSz="93599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4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64285" indent="-130175" algn="l" defTabSz="93599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3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74925" indent="-234315" algn="l" defTabSz="935990" rtl="0" eaLnBrk="1" latinLnBrk="0" hangingPunct="1">
        <a:lnSpc>
          <a:spcPct val="90000"/>
        </a:lnSpc>
        <a:spcBef>
          <a:spcPct val="103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6pPr>
      <a:lvl7pPr marL="3042920" indent="-234315" algn="l" defTabSz="935990" rtl="0" eaLnBrk="1" latinLnBrk="0" hangingPunct="1">
        <a:lnSpc>
          <a:spcPct val="90000"/>
        </a:lnSpc>
        <a:spcBef>
          <a:spcPct val="103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7pPr>
      <a:lvl8pPr marL="3510915" indent="-234315" algn="l" defTabSz="935990" rtl="0" eaLnBrk="1" latinLnBrk="0" hangingPunct="1">
        <a:lnSpc>
          <a:spcPct val="90000"/>
        </a:lnSpc>
        <a:spcBef>
          <a:spcPct val="103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8pPr>
      <a:lvl9pPr marL="3978910" indent="-234315" algn="l" defTabSz="935990" rtl="0" eaLnBrk="1" latinLnBrk="0" hangingPunct="1">
        <a:lnSpc>
          <a:spcPct val="90000"/>
        </a:lnSpc>
        <a:spcBef>
          <a:spcPct val="103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35990" rtl="0" eaLnBrk="1" latinLnBrk="0" hangingPunct="1">
        <a:defRPr sz="1845" kern="1200">
          <a:solidFill>
            <a:schemeClr val="tx1"/>
          </a:solidFill>
          <a:latin typeface="+mn-lt"/>
          <a:ea typeface="+mn-ea"/>
          <a:cs typeface="+mn-cs"/>
        </a:defRPr>
      </a:lvl1pPr>
      <a:lvl2pPr marL="467995" algn="l" defTabSz="935990" rtl="0" eaLnBrk="1" latinLnBrk="0" hangingPunct="1">
        <a:defRPr sz="1845" kern="1200">
          <a:solidFill>
            <a:schemeClr val="tx1"/>
          </a:solidFill>
          <a:latin typeface="+mn-lt"/>
          <a:ea typeface="+mn-ea"/>
          <a:cs typeface="+mn-cs"/>
        </a:defRPr>
      </a:lvl2pPr>
      <a:lvl3pPr marL="935990" algn="l" defTabSz="935990" rtl="0" eaLnBrk="1" latinLnBrk="0" hangingPunct="1">
        <a:defRPr sz="1845" kern="1200">
          <a:solidFill>
            <a:schemeClr val="tx1"/>
          </a:solidFill>
          <a:latin typeface="+mn-lt"/>
          <a:ea typeface="+mn-ea"/>
          <a:cs typeface="+mn-cs"/>
        </a:defRPr>
      </a:lvl3pPr>
      <a:lvl4pPr marL="1404620" algn="l" defTabSz="935990" rtl="0" eaLnBrk="1" latinLnBrk="0" hangingPunct="1">
        <a:defRPr sz="1845" kern="1200">
          <a:solidFill>
            <a:schemeClr val="tx1"/>
          </a:solidFill>
          <a:latin typeface="+mn-lt"/>
          <a:ea typeface="+mn-ea"/>
          <a:cs typeface="+mn-cs"/>
        </a:defRPr>
      </a:lvl4pPr>
      <a:lvl5pPr marL="1872615" algn="l" defTabSz="935990" rtl="0" eaLnBrk="1" latinLnBrk="0" hangingPunct="1">
        <a:defRPr sz="1845" kern="1200">
          <a:solidFill>
            <a:schemeClr val="tx1"/>
          </a:solidFill>
          <a:latin typeface="+mn-lt"/>
          <a:ea typeface="+mn-ea"/>
          <a:cs typeface="+mn-cs"/>
        </a:defRPr>
      </a:lvl5pPr>
      <a:lvl6pPr marL="2340610" algn="l" defTabSz="935990" rtl="0" eaLnBrk="1" latinLnBrk="0" hangingPunct="1">
        <a:defRPr sz="1845" kern="1200">
          <a:solidFill>
            <a:schemeClr val="tx1"/>
          </a:solidFill>
          <a:latin typeface="+mn-lt"/>
          <a:ea typeface="+mn-ea"/>
          <a:cs typeface="+mn-cs"/>
        </a:defRPr>
      </a:lvl6pPr>
      <a:lvl7pPr marL="2808605" algn="l" defTabSz="935990" rtl="0" eaLnBrk="1" latinLnBrk="0" hangingPunct="1">
        <a:defRPr sz="1845" kern="1200">
          <a:solidFill>
            <a:schemeClr val="tx1"/>
          </a:solidFill>
          <a:latin typeface="+mn-lt"/>
          <a:ea typeface="+mn-ea"/>
          <a:cs typeface="+mn-cs"/>
        </a:defRPr>
      </a:lvl7pPr>
      <a:lvl8pPr marL="3276600" algn="l" defTabSz="935990" rtl="0" eaLnBrk="1" latinLnBrk="0" hangingPunct="1">
        <a:defRPr sz="1845" kern="1200">
          <a:solidFill>
            <a:schemeClr val="tx1"/>
          </a:solidFill>
          <a:latin typeface="+mn-lt"/>
          <a:ea typeface="+mn-ea"/>
          <a:cs typeface="+mn-cs"/>
        </a:defRPr>
      </a:lvl8pPr>
      <a:lvl9pPr marL="3745230" algn="l" defTabSz="935990" rtl="0" eaLnBrk="1" latinLnBrk="0" hangingPunct="1">
        <a:defRPr sz="18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8" Type="http://schemas.openxmlformats.org/officeDocument/2006/relationships/slideLayout" Target="../slideLayouts/slideLayout42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-60325" y="2941638"/>
            <a:ext cx="12247563" cy="1476375"/>
            <a:chOff x="-59690" y="3590200"/>
            <a:chExt cx="12246928" cy="1476406"/>
          </a:xfrm>
        </p:grpSpPr>
        <p:sp>
          <p:nvSpPr>
            <p:cNvPr id="6" name="TextBox 5"/>
            <p:cNvSpPr txBox="1"/>
            <p:nvPr/>
          </p:nvSpPr>
          <p:spPr>
            <a:xfrm>
              <a:off x="-59690" y="3590200"/>
              <a:ext cx="12187238" cy="614058"/>
            </a:xfrm>
            <a:prstGeom prst="rect">
              <a:avLst/>
            </a:prstGeom>
            <a:noFill/>
          </p:spPr>
          <p:txBody>
            <a:bodyPr lIns="122932" tIns="61466" rIns="122932" bIns="61466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134" normalizeH="0" baseline="0" noProof="0" dirty="0">
                  <a:solidFill>
                    <a:schemeClr val="bg2">
                      <a:lumMod val="65000"/>
                      <a:lumOff val="35000"/>
                    </a:schemeClr>
                  </a:solidFill>
                  <a:latin typeface="冬青黑体简体中文 W6" pitchFamily="34" charset="-122"/>
                  <a:ea typeface="冬青黑体简体中文 W6" pitchFamily="34" charset="-122"/>
                  <a:cs typeface="+mn-cs"/>
                </a:rPr>
                <a:t>FreeRTOS</a:t>
              </a:r>
              <a:r>
                <a:rPr kumimoji="0" lang="zh-CN" altLang="en-US" sz="3200" kern="1200" cap="none" spc="134" normalizeH="0" baseline="0" noProof="0" dirty="0">
                  <a:solidFill>
                    <a:schemeClr val="bg2">
                      <a:lumMod val="65000"/>
                      <a:lumOff val="35000"/>
                    </a:schemeClr>
                  </a:solidFill>
                  <a:latin typeface="冬青黑体简体中文 W6" pitchFamily="34" charset="-122"/>
                  <a:ea typeface="冬青黑体简体中文 W6" pitchFamily="34" charset="-122"/>
                  <a:cs typeface="+mn-cs"/>
                </a:rPr>
                <a:t>核心</a:t>
              </a:r>
              <a:r>
                <a:rPr kumimoji="0" lang="zh-CN" altLang="en-US" sz="3200" kern="1200" cap="none" spc="134" normalizeH="0" baseline="0" noProof="0" dirty="0">
                  <a:solidFill>
                    <a:schemeClr val="bg2">
                      <a:lumMod val="65000"/>
                      <a:lumOff val="35000"/>
                    </a:schemeClr>
                  </a:solidFill>
                  <a:latin typeface="冬青黑体简体中文 W6" pitchFamily="34" charset="-122"/>
                  <a:ea typeface="冬青黑体简体中文 W6" pitchFamily="34" charset="-122"/>
                  <a:cs typeface="+mn-cs"/>
                </a:rPr>
                <a:t>机制</a:t>
              </a:r>
              <a:endParaRPr kumimoji="0" lang="zh-CN" altLang="en-US" sz="3200" kern="1200" cap="none" spc="134" normalizeH="0" baseline="0" noProof="0" dirty="0">
                <a:solidFill>
                  <a:schemeClr val="bg2">
                    <a:lumMod val="65000"/>
                    <a:lumOff val="35000"/>
                  </a:schemeClr>
                </a:solidFill>
                <a:latin typeface="冬青黑体简体中文 W6" pitchFamily="34" charset="-122"/>
                <a:ea typeface="冬青黑体简体中文 W6" pitchFamily="34" charset="-122"/>
                <a:cs typeface="+mn-cs"/>
              </a:endParaRPr>
            </a:p>
          </p:txBody>
        </p:sp>
        <p:sp>
          <p:nvSpPr>
            <p:cNvPr id="18437" name="TextBox 6"/>
            <p:cNvSpPr txBox="1">
              <a:spLocks noChangeArrowheads="1"/>
            </p:cNvSpPr>
            <p:nvPr/>
          </p:nvSpPr>
          <p:spPr bwMode="auto">
            <a:xfrm>
              <a:off x="0" y="4421987"/>
              <a:ext cx="12187238" cy="644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134" normalizeH="0" baseline="0" noProof="0" dirty="0" smtClean="0">
                  <a:ln>
                    <a:noFill/>
                  </a:ln>
                  <a:solidFill>
                    <a:schemeClr val="bg2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姓名：丰无界</a:t>
              </a:r>
              <a:endParaRPr kumimoji="0" lang="en-US" altLang="zh-CN" sz="1800" b="0" i="0" u="none" strike="noStrike" kern="1200" cap="none" spc="134" normalizeH="0" baseline="0" noProof="0" dirty="0" smtClean="0">
                <a:ln>
                  <a:noFill/>
                </a:ln>
                <a:solidFill>
                  <a:schemeClr val="bg2">
                    <a:lumMod val="65000"/>
                    <a:lumOff val="3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338138" y="171450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</a:rPr>
              <a:t>课程</a:t>
            </a:r>
            <a:r>
              <a:rPr lang="zh-CN" altLang="en-US">
                <a:latin typeface="Arial" panose="020B0604020202020204" pitchFamily="34" charset="0"/>
              </a:rPr>
              <a:t>目标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3090" y="860425"/>
            <a:ext cx="406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93090" y="944245"/>
            <a:ext cx="10509885" cy="3154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2000">
                <a:solidFill>
                  <a:schemeClr val="bg2"/>
                </a:solidFill>
                <a:latin typeface="+mn-lt"/>
                <a:sym typeface="+mn-ea"/>
              </a:rPr>
              <a:t>理解 FreeRTOS 核心机制与底层原理</a:t>
            </a:r>
            <a:endParaRPr sz="2000">
              <a:solidFill>
                <a:schemeClr val="bg2"/>
              </a:solidFill>
              <a:latin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2000">
                <a:solidFill>
                  <a:schemeClr val="bg2"/>
                </a:solidFill>
                <a:latin typeface="+mn-lt"/>
                <a:sym typeface="+mn-ea"/>
              </a:rPr>
              <a:t>掌握任务调度、时间管理、同步通信等关键技术</a:t>
            </a:r>
            <a:endParaRPr sz="2000">
              <a:solidFill>
                <a:schemeClr val="bg2"/>
              </a:solidFill>
              <a:latin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2000">
                <a:solidFill>
                  <a:schemeClr val="bg2"/>
                </a:solidFill>
                <a:latin typeface="+mn-lt"/>
                <a:sym typeface="+mn-ea"/>
              </a:rPr>
              <a:t>避免常见 RTOS 开发陷阱</a:t>
            </a:r>
            <a:endParaRPr sz="2000">
              <a:solidFill>
                <a:schemeClr val="bg2"/>
              </a:solidFill>
              <a:latin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2000">
                <a:solidFill>
                  <a:schemeClr val="bg2"/>
                </a:solidFill>
                <a:latin typeface="+mn-lt"/>
                <a:sym typeface="+mn-ea"/>
              </a:rPr>
              <a:t>结合实际案例加深理解</a:t>
            </a:r>
            <a:endParaRPr sz="2000">
              <a:solidFill>
                <a:schemeClr val="bg2"/>
              </a:solidFill>
              <a:latin typeface="+mn-lt"/>
              <a:sym typeface="+mn-e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7565" y="648335"/>
            <a:ext cx="3763010" cy="1080770"/>
          </a:xfrm>
        </p:spPr>
        <p:txBody>
          <a:bodyPr wrap="square">
            <a:normAutofit/>
          </a:bodyPr>
          <a:lstStyle/>
          <a:p>
            <a:r>
              <a:rPr lang="en-US" spc="300" dirty="0">
                <a:latin typeface="+mj-ea"/>
                <a:sym typeface="+mn-ea"/>
              </a:rPr>
              <a:t>FreeRTOS</a:t>
            </a:r>
            <a:endParaRPr lang="en-US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5614496" y="2315845"/>
            <a:ext cx="791210" cy="4895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01.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6523355" y="2315845"/>
            <a:ext cx="4794250" cy="3714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 lnSpcReduction="10000"/>
          </a:bodyPr>
          <a:lstStyle/>
          <a:p>
            <a:pPr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sym typeface="+mn-ea"/>
              </a:rPr>
              <a:t>RTOS 基本概念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9" name="序号"/>
          <p:cNvSpPr txBox="1"/>
          <p:nvPr>
            <p:custDataLst>
              <p:tags r:id="rId4"/>
            </p:custDataLst>
          </p:nvPr>
        </p:nvSpPr>
        <p:spPr>
          <a:xfrm>
            <a:off x="5614496" y="2780030"/>
            <a:ext cx="791210" cy="4597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02.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项标题"/>
          <p:cNvSpPr txBox="1"/>
          <p:nvPr>
            <p:custDataLst>
              <p:tags r:id="rId5"/>
            </p:custDataLst>
          </p:nvPr>
        </p:nvSpPr>
        <p:spPr>
          <a:xfrm>
            <a:off x="6523355" y="2806065"/>
            <a:ext cx="4794250" cy="4425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sym typeface="+mn-ea"/>
              </a:rPr>
              <a:t>任务</a:t>
            </a: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sym typeface="+mn-ea"/>
              </a:rPr>
              <a:t>与</a:t>
            </a:r>
            <a:r>
              <a:rPr lang="en-US" sz="28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sym typeface="+mn-ea"/>
              </a:rPr>
              <a:t>调度机制</a:t>
            </a:r>
            <a:endParaRPr lang="en-US" sz="28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2" name="序号"/>
          <p:cNvSpPr txBox="1"/>
          <p:nvPr>
            <p:custDataLst>
              <p:tags r:id="rId6"/>
            </p:custDataLst>
          </p:nvPr>
        </p:nvSpPr>
        <p:spPr>
          <a:xfrm>
            <a:off x="5614496" y="3325495"/>
            <a:ext cx="791210" cy="4597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03.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项标题"/>
          <p:cNvSpPr txBox="1"/>
          <p:nvPr>
            <p:custDataLst>
              <p:tags r:id="rId7"/>
            </p:custDataLst>
          </p:nvPr>
        </p:nvSpPr>
        <p:spPr>
          <a:xfrm>
            <a:off x="6523355" y="3337560"/>
            <a:ext cx="4794250" cy="4476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sym typeface="+mn-ea"/>
              </a:rPr>
              <a:t>时间管理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序号"/>
          <p:cNvSpPr txBox="1"/>
          <p:nvPr>
            <p:custDataLst>
              <p:tags r:id="rId8"/>
            </p:custDataLst>
          </p:nvPr>
        </p:nvSpPr>
        <p:spPr>
          <a:xfrm>
            <a:off x="5614496" y="3870960"/>
            <a:ext cx="791210" cy="456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04.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项标题"/>
          <p:cNvSpPr txBox="1"/>
          <p:nvPr>
            <p:custDataLst>
              <p:tags r:id="rId9"/>
            </p:custDataLst>
          </p:nvPr>
        </p:nvSpPr>
        <p:spPr>
          <a:xfrm>
            <a:off x="6523355" y="3874135"/>
            <a:ext cx="4794250" cy="4572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sym typeface="+mn-ea"/>
              </a:rPr>
              <a:t>任务间通信与同步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序号"/>
          <p:cNvSpPr txBox="1"/>
          <p:nvPr>
            <p:custDataLst>
              <p:tags r:id="rId10"/>
            </p:custDataLst>
          </p:nvPr>
        </p:nvSpPr>
        <p:spPr>
          <a:xfrm>
            <a:off x="5614496" y="4413250"/>
            <a:ext cx="791210" cy="456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05.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项标题"/>
          <p:cNvSpPr txBox="1"/>
          <p:nvPr>
            <p:custDataLst>
              <p:tags r:id="rId11"/>
            </p:custDataLst>
          </p:nvPr>
        </p:nvSpPr>
        <p:spPr>
          <a:xfrm>
            <a:off x="6523355" y="4415155"/>
            <a:ext cx="4794250" cy="4572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sym typeface="+mn-ea"/>
              </a:rPr>
              <a:t>内存管理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05880" y="5821680"/>
            <a:ext cx="3955415" cy="52197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>
              <a:buClrTx/>
              <a:buSzTx/>
              <a:buFontTx/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sym typeface="+mn-ea"/>
              </a:rPr>
              <a:t>常见陷阱与调试技巧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8" name="序号"/>
          <p:cNvSpPr txBox="1"/>
          <p:nvPr>
            <p:custDataLst>
              <p:tags r:id="rId12"/>
            </p:custDataLst>
          </p:nvPr>
        </p:nvSpPr>
        <p:spPr>
          <a:xfrm>
            <a:off x="5614496" y="5887085"/>
            <a:ext cx="791210" cy="456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08.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序号"/>
          <p:cNvSpPr txBox="1"/>
          <p:nvPr>
            <p:custDataLst>
              <p:tags r:id="rId13"/>
            </p:custDataLst>
          </p:nvPr>
        </p:nvSpPr>
        <p:spPr>
          <a:xfrm>
            <a:off x="5614496" y="5386070"/>
            <a:ext cx="791210" cy="456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07.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项标题"/>
          <p:cNvSpPr txBox="1"/>
          <p:nvPr>
            <p:custDataLst>
              <p:tags r:id="rId14"/>
            </p:custDataLst>
          </p:nvPr>
        </p:nvSpPr>
        <p:spPr>
          <a:xfrm>
            <a:off x="6523355" y="5387975"/>
            <a:ext cx="4794250" cy="4572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00000"/>
              </a:lnSpc>
            </a:pPr>
            <a:r>
              <a:rPr lang="zh-CN" alt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sym typeface="+mn-ea"/>
              </a:rPr>
              <a:t>钩子</a:t>
            </a:r>
            <a:r>
              <a:rPr lang="zh-CN" alt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sym typeface="+mn-ea"/>
              </a:rPr>
              <a:t>函数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0" name="序号"/>
          <p:cNvSpPr txBox="1"/>
          <p:nvPr>
            <p:custDataLst>
              <p:tags r:id="rId15"/>
            </p:custDataLst>
          </p:nvPr>
        </p:nvSpPr>
        <p:spPr>
          <a:xfrm>
            <a:off x="5614496" y="4899660"/>
            <a:ext cx="791210" cy="456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06.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项标题"/>
          <p:cNvSpPr txBox="1"/>
          <p:nvPr>
            <p:custDataLst>
              <p:tags r:id="rId16"/>
            </p:custDataLst>
          </p:nvPr>
        </p:nvSpPr>
        <p:spPr>
          <a:xfrm>
            <a:off x="6523355" y="4901565"/>
            <a:ext cx="4794250" cy="4572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00000"/>
              </a:lnSpc>
            </a:pPr>
            <a:r>
              <a:rPr lang="zh-CN" alt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sym typeface="+mn-ea"/>
              </a:rPr>
              <a:t>中断</a:t>
            </a:r>
            <a:r>
              <a:rPr lang="zh-CN" alt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sym typeface="+mn-ea"/>
              </a:rPr>
              <a:t>管理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13045" y="2517775"/>
            <a:ext cx="5351780" cy="1080770"/>
          </a:xfrm>
        </p:spPr>
        <p:txBody>
          <a:bodyPr wrap="square">
            <a:normAutofit/>
          </a:bodyPr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sym typeface="+mn-ea"/>
              </a:rPr>
              <a:t>RTOS 基本概念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0215" y="964565"/>
            <a:ext cx="89535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RTOS vs </a:t>
            </a:r>
            <a:r>
              <a:rPr 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其它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indent="-342900">
              <a:buAutoNum type="arabicPeriod"/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实时性的定义：硬实时 vs 软实时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indent="-342900">
              <a:buAutoNum type="arabicPeriod"/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FreeRTOS 架构概览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indent="-342900">
              <a:buAutoNum type="arabicPeriod"/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freertos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rgbClr val="D92142"/>
                </a:solidFill>
                <a:latin typeface="PingFang SC"/>
                <a:ea typeface="PingFang SC"/>
              </a:rPr>
              <a:t>顺序执行的前后台系统</a:t>
            </a:r>
            <a:endParaRPr lang="zh-CN" altLang="en-US" sz="1600" i="0">
              <a:solidFill>
                <a:srgbClr val="D92142"/>
              </a:solidFill>
              <a:latin typeface="PingFang SC"/>
              <a:ea typeface="PingFang SC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1348105"/>
            <a:ext cx="3550920" cy="372364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rcRect l="734" b="606"/>
          <a:stretch>
            <a:fillRect/>
          </a:stretch>
        </p:blipFill>
        <p:spPr>
          <a:xfrm>
            <a:off x="4745990" y="1146175"/>
            <a:ext cx="5493385" cy="27076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38848" y="5377498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/>
            <a:r>
              <a:rPr lang="zh-CN" altLang="en-US" sz="1600" b="0" i="0">
                <a:solidFill>
                  <a:schemeClr val="bg2"/>
                </a:solidFill>
                <a:latin typeface="PingFang SC"/>
                <a:ea typeface="PingFang SC"/>
              </a:rPr>
              <a:t>这种架构的优点是使用简单易于理解，而缺点是每个任务所占的</a:t>
            </a:r>
            <a:r>
              <a:rPr lang="en-US" altLang="zh-CN" sz="1600" b="0" i="0">
                <a:solidFill>
                  <a:schemeClr val="bg2"/>
                </a:solidFill>
                <a:latin typeface="PingFang SC"/>
                <a:ea typeface="PingFang SC"/>
              </a:rPr>
              <a:t>CPU</a:t>
            </a:r>
            <a:r>
              <a:rPr lang="zh-CN" altLang="en-US" sz="1600" b="0" i="0">
                <a:solidFill>
                  <a:schemeClr val="bg2"/>
                </a:solidFill>
                <a:latin typeface="PingFang SC"/>
                <a:ea typeface="PingFang SC"/>
              </a:rPr>
              <a:t>时间过长的话，会导致程序的实时性能差，就比如按键的检测等。</a:t>
            </a:r>
            <a:endParaRPr lang="zh-CN" altLang="en-US" sz="1600" b="0" i="0">
              <a:solidFill>
                <a:schemeClr val="bg2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rgbClr val="D92142"/>
                </a:solidFill>
                <a:latin typeface="PingFang SC"/>
                <a:ea typeface="PingFang SC"/>
              </a:rPr>
              <a:t>时间片轮询系统</a:t>
            </a:r>
            <a:endParaRPr lang="zh-CN" altLang="en-US" sz="1600" i="0">
              <a:solidFill>
                <a:srgbClr val="D92142"/>
              </a:solidFill>
              <a:latin typeface="PingFang SC"/>
              <a:ea typeface="PingFang SC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3460" y="5670550"/>
            <a:ext cx="957453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/>
            <a:r>
              <a:rPr lang="zh-CN" altLang="en-US" sz="1600" b="0" i="0">
                <a:solidFill>
                  <a:schemeClr val="bg2"/>
                </a:solidFill>
                <a:latin typeface="PingFang SC"/>
                <a:ea typeface="PingFang SC"/>
              </a:rPr>
              <a:t>时间片轮询法相比顺序执行还是有很大优势的，既有顺序执行法的优点，也有操作系统的部分优点。</a:t>
            </a:r>
            <a:endParaRPr lang="zh-CN" altLang="en-US" sz="1600" b="0" i="0">
              <a:solidFill>
                <a:schemeClr val="bg2"/>
              </a:solidFill>
              <a:latin typeface="PingFang SC"/>
              <a:ea typeface="PingFang SC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939165" y="1326515"/>
            <a:ext cx="3748405" cy="411988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5092700" y="2091055"/>
            <a:ext cx="6458585" cy="19443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rgbClr val="D92142"/>
                </a:solidFill>
                <a:latin typeface="PingFang SC"/>
                <a:ea typeface="PingFang SC"/>
              </a:rPr>
              <a:t>多任务操作系统</a:t>
            </a:r>
            <a:endParaRPr lang="zh-CN" altLang="en-US" sz="1600" i="0">
              <a:solidFill>
                <a:srgbClr val="D92142"/>
              </a:solidFill>
              <a:latin typeface="PingFang SC"/>
              <a:ea typeface="PingFang SC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7835" y="5523865"/>
            <a:ext cx="1109281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/>
            <a:r>
              <a:rPr lang="zh-CN" altLang="en-US" sz="1600" b="0" i="0">
                <a:solidFill>
                  <a:schemeClr val="bg2"/>
                </a:solidFill>
                <a:latin typeface="PingFang SC"/>
                <a:ea typeface="PingFang SC"/>
              </a:rPr>
              <a:t>在一些功能复杂，逻辑控制较为困难的系统中就适合选择多任务操作系统，比如视频监控系统、无人机等等应用场景。</a:t>
            </a:r>
            <a:endParaRPr lang="zh-CN" altLang="en-US" sz="1600" b="0" i="0">
              <a:solidFill>
                <a:schemeClr val="bg2"/>
              </a:solidFill>
              <a:latin typeface="PingFang SC"/>
              <a:ea typeface="PingFang SC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29540" y="1338580"/>
            <a:ext cx="5728970" cy="394144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5858510" y="1310005"/>
            <a:ext cx="6329045" cy="39147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7835" y="5996305"/>
            <a:ext cx="10925810" cy="5219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/>
            <a:r>
              <a:rPr lang="zh-CN" altLang="en-US" sz="1600" b="0" i="0">
                <a:solidFill>
                  <a:schemeClr val="bg2"/>
                </a:solidFill>
                <a:latin typeface="PingFang SC"/>
                <a:ea typeface="PingFang SC"/>
              </a:rPr>
              <a:t>没有最好的软件架构</a:t>
            </a:r>
            <a:r>
              <a:rPr lang="en-US" altLang="zh-CN" sz="1600" b="0" i="0">
                <a:solidFill>
                  <a:schemeClr val="bg2"/>
                </a:solidFill>
                <a:latin typeface="PingFang SC"/>
                <a:ea typeface="PingFang SC"/>
              </a:rPr>
              <a:t>(</a:t>
            </a:r>
            <a:r>
              <a:rPr lang="zh-CN" altLang="en-US" sz="1600" b="0" i="0">
                <a:solidFill>
                  <a:schemeClr val="bg2"/>
                </a:solidFill>
                <a:latin typeface="PingFang SC"/>
                <a:ea typeface="PingFang SC"/>
              </a:rPr>
              <a:t>程序架构</a:t>
            </a:r>
            <a:r>
              <a:rPr lang="en-US" altLang="zh-CN" sz="1600" b="0" i="0">
                <a:solidFill>
                  <a:schemeClr val="bg2"/>
                </a:solidFill>
                <a:latin typeface="PingFang SC"/>
                <a:ea typeface="PingFang SC"/>
              </a:rPr>
              <a:t>)</a:t>
            </a:r>
            <a:r>
              <a:rPr lang="zh-CN" altLang="en-US" sz="1600" b="0" i="0">
                <a:solidFill>
                  <a:schemeClr val="bg2"/>
                </a:solidFill>
                <a:latin typeface="PingFang SC"/>
                <a:ea typeface="PingFang SC"/>
              </a:rPr>
              <a:t>，而是只有最合适的。因为在不同的应用场景中适合采用不同的程序设计，而单纯的去比较哪种程序架构是最好的没有什么实际的意义。</a:t>
            </a:r>
            <a:endParaRPr lang="zh-CN" altLang="en-US" sz="1600" b="0" i="0">
              <a:solidFill>
                <a:schemeClr val="bg2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en-US" altLang="zh-CN" sz="1600" i="0">
                <a:solidFill>
                  <a:srgbClr val="D92142"/>
                </a:solidFill>
                <a:latin typeface="PingFang SC"/>
                <a:ea typeface="PingFang SC"/>
              </a:rPr>
              <a:t>RTOS vs </a:t>
            </a:r>
            <a:r>
              <a:rPr lang="zh-CN" altLang="en-US" sz="1600" i="0">
                <a:solidFill>
                  <a:srgbClr val="D92142"/>
                </a:solidFill>
                <a:latin typeface="PingFang SC"/>
                <a:ea typeface="PingFang SC"/>
              </a:rPr>
              <a:t>其它</a:t>
            </a:r>
            <a:endParaRPr lang="zh-CN" altLang="en-US" sz="1600" i="0">
              <a:solidFill>
                <a:srgbClr val="D92142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3885" y="1712595"/>
            <a:ext cx="10947400" cy="1696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>
                <a:solidFill>
                  <a:schemeClr val="bg2"/>
                </a:solidFill>
                <a:sym typeface="+mn-ea"/>
              </a:rPr>
              <a:t>RTOS：</a:t>
            </a:r>
            <a:r>
              <a:rPr>
                <a:solidFill>
                  <a:srgbClr val="FF0000"/>
                </a:solidFill>
                <a:sym typeface="+mn-ea"/>
              </a:rPr>
              <a:t>多任务、实时调度、可预测性</a:t>
            </a:r>
            <a:r>
              <a:rPr lang="zh-CN">
                <a:solidFill>
                  <a:schemeClr val="bg2"/>
                </a:solidFill>
                <a:ea typeface="宋体" panose="02010600030101010101" pitchFamily="2" charset="-122"/>
                <a:sym typeface="+mn-ea"/>
              </a:rPr>
              <a:t>（任务执行有规律，与及时性的区别）</a:t>
            </a:r>
            <a:endParaRPr>
              <a:solidFill>
                <a:schemeClr val="bg2"/>
              </a:solidFill>
              <a:sym typeface="+mn-ea"/>
            </a:endParaRPr>
          </a:p>
          <a:p>
            <a:r>
              <a:rPr>
                <a:solidFill>
                  <a:schemeClr val="bg2"/>
                </a:solidFill>
                <a:sym typeface="+mn-ea"/>
              </a:rPr>
              <a:t>裸机：简单控制，单任务，</a:t>
            </a:r>
            <a:r>
              <a:rPr>
                <a:solidFill>
                  <a:srgbClr val="FF0000"/>
                </a:solidFill>
                <a:sym typeface="+mn-ea"/>
              </a:rPr>
              <a:t>实时性</a:t>
            </a:r>
            <a:r>
              <a:rPr>
                <a:solidFill>
                  <a:schemeClr val="bg2"/>
                </a:solidFill>
                <a:sym typeface="+mn-ea"/>
              </a:rPr>
              <a:t>差</a:t>
            </a:r>
            <a:endParaRPr>
              <a:solidFill>
                <a:schemeClr val="bg2"/>
              </a:solidFill>
              <a:sym typeface="+mn-ea"/>
            </a:endParaRPr>
          </a:p>
          <a:p>
            <a:r>
              <a:rPr>
                <a:solidFill>
                  <a:schemeClr val="bg2"/>
                </a:solidFill>
                <a:sym typeface="+mn-ea"/>
              </a:rPr>
              <a:t>RTOS 是为复杂系统设计，支持硬件抽象层、任务切换与中断管理</a:t>
            </a:r>
            <a:endParaRPr lang="zh-CN" altLang="en-US">
              <a:solidFill>
                <a:schemeClr val="bg2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3885" y="3510915"/>
            <a:ext cx="9728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>
                <a:solidFill>
                  <a:schemeClr val="bg2"/>
                </a:solidFill>
                <a:sym typeface="+mn-ea"/>
              </a:rPr>
              <a:t>RTOS vs 裸机的对比：</a:t>
            </a:r>
            <a:endParaRPr>
              <a:solidFill>
                <a:schemeClr val="bg2"/>
              </a:solidFill>
              <a:sym typeface="+mn-ea"/>
            </a:endParaRPr>
          </a:p>
          <a:p>
            <a:r>
              <a:rPr>
                <a:solidFill>
                  <a:schemeClr val="bg2"/>
                </a:solidFill>
                <a:sym typeface="+mn-ea"/>
              </a:rPr>
              <a:t>裸机程序需要自己管理所有任务，RTOS 提供调度器和任务管理。</a:t>
            </a:r>
            <a:endParaRPr lang="zh-CN" altLang="en-US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rgbClr val="D92142"/>
                </a:solidFill>
                <a:latin typeface="PingFang SC"/>
                <a:ea typeface="PingFang SC"/>
              </a:rPr>
              <a:t>硬实时</a:t>
            </a:r>
            <a:r>
              <a:rPr lang="en-US" altLang="zh-CN" sz="1600" i="0">
                <a:solidFill>
                  <a:srgbClr val="D92142"/>
                </a:solidFill>
                <a:latin typeface="PingFang SC"/>
                <a:ea typeface="PingFang SC"/>
              </a:rPr>
              <a:t> vs </a:t>
            </a:r>
            <a:r>
              <a:rPr lang="zh-CN" altLang="en-US" sz="1600" i="0">
                <a:solidFill>
                  <a:srgbClr val="D92142"/>
                </a:solidFill>
                <a:latin typeface="PingFang SC"/>
                <a:ea typeface="PingFang SC"/>
              </a:rPr>
              <a:t>软实时</a:t>
            </a:r>
            <a:endParaRPr lang="zh-CN" altLang="en-US" sz="1600" i="0">
              <a:solidFill>
                <a:srgbClr val="D92142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3885" y="1712595"/>
            <a:ext cx="10947400" cy="1696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>
                <a:solidFill>
                  <a:schemeClr val="bg2"/>
                </a:solidFill>
                <a:sym typeface="+mn-ea"/>
              </a:rPr>
              <a:t>硬实时：任务必须在规定时间内完成，否则系统不可用</a:t>
            </a:r>
            <a:r>
              <a:rPr lang="en-US">
                <a:solidFill>
                  <a:schemeClr val="bg2"/>
                </a:solidFill>
                <a:sym typeface="+mn-ea"/>
              </a:rPr>
              <a:t>    ---</a:t>
            </a:r>
            <a:r>
              <a:rPr>
                <a:solidFill>
                  <a:schemeClr val="bg2"/>
                </a:solidFill>
                <a:sym typeface="+mn-ea"/>
              </a:rPr>
              <a:t>工业控制、汽车刹车系统；</a:t>
            </a:r>
            <a:endParaRPr>
              <a:solidFill>
                <a:schemeClr val="bg2"/>
              </a:solidFill>
              <a:sym typeface="+mn-ea"/>
            </a:endParaRPr>
          </a:p>
          <a:p>
            <a:endParaRPr>
              <a:solidFill>
                <a:schemeClr val="bg2"/>
              </a:solidFill>
              <a:sym typeface="+mn-ea"/>
            </a:endParaRPr>
          </a:p>
          <a:p>
            <a:r>
              <a:rPr>
                <a:solidFill>
                  <a:schemeClr val="bg2"/>
                </a:solidFill>
                <a:sym typeface="+mn-ea"/>
              </a:rPr>
              <a:t>软实时：任务完成的时间要求较宽松，尽量在规定时间内完成</a:t>
            </a:r>
            <a:r>
              <a:rPr lang="en-US">
                <a:solidFill>
                  <a:schemeClr val="bg2"/>
                </a:solidFill>
                <a:sym typeface="+mn-ea"/>
              </a:rPr>
              <a:t> ---</a:t>
            </a:r>
            <a:r>
              <a:rPr>
                <a:solidFill>
                  <a:schemeClr val="bg2"/>
                </a:solidFill>
                <a:sym typeface="+mn-ea"/>
              </a:rPr>
              <a:t>视频播放、音频处理。</a:t>
            </a:r>
            <a:endParaRPr lang="en-US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en-US" altLang="zh-CN" sz="1600" i="0">
                <a:solidFill>
                  <a:srgbClr val="D92142"/>
                </a:solidFill>
                <a:latin typeface="PingFang SC"/>
                <a:ea typeface="PingFang SC"/>
              </a:rPr>
              <a:t>FreeRTOS </a:t>
            </a:r>
            <a:r>
              <a:rPr lang="zh-CN" altLang="en-US" sz="1600" i="0">
                <a:solidFill>
                  <a:srgbClr val="D92142"/>
                </a:solidFill>
                <a:latin typeface="PingFang SC"/>
                <a:ea typeface="PingFang SC"/>
              </a:rPr>
              <a:t>架构概览</a:t>
            </a:r>
            <a:endParaRPr lang="zh-CN" altLang="en-US" sz="1600" i="0">
              <a:solidFill>
                <a:srgbClr val="D92142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3885" y="1712595"/>
            <a:ext cx="10947400" cy="1696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>
                <a:solidFill>
                  <a:schemeClr val="bg2"/>
                </a:solidFill>
                <a:sym typeface="+mn-ea"/>
              </a:rPr>
              <a:t>FreeRTOS：开源、轻量、广泛应用于嵌入式系统</a:t>
            </a:r>
            <a:endParaRPr>
              <a:solidFill>
                <a:schemeClr val="bg2"/>
              </a:solidFill>
              <a:sym typeface="+mn-ea"/>
            </a:endParaRPr>
          </a:p>
          <a:p>
            <a:endParaRPr>
              <a:solidFill>
                <a:schemeClr val="bg2"/>
              </a:solidFill>
              <a:sym typeface="+mn-ea"/>
            </a:endParaRPr>
          </a:p>
          <a:p>
            <a:r>
              <a:rPr>
                <a:solidFill>
                  <a:schemeClr val="bg2"/>
                </a:solidFill>
                <a:sym typeface="+mn-ea"/>
              </a:rPr>
              <a:t>核心：任务管理、时间管理、同步通信、内存管理、调度器</a:t>
            </a:r>
            <a:endParaRPr>
              <a:solidFill>
                <a:schemeClr val="bg2"/>
              </a:solidFill>
              <a:sym typeface="+mn-ea"/>
            </a:endParaRPr>
          </a:p>
          <a:p>
            <a:endParaRPr>
              <a:solidFill>
                <a:schemeClr val="bg2"/>
              </a:solidFill>
              <a:sym typeface="+mn-ea"/>
            </a:endParaRPr>
          </a:p>
          <a:p>
            <a:r>
              <a:rPr>
                <a:solidFill>
                  <a:schemeClr val="bg2"/>
                </a:solidFill>
                <a:sym typeface="+mn-ea"/>
              </a:rPr>
              <a:t>可移植层：支持多种硬件架构（STM32、AVR、ARM、PIC）</a:t>
            </a:r>
            <a:endParaRPr lang="en-US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en-US" altLang="zh-CN" sz="1600" i="0">
                <a:solidFill>
                  <a:srgbClr val="D92142"/>
                </a:solidFill>
                <a:latin typeface="PingFang SC"/>
                <a:ea typeface="PingFang SC"/>
              </a:rPr>
              <a:t>FreeRTOS </a:t>
            </a:r>
            <a:r>
              <a:rPr lang="zh-CN" altLang="en-US" sz="1600" i="0">
                <a:solidFill>
                  <a:srgbClr val="D92142"/>
                </a:solidFill>
                <a:latin typeface="PingFang SC"/>
                <a:ea typeface="PingFang SC"/>
              </a:rPr>
              <a:t>使用</a:t>
            </a:r>
            <a:r>
              <a:rPr lang="en-US" altLang="zh-CN" sz="1600" i="0">
                <a:solidFill>
                  <a:srgbClr val="D92142"/>
                </a:solidFill>
                <a:latin typeface="PingFang SC"/>
                <a:ea typeface="PingFang SC"/>
              </a:rPr>
              <a:t> - </a:t>
            </a:r>
            <a:r>
              <a:rPr lang="zh-CN" altLang="en-US" sz="1600" i="0">
                <a:solidFill>
                  <a:srgbClr val="D92142"/>
                </a:solidFill>
                <a:latin typeface="PingFang SC"/>
                <a:ea typeface="PingFang SC"/>
              </a:rPr>
              <a:t>下载代码</a:t>
            </a:r>
            <a:endParaRPr lang="zh-CN" altLang="en-US" sz="1600" i="0">
              <a:solidFill>
                <a:srgbClr val="D92142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4830" y="1712595"/>
            <a:ext cx="10947400" cy="1696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>
                <a:solidFill>
                  <a:schemeClr val="bg2"/>
                </a:solidFill>
                <a:sym typeface="+mn-ea"/>
              </a:rPr>
              <a:t>访问 FreeRTOS 官方网站（https://www.freertos.org）</a:t>
            </a:r>
            <a:endParaRPr>
              <a:solidFill>
                <a:schemeClr val="bg2"/>
              </a:solidFill>
              <a:sym typeface="+mn-ea"/>
            </a:endParaRPr>
          </a:p>
          <a:p>
            <a:endParaRPr>
              <a:solidFill>
                <a:schemeClr val="bg2"/>
              </a:solidFill>
              <a:sym typeface="+mn-ea"/>
            </a:endParaRPr>
          </a:p>
          <a:p>
            <a:r>
              <a:rPr>
                <a:solidFill>
                  <a:schemeClr val="bg2"/>
                </a:solidFill>
                <a:sym typeface="+mn-ea"/>
              </a:rPr>
              <a:t>或者从 GitHub 下载源代码：https://github.com/FreeRTOS</a:t>
            </a:r>
            <a:endParaRPr>
              <a:solidFill>
                <a:schemeClr val="bg2"/>
              </a:solidFill>
              <a:sym typeface="+mn-ea"/>
            </a:endParaRPr>
          </a:p>
          <a:p>
            <a:endParaRPr>
              <a:solidFill>
                <a:schemeClr val="bg2"/>
              </a:solidFill>
              <a:sym typeface="+mn-ea"/>
            </a:endParaRPr>
          </a:p>
          <a:p>
            <a:r>
              <a:rPr>
                <a:solidFill>
                  <a:schemeClr val="bg2"/>
                </a:solidFill>
                <a:sym typeface="+mn-ea"/>
              </a:rPr>
              <a:t>FreeRTOS 中的</a:t>
            </a:r>
            <a:r>
              <a:rPr lang="zh-CN">
                <a:solidFill>
                  <a:schemeClr val="bg2"/>
                </a:solidFill>
                <a:sym typeface="+mn-ea"/>
              </a:rPr>
              <a:t>部分</a:t>
            </a:r>
            <a:r>
              <a:rPr>
                <a:solidFill>
                  <a:schemeClr val="bg2"/>
                </a:solidFill>
                <a:sym typeface="+mn-ea"/>
              </a:rPr>
              <a:t>功能模块（任务管理、内存管理、通信机制）</a:t>
            </a:r>
            <a:endParaRPr lang="en-US">
              <a:solidFill>
                <a:schemeClr val="bg2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32200"/>
            <a:ext cx="6242685" cy="33896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920" y="3785870"/>
            <a:ext cx="6419215" cy="32359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09365" y="116840"/>
            <a:ext cx="5125085" cy="421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>
                <a:solidFill>
                  <a:schemeClr val="bg2"/>
                </a:solidFill>
                <a:sym typeface="+mn-ea"/>
              </a:rPr>
              <a:t>FreeRTOS 中的各个功能模块</a:t>
            </a:r>
            <a:endParaRPr lang="en-US">
              <a:solidFill>
                <a:schemeClr val="bg2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836295"/>
            <a:ext cx="12103100" cy="6185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2"/>
                </a:solidFill>
                <a:sym typeface="+mn-ea"/>
              </a:rPr>
              <a:t>这些功能模块是设计成可选的，你可以根据实际需求选择性地使用其中的一部分，而不必强制引入所有功能。</a:t>
            </a:r>
            <a:endParaRPr lang="zh-CN" altLang="en-US">
              <a:solidFill>
                <a:schemeClr val="bg2"/>
              </a:solidFill>
              <a:sym typeface="+mn-ea"/>
            </a:endParaRPr>
          </a:p>
          <a:p>
            <a:pPr marL="0" lvl="1" indent="0"/>
            <a:r>
              <a:rPr lang="en-US" altLang="zh-CN" b="1">
                <a:solidFill>
                  <a:schemeClr val="bg2"/>
                </a:solidFill>
                <a:sym typeface="+mn-ea"/>
              </a:rPr>
              <a:t>1. 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任务管理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：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FreeRTOS 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提供了任务（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Task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）创建、调度、删除、挂起等功能。你可以仅使用任务管理模块来实现基于任务的调度，无需使用其他模块。</a:t>
            </a:r>
            <a:endParaRPr lang="en-US" altLang="zh-CN">
              <a:solidFill>
                <a:schemeClr val="bg2"/>
              </a:solidFill>
              <a:sym typeface="+mn-ea"/>
            </a:endParaRPr>
          </a:p>
          <a:p>
            <a:pPr marL="0" lvl="1" indent="0"/>
            <a:r>
              <a:rPr lang="en-US" altLang="zh-CN" b="1">
                <a:solidFill>
                  <a:schemeClr val="bg2"/>
                </a:solidFill>
                <a:sym typeface="+mn-ea"/>
              </a:rPr>
              <a:t>2. 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内存管理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：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FreeRTOS 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支持多种内存管理方案（如堆、栈管理）。你可以选择是否使用它的内存分配功能，比如你可以选择自己编写内存管理代码，或者直接使用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 FreeRTOS 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提供的堆内存分配器。</a:t>
            </a:r>
            <a:endParaRPr lang="zh-CN" altLang="en-US">
              <a:solidFill>
                <a:schemeClr val="bg2"/>
              </a:solidFill>
              <a:sym typeface="+mn-ea"/>
            </a:endParaRPr>
          </a:p>
          <a:p>
            <a:pPr marL="0" lvl="1" indent="0"/>
            <a:r>
              <a:rPr lang="en-US" altLang="zh-CN" b="1">
                <a:solidFill>
                  <a:schemeClr val="bg2"/>
                </a:solidFill>
                <a:sym typeface="+mn-ea"/>
              </a:rPr>
              <a:t>3. 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时间管理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：提供系统节拍计数、支持任务延时、软件定时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机制，让任务可以基于时间进行调度或周期性执行，满足实时性需求。</a:t>
            </a:r>
            <a:endParaRPr lang="zh-CN" altLang="en-US">
              <a:solidFill>
                <a:schemeClr val="bg2"/>
              </a:solidFill>
              <a:sym typeface="+mn-ea"/>
            </a:endParaRPr>
          </a:p>
          <a:p>
            <a:pPr marL="0" lvl="1" indent="0"/>
            <a:r>
              <a:rPr lang="en-US" altLang="zh-CN" b="1">
                <a:solidFill>
                  <a:schemeClr val="bg2"/>
                </a:solidFill>
                <a:sym typeface="+mn-ea"/>
              </a:rPr>
              <a:t>4.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调度器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：根据任务优先级选择下一个运行的任务、支持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抢占式调度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和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时间片轮转调度、提供任务切换机制（上下文切换）</a:t>
            </a:r>
            <a:endParaRPr lang="zh-CN" altLang="en-US">
              <a:solidFill>
                <a:schemeClr val="bg2"/>
              </a:solidFill>
              <a:sym typeface="+mn-ea"/>
            </a:endParaRPr>
          </a:p>
          <a:p>
            <a:pPr marL="0" lvl="1" indent="0"/>
            <a:r>
              <a:rPr lang="en-US" altLang="zh-CN" b="1">
                <a:solidFill>
                  <a:schemeClr val="bg2"/>
                </a:solidFill>
                <a:sym typeface="+mn-ea"/>
              </a:rPr>
              <a:t>5.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任务间通信机制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：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FreeRTOS 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提供了多个通信机制，如消息队列、信号量、互斥量、事件组、消息流缓冲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区等。这些模块可以独立于任务管理使用。你可以在任务间使用这些通信机制，但如果你的系统中不需要任务间通信，你完全可以选择不使用这些功能</a:t>
            </a:r>
            <a:endParaRPr lang="zh-CN" altLang="en-US">
              <a:solidFill>
                <a:schemeClr val="bg2"/>
              </a:solidFill>
              <a:sym typeface="+mn-ea"/>
            </a:endParaRPr>
          </a:p>
          <a:p>
            <a:pPr marL="0" lvl="1" indent="0"/>
            <a:r>
              <a:rPr lang="en-US" altLang="zh-CN" b="1">
                <a:solidFill>
                  <a:schemeClr val="bg2"/>
                </a:solidFill>
                <a:sym typeface="+mn-ea"/>
              </a:rPr>
              <a:t>6.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中断管理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：提供与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 ISR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（中断服务例程）的交互接口（带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 FromISR 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后缀的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 API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）支持中断触发任务切换临界区管理（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taskENTER_CRITICAL / taskEXIT_CRITICAL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）防止竞态条件，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将硬件中断与实时任务系统无缝结合，保证响应实时性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  <a:p>
            <a:pPr marL="0" lvl="1" indent="0"/>
            <a:r>
              <a:rPr lang="en-US" altLang="zh-CN" b="1">
                <a:solidFill>
                  <a:schemeClr val="bg2"/>
                </a:solidFill>
                <a:sym typeface="+mn-ea"/>
              </a:rPr>
              <a:t>7.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钩子函数：</a:t>
            </a:r>
            <a:r>
              <a:rPr lang="zh-CN" altLang="en-US" sz="1800">
                <a:solidFill>
                  <a:schemeClr val="bg2"/>
                </a:solidFill>
                <a:sym typeface="+mn-ea"/>
              </a:rPr>
              <a:t>Idle Hook：在系统空闲时执行用户代码（如省电操作）、Tick Hook：在每个系统节拍中执行用户代码</a:t>
            </a:r>
            <a:endParaRPr lang="zh-CN" altLang="en-US" sz="1800">
              <a:solidFill>
                <a:schemeClr val="bg2"/>
              </a:solidFill>
              <a:sym typeface="+mn-ea"/>
            </a:endParaRPr>
          </a:p>
          <a:p>
            <a:pPr marL="0" lvl="1" indent="0"/>
            <a:r>
              <a:rPr lang="zh-CN" altLang="en-US" sz="1800">
                <a:solidFill>
                  <a:schemeClr val="bg2"/>
                </a:solidFill>
                <a:sym typeface="+mn-ea"/>
              </a:rPr>
              <a:t>Malloc Failed Hook：内存分配失败时触发、Stack Overflow Hook：任务栈溢出时触发，提供用户自定义扩展机制，增强系统健壮性和可调试性。</a:t>
            </a:r>
            <a:endParaRPr lang="zh-CN" altLang="en-US" sz="1800">
              <a:solidFill>
                <a:schemeClr val="bg2"/>
              </a:solidFill>
              <a:sym typeface="+mn-ea"/>
            </a:endParaRPr>
          </a:p>
          <a:p>
            <a:pPr marL="0" lvl="1" indent="0"/>
            <a:endParaRPr lang="zh-CN" altLang="en-US" sz="1800">
              <a:solidFill>
                <a:schemeClr val="bg2"/>
              </a:solidFill>
              <a:sym typeface="+mn-ea"/>
            </a:endParaRPr>
          </a:p>
          <a:p>
            <a:r>
              <a:rPr lang="zh-CN" altLang="en-US">
                <a:solidFill>
                  <a:schemeClr val="bg2"/>
                </a:solidFill>
                <a:sym typeface="+mn-ea"/>
              </a:rPr>
              <a:t>假设你只需要使用任务调度功能来并行执行一些任务，那么你可以只开启任务管理相关的功能，而不需要使用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 FreeRTOS 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的内存管理和通信机制。相反，如果你的应用程序中不需要多个任务并发，只需要通信机制来同步不同硬件或组件的状态，也可以仅引入信号量或消息队列模块。</a:t>
            </a:r>
            <a:endParaRPr lang="zh-CN" altLang="en-US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chemeClr val="bg2"/>
                </a:solidFill>
                <a:sym typeface="+mn-ea"/>
              </a:rPr>
              <a:t>FreeRTOS 使用 - STM32 生成代码</a:t>
            </a:r>
            <a:endParaRPr lang="zh-CN" altLang="en-US" sz="1600" i="0">
              <a:solidFill>
                <a:schemeClr val="bg2"/>
              </a:solidFill>
              <a:latin typeface="PingFang SC"/>
              <a:ea typeface="PingFang SC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4830" y="1455420"/>
            <a:ext cx="10947400" cy="1696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>
                <a:solidFill>
                  <a:schemeClr val="bg2"/>
                </a:solidFill>
                <a:sym typeface="+mn-ea"/>
              </a:rPr>
              <a:t>使用 STM32CubeMX 配置 FreeRTOS</a:t>
            </a:r>
            <a:endParaRPr>
              <a:solidFill>
                <a:schemeClr val="bg2"/>
              </a:solidFill>
              <a:sym typeface="+mn-ea"/>
            </a:endParaRPr>
          </a:p>
          <a:p>
            <a:endParaRPr>
              <a:solidFill>
                <a:schemeClr val="bg2"/>
              </a:solidFill>
              <a:sym typeface="+mn-ea"/>
            </a:endParaRPr>
          </a:p>
          <a:p>
            <a:r>
              <a:rPr>
                <a:solidFill>
                  <a:schemeClr val="bg2"/>
                </a:solidFill>
                <a:sym typeface="+mn-ea"/>
              </a:rPr>
              <a:t>在 STM32CubeMX 中启用 FreeRTOS，配置任务、堆栈大小、优先级等</a:t>
            </a:r>
            <a:endParaRPr>
              <a:solidFill>
                <a:schemeClr val="bg2"/>
              </a:solidFill>
              <a:sym typeface="+mn-ea"/>
            </a:endParaRPr>
          </a:p>
          <a:p>
            <a:endParaRPr>
              <a:solidFill>
                <a:schemeClr val="bg2"/>
              </a:solidFill>
              <a:sym typeface="+mn-ea"/>
            </a:endParaRPr>
          </a:p>
          <a:p>
            <a:r>
              <a:rPr>
                <a:solidFill>
                  <a:schemeClr val="bg2"/>
                </a:solidFill>
                <a:sym typeface="+mn-ea"/>
              </a:rPr>
              <a:t>生成代码后，使用 Keil 或 STM32CubeIDE 编译和调试</a:t>
            </a:r>
            <a:endParaRPr lang="en-US">
              <a:solidFill>
                <a:schemeClr val="bg2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24530"/>
            <a:ext cx="6735445" cy="32442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195" y="3224530"/>
            <a:ext cx="5639435" cy="35115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28283" y="786765"/>
            <a:ext cx="5657850" cy="54483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08075" y="636905"/>
            <a:ext cx="9021445" cy="61664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13045" y="2517775"/>
            <a:ext cx="5351780" cy="1080770"/>
          </a:xfrm>
        </p:spPr>
        <p:txBody>
          <a:bodyPr wrap="square">
            <a:normAutofit/>
          </a:bodyPr>
          <a:lstStyle/>
          <a:p>
            <a:r>
              <a:rPr lang="zh-CN" altLang="en-US">
                <a:solidFill>
                  <a:srgbClr val="D92142"/>
                </a:solidFill>
                <a:latin typeface="PingFang SC"/>
                <a:ea typeface="PingFang SC"/>
                <a:sym typeface="+mn-ea"/>
              </a:rPr>
              <a:t>任务与调度机制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rgbClr val="D92142"/>
                </a:solidFill>
                <a:latin typeface="PingFang SC"/>
                <a:ea typeface="PingFang SC"/>
              </a:rPr>
              <a:t>任务与调度机制</a:t>
            </a:r>
            <a:endParaRPr lang="zh-CN" altLang="en-US" sz="1600" i="0">
              <a:solidFill>
                <a:srgbClr val="D92142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830" y="1506855"/>
            <a:ext cx="10096500" cy="4101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任务</a:t>
            </a:r>
            <a:r>
              <a:rPr b="1">
                <a:sym typeface="+mn-ea"/>
              </a:rPr>
              <a:t>创建</a:t>
            </a:r>
            <a:r>
              <a:rPr>
                <a:sym typeface="+mn-ea"/>
              </a:rPr>
              <a:t>与</a:t>
            </a:r>
            <a:r>
              <a:rPr b="1">
                <a:sym typeface="+mn-ea"/>
              </a:rPr>
              <a:t>删除</a:t>
            </a:r>
            <a:endParaRPr>
              <a:sym typeface="+mn-ea"/>
            </a:endParaRPr>
          </a:p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优先级与调度</a:t>
            </a:r>
            <a:endParaRPr>
              <a:sym typeface="+mn-ea"/>
            </a:endParaRPr>
          </a:p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任务状态转换</a:t>
            </a:r>
            <a:r>
              <a:rPr b="1">
                <a:sym typeface="+mn-ea"/>
              </a:rPr>
              <a:t>（就绪、运行、阻塞、挂起）</a:t>
            </a:r>
            <a:endParaRPr>
              <a:sym typeface="+mn-ea"/>
            </a:endParaRPr>
          </a:p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4" name="文本框 9"/>
          <p:cNvSpPr txBox="1"/>
          <p:nvPr/>
        </p:nvSpPr>
        <p:spPr>
          <a:xfrm>
            <a:off x="1693228" y="1498600"/>
            <a:ext cx="46196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，任务创建和删除的</a:t>
            </a:r>
            <a:r>
              <a:rPr lang="en-US" altLang="zh-CN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API</a:t>
            </a: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函数（熟悉）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088515" y="2617788"/>
          <a:ext cx="5208588" cy="14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294"/>
                <a:gridCol w="2604294"/>
              </a:tblGrid>
              <a:tr h="362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API</a:t>
                      </a:r>
                      <a:r>
                        <a:rPr lang="zh-CN" altLang="en-US" sz="1400" dirty="0"/>
                        <a:t>函数</a:t>
                      </a:r>
                      <a:endParaRPr lang="zh-CN" altLang="en-US" sz="1400" dirty="0"/>
                    </a:p>
                  </a:txBody>
                  <a:tcPr marL="91428" marR="91428" marT="45722" marB="4572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描述</a:t>
                      </a:r>
                      <a:endParaRPr lang="zh-CN" altLang="en-US" sz="1400" dirty="0"/>
                    </a:p>
                  </a:txBody>
                  <a:tcPr marL="91428" marR="91428" marT="45722" marB="45722" anchor="ctr"/>
                </a:tc>
              </a:tr>
              <a:tr h="362744"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 err="1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xTaskCreate</a:t>
                      </a:r>
                      <a:r>
                        <a:rPr lang="en-US" sz="1100" b="0" i="0" dirty="0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() 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91428" marR="91428" marT="45722" marB="4572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 i="0" dirty="0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动态方式创建任务</a:t>
                      </a:r>
                      <a:endParaRPr lang="zh-CN" altLang="en-US" sz="1400" dirty="0">
                        <a:solidFill>
                          <a:srgbClr val="002060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91428" marR="91428" marT="45722" marB="45722" anchor="ctr"/>
                </a:tc>
              </a:tr>
              <a:tr h="362744"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 err="1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xTaskCreateStatic</a:t>
                      </a:r>
                      <a:r>
                        <a:rPr lang="en-US" sz="1100" b="0" i="0" dirty="0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() 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91428" marR="91428" marT="45722" marB="4572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 i="0" dirty="0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静态方式创建任务</a:t>
                      </a:r>
                      <a:endParaRPr lang="zh-CN" altLang="en-US" sz="1400" dirty="0">
                        <a:solidFill>
                          <a:srgbClr val="002060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91428" marR="91428" marT="45722" marB="45722" anchor="ctr"/>
                </a:tc>
              </a:tr>
              <a:tr h="362744"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dirty="0" err="1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vTaskDelete</a:t>
                      </a:r>
                      <a:r>
                        <a:rPr lang="en-US" sz="1100" b="0" i="0" dirty="0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() </a:t>
                      </a:r>
                      <a:endParaRPr lang="en-US" sz="1400" dirty="0">
                        <a:solidFill>
                          <a:srgbClr val="002060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91428" marR="91428" marT="45722" marB="4572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 i="0" dirty="0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删除任务</a:t>
                      </a:r>
                      <a:endParaRPr lang="zh-CN" altLang="en-US" sz="1400" dirty="0">
                        <a:solidFill>
                          <a:srgbClr val="002060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91428" marR="91428" marT="45722" marB="45722" anchor="ctr"/>
                </a:tc>
              </a:tr>
            </a:tbl>
          </a:graphicData>
        </a:graphic>
      </p:graphicFrame>
      <p:sp>
        <p:nvSpPr>
          <p:cNvPr id="4122" name="文本框 6"/>
          <p:cNvSpPr txBox="1"/>
          <p:nvPr/>
        </p:nvSpPr>
        <p:spPr>
          <a:xfrm>
            <a:off x="2078990" y="2119313"/>
            <a:ext cx="4313238" cy="3063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任务的创建和删除本质就是调用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FreeRTOS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的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API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函数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078990" y="4478338"/>
            <a:ext cx="1450975" cy="306388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动态创建任务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2088515" y="5062538"/>
            <a:ext cx="1450975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静态创建任务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4125" name="文本框 27"/>
          <p:cNvSpPr txBox="1"/>
          <p:nvPr/>
        </p:nvSpPr>
        <p:spPr>
          <a:xfrm>
            <a:off x="3539490" y="4295775"/>
            <a:ext cx="5705475" cy="630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任务的任务控制块以及任务的栈空间所需的内存，均由 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FreeRTOS 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从 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FreeRTOS 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管理的堆中分配 </a:t>
            </a:r>
            <a:endParaRPr lang="zh-CN" altLang="en-US" sz="1400" dirty="0"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4126" name="文本框 28"/>
          <p:cNvSpPr txBox="1"/>
          <p:nvPr/>
        </p:nvSpPr>
        <p:spPr>
          <a:xfrm>
            <a:off x="3539490" y="5021263"/>
            <a:ext cx="5705475" cy="349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任务的任务控制块以及任务的栈空间所需的内存，需用户分配提供</a:t>
            </a:r>
            <a:endParaRPr lang="zh-CN" altLang="en-US" sz="1400" dirty="0"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2" grpId="0"/>
      <p:bldP spid="9" grpId="0" bldLvl="0" animBg="1"/>
      <p:bldP spid="27" grpId="0" bldLvl="0" animBg="1"/>
      <p:bldP spid="4125" grpId="0"/>
      <p:bldP spid="41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8" name="文本框 9"/>
          <p:cNvSpPr txBox="1"/>
          <p:nvPr/>
        </p:nvSpPr>
        <p:spPr>
          <a:xfrm>
            <a:off x="1542098" y="1200150"/>
            <a:ext cx="46196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动态创建任务函数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5129" name="文本框 15"/>
          <p:cNvSpPr txBox="1"/>
          <p:nvPr/>
        </p:nvSpPr>
        <p:spPr>
          <a:xfrm>
            <a:off x="462280" y="1865630"/>
            <a:ext cx="11603990" cy="3103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BaseType_t xTaskCreate</a:t>
            </a:r>
            <a:endParaRPr lang="en-US" altLang="zh-CN" sz="1200" dirty="0">
              <a:solidFill>
                <a:srgbClr val="00000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(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</a:t>
            </a:r>
            <a:b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</a:b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	TaskFunction_t 				pxTaskCode</a:t>
            </a: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,		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/* 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指向任务函数的指针 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*/		</a:t>
            </a: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		</a:t>
            </a:r>
            <a:b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</a:b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	</a:t>
            </a:r>
            <a:r>
              <a:rPr lang="en-US" altLang="zh-CN" sz="1200" dirty="0">
                <a:solidFill>
                  <a:srgbClr val="0000FF"/>
                </a:solidFill>
                <a:latin typeface="Candara" panose="020E0502030303020204" pitchFamily="34" charset="0"/>
                <a:ea typeface="思源黑体 CN Normal" pitchFamily="34" charset="-122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</a:t>
            </a:r>
            <a:r>
              <a:rPr lang="en-US" altLang="zh-CN" sz="1200" dirty="0">
                <a:solidFill>
                  <a:srgbClr val="0000FF"/>
                </a:solidFill>
                <a:latin typeface="Candara" panose="020E0502030303020204" pitchFamily="34" charset="0"/>
                <a:ea typeface="思源黑体 CN Normal" pitchFamily="34" charset="-122"/>
              </a:rPr>
              <a:t>char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</a:t>
            </a: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*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</a:t>
            </a:r>
            <a:r>
              <a:rPr lang="en-US" altLang="zh-CN" sz="1200" dirty="0">
                <a:solidFill>
                  <a:srgbClr val="0000FF"/>
                </a:solidFill>
                <a:latin typeface="Candara" panose="020E0502030303020204" pitchFamily="34" charset="0"/>
                <a:ea typeface="思源黑体 CN Normal" pitchFamily="34" charset="-122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				pcName</a:t>
            </a: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,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		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/* 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任务名字，最大长度</a:t>
            </a:r>
            <a:r>
              <a:rPr lang="en-US" altLang="zh-CN" sz="1200" dirty="0">
                <a:solidFill>
                  <a:srgbClr val="FF0000"/>
                </a:solidFill>
                <a:latin typeface="Candara" panose="020E0502030303020204" pitchFamily="34" charset="0"/>
                <a:ea typeface="思源黑体 CN Normal" pitchFamily="34" charset="-122"/>
              </a:rPr>
              <a:t>configMAX_TASK_NAME_LEN 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*/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FF"/>
                </a:solidFill>
                <a:latin typeface="Candara" panose="020E0502030303020204" pitchFamily="34" charset="0"/>
                <a:ea typeface="思源黑体 CN Normal" pitchFamily="34" charset="-122"/>
              </a:rPr>
              <a:t>	const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	configSTACK_DEPTH_TYPE 		usStackDepth</a:t>
            </a: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,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	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/* 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任务堆栈大小，</a:t>
            </a:r>
            <a:r>
              <a:rPr lang="zh-CN" altLang="en-US" sz="1200" dirty="0">
                <a:solidFill>
                  <a:srgbClr val="FF0000"/>
                </a:solidFill>
                <a:latin typeface="Candara" panose="020E0502030303020204" pitchFamily="34" charset="0"/>
                <a:ea typeface="思源黑体 CN Normal" pitchFamily="34" charset="-122"/>
              </a:rPr>
              <a:t>注意字为单位</a:t>
            </a:r>
            <a:r>
              <a:rPr lang="en-US" altLang="zh-CN" sz="1200" dirty="0">
                <a:solidFill>
                  <a:srgbClr val="FF0000"/>
                </a:solidFill>
                <a:latin typeface="Candara" panose="020E0502030303020204" pitchFamily="34" charset="0"/>
                <a:ea typeface="思源黑体 CN Normal" pitchFamily="34" charset="-122"/>
              </a:rPr>
              <a:t> 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*/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FF"/>
                </a:solidFill>
                <a:latin typeface="Candara" panose="020E0502030303020204" pitchFamily="34" charset="0"/>
                <a:ea typeface="思源黑体 CN Normal" pitchFamily="34" charset="-122"/>
              </a:rPr>
              <a:t>	void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</a:t>
            </a: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*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</a:t>
            </a:r>
            <a:r>
              <a:rPr lang="en-US" altLang="zh-CN" sz="1200" dirty="0">
                <a:solidFill>
                  <a:srgbClr val="0000FF"/>
                </a:solidFill>
                <a:latin typeface="Candara" panose="020E0502030303020204" pitchFamily="34" charset="0"/>
                <a:ea typeface="思源黑体 CN Normal" pitchFamily="34" charset="-122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					pvParameters</a:t>
            </a: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,	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/* 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传递给任务函数的参数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 */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	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UBaseType_t 					uxPriority</a:t>
            </a: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,		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/* 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任务优先级，范围：</a:t>
            </a:r>
            <a:r>
              <a:rPr lang="en-US" altLang="zh-CN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0 </a:t>
            </a:r>
            <a:r>
              <a:rPr lang="en-US" altLang="zh-CN" sz="1200" dirty="0">
                <a:solidFill>
                  <a:srgbClr val="FF0000"/>
                </a:solidFill>
                <a:latin typeface="Candara" panose="020E0502030303020204" pitchFamily="34" charset="0"/>
                <a:ea typeface="思源黑体 CN Normal" pitchFamily="34" charset="-122"/>
              </a:rPr>
              <a:t>~ configMAX_PRIORITIES </a:t>
            </a:r>
            <a:r>
              <a:rPr lang="en-US" altLang="zh-CN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- 1 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*/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	TaskHandle_t </a:t>
            </a: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*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</a:t>
            </a:r>
            <a:r>
              <a:rPr lang="en-US" altLang="zh-CN" sz="1200" dirty="0">
                <a:solidFill>
                  <a:srgbClr val="0000FF"/>
                </a:solidFill>
                <a:latin typeface="Candara" panose="020E0502030303020204" pitchFamily="34" charset="0"/>
                <a:ea typeface="思源黑体 CN Normal" pitchFamily="34" charset="-122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			pxCreatedTask 	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/* 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任务句柄，</a:t>
            </a:r>
            <a:r>
              <a:rPr lang="zh-CN" altLang="en-US" sz="1200" dirty="0">
                <a:solidFill>
                  <a:srgbClr val="FF0000"/>
                </a:solidFill>
                <a:latin typeface="Candara" panose="020E0502030303020204" pitchFamily="34" charset="0"/>
                <a:ea typeface="思源黑体 CN Normal" pitchFamily="34" charset="-122"/>
              </a:rPr>
              <a:t>就是任务的任务控制块 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*/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80"/>
                </a:solidFill>
                <a:latin typeface="Candara" panose="020E0502030303020204" pitchFamily="34" charset="0"/>
                <a:ea typeface="思源黑体 CN Normal" pitchFamily="34" charset="-122"/>
              </a:rPr>
              <a:t>)</a:t>
            </a:r>
            <a:endParaRPr lang="en-US" altLang="zh-CN" sz="1200" dirty="0">
              <a:solidFill>
                <a:srgbClr val="000000"/>
              </a:solidFill>
              <a:latin typeface="Candara" panose="020E0502030303020204" pitchFamily="34" charset="0"/>
              <a:ea typeface="思源黑体 CN Normal" pitchFamily="34" charset="-122"/>
            </a:endParaRPr>
          </a:p>
        </p:txBody>
      </p:sp>
      <p:graphicFrame>
        <p:nvGraphicFramePr>
          <p:cNvPr id="8" name="表格 9"/>
          <p:cNvGraphicFramePr>
            <a:graphicFrameLocks noGrp="1"/>
          </p:cNvGraphicFramePr>
          <p:nvPr/>
        </p:nvGraphicFramePr>
        <p:xfrm>
          <a:off x="1627823" y="5104130"/>
          <a:ext cx="6742113" cy="920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056"/>
                <a:gridCol w="3371056"/>
              </a:tblGrid>
              <a:tr h="3049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返回值</a:t>
                      </a:r>
                      <a:endParaRPr lang="zh-CN" altLang="en-US" sz="1400" dirty="0"/>
                    </a:p>
                  </a:txBody>
                  <a:tcPr marL="91426" marR="91426" marT="45755" marB="457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描述</a:t>
                      </a:r>
                      <a:endParaRPr lang="zh-CN" altLang="en-US" sz="1400" dirty="0"/>
                    </a:p>
                  </a:txBody>
                  <a:tcPr marL="91426" marR="91426" marT="45755" marB="45755" anchor="ctr"/>
                </a:tc>
              </a:tr>
              <a:tr h="2745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002060"/>
                          </a:solidFill>
                        </a:rPr>
                        <a:t>pdPASS</a:t>
                      </a:r>
                      <a:endParaRPr lang="zh-CN" altLang="en-US" sz="1200" dirty="0">
                        <a:solidFill>
                          <a:srgbClr val="002060"/>
                        </a:solidFill>
                      </a:endParaRPr>
                    </a:p>
                  </a:txBody>
                  <a:tcPr marL="91426" marR="91426" marT="45755" marB="457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002060"/>
                          </a:solidFill>
                        </a:rPr>
                        <a:t>任务创建成功</a:t>
                      </a:r>
                      <a:endParaRPr lang="zh-CN" altLang="en-US" sz="1200" dirty="0">
                        <a:solidFill>
                          <a:srgbClr val="002060"/>
                        </a:solidFill>
                      </a:endParaRPr>
                    </a:p>
                  </a:txBody>
                  <a:tcPr marL="91426" marR="91426" marT="45755" marB="45755" anchor="ctr"/>
                </a:tc>
              </a:tr>
              <a:tr h="3412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002060"/>
                          </a:solidFill>
                        </a:rPr>
                        <a:t>errCOULD_NOT_ALLOCATE_REQUIRED_MEMORY</a:t>
                      </a:r>
                      <a:endParaRPr lang="zh-CN" altLang="en-US" sz="1200" dirty="0">
                        <a:solidFill>
                          <a:srgbClr val="002060"/>
                        </a:solidFill>
                      </a:endParaRPr>
                    </a:p>
                  </a:txBody>
                  <a:tcPr marL="91426" marR="91426" marT="45755" marB="457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rgbClr val="002060"/>
                          </a:solidFill>
                        </a:rPr>
                        <a:t>任务创建失败</a:t>
                      </a:r>
                      <a:endParaRPr lang="zh-CN" altLang="en-US" sz="1200" dirty="0">
                        <a:solidFill>
                          <a:srgbClr val="002060"/>
                        </a:solidFill>
                      </a:endParaRPr>
                    </a:p>
                  </a:txBody>
                  <a:tcPr marL="91426" marR="91426" marT="45755" marB="45755" anchor="ctr"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78435" y="1865630"/>
            <a:ext cx="11379200" cy="310324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9" grpId="0"/>
      <p:bldP spid="2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2" name="文本框 9"/>
          <p:cNvSpPr txBox="1"/>
          <p:nvPr/>
        </p:nvSpPr>
        <p:spPr>
          <a:xfrm>
            <a:off x="1792605" y="1386840"/>
            <a:ext cx="46196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实现动态创建任务流程</a:t>
            </a:r>
            <a:endParaRPr lang="zh-CN" altLang="en-US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854518" y="3958590"/>
            <a:ext cx="2755900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、申请堆栈内存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&amp;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任务控制块内存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854518" y="4422140"/>
            <a:ext cx="2755900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TCB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结构体成员赋值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854518" y="4896803"/>
            <a:ext cx="2755900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、添加新任务到就绪列表中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1854518" y="2567940"/>
            <a:ext cx="2755900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、定义函数入口参数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854518" y="2985453"/>
            <a:ext cx="2755900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、编写任务函数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3" name="右大括号 2"/>
          <p:cNvSpPr/>
          <p:nvPr/>
        </p:nvSpPr>
        <p:spPr>
          <a:xfrm>
            <a:off x="6083618" y="2048828"/>
            <a:ext cx="257175" cy="13096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59" name="文本框 6"/>
          <p:cNvSpPr txBox="1"/>
          <p:nvPr/>
        </p:nvSpPr>
        <p:spPr>
          <a:xfrm>
            <a:off x="6412230" y="2566353"/>
            <a:ext cx="1416050" cy="2778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用起来只需这三步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20" name="右大括号 19"/>
          <p:cNvSpPr/>
          <p:nvPr/>
        </p:nvSpPr>
        <p:spPr>
          <a:xfrm>
            <a:off x="6062980" y="3945890"/>
            <a:ext cx="298450" cy="131603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1792605" y="2050415"/>
            <a:ext cx="4291013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1854518" y="3358515"/>
            <a:ext cx="4291013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1771968" y="3945890"/>
            <a:ext cx="4291013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1792605" y="5261928"/>
            <a:ext cx="4291013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65" name="文本框 24"/>
          <p:cNvSpPr txBox="1"/>
          <p:nvPr/>
        </p:nvSpPr>
        <p:spPr>
          <a:xfrm>
            <a:off x="6370955" y="4465003"/>
            <a:ext cx="2032000" cy="2778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动态创建任务函数内部实现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71968" y="3523615"/>
            <a:ext cx="4919663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zh-CN" altLang="zh-CN" sz="1200" kern="1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Times New Roman" panose="02020603050405020304" pitchFamily="18" charset="0"/>
              </a:rPr>
              <a:t>此函数创建的任务会立刻进入就绪态，由任务调度器调度运行</a:t>
            </a:r>
            <a:endParaRPr kumimoji="0" lang="zh-CN" altLang="en-US" sz="1200" kern="1200" cap="none" spc="0" normalizeH="0" baseline="0" noProof="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854518" y="2150428"/>
            <a:ext cx="4229100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、将宏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configSUPPORT_DYNAMIC_ALLOCATION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配置为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3" grpId="0" bldLvl="0" animBg="1"/>
      <p:bldP spid="14" grpId="0" bldLvl="0" animBg="1"/>
      <p:bldP spid="19" grpId="0" bldLvl="0" animBg="1"/>
      <p:bldP spid="16" grpId="0" bldLvl="0" animBg="1"/>
      <p:bldP spid="3" grpId="0" bldLvl="0" animBg="1"/>
      <p:bldP spid="6159" grpId="0"/>
      <p:bldP spid="20" grpId="0" bldLvl="0" animBg="1"/>
      <p:bldP spid="6165" grpId="0"/>
      <p:bldP spid="26" grpId="0"/>
      <p:bldP spid="27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6" name="文本框 9"/>
          <p:cNvSpPr txBox="1"/>
          <p:nvPr/>
        </p:nvSpPr>
        <p:spPr>
          <a:xfrm>
            <a:off x="1808163" y="645795"/>
            <a:ext cx="46196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任务控制块结构体成员介绍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177" name="文本框 15"/>
          <p:cNvSpPr txBox="1"/>
          <p:nvPr/>
        </p:nvSpPr>
        <p:spPr>
          <a:xfrm>
            <a:off x="417830" y="1105535"/>
            <a:ext cx="11677015" cy="32334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typedef </a:t>
            </a:r>
            <a:r>
              <a:rPr lang="en-US" altLang="zh-CN" sz="1200" dirty="0">
                <a:solidFill>
                  <a:srgbClr val="0000FF"/>
                </a:solidFill>
                <a:latin typeface="CourierNewPSMT"/>
                <a:ea typeface="等线" panose="02010600030101010101" pitchFamily="2" charset="-122"/>
              </a:rPr>
              <a:t>struct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tskTaskControlBlock       </a:t>
            </a:r>
            <a:endParaRPr lang="en-US" altLang="zh-CN" sz="1200" dirty="0">
              <a:solidFill>
                <a:srgbClr val="00000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{</a:t>
            </a:r>
            <a:endParaRPr lang="en-US" altLang="zh-CN" sz="1200" dirty="0">
              <a:solidFill>
                <a:srgbClr val="00000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   	volatile StackType_t 		* pxTopOfStack; 					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/* 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任务栈栈顶，必须为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TCB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的第一个成员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 */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  	ListItem_t 			xStateListItem;           					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/* 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任务状态列表项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 */      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	ListItem_t 			xEventListItem;					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/* 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任务事件列表项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 */     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   	UBaseType_t 			uxPriority;                					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/* 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任务优先级，数值越大，优先级越大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 */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   	StackType_t 			* pxStack;						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/* 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任务栈起始地址 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*/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    	char 				pcTaskName[ configMAX_TASK_NAME_LEN ]; 	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/* 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任务名字</a:t>
            </a: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 */	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	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	…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	</a:t>
            </a:r>
            <a:r>
              <a:rPr lang="zh-CN" altLang="en-US" sz="12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省略很多条件编译的成员</a:t>
            </a:r>
            <a:endParaRPr lang="en-US" altLang="zh-CN" sz="1200" dirty="0">
              <a:solidFill>
                <a:srgbClr val="002060"/>
              </a:solidFill>
              <a:latin typeface="Candara" panose="020E0502030303020204" pitchFamily="34" charset="0"/>
              <a:ea typeface="思源黑体 CN Normal" pitchFamily="34" charset="-122"/>
            </a:endParaRPr>
          </a:p>
          <a:p>
            <a:pPr>
              <a:buNone/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思源黑体 CN Normal" pitchFamily="34" charset="-122"/>
              </a:rPr>
              <a:t>} tskTCB;</a:t>
            </a:r>
            <a:endParaRPr lang="en-US" altLang="zh-CN" sz="1200" dirty="0">
              <a:solidFill>
                <a:srgbClr val="000000"/>
              </a:solidFill>
              <a:latin typeface="Candara" panose="020E0502030303020204" pitchFamily="34" charset="0"/>
              <a:ea typeface="思源黑体 CN Normal" pitchFamily="34" charset="-122"/>
            </a:endParaRPr>
          </a:p>
        </p:txBody>
      </p:sp>
      <p:sp>
        <p:nvSpPr>
          <p:cNvPr id="7178" name="文本框 1"/>
          <p:cNvSpPr txBox="1"/>
          <p:nvPr/>
        </p:nvSpPr>
        <p:spPr>
          <a:xfrm>
            <a:off x="1808163" y="5892165"/>
            <a:ext cx="467360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注意：每个任务都有属于自己的任务控制块，类似身份证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7179" name="文本框 2"/>
          <p:cNvSpPr txBox="1"/>
          <p:nvPr/>
        </p:nvSpPr>
        <p:spPr>
          <a:xfrm>
            <a:off x="1808163" y="5474653"/>
            <a:ext cx="539115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None/>
            </a:pPr>
            <a:r>
              <a:rPr lang="zh-CN" altLang="en-US" sz="1400" dirty="0">
                <a:solidFill>
                  <a:srgbClr val="002060"/>
                </a:solidFill>
                <a:latin typeface="Candara" panose="020E0502030303020204" pitchFamily="34" charset="0"/>
                <a:ea typeface="思源黑体 CN Normal" pitchFamily="34" charset="-122"/>
              </a:rPr>
              <a:t>任务栈栈顶，在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任务切换时的任务上下文保存、任务恢复息息相关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7330" y="1104900"/>
            <a:ext cx="11754485" cy="400240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" grpId="0"/>
      <p:bldP spid="7178" grpId="0"/>
      <p:bldP spid="7179" grpId="0"/>
      <p:bldP spid="2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00" name="文本框 9"/>
          <p:cNvSpPr txBox="1"/>
          <p:nvPr/>
        </p:nvSpPr>
        <p:spPr>
          <a:xfrm>
            <a:off x="1784033" y="752475"/>
            <a:ext cx="46196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静态创建任务函数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03058" y="1289050"/>
            <a:ext cx="8359775" cy="247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indent="255905" defTabSz="457200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TaskHandle_t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xTaskCreateStatic</a:t>
            </a:r>
            <a:endParaRPr kumimoji="0" lang="en-US" altLang="zh-CN" sz="1200" kern="0" cap="none" spc="0" normalizeH="0" baseline="0" noProof="0" dirty="0">
              <a:solidFill>
                <a:srgbClr val="000000"/>
              </a:solidFill>
              <a:latin typeface="Candara" panose="020E0502030303020204" pitchFamily="34" charset="0"/>
              <a:ea typeface="宋体" panose="02010600030101010101" pitchFamily="2" charset="-122"/>
              <a:cs typeface="+mn-cs"/>
            </a:endParaRPr>
          </a:p>
          <a:p>
            <a:pPr marR="0" indent="255905" defTabSz="457200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(</a:t>
            </a:r>
            <a:endParaRPr kumimoji="0" lang="zh-CN" altLang="zh-CN" sz="1200" kern="100" cap="none" spc="0" normalizeH="0" baseline="0" noProof="0" dirty="0">
              <a:latin typeface="Candara" panose="020E0502030303020204" pitchFamily="34" charset="0"/>
              <a:ea typeface="宋体" panose="02010600030101010101" pitchFamily="2" charset="-122"/>
              <a:cs typeface="+mn-cs"/>
            </a:endParaRPr>
          </a:p>
          <a:p>
            <a:pPr marR="0" indent="255905" defTabSz="457200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   	</a:t>
            </a: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TaskFunction_t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pxTaskCode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,				/* </a:t>
            </a:r>
            <a:r>
              <a:rPr kumimoji="0" lang="zh-CN" altLang="en-US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指向任务函数的指针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*/</a:t>
            </a:r>
            <a:endParaRPr kumimoji="0" lang="zh-CN" altLang="zh-CN" sz="1200" kern="100" cap="none" spc="0" normalizeH="0" baseline="0" noProof="0" dirty="0">
              <a:latin typeface="Candara" panose="020E0502030303020204" pitchFamily="34" charset="0"/>
              <a:ea typeface="宋体" panose="02010600030101010101" pitchFamily="2" charset="-122"/>
              <a:cs typeface="+mn-cs"/>
            </a:endParaRPr>
          </a:p>
          <a:p>
            <a:pPr marR="0" indent="255905" defTabSz="457200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   	</a:t>
            </a:r>
            <a:r>
              <a:rPr kumimoji="0" lang="en-US" altLang="zh-CN" sz="1200" kern="0" cap="none" spc="0" normalizeH="0" baseline="0" noProof="0" dirty="0">
                <a:solidFill>
                  <a:srgbClr val="0000FF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const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kern="0" cap="none" spc="0" normalizeH="0" baseline="0" noProof="0" dirty="0">
                <a:solidFill>
                  <a:srgbClr val="0000FF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kern="0" cap="none" spc="0" normalizeH="0" baseline="0" noProof="0" dirty="0">
                <a:solidFill>
                  <a:srgbClr val="0000FF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const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pcName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,				/* </a:t>
            </a:r>
            <a:r>
              <a:rPr kumimoji="0" lang="zh-CN" altLang="en-US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任务函数名 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*/</a:t>
            </a:r>
            <a:endParaRPr kumimoji="0" lang="zh-CN" altLang="zh-CN" sz="1200" kern="100" cap="none" spc="0" normalizeH="0" baseline="0" noProof="0" dirty="0">
              <a:latin typeface="Candara" panose="020E0502030303020204" pitchFamily="34" charset="0"/>
              <a:ea typeface="宋体" panose="02010600030101010101" pitchFamily="2" charset="-122"/>
              <a:cs typeface="+mn-cs"/>
            </a:endParaRPr>
          </a:p>
          <a:p>
            <a:pPr marR="0" indent="255905" defTabSz="457200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   	</a:t>
            </a:r>
            <a:r>
              <a:rPr kumimoji="0" lang="en-US" altLang="zh-CN" sz="1200" kern="0" cap="none" spc="0" normalizeH="0" baseline="0" noProof="0" dirty="0">
                <a:solidFill>
                  <a:srgbClr val="0000FF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const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kern="0" cap="none" spc="0" normalizeH="0" baseline="0" noProof="0" dirty="0">
                <a:solidFill>
                  <a:srgbClr val="0000FF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uint32_t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			</a:t>
            </a: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ulStackDepth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, 			/* </a:t>
            </a:r>
            <a:r>
              <a:rPr kumimoji="0" lang="zh-CN" altLang="en-US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任务堆栈大小</a:t>
            </a:r>
            <a:r>
              <a:rPr kumimoji="0" lang="zh-CN" altLang="en-US" sz="1200" kern="1200" cap="none" spc="0" normalizeH="0" baseline="0" noProof="0" dirty="0">
                <a:solidFill>
                  <a:srgbClr val="FF0000"/>
                </a:solidFill>
                <a:latin typeface="Candara" panose="020E0502030303020204" pitchFamily="34" charset="0"/>
                <a:ea typeface="思源黑体 CN Normal" pitchFamily="34" charset="-122"/>
                <a:cs typeface="+mn-cs"/>
              </a:rPr>
              <a:t>注意字为单位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*/</a:t>
            </a:r>
            <a:endParaRPr kumimoji="0" lang="zh-CN" altLang="zh-CN" sz="1200" kern="100" cap="none" spc="0" normalizeH="0" baseline="0" noProof="0" dirty="0">
              <a:latin typeface="Candara" panose="020E0502030303020204" pitchFamily="34" charset="0"/>
              <a:ea typeface="宋体" panose="02010600030101010101" pitchFamily="2" charset="-122"/>
              <a:cs typeface="+mn-cs"/>
            </a:endParaRPr>
          </a:p>
          <a:p>
            <a:pPr marR="0" indent="255905" defTabSz="457200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   	</a:t>
            </a:r>
            <a:r>
              <a:rPr kumimoji="0" lang="en-US" altLang="zh-CN" sz="1200" kern="0" cap="none" spc="0" normalizeH="0" baseline="0" noProof="0" dirty="0">
                <a:solidFill>
                  <a:srgbClr val="0000FF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void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kern="0" cap="none" spc="0" normalizeH="0" baseline="0" noProof="0" dirty="0">
                <a:solidFill>
                  <a:srgbClr val="0000FF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const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			</a:t>
            </a: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pvParameters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, 			/* </a:t>
            </a:r>
            <a:r>
              <a:rPr kumimoji="0" lang="zh-CN" altLang="en-US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传递的任务函数参数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*/</a:t>
            </a:r>
            <a:endParaRPr kumimoji="0" lang="zh-CN" altLang="zh-CN" sz="1200" kern="100" cap="none" spc="0" normalizeH="0" baseline="0" noProof="0" dirty="0">
              <a:latin typeface="Candara" panose="020E0502030303020204" pitchFamily="34" charset="0"/>
              <a:ea typeface="宋体" panose="02010600030101010101" pitchFamily="2" charset="-122"/>
              <a:cs typeface="+mn-cs"/>
            </a:endParaRPr>
          </a:p>
          <a:p>
            <a:pPr marR="0" indent="255905" defTabSz="457200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   	</a:t>
            </a: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UBaseType_t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			</a:t>
            </a: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uxPriority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, 				/* </a:t>
            </a:r>
            <a:r>
              <a:rPr kumimoji="0" lang="zh-CN" altLang="en-US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任务优先级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*/</a:t>
            </a:r>
            <a:endParaRPr kumimoji="0" lang="zh-CN" altLang="zh-CN" sz="1200" kern="100" cap="none" spc="0" normalizeH="0" baseline="0" noProof="0" dirty="0">
              <a:latin typeface="Candara" panose="020E0502030303020204" pitchFamily="34" charset="0"/>
              <a:ea typeface="宋体" panose="02010600030101010101" pitchFamily="2" charset="-122"/>
              <a:cs typeface="+mn-cs"/>
            </a:endParaRPr>
          </a:p>
          <a:p>
            <a:pPr marR="0" indent="255905" defTabSz="457200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   	</a:t>
            </a: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StackType_t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kern="0" cap="none" spc="0" normalizeH="0" baseline="0" noProof="0" dirty="0">
                <a:solidFill>
                  <a:srgbClr val="0000FF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const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puxStackBuffer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, 			/* </a:t>
            </a:r>
            <a:r>
              <a:rPr kumimoji="0" lang="zh-CN" altLang="en-US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任务堆栈，一般为数组，由用户分配 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*/</a:t>
            </a:r>
            <a:endParaRPr kumimoji="0" lang="zh-CN" altLang="zh-CN" sz="1200" kern="100" cap="none" spc="0" normalizeH="0" baseline="0" noProof="0" dirty="0">
              <a:latin typeface="Candara" panose="020E0502030303020204" pitchFamily="34" charset="0"/>
              <a:ea typeface="宋体" panose="02010600030101010101" pitchFamily="2" charset="-122"/>
              <a:cs typeface="+mn-cs"/>
            </a:endParaRPr>
          </a:p>
          <a:p>
            <a:pPr marR="0" indent="255905" defTabSz="457200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   	</a:t>
            </a: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StaticTask_t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kern="0" cap="none" spc="0" normalizeH="0" baseline="0" noProof="0" dirty="0">
                <a:solidFill>
                  <a:srgbClr val="0000FF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const	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200" kern="0" cap="none" spc="0" normalizeH="0" baseline="0" noProof="0" dirty="0" err="1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pxTaskBuffer</a:t>
            </a:r>
            <a:r>
              <a:rPr kumimoji="0" lang="en-US" altLang="zh-CN" sz="1200" kern="0" cap="none" spc="0" normalizeH="0" baseline="0" noProof="0" dirty="0">
                <a:solidFill>
                  <a:srgbClr val="00000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				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/* </a:t>
            </a:r>
            <a:r>
              <a:rPr kumimoji="0" lang="zh-CN" altLang="en-US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任务控制块指针，由用户分配 </a:t>
            </a: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*/</a:t>
            </a:r>
            <a:endParaRPr kumimoji="0" lang="en-US" altLang="zh-CN" sz="1200" kern="0" cap="none" spc="0" normalizeH="0" baseline="0" noProof="0" dirty="0">
              <a:solidFill>
                <a:srgbClr val="000000"/>
              </a:solidFill>
              <a:latin typeface="Candara" panose="020E0502030303020204" pitchFamily="34" charset="0"/>
              <a:ea typeface="宋体" panose="02010600030101010101" pitchFamily="2" charset="-122"/>
              <a:cs typeface="+mn-cs"/>
            </a:endParaRPr>
          </a:p>
          <a:p>
            <a:pPr marR="0" indent="255905" defTabSz="457200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en-US" altLang="zh-CN" sz="1200" kern="0" cap="none" spc="0" normalizeH="0" baseline="0" noProof="0" dirty="0">
                <a:solidFill>
                  <a:srgbClr val="000080"/>
                </a:solidFill>
                <a:latin typeface="Candara" panose="020E0502030303020204" pitchFamily="34" charset="0"/>
                <a:ea typeface="宋体" panose="02010600030101010101" pitchFamily="2" charset="-122"/>
                <a:cs typeface="+mn-cs"/>
              </a:rPr>
              <a:t>); 		</a:t>
            </a:r>
            <a:endParaRPr kumimoji="0" lang="zh-CN" altLang="zh-CN" sz="1200" kern="100" cap="none" spc="0" normalizeH="0" baseline="0" noProof="0" dirty="0">
              <a:latin typeface="Candara" panose="020E0502030303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" name="表格 9"/>
          <p:cNvGraphicFramePr>
            <a:graphicFrameLocks noGrp="1"/>
          </p:cNvGraphicFramePr>
          <p:nvPr/>
        </p:nvGraphicFramePr>
        <p:xfrm>
          <a:off x="1922145" y="3910013"/>
          <a:ext cx="6742114" cy="920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057"/>
                <a:gridCol w="3371057"/>
              </a:tblGrid>
              <a:tr h="3049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返回值</a:t>
                      </a:r>
                      <a:endParaRPr lang="zh-CN" altLang="en-US" sz="1400" dirty="0"/>
                    </a:p>
                  </a:txBody>
                  <a:tcPr marL="91426" marR="91426" marT="45755" marB="457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描述</a:t>
                      </a:r>
                      <a:endParaRPr lang="zh-CN" altLang="en-US" sz="1400" dirty="0"/>
                    </a:p>
                  </a:txBody>
                  <a:tcPr marL="91426" marR="91426" marT="45755" marB="45755" anchor="ctr"/>
                </a:tc>
              </a:tr>
              <a:tr h="274530">
                <a:tc>
                  <a:txBody>
                    <a:bodyPr/>
                    <a:lstStyle/>
                    <a:p>
                      <a:pPr indent="255905" algn="l"/>
                      <a:r>
                        <a:rPr lang="en-US" sz="1100" kern="100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NULL</a:t>
                      </a:r>
                      <a:endParaRPr lang="zh-CN" sz="1100" kern="100">
                        <a:solidFill>
                          <a:srgbClr val="002060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5905" algn="l"/>
                      <a:r>
                        <a:rPr lang="zh-CN" sz="1100" kern="100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用户没有提供相应的内存，任务创建失败</a:t>
                      </a:r>
                      <a:endParaRPr lang="zh-CN" sz="1100" kern="100">
                        <a:solidFill>
                          <a:srgbClr val="002060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341259">
                <a:tc>
                  <a:txBody>
                    <a:bodyPr/>
                    <a:lstStyle/>
                    <a:p>
                      <a:pPr indent="255905" algn="l"/>
                      <a:r>
                        <a:rPr lang="zh-CN" sz="1100" kern="100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其他值</a:t>
                      </a:r>
                      <a:endParaRPr lang="zh-CN" sz="1100" kern="100">
                        <a:solidFill>
                          <a:srgbClr val="002060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5905" algn="l"/>
                      <a:r>
                        <a:rPr lang="zh-CN" sz="1100" kern="100" dirty="0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任务句柄，任务创建成功</a:t>
                      </a:r>
                      <a:endParaRPr lang="zh-CN" sz="1100" kern="100" dirty="0">
                        <a:solidFill>
                          <a:srgbClr val="002060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784033" y="1358900"/>
            <a:ext cx="7583488" cy="24003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4" name="文本框 9"/>
          <p:cNvSpPr txBox="1"/>
          <p:nvPr/>
        </p:nvSpPr>
        <p:spPr>
          <a:xfrm>
            <a:off x="1818005" y="1395095"/>
            <a:ext cx="4619625" cy="46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静态创建任务使用流程</a:t>
            </a:r>
            <a:endParaRPr lang="zh-CN" altLang="en-US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1922780" y="2912745"/>
            <a:ext cx="3444875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、实现两个接口函数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913255" y="2482533"/>
            <a:ext cx="3444875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、定义空闲任务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&amp;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定时器任务的任务堆栈及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TCB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5423218" y="2776220"/>
            <a:ext cx="204788" cy="5064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8" name="文本框 24"/>
          <p:cNvSpPr txBox="1"/>
          <p:nvPr/>
        </p:nvSpPr>
        <p:spPr>
          <a:xfrm>
            <a:off x="5724843" y="2665095"/>
            <a:ext cx="2951162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vApplicationGetIdleTaskMemory( ) 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9229" name="文本框 25"/>
          <p:cNvSpPr txBox="1"/>
          <p:nvPr/>
        </p:nvSpPr>
        <p:spPr>
          <a:xfrm>
            <a:off x="5723255" y="3047683"/>
            <a:ext cx="2959100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vApplicationGetTimerTaskMemory ( )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867218" y="4233545"/>
            <a:ext cx="5978525" cy="277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zh-CN" altLang="zh-CN" sz="1200" kern="1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Times New Roman" panose="02020603050405020304" pitchFamily="18" charset="0"/>
              </a:rPr>
              <a:t>此函数创建的任务会立刻进入就绪态，由任务调度器调度运行</a:t>
            </a:r>
            <a:endParaRPr kumimoji="0" lang="zh-CN" altLang="en-US" sz="1200" kern="1200" cap="none" spc="0" normalizeH="0" baseline="0" noProof="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930718" y="3774758"/>
            <a:ext cx="3444875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、编写任务函数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1930718" y="4643120"/>
            <a:ext cx="3444875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TCB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结构体成员赋值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930718" y="5143183"/>
            <a:ext cx="3444875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、添加新任务到就绪列表中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913255" y="3344545"/>
            <a:ext cx="3444875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、定义函数入口参数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8533130" y="2025333"/>
            <a:ext cx="373063" cy="2111375"/>
          </a:xfrm>
          <a:prstGeom prst="rightBrace">
            <a:avLst>
              <a:gd name="adj1" fmla="val 1293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1913255" y="2025333"/>
            <a:ext cx="661035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1965643" y="4136708"/>
            <a:ext cx="661035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38" name="文本框 29"/>
          <p:cNvSpPr txBox="1"/>
          <p:nvPr/>
        </p:nvSpPr>
        <p:spPr>
          <a:xfrm>
            <a:off x="8871268" y="2942908"/>
            <a:ext cx="1416050" cy="2778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用起来只需这五步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31" name="右大括号 30"/>
          <p:cNvSpPr/>
          <p:nvPr/>
        </p:nvSpPr>
        <p:spPr>
          <a:xfrm>
            <a:off x="8533130" y="4581208"/>
            <a:ext cx="395288" cy="893763"/>
          </a:xfrm>
          <a:prstGeom prst="rightBrace">
            <a:avLst>
              <a:gd name="adj1" fmla="val 1293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1913255" y="4585970"/>
            <a:ext cx="661035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1913255" y="5474970"/>
            <a:ext cx="661035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42" name="文本框 33"/>
          <p:cNvSpPr txBox="1"/>
          <p:nvPr/>
        </p:nvSpPr>
        <p:spPr>
          <a:xfrm>
            <a:off x="8871268" y="4882833"/>
            <a:ext cx="141605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静态创建内部实现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1908493" y="2052320"/>
            <a:ext cx="4240213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、需将宏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configSUPPORT_STATIC_ALLOCATION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配置为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4" grpId="0" bldLvl="0" animBg="1"/>
      <p:bldP spid="2" grpId="0" bldLvl="0" animBg="1"/>
      <p:bldP spid="9228" grpId="0"/>
      <p:bldP spid="9229" grpId="0"/>
      <p:bldP spid="19" grpId="0"/>
      <p:bldP spid="23" grpId="0" bldLvl="0" animBg="1"/>
      <p:bldP spid="25" grpId="0" bldLvl="0" animBg="1"/>
      <p:bldP spid="26" grpId="0" bldLvl="0" animBg="1"/>
      <p:bldP spid="27" grpId="0" bldLvl="0" animBg="1"/>
      <p:bldP spid="7" grpId="0" bldLvl="0" animBg="1"/>
      <p:bldP spid="9238" grpId="0"/>
      <p:bldP spid="31" grpId="0" bldLvl="0" animBg="1"/>
      <p:bldP spid="9242" grpId="0"/>
      <p:bldP spid="35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8" name="文本框 9"/>
          <p:cNvSpPr txBox="1"/>
          <p:nvPr/>
        </p:nvSpPr>
        <p:spPr>
          <a:xfrm>
            <a:off x="1892618" y="1403985"/>
            <a:ext cx="4619625" cy="46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任务删除函数</a:t>
            </a:r>
            <a:endParaRPr lang="zh-CN" altLang="en-US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9225" name="文本框 13"/>
          <p:cNvSpPr txBox="1">
            <a:spLocks noChangeArrowheads="1"/>
          </p:cNvSpPr>
          <p:nvPr/>
        </p:nvSpPr>
        <p:spPr bwMode="auto">
          <a:xfrm>
            <a:off x="1556068" y="2015173"/>
            <a:ext cx="6873875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255905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void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vTaskDelete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TaskHandle_t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xTaskToDelete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);</a:t>
            </a:r>
            <a:endParaRPr kumimoji="0" lang="zh-CN" altLang="zh-CN" sz="1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表格 6"/>
          <p:cNvGraphicFramePr>
            <a:graphicFrameLocks noGrp="1"/>
          </p:cNvGraphicFramePr>
          <p:nvPr/>
        </p:nvGraphicFramePr>
        <p:xfrm>
          <a:off x="1892618" y="2491423"/>
          <a:ext cx="6096000" cy="741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681">
                <a:tc>
                  <a:txBody>
                    <a:bodyPr/>
                    <a:lstStyle/>
                    <a:p>
                      <a:pPr indent="255905" algn="ctr"/>
                      <a:r>
                        <a:rPr lang="zh-CN" altLang="en-US" sz="1100" kern="100" dirty="0">
                          <a:solidFill>
                            <a:schemeClr val="bg1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形参</a:t>
                      </a:r>
                      <a:endParaRPr lang="zh-CN" sz="1100" kern="100" dirty="0">
                        <a:solidFill>
                          <a:schemeClr val="bg1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5905" algn="ctr"/>
                      <a:r>
                        <a:rPr lang="zh-CN" sz="1100" kern="100" dirty="0">
                          <a:solidFill>
                            <a:schemeClr val="bg1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描述</a:t>
                      </a:r>
                      <a:endParaRPr lang="zh-CN" sz="1100" kern="100" dirty="0">
                        <a:solidFill>
                          <a:schemeClr val="bg1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370681">
                <a:tc>
                  <a:txBody>
                    <a:bodyPr/>
                    <a:lstStyle/>
                    <a:p>
                      <a:pPr indent="255905" algn="ctr"/>
                      <a:r>
                        <a:rPr lang="en-US" sz="1200" kern="100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xTaskToDelete</a:t>
                      </a:r>
                      <a:endParaRPr lang="zh-CN" sz="1200" kern="100">
                        <a:solidFill>
                          <a:srgbClr val="002060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5905" algn="ctr"/>
                      <a:r>
                        <a:rPr lang="zh-CN" sz="1200" kern="100" dirty="0">
                          <a:solidFill>
                            <a:srgbClr val="002060"/>
                          </a:solidFill>
                          <a:effectLst/>
                          <a:latin typeface="思源黑体 CN Normal" pitchFamily="34" charset="-122"/>
                          <a:ea typeface="思源黑体 CN Normal" pitchFamily="34" charset="-122"/>
                        </a:rPr>
                        <a:t>待删除任务的任务句柄</a:t>
                      </a:r>
                      <a:endParaRPr lang="zh-CN" sz="1200" kern="100" dirty="0">
                        <a:solidFill>
                          <a:srgbClr val="002060"/>
                        </a:solidFill>
                        <a:effectLst/>
                        <a:latin typeface="思源黑体 CN Normal" pitchFamily="34" charset="-122"/>
                        <a:ea typeface="思源黑体 CN Normal" pitchFamily="34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1892618" y="3693160"/>
            <a:ext cx="7413625" cy="382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4572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sz="1400" kern="1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Times New Roman" panose="02020603050405020304" pitchFamily="18" charset="0"/>
              </a:rPr>
              <a:t>被删除的任务将从就绪态任务列表、阻塞态任务列表、挂起态任务列表和事件列表中移除</a:t>
            </a:r>
            <a:endParaRPr kumimoji="0" lang="zh-CN" altLang="en-US" sz="1400" kern="1200" cap="none" spc="0" normalizeH="0" baseline="0" noProof="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92618" y="3315335"/>
            <a:ext cx="2749550" cy="382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4572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sz="1400" kern="1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Times New Roman" panose="02020603050405020304" pitchFamily="18" charset="0"/>
              </a:rPr>
              <a:t>用于删除已被创建的任务</a:t>
            </a:r>
            <a:endParaRPr kumimoji="0" lang="en-US" altLang="zh-CN" sz="1400" kern="100" cap="none" spc="0" normalizeH="0" baseline="0" noProof="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263" name="文本框 8"/>
          <p:cNvSpPr txBox="1"/>
          <p:nvPr/>
        </p:nvSpPr>
        <p:spPr>
          <a:xfrm>
            <a:off x="1892618" y="4109085"/>
            <a:ext cx="544512" cy="3063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注意</a:t>
            </a:r>
            <a:endParaRPr lang="zh-CN" altLang="en-US" sz="1400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892618" y="4340860"/>
            <a:ext cx="5915025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4572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1400" kern="1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400" kern="1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Times New Roman" panose="02020603050405020304" pitchFamily="18" charset="0"/>
              </a:rPr>
              <a:t>、当传入的参数为</a:t>
            </a:r>
            <a:r>
              <a:rPr kumimoji="0" lang="en-US" altLang="zh-CN" sz="1400" kern="1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Times New Roman" panose="02020603050405020304" pitchFamily="18" charset="0"/>
              </a:rPr>
              <a:t>NULL</a:t>
            </a:r>
            <a:r>
              <a:rPr kumimoji="0" lang="zh-CN" altLang="en-US" sz="1400" kern="1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Times New Roman" panose="02020603050405020304" pitchFamily="18" charset="0"/>
              </a:rPr>
              <a:t>，则代表删除任务自身（当前正在运行的任务）</a:t>
            </a:r>
            <a:endParaRPr kumimoji="0" lang="en-US" altLang="zh-CN" sz="1400" kern="100" cap="none" spc="0" normalizeH="0" baseline="0" noProof="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265" name="文本框 25"/>
          <p:cNvSpPr txBox="1"/>
          <p:nvPr/>
        </p:nvSpPr>
        <p:spPr>
          <a:xfrm>
            <a:off x="1892618" y="4742498"/>
            <a:ext cx="8428037" cy="704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2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、空闲任务会负责释放被删除任务中由系统分配的内存，但是由用户在任务删除前申请的内存， 则需要由用户在任务被删除前提前释放，否则将导致内存泄露 </a:t>
            </a:r>
            <a:endParaRPr lang="en-US" altLang="zh-CN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19" grpId="0"/>
      <p:bldP spid="23" grpId="0"/>
      <p:bldP spid="10263" grpId="0"/>
      <p:bldP spid="25" grpId="0"/>
      <p:bldP spid="1026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72" name="文本框 9"/>
          <p:cNvSpPr txBox="1"/>
          <p:nvPr/>
        </p:nvSpPr>
        <p:spPr>
          <a:xfrm>
            <a:off x="1619885" y="1473200"/>
            <a:ext cx="4619625" cy="46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删除任务流程</a:t>
            </a:r>
            <a:endParaRPr lang="zh-CN" altLang="en-US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1273" name="文本框 13"/>
          <p:cNvSpPr txBox="1"/>
          <p:nvPr/>
        </p:nvSpPr>
        <p:spPr>
          <a:xfrm>
            <a:off x="1619885" y="2149475"/>
            <a:ext cx="4794250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1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、使用删除任务函数，需将宏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INCLUDE_vTaskDelete 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配置为 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1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 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1637348" y="3851275"/>
            <a:ext cx="2503488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、将被删除任务，移除所在列表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1637348" y="4443413"/>
            <a:ext cx="2503488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、判断所需要删除的任务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1627823" y="5035550"/>
            <a:ext cx="2505075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、更新下个任务的阻塞时间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637348" y="3259138"/>
            <a:ext cx="2503488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、获取所要删除任务的控制块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1278" name="文本框 24"/>
          <p:cNvSpPr txBox="1"/>
          <p:nvPr/>
        </p:nvSpPr>
        <p:spPr>
          <a:xfrm>
            <a:off x="4140835" y="3286125"/>
            <a:ext cx="5095875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通过传入的任务句柄，判断所需要删除哪个任务，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NULL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代表删除自身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1279" name="文本框 25"/>
          <p:cNvSpPr txBox="1"/>
          <p:nvPr/>
        </p:nvSpPr>
        <p:spPr>
          <a:xfrm>
            <a:off x="4140835" y="3868738"/>
            <a:ext cx="4965700" cy="277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将该任务在所在列表中移除，包括：就绪、阻塞、挂起、事件等列表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1280" name="文本框 25"/>
          <p:cNvSpPr txBox="1"/>
          <p:nvPr/>
        </p:nvSpPr>
        <p:spPr>
          <a:xfrm>
            <a:off x="4299585" y="4314825"/>
            <a:ext cx="4964113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删除任务自身，需先添加到等待删除列表，内存释放将在空闲任务执行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1281" name="文本框 22"/>
          <p:cNvSpPr txBox="1"/>
          <p:nvPr/>
        </p:nvSpPr>
        <p:spPr>
          <a:xfrm>
            <a:off x="4299585" y="4656138"/>
            <a:ext cx="4618038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删除其他任务，释放内存，任务数量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--</a:t>
            </a:r>
            <a:endParaRPr lang="zh-CN" altLang="en-US" sz="1200" dirty="0"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7" name="左大括号 6"/>
          <p:cNvSpPr/>
          <p:nvPr/>
        </p:nvSpPr>
        <p:spPr>
          <a:xfrm>
            <a:off x="4140835" y="4400550"/>
            <a:ext cx="158750" cy="4191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83" name="文本框 25"/>
          <p:cNvSpPr txBox="1"/>
          <p:nvPr/>
        </p:nvSpPr>
        <p:spPr>
          <a:xfrm>
            <a:off x="4129723" y="5011738"/>
            <a:ext cx="5562600" cy="341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更新下一个任务的阻塞超时时间，以防被删除的任务就是下一个阻塞超时的任务 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8" name="右大括号 7"/>
          <p:cNvSpPr/>
          <p:nvPr/>
        </p:nvSpPr>
        <p:spPr>
          <a:xfrm>
            <a:off x="6102985" y="2116138"/>
            <a:ext cx="220663" cy="66833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85" name="文本框 13"/>
          <p:cNvSpPr txBox="1"/>
          <p:nvPr/>
        </p:nvSpPr>
        <p:spPr>
          <a:xfrm>
            <a:off x="1627823" y="2547938"/>
            <a:ext cx="4535487" cy="277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、入口参数输入需要删除的任务句柄（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NULL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代表删除本身）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 flipV="1">
            <a:off x="1619885" y="2116138"/>
            <a:ext cx="4533900" cy="9525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 flipV="1">
            <a:off x="1627823" y="2782888"/>
            <a:ext cx="4535488" cy="9525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右大括号 28"/>
          <p:cNvSpPr/>
          <p:nvPr/>
        </p:nvSpPr>
        <p:spPr>
          <a:xfrm>
            <a:off x="9582785" y="3168650"/>
            <a:ext cx="220663" cy="22733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H="1" flipV="1">
            <a:off x="1619885" y="3136900"/>
            <a:ext cx="7962900" cy="3175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 flipV="1">
            <a:off x="1619885" y="5410200"/>
            <a:ext cx="7962900" cy="3175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291" name="文本框 16"/>
          <p:cNvSpPr txBox="1"/>
          <p:nvPr/>
        </p:nvSpPr>
        <p:spPr>
          <a:xfrm>
            <a:off x="6299835" y="2327275"/>
            <a:ext cx="141605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用起来只要这两步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1292" name="文本框 35"/>
          <p:cNvSpPr txBox="1"/>
          <p:nvPr/>
        </p:nvSpPr>
        <p:spPr>
          <a:xfrm>
            <a:off x="9814560" y="3808413"/>
            <a:ext cx="368300" cy="1014412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内部实现过程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3" grpId="0"/>
      <p:bldP spid="20" grpId="0" bldLvl="0" animBg="1"/>
      <p:bldP spid="21" grpId="0" bldLvl="0" animBg="1"/>
      <p:bldP spid="22" grpId="0" bldLvl="0" animBg="1"/>
      <p:bldP spid="24" grpId="0" bldLvl="0" animBg="1"/>
      <p:bldP spid="11278" grpId="0"/>
      <p:bldP spid="11279" grpId="0"/>
      <p:bldP spid="11280" grpId="0"/>
      <p:bldP spid="11281" grpId="0"/>
      <p:bldP spid="7" grpId="0" bldLvl="0" animBg="1"/>
      <p:bldP spid="11283" grpId="0"/>
      <p:bldP spid="8" grpId="0" bldLvl="0" animBg="1"/>
      <p:bldP spid="11285" grpId="0"/>
      <p:bldP spid="29" grpId="0" bldLvl="0" animBg="1"/>
      <p:bldP spid="11291" grpId="0"/>
      <p:bldP spid="1129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20" name="文本框 9"/>
          <p:cNvSpPr txBox="1"/>
          <p:nvPr/>
        </p:nvSpPr>
        <p:spPr>
          <a:xfrm>
            <a:off x="1367473" y="1522730"/>
            <a:ext cx="4619625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任务创建和删除（动态方法）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02435" y="2256155"/>
            <a:ext cx="424688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en-US" altLang="zh-CN" sz="1600" kern="1200" cap="none" spc="0" normalizeH="0" baseline="0" noProof="0" dirty="0" err="1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xTaskCreate</a:t>
            </a:r>
            <a:r>
              <a:rPr kumimoji="0" lang="en-US" altLang="zh-CN" sz="16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( )</a:t>
            </a:r>
            <a:r>
              <a:rPr kumimoji="0" lang="zh-CN" altLang="en-US" sz="16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  和 </a:t>
            </a:r>
            <a:r>
              <a:rPr kumimoji="0" lang="en-US" altLang="zh-CN" sz="1600" kern="0" cap="none" spc="0" normalizeH="0" baseline="0" noProof="0" dirty="0" err="1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vTaskDelete</a:t>
            </a:r>
            <a:r>
              <a:rPr kumimoji="0" lang="en-US" altLang="zh-CN" sz="1600" kern="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( ) </a:t>
            </a:r>
            <a:r>
              <a:rPr kumimoji="0" lang="zh-CN" altLang="en-US" sz="1600" kern="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的使用</a:t>
            </a:r>
            <a:endParaRPr kumimoji="0" lang="zh-CN" altLang="en-US" sz="1600" kern="1200" cap="none" spc="0" normalizeH="0" baseline="0" noProof="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3322" name="文本框 6"/>
          <p:cNvSpPr txBox="1"/>
          <p:nvPr/>
        </p:nvSpPr>
        <p:spPr>
          <a:xfrm>
            <a:off x="1702435" y="2883218"/>
            <a:ext cx="6894513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设计四个任务：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start_task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task1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endParaRPr lang="zh-CN" altLang="en-US" sz="16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2023110" y="3715068"/>
            <a:ext cx="1417638" cy="33972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start_task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2023110" y="4248468"/>
            <a:ext cx="1417638" cy="33972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2023110" y="4812030"/>
            <a:ext cx="1417638" cy="338138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3326" name="文本框 12"/>
          <p:cNvSpPr txBox="1"/>
          <p:nvPr/>
        </p:nvSpPr>
        <p:spPr>
          <a:xfrm>
            <a:off x="1989773" y="3326130"/>
            <a:ext cx="2236787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四个任务的功能如下：</a:t>
            </a:r>
            <a:endParaRPr lang="zh-CN" altLang="en-US" sz="16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3327" name="文本框 13"/>
          <p:cNvSpPr txBox="1"/>
          <p:nvPr/>
        </p:nvSpPr>
        <p:spPr>
          <a:xfrm>
            <a:off x="3447098" y="3734118"/>
            <a:ext cx="215900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用来创建其他的三个任务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3328" name="文本框 22"/>
          <p:cNvSpPr txBox="1"/>
          <p:nvPr/>
        </p:nvSpPr>
        <p:spPr>
          <a:xfrm>
            <a:off x="3447098" y="4264343"/>
            <a:ext cx="2403475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实现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LED0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每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500ms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闪烁一次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3329" name="文本框 23"/>
          <p:cNvSpPr txBox="1"/>
          <p:nvPr/>
        </p:nvSpPr>
        <p:spPr>
          <a:xfrm>
            <a:off x="3447098" y="4827905"/>
            <a:ext cx="2403475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实现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LED1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每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500ms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闪烁一次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2029460" y="5324793"/>
            <a:ext cx="1417638" cy="33972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3331" name="文本框 27"/>
          <p:cNvSpPr txBox="1"/>
          <p:nvPr/>
        </p:nvSpPr>
        <p:spPr>
          <a:xfrm>
            <a:off x="3447098" y="5340668"/>
            <a:ext cx="3551237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判断按键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KEY0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是否按下，按下则删掉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task1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322" grpId="0"/>
      <p:bldP spid="8" grpId="0" bldLvl="0" animBg="1"/>
      <p:bldP spid="18" grpId="0" bldLvl="0" animBg="1"/>
      <p:bldP spid="19" grpId="0" bldLvl="0" animBg="1"/>
      <p:bldP spid="13326" grpId="0"/>
      <p:bldP spid="13327" grpId="0"/>
      <p:bldP spid="13328" grpId="0"/>
      <p:bldP spid="13329" grpId="0"/>
      <p:bldP spid="26" grpId="0" bldLvl="0" animBg="1"/>
      <p:bldP spid="133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9"/>
          <p:cNvSpPr txBox="1"/>
          <p:nvPr/>
        </p:nvSpPr>
        <p:spPr>
          <a:xfrm>
            <a:off x="1991043" y="1335405"/>
            <a:ext cx="4619625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任务创建和删除（动态方法）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4" name="左大括号 13"/>
          <p:cNvSpPr/>
          <p:nvPr/>
        </p:nvSpPr>
        <p:spPr>
          <a:xfrm>
            <a:off x="4134168" y="2208530"/>
            <a:ext cx="223838" cy="1911350"/>
          </a:xfrm>
          <a:prstGeom prst="leftBrace">
            <a:avLst>
              <a:gd name="adj1" fmla="val 8333"/>
              <a:gd name="adj2" fmla="val 4744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: 圆角 33"/>
          <p:cNvSpPr/>
          <p:nvPr/>
        </p:nvSpPr>
        <p:spPr>
          <a:xfrm>
            <a:off x="4791393" y="2157730"/>
            <a:ext cx="1274763" cy="207963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pxReadyTasksLists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[31]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6" name="矩形: 圆角 34"/>
          <p:cNvSpPr/>
          <p:nvPr/>
        </p:nvSpPr>
        <p:spPr>
          <a:xfrm>
            <a:off x="4791393" y="2510155"/>
            <a:ext cx="1274763" cy="207963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pxReadyTasksLists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[30]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7" name="矩形: 圆角 35"/>
          <p:cNvSpPr/>
          <p:nvPr/>
        </p:nvSpPr>
        <p:spPr>
          <a:xfrm>
            <a:off x="4791393" y="3569018"/>
            <a:ext cx="1274763" cy="207963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pxReadyTasksLists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[1]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8" name="矩形: 圆角 36"/>
          <p:cNvSpPr/>
          <p:nvPr/>
        </p:nvSpPr>
        <p:spPr>
          <a:xfrm>
            <a:off x="4791393" y="2864168"/>
            <a:ext cx="1274763" cy="207963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pxReadyTasksLists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[29]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9" name="矩形: 圆角 37"/>
          <p:cNvSpPr/>
          <p:nvPr/>
        </p:nvSpPr>
        <p:spPr>
          <a:xfrm>
            <a:off x="4791393" y="3916680"/>
            <a:ext cx="1274763" cy="207963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pxReadyTasksLists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[0]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0" name="矩形: 圆角 38"/>
          <p:cNvSpPr/>
          <p:nvPr/>
        </p:nvSpPr>
        <p:spPr>
          <a:xfrm>
            <a:off x="4791393" y="3208655"/>
            <a:ext cx="1274763" cy="207963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… …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411980" y="2159318"/>
            <a:ext cx="307975" cy="1984375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4411980" y="2424430"/>
            <a:ext cx="307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4411980" y="2721293"/>
            <a:ext cx="307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4411980" y="3081655"/>
            <a:ext cx="307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4411980" y="3461068"/>
            <a:ext cx="307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4411980" y="3845243"/>
            <a:ext cx="307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351655" y="2179955"/>
            <a:ext cx="427038" cy="231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bit31</a:t>
            </a:r>
            <a:endParaRPr lang="zh-CN" altLang="en-US" sz="9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351655" y="2478405"/>
            <a:ext cx="427038" cy="2301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bit30</a:t>
            </a:r>
            <a:endParaRPr lang="zh-CN" altLang="en-US" sz="9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351655" y="2807018"/>
            <a:ext cx="427038" cy="230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bit29</a:t>
            </a:r>
            <a:endParaRPr lang="zh-CN" altLang="en-US" sz="9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377055" y="3168968"/>
            <a:ext cx="377825" cy="231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… …</a:t>
            </a:r>
            <a:endParaRPr lang="zh-CN" altLang="en-US" sz="9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381818" y="3561080"/>
            <a:ext cx="368300" cy="231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bit1</a:t>
            </a:r>
            <a:endParaRPr lang="zh-CN" altLang="en-US" sz="9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381818" y="3897630"/>
            <a:ext cx="368300" cy="2301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bit0</a:t>
            </a:r>
            <a:endParaRPr lang="zh-CN" altLang="en-US" sz="9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52" name="文本框 1"/>
          <p:cNvSpPr txBox="1"/>
          <p:nvPr/>
        </p:nvSpPr>
        <p:spPr>
          <a:xfrm>
            <a:off x="2430780" y="2967355"/>
            <a:ext cx="1620838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就绪列表的初始化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92" name="文本框 9"/>
          <p:cNvSpPr txBox="1"/>
          <p:nvPr/>
        </p:nvSpPr>
        <p:spPr>
          <a:xfrm>
            <a:off x="1665923" y="1254760"/>
            <a:ext cx="4619625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任务创建和删除（静态方法）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00885" y="1988185"/>
            <a:ext cx="536448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zh-CN" altLang="en-US" sz="16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学会 </a:t>
            </a:r>
            <a:r>
              <a:rPr kumimoji="0" lang="en-US" altLang="zh-CN" sz="1600" kern="1200" cap="none" spc="0" normalizeH="0" baseline="0" noProof="0" dirty="0" err="1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xTaskCreateStatic</a:t>
            </a:r>
            <a:r>
              <a:rPr kumimoji="0" lang="en-US" altLang="zh-CN" sz="16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( )</a:t>
            </a:r>
            <a:r>
              <a:rPr kumimoji="0" lang="zh-CN" altLang="en-US" sz="16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  和 </a:t>
            </a:r>
            <a:r>
              <a:rPr kumimoji="0" lang="en-US" altLang="zh-CN" sz="1600" kern="0" cap="none" spc="0" normalizeH="0" baseline="0" noProof="0" dirty="0" err="1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vTaskDelete</a:t>
            </a:r>
            <a:r>
              <a:rPr kumimoji="0" lang="en-US" altLang="zh-CN" sz="1600" kern="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( ) </a:t>
            </a:r>
            <a:r>
              <a:rPr kumimoji="0" lang="zh-CN" altLang="en-US" sz="1600" kern="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的使用</a:t>
            </a:r>
            <a:endParaRPr kumimoji="0" lang="zh-CN" altLang="en-US" sz="1600" kern="1200" cap="none" spc="0" normalizeH="0" baseline="0" noProof="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5370" name="文本框 6"/>
          <p:cNvSpPr txBox="1"/>
          <p:nvPr/>
        </p:nvSpPr>
        <p:spPr>
          <a:xfrm>
            <a:off x="2000885" y="2615248"/>
            <a:ext cx="6894513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设计四个任务：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start_task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task1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endParaRPr lang="zh-CN" altLang="en-US" sz="16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2321560" y="3447098"/>
            <a:ext cx="1417638" cy="33972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start_task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2321560" y="3980498"/>
            <a:ext cx="1417638" cy="33972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2321560" y="4544060"/>
            <a:ext cx="1417638" cy="338138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5374" name="文本框 12"/>
          <p:cNvSpPr txBox="1"/>
          <p:nvPr/>
        </p:nvSpPr>
        <p:spPr>
          <a:xfrm>
            <a:off x="2288223" y="3058160"/>
            <a:ext cx="2236787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6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四个任务的功能如下：</a:t>
            </a:r>
            <a:endParaRPr lang="zh-CN" altLang="en-US" sz="16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5375" name="文本框 13"/>
          <p:cNvSpPr txBox="1"/>
          <p:nvPr/>
        </p:nvSpPr>
        <p:spPr>
          <a:xfrm>
            <a:off x="3745548" y="3466148"/>
            <a:ext cx="215900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用来创建其他的三个任务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5376" name="文本框 22"/>
          <p:cNvSpPr txBox="1"/>
          <p:nvPr/>
        </p:nvSpPr>
        <p:spPr>
          <a:xfrm>
            <a:off x="3745548" y="3996373"/>
            <a:ext cx="2403475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实现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LED0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每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500ms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闪烁一次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5377" name="文本框 23"/>
          <p:cNvSpPr txBox="1"/>
          <p:nvPr/>
        </p:nvSpPr>
        <p:spPr>
          <a:xfrm>
            <a:off x="3745548" y="4559935"/>
            <a:ext cx="2403475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实现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LED1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每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500ms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闪烁一次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2327910" y="5056823"/>
            <a:ext cx="1417638" cy="33972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5379" name="文本框 27"/>
          <p:cNvSpPr txBox="1"/>
          <p:nvPr/>
        </p:nvSpPr>
        <p:spPr>
          <a:xfrm>
            <a:off x="3745548" y="5072698"/>
            <a:ext cx="3551237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判断按键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KEY0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是否按下，按下则删掉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task1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370" grpId="0"/>
      <p:bldP spid="8" grpId="0" bldLvl="0" animBg="1"/>
      <p:bldP spid="18" grpId="0" bldLvl="0" animBg="1"/>
      <p:bldP spid="19" grpId="0" bldLvl="0" animBg="1"/>
      <p:bldP spid="15374" grpId="0"/>
      <p:bldP spid="15375" grpId="0"/>
      <p:bldP spid="15376" grpId="0"/>
      <p:bldP spid="15377" grpId="0"/>
      <p:bldP spid="26" grpId="0" bldLvl="0" animBg="1"/>
      <p:bldP spid="1537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6" name="文本框 9"/>
          <p:cNvSpPr txBox="1"/>
          <p:nvPr/>
        </p:nvSpPr>
        <p:spPr>
          <a:xfrm>
            <a:off x="1501775" y="1689100"/>
            <a:ext cx="4619625" cy="46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任务挂起函数内部实现</a:t>
            </a:r>
            <a:endParaRPr lang="zh-CN" altLang="en-US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20" name="矩形: 圆角 19"/>
          <p:cNvSpPr/>
          <p:nvPr>
            <p:custDataLst>
              <p:tags r:id="rId1"/>
            </p:custDataLst>
          </p:nvPr>
        </p:nvSpPr>
        <p:spPr>
          <a:xfrm>
            <a:off x="1663700" y="2998788"/>
            <a:ext cx="2632075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、移除所在列表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4" name="矩形: 圆角 23"/>
          <p:cNvSpPr/>
          <p:nvPr>
            <p:custDataLst>
              <p:tags r:id="rId2"/>
            </p:custDataLst>
          </p:nvPr>
        </p:nvSpPr>
        <p:spPr>
          <a:xfrm>
            <a:off x="1654175" y="2470150"/>
            <a:ext cx="2641600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、获取所要挂起任务的控制块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3" name="矩形: 圆角 22"/>
          <p:cNvSpPr/>
          <p:nvPr>
            <p:custDataLst>
              <p:tags r:id="rId3"/>
            </p:custDataLst>
          </p:nvPr>
        </p:nvSpPr>
        <p:spPr>
          <a:xfrm>
            <a:off x="1668463" y="4057650"/>
            <a:ext cx="2622550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、判断任务调度器是否运行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7" name="矩形: 圆角 26"/>
          <p:cNvSpPr/>
          <p:nvPr>
            <p:custDataLst>
              <p:tags r:id="rId4"/>
            </p:custDataLst>
          </p:nvPr>
        </p:nvSpPr>
        <p:spPr>
          <a:xfrm>
            <a:off x="1654175" y="3529013"/>
            <a:ext cx="2632075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、插入挂起任务列表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2301" name="文本框 29"/>
          <p:cNvSpPr txBox="1"/>
          <p:nvPr>
            <p:custDataLst>
              <p:tags r:id="rId5"/>
            </p:custDataLst>
          </p:nvPr>
        </p:nvSpPr>
        <p:spPr>
          <a:xfrm>
            <a:off x="4286250" y="2478088"/>
            <a:ext cx="5741988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通过传入的任务句柄，判断所需要挂起哪个任务，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NULL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代表挂起自身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2302" name="文本框 33"/>
          <p:cNvSpPr txBox="1"/>
          <p:nvPr>
            <p:custDataLst>
              <p:tags r:id="rId6"/>
            </p:custDataLst>
          </p:nvPr>
        </p:nvSpPr>
        <p:spPr>
          <a:xfrm>
            <a:off x="4260850" y="3000375"/>
            <a:ext cx="6069013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将要挂起的任务从相应的状态列表和事件列表中移除（就绪或阻塞列表）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2303" name="文本框 35"/>
          <p:cNvSpPr txBox="1"/>
          <p:nvPr>
            <p:custDataLst>
              <p:tags r:id="rId7"/>
            </p:custDataLst>
          </p:nvPr>
        </p:nvSpPr>
        <p:spPr>
          <a:xfrm>
            <a:off x="4260850" y="3524250"/>
            <a:ext cx="5248275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将待挂起任务的任务状态列表向插入到挂起态任务列表末尾 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2304" name="文本框 36"/>
          <p:cNvSpPr txBox="1"/>
          <p:nvPr>
            <p:custDataLst>
              <p:tags r:id="rId8"/>
            </p:custDataLst>
          </p:nvPr>
        </p:nvSpPr>
        <p:spPr>
          <a:xfrm>
            <a:off x="4260850" y="4046538"/>
            <a:ext cx="5900738" cy="3308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在运行，更新下一次阻塞时间，防止被挂起任务为下一次阻塞超时任务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38" name="矩形: 圆角 37"/>
          <p:cNvSpPr/>
          <p:nvPr>
            <p:custDataLst>
              <p:tags r:id="rId9"/>
            </p:custDataLst>
          </p:nvPr>
        </p:nvSpPr>
        <p:spPr>
          <a:xfrm>
            <a:off x="1674813" y="4608513"/>
            <a:ext cx="2624138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、判断待挂起任务是否为当前任务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2306" name="文本框 38"/>
          <p:cNvSpPr txBox="1"/>
          <p:nvPr>
            <p:custDataLst>
              <p:tags r:id="rId10"/>
            </p:custDataLst>
          </p:nvPr>
        </p:nvSpPr>
        <p:spPr>
          <a:xfrm>
            <a:off x="4310063" y="4557713"/>
            <a:ext cx="5532437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如果挂起的是任务自身，且调度器正在运行，需要进行一次任务切换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2307" name="文本框 39"/>
          <p:cNvSpPr txBox="1"/>
          <p:nvPr/>
        </p:nvSpPr>
        <p:spPr>
          <a:xfrm>
            <a:off x="4286250" y="4795838"/>
            <a:ext cx="5908675" cy="554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调度器没有运行，判断挂起任务数是否等于任务总数，是：当前控制块赋值为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NULL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，否：寻找下一个最高优先级任务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20" name="文本框 9"/>
          <p:cNvSpPr txBox="1"/>
          <p:nvPr/>
        </p:nvSpPr>
        <p:spPr>
          <a:xfrm>
            <a:off x="2053590" y="1304290"/>
            <a:ext cx="4619625" cy="46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任务恢复函数内部实现</a:t>
            </a:r>
            <a:endParaRPr lang="zh-CN" altLang="en-US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2163128" y="2660015"/>
            <a:ext cx="2717800" cy="3206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、判断任务是否在挂起列表中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153603" y="2131378"/>
            <a:ext cx="2727325" cy="3206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、恢复任务不能是正在运行任务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2153603" y="3188653"/>
            <a:ext cx="2717800" cy="3206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、判断恢复任务优先级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3324" name="文本框 33"/>
          <p:cNvSpPr txBox="1"/>
          <p:nvPr/>
        </p:nvSpPr>
        <p:spPr>
          <a:xfrm>
            <a:off x="4876165" y="2675890"/>
            <a:ext cx="4899025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是：就会将该任务在挂起列表中移除， 将该任务添加到就绪列表中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3325" name="文本框 35"/>
          <p:cNvSpPr txBox="1"/>
          <p:nvPr/>
        </p:nvSpPr>
        <p:spPr>
          <a:xfrm>
            <a:off x="4868228" y="3233103"/>
            <a:ext cx="4906962" cy="277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判断恢复的任务优先级是否大于当前正在运行的 是的话执行任务切换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 noChangeArrowheads="1"/>
          </p:cNvSpPr>
          <p:nvPr>
            <p:ph type="subTitle" idx="1"/>
          </p:nvPr>
        </p:nvSpPr>
        <p:spPr>
          <a:xfrm>
            <a:off x="455340" y="711045"/>
            <a:ext cx="11542029" cy="6743065"/>
          </a:xfrm>
        </p:spPr>
        <p:txBody>
          <a:bodyPr/>
          <a:p>
            <a:pPr algn="l"/>
            <a:r>
              <a:rPr lang="zh-CN" altLang="en-US" sz="1400" b="1"/>
              <a:t>最高优先级</a:t>
            </a:r>
            <a:r>
              <a:rPr lang="en-US" altLang="zh-CN" sz="1400" b="1"/>
              <a:t> (Highest Priority - </a:t>
            </a:r>
            <a:r>
              <a:rPr lang="zh-CN" altLang="en-US" sz="1400" b="1"/>
              <a:t>时间关键</a:t>
            </a:r>
            <a:r>
              <a:rPr lang="en-US" altLang="zh-CN" sz="1400" b="1"/>
              <a:t>/</a:t>
            </a:r>
            <a:r>
              <a:rPr lang="zh-CN" altLang="en-US" sz="1400" b="1"/>
              <a:t>实时响应</a:t>
            </a:r>
            <a:r>
              <a:rPr lang="en-US" altLang="zh-CN" sz="1400" b="1"/>
              <a:t>)</a:t>
            </a:r>
            <a:r>
              <a:rPr lang="zh-CN" altLang="en-US" sz="1400" b="1"/>
              <a:t>：</a:t>
            </a:r>
            <a:endParaRPr lang="zh-CN" altLang="en-US" sz="1400"/>
          </a:p>
          <a:p>
            <a:pPr algn="l"/>
            <a:r>
              <a:rPr lang="zh-CN" altLang="en-US" sz="1400"/>
              <a:t>优先级数值：</a:t>
            </a:r>
            <a:r>
              <a:rPr lang="en-US" altLang="zh-CN" sz="1400"/>
              <a:t> </a:t>
            </a:r>
            <a:r>
              <a:rPr lang="zh-CN" altLang="en-US" sz="1400"/>
              <a:t>通常是配置允许的最高值</a:t>
            </a:r>
            <a:r>
              <a:rPr lang="en-US" altLang="zh-CN" sz="1400"/>
              <a:t> (</a:t>
            </a:r>
            <a:r>
              <a:rPr lang="zh-CN" altLang="en-US" sz="1400"/>
              <a:t>例如</a:t>
            </a:r>
            <a:r>
              <a:rPr lang="en-US" altLang="zh-CN" sz="1400"/>
              <a:t> configMAX_PRIORITIES - 1)</a:t>
            </a:r>
            <a:r>
              <a:rPr lang="zh-CN" altLang="en-US" sz="1400"/>
              <a:t>。</a:t>
            </a:r>
            <a:endParaRPr lang="zh-CN" altLang="en-US" sz="1400"/>
          </a:p>
          <a:p>
            <a:pPr algn="l"/>
            <a:r>
              <a:rPr lang="zh-CN" altLang="en-US" sz="1400"/>
              <a:t>功能角色：</a:t>
            </a:r>
            <a:endParaRPr lang="zh-CN" altLang="en-US" sz="1400"/>
          </a:p>
          <a:p>
            <a:pPr lvl="1" algn="l"/>
            <a:r>
              <a:rPr lang="zh-CN" altLang="en-US" sz="1400"/>
              <a:t>硬实时任务：</a:t>
            </a:r>
            <a:r>
              <a:rPr lang="en-US" altLang="zh-CN" sz="1400"/>
              <a:t> </a:t>
            </a:r>
            <a:r>
              <a:rPr lang="zh-CN" altLang="en-US" sz="1400"/>
              <a:t>对截止时间有严格要求，错过会导致系统失败的任务（如电机控制、安全关键状态监测）。</a:t>
            </a:r>
            <a:endParaRPr lang="zh-CN" altLang="en-US" sz="1400"/>
          </a:p>
          <a:p>
            <a:pPr lvl="1" algn="l"/>
            <a:r>
              <a:rPr lang="zh-CN" altLang="en-US" sz="1400"/>
              <a:t>中断延迟任务</a:t>
            </a:r>
            <a:r>
              <a:rPr lang="en-US" altLang="zh-CN" sz="1400"/>
              <a:t> (Deferred Interrupt Processing)</a:t>
            </a:r>
            <a:r>
              <a:rPr lang="zh-CN" altLang="en-US" sz="1400"/>
              <a:t>：</a:t>
            </a:r>
            <a:r>
              <a:rPr lang="en-US" altLang="zh-CN" sz="1400"/>
              <a:t> </a:t>
            </a:r>
            <a:r>
              <a:rPr lang="zh-CN" altLang="en-US" sz="1400"/>
              <a:t>由中断服务程序</a:t>
            </a:r>
            <a:r>
              <a:rPr lang="en-US" altLang="zh-CN" sz="1400"/>
              <a:t> (ISR) </a:t>
            </a:r>
            <a:r>
              <a:rPr lang="zh-CN" altLang="en-US" sz="1400"/>
              <a:t>唤醒，用于处理耗时较长或需要调用非</a:t>
            </a:r>
            <a:r>
              <a:rPr lang="en-US" altLang="zh-CN" sz="1400"/>
              <a:t> ISR </a:t>
            </a:r>
            <a:r>
              <a:rPr lang="zh-CN" altLang="en-US" sz="1400"/>
              <a:t>安全</a:t>
            </a:r>
            <a:r>
              <a:rPr lang="en-US" altLang="zh-CN" sz="1400"/>
              <a:t> API </a:t>
            </a:r>
            <a:r>
              <a:rPr lang="zh-CN" altLang="en-US" sz="1400"/>
              <a:t>的中断后续工作。它们必须能抢占几乎所有其他任务，以确保快速响应中断事件。</a:t>
            </a:r>
            <a:endParaRPr lang="zh-CN" altLang="en-US" sz="1400"/>
          </a:p>
          <a:p>
            <a:pPr lvl="1" algn="l"/>
            <a:r>
              <a:rPr lang="zh-CN" altLang="en-US" sz="1400"/>
              <a:t>系统关键任务：</a:t>
            </a:r>
            <a:r>
              <a:rPr lang="en-US" altLang="zh-CN" sz="1400"/>
              <a:t> </a:t>
            </a:r>
            <a:r>
              <a:rPr lang="zh-CN" altLang="en-US" sz="1400"/>
              <a:t>如某些通信协议栈的实时处理层、高优先级事件分发任务。</a:t>
            </a:r>
            <a:endParaRPr lang="zh-CN" altLang="en-US" sz="1400"/>
          </a:p>
          <a:p>
            <a:pPr algn="l"/>
            <a:r>
              <a:rPr lang="zh-CN" altLang="en-US" sz="1400"/>
              <a:t>特点：</a:t>
            </a:r>
            <a:r>
              <a:rPr lang="en-US" altLang="zh-CN" sz="1400"/>
              <a:t> </a:t>
            </a:r>
            <a:r>
              <a:rPr lang="zh-CN" altLang="en-US" sz="1400"/>
              <a:t>数量通常很少。一旦就绪，会立即抢占所有低优先级任务运行。执行时间应尽可能短。</a:t>
            </a:r>
            <a:endParaRPr lang="zh-CN" altLang="en-US" sz="1400"/>
          </a:p>
          <a:p>
            <a:pPr algn="l"/>
            <a:endParaRPr lang="en-US" altLang="zh-CN" sz="1400"/>
          </a:p>
          <a:p>
            <a:pPr algn="l"/>
            <a:r>
              <a:rPr lang="zh-CN" altLang="en-US" sz="1400" b="1"/>
              <a:t>高</a:t>
            </a:r>
            <a:r>
              <a:rPr lang="en-US" altLang="zh-CN" sz="1400" b="1"/>
              <a:t>/</a:t>
            </a:r>
            <a:r>
              <a:rPr lang="zh-CN" altLang="en-US" sz="1400" b="1"/>
              <a:t>中高优先级</a:t>
            </a:r>
            <a:r>
              <a:rPr lang="en-US" altLang="zh-CN" sz="1400" b="1"/>
              <a:t> (High/Medium-High Priority - </a:t>
            </a:r>
            <a:r>
              <a:rPr lang="zh-CN" altLang="en-US" sz="1400" b="1"/>
              <a:t>重要功能</a:t>
            </a:r>
            <a:r>
              <a:rPr lang="en-US" altLang="zh-CN" sz="1400" b="1"/>
              <a:t>/</a:t>
            </a:r>
            <a:r>
              <a:rPr lang="zh-CN" altLang="en-US" sz="1400" b="1"/>
              <a:t>及时响应</a:t>
            </a:r>
            <a:r>
              <a:rPr lang="en-US" altLang="zh-CN" sz="1400" b="1"/>
              <a:t>)</a:t>
            </a:r>
            <a:r>
              <a:rPr lang="zh-CN" altLang="en-US" sz="1400" b="1"/>
              <a:t>：</a:t>
            </a:r>
            <a:endParaRPr lang="zh-CN" altLang="en-US" sz="1400" b="1"/>
          </a:p>
          <a:p>
            <a:pPr algn="l"/>
            <a:r>
              <a:rPr lang="zh-CN" altLang="en-US" sz="1400"/>
              <a:t>优先级数值：</a:t>
            </a:r>
            <a:r>
              <a:rPr lang="en-US" altLang="zh-CN" sz="1400"/>
              <a:t> </a:t>
            </a:r>
            <a:r>
              <a:rPr lang="zh-CN" altLang="en-US" sz="1400"/>
              <a:t>介于最高优先级和普通优先级之间，数值相对较高。</a:t>
            </a:r>
            <a:endParaRPr lang="zh-CN" altLang="en-US" sz="1400"/>
          </a:p>
          <a:p>
            <a:pPr algn="l"/>
            <a:r>
              <a:rPr lang="zh-CN" altLang="en-US" sz="1400"/>
              <a:t>功能角色：</a:t>
            </a:r>
            <a:endParaRPr lang="zh-CN" altLang="en-US" sz="1400"/>
          </a:p>
          <a:p>
            <a:pPr lvl="1" algn="l"/>
            <a:r>
              <a:rPr lang="zh-CN" altLang="en-US" sz="1400"/>
              <a:t>软实时任务：</a:t>
            </a:r>
            <a:r>
              <a:rPr lang="en-US" altLang="zh-CN" sz="1400"/>
              <a:t> </a:t>
            </a:r>
            <a:r>
              <a:rPr lang="zh-CN" altLang="en-US" sz="1400"/>
              <a:t>有响应时间要求，但偶尔错过截止时间不会导致灾难性后果的任务（如用户界面刷新、非关键传感器数据处理、中等速度的通信协议处理）。</a:t>
            </a:r>
            <a:endParaRPr lang="zh-CN" altLang="en-US" sz="1400"/>
          </a:p>
          <a:p>
            <a:pPr lvl="1" algn="l"/>
            <a:r>
              <a:rPr lang="zh-CN" altLang="en-US" sz="1400"/>
              <a:t>重要的业务流程任务：</a:t>
            </a:r>
            <a:r>
              <a:rPr lang="en-US" altLang="zh-CN" sz="1400"/>
              <a:t> </a:t>
            </a:r>
            <a:r>
              <a:rPr lang="zh-CN" altLang="en-US" sz="1400"/>
              <a:t>执行系统核心功能链中较关键环节的任务。</a:t>
            </a:r>
            <a:endParaRPr lang="zh-CN" altLang="en-US" sz="1400"/>
          </a:p>
          <a:p>
            <a:pPr lvl="1" algn="l"/>
            <a:r>
              <a:rPr lang="zh-CN" altLang="en-US" sz="1400"/>
              <a:t>事件驱动任务：</a:t>
            </a:r>
            <a:r>
              <a:rPr lang="en-US" altLang="zh-CN" sz="1400"/>
              <a:t> </a:t>
            </a:r>
            <a:r>
              <a:rPr lang="zh-CN" altLang="en-US" sz="1400"/>
              <a:t>等待高优先级事件（如按键、重要消息）并需要较快响应的任务。</a:t>
            </a:r>
            <a:endParaRPr lang="zh-CN" altLang="en-US" sz="1400"/>
          </a:p>
          <a:p>
            <a:pPr algn="l"/>
            <a:r>
              <a:rPr lang="zh-CN" altLang="en-US" sz="1400"/>
              <a:t>特点：</a:t>
            </a:r>
            <a:r>
              <a:rPr lang="en-US" altLang="zh-CN" sz="1400"/>
              <a:t> </a:t>
            </a:r>
            <a:r>
              <a:rPr lang="zh-CN" altLang="en-US" sz="1400"/>
              <a:t>数量适中。能及时响应事件，抢占低优先级任务，但会被最高优先级任务抢占。执行时间需合理控制。</a:t>
            </a:r>
            <a:endParaRPr lang="zh-CN" altLang="en-US" sz="1400"/>
          </a:p>
          <a:p>
            <a:pPr algn="l"/>
            <a:endParaRPr lang="en-US" altLang="zh-CN" sz="1400"/>
          </a:p>
          <a:p>
            <a:pPr algn="l"/>
            <a:r>
              <a:rPr lang="zh-CN" altLang="en-US" sz="1400" b="1"/>
              <a:t>普通</a:t>
            </a:r>
            <a:r>
              <a:rPr lang="en-US" altLang="zh-CN" sz="1400" b="1"/>
              <a:t>/</a:t>
            </a:r>
            <a:r>
              <a:rPr lang="zh-CN" altLang="en-US" sz="1400" b="1"/>
              <a:t>中优先级</a:t>
            </a:r>
            <a:r>
              <a:rPr lang="en-US" altLang="zh-CN" sz="1400" b="1"/>
              <a:t> (Medium/Normal Priority - </a:t>
            </a:r>
            <a:r>
              <a:rPr lang="zh-CN" altLang="en-US" sz="1400" b="1"/>
              <a:t>常规业务逻辑</a:t>
            </a:r>
            <a:r>
              <a:rPr lang="en-US" altLang="zh-CN" sz="1400" b="1"/>
              <a:t>)</a:t>
            </a:r>
            <a:r>
              <a:rPr lang="zh-CN" altLang="en-US" sz="1400" b="1"/>
              <a:t>：</a:t>
            </a:r>
            <a:endParaRPr lang="zh-CN" altLang="en-US" sz="1400" b="1"/>
          </a:p>
          <a:p>
            <a:pPr algn="l"/>
            <a:r>
              <a:rPr lang="zh-CN" altLang="en-US" sz="1400"/>
              <a:t>优先级数值：</a:t>
            </a:r>
            <a:r>
              <a:rPr lang="en-US" altLang="zh-CN" sz="1400"/>
              <a:t> </a:t>
            </a:r>
            <a:r>
              <a:rPr lang="zh-CN" altLang="en-US" sz="1400"/>
              <a:t>在配置的优先级范围中间区域。</a:t>
            </a:r>
            <a:endParaRPr lang="zh-CN" altLang="en-US" sz="1400"/>
          </a:p>
          <a:p>
            <a:pPr lvl="1" algn="l"/>
            <a:r>
              <a:rPr lang="zh-CN" altLang="en-US" sz="1400"/>
              <a:t>功能角色：</a:t>
            </a:r>
            <a:endParaRPr lang="zh-CN" altLang="en-US" sz="1400"/>
          </a:p>
          <a:p>
            <a:pPr lvl="1" algn="l"/>
            <a:r>
              <a:rPr lang="zh-CN" altLang="en-US" sz="1400"/>
              <a:t>主要的应用程序逻辑：</a:t>
            </a:r>
            <a:r>
              <a:rPr lang="en-US" altLang="zh-CN" sz="1400"/>
              <a:t> </a:t>
            </a:r>
            <a:r>
              <a:rPr lang="zh-CN" altLang="en-US" sz="1400"/>
              <a:t>执行系统大部分常规业务处理的任务。</a:t>
            </a:r>
            <a:endParaRPr lang="zh-CN" altLang="en-US" sz="1400"/>
          </a:p>
          <a:p>
            <a:pPr lvl="1" algn="l"/>
            <a:r>
              <a:rPr lang="zh-CN" altLang="en-US" sz="1400"/>
              <a:t>后台计算</a:t>
            </a:r>
            <a:r>
              <a:rPr lang="en-US" altLang="zh-CN" sz="1400"/>
              <a:t>/</a:t>
            </a:r>
            <a:r>
              <a:rPr lang="zh-CN" altLang="en-US" sz="1400"/>
              <a:t>处理：</a:t>
            </a:r>
            <a:r>
              <a:rPr lang="en-US" altLang="zh-CN" sz="1400"/>
              <a:t> </a:t>
            </a:r>
            <a:r>
              <a:rPr lang="zh-CN" altLang="en-US" sz="1400"/>
              <a:t>不需要严格实时性，但需要持续运行的任务。</a:t>
            </a:r>
            <a:endParaRPr lang="zh-CN" altLang="en-US" sz="1400"/>
          </a:p>
          <a:p>
            <a:pPr lvl="1" algn="l"/>
            <a:r>
              <a:rPr lang="zh-CN" altLang="en-US" sz="1400"/>
              <a:t>较低速的通信处理。</a:t>
            </a:r>
            <a:endParaRPr lang="zh-CN" altLang="en-US" sz="1400"/>
          </a:p>
          <a:p>
            <a:pPr algn="l"/>
            <a:r>
              <a:rPr lang="zh-CN" altLang="en-US" sz="1400"/>
              <a:t>特点：</a:t>
            </a:r>
            <a:r>
              <a:rPr lang="en-US" altLang="zh-CN" sz="1400"/>
              <a:t> </a:t>
            </a:r>
            <a:r>
              <a:rPr lang="zh-CN" altLang="en-US" sz="1400"/>
              <a:t>通常是系统中数量最多的任务。按照调度策略（通常是时间片轮转）共享</a:t>
            </a:r>
            <a:r>
              <a:rPr lang="en-US" altLang="zh-CN" sz="1400"/>
              <a:t> CPU </a:t>
            </a:r>
            <a:r>
              <a:rPr lang="zh-CN" altLang="en-US" sz="1400"/>
              <a:t>时间。会被更高优先级的任务抢占。</a:t>
            </a:r>
            <a:endParaRPr lang="zh-CN" altLang="en-US" sz="1400"/>
          </a:p>
          <a:p>
            <a:pPr algn="l"/>
            <a:endParaRPr lang="en-US" altLang="zh-CN" sz="1400"/>
          </a:p>
          <a:p>
            <a:pPr algn="l"/>
            <a:endParaRPr lang="zh-CN" altLang="en-US" sz="140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 noChangeArrowheads="1"/>
          </p:cNvSpPr>
          <p:nvPr>
            <p:ph type="subTitle" idx="1"/>
          </p:nvPr>
        </p:nvSpPr>
        <p:spPr>
          <a:xfrm>
            <a:off x="500425" y="846935"/>
            <a:ext cx="11542029" cy="4332605"/>
          </a:xfrm>
        </p:spPr>
        <p:txBody>
          <a:bodyPr/>
          <a:p>
            <a:pPr algn="l"/>
            <a:r>
              <a:rPr lang="zh-CN" altLang="en-US" sz="1400" b="1">
                <a:sym typeface="+mn-ea"/>
              </a:rPr>
              <a:t>低优先级</a:t>
            </a:r>
            <a:r>
              <a:rPr altLang="zh-CN" sz="1400" b="1">
                <a:sym typeface="+mn-ea"/>
              </a:rPr>
              <a:t> (Low Priority - </a:t>
            </a:r>
            <a:r>
              <a:rPr lang="zh-CN" altLang="en-US" sz="1400" b="1">
                <a:sym typeface="+mn-ea"/>
              </a:rPr>
              <a:t>非实时</a:t>
            </a:r>
            <a:r>
              <a:rPr altLang="zh-CN" sz="1400" b="1">
                <a:sym typeface="+mn-ea"/>
              </a:rPr>
              <a:t>/</a:t>
            </a:r>
            <a:r>
              <a:rPr lang="zh-CN" altLang="en-US" sz="1400" b="1">
                <a:sym typeface="+mn-ea"/>
              </a:rPr>
              <a:t>后台任务</a:t>
            </a:r>
            <a:r>
              <a:rPr altLang="zh-CN" sz="1400" b="1">
                <a:sym typeface="+mn-ea"/>
              </a:rPr>
              <a:t>)</a:t>
            </a:r>
            <a:r>
              <a:rPr lang="zh-CN" altLang="en-US" sz="1400" b="1">
                <a:sym typeface="+mn-ea"/>
              </a:rPr>
              <a:t>：</a:t>
            </a:r>
            <a:endParaRPr lang="zh-CN" altLang="en-US" sz="1400" b="1"/>
          </a:p>
          <a:p>
            <a:pPr algn="l"/>
            <a:r>
              <a:rPr lang="zh-CN" altLang="en-US" sz="1400">
                <a:sym typeface="+mn-ea"/>
              </a:rPr>
              <a:t>优先级数值：</a:t>
            </a:r>
            <a:r>
              <a:rPr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数值较低（接近</a:t>
            </a:r>
            <a:r>
              <a:rPr altLang="zh-CN" sz="1400">
                <a:sym typeface="+mn-ea"/>
              </a:rPr>
              <a:t> 0</a:t>
            </a:r>
            <a:r>
              <a:rPr lang="zh-CN" altLang="en-US" sz="1400">
                <a:sym typeface="+mn-ea"/>
              </a:rPr>
              <a:t>，但通常高于空闲任务）。</a:t>
            </a:r>
            <a:endParaRPr lang="zh-CN" altLang="en-US" sz="1400"/>
          </a:p>
          <a:p>
            <a:pPr algn="l"/>
            <a:r>
              <a:rPr lang="zh-CN" altLang="en-US" sz="1400">
                <a:sym typeface="+mn-ea"/>
              </a:rPr>
              <a:t>功能角色：</a:t>
            </a:r>
            <a:endParaRPr lang="zh-CN" altLang="en-US" sz="1400"/>
          </a:p>
          <a:p>
            <a:pPr lvl="1" algn="l"/>
            <a:r>
              <a:rPr lang="zh-CN" altLang="en-US" sz="1400">
                <a:sym typeface="+mn-ea"/>
              </a:rPr>
              <a:t>非实时后台任务：</a:t>
            </a:r>
            <a:r>
              <a:rPr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如数据记录（非实时）、统计信息计算、非关键的定期自检。</a:t>
            </a:r>
            <a:endParaRPr lang="zh-CN" altLang="en-US" sz="1400"/>
          </a:p>
          <a:p>
            <a:pPr lvl="1" algn="l"/>
            <a:r>
              <a:rPr lang="zh-CN" altLang="en-US" sz="1400">
                <a:sym typeface="+mn-ea"/>
              </a:rPr>
              <a:t>低优先级事件处理：</a:t>
            </a:r>
            <a:r>
              <a:rPr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处理不紧急的事件或消息。</a:t>
            </a:r>
            <a:endParaRPr lang="zh-CN" altLang="en-US" sz="1400"/>
          </a:p>
          <a:p>
            <a:pPr algn="l"/>
            <a:r>
              <a:rPr lang="zh-CN" altLang="en-US" sz="1400">
                <a:sym typeface="+mn-ea"/>
              </a:rPr>
              <a:t>特点：</a:t>
            </a:r>
            <a:r>
              <a:rPr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只有在没有更高优先级任务就绪时才能运行。执行时间可以较长，对实时性要求很低。</a:t>
            </a:r>
            <a:endParaRPr lang="zh-CN" altLang="en-US" sz="1400"/>
          </a:p>
          <a:p>
            <a:pPr algn="l"/>
            <a:endParaRPr lang="en-US" altLang="zh-CN" sz="1400"/>
          </a:p>
          <a:p>
            <a:pPr algn="l"/>
            <a:r>
              <a:rPr lang="zh-CN" altLang="en-US" sz="1400" b="1">
                <a:sym typeface="+mn-ea"/>
              </a:rPr>
              <a:t>空闲优先级</a:t>
            </a:r>
            <a:r>
              <a:rPr altLang="zh-CN" sz="1400" b="1">
                <a:sym typeface="+mn-ea"/>
              </a:rPr>
              <a:t> (Idle Priority)</a:t>
            </a:r>
            <a:r>
              <a:rPr lang="zh-CN" altLang="en-US" sz="1400" b="1">
                <a:sym typeface="+mn-ea"/>
              </a:rPr>
              <a:t>：</a:t>
            </a:r>
            <a:endParaRPr lang="zh-CN" altLang="en-US" sz="1400" b="1"/>
          </a:p>
          <a:p>
            <a:pPr algn="l"/>
            <a:r>
              <a:rPr lang="zh-CN" altLang="en-US" sz="1400">
                <a:sym typeface="+mn-ea"/>
              </a:rPr>
              <a:t>优先级数值：</a:t>
            </a:r>
            <a:r>
              <a:rPr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固定为</a:t>
            </a:r>
            <a:r>
              <a:rPr altLang="zh-CN" sz="1400">
                <a:sym typeface="+mn-ea"/>
              </a:rPr>
              <a:t> 0</a:t>
            </a:r>
            <a:r>
              <a:rPr lang="zh-CN" altLang="en-US" sz="1400">
                <a:sym typeface="+mn-ea"/>
              </a:rPr>
              <a:t>。这是系统中最低的优先级。</a:t>
            </a:r>
            <a:endParaRPr lang="zh-CN" altLang="en-US" sz="1400"/>
          </a:p>
          <a:p>
            <a:pPr algn="l"/>
            <a:r>
              <a:rPr lang="zh-CN" altLang="en-US" sz="1400">
                <a:sym typeface="+mn-ea"/>
              </a:rPr>
              <a:t>功能角色：</a:t>
            </a:r>
            <a:endParaRPr lang="zh-CN" altLang="en-US" sz="1400"/>
          </a:p>
          <a:p>
            <a:pPr indent="457200" algn="l"/>
            <a:r>
              <a:rPr lang="zh-CN" altLang="en-US" sz="1400">
                <a:sym typeface="+mn-ea"/>
              </a:rPr>
              <a:t>空闲任务</a:t>
            </a:r>
            <a:r>
              <a:rPr altLang="zh-CN" sz="1400">
                <a:sym typeface="+mn-ea"/>
              </a:rPr>
              <a:t> (Idle Task)</a:t>
            </a:r>
            <a:r>
              <a:rPr lang="zh-CN" altLang="en-US" sz="1400">
                <a:sym typeface="+mn-ea"/>
              </a:rPr>
              <a:t>：</a:t>
            </a:r>
            <a:r>
              <a:rPr altLang="zh-CN" sz="1400">
                <a:sym typeface="+mn-ea"/>
              </a:rPr>
              <a:t> FreeRTOS </a:t>
            </a:r>
            <a:r>
              <a:rPr lang="zh-CN" altLang="en-US" sz="1400">
                <a:sym typeface="+mn-ea"/>
              </a:rPr>
              <a:t>内核自动创建的一个特殊任务。当且仅当没有其他任务处于就绪状态</a:t>
            </a:r>
            <a:r>
              <a:rPr altLang="zh-CN" sz="1400">
                <a:sym typeface="+mn-ea"/>
              </a:rPr>
              <a:t> (Ready) </a:t>
            </a:r>
            <a:r>
              <a:rPr lang="zh-CN" altLang="en-US" sz="1400">
                <a:sym typeface="+mn-ea"/>
              </a:rPr>
              <a:t>时，它才会运行。</a:t>
            </a:r>
            <a:endParaRPr lang="zh-CN" altLang="en-US" sz="1400"/>
          </a:p>
          <a:p>
            <a:pPr algn="l"/>
            <a:r>
              <a:rPr lang="zh-CN" altLang="en-US" sz="1400">
                <a:sym typeface="+mn-ea"/>
              </a:rPr>
              <a:t>关键作用：</a:t>
            </a:r>
            <a:endParaRPr lang="zh-CN" altLang="en-US" sz="1400"/>
          </a:p>
          <a:p>
            <a:pPr lvl="1" algn="l"/>
            <a:r>
              <a:rPr lang="zh-CN" altLang="en-US" sz="1400">
                <a:sym typeface="+mn-ea"/>
              </a:rPr>
              <a:t>执行后台清理：</a:t>
            </a:r>
            <a:r>
              <a:rPr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例如，回收被删除任务的内存（如果启用了</a:t>
            </a:r>
            <a:r>
              <a:rPr altLang="zh-CN" sz="1400">
                <a:sym typeface="+mn-ea"/>
              </a:rPr>
              <a:t> configUSE_IDLE_HOOK </a:t>
            </a:r>
            <a:r>
              <a:rPr lang="zh-CN" altLang="en-US" sz="1400">
                <a:sym typeface="+mn-ea"/>
              </a:rPr>
              <a:t>或</a:t>
            </a:r>
            <a:r>
              <a:rPr altLang="zh-CN" sz="1400">
                <a:sym typeface="+mn-ea"/>
              </a:rPr>
              <a:t> configUSE_TICKLESS_IDLE</a:t>
            </a:r>
            <a:r>
              <a:rPr lang="zh-CN" altLang="en-US" sz="1400">
                <a:sym typeface="+mn-ea"/>
              </a:rPr>
              <a:t>）。</a:t>
            </a:r>
            <a:endParaRPr lang="zh-CN" altLang="en-US" sz="1400"/>
          </a:p>
          <a:p>
            <a:pPr lvl="1" algn="l"/>
            <a:r>
              <a:rPr lang="zh-CN" altLang="en-US" sz="1400">
                <a:sym typeface="+mn-ea"/>
              </a:rPr>
              <a:t>实现低功耗</a:t>
            </a:r>
            <a:r>
              <a:rPr altLang="zh-CN" sz="1400">
                <a:sym typeface="+mn-ea"/>
              </a:rPr>
              <a:t> (Tickless Idle)</a:t>
            </a:r>
            <a:r>
              <a:rPr lang="zh-CN" altLang="en-US" sz="1400">
                <a:sym typeface="+mn-ea"/>
              </a:rPr>
              <a:t>：</a:t>
            </a:r>
            <a:r>
              <a:rPr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在空闲任务中，系统可以进入低功耗睡眠模式（如果配置了</a:t>
            </a:r>
            <a:r>
              <a:rPr altLang="zh-CN" sz="1400">
                <a:sym typeface="+mn-ea"/>
              </a:rPr>
              <a:t> Tickless Idle</a:t>
            </a:r>
            <a:r>
              <a:rPr lang="zh-CN" altLang="en-US" sz="1400">
                <a:sym typeface="+mn-ea"/>
              </a:rPr>
              <a:t>）。</a:t>
            </a:r>
            <a:endParaRPr lang="zh-CN" altLang="en-US" sz="1400"/>
          </a:p>
          <a:p>
            <a:pPr lvl="1" algn="l"/>
            <a:r>
              <a:rPr lang="zh-CN" altLang="en-US" sz="1400">
                <a:sym typeface="+mn-ea"/>
              </a:rPr>
              <a:t>运行用户钩子函数</a:t>
            </a:r>
            <a:r>
              <a:rPr altLang="zh-CN" sz="1400">
                <a:sym typeface="+mn-ea"/>
              </a:rPr>
              <a:t> (Idle Hook)</a:t>
            </a:r>
            <a:r>
              <a:rPr lang="zh-CN" altLang="en-US" sz="1400">
                <a:sym typeface="+mn-ea"/>
              </a:rPr>
              <a:t>：</a:t>
            </a:r>
            <a:r>
              <a:rPr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开发者可以注册一个函数</a:t>
            </a:r>
            <a:r>
              <a:rPr altLang="zh-CN" sz="1400">
                <a:sym typeface="+mn-ea"/>
              </a:rPr>
              <a:t> (vApplicationIdleHook)</a:t>
            </a:r>
            <a:r>
              <a:rPr lang="zh-CN" altLang="en-US" sz="1400">
                <a:sym typeface="+mn-ea"/>
              </a:rPr>
              <a:t>，在空闲任务中执行自定义的低优先级后台操作（必须非常短，且不能阻塞！）。</a:t>
            </a:r>
            <a:endParaRPr lang="zh-CN" altLang="en-US" sz="1400"/>
          </a:p>
          <a:p>
            <a:pPr algn="l"/>
            <a:r>
              <a:rPr lang="zh-CN" altLang="en-US" sz="1400">
                <a:sym typeface="+mn-ea"/>
              </a:rPr>
              <a:t>特点：</a:t>
            </a:r>
            <a:r>
              <a:rPr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优先级最低，不可改变。开发者不应手动创建优先级为</a:t>
            </a:r>
            <a:r>
              <a:rPr altLang="zh-CN" sz="1400">
                <a:sym typeface="+mn-ea"/>
              </a:rPr>
              <a:t> 0 </a:t>
            </a:r>
            <a:r>
              <a:rPr lang="zh-CN" altLang="en-US" sz="1400">
                <a:sym typeface="+mn-ea"/>
              </a:rPr>
              <a:t>的任务，以免干扰空闲任务的运行。</a:t>
            </a:r>
            <a:endParaRPr lang="zh-CN" altLang="en-US" sz="140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4" name="文本框 9"/>
          <p:cNvSpPr txBox="1"/>
          <p:nvPr/>
        </p:nvSpPr>
        <p:spPr>
          <a:xfrm>
            <a:off x="147638" y="622300"/>
            <a:ext cx="4619625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任务调度简介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4105" name="文本框 1"/>
          <p:cNvSpPr txBox="1"/>
          <p:nvPr/>
        </p:nvSpPr>
        <p:spPr>
          <a:xfrm>
            <a:off x="523875" y="1641475"/>
            <a:ext cx="3405188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FreeRTOS 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一共支持三种任务调度方式： 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4" name="矩形: 圆角 2"/>
          <p:cNvSpPr/>
          <p:nvPr>
            <p:custDataLst>
              <p:tags r:id="rId1"/>
            </p:custDataLst>
          </p:nvPr>
        </p:nvSpPr>
        <p:spPr>
          <a:xfrm>
            <a:off x="523875" y="2214563"/>
            <a:ext cx="1257300" cy="40005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抢占式调度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3" name="矩形: 圆角 12"/>
          <p:cNvSpPr/>
          <p:nvPr>
            <p:custDataLst>
              <p:tags r:id="rId2"/>
            </p:custDataLst>
          </p:nvPr>
        </p:nvSpPr>
        <p:spPr>
          <a:xfrm>
            <a:off x="523875" y="3800475"/>
            <a:ext cx="1257300" cy="40005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协程式调度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523875" y="2997200"/>
            <a:ext cx="1257300" cy="40005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时间片调度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4110" name="文本框 15"/>
          <p:cNvSpPr txBox="1"/>
          <p:nvPr>
            <p:custDataLst>
              <p:tags r:id="rId4"/>
            </p:custDataLst>
          </p:nvPr>
        </p:nvSpPr>
        <p:spPr>
          <a:xfrm>
            <a:off x="1812925" y="2074863"/>
            <a:ext cx="6807200" cy="704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主要是针对优先级不同的任务，每个任务都有一个优先级，优先级高的任务可以抢占优先级低的任务。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4111" name="文本框 17"/>
          <p:cNvSpPr txBox="1"/>
          <p:nvPr>
            <p:custDataLst>
              <p:tags r:id="rId5"/>
            </p:custDataLst>
          </p:nvPr>
        </p:nvSpPr>
        <p:spPr>
          <a:xfrm>
            <a:off x="1781175" y="2886075"/>
            <a:ext cx="7134225" cy="704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主要针对优先级相同的任务，当多个任务的优先级相同时， 任务调度器会在每一次系统时钟节拍到的时候切换任务。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4112" name="文本框 19"/>
          <p:cNvSpPr txBox="1"/>
          <p:nvPr/>
        </p:nvSpPr>
        <p:spPr>
          <a:xfrm>
            <a:off x="523875" y="1203325"/>
            <a:ext cx="5895975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调度器就是使用相关的调度算法来决定当前需要执行的哪个任务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5" name="文本框 17"/>
          <p:cNvSpPr txBox="1"/>
          <p:nvPr>
            <p:custDataLst>
              <p:tags r:id="rId6"/>
            </p:custDataLst>
          </p:nvPr>
        </p:nvSpPr>
        <p:spPr>
          <a:xfrm>
            <a:off x="1781175" y="3648075"/>
            <a:ext cx="6286500" cy="704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当前执行任务将会一直运行，同时高优先级的任务不会抢占低优先级任务</a:t>
            </a:r>
            <a:endParaRPr lang="en-US" altLang="zh-CN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FreeRTOS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现在虽然还支持，但是官方已经表示不再更新协程式调度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5" grpId="0"/>
      <p:bldP spid="4" grpId="0" bldLvl="0" animBg="1"/>
      <p:bldP spid="13" grpId="0" bldLvl="0" animBg="1"/>
      <p:bldP spid="14" grpId="0" bldLvl="0" animBg="1"/>
      <p:bldP spid="4110" grpId="0"/>
      <p:bldP spid="4111" grpId="0"/>
      <p:bldP spid="4112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8" name="文本框 9"/>
          <p:cNvSpPr txBox="1"/>
          <p:nvPr/>
        </p:nvSpPr>
        <p:spPr>
          <a:xfrm>
            <a:off x="230188" y="898525"/>
            <a:ext cx="2874962" cy="463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抢占式调度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952500" y="2906713"/>
            <a:ext cx="309562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952500" y="1601788"/>
            <a:ext cx="12700" cy="1298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1" name="文本框 12"/>
          <p:cNvSpPr txBox="1"/>
          <p:nvPr/>
        </p:nvSpPr>
        <p:spPr>
          <a:xfrm>
            <a:off x="230188" y="1528763"/>
            <a:ext cx="646112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优先级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5132" name="文本框 15"/>
          <p:cNvSpPr txBox="1"/>
          <p:nvPr/>
        </p:nvSpPr>
        <p:spPr>
          <a:xfrm>
            <a:off x="3641725" y="2933700"/>
            <a:ext cx="492125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时间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073150" y="2620963"/>
            <a:ext cx="558800" cy="22860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631950" y="2384425"/>
            <a:ext cx="558800" cy="22860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2181225" y="2155825"/>
            <a:ext cx="558800" cy="22860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Task3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2730500" y="2371725"/>
            <a:ext cx="558800" cy="22860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3289300" y="2162175"/>
            <a:ext cx="558800" cy="22860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Task3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6913" y="2597150"/>
            <a:ext cx="255588" cy="261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en-US" altLang="zh-CN" sz="1050" kern="1200" cap="none" spc="0" normalizeH="0" baseline="0" noProof="0" dirty="0">
                <a:solidFill>
                  <a:srgbClr val="002060"/>
                </a:solidFill>
                <a:latin typeface="Calibri" panose="020F0502020204030204" pitchFamily="34" charset="0"/>
                <a:ea typeface="+mn-ea"/>
                <a:cs typeface="+mn-cs"/>
              </a:rPr>
              <a:t>1</a:t>
            </a:r>
            <a:endParaRPr kumimoji="0" lang="zh-CN" altLang="en-US" sz="1050" kern="1200" cap="none" spc="0" normalizeH="0" baseline="0" noProof="0" dirty="0">
              <a:solidFill>
                <a:srgbClr val="002060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6913" y="2330450"/>
            <a:ext cx="252413" cy="2524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en-US" altLang="zh-CN" sz="1050" kern="1200" cap="none" spc="0" normalizeH="0" baseline="0" noProof="0" dirty="0">
                <a:solidFill>
                  <a:srgbClr val="002060"/>
                </a:solidFill>
                <a:latin typeface="Calibri" panose="020F0502020204030204" pitchFamily="34" charset="0"/>
                <a:ea typeface="+mn-ea"/>
                <a:cs typeface="+mn-cs"/>
              </a:rPr>
              <a:t>2</a:t>
            </a:r>
            <a:endParaRPr kumimoji="0" lang="zh-CN" altLang="en-US" sz="1050" kern="1200" cap="none" spc="0" normalizeH="0" baseline="0" noProof="0" dirty="0">
              <a:solidFill>
                <a:srgbClr val="002060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6913" y="2095500"/>
            <a:ext cx="252413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en-US" altLang="zh-CN" sz="1050" kern="1200" cap="none" spc="0" normalizeH="0" baseline="0" noProof="0" dirty="0">
                <a:solidFill>
                  <a:srgbClr val="002060"/>
                </a:solidFill>
                <a:latin typeface="Calibri" panose="020F0502020204030204" pitchFamily="34" charset="0"/>
                <a:ea typeface="+mn-ea"/>
                <a:cs typeface="+mn-cs"/>
              </a:rPr>
              <a:t>3</a:t>
            </a:r>
            <a:endParaRPr kumimoji="0" lang="zh-CN" altLang="en-US" sz="1050" kern="1200" cap="none" spc="0" normalizeH="0" baseline="0" noProof="0" dirty="0">
              <a:solidFill>
                <a:srgbClr val="002060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473575" y="2176463"/>
            <a:ext cx="4548188" cy="6175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4572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2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Task1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Task2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Task3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的优先级分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别为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2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3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；在</a:t>
            </a:r>
            <a:r>
              <a:rPr kumimoji="0" lang="en-US" altLang="zh-CN" sz="1200" kern="1200" cap="none" spc="0" normalizeH="0" baseline="0" noProof="0" dirty="0" err="1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FreeRTOS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中任务设置的数值越大，优先级越高，所以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TASK3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的优先级最高。</a:t>
            </a:r>
            <a:endParaRPr kumimoji="0" lang="zh-CN" altLang="en-US" sz="1200" kern="1200" cap="none" spc="0" normalizeH="0" baseline="0" noProof="0" dirty="0">
              <a:solidFill>
                <a:srgbClr val="002060"/>
              </a:solidFill>
              <a:latin typeface="+mn-lt"/>
              <a:ea typeface="思源黑体 CN Normal" pitchFamily="34" charset="-122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495800" y="1528763"/>
            <a:ext cx="1173163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运行条件：</a:t>
            </a:r>
            <a:endParaRPr kumimoji="0" lang="zh-CN" altLang="en-US" sz="1200" kern="1200" cap="none" spc="0" normalizeH="0" baseline="0" noProof="0" dirty="0">
              <a:solidFill>
                <a:srgbClr val="002060"/>
              </a:solidFill>
              <a:latin typeface="+mn-lt"/>
              <a:ea typeface="思源黑体 CN Normal" pitchFamily="34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473575" y="1917700"/>
            <a:ext cx="3633788" cy="277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、创建三个任务：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Task1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Task2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Task3</a:t>
            </a:r>
            <a:endParaRPr kumimoji="0" lang="zh-CN" altLang="en-US" sz="1200" kern="1200" cap="none" spc="0" normalizeH="0" baseline="0" noProof="0" dirty="0">
              <a:solidFill>
                <a:srgbClr val="002060"/>
              </a:solidFill>
              <a:latin typeface="+mn-lt"/>
              <a:ea typeface="思源黑体 CN Normal" pitchFamily="34" charset="-122"/>
              <a:cs typeface="+mn-cs"/>
            </a:endParaRPr>
          </a:p>
        </p:txBody>
      </p:sp>
      <p:cxnSp>
        <p:nvCxnSpPr>
          <p:cNvPr id="4096" name="直接箭头连接符 4095"/>
          <p:cNvCxnSpPr/>
          <p:nvPr/>
        </p:nvCxnSpPr>
        <p:spPr>
          <a:xfrm>
            <a:off x="1384300" y="2322513"/>
            <a:ext cx="241300" cy="296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5" name="文本框 4096"/>
          <p:cNvSpPr txBox="1"/>
          <p:nvPr/>
        </p:nvSpPr>
        <p:spPr>
          <a:xfrm>
            <a:off x="1184275" y="2120900"/>
            <a:ext cx="415925" cy="231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9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抢占</a:t>
            </a:r>
            <a:endParaRPr lang="zh-CN" altLang="en-US" sz="9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1938338" y="2092325"/>
            <a:ext cx="241300" cy="296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7" name="文本框 36"/>
          <p:cNvSpPr txBox="1"/>
          <p:nvPr/>
        </p:nvSpPr>
        <p:spPr>
          <a:xfrm>
            <a:off x="1731963" y="1909763"/>
            <a:ext cx="415925" cy="231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9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抢占</a:t>
            </a:r>
            <a:endParaRPr lang="zh-CN" altLang="en-US" sz="9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cxnSp>
        <p:nvCxnSpPr>
          <p:cNvPr id="4099" name="直接箭头连接符 4098"/>
          <p:cNvCxnSpPr/>
          <p:nvPr/>
        </p:nvCxnSpPr>
        <p:spPr>
          <a:xfrm flipH="1">
            <a:off x="2740025" y="2092325"/>
            <a:ext cx="257175" cy="279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9" name="文本框 39"/>
          <p:cNvSpPr txBox="1"/>
          <p:nvPr/>
        </p:nvSpPr>
        <p:spPr>
          <a:xfrm>
            <a:off x="2798763" y="1868488"/>
            <a:ext cx="415925" cy="230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9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阻塞</a:t>
            </a:r>
            <a:endParaRPr lang="zh-CN" altLang="en-US" sz="9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5150" name="文本框 4099"/>
          <p:cNvSpPr txBox="1"/>
          <p:nvPr/>
        </p:nvSpPr>
        <p:spPr>
          <a:xfrm>
            <a:off x="269875" y="3336925"/>
            <a:ext cx="144145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运行过程如下：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5151" name="文本框 4100"/>
          <p:cNvSpPr txBox="1"/>
          <p:nvPr/>
        </p:nvSpPr>
        <p:spPr>
          <a:xfrm>
            <a:off x="290513" y="3736975"/>
            <a:ext cx="7319962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1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、首先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Task1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在运行中，在这个过程中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就绪了，在抢占式调度器的作用下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会抢占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Task1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的运行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5152" name="文本框 4100"/>
          <p:cNvSpPr txBox="1"/>
          <p:nvPr/>
        </p:nvSpPr>
        <p:spPr>
          <a:xfrm>
            <a:off x="290513" y="4079875"/>
            <a:ext cx="6194425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运行过程中，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就绪了，在抢占式调度器的作用下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会抢占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的运行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5153" name="文本框 4100"/>
          <p:cNvSpPr txBox="1"/>
          <p:nvPr/>
        </p:nvSpPr>
        <p:spPr>
          <a:xfrm>
            <a:off x="290513" y="4418013"/>
            <a:ext cx="7824787" cy="2778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3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运行过程中，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阻塞了（系统延时或等待信号量等），此时就绪态中，优先级最高的任务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执行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5154" name="文本框 4100"/>
          <p:cNvSpPr txBox="1"/>
          <p:nvPr/>
        </p:nvSpPr>
        <p:spPr>
          <a:xfrm>
            <a:off x="290513" y="4719638"/>
            <a:ext cx="70358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4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阻塞解除了（延时到了或者接收到信号量），此时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恢复到就绪态中，抢占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的运行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5155" name="文本框 36"/>
          <p:cNvSpPr txBox="1"/>
          <p:nvPr/>
        </p:nvSpPr>
        <p:spPr>
          <a:xfrm>
            <a:off x="2633663" y="900113"/>
            <a:ext cx="655637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总结：</a:t>
            </a:r>
            <a:endParaRPr lang="en-US" altLang="zh-CN" sz="1200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5156" name="文本框 37"/>
          <p:cNvSpPr txBox="1"/>
          <p:nvPr/>
        </p:nvSpPr>
        <p:spPr>
          <a:xfrm>
            <a:off x="5494338" y="965200"/>
            <a:ext cx="3665537" cy="277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2</a:t>
            </a:r>
            <a:r>
              <a:rPr lang="zh-CN" altLang="en-US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、高优先级任务不停止，低优先级任务无法执行</a:t>
            </a:r>
            <a:endParaRPr lang="zh-CN" altLang="en-US" sz="1200" dirty="0"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5157" name="文本框 39"/>
          <p:cNvSpPr txBox="1"/>
          <p:nvPr/>
        </p:nvSpPr>
        <p:spPr>
          <a:xfrm>
            <a:off x="3195638" y="960438"/>
            <a:ext cx="2184400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1</a:t>
            </a:r>
            <a:r>
              <a:rPr lang="zh-CN" altLang="en-US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、高优先级任务，优先执行</a:t>
            </a:r>
            <a:endParaRPr lang="zh-CN" altLang="en-US" sz="1200" dirty="0"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487988" y="1246188"/>
            <a:ext cx="3665537" cy="279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3</a:t>
            </a:r>
            <a:r>
              <a:rPr lang="zh-CN" altLang="en-US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、被抢占的任务将会进入就绪态</a:t>
            </a:r>
            <a:endParaRPr lang="zh-CN" altLang="en-US" sz="1200" dirty="0"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/>
      <p:bldP spid="5132" grpId="0"/>
      <p:bldP spid="14" grpId="0" bldLvl="0" animBg="1"/>
      <p:bldP spid="18" grpId="0" bldLvl="0" animBg="1"/>
      <p:bldP spid="19" grpId="0" bldLvl="0" animBg="1"/>
      <p:bldP spid="20" grpId="0" bldLvl="0" animBg="1"/>
      <p:bldP spid="22" grpId="0" bldLvl="0" animBg="1"/>
      <p:bldP spid="23" grpId="0"/>
      <p:bldP spid="26" grpId="0"/>
      <p:bldP spid="27" grpId="0"/>
      <p:bldP spid="28" grpId="0"/>
      <p:bldP spid="30" grpId="0"/>
      <p:bldP spid="31" grpId="0"/>
      <p:bldP spid="5145" grpId="0"/>
      <p:bldP spid="5147" grpId="0"/>
      <p:bldP spid="5149" grpId="0"/>
      <p:bldP spid="5150" grpId="0"/>
      <p:bldP spid="5151" grpId="0"/>
      <p:bldP spid="5152" grpId="0"/>
      <p:bldP spid="5153" grpId="0"/>
      <p:bldP spid="5154" grpId="0"/>
      <p:bldP spid="5155" grpId="0"/>
      <p:bldP spid="5156" grpId="0"/>
      <p:bldP spid="5157" grpId="0"/>
      <p:bldP spid="3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2" name="文本框 9"/>
          <p:cNvSpPr txBox="1"/>
          <p:nvPr/>
        </p:nvSpPr>
        <p:spPr>
          <a:xfrm>
            <a:off x="999808" y="1508760"/>
            <a:ext cx="4619625" cy="463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时间片调度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1709420" y="3529648"/>
            <a:ext cx="3270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1722120" y="2327910"/>
            <a:ext cx="0" cy="1195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5" name="文本框 12"/>
          <p:cNvSpPr txBox="1"/>
          <p:nvPr/>
        </p:nvSpPr>
        <p:spPr>
          <a:xfrm>
            <a:off x="999808" y="2305685"/>
            <a:ext cx="722312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优先级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6156" name="文本框 13"/>
          <p:cNvSpPr txBox="1"/>
          <p:nvPr/>
        </p:nvSpPr>
        <p:spPr>
          <a:xfrm>
            <a:off x="4436745" y="3567748"/>
            <a:ext cx="542925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时间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1944370" y="3128010"/>
            <a:ext cx="558800" cy="22860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Task1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511108" y="3128010"/>
            <a:ext cx="558800" cy="22860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Task2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3077845" y="3128010"/>
            <a:ext cx="558800" cy="22860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Task3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3642995" y="3128010"/>
            <a:ext cx="558800" cy="22860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Task1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209733" y="3128010"/>
            <a:ext cx="558800" cy="22860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Task2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511108" y="3458210"/>
            <a:ext cx="0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3077845" y="3458210"/>
            <a:ext cx="0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3642995" y="3459798"/>
            <a:ext cx="0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4214495" y="3459798"/>
            <a:ext cx="0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4765358" y="3456623"/>
            <a:ext cx="0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944370" y="3458210"/>
            <a:ext cx="0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8" name="文本框 23"/>
          <p:cNvSpPr txBox="1"/>
          <p:nvPr/>
        </p:nvSpPr>
        <p:spPr>
          <a:xfrm>
            <a:off x="1874520" y="3694748"/>
            <a:ext cx="711200" cy="231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1</a:t>
            </a:r>
            <a:r>
              <a:rPr lang="zh-CN" altLang="en-US" sz="9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个时间片</a:t>
            </a:r>
            <a:endParaRPr lang="zh-CN" altLang="en-US" sz="9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1947545" y="3529648"/>
            <a:ext cx="0" cy="41275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514283" y="3528060"/>
            <a:ext cx="0" cy="41275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265420" y="2889885"/>
            <a:ext cx="454818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4572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2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Task1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Task2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Task3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的优先级均为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；即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3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个任务同等优先级</a:t>
            </a:r>
            <a:endParaRPr kumimoji="0" lang="zh-CN" altLang="en-US" sz="1200" kern="1200" cap="none" spc="0" normalizeH="0" baseline="0" noProof="0" dirty="0">
              <a:solidFill>
                <a:srgbClr val="002060"/>
              </a:solidFill>
              <a:latin typeface="+mn-lt"/>
              <a:ea typeface="思源黑体 CN Normal" pitchFamily="3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287645" y="2373948"/>
            <a:ext cx="1173163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运行条件：</a:t>
            </a:r>
            <a:endParaRPr kumimoji="0" lang="zh-CN" altLang="en-US" sz="1200" kern="1200" cap="none" spc="0" normalizeH="0" baseline="0" noProof="0" dirty="0">
              <a:solidFill>
                <a:srgbClr val="002060"/>
              </a:solidFill>
              <a:latin typeface="+mn-lt"/>
              <a:ea typeface="思源黑体 CN Normal" pitchFamily="34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265420" y="2631123"/>
            <a:ext cx="3633788" cy="277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  <a:cs typeface="+mn-cs"/>
              </a:rPr>
              <a:t>、创建三个任务：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Task1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Task2</a:t>
            </a:r>
            <a:r>
              <a:rPr kumimoji="0" lang="zh-CN" altLang="en-US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、</a:t>
            </a:r>
            <a:r>
              <a:rPr kumimoji="0" lang="en-US" altLang="zh-CN" sz="1200" kern="1200" cap="none" spc="0" normalizeH="0" baseline="0" noProof="0" dirty="0">
                <a:solidFill>
                  <a:srgbClr val="002060"/>
                </a:solidFill>
                <a:latin typeface="+mn-lt"/>
                <a:ea typeface="思源黑体 CN Normal" pitchFamily="34" charset="-122"/>
                <a:cs typeface="+mn-cs"/>
              </a:rPr>
              <a:t>Task3</a:t>
            </a:r>
            <a:endParaRPr kumimoji="0" lang="zh-CN" altLang="en-US" sz="1200" kern="1200" cap="none" spc="0" normalizeH="0" baseline="0" noProof="0" dirty="0">
              <a:solidFill>
                <a:srgbClr val="002060"/>
              </a:solidFill>
              <a:latin typeface="+mn-lt"/>
              <a:ea typeface="思源黑体 CN Normal" pitchFamily="34" charset="-122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450658" y="3110548"/>
            <a:ext cx="257175" cy="261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457200">
              <a:buClrTx/>
              <a:buSzTx/>
              <a:buFontTx/>
              <a:buNone/>
              <a:defRPr/>
            </a:pPr>
            <a:r>
              <a:rPr kumimoji="0" lang="en-US" altLang="zh-CN" sz="1050" kern="1200" cap="none" spc="0" normalizeH="0" baseline="0" noProof="0" dirty="0">
                <a:solidFill>
                  <a:srgbClr val="002060"/>
                </a:solidFill>
                <a:latin typeface="Calibri" panose="020F0502020204030204" pitchFamily="34" charset="0"/>
                <a:ea typeface="+mn-ea"/>
                <a:cs typeface="+mn-cs"/>
              </a:rPr>
              <a:t>1</a:t>
            </a:r>
            <a:endParaRPr kumimoji="0" lang="zh-CN" altLang="en-US" sz="1050" kern="1200" cap="none" spc="0" normalizeH="0" baseline="0" noProof="0" dirty="0">
              <a:solidFill>
                <a:srgbClr val="002060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4098" name="直接箭头连接符 4097"/>
          <p:cNvCxnSpPr>
            <a:endCxn id="17" idx="0"/>
          </p:cNvCxnSpPr>
          <p:nvPr/>
        </p:nvCxnSpPr>
        <p:spPr>
          <a:xfrm>
            <a:off x="3357245" y="2859723"/>
            <a:ext cx="0" cy="268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0" name="矩形: 圆角 4099"/>
          <p:cNvSpPr/>
          <p:nvPr/>
        </p:nvSpPr>
        <p:spPr>
          <a:xfrm>
            <a:off x="3119120" y="2631123"/>
            <a:ext cx="474663" cy="207963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阻塞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6177" name="文本框 4099"/>
          <p:cNvSpPr txBox="1"/>
          <p:nvPr/>
        </p:nvSpPr>
        <p:spPr>
          <a:xfrm>
            <a:off x="1039495" y="3947160"/>
            <a:ext cx="144145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运行过程如下：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6178" name="文本框 4100"/>
          <p:cNvSpPr txBox="1"/>
          <p:nvPr/>
        </p:nvSpPr>
        <p:spPr>
          <a:xfrm>
            <a:off x="1060133" y="4347210"/>
            <a:ext cx="3848100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1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、首先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Task1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运行完一个时间片后，切换至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运行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6179" name="文本框 4100"/>
          <p:cNvSpPr txBox="1"/>
          <p:nvPr/>
        </p:nvSpPr>
        <p:spPr>
          <a:xfrm>
            <a:off x="1060133" y="4690110"/>
            <a:ext cx="4559300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运行完一个时间片后，切换至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运行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6180" name="文本框 4100"/>
          <p:cNvSpPr txBox="1"/>
          <p:nvPr/>
        </p:nvSpPr>
        <p:spPr>
          <a:xfrm>
            <a:off x="1060133" y="5028248"/>
            <a:ext cx="8561387" cy="2778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3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运行过程中（还不到一个时间片），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阻塞了（系统延时或等待信号量等），此时直接切换到下一个任务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Task1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6181" name="文本框 4100"/>
          <p:cNvSpPr txBox="1"/>
          <p:nvPr/>
        </p:nvSpPr>
        <p:spPr>
          <a:xfrm>
            <a:off x="1060133" y="5329873"/>
            <a:ext cx="3573462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4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Task1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运行完一个时间片后，切换至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运行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6182" name="文本框 42"/>
          <p:cNvSpPr txBox="1"/>
          <p:nvPr/>
        </p:nvSpPr>
        <p:spPr>
          <a:xfrm>
            <a:off x="999808" y="2000885"/>
            <a:ext cx="8683625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FF0000"/>
                </a:solidFill>
                <a:latin typeface="Calibri" panose="020F0502020204030204" pitchFamily="34" charset="0"/>
                <a:ea typeface="思源黑体 CN Normal" pitchFamily="34" charset="-122"/>
              </a:rPr>
              <a:t>同等优先级任务</a:t>
            </a:r>
            <a:r>
              <a:rPr lang="zh-CN" altLang="en-US" sz="12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轮流地享有相同的 </a:t>
            </a:r>
            <a:r>
              <a:rPr lang="en-US" altLang="zh-CN" sz="12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CPU </a:t>
            </a:r>
            <a:r>
              <a:rPr lang="zh-CN" altLang="en-US" sz="12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时间</a:t>
            </a:r>
            <a:r>
              <a:rPr lang="en-US" altLang="zh-CN" sz="1200" dirty="0">
                <a:solidFill>
                  <a:srgbClr val="FF0000"/>
                </a:solidFill>
                <a:latin typeface="Calibri" panose="020F0502020204030204" pitchFamily="34" charset="0"/>
                <a:ea typeface="思源黑体 CN Normal" pitchFamily="34" charset="-122"/>
              </a:rPr>
              <a:t>(</a:t>
            </a:r>
            <a:r>
              <a:rPr lang="zh-CN" altLang="en-US" sz="1200" dirty="0">
                <a:solidFill>
                  <a:srgbClr val="FF0000"/>
                </a:solidFill>
                <a:latin typeface="Calibri" panose="020F0502020204030204" pitchFamily="34" charset="0"/>
                <a:ea typeface="思源黑体 CN Normal" pitchFamily="34" charset="-122"/>
              </a:rPr>
              <a:t>可设置</a:t>
            </a:r>
            <a:r>
              <a:rPr lang="en-US" altLang="zh-CN" sz="1200" dirty="0">
                <a:solidFill>
                  <a:srgbClr val="FF0000"/>
                </a:solidFill>
                <a:latin typeface="Calibri" panose="020F0502020204030204" pitchFamily="34" charset="0"/>
                <a:ea typeface="思源黑体 CN Normal" pitchFamily="34" charset="-122"/>
              </a:rPr>
              <a:t>)</a:t>
            </a:r>
            <a:r>
              <a:rPr lang="zh-CN" altLang="en-US" sz="12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， 叫时间片，在</a:t>
            </a:r>
            <a:r>
              <a:rPr lang="en-US" altLang="zh-CN" sz="12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FreeRTOS</a:t>
            </a:r>
            <a:r>
              <a:rPr lang="zh-CN" altLang="en-US" sz="12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中，</a:t>
            </a:r>
            <a:r>
              <a:rPr lang="zh-CN" altLang="en-US" sz="1200" dirty="0">
                <a:solidFill>
                  <a:srgbClr val="FF0000"/>
                </a:solidFill>
                <a:latin typeface="Calibri" panose="020F0502020204030204" pitchFamily="34" charset="0"/>
                <a:ea typeface="思源黑体 CN Normal" pitchFamily="34" charset="-122"/>
              </a:rPr>
              <a:t>一个时间片就等于</a:t>
            </a:r>
            <a:r>
              <a:rPr lang="en-US" altLang="zh-CN" sz="1200" dirty="0">
                <a:solidFill>
                  <a:srgbClr val="FF0000"/>
                </a:solidFill>
                <a:latin typeface="Calibri" panose="020F0502020204030204" pitchFamily="34" charset="0"/>
                <a:ea typeface="思源黑体 CN Normal" pitchFamily="34" charset="-122"/>
              </a:rPr>
              <a:t>SysTick </a:t>
            </a:r>
            <a:r>
              <a:rPr lang="zh-CN" altLang="en-US" sz="1200" dirty="0">
                <a:solidFill>
                  <a:srgbClr val="FF0000"/>
                </a:solidFill>
                <a:latin typeface="Calibri" panose="020F0502020204030204" pitchFamily="34" charset="0"/>
                <a:ea typeface="思源黑体 CN Normal" pitchFamily="34" charset="-122"/>
              </a:rPr>
              <a:t>中断周期</a:t>
            </a:r>
            <a:endParaRPr lang="zh-CN" altLang="en-US" sz="1200" dirty="0">
              <a:solidFill>
                <a:srgbClr val="FF0000"/>
              </a:solidFill>
              <a:latin typeface="Calibri" panose="020F0502020204030204" pitchFamily="34" charset="0"/>
              <a:ea typeface="思源黑体 CN Normal" pitchFamily="34" charset="-122"/>
            </a:endParaRPr>
          </a:p>
        </p:txBody>
      </p:sp>
      <p:sp>
        <p:nvSpPr>
          <p:cNvPr id="6183" name="文本框 43"/>
          <p:cNvSpPr txBox="1"/>
          <p:nvPr/>
        </p:nvSpPr>
        <p:spPr>
          <a:xfrm>
            <a:off x="5268595" y="3999548"/>
            <a:ext cx="4545013" cy="6175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3</a:t>
            </a:r>
            <a:r>
              <a:rPr lang="zh-CN" altLang="en-US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、注意没有用完的时间片不会再使用，下次任务</a:t>
            </a:r>
            <a:r>
              <a:rPr lang="en-US" altLang="zh-CN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r>
              <a:rPr lang="zh-CN" altLang="en-US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得到执行</a:t>
            </a:r>
            <a:endParaRPr lang="en-US" altLang="zh-CN" sz="1200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还是按照一个时间片的时钟节拍运行</a:t>
            </a:r>
            <a:endParaRPr lang="zh-CN" altLang="en-US" sz="1200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6184" name="文本框 44"/>
          <p:cNvSpPr txBox="1"/>
          <p:nvPr/>
        </p:nvSpPr>
        <p:spPr>
          <a:xfrm>
            <a:off x="5268595" y="3705860"/>
            <a:ext cx="3743325" cy="277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2</a:t>
            </a:r>
            <a:r>
              <a:rPr lang="zh-CN" altLang="en-US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、一个时间片大小，取决为滴答定时器中断周期</a:t>
            </a:r>
            <a:endParaRPr lang="zh-CN" altLang="en-US" sz="1200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41" name="文本框 42"/>
          <p:cNvSpPr txBox="1"/>
          <p:nvPr/>
        </p:nvSpPr>
        <p:spPr>
          <a:xfrm>
            <a:off x="5260658" y="3382010"/>
            <a:ext cx="3282950" cy="277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1</a:t>
            </a:r>
            <a:r>
              <a:rPr lang="zh-CN" altLang="en-US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、同等优先级任务，轮流执行；时间片流转</a:t>
            </a:r>
            <a:endParaRPr lang="zh-CN" altLang="en-US" sz="1200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5" grpId="0"/>
      <p:bldP spid="6156" grpId="0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6168" grpId="0"/>
      <p:bldP spid="36" grpId="0"/>
      <p:bldP spid="37" grpId="0"/>
      <p:bldP spid="38" grpId="0"/>
      <p:bldP spid="39" grpId="0"/>
      <p:bldP spid="4100" grpId="0" bldLvl="0" animBg="1"/>
      <p:bldP spid="6177" grpId="0"/>
      <p:bldP spid="6178" grpId="0"/>
      <p:bldP spid="6179" grpId="0"/>
      <p:bldP spid="6180" grpId="0"/>
      <p:bldP spid="6181" grpId="0"/>
      <p:bldP spid="6182" grpId="0"/>
      <p:bldP spid="6183" grpId="0"/>
      <p:bldP spid="6184" grpId="0"/>
      <p:bldP spid="4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6" name="文本框 9"/>
          <p:cNvSpPr txBox="1"/>
          <p:nvPr/>
        </p:nvSpPr>
        <p:spPr>
          <a:xfrm>
            <a:off x="503238" y="1277620"/>
            <a:ext cx="4619625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任务状态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177" name="文本框 1"/>
          <p:cNvSpPr txBox="1"/>
          <p:nvPr/>
        </p:nvSpPr>
        <p:spPr>
          <a:xfrm>
            <a:off x="858838" y="1907858"/>
            <a:ext cx="2884487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FreeRTOS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中任务共存在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4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种状态：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7" name="矩形: 圆角 2"/>
          <p:cNvSpPr/>
          <p:nvPr>
            <p:custDataLst>
              <p:tags r:id="rId1"/>
            </p:custDataLst>
          </p:nvPr>
        </p:nvSpPr>
        <p:spPr>
          <a:xfrm>
            <a:off x="982663" y="2539683"/>
            <a:ext cx="1118715" cy="313628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、运行态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3" name="矩形: 圆角 12"/>
          <p:cNvSpPr/>
          <p:nvPr>
            <p:custDataLst>
              <p:tags r:id="rId2"/>
            </p:custDataLst>
          </p:nvPr>
        </p:nvSpPr>
        <p:spPr>
          <a:xfrm>
            <a:off x="982663" y="3132990"/>
            <a:ext cx="1118715" cy="313628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、就绪态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982663" y="3726297"/>
            <a:ext cx="1118715" cy="313628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、阻塞态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982663" y="4338320"/>
            <a:ext cx="1098550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、挂起态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7182" name="文本框 15"/>
          <p:cNvSpPr txBox="1"/>
          <p:nvPr>
            <p:custDataLst>
              <p:tags r:id="rId4"/>
            </p:custDataLst>
          </p:nvPr>
        </p:nvSpPr>
        <p:spPr>
          <a:xfrm>
            <a:off x="2101378" y="2544532"/>
            <a:ext cx="751253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正在执行的任务，该任务就处于运行态，注意在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STM32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中，同一时间仅一个任务处于运行态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7183" name="文本框 16"/>
          <p:cNvSpPr txBox="1"/>
          <p:nvPr>
            <p:custDataLst>
              <p:tags r:id="rId5"/>
            </p:custDataLst>
          </p:nvPr>
        </p:nvSpPr>
        <p:spPr>
          <a:xfrm>
            <a:off x="2101378" y="3142690"/>
            <a:ext cx="60397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如果该任务已经能够被执行，但当前还未被执行，那么该任务处于就绪态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7184" name="文本框 17"/>
          <p:cNvSpPr txBox="1"/>
          <p:nvPr>
            <p:custDataLst>
              <p:tags r:id="rId6"/>
            </p:custDataLst>
          </p:nvPr>
        </p:nvSpPr>
        <p:spPr>
          <a:xfrm>
            <a:off x="2101378" y="3740847"/>
            <a:ext cx="5895889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如果一个任务因</a:t>
            </a:r>
            <a:r>
              <a:rPr lang="zh-CN" altLang="en-US" sz="14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延时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或</a:t>
            </a:r>
            <a:r>
              <a:rPr lang="zh-CN" altLang="en-US" sz="14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等待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外部事件发生，那么这个任务就处于阻塞态 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7185" name="文本框 18"/>
          <p:cNvSpPr txBox="1"/>
          <p:nvPr/>
        </p:nvSpPr>
        <p:spPr>
          <a:xfrm>
            <a:off x="2081213" y="4174808"/>
            <a:ext cx="6942137" cy="7048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类似暂停，调用函数 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vTaskSuspend() 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进入挂起态，需要调用解挂函数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vTaskResume()</a:t>
            </a:r>
            <a:endParaRPr lang="en-US" altLang="zh-CN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才可以进入就绪态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" grpId="0"/>
      <p:bldP spid="7" grpId="0" bldLvl="0" animBg="1"/>
      <p:bldP spid="13" grpId="0" bldLvl="0" animBg="1"/>
      <p:bldP spid="14" grpId="0" bldLvl="0" animBg="1"/>
      <p:bldP spid="15" grpId="0" bldLvl="0" animBg="1"/>
      <p:bldP spid="7182" grpId="0"/>
      <p:bldP spid="7183" grpId="0"/>
      <p:bldP spid="7184" grpId="0"/>
      <p:bldP spid="718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文本框 9"/>
          <p:cNvSpPr txBox="1"/>
          <p:nvPr/>
        </p:nvSpPr>
        <p:spPr>
          <a:xfrm>
            <a:off x="1114743" y="1252220"/>
            <a:ext cx="4619625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任务状态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pic>
        <p:nvPicPr>
          <p:cNvPr id="2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755" y="2190433"/>
            <a:ext cx="3689350" cy="3146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文本框 12"/>
          <p:cNvSpPr txBox="1"/>
          <p:nvPr/>
        </p:nvSpPr>
        <p:spPr>
          <a:xfrm>
            <a:off x="1468755" y="1882458"/>
            <a:ext cx="31623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四种任务状态之间的转换图： 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30" name="文本框 12"/>
          <p:cNvSpPr txBox="1"/>
          <p:nvPr/>
        </p:nvSpPr>
        <p:spPr>
          <a:xfrm>
            <a:off x="5158105" y="1882458"/>
            <a:ext cx="31623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4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总结：</a:t>
            </a:r>
            <a:endParaRPr lang="zh-CN" altLang="en-US" sz="1400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31" name="文本框 13"/>
          <p:cNvSpPr txBox="1"/>
          <p:nvPr/>
        </p:nvSpPr>
        <p:spPr>
          <a:xfrm>
            <a:off x="5158105" y="2319020"/>
            <a:ext cx="31623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4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1</a:t>
            </a:r>
            <a:r>
              <a:rPr lang="zh-CN" altLang="en-US" sz="14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、仅就绪态可转变成运行态</a:t>
            </a:r>
            <a:endParaRPr lang="zh-CN" altLang="en-US" sz="1400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32" name="文本框 14"/>
          <p:cNvSpPr txBox="1"/>
          <p:nvPr/>
        </p:nvSpPr>
        <p:spPr>
          <a:xfrm>
            <a:off x="5162868" y="2776220"/>
            <a:ext cx="4225925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4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2</a:t>
            </a:r>
            <a:r>
              <a:rPr lang="zh-CN" altLang="en-US" sz="14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、其他状态的任务想运行，必须先转变成就绪态</a:t>
            </a:r>
            <a:endParaRPr lang="zh-CN" altLang="en-US" sz="1400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4" name="文本框 9"/>
          <p:cNvSpPr txBox="1"/>
          <p:nvPr/>
        </p:nvSpPr>
        <p:spPr>
          <a:xfrm>
            <a:off x="1051878" y="1282065"/>
            <a:ext cx="4619625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任务状态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9225" name="文本框 12"/>
          <p:cNvSpPr txBox="1"/>
          <p:nvPr/>
        </p:nvSpPr>
        <p:spPr>
          <a:xfrm>
            <a:off x="1405890" y="1912303"/>
            <a:ext cx="5487988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FreeRTOS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中无非就四种状态，运行态，就绪态、阻塞态、挂起态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494790" y="2912428"/>
            <a:ext cx="1223963" cy="3175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anose="020B0400000000000000"/>
                <a:cs typeface="+mn-cs"/>
              </a:rPr>
              <a:t>就绪列表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思源黑体 CN Normal" panose="020B0400000000000000"/>
              <a:cs typeface="+mn-cs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494790" y="3393440"/>
            <a:ext cx="1223963" cy="3175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anose="020B0400000000000000"/>
                <a:cs typeface="+mn-cs"/>
              </a:rPr>
              <a:t>阻塞列表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思源黑体 CN Normal" panose="020B0400000000000000"/>
              <a:cs typeface="+mn-cs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494790" y="3866515"/>
            <a:ext cx="1223963" cy="3175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anose="020B0400000000000000"/>
                <a:cs typeface="+mn-cs"/>
              </a:rPr>
              <a:t>挂起列表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思源黑体 CN Normal" panose="020B0400000000000000"/>
              <a:cs typeface="+mn-cs"/>
            </a:endParaRPr>
          </a:p>
        </p:txBody>
      </p:sp>
      <p:sp>
        <p:nvSpPr>
          <p:cNvPr id="9229" name="文本框 15"/>
          <p:cNvSpPr txBox="1"/>
          <p:nvPr/>
        </p:nvSpPr>
        <p:spPr>
          <a:xfrm>
            <a:off x="2718753" y="2891790"/>
            <a:ext cx="40640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pxReadyTasksLists</a:t>
            </a:r>
            <a:r>
              <a:rPr lang="en-US" altLang="zh-CN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[x]</a:t>
            </a:r>
            <a:r>
              <a:rPr lang="zh-CN" altLang="en-US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，其中</a:t>
            </a:r>
            <a:r>
              <a:rPr lang="en-US" altLang="zh-CN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x</a:t>
            </a:r>
            <a:r>
              <a:rPr lang="zh-CN" altLang="en-US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代表任务优先级数值</a:t>
            </a:r>
            <a:endParaRPr lang="zh-CN" altLang="en-US" sz="1400" dirty="0">
              <a:solidFill>
                <a:srgbClr val="002060"/>
              </a:solidFill>
              <a:latin typeface="Calibri" panose="020F0502020204030204" pitchFamily="34" charset="0"/>
              <a:ea typeface="思源黑体 CN Normal" pitchFamily="34" charset="-122"/>
            </a:endParaRPr>
          </a:p>
        </p:txBody>
      </p:sp>
      <p:sp>
        <p:nvSpPr>
          <p:cNvPr id="9230" name="文本框 16"/>
          <p:cNvSpPr txBox="1"/>
          <p:nvPr/>
        </p:nvSpPr>
        <p:spPr>
          <a:xfrm>
            <a:off x="2718753" y="3387090"/>
            <a:ext cx="17526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pxDelayedTaskList</a:t>
            </a:r>
            <a:endParaRPr lang="zh-CN" altLang="en-US" sz="1400" dirty="0">
              <a:solidFill>
                <a:srgbClr val="002060"/>
              </a:solidFill>
              <a:latin typeface="Calibri" panose="020F0502020204030204" pitchFamily="34" charset="0"/>
              <a:ea typeface="思源黑体 CN Normal" pitchFamily="34" charset="-122"/>
            </a:endParaRPr>
          </a:p>
        </p:txBody>
      </p:sp>
      <p:sp>
        <p:nvSpPr>
          <p:cNvPr id="9231" name="文本框 17"/>
          <p:cNvSpPr txBox="1"/>
          <p:nvPr/>
        </p:nvSpPr>
        <p:spPr>
          <a:xfrm>
            <a:off x="2718753" y="3885565"/>
            <a:ext cx="1857375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4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xSuspendedTaskList</a:t>
            </a:r>
            <a:endParaRPr lang="en-US" altLang="zh-CN" sz="14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9232" name="文本框 22"/>
          <p:cNvSpPr txBox="1"/>
          <p:nvPr/>
        </p:nvSpPr>
        <p:spPr>
          <a:xfrm>
            <a:off x="1405890" y="2282190"/>
            <a:ext cx="6916738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这四种状态中，除了运行态，其他三种任务状态的任务都有其对应的任务状态列表 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6576378" y="2755265"/>
            <a:ext cx="223838" cy="1911350"/>
          </a:xfrm>
          <a:prstGeom prst="leftBrace">
            <a:avLst>
              <a:gd name="adj1" fmla="val 8333"/>
              <a:gd name="adj2" fmla="val 1475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7233920" y="2704465"/>
            <a:ext cx="1689735" cy="20828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pxReadyTasksLists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[31]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7233920" y="3056890"/>
            <a:ext cx="1707515" cy="20828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pxReadyTasksLists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[30]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7233920" y="4116070"/>
            <a:ext cx="1725930" cy="20828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pxReadyTasksLists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[1]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7233920" y="3411220"/>
            <a:ext cx="1707515" cy="20828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pxReadyTasksLists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[29]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7233920" y="4463415"/>
            <a:ext cx="1717040" cy="20828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pxReadyTasksLists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[0]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7233920" y="3755390"/>
            <a:ext cx="1761490" cy="20828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itchFamily="34" charset="-122"/>
                <a:cs typeface="+mn-cs"/>
              </a:rPr>
              <a:t>… …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54190" y="2706053"/>
            <a:ext cx="307975" cy="1984375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854190" y="2971165"/>
            <a:ext cx="307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854190" y="3268028"/>
            <a:ext cx="307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6854190" y="3628390"/>
            <a:ext cx="307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6854190" y="4007803"/>
            <a:ext cx="307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6854190" y="4391978"/>
            <a:ext cx="307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793865" y="2726690"/>
            <a:ext cx="427038" cy="231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bit31</a:t>
            </a:r>
            <a:endParaRPr lang="zh-CN" altLang="en-US" sz="9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793865" y="3025140"/>
            <a:ext cx="427038" cy="2301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bit30</a:t>
            </a:r>
            <a:endParaRPr lang="zh-CN" altLang="en-US" sz="9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793865" y="3353753"/>
            <a:ext cx="427038" cy="230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bit29</a:t>
            </a:r>
            <a:endParaRPr lang="zh-CN" altLang="en-US" sz="9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819265" y="3715703"/>
            <a:ext cx="377825" cy="231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… …</a:t>
            </a:r>
            <a:endParaRPr lang="zh-CN" altLang="en-US" sz="9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824028" y="4107815"/>
            <a:ext cx="368300" cy="231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bit1</a:t>
            </a:r>
            <a:endParaRPr lang="zh-CN" altLang="en-US" sz="9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824028" y="4444365"/>
            <a:ext cx="368300" cy="2301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9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bit0</a:t>
            </a:r>
            <a:endParaRPr lang="zh-CN" altLang="en-US" sz="9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22153" y="5050790"/>
            <a:ext cx="5280025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None/>
            </a:pP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32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位的变量，当某个位，置一时，代表所对应的优先级就绪列表有任务存在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16" grpId="0" bldLvl="0" animBg="1"/>
      <p:bldP spid="17" grpId="0" bldLvl="0" animBg="1"/>
      <p:bldP spid="18" grpId="0" bldLvl="0" animBg="1"/>
      <p:bldP spid="9229" grpId="0"/>
      <p:bldP spid="9230" grpId="0"/>
      <p:bldP spid="9231" grpId="0"/>
      <p:bldP spid="9232" grpId="0"/>
      <p:bldP spid="2" grpId="0" bldLvl="0" animBg="1"/>
      <p:bldP spid="3" grpId="0" bldLvl="0" animBg="1"/>
      <p:bldP spid="23" grpId="0" bldLvl="0" animBg="1"/>
      <p:bldP spid="24" grpId="0" bldLvl="0" animBg="1"/>
      <p:bldP spid="27" grpId="0" bldLvl="0" animBg="1"/>
      <p:bldP spid="28" grpId="0" bldLvl="0" animBg="1"/>
      <p:bldP spid="29" grpId="0" bldLvl="0" animBg="1"/>
      <p:bldP spid="8" grpId="0" bldLvl="0" animBg="1"/>
      <p:bldP spid="13" grpId="0"/>
      <p:bldP spid="40" grpId="0"/>
      <p:bldP spid="41" grpId="0"/>
      <p:bldP spid="42" grpId="0"/>
      <p:bldP spid="43" grpId="0"/>
      <p:bldP spid="44" grpId="0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8" name="文本框 9"/>
          <p:cNvSpPr txBox="1"/>
          <p:nvPr/>
        </p:nvSpPr>
        <p:spPr>
          <a:xfrm>
            <a:off x="1233488" y="1352550"/>
            <a:ext cx="4619625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任务状态</a:t>
            </a:r>
            <a:endParaRPr lang="en-US" altLang="zh-CN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619250" y="3006725"/>
            <a:ext cx="1225550" cy="3175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anose="020B0400000000000000"/>
                <a:cs typeface="+mn-cs"/>
              </a:rPr>
              <a:t>就绪列表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思源黑体 CN Normal" panose="020B0400000000000000"/>
              <a:cs typeface="+mn-cs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619250" y="3922713"/>
            <a:ext cx="1225550" cy="315913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anose="020B0400000000000000"/>
                <a:cs typeface="+mn-cs"/>
              </a:rPr>
              <a:t>阻塞列表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思源黑体 CN Normal" panose="020B0400000000000000"/>
              <a:cs typeface="+mn-cs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619250" y="4864100"/>
            <a:ext cx="1225550" cy="315913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思源黑体 CN Normal" panose="020B0400000000000000"/>
                <a:cs typeface="+mn-cs"/>
              </a:rPr>
              <a:t>挂起列表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思源黑体 CN Normal" panose="020B0400000000000000"/>
              <a:cs typeface="+mn-cs"/>
            </a:endParaRPr>
          </a:p>
        </p:txBody>
      </p:sp>
      <p:sp>
        <p:nvSpPr>
          <p:cNvPr id="19" name="文本框 15"/>
          <p:cNvSpPr txBox="1"/>
          <p:nvPr/>
        </p:nvSpPr>
        <p:spPr>
          <a:xfrm>
            <a:off x="2844800" y="2986088"/>
            <a:ext cx="17018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pxReadyTasksLists</a:t>
            </a:r>
            <a:r>
              <a:rPr lang="en-US" altLang="zh-CN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[x]</a:t>
            </a:r>
            <a:endParaRPr lang="zh-CN" altLang="en-US" sz="1400" dirty="0">
              <a:solidFill>
                <a:srgbClr val="002060"/>
              </a:solidFill>
              <a:latin typeface="Calibri" panose="020F0502020204030204" pitchFamily="34" charset="0"/>
              <a:ea typeface="思源黑体 CN Normal" pitchFamily="34" charset="-122"/>
            </a:endParaRPr>
          </a:p>
        </p:txBody>
      </p:sp>
      <p:sp>
        <p:nvSpPr>
          <p:cNvPr id="20" name="文本框 16"/>
          <p:cNvSpPr txBox="1"/>
          <p:nvPr/>
        </p:nvSpPr>
        <p:spPr>
          <a:xfrm>
            <a:off x="2844800" y="3914775"/>
            <a:ext cx="17526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pxDelayedTaskList</a:t>
            </a:r>
            <a:endParaRPr lang="zh-CN" altLang="en-US" sz="1400" dirty="0">
              <a:solidFill>
                <a:srgbClr val="002060"/>
              </a:solidFill>
              <a:latin typeface="Calibri" panose="020F0502020204030204" pitchFamily="34" charset="0"/>
              <a:ea typeface="思源黑体 CN Normal" pitchFamily="34" charset="-122"/>
            </a:endParaRPr>
          </a:p>
        </p:txBody>
      </p:sp>
      <p:sp>
        <p:nvSpPr>
          <p:cNvPr id="21" name="文本框 17"/>
          <p:cNvSpPr txBox="1"/>
          <p:nvPr/>
        </p:nvSpPr>
        <p:spPr>
          <a:xfrm>
            <a:off x="2844800" y="4883150"/>
            <a:ext cx="1857375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400" dirty="0">
                <a:solidFill>
                  <a:srgbClr val="00206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xSuspendedTaskList</a:t>
            </a:r>
            <a:endParaRPr lang="en-US" altLang="zh-CN" sz="1400" dirty="0">
              <a:solidFill>
                <a:srgbClr val="002060"/>
              </a:solidFill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619250" y="1870075"/>
            <a:ext cx="6289675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假设，创建三个任务分别是：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task1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，优先级分别是：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1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2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3</a:t>
            </a:r>
            <a:endParaRPr lang="zh-CN" altLang="en-US" sz="14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676400" y="2359025"/>
            <a:ext cx="601663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task1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2705100" y="2349500"/>
            <a:ext cx="601663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3733800" y="2349500"/>
            <a:ext cx="600075" cy="30797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思源黑体 CN Normal" pitchFamily="34" charset="-122"/>
                <a:ea typeface="思源黑体 CN Normal" pitchFamily="34" charset="-122"/>
                <a:cs typeface="+mn-cs"/>
              </a:rPr>
              <a:t>task3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思源黑体 CN Normal" pitchFamily="34" charset="-122"/>
              <a:ea typeface="思源黑体 CN Normal" pitchFamily="34" charset="-122"/>
              <a:cs typeface="+mn-cs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4460875" y="2657475"/>
            <a:ext cx="176213" cy="8874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637088" y="2524125"/>
            <a:ext cx="18288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pxReadyTasksLists</a:t>
            </a:r>
            <a:r>
              <a:rPr lang="en-US" altLang="zh-CN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[3]</a:t>
            </a:r>
            <a:endParaRPr lang="zh-CN" altLang="en-US" sz="1400" dirty="0">
              <a:solidFill>
                <a:srgbClr val="002060"/>
              </a:solidFill>
              <a:latin typeface="Calibri" panose="020F0502020204030204" pitchFamily="34" charset="0"/>
              <a:ea typeface="思源黑体 CN Normal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637088" y="2927350"/>
            <a:ext cx="18288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pxReadyTasksLists</a:t>
            </a:r>
            <a:r>
              <a:rPr lang="en-US" altLang="zh-CN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[2]</a:t>
            </a:r>
            <a:endParaRPr lang="zh-CN" altLang="en-US" sz="1400" dirty="0">
              <a:solidFill>
                <a:srgbClr val="002060"/>
              </a:solidFill>
              <a:latin typeface="Calibri" panose="020F0502020204030204" pitchFamily="34" charset="0"/>
              <a:ea typeface="思源黑体 CN Normal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637088" y="3330575"/>
            <a:ext cx="18288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pxReadyTasksLists</a:t>
            </a:r>
            <a:r>
              <a:rPr lang="en-US" altLang="zh-CN" sz="14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[1]</a:t>
            </a:r>
            <a:endParaRPr lang="zh-CN" altLang="en-US" sz="1400" dirty="0">
              <a:solidFill>
                <a:srgbClr val="002060"/>
              </a:solidFill>
              <a:latin typeface="Calibri" panose="020F0502020204030204" pitchFamily="34" charset="0"/>
              <a:ea typeface="思源黑体 CN Normal" pitchFamily="34" charset="-122"/>
            </a:endParaRPr>
          </a:p>
        </p:txBody>
      </p:sp>
      <p:sp>
        <p:nvSpPr>
          <p:cNvPr id="10263" name="文本框 24"/>
          <p:cNvSpPr txBox="1"/>
          <p:nvPr/>
        </p:nvSpPr>
        <p:spPr>
          <a:xfrm>
            <a:off x="4546600" y="3852863"/>
            <a:ext cx="5605463" cy="277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FF0000"/>
                </a:solidFill>
                <a:latin typeface="思源黑体 CN Normal" pitchFamily="34" charset="-122"/>
                <a:ea typeface="思源黑体 CN Normal" pitchFamily="34" charset="-122"/>
              </a:rPr>
              <a:t>调度器总是在所有处于就绪列表的任务中，选择具有最高优先级的任务来执行 </a:t>
            </a:r>
            <a:endParaRPr lang="zh-CN" altLang="en-US" sz="1200" dirty="0">
              <a:solidFill>
                <a:srgbClr val="FF000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546600" y="4273550"/>
            <a:ext cx="3733800" cy="27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如果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task1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task2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、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task3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，优先级均为</a:t>
            </a:r>
            <a:r>
              <a:rPr lang="en-US" altLang="zh-CN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1</a:t>
            </a:r>
            <a:r>
              <a:rPr lang="zh-CN" altLang="en-US" sz="1200" dirty="0">
                <a:solidFill>
                  <a:srgbClr val="002060"/>
                </a:solidFill>
                <a:latin typeface="思源黑体 CN Normal" pitchFamily="34" charset="-122"/>
                <a:ea typeface="思源黑体 CN Normal" pitchFamily="34" charset="-122"/>
              </a:rPr>
              <a:t>呢？</a:t>
            </a:r>
            <a:endParaRPr lang="zh-CN" altLang="en-US" sz="1200" dirty="0">
              <a:solidFill>
                <a:srgbClr val="002060"/>
              </a:solidFill>
              <a:latin typeface="思源黑体 CN Normal" pitchFamily="34" charset="-122"/>
              <a:ea typeface="思源黑体 CN Normal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46600" y="4675188"/>
            <a:ext cx="3262313" cy="276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200" dirty="0">
                <a:solidFill>
                  <a:srgbClr val="002060"/>
                </a:solidFill>
                <a:latin typeface="Calibri" panose="020F0502020204030204" pitchFamily="34" charset="0"/>
                <a:ea typeface="思源黑体 CN Normal" pitchFamily="34" charset="-122"/>
              </a:rPr>
              <a:t>相同优先级的任务会连接在同一个就绪列表上</a:t>
            </a:r>
            <a:endParaRPr lang="zh-CN" altLang="en-US" sz="1200" dirty="0">
              <a:latin typeface="Calibri" panose="020F0502020204030204" pitchFamily="34" charset="0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08642E-6 L 0.14965 -3.08642E-6 C 0.21701 -3.08642E-6 0.29982 0.00988 0.29982 0.01821 L 0.29982 0.03642 " pathEditMode="relative" rAng="0" ptsTypes="AAAA">
                                      <p:cBhvr>
                                        <p:cTn id="6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00" y="1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08642E-6 L 0.2059 -3.08642E-6 C 0.29843 -3.08642E-6 0.41232 0.03087 0.41232 0.05618 L 0.41232 0.11327 " pathEditMode="relative" rAng="0" ptsTypes="AAAA">
                                      <p:cBhvr>
                                        <p:cTn id="7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00" y="5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93827E-6 L 0.26198 -4.93827E-6 C 0.37951 -4.93827E-6 0.52413 0.05247 0.52413 0.09507 L 0.52413 0.19044 " pathEditMode="relative" rAng="0" ptsTypes="AAAA">
                                      <p:cBhvr>
                                        <p:cTn id="7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00" y="9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232 0.11327 L 0.45139 0.11327 C 0.46909 0.11327 0.4908 0.13519 0.4908 0.15309 L 0.4908 0.19352 " pathEditMode="relative" rAng="0" ptsTypes="AAAA">
                                      <p:cBhvr>
                                        <p:cTn id="8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0" y="4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982 0.03148 L 0.37604 0.03148 C 0.41041 0.03148 0.45329 0.07562 0.45329 0.11173 L 0.45329 0.19321 " pathEditMode="relative" rAng="0" ptsTypes="AAAA">
                                      <p:cBhvr>
                                        <p:cTn id="9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0" y="8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0" animBg="1"/>
      <p:bldP spid="18" grpId="0" bldLvl="0" animBg="1"/>
      <p:bldP spid="19" grpId="0"/>
      <p:bldP spid="20" grpId="0"/>
      <p:bldP spid="21" grpId="0"/>
      <p:bldP spid="22" grpId="0"/>
      <p:bldP spid="24" grpId="0" bldLvl="0" animBg="1"/>
      <p:bldP spid="24" grpId="1" bldLvl="0" animBg="1"/>
      <p:bldP spid="28" grpId="0" bldLvl="0" animBg="1"/>
      <p:bldP spid="28" grpId="1" bldLvl="0" animBg="1"/>
      <p:bldP spid="28" grpId="2" bldLvl="0" animBg="1"/>
      <p:bldP spid="29" grpId="0" bldLvl="0" animBg="1"/>
      <p:bldP spid="29" grpId="1" bldLvl="0" animBg="1"/>
      <p:bldP spid="29" grpId="2" bldLvl="0" animBg="1"/>
      <p:bldP spid="2" grpId="0" bldLvl="0" animBg="1"/>
      <p:bldP spid="30" grpId="0"/>
      <p:bldP spid="31" grpId="0"/>
      <p:bldP spid="32" grpId="0"/>
      <p:bldP spid="10263" grpId="0"/>
      <p:bldP spid="25" grpId="0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9"/>
          <p:cNvSpPr txBox="1"/>
          <p:nvPr/>
        </p:nvSpPr>
        <p:spPr>
          <a:xfrm>
            <a:off x="1233488" y="1352550"/>
            <a:ext cx="4619625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任务是怎么调度</a:t>
            </a:r>
            <a:r>
              <a:rPr lang="zh-CN" altLang="en-US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的？</a:t>
            </a:r>
            <a:endParaRPr lang="zh-CN" altLang="en-US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13045" y="2517775"/>
            <a:ext cx="5351780" cy="1080770"/>
          </a:xfrm>
        </p:spPr>
        <p:txBody>
          <a:bodyPr wrap="square">
            <a:normAutofit/>
          </a:bodyPr>
          <a:lstStyle/>
          <a:p>
            <a:r>
              <a:rPr>
                <a:sym typeface="+mn-ea"/>
              </a:rPr>
              <a:t>时间管理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rgbClr val="D92142"/>
                </a:solidFill>
                <a:latin typeface="PingFang SC"/>
                <a:ea typeface="PingFang SC"/>
              </a:rPr>
              <a:t>时间</a:t>
            </a:r>
            <a:r>
              <a:rPr lang="zh-CN" altLang="en-US" sz="1600" i="0">
                <a:solidFill>
                  <a:srgbClr val="D92142"/>
                </a:solidFill>
                <a:latin typeface="PingFang SC"/>
                <a:ea typeface="PingFang SC"/>
              </a:rPr>
              <a:t>管理</a:t>
            </a:r>
            <a:endParaRPr lang="zh-CN" altLang="en-US" sz="1600" i="0">
              <a:solidFill>
                <a:srgbClr val="D92142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830" y="1506855"/>
            <a:ext cx="10096500" cy="4101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endParaRPr lang="zh-CN" altLang="en-US">
              <a:sym typeface="+mn-ea"/>
            </a:endParaRPr>
          </a:p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系统时基（tick）与时间片</a:t>
            </a:r>
            <a:endParaRPr>
              <a:sym typeface="+mn-ea"/>
            </a:endParaRPr>
          </a:p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vTaskDelay / vTaskDelayUntil</a:t>
            </a:r>
            <a:endParaRPr>
              <a:sym typeface="+mn-ea"/>
            </a:endParaRPr>
          </a:p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定时器（软件定时器、硬件定时器）</a:t>
            </a:r>
            <a:endParaRPr>
              <a:sym typeface="+mn-ea"/>
            </a:endParaRPr>
          </a:p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延时的精度与功耗影响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13045" y="2517775"/>
            <a:ext cx="5351780" cy="1080770"/>
          </a:xfrm>
        </p:spPr>
        <p:txBody>
          <a:bodyPr wrap="square">
            <a:normAutofit/>
          </a:bodyPr>
          <a:lstStyle/>
          <a:p>
            <a:r>
              <a:rPr>
                <a:sym typeface="+mn-ea"/>
              </a:rPr>
              <a:t>任务间通信与同步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chemeClr val="bg2"/>
                </a:solidFill>
                <a:sym typeface="+mn-ea"/>
              </a:rPr>
              <a:t>任务间通信与同步</a:t>
            </a:r>
            <a:endParaRPr lang="zh-CN" altLang="en-US" sz="1600" i="0">
              <a:solidFill>
                <a:schemeClr val="bg2"/>
              </a:solidFill>
              <a:latin typeface="PingFang SC"/>
              <a:ea typeface="PingFang SC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830" y="1506855"/>
            <a:ext cx="10096500" cy="4101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13045" y="2517775"/>
            <a:ext cx="5351780" cy="1080770"/>
          </a:xfrm>
        </p:spPr>
        <p:txBody>
          <a:bodyPr wrap="square">
            <a:normAutofit/>
          </a:bodyPr>
          <a:lstStyle/>
          <a:p>
            <a:r>
              <a:rPr>
                <a:sym typeface="+mn-ea"/>
              </a:rPr>
              <a:t>内存管理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chemeClr val="bg2"/>
                </a:solidFill>
                <a:sym typeface="+mn-ea"/>
              </a:rPr>
              <a:t>内存管理</a:t>
            </a:r>
            <a:endParaRPr lang="zh-CN" altLang="en-US" sz="1600" i="0">
              <a:solidFill>
                <a:schemeClr val="bg2"/>
              </a:solidFill>
              <a:latin typeface="PingFang SC"/>
              <a:ea typeface="PingFang SC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830" y="1506855"/>
            <a:ext cx="10096500" cy="4101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FreeRTOS 提供的内存管理方案（heap_1 ~ heap_5）</a:t>
            </a:r>
            <a:endParaRPr>
              <a:sym typeface="+mn-ea"/>
            </a:endParaRPr>
          </a:p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任务栈大小估算</a:t>
            </a:r>
            <a:endParaRPr>
              <a:sym typeface="+mn-ea"/>
            </a:endParaRPr>
          </a:p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栈溢出检测</a:t>
            </a:r>
            <a:endParaRPr>
              <a:sym typeface="+mn-ea"/>
            </a:endParaRPr>
          </a:p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动态分配 vs 静态分配</a:t>
            </a:r>
            <a:endParaRPr>
              <a:sym typeface="+mn-ea"/>
            </a:endParaRPr>
          </a:p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内存碎片与泄漏问题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13045" y="2517775"/>
            <a:ext cx="5351780" cy="1080770"/>
          </a:xfrm>
        </p:spPr>
        <p:txBody>
          <a:bodyPr wrap="square">
            <a:normAutofit/>
          </a:bodyPr>
          <a:lstStyle/>
          <a:p>
            <a:r>
              <a:rPr lang="zh-CN">
                <a:sym typeface="+mn-ea"/>
              </a:rPr>
              <a:t>中断</a:t>
            </a:r>
            <a:r>
              <a:rPr lang="zh-CN">
                <a:sym typeface="+mn-ea"/>
              </a:rPr>
              <a:t>管理</a:t>
            </a:r>
            <a:endParaRPr lang="zh-CN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chemeClr val="bg2"/>
                </a:solidFill>
                <a:latin typeface="PingFang SC"/>
                <a:ea typeface="PingFang SC"/>
                <a:sym typeface="+mn-ea"/>
              </a:rPr>
              <a:t>中断</a:t>
            </a:r>
            <a:r>
              <a:rPr lang="zh-CN" altLang="en-US" sz="1600" i="0">
                <a:solidFill>
                  <a:schemeClr val="bg2"/>
                </a:solidFill>
                <a:latin typeface="PingFang SC"/>
                <a:ea typeface="PingFang SC"/>
                <a:sym typeface="+mn-ea"/>
              </a:rPr>
              <a:t>管理</a:t>
            </a:r>
            <a:endParaRPr lang="zh-CN" altLang="en-US" sz="1600" i="0">
              <a:solidFill>
                <a:schemeClr val="bg2"/>
              </a:solidFill>
              <a:latin typeface="PingFang SC"/>
              <a:ea typeface="PingFang SC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830" y="1506855"/>
            <a:ext cx="10096500" cy="4101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13045" y="2517775"/>
            <a:ext cx="5351780" cy="1080770"/>
          </a:xfrm>
        </p:spPr>
        <p:txBody>
          <a:bodyPr wrap="square">
            <a:normAutofit/>
          </a:bodyPr>
          <a:lstStyle/>
          <a:p>
            <a:r>
              <a:rPr lang="zh-CN">
                <a:sym typeface="+mn-ea"/>
              </a:rPr>
              <a:t>钩子</a:t>
            </a:r>
            <a:r>
              <a:rPr lang="zh-CN">
                <a:sym typeface="+mn-ea"/>
              </a:rPr>
              <a:t>函数</a:t>
            </a:r>
            <a:endParaRPr lang="zh-CN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框 3"/>
          <p:cNvSpPr txBox="1"/>
          <p:nvPr/>
        </p:nvSpPr>
        <p:spPr>
          <a:xfrm>
            <a:off x="181293" y="169545"/>
            <a:ext cx="11369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>
                <a:latin typeface="Arial" panose="020B0604020202020204" pitchFamily="34" charset="0"/>
              </a:rPr>
              <a:t>RTOS </a:t>
            </a:r>
            <a:r>
              <a:rPr lang="zh-CN" altLang="en-US">
                <a:latin typeface="Arial" panose="020B0604020202020204" pitchFamily="34" charset="0"/>
              </a:rPr>
              <a:t>基本概念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513" y="918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zh-CN" sz="1600">
                <a:solidFill>
                  <a:schemeClr val="bg2"/>
                </a:solidFill>
                <a:sym typeface="+mn-ea"/>
              </a:rPr>
              <a:t>钩子</a:t>
            </a:r>
            <a:r>
              <a:rPr lang="zh-CN" sz="1600">
                <a:solidFill>
                  <a:schemeClr val="bg2"/>
                </a:solidFill>
                <a:sym typeface="+mn-ea"/>
              </a:rPr>
              <a:t>函数</a:t>
            </a:r>
            <a:endParaRPr lang="zh-CN" sz="160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830" y="1506855"/>
            <a:ext cx="10096500" cy="4101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4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980_4*l_h_i*1_1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2.0862992125984,&quot;top&quot;:136.7815354330709,&quot;width&quot;:463.033700787401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0980_4*l_h_a*1_1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2.0862992125984,&quot;top&quot;:136.7815354330709,&quot;width&quot;:463.033700787401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980_4*l_h_i*1_2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2.0862992125984,&quot;top&quot;:136.7815354330709,&quot;width&quot;:463.033700787401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0980_4*l_h_a*1_2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2.0862992125984,&quot;top&quot;:136.7815354330709,&quot;width&quot;:463.033700787401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980_4*l_h_i*1_3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2.0862992125984,&quot;top&quot;:136.7815354330709,&quot;width&quot;:463.033700787401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0980_4*l_h_a*1_3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2.0862992125984,&quot;top&quot;:136.7815354330709,&quot;width&quot;:463.033700787401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980_4*l_h_i*1_4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2.0862992125984,&quot;top&quot;:136.7815354330709,&quot;width&quot;:463.033700787401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0980_4*l_h_a*1_4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2.0862992125984,&quot;top&quot;:136.7815354330709,&quot;width&quot;:463.0337007874016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980_4*l_h_i*1_4_1"/>
  <p:tag name="KSO_WM_TEMPLATE_CATEGORY" val="custom"/>
  <p:tag name="KSO_WM_TEMPLATE_INDEX" val="2023098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3.28629921259846,&quot;top&quot;:136.7815354330709,&quot;width&quot;:461.833700787401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0980_4*l_h_a*1_4_1"/>
  <p:tag name="KSO_WM_TEMPLATE_CATEGORY" val="custom"/>
  <p:tag name="KSO_WM_TEMPLATE_INDEX" val="2023098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3.28629921259846,&quot;top&quot;:136.7815354330709,&quot;width&quot;:461.833700787401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980_4*l_h_i*1_4_1"/>
  <p:tag name="KSO_WM_TEMPLATE_CATEGORY" val="custom"/>
  <p:tag name="KSO_WM_TEMPLATE_INDEX" val="2023098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3.28629921259846,&quot;top&quot;:136.7815354330709,&quot;width&quot;:461.833700787401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980_4*l_h_i*1_4_1"/>
  <p:tag name="KSO_WM_TEMPLATE_CATEGORY" val="custom"/>
  <p:tag name="KSO_WM_TEMPLATE_INDEX" val="2023098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3.28629921259846,&quot;top&quot;:136.7815354330709,&quot;width&quot;:461.833700787401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0980_4*l_h_a*1_4_1"/>
  <p:tag name="KSO_WM_TEMPLATE_CATEGORY" val="custom"/>
  <p:tag name="KSO_WM_TEMPLATE_INDEX" val="2023098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3.28629921259846,&quot;top&quot;:136.7815354330709,&quot;width&quot;:461.833700787401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980_4*l_h_i*1_4_1"/>
  <p:tag name="KSO_WM_TEMPLATE_CATEGORY" val="custom"/>
  <p:tag name="KSO_WM_TEMPLATE_INDEX" val="2023098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3.28629921259846,&quot;top&quot;:136.7815354330709,&quot;width&quot;:461.833700787401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0980_4*l_h_a*1_4_1"/>
  <p:tag name="KSO_WM_TEMPLATE_CATEGORY" val="custom"/>
  <p:tag name="KSO_WM_TEMPLATE_INDEX" val="2023098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3.28629921259846,&quot;top&quot;:136.7815354330709,&quot;width&quot;:461.833700787401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SLIDE_ID" val="custom2023098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4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SLIDE_ID" val="custom2023098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4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SLIDE_ID" val="custom2023098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98.xml><?xml version="1.0" encoding="utf-8"?>
<p:tagLst xmlns:p="http://schemas.openxmlformats.org/presentationml/2006/main">
  <p:tag name="KSO_WM_DIAGRAM_VIRTUALLY_FRAME" val="{&quot;height&quot;:231.0250393700788,&quot;left&quot;:130.25,&quot;top&quot;:194.5,&quot;width&quot;:683.1250393700788}"/>
</p:tagLst>
</file>

<file path=ppt/tags/tag99.xml><?xml version="1.0" encoding="utf-8"?>
<p:tagLst xmlns:p="http://schemas.openxmlformats.org/presentationml/2006/main">
  <p:tag name="KSO_WM_DIAGRAM_VIRTUALLY_FRAME" val="{&quot;height&quot;:231.0250393700788,&quot;left&quot;:130.25,&quot;top&quot;:194.5,&quot;width&quot;:683.1250393700788}"/>
</p:tagLst>
</file>

<file path=ppt/tags/tag100.xml><?xml version="1.0" encoding="utf-8"?>
<p:tagLst xmlns:p="http://schemas.openxmlformats.org/presentationml/2006/main">
  <p:tag name="KSO_WM_DIAGRAM_VIRTUALLY_FRAME" val="{&quot;height&quot;:231.0250393700788,&quot;left&quot;:130.25,&quot;top&quot;:194.5,&quot;width&quot;:683.1250393700788}"/>
</p:tagLst>
</file>

<file path=ppt/tags/tag101.xml><?xml version="1.0" encoding="utf-8"?>
<p:tagLst xmlns:p="http://schemas.openxmlformats.org/presentationml/2006/main">
  <p:tag name="KSO_WM_DIAGRAM_VIRTUALLY_FRAME" val="{&quot;height&quot;:231.0250393700788,&quot;left&quot;:130.25,&quot;top&quot;:194.5,&quot;width&quot;:683.1250393700788}"/>
</p:tagLst>
</file>

<file path=ppt/tags/tag102.xml><?xml version="1.0" encoding="utf-8"?>
<p:tagLst xmlns:p="http://schemas.openxmlformats.org/presentationml/2006/main">
  <p:tag name="KSO_WM_DIAGRAM_VIRTUALLY_FRAME" val="{&quot;height&quot;:231.0250393700788,&quot;left&quot;:130.25,&quot;top&quot;:194.5,&quot;width&quot;:683.1250393700788}"/>
</p:tagLst>
</file>

<file path=ppt/tags/tag103.xml><?xml version="1.0" encoding="utf-8"?>
<p:tagLst xmlns:p="http://schemas.openxmlformats.org/presentationml/2006/main">
  <p:tag name="KSO_WM_DIAGRAM_VIRTUALLY_FRAME" val="{&quot;height&quot;:231.0250393700788,&quot;left&quot;:130.25,&quot;top&quot;:194.5,&quot;width&quot;:683.1250393700788}"/>
</p:tagLst>
</file>

<file path=ppt/tags/tag104.xml><?xml version="1.0" encoding="utf-8"?>
<p:tagLst xmlns:p="http://schemas.openxmlformats.org/presentationml/2006/main">
  <p:tag name="KSO_WM_DIAGRAM_VIRTUALLY_FRAME" val="{&quot;height&quot;:231.0250393700788,&quot;left&quot;:130.25,&quot;top&quot;:194.5,&quot;width&quot;:683.1250393700788}"/>
</p:tagLst>
</file>

<file path=ppt/tags/tag105.xml><?xml version="1.0" encoding="utf-8"?>
<p:tagLst xmlns:p="http://schemas.openxmlformats.org/presentationml/2006/main">
  <p:tag name="KSO_WM_DIAGRAM_VIRTUALLY_FRAME" val="{&quot;height&quot;:231.0250393700788,&quot;left&quot;:130.25,&quot;top&quot;:194.5,&quot;width&quot;:683.1250393700788}"/>
</p:tagLst>
</file>

<file path=ppt/tags/tag106.xml><?xml version="1.0" encoding="utf-8"?>
<p:tagLst xmlns:p="http://schemas.openxmlformats.org/presentationml/2006/main">
  <p:tag name="KSO_WM_DIAGRAM_VIRTUALLY_FRAME" val="{&quot;height&quot;:231.0250393700788,&quot;left&quot;:130.25,&quot;top&quot;:194.5,&quot;width&quot;:683.1250393700788}"/>
</p:tagLst>
</file>

<file path=ppt/tags/tag107.xml><?xml version="1.0" encoding="utf-8"?>
<p:tagLst xmlns:p="http://schemas.openxmlformats.org/presentationml/2006/main">
  <p:tag name="KSO_WM_DIAGRAM_VIRTUALLY_FRAME" val="{&quot;height&quot;:231.0250393700788,&quot;left&quot;:130.25,&quot;top&quot;:194.5,&quot;width&quot;:683.1250393700788}"/>
</p:tagLst>
</file>

<file path=ppt/tags/tag108.xml><?xml version="1.0" encoding="utf-8"?>
<p:tagLst xmlns:p="http://schemas.openxmlformats.org/presentationml/2006/main">
  <p:tag name="KSO_WM_DIAGRAM_VIRTUALLY_FRAME" val="{&quot;height&quot;:179.37496062992128,&quot;left&quot;:41.25,&quot;top&quot;:163.37503937007872,&quot;width&quot;:660.75}"/>
</p:tagLst>
</file>

<file path=ppt/tags/tag109.xml><?xml version="1.0" encoding="utf-8"?>
<p:tagLst xmlns:p="http://schemas.openxmlformats.org/presentationml/2006/main">
  <p:tag name="KSO_WM_DIAGRAM_VIRTUALLY_FRAME" val="{&quot;height&quot;:179.37496062992128,&quot;left&quot;:41.25,&quot;top&quot;:163.37503937007872,&quot;width&quot;:660.75}"/>
</p:tagLst>
</file>

<file path=ppt/tags/tag110.xml><?xml version="1.0" encoding="utf-8"?>
<p:tagLst xmlns:p="http://schemas.openxmlformats.org/presentationml/2006/main">
  <p:tag name="KSO_WM_DIAGRAM_VIRTUALLY_FRAME" val="{&quot;height&quot;:179.37496062992128,&quot;left&quot;:41.25,&quot;top&quot;:163.37503937007872,&quot;width&quot;:660.75}"/>
</p:tagLst>
</file>

<file path=ppt/tags/tag111.xml><?xml version="1.0" encoding="utf-8"?>
<p:tagLst xmlns:p="http://schemas.openxmlformats.org/presentationml/2006/main">
  <p:tag name="KSO_WM_DIAGRAM_VIRTUALLY_FRAME" val="{&quot;height&quot;:179.37496062992128,&quot;left&quot;:41.25,&quot;top&quot;:163.37503937007872,&quot;width&quot;:660.75}"/>
</p:tagLst>
</file>

<file path=ppt/tags/tag112.xml><?xml version="1.0" encoding="utf-8"?>
<p:tagLst xmlns:p="http://schemas.openxmlformats.org/presentationml/2006/main">
  <p:tag name="KSO_WM_DIAGRAM_VIRTUALLY_FRAME" val="{&quot;height&quot;:179.37496062992128,&quot;left&quot;:41.25,&quot;top&quot;:163.37503937007872,&quot;width&quot;:660.75}"/>
</p:tagLst>
</file>

<file path=ppt/tags/tag113.xml><?xml version="1.0" encoding="utf-8"?>
<p:tagLst xmlns:p="http://schemas.openxmlformats.org/presentationml/2006/main">
  <p:tag name="KSO_WM_DIAGRAM_VIRTUALLY_FRAME" val="{&quot;height&quot;:179.37496062992128,&quot;left&quot;:41.25,&quot;top&quot;:163.37503937007872,&quot;width&quot;:660.75}"/>
</p:tagLst>
</file>

<file path=ppt/tags/tag114.xml><?xml version="1.0" encoding="utf-8"?>
<p:tagLst xmlns:p="http://schemas.openxmlformats.org/presentationml/2006/main">
  <p:tag name="KSO_WM_DIAGRAM_VIRTUALLY_FRAME" val="{&quot;height&quot;:253.425,&quot;left&quot;:49.375,&quot;top&quot;:148.375,&quot;width&quot;:707.6256437367183}"/>
</p:tagLst>
</file>

<file path=ppt/tags/tag115.xml><?xml version="1.0" encoding="utf-8"?>
<p:tagLst xmlns:p="http://schemas.openxmlformats.org/presentationml/2006/main">
  <p:tag name="KSO_WM_DIAGRAM_VIRTUALLY_FRAME" val="{&quot;height&quot;:253.425,&quot;left&quot;:49.375,&quot;top&quot;:148.375,&quot;width&quot;:707.6256437367183}"/>
</p:tagLst>
</file>

<file path=ppt/tags/tag116.xml><?xml version="1.0" encoding="utf-8"?>
<p:tagLst xmlns:p="http://schemas.openxmlformats.org/presentationml/2006/main">
  <p:tag name="KSO_WM_DIAGRAM_VIRTUALLY_FRAME" val="{&quot;height&quot;:253.425,&quot;left&quot;:49.375,&quot;top&quot;:148.375,&quot;width&quot;:707.6256437367183}"/>
</p:tagLst>
</file>

<file path=ppt/tags/tag117.xml><?xml version="1.0" encoding="utf-8"?>
<p:tagLst xmlns:p="http://schemas.openxmlformats.org/presentationml/2006/main">
  <p:tag name="KSO_WM_DIAGRAM_VIRTUALLY_FRAME" val="{&quot;height&quot;:253.425,&quot;left&quot;:49.375,&quot;top&quot;:148.375,&quot;width&quot;:707.6256437367183}"/>
</p:tagLst>
</file>

<file path=ppt/tags/tag118.xml><?xml version="1.0" encoding="utf-8"?>
<p:tagLst xmlns:p="http://schemas.openxmlformats.org/presentationml/2006/main">
  <p:tag name="KSO_WM_DIAGRAM_VIRTUALLY_FRAME" val="{&quot;height&quot;:253.425,&quot;left&quot;:49.375,&quot;top&quot;:148.375,&quot;width&quot;:707.6256437367183}"/>
</p:tagLst>
</file>

<file path=ppt/tags/tag119.xml><?xml version="1.0" encoding="utf-8"?>
<p:tagLst xmlns:p="http://schemas.openxmlformats.org/presentationml/2006/main">
  <p:tag name="KSO_WM_DIAGRAM_VIRTUALLY_FRAME" val="{&quot;height&quot;:253.425,&quot;left&quot;:49.375,&quot;top&quot;:148.375,&quot;width&quot;:707.6256437367183}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4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SLIDE_ID" val="custom2023098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4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SLIDE_ID" val="custom2023098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4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25.xml><?xml version="1.0" encoding="utf-8"?>
<p:tagLst xmlns:p="http://schemas.openxmlformats.org/presentationml/2006/main">
  <p:tag name="KSO_WM_SLIDE_ID" val="custom2023098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4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27.xml><?xml version="1.0" encoding="utf-8"?>
<p:tagLst xmlns:p="http://schemas.openxmlformats.org/presentationml/2006/main">
  <p:tag name="KSO_WM_SLIDE_ID" val="custom2023098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4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29.xml><?xml version="1.0" encoding="utf-8"?>
<p:tagLst xmlns:p="http://schemas.openxmlformats.org/presentationml/2006/main">
  <p:tag name="KSO_WM_SLIDE_ID" val="custom2023098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heme/theme1.xml><?xml version="1.0" encoding="utf-8"?>
<a:theme xmlns:a="http://schemas.openxmlformats.org/drawingml/2006/main" name="Default Design">
  <a:themeElements>
    <a:clrScheme name="WSU Brand HEX">
      <a:dk1>
        <a:srgbClr val="000000"/>
      </a:dk1>
      <a:lt1>
        <a:srgbClr val="FFFFFF"/>
      </a:lt1>
      <a:dk2>
        <a:srgbClr val="003C69"/>
      </a:dk2>
      <a:lt2>
        <a:srgbClr val="DBCEAC"/>
      </a:lt2>
      <a:accent1>
        <a:srgbClr val="981E32"/>
      </a:accent1>
      <a:accent2>
        <a:srgbClr val="5E6A71"/>
      </a:accent2>
      <a:accent3>
        <a:srgbClr val="C60C30"/>
      </a:accent3>
      <a:accent4>
        <a:srgbClr val="EC7A08"/>
      </a:accent4>
      <a:accent5>
        <a:srgbClr val="3CB6CE"/>
      </a:accent5>
      <a:accent6>
        <a:srgbClr val="B6BF00"/>
      </a:accent6>
      <a:hlink>
        <a:srgbClr val="452325"/>
      </a:hlink>
      <a:folHlink>
        <a:srgbClr val="FF00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00"/>
        </a:dk1>
        <a:lt1>
          <a:srgbClr val="FFFFFF"/>
        </a:lt1>
        <a:dk2>
          <a:srgbClr val="0000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A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00"/>
        </a:dk1>
        <a:lt1>
          <a:srgbClr val="FFFFFF"/>
        </a:lt1>
        <a:dk2>
          <a:srgbClr val="0099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C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efault Design">
  <a:themeElements>
    <a:clrScheme name="WSU Brand HEX">
      <a:dk1>
        <a:srgbClr val="000000"/>
      </a:dk1>
      <a:lt1>
        <a:srgbClr val="FFFFFF"/>
      </a:lt1>
      <a:dk2>
        <a:srgbClr val="003C69"/>
      </a:dk2>
      <a:lt2>
        <a:srgbClr val="DBCEAC"/>
      </a:lt2>
      <a:accent1>
        <a:srgbClr val="981E32"/>
      </a:accent1>
      <a:accent2>
        <a:srgbClr val="5E6A71"/>
      </a:accent2>
      <a:accent3>
        <a:srgbClr val="C60C30"/>
      </a:accent3>
      <a:accent4>
        <a:srgbClr val="EC7A08"/>
      </a:accent4>
      <a:accent5>
        <a:srgbClr val="3CB6CE"/>
      </a:accent5>
      <a:accent6>
        <a:srgbClr val="B6BF00"/>
      </a:accent6>
      <a:hlink>
        <a:srgbClr val="452325"/>
      </a:hlink>
      <a:folHlink>
        <a:srgbClr val="FF00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00"/>
        </a:dk1>
        <a:lt1>
          <a:srgbClr val="FFFFFF"/>
        </a:lt1>
        <a:dk2>
          <a:srgbClr val="0000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A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00"/>
        </a:dk1>
        <a:lt1>
          <a:srgbClr val="FFFFFF"/>
        </a:lt1>
        <a:dk2>
          <a:srgbClr val="0099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C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3C69"/>
      </a:dk2>
      <a:lt2>
        <a:srgbClr val="DBCEAC"/>
      </a:lt2>
      <a:accent1>
        <a:srgbClr val="981E32"/>
      </a:accent1>
      <a:accent2>
        <a:srgbClr val="5E6A71"/>
      </a:accent2>
      <a:accent3>
        <a:srgbClr val="C60C30"/>
      </a:accent3>
      <a:accent4>
        <a:srgbClr val="EC7A08"/>
      </a:accent4>
      <a:accent5>
        <a:srgbClr val="3CB6CE"/>
      </a:accent5>
      <a:accent6>
        <a:srgbClr val="B6BF00"/>
      </a:accent6>
      <a:hlink>
        <a:srgbClr val="452325"/>
      </a:hlink>
      <a:folHlink>
        <a:srgbClr val="FF0000"/>
      </a:folHlink>
    </a:clrScheme>
    <a:fontScheme name="主题字体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9138</Words>
  <Application>WPS 演示</Application>
  <PresentationFormat>自定义</PresentationFormat>
  <Paragraphs>765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51</vt:i4>
      </vt:variant>
    </vt:vector>
  </HeadingPairs>
  <TitlesOfParts>
    <vt:vector size="77" baseType="lpstr">
      <vt:lpstr>Arial</vt:lpstr>
      <vt:lpstr>宋体</vt:lpstr>
      <vt:lpstr>Wingdings</vt:lpstr>
      <vt:lpstr>Lucida Sans</vt:lpstr>
      <vt:lpstr>Lucida Sans Unicode</vt:lpstr>
      <vt:lpstr>Calibri</vt:lpstr>
      <vt:lpstr>微软雅黑</vt:lpstr>
      <vt:lpstr>Times New Roman</vt:lpstr>
      <vt:lpstr>冬青黑体简体中文 W6</vt:lpstr>
      <vt:lpstr>黑体</vt:lpstr>
      <vt:lpstr>仿宋</vt:lpstr>
      <vt:lpstr>PingFang SC</vt:lpstr>
      <vt:lpstr>Segoe Print</vt:lpstr>
      <vt:lpstr>Arial Unicode MS</vt:lpstr>
      <vt:lpstr>思源黑体 CN Bold</vt:lpstr>
      <vt:lpstr>思源黑体 CN Normal</vt:lpstr>
      <vt:lpstr>思源黑体 CN Regular</vt:lpstr>
      <vt:lpstr>等线</vt:lpstr>
      <vt:lpstr>思源黑体 CN Normal</vt:lpstr>
      <vt:lpstr>Candara</vt:lpstr>
      <vt:lpstr>CourierNewPSMT</vt:lpstr>
      <vt:lpstr>Courier New</vt:lpstr>
      <vt:lpstr>Default Design</vt:lpstr>
      <vt:lpstr>自定义设计方案</vt:lpstr>
      <vt:lpstr>1_Default Design</vt:lpstr>
      <vt:lpstr>Office 主题​​</vt:lpstr>
      <vt:lpstr>PowerPoint 演示文稿</vt:lpstr>
      <vt:lpstr>PowerPoint 演示文稿</vt:lpstr>
      <vt:lpstr>FreeRTOS</vt:lpstr>
      <vt:lpstr>RTOS 基本概念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RTOS 基本概念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任务与调度机制</vt:lpstr>
      <vt:lpstr>PowerPoint 演示文稿</vt:lpstr>
      <vt:lpstr>时间管理</vt:lpstr>
      <vt:lpstr>PowerPoint 演示文稿</vt:lpstr>
      <vt:lpstr>时间管理</vt:lpstr>
      <vt:lpstr>PowerPoint 演示文稿</vt:lpstr>
      <vt:lpstr>内存管理</vt:lpstr>
      <vt:lpstr>PowerPoint 演示文稿</vt:lpstr>
      <vt:lpstr>中断管理</vt:lpstr>
      <vt:lpstr>PowerPoint 演示文稿</vt:lpstr>
    </vt:vector>
  </TitlesOfParts>
  <Company>Washington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Marketing</dc:creator>
  <cp:lastModifiedBy>企业用户_250283367</cp:lastModifiedBy>
  <cp:revision>654</cp:revision>
  <cp:lastPrinted>2014-04-21T18:27:00Z</cp:lastPrinted>
  <dcterms:created xsi:type="dcterms:W3CDTF">2001-10-04T20:08:00Z</dcterms:created>
  <dcterms:modified xsi:type="dcterms:W3CDTF">2025-08-16T13:37:45Z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C3CCAF5F06344E72BC95475314ED453F_12</vt:lpwstr>
  </property>
  <property fmtid="{D5CDD505-2E9C-101B-9397-08002B2CF9AE}" pid="3" name="KSOProductBuildVer">
    <vt:lpwstr>2052-12.1.0.21915</vt:lpwstr>
  </property>
</Properties>
</file>