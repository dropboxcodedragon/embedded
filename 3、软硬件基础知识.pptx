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75" r:id="rId4"/>
    <p:sldMasterId id="2147483690" r:id="rId5"/>
  </p:sldMasterIdLst>
  <p:notesMasterIdLst>
    <p:notesMasterId r:id="rId103"/>
  </p:notesMasterIdLst>
  <p:handoutMasterIdLst>
    <p:handoutMasterId r:id="rId104"/>
  </p:handoutMasterIdLst>
  <p:sldIdLst>
    <p:sldId id="316" r:id="rId6"/>
    <p:sldId id="320" r:id="rId7"/>
    <p:sldId id="310" r:id="rId8"/>
    <p:sldId id="321" r:id="rId9"/>
    <p:sldId id="318" r:id="rId10"/>
    <p:sldId id="319" r:id="rId11"/>
    <p:sldId id="322" r:id="rId12"/>
    <p:sldId id="323" r:id="rId13"/>
    <p:sldId id="324" r:id="rId14"/>
    <p:sldId id="325" r:id="rId15"/>
    <p:sldId id="326" r:id="rId16"/>
    <p:sldId id="327" r:id="rId17"/>
    <p:sldId id="369" r:id="rId18"/>
    <p:sldId id="328" r:id="rId19"/>
    <p:sldId id="329" r:id="rId20"/>
    <p:sldId id="330" r:id="rId21"/>
    <p:sldId id="331" r:id="rId22"/>
    <p:sldId id="347" r:id="rId23"/>
    <p:sldId id="332" r:id="rId24"/>
    <p:sldId id="344" r:id="rId25"/>
    <p:sldId id="345" r:id="rId26"/>
    <p:sldId id="346" r:id="rId27"/>
    <p:sldId id="333" r:id="rId28"/>
    <p:sldId id="335" r:id="rId29"/>
    <p:sldId id="342" r:id="rId30"/>
    <p:sldId id="339" r:id="rId31"/>
    <p:sldId id="371" r:id="rId32"/>
    <p:sldId id="337" r:id="rId33"/>
    <p:sldId id="340" r:id="rId34"/>
    <p:sldId id="343" r:id="rId35"/>
    <p:sldId id="348" r:id="rId36"/>
    <p:sldId id="349" r:id="rId37"/>
    <p:sldId id="350" r:id="rId38"/>
    <p:sldId id="351" r:id="rId39"/>
    <p:sldId id="352" r:id="rId40"/>
    <p:sldId id="353" r:id="rId41"/>
    <p:sldId id="357" r:id="rId42"/>
    <p:sldId id="372" r:id="rId43"/>
    <p:sldId id="354" r:id="rId44"/>
    <p:sldId id="355" r:id="rId45"/>
    <p:sldId id="356" r:id="rId46"/>
    <p:sldId id="358" r:id="rId47"/>
    <p:sldId id="359" r:id="rId48"/>
    <p:sldId id="360" r:id="rId49"/>
    <p:sldId id="364" r:id="rId50"/>
    <p:sldId id="363" r:id="rId51"/>
    <p:sldId id="361" r:id="rId52"/>
    <p:sldId id="362" r:id="rId53"/>
    <p:sldId id="368" r:id="rId54"/>
    <p:sldId id="365" r:id="rId55"/>
    <p:sldId id="366" r:id="rId56"/>
    <p:sldId id="370" r:id="rId57"/>
    <p:sldId id="377" r:id="rId58"/>
    <p:sldId id="373" r:id="rId59"/>
    <p:sldId id="393" r:id="rId60"/>
    <p:sldId id="374" r:id="rId61"/>
    <p:sldId id="380" r:id="rId62"/>
    <p:sldId id="381" r:id="rId63"/>
    <p:sldId id="382" r:id="rId64"/>
    <p:sldId id="383" r:id="rId65"/>
    <p:sldId id="384" r:id="rId66"/>
    <p:sldId id="385" r:id="rId67"/>
    <p:sldId id="386" r:id="rId68"/>
    <p:sldId id="387" r:id="rId69"/>
    <p:sldId id="398" r:id="rId70"/>
    <p:sldId id="378" r:id="rId71"/>
    <p:sldId id="375" r:id="rId72"/>
    <p:sldId id="388" r:id="rId73"/>
    <p:sldId id="389" r:id="rId74"/>
    <p:sldId id="390" r:id="rId75"/>
    <p:sldId id="391" r:id="rId76"/>
    <p:sldId id="413" r:id="rId77"/>
    <p:sldId id="414" r:id="rId78"/>
    <p:sldId id="379" r:id="rId79"/>
    <p:sldId id="394" r:id="rId80"/>
    <p:sldId id="395" r:id="rId81"/>
    <p:sldId id="396" r:id="rId82"/>
    <p:sldId id="397" r:id="rId83"/>
    <p:sldId id="400" r:id="rId84"/>
    <p:sldId id="401" r:id="rId85"/>
    <p:sldId id="402" r:id="rId86"/>
    <p:sldId id="403" r:id="rId87"/>
    <p:sldId id="404" r:id="rId88"/>
    <p:sldId id="405" r:id="rId89"/>
    <p:sldId id="406" r:id="rId90"/>
    <p:sldId id="407" r:id="rId91"/>
    <p:sldId id="408" r:id="rId92"/>
    <p:sldId id="409" r:id="rId93"/>
    <p:sldId id="411" r:id="rId94"/>
    <p:sldId id="412" r:id="rId95"/>
    <p:sldId id="416" r:id="rId96"/>
    <p:sldId id="417" r:id="rId97"/>
    <p:sldId id="420" r:id="rId98"/>
    <p:sldId id="421" r:id="rId99"/>
    <p:sldId id="423" r:id="rId100"/>
    <p:sldId id="424" r:id="rId101"/>
    <p:sldId id="425" r:id="rId102"/>
  </p:sldIdLst>
  <p:sldSz cx="12186920" cy="7021195"/>
  <p:notesSz cx="9296400" cy="70104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614680" lvl="1" indent="-15748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1228725" lvl="2" indent="-314325"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843405" lvl="3" indent="-471805"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2457450" lvl="4"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orient="horz" pos="711" userDrawn="1">
          <p15:clr>
            <a:srgbClr val="A4A3A4"/>
          </p15:clr>
        </p15:guide>
        <p15:guide id="3" pos="2622" userDrawn="1">
          <p15:clr>
            <a:srgbClr val="A4A3A4"/>
          </p15:clr>
        </p15:guide>
        <p15:guide id="4" pos="5266" userDrawn="1">
          <p15:clr>
            <a:srgbClr val="A4A3A4"/>
          </p15:clr>
        </p15:guide>
        <p15:guide id="5" pos="3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287"/>
    <a:srgbClr val="717171"/>
    <a:srgbClr val="B30000"/>
    <a:srgbClr val="7E0000"/>
    <a:srgbClr val="9E0A26"/>
    <a:srgbClr val="0D9342"/>
    <a:srgbClr val="747474"/>
    <a:srgbClr val="7C7C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83"/>
    <p:restoredTop sz="97673"/>
  </p:normalViewPr>
  <p:slideViewPr>
    <p:cSldViewPr snapToGrid="0" showGuides="1">
      <p:cViewPr varScale="1">
        <p:scale>
          <a:sx n="90" d="100"/>
          <a:sy n="90" d="100"/>
        </p:scale>
        <p:origin x="462" y="51"/>
      </p:cViewPr>
      <p:guideLst>
        <p:guide orient="horz" pos="1609"/>
        <p:guide orient="horz" pos="711"/>
        <p:guide pos="2622"/>
        <p:guide pos="5266"/>
        <p:guide pos="387"/>
      </p:guideLst>
    </p:cSldViewPr>
  </p:slideViewPr>
  <p:notesTextViewPr>
    <p:cViewPr>
      <p:scale>
        <a:sx n="100" d="100"/>
        <a:sy n="100" d="100"/>
      </p:scale>
      <p:origin x="0" y="0"/>
    </p:cViewPr>
  </p:notesTextViewPr>
  <p:sorterViewPr showFormatting="0">
    <p:cViewPr>
      <p:scale>
        <a:sx n="50" d="100"/>
        <a:sy n="50" d="100"/>
      </p:scale>
      <p:origin x="0" y="0"/>
    </p:cViewPr>
  </p:sorter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8" Type="http://schemas.openxmlformats.org/officeDocument/2006/relationships/commentAuthors" Target="commentAuthors.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handoutMaster" Target="handoutMasters/handoutMaster1.xml"/><Relationship Id="rId103" Type="http://schemas.openxmlformats.org/officeDocument/2006/relationships/notesMaster" Target="notesMasters/notesMaster1.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3886200" y="0"/>
            <a:ext cx="4376738" cy="349250"/>
          </a:xfrm>
          <a:prstGeom prst="rect">
            <a:avLst/>
          </a:prstGeom>
          <a:noFill/>
          <a:ln w="9525">
            <a:noFill/>
            <a:miter lim="800000"/>
          </a:ln>
          <a:effectLst/>
        </p:spPr>
        <p:txBody>
          <a:bodyPr vert="horz" wrap="square" lIns="92292" tIns="46146" rIns="92292" bIns="46146" numCol="1" anchor="t" anchorCtr="0" compatLnSpc="1"/>
          <a:lstStyle>
            <a:lvl1pPr defTabSz="922655" eaLnBrk="1" hangingPunct="1">
              <a:defRPr sz="1200">
                <a:latin typeface="Arial" panose="020B0604020202020204" pitchFamily="34" charset="0"/>
              </a:defRPr>
            </a:lvl1pPr>
          </a:lstStyle>
          <a:p>
            <a:pPr marL="0" marR="0" lvl="0" indent="0" algn="l" defTabSz="922655"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5299" name="Rectangle 3"/>
          <p:cNvSpPr>
            <a:spLocks noGrp="1" noChangeArrowheads="1"/>
          </p:cNvSpPr>
          <p:nvPr>
            <p:ph type="dt" sz="quarter" idx="1"/>
          </p:nvPr>
        </p:nvSpPr>
        <p:spPr bwMode="auto">
          <a:xfrm>
            <a:off x="8277225" y="0"/>
            <a:ext cx="1017588" cy="349250"/>
          </a:xfrm>
          <a:prstGeom prst="rect">
            <a:avLst/>
          </a:prstGeom>
          <a:noFill/>
          <a:ln w="9525">
            <a:noFill/>
            <a:miter lim="800000"/>
          </a:ln>
          <a:effectLst/>
        </p:spPr>
        <p:txBody>
          <a:bodyPr vert="horz" wrap="square" lIns="92292" tIns="46146" rIns="92292" bIns="46146" numCol="1" anchor="t" anchorCtr="0" compatLnSpc="1"/>
          <a:lstStyle>
            <a:lvl1pPr algn="r" defTabSz="922655" eaLnBrk="1" hangingPunct="1">
              <a:defRPr sz="1200">
                <a:latin typeface="Arial" panose="020B0604020202020204" pitchFamily="34" charset="0"/>
              </a:defRPr>
            </a:lvl1pPr>
          </a:lstStyle>
          <a:p>
            <a:pPr marL="0" marR="0" lvl="0" indent="0" algn="r" defTabSz="922655" rtl="0" eaLnBrk="1" fontAlgn="base" latinLnBrk="0" hangingPunct="1">
              <a:lnSpc>
                <a:spcPct val="100000"/>
              </a:lnSpc>
              <a:spcBef>
                <a:spcPct val="0"/>
              </a:spcBef>
              <a:spcAft>
                <a:spcPct val="0"/>
              </a:spcAft>
              <a:buClrTx/>
              <a:buSzTx/>
              <a:buFontTx/>
              <a:buNone/>
              <a:defRPr/>
            </a:pPr>
            <a:fld id="{4F236681-7156-4480-AE64-29C68A5EE95B}"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5300" name="Rectangle 4"/>
          <p:cNvSpPr>
            <a:spLocks noGrp="1" noChangeArrowheads="1"/>
          </p:cNvSpPr>
          <p:nvPr>
            <p:ph type="ftr" sz="quarter" idx="2"/>
          </p:nvPr>
        </p:nvSpPr>
        <p:spPr bwMode="auto">
          <a:xfrm>
            <a:off x="0" y="6657975"/>
            <a:ext cx="4027488" cy="350838"/>
          </a:xfrm>
          <a:prstGeom prst="rect">
            <a:avLst/>
          </a:prstGeom>
          <a:noFill/>
          <a:ln w="9525">
            <a:noFill/>
            <a:miter lim="800000"/>
          </a:ln>
          <a:effectLst/>
        </p:spPr>
        <p:txBody>
          <a:bodyPr vert="horz" wrap="square" lIns="92292" tIns="46146" rIns="92292" bIns="46146" numCol="1" anchor="b" anchorCtr="0" compatLnSpc="1"/>
          <a:lstStyle>
            <a:lvl1pPr defTabSz="923925" eaLnBrk="1" hangingPunct="1">
              <a:defRPr sz="1200">
                <a:latin typeface="Arial" panose="020B0604020202020204" pitchFamily="34" charset="0"/>
              </a:defRPr>
            </a:lvl1pPr>
          </a:lstStyle>
          <a:p>
            <a:pPr marL="0" marR="0" lvl="0" indent="0" algn="l" defTabSz="923925"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Template-WSU Hrz 201.ppt</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5301" name="Rectangle 5"/>
          <p:cNvSpPr>
            <a:spLocks noGrp="1" noChangeArrowheads="1"/>
          </p:cNvSpPr>
          <p:nvPr>
            <p:ph type="sldNum" sz="quarter" idx="3"/>
          </p:nvPr>
        </p:nvSpPr>
        <p:spPr bwMode="auto">
          <a:xfrm>
            <a:off x="5265738" y="6657975"/>
            <a:ext cx="4029075" cy="350838"/>
          </a:xfrm>
          <a:prstGeom prst="rect">
            <a:avLst/>
          </a:prstGeom>
          <a:noFill/>
          <a:ln w="9525">
            <a:noFill/>
            <a:miter lim="800000"/>
          </a:ln>
          <a:effectLst/>
        </p:spPr>
        <p:txBody>
          <a:bodyPr vert="horz" wrap="square" lIns="92292" tIns="46146" rIns="92292" bIns="46146" numCol="1" anchor="b" anchorCtr="0" compatLnSpc="1"/>
          <a:lstStyle>
            <a:lvl1pPr algn="r" defTabSz="922655" eaLnBrk="1" hangingPunct="1">
              <a:defRPr sz="1200"/>
            </a:lvl1pPr>
          </a:lstStyle>
          <a:p>
            <a:pPr marL="0" marR="0" lvl="0" indent="0" algn="r" defTabSz="922655" rtl="0" eaLnBrk="1" fontAlgn="base" latinLnBrk="0" hangingPunct="1">
              <a:lnSpc>
                <a:spcPct val="100000"/>
              </a:lnSpc>
              <a:spcBef>
                <a:spcPct val="0"/>
              </a:spcBef>
              <a:spcAft>
                <a:spcPct val="0"/>
              </a:spcAft>
              <a:buClrTx/>
              <a:buSzTx/>
              <a:buFontTx/>
              <a:buNone/>
              <a:defRPr/>
            </a:pPr>
            <a:fld id="{0CCA73A3-3EE7-4293-867F-9B8FBD0D7801}"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 name="TextBox 1"/>
          <p:cNvSpPr txBox="1"/>
          <p:nvPr/>
        </p:nvSpPr>
        <p:spPr>
          <a:xfrm>
            <a:off x="0" y="7938"/>
            <a:ext cx="3757613" cy="275590"/>
          </a:xfrm>
          <a:prstGeom prst="rect">
            <a:avLst/>
          </a:prstGeom>
          <a:noFill/>
        </p:spPr>
        <p:txBody>
          <a:bodyPr lIns="91650" tIns="45825" rIns="91650" bIns="45825">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301"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WASHINGTON STATE UNIVERSITY</a:t>
            </a:r>
            <a:endParaRPr kumimoji="0" lang="en-US" sz="1200" b="0" i="0" u="none" strike="noStrike" kern="1200" cap="none" spc="301"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4027488" cy="349250"/>
          </a:xfrm>
          <a:prstGeom prst="rect">
            <a:avLst/>
          </a:prstGeom>
          <a:noFill/>
          <a:ln w="9525">
            <a:noFill/>
            <a:miter lim="800000"/>
          </a:ln>
          <a:effectLst/>
        </p:spPr>
        <p:txBody>
          <a:bodyPr vert="horz" wrap="square" lIns="92292" tIns="46146" rIns="92292" bIns="46146" numCol="1" anchor="t" anchorCtr="0" compatLnSpc="1"/>
          <a:lstStyle>
            <a:lvl1pPr defTabSz="922655" eaLnBrk="1" hangingPunct="1">
              <a:defRPr sz="1200">
                <a:latin typeface="Arial" panose="020B0604020202020204" pitchFamily="34" charset="0"/>
              </a:defRPr>
            </a:lvl1pPr>
          </a:lstStyle>
          <a:p>
            <a:pPr marL="0" marR="0" lvl="0" indent="0" algn="l" defTabSz="922655"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291" name="Rectangle 3"/>
          <p:cNvSpPr>
            <a:spLocks noGrp="1" noChangeArrowheads="1"/>
          </p:cNvSpPr>
          <p:nvPr>
            <p:ph type="dt" idx="1"/>
          </p:nvPr>
        </p:nvSpPr>
        <p:spPr bwMode="auto">
          <a:xfrm>
            <a:off x="5265738" y="0"/>
            <a:ext cx="4029075" cy="349250"/>
          </a:xfrm>
          <a:prstGeom prst="rect">
            <a:avLst/>
          </a:prstGeom>
          <a:noFill/>
          <a:ln w="9525">
            <a:noFill/>
            <a:miter lim="800000"/>
          </a:ln>
          <a:effectLst/>
        </p:spPr>
        <p:txBody>
          <a:bodyPr vert="horz" wrap="square" lIns="92292" tIns="46146" rIns="92292" bIns="46146" numCol="1" anchor="t" anchorCtr="0" compatLnSpc="1"/>
          <a:lstStyle>
            <a:lvl1pPr algn="r" defTabSz="922655" eaLnBrk="1" hangingPunct="1">
              <a:defRPr sz="1200">
                <a:latin typeface="Arial" panose="020B0604020202020204" pitchFamily="34" charset="0"/>
              </a:defRPr>
            </a:lvl1pPr>
          </a:lstStyle>
          <a:p>
            <a:pPr marL="0" marR="0" lvl="0" indent="0" algn="r" defTabSz="922655" rtl="0" eaLnBrk="1" fontAlgn="base" latinLnBrk="0" hangingPunct="1">
              <a:lnSpc>
                <a:spcPct val="100000"/>
              </a:lnSpc>
              <a:spcBef>
                <a:spcPct val="0"/>
              </a:spcBef>
              <a:spcAft>
                <a:spcPct val="0"/>
              </a:spcAft>
              <a:buClrTx/>
              <a:buSzTx/>
              <a:buFontTx/>
              <a:buNone/>
              <a:defRPr/>
            </a:pPr>
            <a:fld id="{E8555C18-098B-43F1-AC78-45EDEB57A733}"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412" name="Rectangle 4"/>
          <p:cNvSpPr>
            <a:spLocks noGrp="1" noRot="1" noChangeAspect="1" noTextEdit="1"/>
          </p:cNvSpPr>
          <p:nvPr>
            <p:ph type="sldImg"/>
          </p:nvPr>
        </p:nvSpPr>
        <p:spPr>
          <a:xfrm>
            <a:off x="2370138" y="527050"/>
            <a:ext cx="4562475" cy="2628900"/>
          </a:xfrm>
          <a:prstGeom prst="rect">
            <a:avLst/>
          </a:prstGeom>
          <a:noFill/>
          <a:ln w="9525" cap="flat" cmpd="sng">
            <a:solidFill>
              <a:srgbClr val="000000"/>
            </a:solidFill>
            <a:prstDash val="solid"/>
            <a:miter/>
            <a:headEnd type="none" w="med" len="med"/>
            <a:tailEnd type="none" w="med" len="med"/>
          </a:ln>
        </p:spPr>
      </p:sp>
      <p:sp>
        <p:nvSpPr>
          <p:cNvPr id="12293" name="Rectangle 5"/>
          <p:cNvSpPr>
            <a:spLocks noGrp="1" noChangeArrowheads="1"/>
          </p:cNvSpPr>
          <p:nvPr>
            <p:ph type="body" sz="quarter" idx="3"/>
          </p:nvPr>
        </p:nvSpPr>
        <p:spPr bwMode="auto">
          <a:xfrm>
            <a:off x="930275" y="3330575"/>
            <a:ext cx="7435850" cy="3152775"/>
          </a:xfrm>
          <a:prstGeom prst="rect">
            <a:avLst/>
          </a:prstGeom>
          <a:noFill/>
          <a:ln w="9525">
            <a:noFill/>
            <a:miter lim="800000"/>
          </a:ln>
          <a:effectLst/>
        </p:spPr>
        <p:txBody>
          <a:bodyPr vert="horz" wrap="square" lIns="92292" tIns="46146" rIns="92292" bIns="4614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614680" marR="0" lvl="1"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228725" marR="0" lvl="2"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43405" marR="0" lvl="3"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2457450" marR="0" lvl="4"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294" name="Rectangle 6"/>
          <p:cNvSpPr>
            <a:spLocks noGrp="1" noChangeArrowheads="1"/>
          </p:cNvSpPr>
          <p:nvPr>
            <p:ph type="ftr" sz="quarter" idx="4"/>
          </p:nvPr>
        </p:nvSpPr>
        <p:spPr bwMode="auto">
          <a:xfrm>
            <a:off x="0" y="6657975"/>
            <a:ext cx="4027488" cy="350838"/>
          </a:xfrm>
          <a:prstGeom prst="rect">
            <a:avLst/>
          </a:prstGeom>
          <a:noFill/>
          <a:ln w="9525">
            <a:noFill/>
            <a:miter lim="800000"/>
          </a:ln>
          <a:effectLst/>
        </p:spPr>
        <p:txBody>
          <a:bodyPr vert="horz" wrap="square" lIns="92292" tIns="46146" rIns="92292" bIns="46146" numCol="1" anchor="b" anchorCtr="0" compatLnSpc="1"/>
          <a:lstStyle>
            <a:lvl1pPr defTabSz="923925" eaLnBrk="1" hangingPunct="1">
              <a:defRPr sz="1200">
                <a:latin typeface="Arial" panose="020B0604020202020204" pitchFamily="34" charset="0"/>
              </a:defRPr>
            </a:lvl1pPr>
          </a:lstStyle>
          <a:p>
            <a:pPr marL="0" marR="0" lvl="0" indent="0" algn="l" defTabSz="923925"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Template-WSU Hrz 201.ppt</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295" name="Rectangle 7"/>
          <p:cNvSpPr>
            <a:spLocks noGrp="1" noChangeArrowheads="1"/>
          </p:cNvSpPr>
          <p:nvPr>
            <p:ph type="sldNum" sz="quarter" idx="5"/>
          </p:nvPr>
        </p:nvSpPr>
        <p:spPr bwMode="auto">
          <a:xfrm>
            <a:off x="5265738" y="6657975"/>
            <a:ext cx="4029075" cy="350838"/>
          </a:xfrm>
          <a:prstGeom prst="rect">
            <a:avLst/>
          </a:prstGeom>
          <a:noFill/>
          <a:ln w="9525">
            <a:noFill/>
            <a:miter lim="800000"/>
          </a:ln>
          <a:effectLst/>
        </p:spPr>
        <p:txBody>
          <a:bodyPr vert="horz" wrap="square" lIns="92292" tIns="46146" rIns="92292" bIns="46146" numCol="1" anchor="b" anchorCtr="0" compatLnSpc="1"/>
          <a:lstStyle>
            <a:lvl1pPr algn="r" defTabSz="922655" eaLnBrk="1" hangingPunct="1">
              <a:defRPr sz="1200"/>
            </a:lvl1pPr>
          </a:lstStyle>
          <a:p>
            <a:pPr marL="0" marR="0" lvl="0" indent="0" algn="r" defTabSz="922655" rtl="0" eaLnBrk="1" fontAlgn="base" latinLnBrk="0" hangingPunct="1">
              <a:lnSpc>
                <a:spcPct val="100000"/>
              </a:lnSpc>
              <a:spcBef>
                <a:spcPct val="0"/>
              </a:spcBef>
              <a:spcAft>
                <a:spcPct val="0"/>
              </a:spcAft>
              <a:buClrTx/>
              <a:buSzTx/>
              <a:buFontTx/>
              <a:buNone/>
              <a:defRPr/>
            </a:pPr>
            <a:fld id="{32BAE9E6-DFE7-48C6-84B7-49545C10A24D}"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1pPr>
    <a:lvl2pPr marL="61468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1228725"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3pPr>
    <a:lvl4pPr marL="1843405"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4pPr>
    <a:lvl5pPr marL="245745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5pPr>
    <a:lvl6pPr marL="3073400" algn="l" defTabSz="1229360" rtl="0" eaLnBrk="1" latinLnBrk="0" hangingPunct="1">
      <a:defRPr sz="1600" kern="1200">
        <a:solidFill>
          <a:schemeClr val="tx1"/>
        </a:solidFill>
        <a:latin typeface="+mn-lt"/>
        <a:ea typeface="+mn-ea"/>
        <a:cs typeface="+mn-cs"/>
      </a:defRPr>
    </a:lvl6pPr>
    <a:lvl7pPr marL="3688080" algn="l" defTabSz="1229360" rtl="0" eaLnBrk="1" latinLnBrk="0" hangingPunct="1">
      <a:defRPr sz="1600" kern="1200">
        <a:solidFill>
          <a:schemeClr val="tx1"/>
        </a:solidFill>
        <a:latin typeface="+mn-lt"/>
        <a:ea typeface="+mn-ea"/>
        <a:cs typeface="+mn-cs"/>
      </a:defRPr>
    </a:lvl7pPr>
    <a:lvl8pPr marL="4302760" algn="l" defTabSz="1229360" rtl="0" eaLnBrk="1" latinLnBrk="0" hangingPunct="1">
      <a:defRPr sz="1600" kern="1200">
        <a:solidFill>
          <a:schemeClr val="tx1"/>
        </a:solidFill>
        <a:latin typeface="+mn-lt"/>
        <a:ea typeface="+mn-ea"/>
        <a:cs typeface="+mn-cs"/>
      </a:defRPr>
    </a:lvl8pPr>
    <a:lvl9pPr marL="4917440" algn="l" defTabSz="122936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image" Target="../media/image6.pn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image" Target="../media/image7.png"/><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8.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image" Target="../media/image9.png"/><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flipH="1">
            <a:off x="0" y="0"/>
            <a:ext cx="646113" cy="7021513"/>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3079" name="Picture 11"/>
          <p:cNvPicPr>
            <a:picLocks noChangeAspect="1"/>
          </p:cNvPicPr>
          <p:nvPr userDrawn="1"/>
        </p:nvPicPr>
        <p:blipFill>
          <a:blip r:embed="rId2"/>
          <a:srcRect r="36736"/>
          <a:stretch>
            <a:fillRect/>
          </a:stretch>
        </p:blipFill>
        <p:spPr>
          <a:xfrm>
            <a:off x="-9525" y="0"/>
            <a:ext cx="12196763" cy="693738"/>
          </a:xfrm>
          <a:prstGeom prst="rect">
            <a:avLst/>
          </a:prstGeom>
          <a:solidFill>
            <a:srgbClr val="FF0000"/>
          </a:solidFill>
          <a:ln w="9525">
            <a:noFill/>
          </a:ln>
        </p:spPr>
      </p:pic>
      <p:sp>
        <p:nvSpPr>
          <p:cNvPr id="13" name="Rectangle 13"/>
          <p:cNvSpPr/>
          <p:nvPr/>
        </p:nvSpPr>
        <p:spPr bwMode="gray">
          <a:xfrm flipH="1">
            <a:off x="-9525" y="0"/>
            <a:ext cx="644525" cy="693738"/>
          </a:xfrm>
          <a:prstGeom prst="rect">
            <a:avLst/>
          </a:prstGeom>
          <a:gradFill>
            <a:gsLst>
              <a:gs pos="0">
                <a:schemeClr val="tx1">
                  <a:lumMod val="85000"/>
                </a:schemeClr>
              </a:gs>
              <a:gs pos="100000">
                <a:schemeClr val="tx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3081" name="图片 14"/>
          <p:cNvPicPr>
            <a:picLocks noChangeAspect="1"/>
          </p:cNvPicPr>
          <p:nvPr userDrawn="1"/>
        </p:nvPicPr>
        <p:blipFill>
          <a:blip r:embed="rId3"/>
          <a:stretch>
            <a:fillRect/>
          </a:stretch>
        </p:blipFill>
        <p:spPr>
          <a:xfrm>
            <a:off x="28575" y="61913"/>
            <a:ext cx="568325" cy="569912"/>
          </a:xfrm>
          <a:prstGeom prst="rect">
            <a:avLst/>
          </a:prstGeom>
          <a:noFill/>
          <a:ln w="9525">
            <a:noFill/>
          </a:ln>
        </p:spPr>
      </p:pic>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5"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C31438-4DFE-43A2-9E78-3724DF25393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771356" y="-5772944"/>
            <a:ext cx="64452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53990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388FB5-9160-4F34-A476-BD340846AC9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07781" y="-5107781"/>
            <a:ext cx="19716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4070350"/>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8"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14"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B26C6D9-AAF1-4BF0-937E-892E43D18C84}"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4691063" y="-3157537"/>
            <a:ext cx="2805113"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17033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6152"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2" name="日期占位符 1"/>
          <p:cNvSpPr>
            <a:spLocks noGrp="1"/>
          </p:cNvSpPr>
          <p:nvPr>
            <p:ph type="dt" sz="half" idx="10"/>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45088" y="-20637"/>
            <a:ext cx="1897063" cy="12187238"/>
          </a:xfrm>
          <a:prstGeom prst="rect">
            <a:avLst/>
          </a:prstGeom>
          <a:gradFill flip="none" rotWithShape="1">
            <a:gsLst>
              <a:gs pos="0">
                <a:srgbClr val="C00000"/>
              </a:gs>
              <a:gs pos="100000">
                <a:srgbClr val="9E0A2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5991225" y="-1066800"/>
            <a:ext cx="204788" cy="121872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70104-7198-4BD1-AC36-68873D2D364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819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55448" y="1404676"/>
            <a:ext cx="11531790" cy="579812"/>
          </a:xfrm>
        </p:spPr>
        <p:txBody>
          <a:bodyPr/>
          <a:lstStyle>
            <a:lvl1pPr>
              <a:defRPr sz="3200">
                <a:latin typeface="Lucida Sans" pitchFamily="34" charset="0"/>
              </a:defRPr>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1241767" y="2341682"/>
            <a:ext cx="10359152" cy="2155714"/>
          </a:xfrm>
        </p:spPr>
        <p:txBody>
          <a:bodyPr lIns="614660" rIns="614660"/>
          <a:lstStyle>
            <a:lvl1pPr marL="462915" indent="-241300">
              <a:spcBef>
                <a:spcPts val="1615"/>
              </a:spcBef>
              <a:buSzPct val="100000"/>
              <a:buFont typeface="Arial" panose="020B0604020202020204" pitchFamily="34" charset="0"/>
              <a:buChar char="•"/>
              <a:defRPr sz="2700" b="0"/>
            </a:lvl1pPr>
            <a:lvl2pPr marL="685165" indent="-222250">
              <a:spcBef>
                <a:spcPts val="540"/>
              </a:spcBef>
              <a:buSzPct val="75000"/>
              <a:buFont typeface="Lucida Sans" pitchFamily="34" charset="0"/>
              <a:buChar char="–"/>
              <a:defRPr sz="2700"/>
            </a:lvl2pPr>
            <a:lvl3pPr marL="1069340" indent="-295275">
              <a:spcBef>
                <a:spcPts val="540"/>
              </a:spcBef>
              <a:buSzPct val="100000"/>
              <a:buFont typeface="Arial" panose="020B0604020202020204" pitchFamily="34" charset="0"/>
              <a:buChar char="•"/>
              <a:defRPr sz="2200"/>
            </a:lvl3pPr>
            <a:lvl4pPr marL="1229360" indent="-222250">
              <a:spcBef>
                <a:spcPts val="540"/>
              </a:spcBef>
              <a:buSzPct val="100000"/>
              <a:buFont typeface="Lucida Sans" pitchFamily="34" charset="0"/>
              <a:buChar char="–"/>
              <a:defRPr sz="2200"/>
            </a:lvl4pPr>
            <a:lvl5pPr marL="1450975" indent="-222250">
              <a:spcBef>
                <a:spcPts val="540"/>
              </a:spcBef>
              <a:buSzPct val="100000"/>
              <a:buFont typeface="Arial" panose="020B0604020202020204" pitchFamily="34" charset="0"/>
              <a:buChar char="•"/>
              <a:defRPr sz="2200"/>
            </a:lvl5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81250" y="7516813"/>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ADA95E-ED9E-482F-ABFD-6CE64A2D4A2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922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7" name="Rectangle 4"/>
          <p:cNvSpPr>
            <a:spLocks noGrp="1" noChangeArrowheads="1"/>
          </p:cNvSpPr>
          <p:nvPr>
            <p:ph type="ctrTitle"/>
          </p:nvPr>
        </p:nvSpPr>
        <p:spPr>
          <a:xfrm>
            <a:off x="655448" y="864757"/>
            <a:ext cx="11531790" cy="630230"/>
          </a:xfrm>
        </p:spPr>
        <p:txBody>
          <a:bodyPr/>
          <a:lstStyle>
            <a:lvl1pPr algn="ctr">
              <a:lnSpc>
                <a:spcPct val="100000"/>
              </a:lnSpc>
              <a:defRPr sz="3200">
                <a:solidFill>
                  <a:schemeClr val="bg2"/>
                </a:solidFill>
                <a:effectLst/>
              </a:defRPr>
            </a:lvl1pPr>
          </a:lstStyle>
          <a:p>
            <a:pPr fontAlgn="base"/>
            <a:r>
              <a:rPr lang="en-US" strike="noStrike" noProof="1"/>
              <a:t>Click to edit Master title style</a:t>
            </a:r>
            <a:endParaRPr lang="en-US" strike="noStrike" noProof="1"/>
          </a:p>
        </p:txBody>
      </p:sp>
      <p:sp>
        <p:nvSpPr>
          <p:cNvPr id="8" name="Rectangle 5"/>
          <p:cNvSpPr>
            <a:spLocks noGrp="1" noChangeArrowheads="1"/>
          </p:cNvSpPr>
          <p:nvPr>
            <p:ph type="subTitle" idx="1"/>
          </p:nvPr>
        </p:nvSpPr>
        <p:spPr>
          <a:xfrm>
            <a:off x="655448" y="1532366"/>
            <a:ext cx="11531790" cy="588214"/>
          </a:xfrm>
        </p:spPr>
        <p:txBody>
          <a:bodyPr rIns="0"/>
          <a:lstStyle>
            <a:lvl1pPr marL="0" indent="0" algn="ctr">
              <a:buFontTx/>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4A2AC8-C6EE-4E10-A998-D1513153777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024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45208" y="1476597"/>
            <a:ext cx="11542033" cy="579812"/>
          </a:xfrm>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sz="half" idx="1"/>
          </p:nvPr>
        </p:nvSpPr>
        <p:spPr>
          <a:xfrm>
            <a:off x="967057" y="2330051"/>
            <a:ext cx="5334344"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6504518" y="2330051"/>
            <a:ext cx="5291197"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7A510D-99EA-450F-A733-49970FAE03E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127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2" y="1245917"/>
            <a:ext cx="11577876" cy="579812"/>
          </a:xfrm>
        </p:spPr>
        <p:txBody>
          <a:bodyPr/>
          <a:lstStyle>
            <a:lvl1pPr>
              <a:defRPr/>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916605" y="2092378"/>
            <a:ext cx="5384813"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endParaRPr lang="en-US" strike="noStrike" noProof="1"/>
          </a:p>
        </p:txBody>
      </p:sp>
      <p:sp>
        <p:nvSpPr>
          <p:cNvPr id="4" name="Content Placeholder 3"/>
          <p:cNvSpPr>
            <a:spLocks noGrp="1"/>
          </p:cNvSpPr>
          <p:nvPr>
            <p:ph sz="half" idx="2"/>
          </p:nvPr>
        </p:nvSpPr>
        <p:spPr>
          <a:xfrm>
            <a:off x="916603" y="2683987"/>
            <a:ext cx="5384813"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Text Placeholder 4"/>
          <p:cNvSpPr>
            <a:spLocks noGrp="1"/>
          </p:cNvSpPr>
          <p:nvPr>
            <p:ph type="body" sz="quarter" idx="3"/>
          </p:nvPr>
        </p:nvSpPr>
        <p:spPr>
          <a:xfrm>
            <a:off x="6498192" y="2092378"/>
            <a:ext cx="5386928"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6498191" y="2683987"/>
            <a:ext cx="5386928"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1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1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1436D3D-CAEA-4384-88C1-9AC1E84A4E98}"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229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24724" y="2042479"/>
            <a:ext cx="11562514" cy="579812"/>
          </a:xfrm>
        </p:spPr>
        <p:txBody>
          <a:bodyPr/>
          <a:lstStyle/>
          <a:p>
            <a:pPr fontAlgn="base"/>
            <a:r>
              <a:rPr lang="en-US" strike="noStrike" noProof="1"/>
              <a:t>Click to edit Master title style</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0F4618-6A8D-4B87-BA21-9E1344F61FF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331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5664E-C931-454D-B62B-E550BCDD2E89}"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434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5" y="804272"/>
            <a:ext cx="4009517" cy="1260460"/>
          </a:xfrm>
        </p:spPr>
        <p:txBody>
          <a:bodyPr/>
          <a:lstStyle>
            <a:lvl1pPr algn="l">
              <a:defRPr sz="2700" b="1"/>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4764873" y="1402991"/>
            <a:ext cx="6813006" cy="2483104"/>
          </a:xfrm>
        </p:spPr>
        <p:txBody>
          <a:bodyPr/>
          <a:lstStyle>
            <a:lvl1pPr marL="222250" indent="-222250">
              <a:buSzPct val="125000"/>
              <a:buFont typeface="Arial" panose="020B0604020202020204" pitchFamily="34" charset="0"/>
              <a:buChar char="•"/>
              <a:defRPr lang="en-US" sz="3200" b="0" dirty="0" smtClean="0">
                <a:solidFill>
                  <a:schemeClr val="bg2"/>
                </a:solidFill>
                <a:latin typeface="Lucida Sans" pitchFamily="34" charset="0"/>
                <a:ea typeface="+mn-ea"/>
                <a:cs typeface="+mn-cs"/>
              </a:defRPr>
            </a:lvl1pPr>
            <a:lvl2pPr marL="614680" indent="-222250" defTabSz="1229360">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2pPr>
            <a:lvl3pPr>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3pPr>
            <a:lvl4pPr marL="1310640" indent="-243205">
              <a:buSzPct val="125000"/>
              <a:buFont typeface="Arial" panose="020B0604020202020204" pitchFamily="34" charset="0"/>
              <a:buChar char="•"/>
              <a:defRPr lang="en-US" sz="2700" dirty="0" smtClean="0">
                <a:solidFill>
                  <a:schemeClr val="bg2"/>
                </a:solidFill>
                <a:latin typeface="Lucida Sans" pitchFamily="34" charset="0"/>
                <a:ea typeface="+mn-ea"/>
                <a:cs typeface="+mn-cs"/>
              </a:defRPr>
            </a:lvl4pPr>
            <a:lvl5pPr>
              <a:buSzPct val="125000"/>
              <a:buFont typeface="Arial" panose="020B0604020202020204" pitchFamily="34" charset="0"/>
              <a:buChar char="•"/>
              <a:defRPr lang="en-US" sz="2700" dirty="0">
                <a:solidFill>
                  <a:schemeClr val="bg2"/>
                </a:solidFill>
                <a:latin typeface="Lucida Sans" pitchFamily="34" charset="0"/>
                <a:ea typeface="+mn-ea"/>
                <a:cs typeface="+mn-cs"/>
              </a:defRPr>
            </a:lvl5pPr>
            <a:lvl6pPr>
              <a:defRPr sz="2700"/>
            </a:lvl6pPr>
            <a:lvl7pPr>
              <a:defRPr sz="2700"/>
            </a:lvl7pPr>
            <a:lvl8pPr>
              <a:defRPr sz="2700"/>
            </a:lvl8pPr>
            <a:lvl9pPr>
              <a:defRPr sz="27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Text Placeholder 3"/>
          <p:cNvSpPr>
            <a:spLocks noGrp="1"/>
          </p:cNvSpPr>
          <p:nvPr>
            <p:ph type="body" sz="half" idx="2"/>
          </p:nvPr>
        </p:nvSpPr>
        <p:spPr>
          <a:xfrm>
            <a:off x="609365" y="2592747"/>
            <a:ext cx="4009517"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201577E-4725-42A5-AEB8-A6992A795B0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536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2388784" y="5426260"/>
            <a:ext cx="7312343" cy="504184"/>
          </a:xfrm>
        </p:spPr>
        <p:txBody>
          <a:bodyPr/>
          <a:lstStyle>
            <a:lvl1pPr algn="l">
              <a:defRPr sz="2700" b="1"/>
            </a:lvl1pPr>
          </a:lstStyle>
          <a:p>
            <a:pPr fontAlgn="base"/>
            <a:r>
              <a:rPr lang="en-US" strike="noStrike" noProof="1"/>
              <a:t>Click to edit Master title style</a:t>
            </a:r>
            <a:endParaRPr lang="en-US" strike="noStrike" noProof="1"/>
          </a:p>
        </p:txBody>
      </p:sp>
      <p:sp>
        <p:nvSpPr>
          <p:cNvPr id="3" name="Picture Placeholder 2"/>
          <p:cNvSpPr>
            <a:spLocks noGrp="1"/>
          </p:cNvSpPr>
          <p:nvPr>
            <p:ph type="pic" idx="1"/>
          </p:nvPr>
        </p:nvSpPr>
        <p:spPr>
          <a:xfrm>
            <a:off x="2388784" y="1221672"/>
            <a:ext cx="7312343" cy="798290"/>
          </a:xfrm>
        </p:spPr>
        <p:txBody>
          <a:bodyPr vert="horz" wrap="square" lIns="122932" tIns="61466" rIns="122932" bIns="61466" numCol="1" anchor="t" anchorCtr="1" compatLnSpc="1">
            <a:spAutoFit/>
          </a:bodyPr>
          <a:lstStyle>
            <a:lvl1pPr marL="0" indent="0">
              <a:buNone/>
              <a:defRPr sz="4300"/>
            </a:lvl1pPr>
            <a:lvl2pPr marL="614680" indent="0">
              <a:buNone/>
              <a:defRPr sz="3800"/>
            </a:lvl2pPr>
            <a:lvl3pPr marL="1229360" indent="0">
              <a:buNone/>
              <a:defRPr sz="3200"/>
            </a:lvl3pPr>
            <a:lvl4pPr marL="1844040" indent="0">
              <a:buNone/>
              <a:defRPr sz="2700"/>
            </a:lvl4pPr>
            <a:lvl5pPr marL="2458720" indent="0">
              <a:buNone/>
              <a:defRPr sz="2700"/>
            </a:lvl5pPr>
            <a:lvl6pPr marL="3073400" indent="0">
              <a:buNone/>
              <a:defRPr sz="2700"/>
            </a:lvl6pPr>
            <a:lvl7pPr marL="3688080" indent="0">
              <a:buNone/>
              <a:defRPr sz="2700"/>
            </a:lvl7pPr>
            <a:lvl8pPr marL="4302760" indent="0">
              <a:buNone/>
              <a:defRPr sz="2700"/>
            </a:lvl8pPr>
            <a:lvl9pPr marL="4917440" indent="0">
              <a:buNone/>
              <a:defRPr sz="2700"/>
            </a:lvl9pPr>
          </a:lstStyle>
          <a:p>
            <a:pPr marL="0" marR="0" lvl="0" indent="0" algn="l" defTabSz="914400" rtl="0" eaLnBrk="0" fontAlgn="base" latinLnBrk="0" hangingPunct="0">
              <a:lnSpc>
                <a:spcPct val="100000"/>
              </a:lnSpc>
              <a:spcBef>
                <a:spcPct val="25000"/>
              </a:spcBef>
              <a:spcAft>
                <a:spcPct val="0"/>
              </a:spcAft>
              <a:buClr>
                <a:srgbClr val="C60C30"/>
              </a:buClr>
              <a:buSzPct val="100000"/>
              <a:buFont typeface="Arial" panose="020B0604020202020204" pitchFamily="34" charset="0"/>
              <a:buNone/>
              <a:defRPr/>
            </a:pPr>
            <a:endParaRPr kumimoji="0" lang="en-US" sz="4300" b="0" i="0" u="none" strike="noStrike" kern="0" cap="none" spc="0" normalizeH="0" baseline="0" noProof="0">
              <a:ln>
                <a:noFill/>
              </a:ln>
              <a:solidFill>
                <a:schemeClr val="bg2"/>
              </a:solidFill>
              <a:effectLst/>
              <a:uLnTx/>
              <a:uFillTx/>
              <a:latin typeface="Lucida Sans" pitchFamily="34" charset="0"/>
              <a:ea typeface="+mn-ea"/>
              <a:cs typeface="+mn-cs"/>
            </a:endParaRPr>
          </a:p>
        </p:txBody>
      </p:sp>
      <p:sp>
        <p:nvSpPr>
          <p:cNvPr id="4" name="Text Placeholder 3"/>
          <p:cNvSpPr>
            <a:spLocks noGrp="1"/>
          </p:cNvSpPr>
          <p:nvPr>
            <p:ph type="body" sz="half" idx="2"/>
          </p:nvPr>
        </p:nvSpPr>
        <p:spPr>
          <a:xfrm>
            <a:off x="2388784" y="6006682"/>
            <a:ext cx="7312343"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4C1F32-AE4F-4177-AF49-BDA05C8112D2}"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81225"/>
            <a:ext cx="10358438" cy="150495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978275"/>
            <a:ext cx="8529638" cy="179546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025" y="4511675"/>
            <a:ext cx="10360025" cy="1395413"/>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2025" y="2976563"/>
            <a:ext cx="10360025" cy="153511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600" y="1638300"/>
            <a:ext cx="5407025" cy="4633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69025" y="1638300"/>
            <a:ext cx="5408613" cy="4633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71625"/>
            <a:ext cx="5384800" cy="6556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227263"/>
            <a:ext cx="5384800" cy="40449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1250" y="1571625"/>
            <a:ext cx="5386388" cy="6556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1250" y="2227263"/>
            <a:ext cx="5386388" cy="40449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9400"/>
            <a:ext cx="4010025" cy="1190625"/>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4088" y="279400"/>
            <a:ext cx="6813550" cy="59928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0" y="1470025"/>
            <a:ext cx="4010025" cy="48021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914900"/>
            <a:ext cx="7312025" cy="581025"/>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188" y="627063"/>
            <a:ext cx="7312025" cy="42132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188" y="5495925"/>
            <a:ext cx="7312025" cy="8239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6025" y="280988"/>
            <a:ext cx="2741613" cy="59912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600" y="280988"/>
            <a:ext cx="8074025" cy="59912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flipH="1">
            <a:off x="0" y="0"/>
            <a:ext cx="646113" cy="7021513"/>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3079" name="Picture 11"/>
          <p:cNvPicPr>
            <a:picLocks noChangeAspect="1"/>
          </p:cNvPicPr>
          <p:nvPr userDrawn="1"/>
        </p:nvPicPr>
        <p:blipFill>
          <a:blip r:embed="rId2"/>
          <a:srcRect r="36736"/>
          <a:stretch>
            <a:fillRect/>
          </a:stretch>
        </p:blipFill>
        <p:spPr>
          <a:xfrm>
            <a:off x="-9525" y="0"/>
            <a:ext cx="12196763" cy="693738"/>
          </a:xfrm>
          <a:prstGeom prst="rect">
            <a:avLst/>
          </a:prstGeom>
          <a:solidFill>
            <a:srgbClr val="FF0000"/>
          </a:solidFill>
          <a:ln w="9525">
            <a:noFill/>
          </a:ln>
        </p:spPr>
      </p:pic>
      <p:sp>
        <p:nvSpPr>
          <p:cNvPr id="13" name="Rectangle 13"/>
          <p:cNvSpPr/>
          <p:nvPr/>
        </p:nvSpPr>
        <p:spPr bwMode="gray">
          <a:xfrm flipH="1">
            <a:off x="-9525" y="0"/>
            <a:ext cx="644525" cy="693738"/>
          </a:xfrm>
          <a:prstGeom prst="rect">
            <a:avLst/>
          </a:prstGeom>
          <a:gradFill>
            <a:gsLst>
              <a:gs pos="0">
                <a:schemeClr val="tx1">
                  <a:lumMod val="85000"/>
                </a:schemeClr>
              </a:gs>
              <a:gs pos="100000">
                <a:schemeClr val="tx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3081" name="图片 14"/>
          <p:cNvPicPr>
            <a:picLocks noChangeAspect="1"/>
          </p:cNvPicPr>
          <p:nvPr userDrawn="1"/>
        </p:nvPicPr>
        <p:blipFill>
          <a:blip r:embed="rId3"/>
          <a:stretch>
            <a:fillRect/>
          </a:stretch>
        </p:blipFill>
        <p:spPr>
          <a:xfrm>
            <a:off x="28575" y="61913"/>
            <a:ext cx="568325" cy="569912"/>
          </a:xfrm>
          <a:prstGeom prst="rect">
            <a:avLst/>
          </a:prstGeom>
          <a:noFill/>
          <a:ln w="9525">
            <a:noFill/>
          </a:ln>
        </p:spPr>
      </p:pic>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5"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C31438-4DFE-43A2-9E78-3724DF25393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771356" y="-5772944"/>
            <a:ext cx="64452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53990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388FB5-9160-4F34-A476-BD340846AC9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07781" y="-5107781"/>
            <a:ext cx="19716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4070350"/>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8"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14"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B26C6D9-AAF1-4BF0-937E-892E43D18C84}"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4691063" y="-3157537"/>
            <a:ext cx="2805113"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17033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6152"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2" name="日期占位符 1"/>
          <p:cNvSpPr>
            <a:spLocks noGrp="1"/>
          </p:cNvSpPr>
          <p:nvPr>
            <p:ph type="dt" sz="half" idx="10"/>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2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45088" y="-20637"/>
            <a:ext cx="1897063" cy="12187238"/>
          </a:xfrm>
          <a:prstGeom prst="rect">
            <a:avLst/>
          </a:prstGeom>
          <a:gradFill flip="none" rotWithShape="1">
            <a:gsLst>
              <a:gs pos="0">
                <a:srgbClr val="C00000"/>
              </a:gs>
              <a:gs pos="100000">
                <a:srgbClr val="9E0A2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5991225" y="-1066800"/>
            <a:ext cx="204788" cy="121872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endParaRPr lang="en-US" strike="noStrike" noProof="1"/>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70104-7198-4BD1-AC36-68873D2D364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819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55448" y="1404676"/>
            <a:ext cx="11531790" cy="579812"/>
          </a:xfrm>
        </p:spPr>
        <p:txBody>
          <a:bodyPr/>
          <a:lstStyle>
            <a:lvl1pPr>
              <a:defRPr sz="3200">
                <a:latin typeface="Lucida Sans" pitchFamily="34" charset="0"/>
              </a:defRPr>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1241767" y="2341682"/>
            <a:ext cx="10359152" cy="2155714"/>
          </a:xfrm>
        </p:spPr>
        <p:txBody>
          <a:bodyPr lIns="614660" rIns="614660"/>
          <a:lstStyle>
            <a:lvl1pPr marL="462915" indent="-241300">
              <a:spcBef>
                <a:spcPts val="1615"/>
              </a:spcBef>
              <a:buSzPct val="100000"/>
              <a:buFont typeface="Arial" panose="020B0604020202020204" pitchFamily="34" charset="0"/>
              <a:buChar char="•"/>
              <a:defRPr sz="2700" b="0"/>
            </a:lvl1pPr>
            <a:lvl2pPr marL="685165" indent="-222250">
              <a:spcBef>
                <a:spcPts val="540"/>
              </a:spcBef>
              <a:buSzPct val="75000"/>
              <a:buFont typeface="Lucida Sans" pitchFamily="34" charset="0"/>
              <a:buChar char="–"/>
              <a:defRPr sz="2700"/>
            </a:lvl2pPr>
            <a:lvl3pPr marL="1069340" indent="-295275">
              <a:spcBef>
                <a:spcPts val="540"/>
              </a:spcBef>
              <a:buSzPct val="100000"/>
              <a:buFont typeface="Arial" panose="020B0604020202020204" pitchFamily="34" charset="0"/>
              <a:buChar char="•"/>
              <a:defRPr sz="2200"/>
            </a:lvl3pPr>
            <a:lvl4pPr marL="1229360" indent="-222250">
              <a:spcBef>
                <a:spcPts val="540"/>
              </a:spcBef>
              <a:buSzPct val="100000"/>
              <a:buFont typeface="Lucida Sans" pitchFamily="34" charset="0"/>
              <a:buChar char="–"/>
              <a:defRPr sz="2200"/>
            </a:lvl4pPr>
            <a:lvl5pPr marL="1450975" indent="-222250">
              <a:spcBef>
                <a:spcPts val="540"/>
              </a:spcBef>
              <a:buSzPct val="100000"/>
              <a:buFont typeface="Arial" panose="020B0604020202020204" pitchFamily="34" charset="0"/>
              <a:buChar char="•"/>
              <a:defRPr sz="2200"/>
            </a:lvl5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81250" y="7516813"/>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ADA95E-ED9E-482F-ABFD-6CE64A2D4A2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922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7" name="Rectangle 4"/>
          <p:cNvSpPr>
            <a:spLocks noGrp="1" noChangeArrowheads="1"/>
          </p:cNvSpPr>
          <p:nvPr>
            <p:ph type="ctrTitle"/>
          </p:nvPr>
        </p:nvSpPr>
        <p:spPr>
          <a:xfrm>
            <a:off x="655448" y="864757"/>
            <a:ext cx="11531790" cy="630230"/>
          </a:xfrm>
        </p:spPr>
        <p:txBody>
          <a:bodyPr/>
          <a:lstStyle>
            <a:lvl1pPr algn="ctr">
              <a:lnSpc>
                <a:spcPct val="100000"/>
              </a:lnSpc>
              <a:defRPr sz="3200">
                <a:solidFill>
                  <a:schemeClr val="bg2"/>
                </a:solidFill>
                <a:effectLst/>
              </a:defRPr>
            </a:lvl1pPr>
          </a:lstStyle>
          <a:p>
            <a:pPr fontAlgn="base"/>
            <a:r>
              <a:rPr lang="en-US" strike="noStrike" noProof="1"/>
              <a:t>Click to edit Master title style</a:t>
            </a:r>
            <a:endParaRPr lang="en-US" strike="noStrike" noProof="1"/>
          </a:p>
        </p:txBody>
      </p:sp>
      <p:sp>
        <p:nvSpPr>
          <p:cNvPr id="8" name="Rectangle 5"/>
          <p:cNvSpPr>
            <a:spLocks noGrp="1" noChangeArrowheads="1"/>
          </p:cNvSpPr>
          <p:nvPr>
            <p:ph type="subTitle" idx="1"/>
          </p:nvPr>
        </p:nvSpPr>
        <p:spPr>
          <a:xfrm>
            <a:off x="655448" y="1532366"/>
            <a:ext cx="11531790" cy="588214"/>
          </a:xfrm>
        </p:spPr>
        <p:txBody>
          <a:bodyPr rIns="0"/>
          <a:lstStyle>
            <a:lvl1pPr marL="0" indent="0" algn="ctr">
              <a:buFontTx/>
              <a:buNone/>
              <a:defRPr sz="3000" b="0">
                <a:solidFill>
                  <a:schemeClr val="accent1"/>
                </a:solidFill>
                <a:effectLst/>
                <a:latin typeface="Lucida Sans" pitchFamily="34" charset="0"/>
              </a:defRPr>
            </a:lvl1pPr>
          </a:lstStyle>
          <a:p>
            <a:pPr fontAlgn="base"/>
            <a:r>
              <a:rPr lang="en-US" strike="noStrike" noProof="1"/>
              <a:t>Click to edit Master subtitle style</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4A2AC8-C6EE-4E10-A998-D1513153777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024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45208" y="1476597"/>
            <a:ext cx="11542033" cy="579812"/>
          </a:xfrm>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sz="half" idx="1"/>
          </p:nvPr>
        </p:nvSpPr>
        <p:spPr>
          <a:xfrm>
            <a:off x="967057" y="2330051"/>
            <a:ext cx="5334344"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6504518" y="2330051"/>
            <a:ext cx="5291197"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7A510D-99EA-450F-A733-49970FAE03E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127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2" y="1245917"/>
            <a:ext cx="11577876" cy="579812"/>
          </a:xfrm>
        </p:spPr>
        <p:txBody>
          <a:bodyPr/>
          <a:lstStyle>
            <a:lvl1pPr>
              <a:defRPr/>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916605" y="2092378"/>
            <a:ext cx="5384813"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endParaRPr lang="en-US" strike="noStrike" noProof="1"/>
          </a:p>
        </p:txBody>
      </p:sp>
      <p:sp>
        <p:nvSpPr>
          <p:cNvPr id="4" name="Content Placeholder 3"/>
          <p:cNvSpPr>
            <a:spLocks noGrp="1"/>
          </p:cNvSpPr>
          <p:nvPr>
            <p:ph sz="half" idx="2"/>
          </p:nvPr>
        </p:nvSpPr>
        <p:spPr>
          <a:xfrm>
            <a:off x="916603" y="2683987"/>
            <a:ext cx="5384813"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Text Placeholder 4"/>
          <p:cNvSpPr>
            <a:spLocks noGrp="1"/>
          </p:cNvSpPr>
          <p:nvPr>
            <p:ph type="body" sz="quarter" idx="3"/>
          </p:nvPr>
        </p:nvSpPr>
        <p:spPr>
          <a:xfrm>
            <a:off x="6498192" y="2092378"/>
            <a:ext cx="5386928"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6498191" y="2683987"/>
            <a:ext cx="5386928"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1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1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1436D3D-CAEA-4384-88C1-9AC1E84A4E98}"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229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24724" y="2042479"/>
            <a:ext cx="11562514" cy="579812"/>
          </a:xfrm>
        </p:spPr>
        <p:txBody>
          <a:bodyPr/>
          <a:lstStyle/>
          <a:p>
            <a:pPr fontAlgn="base"/>
            <a:r>
              <a:rPr lang="en-US" strike="noStrike" noProof="1"/>
              <a:t>Click to edit Master title style</a:t>
            </a:r>
            <a:endParaRPr lang="en-US" strike="noStrike" noProof="1"/>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0F4618-6A8D-4B87-BA21-9E1344F61FF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331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5664E-C931-454D-B62B-E550BCDD2E89}"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434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5" y="804272"/>
            <a:ext cx="4009517" cy="1260460"/>
          </a:xfrm>
        </p:spPr>
        <p:txBody>
          <a:bodyPr/>
          <a:lstStyle>
            <a:lvl1pPr algn="l">
              <a:defRPr sz="2700" b="1"/>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4764873" y="1402991"/>
            <a:ext cx="6813006" cy="2483104"/>
          </a:xfrm>
        </p:spPr>
        <p:txBody>
          <a:bodyPr/>
          <a:lstStyle>
            <a:lvl1pPr marL="222250" indent="-222250">
              <a:buSzPct val="125000"/>
              <a:buFont typeface="Arial" panose="020B0604020202020204" pitchFamily="34" charset="0"/>
              <a:buChar char="•"/>
              <a:defRPr lang="en-US" sz="3200" b="0" dirty="0" smtClean="0">
                <a:solidFill>
                  <a:schemeClr val="bg2"/>
                </a:solidFill>
                <a:latin typeface="Lucida Sans" pitchFamily="34" charset="0"/>
                <a:ea typeface="+mn-ea"/>
                <a:cs typeface="+mn-cs"/>
              </a:defRPr>
            </a:lvl1pPr>
            <a:lvl2pPr marL="614680" indent="-222250" defTabSz="1229360">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2pPr>
            <a:lvl3pPr>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3pPr>
            <a:lvl4pPr marL="1310640" indent="-243205">
              <a:buSzPct val="125000"/>
              <a:buFont typeface="Arial" panose="020B0604020202020204" pitchFamily="34" charset="0"/>
              <a:buChar char="•"/>
              <a:defRPr lang="en-US" sz="2700" dirty="0" smtClean="0">
                <a:solidFill>
                  <a:schemeClr val="bg2"/>
                </a:solidFill>
                <a:latin typeface="Lucida Sans" pitchFamily="34" charset="0"/>
                <a:ea typeface="+mn-ea"/>
                <a:cs typeface="+mn-cs"/>
              </a:defRPr>
            </a:lvl4pPr>
            <a:lvl5pPr>
              <a:buSzPct val="125000"/>
              <a:buFont typeface="Arial" panose="020B0604020202020204" pitchFamily="34" charset="0"/>
              <a:buChar char="•"/>
              <a:defRPr lang="en-US" sz="2700" dirty="0">
                <a:solidFill>
                  <a:schemeClr val="bg2"/>
                </a:solidFill>
                <a:latin typeface="Lucida Sans" pitchFamily="34" charset="0"/>
                <a:ea typeface="+mn-ea"/>
                <a:cs typeface="+mn-cs"/>
              </a:defRPr>
            </a:lvl5pPr>
            <a:lvl6pPr>
              <a:defRPr sz="2700"/>
            </a:lvl6pPr>
            <a:lvl7pPr>
              <a:defRPr sz="2700"/>
            </a:lvl7pPr>
            <a:lvl8pPr>
              <a:defRPr sz="2700"/>
            </a:lvl8pPr>
            <a:lvl9pPr>
              <a:defRPr sz="27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Text Placeholder 3"/>
          <p:cNvSpPr>
            <a:spLocks noGrp="1"/>
          </p:cNvSpPr>
          <p:nvPr>
            <p:ph type="body" sz="half" idx="2"/>
          </p:nvPr>
        </p:nvSpPr>
        <p:spPr>
          <a:xfrm>
            <a:off x="609365" y="2592747"/>
            <a:ext cx="4009517"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201577E-4725-42A5-AEB8-A6992A795B0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536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2388784" y="5426260"/>
            <a:ext cx="7312343" cy="504184"/>
          </a:xfrm>
        </p:spPr>
        <p:txBody>
          <a:bodyPr/>
          <a:lstStyle>
            <a:lvl1pPr algn="l">
              <a:defRPr sz="2700" b="1"/>
            </a:lvl1pPr>
          </a:lstStyle>
          <a:p>
            <a:pPr fontAlgn="base"/>
            <a:r>
              <a:rPr lang="en-US" strike="noStrike" noProof="1"/>
              <a:t>Click to edit Master title style</a:t>
            </a:r>
            <a:endParaRPr lang="en-US" strike="noStrike" noProof="1"/>
          </a:p>
        </p:txBody>
      </p:sp>
      <p:sp>
        <p:nvSpPr>
          <p:cNvPr id="3" name="Picture Placeholder 2"/>
          <p:cNvSpPr>
            <a:spLocks noGrp="1"/>
          </p:cNvSpPr>
          <p:nvPr>
            <p:ph type="pic" idx="1"/>
          </p:nvPr>
        </p:nvSpPr>
        <p:spPr>
          <a:xfrm>
            <a:off x="2388784" y="1221672"/>
            <a:ext cx="7312343" cy="798290"/>
          </a:xfrm>
        </p:spPr>
        <p:txBody>
          <a:bodyPr vert="horz" wrap="square" lIns="122932" tIns="61466" rIns="122932" bIns="61466" numCol="1" anchor="t" anchorCtr="1" compatLnSpc="1">
            <a:spAutoFit/>
          </a:bodyPr>
          <a:lstStyle>
            <a:lvl1pPr marL="0" indent="0">
              <a:buNone/>
              <a:defRPr sz="4300"/>
            </a:lvl1pPr>
            <a:lvl2pPr marL="614680" indent="0">
              <a:buNone/>
              <a:defRPr sz="3800"/>
            </a:lvl2pPr>
            <a:lvl3pPr marL="1229360" indent="0">
              <a:buNone/>
              <a:defRPr sz="3200"/>
            </a:lvl3pPr>
            <a:lvl4pPr marL="1844040" indent="0">
              <a:buNone/>
              <a:defRPr sz="2700"/>
            </a:lvl4pPr>
            <a:lvl5pPr marL="2458720" indent="0">
              <a:buNone/>
              <a:defRPr sz="2700"/>
            </a:lvl5pPr>
            <a:lvl6pPr marL="3073400" indent="0">
              <a:buNone/>
              <a:defRPr sz="2700"/>
            </a:lvl6pPr>
            <a:lvl7pPr marL="3688080" indent="0">
              <a:buNone/>
              <a:defRPr sz="2700"/>
            </a:lvl7pPr>
            <a:lvl8pPr marL="4302760" indent="0">
              <a:buNone/>
              <a:defRPr sz="2700"/>
            </a:lvl8pPr>
            <a:lvl9pPr marL="4917440" indent="0">
              <a:buNone/>
              <a:defRPr sz="2700"/>
            </a:lvl9pPr>
          </a:lstStyle>
          <a:p>
            <a:pPr marL="0" marR="0" lvl="0" indent="0" algn="l" defTabSz="914400" rtl="0" eaLnBrk="0" fontAlgn="base" latinLnBrk="0" hangingPunct="0">
              <a:lnSpc>
                <a:spcPct val="100000"/>
              </a:lnSpc>
              <a:spcBef>
                <a:spcPct val="25000"/>
              </a:spcBef>
              <a:spcAft>
                <a:spcPct val="0"/>
              </a:spcAft>
              <a:buClr>
                <a:srgbClr val="C60C30"/>
              </a:buClr>
              <a:buSzPct val="100000"/>
              <a:buFont typeface="Arial" panose="020B0604020202020204" pitchFamily="34" charset="0"/>
              <a:buNone/>
              <a:defRPr/>
            </a:pPr>
            <a:endParaRPr kumimoji="0" lang="en-US" sz="4300" b="0" i="0" u="none" strike="noStrike" kern="0" cap="none" spc="0" normalizeH="0" baseline="0" noProof="0">
              <a:ln>
                <a:noFill/>
              </a:ln>
              <a:solidFill>
                <a:schemeClr val="bg2"/>
              </a:solidFill>
              <a:effectLst/>
              <a:uLnTx/>
              <a:uFillTx/>
              <a:latin typeface="Lucida Sans" pitchFamily="34" charset="0"/>
              <a:ea typeface="+mn-ea"/>
              <a:cs typeface="+mn-cs"/>
            </a:endParaRPr>
          </a:p>
        </p:txBody>
      </p:sp>
      <p:sp>
        <p:nvSpPr>
          <p:cNvPr id="4" name="Text Placeholder 3"/>
          <p:cNvSpPr>
            <a:spLocks noGrp="1"/>
          </p:cNvSpPr>
          <p:nvPr>
            <p:ph type="body" sz="half" idx="2"/>
          </p:nvPr>
        </p:nvSpPr>
        <p:spPr>
          <a:xfrm>
            <a:off x="2388784" y="6006682"/>
            <a:ext cx="7312343"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endParaRPr lang="en-US" strike="noStrike" noProof="1"/>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4C1F32-AE4F-4177-AF49-BDA05C8112D2}"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8" name="任意多边形: 形状 7"/>
          <p:cNvSpPr/>
          <p:nvPr userDrawn="1">
            <p:custDataLst>
              <p:tags r:id="rId2"/>
            </p:custDataLst>
          </p:nvPr>
        </p:nvSpPr>
        <p:spPr>
          <a:xfrm>
            <a:off x="6053753" y="909138"/>
            <a:ext cx="5907139" cy="5791822"/>
          </a:xfrm>
          <a:custGeom>
            <a:avLst/>
            <a:gdLst>
              <a:gd name="connsiteX0" fmla="*/ 3879682 w 5909293"/>
              <a:gd name="connsiteY0" fmla="*/ 175 h 5793934"/>
              <a:gd name="connsiteX1" fmla="*/ 4334567 w 5909293"/>
              <a:gd name="connsiteY1" fmla="*/ 60453 h 5793934"/>
              <a:gd name="connsiteX2" fmla="*/ 5246308 w 5909293"/>
              <a:gd name="connsiteY2" fmla="*/ 1122598 h 5793934"/>
              <a:gd name="connsiteX3" fmla="*/ 5872742 w 5909293"/>
              <a:gd name="connsiteY3" fmla="*/ 3288868 h 5793934"/>
              <a:gd name="connsiteX4" fmla="*/ 5819651 w 5909293"/>
              <a:gd name="connsiteY4" fmla="*/ 4125030 h 5793934"/>
              <a:gd name="connsiteX5" fmla="*/ 5157837 w 5909293"/>
              <a:gd name="connsiteY5" fmla="*/ 4912778 h 5793934"/>
              <a:gd name="connsiteX6" fmla="*/ 3379536 w 5909293"/>
              <a:gd name="connsiteY6" fmla="*/ 5735681 h 5793934"/>
              <a:gd name="connsiteX7" fmla="*/ 2078353 w 5909293"/>
              <a:gd name="connsiteY7" fmla="*/ 5726438 h 5793934"/>
              <a:gd name="connsiteX8" fmla="*/ 1489530 w 5909293"/>
              <a:gd name="connsiteY8" fmla="*/ 5363600 h 5793934"/>
              <a:gd name="connsiteX9" fmla="*/ 1035251 w 5909293"/>
              <a:gd name="connsiteY9" fmla="*/ 4220617 h 5793934"/>
              <a:gd name="connsiteX10" fmla="*/ 602247 w 5909293"/>
              <a:gd name="connsiteY10" fmla="*/ 3634929 h 5793934"/>
              <a:gd name="connsiteX11" fmla="*/ 169546 w 5909293"/>
              <a:gd name="connsiteY11" fmla="*/ 2942699 h 5793934"/>
              <a:gd name="connsiteX12" fmla="*/ 652478 w 5909293"/>
              <a:gd name="connsiteY12" fmla="*/ 842508 h 5793934"/>
              <a:gd name="connsiteX13" fmla="*/ 1316613 w 5909293"/>
              <a:gd name="connsiteY13" fmla="*/ 445895 h 5793934"/>
              <a:gd name="connsiteX14" fmla="*/ 1375567 w 5909293"/>
              <a:gd name="connsiteY14" fmla="*/ 424437 h 5793934"/>
              <a:gd name="connsiteX15" fmla="*/ 3408460 w 5909293"/>
              <a:gd name="connsiteY15" fmla="*/ 39296 h 5793934"/>
              <a:gd name="connsiteX16" fmla="*/ 3879682 w 5909293"/>
              <a:gd name="connsiteY16" fmla="*/ 175 h 579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09293" h="5793934">
                <a:moveTo>
                  <a:pt x="3879682" y="175"/>
                </a:moveTo>
                <a:cubicBezTo>
                  <a:pt x="4036099" y="-1809"/>
                  <a:pt x="4189792" y="12773"/>
                  <a:pt x="4334567" y="60453"/>
                </a:cubicBezTo>
                <a:cubicBezTo>
                  <a:pt x="4813657" y="215756"/>
                  <a:pt x="5066087" y="681130"/>
                  <a:pt x="5246308" y="1122598"/>
                </a:cubicBezTo>
                <a:cubicBezTo>
                  <a:pt x="5530593" y="1818660"/>
                  <a:pt x="5740779" y="2546018"/>
                  <a:pt x="5872742" y="3288868"/>
                </a:cubicBezTo>
                <a:cubicBezTo>
                  <a:pt x="5918136" y="3538857"/>
                  <a:pt x="5941127" y="3794404"/>
                  <a:pt x="5819651" y="4125030"/>
                </a:cubicBezTo>
                <a:cubicBezTo>
                  <a:pt x="5698175" y="4455657"/>
                  <a:pt x="5555500" y="4602769"/>
                  <a:pt x="5157837" y="4912778"/>
                </a:cubicBezTo>
                <a:cubicBezTo>
                  <a:pt x="4760174" y="5222787"/>
                  <a:pt x="3749504" y="5653807"/>
                  <a:pt x="3379536" y="5735681"/>
                </a:cubicBezTo>
                <a:cubicBezTo>
                  <a:pt x="3009569" y="5817556"/>
                  <a:pt x="2330918" y="5811898"/>
                  <a:pt x="2078353" y="5726438"/>
                </a:cubicBezTo>
                <a:cubicBezTo>
                  <a:pt x="1825789" y="5640979"/>
                  <a:pt x="1633575" y="5511056"/>
                  <a:pt x="1489530" y="5363600"/>
                </a:cubicBezTo>
                <a:cubicBezTo>
                  <a:pt x="1194462" y="5065173"/>
                  <a:pt x="1220104" y="4592041"/>
                  <a:pt x="1035251" y="4220617"/>
                </a:cubicBezTo>
                <a:cubicBezTo>
                  <a:pt x="929927" y="4002824"/>
                  <a:pt x="753122" y="3825759"/>
                  <a:pt x="602247" y="3634929"/>
                </a:cubicBezTo>
                <a:cubicBezTo>
                  <a:pt x="430739" y="3418728"/>
                  <a:pt x="291908" y="3187171"/>
                  <a:pt x="169546" y="2942699"/>
                </a:cubicBezTo>
                <a:cubicBezTo>
                  <a:pt x="-176217" y="2249976"/>
                  <a:pt x="17688" y="1398039"/>
                  <a:pt x="652478" y="842508"/>
                </a:cubicBezTo>
                <a:cubicBezTo>
                  <a:pt x="844971" y="671207"/>
                  <a:pt x="1070014" y="535650"/>
                  <a:pt x="1316613" y="445895"/>
                </a:cubicBezTo>
                <a:cubicBezTo>
                  <a:pt x="1336025" y="438830"/>
                  <a:pt x="1354717" y="432026"/>
                  <a:pt x="1375567" y="424437"/>
                </a:cubicBezTo>
                <a:cubicBezTo>
                  <a:pt x="2029851" y="208795"/>
                  <a:pt x="2725822" y="123350"/>
                  <a:pt x="3408460" y="39296"/>
                </a:cubicBezTo>
                <a:cubicBezTo>
                  <a:pt x="3564127" y="20711"/>
                  <a:pt x="3723266" y="2160"/>
                  <a:pt x="3879682" y="175"/>
                </a:cubicBezTo>
                <a:close/>
              </a:path>
            </a:pathLst>
          </a:custGeom>
          <a:solidFill>
            <a:schemeClr val="accent1">
              <a:alpha val="20000"/>
            </a:schemeClr>
          </a:solidFill>
          <a:ln>
            <a:noFill/>
          </a:ln>
        </p:spPr>
        <p:txBody>
          <a:bodyPr vert="horz" wrap="square" lIns="91406" tIns="45703" rIns="91406" bIns="45703" numCol="1" anchor="t" anchorCtr="0" compatLnSpc="1"/>
          <a:lstStyle/>
          <a:p>
            <a:pPr lvl="0"/>
            <a:endParaRPr lang="zh-CN" altLang="en-US" sz="1800">
              <a:solidFill>
                <a:schemeClr val="tx1"/>
              </a:solidFill>
            </a:endParaRPr>
          </a:p>
        </p:txBody>
      </p:sp>
      <p:pic>
        <p:nvPicPr>
          <p:cNvPr id="27" name="图片 26" descr="无人机5资源 1@600x-8"/>
          <p:cNvPicPr>
            <a:picLocks noChangeAspect="1"/>
          </p:cNvPicPr>
          <p:nvPr>
            <p:custDataLst>
              <p:tags r:id="rId3"/>
            </p:custDataLst>
          </p:nvPr>
        </p:nvPicPr>
        <p:blipFill>
          <a:blip r:embed="rId4"/>
          <a:stretch>
            <a:fillRect/>
          </a:stretch>
        </p:blipFill>
        <p:spPr>
          <a:xfrm>
            <a:off x="5432349" y="1760224"/>
            <a:ext cx="6640948" cy="5178441"/>
          </a:xfrm>
          <a:prstGeom prst="rect">
            <a:avLst/>
          </a:prstGeom>
        </p:spPr>
      </p:pic>
      <p:sp>
        <p:nvSpPr>
          <p:cNvPr id="2" name="标题 1"/>
          <p:cNvSpPr>
            <a:spLocks noGrp="1"/>
          </p:cNvSpPr>
          <p:nvPr>
            <p:ph type="ctrTitle" hasCustomPrompt="1"/>
            <p:custDataLst>
              <p:tags r:id="rId5"/>
            </p:custDataLst>
          </p:nvPr>
        </p:nvSpPr>
        <p:spPr>
          <a:xfrm>
            <a:off x="702689" y="1387615"/>
            <a:ext cx="5391089" cy="2151865"/>
          </a:xfrm>
        </p:spPr>
        <p:txBody>
          <a:bodyPr wrap="square" anchor="b" anchorCtr="0">
            <a:normAutofit/>
          </a:bodyPr>
          <a:lstStyle>
            <a:lvl1pPr algn="l">
              <a:lnSpc>
                <a:spcPct val="100000"/>
              </a:lnSpc>
              <a:defRPr sz="5530">
                <a:solidFill>
                  <a:schemeClr val="accent1"/>
                </a:solidFill>
              </a:defRPr>
            </a:lvl1pPr>
          </a:lstStyle>
          <a:p>
            <a:r>
              <a:rPr lang="zh-CN" altLang="en-US" dirty="0"/>
              <a:t>编辑母版标题</a:t>
            </a:r>
            <a:endParaRPr lang="zh-CN" altLang="en-US" dirty="0"/>
          </a:p>
        </p:txBody>
      </p:sp>
      <p:sp>
        <p:nvSpPr>
          <p:cNvPr id="24" name="文本占位符 23"/>
          <p:cNvSpPr>
            <a:spLocks noGrp="1"/>
          </p:cNvSpPr>
          <p:nvPr>
            <p:ph type="body" sz="quarter" idx="17" hasCustomPrompt="1"/>
            <p:custDataLst>
              <p:tags r:id="rId6"/>
            </p:custDataLst>
          </p:nvPr>
        </p:nvSpPr>
        <p:spPr>
          <a:xfrm>
            <a:off x="701419" y="3821952"/>
            <a:ext cx="2879945" cy="580178"/>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b="0">
                <a:solidFill>
                  <a:schemeClr val="lt1">
                    <a:lumMod val="100000"/>
                  </a:schemeClr>
                </a:solidFill>
              </a:defRPr>
            </a:lvl1pPr>
          </a:lstStyle>
          <a:p>
            <a:r>
              <a:rPr lang="zh-CN" altLang="en-US" dirty="0"/>
              <a:t>汇报人：</a:t>
            </a:r>
            <a:r>
              <a:rPr lang="en-US" altLang="zh-CN" dirty="0"/>
              <a:t>WPS</a:t>
            </a:r>
            <a:endParaRPr lang="zh-CN" altLang="en-US" dirty="0"/>
          </a:p>
        </p:txBody>
      </p:sp>
      <p:sp>
        <p:nvSpPr>
          <p:cNvPr id="7" name="日期占位符 6"/>
          <p:cNvSpPr>
            <a:spLocks noGrp="1"/>
          </p:cNvSpPr>
          <p:nvPr>
            <p:ph type="dt" sz="half" idx="18"/>
            <p:custDataLst>
              <p:tags r:id="rId7"/>
            </p:custDataLst>
          </p:nvPr>
        </p:nvSpPr>
        <p:spPr/>
        <p:txBody>
          <a:bodyPr/>
          <a:lstStyle/>
          <a:p>
            <a:fld id="{5592522B-0F24-4480-B9DD-A9474A6880D6}" type="datetimeFigureOut">
              <a:rPr lang="zh-CN" altLang="en-US" smtClean="0"/>
            </a:fld>
            <a:endParaRPr lang="zh-CN" altLang="en-US" dirty="0"/>
          </a:p>
        </p:txBody>
      </p:sp>
      <p:sp>
        <p:nvSpPr>
          <p:cNvPr id="9" name="页脚占位符 8"/>
          <p:cNvSpPr>
            <a:spLocks noGrp="1"/>
          </p:cNvSpPr>
          <p:nvPr>
            <p:ph type="ftr" sz="quarter" idx="19"/>
            <p:custDataLst>
              <p:tags r:id="rId8"/>
            </p:custDataLst>
          </p:nvPr>
        </p:nvSpPr>
        <p:spPr/>
        <p:txBody>
          <a:bodyPr/>
          <a:lstStyle/>
          <a:p>
            <a:endParaRPr lang="zh-CN" altLang="en-US"/>
          </a:p>
        </p:txBody>
      </p:sp>
      <p:sp>
        <p:nvSpPr>
          <p:cNvPr id="10" name="灯片编号占位符 9"/>
          <p:cNvSpPr>
            <a:spLocks noGrp="1"/>
          </p:cNvSpPr>
          <p:nvPr>
            <p:ph type="sldNum" sz="quarter" idx="20"/>
            <p:custDataLst>
              <p:tags r:id="rId9"/>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071" y="1359050"/>
            <a:ext cx="10795538" cy="4899778"/>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标题 6"/>
          <p:cNvSpPr>
            <a:spLocks noGrp="1"/>
          </p:cNvSpPr>
          <p:nvPr>
            <p:ph type="title"/>
            <p:custDataLst>
              <p:tags r:id="rId3"/>
            </p:custDataLst>
          </p:nvPr>
        </p:nvSpPr>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75" b="1" i="0" u="none" strike="noStrike" kern="1200" cap="none" spc="0" normalizeH="0" baseline="0" noProof="1" dirty="0">
                <a:solidFill>
                  <a:schemeClr val="accent1"/>
                </a:solidFill>
                <a:latin typeface="+mj-lt"/>
                <a:ea typeface="+mj-ea"/>
                <a:cs typeface="+mj-cs"/>
              </a:defRPr>
            </a:lvl1pPr>
          </a:lstStyle>
          <a:p>
            <a:pPr lvl="0"/>
            <a:r>
              <a:rPr>
                <a:sym typeface="+mn-ea"/>
              </a:rPr>
              <a:t>单击此处编辑母版标题样式</a:t>
            </a:r>
            <a:endParaRPr>
              <a:sym typeface="+mn-ea"/>
            </a:endParaRPr>
          </a:p>
        </p:txBody>
      </p:sp>
      <p:sp>
        <p:nvSpPr>
          <p:cNvPr id="11" name="日期占位符 10"/>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dirty="0"/>
          </a:p>
        </p:txBody>
      </p:sp>
      <p:sp>
        <p:nvSpPr>
          <p:cNvPr id="12" name="页脚占位符 11"/>
          <p:cNvSpPr>
            <a:spLocks noGrp="1"/>
          </p:cNvSpPr>
          <p:nvPr>
            <p:ph type="ftr" sz="quarter" idx="11"/>
            <p:custDataLst>
              <p:tags r:id="rId5"/>
            </p:custDataLst>
          </p:nvPr>
        </p:nvSpPr>
        <p:spPr/>
        <p:txBody>
          <a:bodyPr/>
          <a:lstStyle/>
          <a:p>
            <a:endParaRPr lang="zh-CN" altLang="en-US"/>
          </a:p>
        </p:txBody>
      </p:sp>
      <p:sp>
        <p:nvSpPr>
          <p:cNvPr id="13" name="灯片编号占位符 12"/>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8" name="Freeform 6"/>
          <p:cNvSpPr/>
          <p:nvPr>
            <p:custDataLst>
              <p:tags r:id="rId2"/>
            </p:custDataLst>
          </p:nvPr>
        </p:nvSpPr>
        <p:spPr bwMode="auto">
          <a:xfrm>
            <a:off x="837260" y="3395387"/>
            <a:ext cx="3970477" cy="3522330"/>
          </a:xfrm>
          <a:custGeom>
            <a:avLst/>
            <a:gdLst>
              <a:gd name="T0" fmla="*/ 1557 w 2458"/>
              <a:gd name="T1" fmla="*/ 0 h 2180"/>
              <a:gd name="T2" fmla="*/ 1529 w 2458"/>
              <a:gd name="T3" fmla="*/ 0 h 2180"/>
              <a:gd name="T4" fmla="*/ 618 w 2458"/>
              <a:gd name="T5" fmla="*/ 140 h 2180"/>
              <a:gd name="T6" fmla="*/ 233 w 2458"/>
              <a:gd name="T7" fmla="*/ 281 h 2180"/>
              <a:gd name="T8" fmla="*/ 13 w 2458"/>
              <a:gd name="T9" fmla="*/ 831 h 2180"/>
              <a:gd name="T10" fmla="*/ 81 w 2458"/>
              <a:gd name="T11" fmla="*/ 1775 h 2180"/>
              <a:gd name="T12" fmla="*/ 215 w 2458"/>
              <a:gd name="T13" fmla="*/ 2066 h 2180"/>
              <a:gd name="T14" fmla="*/ 645 w 2458"/>
              <a:gd name="T15" fmla="*/ 2180 h 2180"/>
              <a:gd name="T16" fmla="*/ 1805 w 2458"/>
              <a:gd name="T17" fmla="*/ 2180 h 2180"/>
              <a:gd name="T18" fmla="*/ 2036 w 2458"/>
              <a:gd name="T19" fmla="*/ 2135 h 2180"/>
              <a:gd name="T20" fmla="*/ 2235 w 2458"/>
              <a:gd name="T21" fmla="*/ 1964 h 2180"/>
              <a:gd name="T22" fmla="*/ 2251 w 2458"/>
              <a:gd name="T23" fmla="*/ 1448 h 2180"/>
              <a:gd name="T24" fmla="*/ 2343 w 2458"/>
              <a:gd name="T25" fmla="*/ 1155 h 2180"/>
              <a:gd name="T26" fmla="*/ 2419 w 2458"/>
              <a:gd name="T27" fmla="*/ 820 h 2180"/>
              <a:gd name="T28" fmla="*/ 1896 w 2458"/>
              <a:gd name="T29" fmla="*/ 61 h 2180"/>
              <a:gd name="T30" fmla="*/ 1557 w 2458"/>
              <a:gd name="T31" fmla="*/ 0 h 2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8" h="2180">
                <a:moveTo>
                  <a:pt x="1557" y="0"/>
                </a:moveTo>
                <a:cubicBezTo>
                  <a:pt x="1548" y="0"/>
                  <a:pt x="1539" y="0"/>
                  <a:pt x="1529" y="0"/>
                </a:cubicBezTo>
                <a:cubicBezTo>
                  <a:pt x="1222" y="9"/>
                  <a:pt x="917" y="75"/>
                  <a:pt x="618" y="140"/>
                </a:cubicBezTo>
                <a:cubicBezTo>
                  <a:pt x="482" y="170"/>
                  <a:pt x="340" y="202"/>
                  <a:pt x="233" y="281"/>
                </a:cubicBezTo>
                <a:cubicBezTo>
                  <a:pt x="56" y="411"/>
                  <a:pt x="21" y="631"/>
                  <a:pt x="13" y="831"/>
                </a:cubicBezTo>
                <a:cubicBezTo>
                  <a:pt x="0" y="1146"/>
                  <a:pt x="23" y="1463"/>
                  <a:pt x="81" y="1775"/>
                </a:cubicBezTo>
                <a:cubicBezTo>
                  <a:pt x="100" y="1880"/>
                  <a:pt x="128" y="1991"/>
                  <a:pt x="215" y="2066"/>
                </a:cubicBezTo>
                <a:cubicBezTo>
                  <a:pt x="323" y="2159"/>
                  <a:pt x="491" y="2172"/>
                  <a:pt x="645" y="2180"/>
                </a:cubicBezTo>
                <a:cubicBezTo>
                  <a:pt x="1805" y="2180"/>
                  <a:pt x="1805" y="2180"/>
                  <a:pt x="1805" y="2180"/>
                </a:cubicBezTo>
                <a:cubicBezTo>
                  <a:pt x="1884" y="2180"/>
                  <a:pt x="1963" y="2165"/>
                  <a:pt x="2036" y="2135"/>
                </a:cubicBezTo>
                <a:cubicBezTo>
                  <a:pt x="2124" y="2098"/>
                  <a:pt x="2197" y="2043"/>
                  <a:pt x="2235" y="1964"/>
                </a:cubicBezTo>
                <a:cubicBezTo>
                  <a:pt x="2313" y="1804"/>
                  <a:pt x="2230" y="1621"/>
                  <a:pt x="2251" y="1448"/>
                </a:cubicBezTo>
                <a:cubicBezTo>
                  <a:pt x="2262" y="1347"/>
                  <a:pt x="2309" y="1252"/>
                  <a:pt x="2343" y="1155"/>
                </a:cubicBezTo>
                <a:cubicBezTo>
                  <a:pt x="2382" y="1045"/>
                  <a:pt x="2405" y="934"/>
                  <a:pt x="2419" y="820"/>
                </a:cubicBezTo>
                <a:cubicBezTo>
                  <a:pt x="2458" y="497"/>
                  <a:pt x="2247" y="189"/>
                  <a:pt x="1896" y="61"/>
                </a:cubicBezTo>
                <a:cubicBezTo>
                  <a:pt x="1789" y="21"/>
                  <a:pt x="1674" y="0"/>
                  <a:pt x="1557" y="0"/>
                </a:cubicBezTo>
              </a:path>
            </a:pathLst>
          </a:custGeom>
          <a:solidFill>
            <a:schemeClr val="accent1">
              <a:alpha val="17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06" tIns="45703" rIns="91406" bIns="45703" numCol="1" anchor="t" anchorCtr="0" compatLnSpc="1"/>
          <a:lstStyle/>
          <a:p>
            <a:endParaRPr lang="zh-CN" altLang="en-US" sz="1800">
              <a:cs typeface="微软雅黑" panose="020B0503020204020204" charset="-122"/>
            </a:endParaRPr>
          </a:p>
        </p:txBody>
      </p:sp>
      <p:sp>
        <p:nvSpPr>
          <p:cNvPr id="2" name="标题 1"/>
          <p:cNvSpPr>
            <a:spLocks noGrp="1"/>
          </p:cNvSpPr>
          <p:nvPr>
            <p:ph type="title" hasCustomPrompt="1"/>
            <p:custDataLst>
              <p:tags r:id="rId3"/>
            </p:custDataLst>
          </p:nvPr>
        </p:nvSpPr>
        <p:spPr>
          <a:xfrm>
            <a:off x="837260" y="648109"/>
            <a:ext cx="2129014" cy="1081011"/>
          </a:xfrm>
        </p:spPr>
        <p:txBody>
          <a:bodyPr wrap="square" anchor="ctr" anchorCtr="0">
            <a:normAutofit/>
          </a:bodyPr>
          <a:lstStyle>
            <a:lvl1pPr algn="l">
              <a:defRPr sz="4915">
                <a:solidFill>
                  <a:schemeClr val="accent1"/>
                </a:solidFill>
              </a:defRPr>
            </a:lvl1pPr>
          </a:lstStyle>
          <a:p>
            <a:r>
              <a:rPr lang="zh-CN" altLang="en-US" dirty="0"/>
              <a:t>标题</a:t>
            </a:r>
            <a:endParaRPr lang="zh-CN" altLang="en-US" dirty="0"/>
          </a:p>
        </p:txBody>
      </p:sp>
      <p:pic>
        <p:nvPicPr>
          <p:cNvPr id="5" name="图片 4"/>
          <p:cNvPicPr>
            <a:picLocks noChangeAspect="1"/>
          </p:cNvPicPr>
          <p:nvPr>
            <p:custDataLst>
              <p:tags r:id="rId4"/>
            </p:custDataLst>
          </p:nvPr>
        </p:nvPicPr>
        <p:blipFill rotWithShape="1">
          <a:blip r:embed="rId5" cstate="print">
            <a:extLst>
              <a:ext uri="{28A0092B-C50C-407E-A947-70E740481C1C}">
                <a14:useLocalDpi xmlns:a14="http://schemas.microsoft.com/office/drawing/2010/main" val="0"/>
              </a:ext>
            </a:extLst>
          </a:blip>
          <a:srcRect l="31250" r="27352"/>
          <a:stretch>
            <a:fillRect/>
          </a:stretch>
        </p:blipFill>
        <p:spPr>
          <a:xfrm>
            <a:off x="1197808" y="2099825"/>
            <a:ext cx="3554704" cy="4829953"/>
          </a:xfrm>
          <a:prstGeom prst="rect">
            <a:avLst/>
          </a:prstGeom>
        </p:spPr>
      </p:pic>
      <p:sp>
        <p:nvSpPr>
          <p:cNvPr id="4" name="日期占位符 3"/>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a:lstStyle/>
          <a:p>
            <a:endParaRPr lang="zh-CN" altLang="en-US"/>
          </a:p>
        </p:txBody>
      </p:sp>
      <p:sp>
        <p:nvSpPr>
          <p:cNvPr id="10" name="灯片编号占位符 9"/>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 name="Freeform 6"/>
          <p:cNvSpPr/>
          <p:nvPr userDrawn="1">
            <p:custDataLst>
              <p:tags r:id="rId2"/>
            </p:custDataLst>
          </p:nvPr>
        </p:nvSpPr>
        <p:spPr bwMode="auto">
          <a:xfrm rot="6240000" flipH="1">
            <a:off x="1155279" y="2458469"/>
            <a:ext cx="2942152" cy="3513444"/>
          </a:xfrm>
          <a:custGeom>
            <a:avLst/>
            <a:gdLst>
              <a:gd name="connsiteX0" fmla="*/ 4417 w 6611"/>
              <a:gd name="connsiteY0" fmla="*/ 31 h 6706"/>
              <a:gd name="connsiteX1" fmla="*/ 3525 w 6611"/>
              <a:gd name="connsiteY1" fmla="*/ 35 h 6706"/>
              <a:gd name="connsiteX2" fmla="*/ 1943 w 6611"/>
              <a:gd name="connsiteY2" fmla="*/ 444 h 6706"/>
              <a:gd name="connsiteX3" fmla="*/ 850 w 6611"/>
              <a:gd name="connsiteY3" fmla="*/ 1131 h 6706"/>
              <a:gd name="connsiteX4" fmla="*/ 7 w 6611"/>
              <a:gd name="connsiteY4" fmla="*/ 2491 h 6706"/>
              <a:gd name="connsiteX5" fmla="*/ 211 w 6611"/>
              <a:gd name="connsiteY5" fmla="*/ 4826 h 6706"/>
              <a:gd name="connsiteX6" fmla="*/ 752 w 6611"/>
              <a:gd name="connsiteY6" fmla="*/ 5937 h 6706"/>
              <a:gd name="connsiteX7" fmla="*/ 1926 w 6611"/>
              <a:gd name="connsiteY7" fmla="*/ 6575 h 6706"/>
              <a:gd name="connsiteX8" fmla="*/ 4060 w 6611"/>
              <a:gd name="connsiteY8" fmla="*/ 6611 h 6706"/>
              <a:gd name="connsiteX9" fmla="*/ 5547 w 6611"/>
              <a:gd name="connsiteY9" fmla="*/ 5965 h 6706"/>
              <a:gd name="connsiteX10" fmla="*/ 6120 w 6611"/>
              <a:gd name="connsiteY10" fmla="*/ 5119 h 6706"/>
              <a:gd name="connsiteX11" fmla="*/ 6193 w 6611"/>
              <a:gd name="connsiteY11" fmla="*/ 4057 h 6706"/>
              <a:gd name="connsiteX12" fmla="*/ 6398 w 6611"/>
              <a:gd name="connsiteY12" fmla="*/ 3222 h 6706"/>
              <a:gd name="connsiteX13" fmla="*/ 6599 w 6611"/>
              <a:gd name="connsiteY13" fmla="*/ 2281 h 6706"/>
              <a:gd name="connsiteX14" fmla="*/ 5278 w 6611"/>
              <a:gd name="connsiteY14" fmla="*/ 246 h 6706"/>
              <a:gd name="connsiteX15" fmla="*/ 4417 w 6611"/>
              <a:gd name="connsiteY15" fmla="*/ 31 h 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0" t="0" r="r" b="b"/>
            <a:pathLst>
              <a:path w="6612" h="6706">
                <a:moveTo>
                  <a:pt x="4417" y="31"/>
                </a:moveTo>
                <a:cubicBezTo>
                  <a:pt x="4275" y="12"/>
                  <a:pt x="4045" y="-31"/>
                  <a:pt x="3525" y="35"/>
                </a:cubicBezTo>
                <a:cubicBezTo>
                  <a:pt x="3006" y="101"/>
                  <a:pt x="2368" y="252"/>
                  <a:pt x="1943" y="444"/>
                </a:cubicBezTo>
                <a:cubicBezTo>
                  <a:pt x="1518" y="636"/>
                  <a:pt x="1206" y="810"/>
                  <a:pt x="850" y="1131"/>
                </a:cubicBezTo>
                <a:cubicBezTo>
                  <a:pt x="494" y="1452"/>
                  <a:pt x="28" y="1938"/>
                  <a:pt x="7" y="2491"/>
                </a:cubicBezTo>
                <a:cubicBezTo>
                  <a:pt x="-27" y="3362"/>
                  <a:pt x="58" y="4271"/>
                  <a:pt x="211" y="4826"/>
                </a:cubicBezTo>
                <a:cubicBezTo>
                  <a:pt x="364" y="5381"/>
                  <a:pt x="482" y="5677"/>
                  <a:pt x="752" y="5937"/>
                </a:cubicBezTo>
                <a:cubicBezTo>
                  <a:pt x="1022" y="6197"/>
                  <a:pt x="1328" y="6417"/>
                  <a:pt x="1926" y="6575"/>
                </a:cubicBezTo>
                <a:cubicBezTo>
                  <a:pt x="2524" y="6733"/>
                  <a:pt x="3366" y="6751"/>
                  <a:pt x="4060" y="6611"/>
                </a:cubicBezTo>
                <a:cubicBezTo>
                  <a:pt x="4755" y="6471"/>
                  <a:pt x="5352" y="6115"/>
                  <a:pt x="5547" y="5965"/>
                </a:cubicBezTo>
                <a:cubicBezTo>
                  <a:pt x="5742" y="5815"/>
                  <a:pt x="6019" y="5562"/>
                  <a:pt x="6120" y="5119"/>
                </a:cubicBezTo>
                <a:cubicBezTo>
                  <a:pt x="6221" y="4677"/>
                  <a:pt x="6140" y="4535"/>
                  <a:pt x="6193" y="4057"/>
                </a:cubicBezTo>
                <a:cubicBezTo>
                  <a:pt x="6221" y="3778"/>
                  <a:pt x="6310" y="3490"/>
                  <a:pt x="6398" y="3222"/>
                </a:cubicBezTo>
                <a:cubicBezTo>
                  <a:pt x="6538" y="2812"/>
                  <a:pt x="6563" y="2596"/>
                  <a:pt x="6599" y="2281"/>
                </a:cubicBezTo>
                <a:cubicBezTo>
                  <a:pt x="6700" y="1390"/>
                  <a:pt x="6184" y="599"/>
                  <a:pt x="5278" y="246"/>
                </a:cubicBezTo>
                <a:cubicBezTo>
                  <a:pt x="5003" y="136"/>
                  <a:pt x="4559" y="50"/>
                  <a:pt x="4417" y="31"/>
                </a:cubicBezTo>
              </a:path>
            </a:pathLst>
          </a:custGeom>
          <a:solidFill>
            <a:schemeClr val="accent1">
              <a:alpha val="20000"/>
            </a:schemeClr>
          </a:solidFill>
          <a:ln>
            <a:noFill/>
          </a:ln>
        </p:spPr>
        <p:txBody>
          <a:bodyPr vert="horz" wrap="square" lIns="91406" tIns="45703" rIns="91406" bIns="45703" numCol="1" anchor="t" anchorCtr="0" compatLnSpc="1"/>
          <a:lstStyle/>
          <a:p>
            <a:endParaRPr lang="zh-CN" altLang="en-US" sz="1800">
              <a:cs typeface="微软雅黑" panose="020B0503020204020204" charset="-122"/>
            </a:endParaRPr>
          </a:p>
        </p:txBody>
      </p:sp>
      <p:pic>
        <p:nvPicPr>
          <p:cNvPr id="7" name="图片 6" descr="D:\工作文件\临时素材\无人机5资源-1@600x-8.png无人机5资源-1@600x-8"/>
          <p:cNvPicPr>
            <a:picLocks noChangeAspect="1"/>
          </p:cNvPicPr>
          <p:nvPr userDrawn="1">
            <p:custDataLst>
              <p:tags r:id="rId3"/>
            </p:custDataLst>
          </p:nvPr>
        </p:nvPicPr>
        <p:blipFill>
          <a:blip r:embed="rId4"/>
          <a:srcRect l="150" r="150"/>
          <a:stretch>
            <a:fillRect/>
          </a:stretch>
        </p:blipFill>
        <p:spPr>
          <a:xfrm>
            <a:off x="869633" y="1632635"/>
            <a:ext cx="3756560" cy="3261440"/>
          </a:xfrm>
          <a:prstGeom prst="rect">
            <a:avLst/>
          </a:prstGeom>
        </p:spPr>
      </p:pic>
      <p:sp>
        <p:nvSpPr>
          <p:cNvPr id="2" name="标题 1"/>
          <p:cNvSpPr>
            <a:spLocks noGrp="1"/>
          </p:cNvSpPr>
          <p:nvPr>
            <p:ph type="title" hasCustomPrompt="1"/>
            <p:custDataLst>
              <p:tags r:id="rId5"/>
            </p:custDataLst>
          </p:nvPr>
        </p:nvSpPr>
        <p:spPr>
          <a:xfrm>
            <a:off x="5459009" y="3489968"/>
            <a:ext cx="5890652" cy="1760848"/>
          </a:xfrm>
        </p:spPr>
        <p:txBody>
          <a:bodyPr wrap="square" lIns="0" tIns="0" rIns="0" bIns="0" anchor="t" anchorCtr="0">
            <a:normAutofit/>
          </a:bodyPr>
          <a:lstStyle>
            <a:lvl1pPr algn="l">
              <a:defRPr sz="4505">
                <a:solidFill>
                  <a:schemeClr val="accent1"/>
                </a:solidFill>
              </a:defRPr>
            </a:lvl1pPr>
          </a:lstStyle>
          <a:p>
            <a:r>
              <a:rPr lang="zh-CN" altLang="en-US" dirty="0"/>
              <a:t>单击编辑母版标题</a:t>
            </a:r>
            <a:endParaRPr lang="zh-CN" altLang="en-US" dirty="0"/>
          </a:p>
        </p:txBody>
      </p:sp>
      <p:sp>
        <p:nvSpPr>
          <p:cNvPr id="8" name="文本占位符 7"/>
          <p:cNvSpPr>
            <a:spLocks noGrp="1"/>
          </p:cNvSpPr>
          <p:nvPr>
            <p:ph type="body" sz="quarter" idx="13" hasCustomPrompt="1"/>
            <p:custDataLst>
              <p:tags r:id="rId6"/>
            </p:custDataLst>
          </p:nvPr>
        </p:nvSpPr>
        <p:spPr>
          <a:xfrm>
            <a:off x="5459009" y="2447043"/>
            <a:ext cx="5890652" cy="959770"/>
          </a:xfrm>
          <a:prstGeom prst="roundRect">
            <a:avLst>
              <a:gd name="adj" fmla="val 0"/>
            </a:avLst>
          </a:prstGeom>
          <a:noFill/>
        </p:spPr>
        <p:txBody>
          <a:bodyPr wrap="square" anchor="b" anchorCtr="0">
            <a:noAutofit/>
          </a:bodyPr>
          <a:lstStyle>
            <a:lvl1pPr marL="0" indent="0" algn="l" eaLnBrk="1" fontAlgn="auto" latinLnBrk="0" hangingPunct="1">
              <a:lnSpc>
                <a:spcPct val="100000"/>
              </a:lnSpc>
              <a:spcBef>
                <a:spcPts val="0"/>
              </a:spcBef>
              <a:buNone/>
              <a:defRPr sz="4915" b="1" u="none" strike="noStrike" kern="1200" cap="none" spc="100" normalizeH="0">
                <a:solidFill>
                  <a:schemeClr val="accent1"/>
                </a:solidFill>
                <a:uFillTx/>
                <a:latin typeface="+mj-ea"/>
                <a:ea typeface="+mj-ea"/>
              </a:defRPr>
            </a:lvl1pPr>
          </a:lstStyle>
          <a:p>
            <a:pPr lvl="0"/>
            <a:r>
              <a:rPr lang="zh-CN" altLang="en-US" dirty="0"/>
              <a:t>编号</a:t>
            </a:r>
            <a:endParaRPr lang="zh-CN" altLang="en-US" dirty="0"/>
          </a:p>
        </p:txBody>
      </p:sp>
      <p:sp>
        <p:nvSpPr>
          <p:cNvPr id="12" name="日期占位符 11"/>
          <p:cNvSpPr>
            <a:spLocks noGrp="1"/>
          </p:cNvSpPr>
          <p:nvPr>
            <p:ph type="dt" sz="half" idx="14"/>
            <p:custDataLst>
              <p:tags r:id="rId7"/>
            </p:custDataLst>
          </p:nvPr>
        </p:nvSpPr>
        <p:spPr/>
        <p:txBody>
          <a:bodyPr/>
          <a:lstStyle/>
          <a:p>
            <a:fld id="{5592522B-0F24-4480-B9DD-A9474A6880D6}" type="datetimeFigureOut">
              <a:rPr lang="zh-CN" altLang="en-US" smtClean="0"/>
            </a:fld>
            <a:endParaRPr lang="zh-CN" altLang="en-US" dirty="0"/>
          </a:p>
        </p:txBody>
      </p:sp>
      <p:sp>
        <p:nvSpPr>
          <p:cNvPr id="13" name="页脚占位符 12"/>
          <p:cNvSpPr>
            <a:spLocks noGrp="1"/>
          </p:cNvSpPr>
          <p:nvPr>
            <p:ph type="ftr" sz="quarter" idx="15"/>
            <p:custDataLst>
              <p:tags r:id="rId8"/>
            </p:custDataLst>
          </p:nvPr>
        </p:nvSpPr>
        <p:spPr/>
        <p:txBody>
          <a:bodyPr/>
          <a:lstStyle/>
          <a:p>
            <a:endParaRPr lang="zh-CN" altLang="en-US"/>
          </a:p>
        </p:txBody>
      </p:sp>
      <p:sp>
        <p:nvSpPr>
          <p:cNvPr id="14" name="灯片编号占位符 13"/>
          <p:cNvSpPr>
            <a:spLocks noGrp="1"/>
          </p:cNvSpPr>
          <p:nvPr>
            <p:ph type="sldNum" sz="quarter" idx="16"/>
            <p:custDataLst>
              <p:tags r:id="rId9"/>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chorCtr="0">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071" y="1359050"/>
            <a:ext cx="5322534" cy="4899463"/>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69950" y="1359050"/>
            <a:ext cx="5320659" cy="4899463"/>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8" name="日期占位符 7"/>
          <p:cNvSpPr>
            <a:spLocks noGrp="1"/>
          </p:cNvSpPr>
          <p:nvPr>
            <p:ph type="dt" sz="half" idx="10"/>
            <p:custDataLst>
              <p:tags r:id="rId5"/>
            </p:custDataLst>
          </p:nvPr>
        </p:nvSpPr>
        <p:spPr/>
        <p:txBody>
          <a:bodyPr/>
          <a:lstStyle/>
          <a:p>
            <a:fld id="{5592522B-0F24-4480-B9DD-A9474A6880D6}" type="datetimeFigureOut">
              <a:rPr lang="zh-CN" altLang="en-US" smtClean="0"/>
            </a:fld>
            <a:endParaRPr lang="zh-CN" altLang="en-US" dirty="0"/>
          </a:p>
        </p:txBody>
      </p:sp>
      <p:sp>
        <p:nvSpPr>
          <p:cNvPr id="9" name="页脚占位符 8"/>
          <p:cNvSpPr>
            <a:spLocks noGrp="1"/>
          </p:cNvSpPr>
          <p:nvPr>
            <p:ph type="ftr" sz="quarter" idx="11"/>
            <p:custDataLst>
              <p:tags r:id="rId6"/>
            </p:custDataLst>
          </p:nvPr>
        </p:nvSpPr>
        <p:spPr/>
        <p:txBody>
          <a:bodyPr/>
          <a:lstStyle/>
          <a:p>
            <a:endParaRPr lang="zh-CN" altLang="en-US"/>
          </a:p>
        </p:txBody>
      </p:sp>
      <p:sp>
        <p:nvSpPr>
          <p:cNvPr id="10" name="灯片编号占位符 9"/>
          <p:cNvSpPr>
            <a:spLocks noGrp="1"/>
          </p:cNvSpPr>
          <p:nvPr>
            <p:ph type="sldNum" sz="quarter" idx="12"/>
            <p:custDataLst>
              <p:tags r:id="rId7"/>
            </p:custDataLst>
          </p:nvPr>
        </p:nvSpPr>
        <p:spPr/>
        <p:txBody>
          <a:bodyPr/>
          <a:lstStyle/>
          <a:p>
            <a:fld id="{BE5F26B5-172A-4DC2-B0B7-181CFC56B87C}"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072" y="1359050"/>
            <a:ext cx="5300317"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072" y="2143689"/>
            <a:ext cx="5300317" cy="4126883"/>
          </a:xfrm>
        </p:spPr>
        <p:txBody>
          <a:bodyPr wrap="square">
            <a:normAutofit/>
          </a:bodyPr>
          <a:lstStyle>
            <a:lvl1pPr>
              <a:defRPr sz="2255"/>
            </a:lvl1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69950" y="1359050"/>
            <a:ext cx="5327295"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69950" y="2143689"/>
            <a:ext cx="5327295" cy="4126883"/>
          </a:xfrm>
        </p:spPr>
        <p:txBody>
          <a:bodyPr wrap="square">
            <a:normAutofit/>
          </a:bodyPr>
          <a:lstStyle>
            <a:lvl1pPr>
              <a:defRPr sz="2255"/>
            </a:lvl1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0" name="日期占位符 9"/>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dirty="0"/>
          </a:p>
        </p:txBody>
      </p:sp>
      <p:sp>
        <p:nvSpPr>
          <p:cNvPr id="11" name="页脚占位符 10"/>
          <p:cNvSpPr>
            <a:spLocks noGrp="1"/>
          </p:cNvSpPr>
          <p:nvPr>
            <p:ph type="ftr" sz="quarter" idx="11"/>
            <p:custDataLst>
              <p:tags r:id="rId7"/>
            </p:custDataLst>
          </p:nvPr>
        </p:nvSpPr>
        <p:spPr/>
        <p:txBody>
          <a:bodyPr/>
          <a:lstStyle/>
          <a:p>
            <a:endParaRPr lang="zh-CN" altLang="en-US"/>
          </a:p>
        </p:txBody>
      </p:sp>
      <p:sp>
        <p:nvSpPr>
          <p:cNvPr id="12" name="灯片编号占位符 11"/>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dirty="0"/>
          </a:p>
        </p:txBody>
      </p:sp>
      <p:sp>
        <p:nvSpPr>
          <p:cNvPr id="13" name="标题 12"/>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071" y="443034"/>
            <a:ext cx="10802173" cy="5815479"/>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071" y="1378693"/>
            <a:ext cx="10802173" cy="575790"/>
          </a:xfrm>
        </p:spPr>
        <p:txBody>
          <a:bodyPr wrap="square" anchor="t">
            <a:normAutofit/>
          </a:bodyPr>
          <a:lstStyle>
            <a:lvl1pPr marL="0" indent="0">
              <a:buNone/>
              <a:defRPr sz="2455" b="0"/>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任意多边形: 形状 6"/>
          <p:cNvSpPr/>
          <p:nvPr userDrawn="1">
            <p:custDataLst>
              <p:tags r:id="rId2"/>
            </p:custDataLst>
          </p:nvPr>
        </p:nvSpPr>
        <p:spPr>
          <a:xfrm>
            <a:off x="6214960" y="937752"/>
            <a:ext cx="5595525" cy="5915283"/>
          </a:xfrm>
          <a:custGeom>
            <a:avLst/>
            <a:gdLst>
              <a:gd name="connsiteX0" fmla="*/ 3604196 w 5597566"/>
              <a:gd name="connsiteY0" fmla="*/ 127 h 5917440"/>
              <a:gd name="connsiteX1" fmla="*/ 5020674 w 5597566"/>
              <a:gd name="connsiteY1" fmla="*/ 776538 h 5917440"/>
              <a:gd name="connsiteX2" fmla="*/ 5376373 w 5597566"/>
              <a:gd name="connsiteY2" fmla="*/ 1444944 h 5917440"/>
              <a:gd name="connsiteX3" fmla="*/ 5557177 w 5597566"/>
              <a:gd name="connsiteY3" fmla="*/ 2184215 h 5917440"/>
              <a:gd name="connsiteX4" fmla="*/ 5545132 w 5597566"/>
              <a:gd name="connsiteY4" fmla="*/ 3578297 h 5917440"/>
              <a:gd name="connsiteX5" fmla="*/ 5202018 w 5597566"/>
              <a:gd name="connsiteY5" fmla="*/ 4624938 h 5917440"/>
              <a:gd name="connsiteX6" fmla="*/ 4250176 w 5597566"/>
              <a:gd name="connsiteY6" fmla="*/ 5603523 h 5917440"/>
              <a:gd name="connsiteX7" fmla="*/ 2275095 w 5597566"/>
              <a:gd name="connsiteY7" fmla="*/ 5916586 h 5917440"/>
              <a:gd name="connsiteX8" fmla="*/ 1243715 w 5597566"/>
              <a:gd name="connsiteY8" fmla="*/ 5698027 h 5917440"/>
              <a:gd name="connsiteX9" fmla="*/ 473239 w 5597566"/>
              <a:gd name="connsiteY9" fmla="*/ 4857811 h 5917440"/>
              <a:gd name="connsiteX10" fmla="*/ 2965 w 5597566"/>
              <a:gd name="connsiteY10" fmla="*/ 3098601 h 5917440"/>
              <a:gd name="connsiteX11" fmla="*/ 230813 w 5597566"/>
              <a:gd name="connsiteY11" fmla="*/ 1734249 h 5917440"/>
              <a:gd name="connsiteX12" fmla="*/ 812883 w 5597566"/>
              <a:gd name="connsiteY12" fmla="*/ 1085274 h 5917440"/>
              <a:gd name="connsiteX13" fmla="*/ 1676967 w 5597566"/>
              <a:gd name="connsiteY13" fmla="*/ 805643 h 5917440"/>
              <a:gd name="connsiteX14" fmla="*/ 2325887 w 5597566"/>
              <a:gd name="connsiteY14" fmla="*/ 463589 h 5917440"/>
              <a:gd name="connsiteX15" fmla="*/ 3063384 w 5597566"/>
              <a:gd name="connsiteY15" fmla="*/ 102968 h 5917440"/>
              <a:gd name="connsiteX16" fmla="*/ 3604196 w 5597566"/>
              <a:gd name="connsiteY16" fmla="*/ 127 h 591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97566" h="5917440">
                <a:moveTo>
                  <a:pt x="3604196" y="127"/>
                </a:moveTo>
                <a:cubicBezTo>
                  <a:pt x="4143157" y="-6764"/>
                  <a:pt x="4661253" y="268656"/>
                  <a:pt x="5020674" y="776538"/>
                </a:cubicBezTo>
                <a:cubicBezTo>
                  <a:pt x="5168497" y="981494"/>
                  <a:pt x="5331334" y="1331311"/>
                  <a:pt x="5376373" y="1444944"/>
                </a:cubicBezTo>
                <a:cubicBezTo>
                  <a:pt x="5421411" y="1558578"/>
                  <a:pt x="5504481" y="1740109"/>
                  <a:pt x="5557177" y="2184215"/>
                </a:cubicBezTo>
                <a:cubicBezTo>
                  <a:pt x="5609665" y="2627494"/>
                  <a:pt x="5616351" y="3186831"/>
                  <a:pt x="5545132" y="3578297"/>
                </a:cubicBezTo>
                <a:cubicBezTo>
                  <a:pt x="5473912" y="3969764"/>
                  <a:pt x="5394269" y="4263968"/>
                  <a:pt x="5202018" y="4624938"/>
                </a:cubicBezTo>
                <a:cubicBezTo>
                  <a:pt x="5009767" y="4985909"/>
                  <a:pt x="4703629" y="5471999"/>
                  <a:pt x="4250176" y="5603523"/>
                </a:cubicBezTo>
                <a:cubicBezTo>
                  <a:pt x="3536157" y="5811445"/>
                  <a:pt x="2766119" y="5928695"/>
                  <a:pt x="2275095" y="5916586"/>
                </a:cubicBezTo>
                <a:cubicBezTo>
                  <a:pt x="1784072" y="5904476"/>
                  <a:pt x="1514679" y="5867884"/>
                  <a:pt x="1243715" y="5698027"/>
                </a:cubicBezTo>
                <a:cubicBezTo>
                  <a:pt x="972750" y="5528171"/>
                  <a:pt x="727468" y="5320256"/>
                  <a:pt x="473239" y="4857811"/>
                </a:cubicBezTo>
                <a:cubicBezTo>
                  <a:pt x="219012" y="4395366"/>
                  <a:pt x="30316" y="3702028"/>
                  <a:pt x="2965" y="3098601"/>
                </a:cubicBezTo>
                <a:cubicBezTo>
                  <a:pt x="-24592" y="2494347"/>
                  <a:pt x="146889" y="1926640"/>
                  <a:pt x="230813" y="1734249"/>
                </a:cubicBezTo>
                <a:cubicBezTo>
                  <a:pt x="314738" y="1541857"/>
                  <a:pt x="467003" y="1260322"/>
                  <a:pt x="812883" y="1085274"/>
                </a:cubicBezTo>
                <a:cubicBezTo>
                  <a:pt x="1157935" y="910432"/>
                  <a:pt x="1292205" y="948179"/>
                  <a:pt x="1676967" y="805643"/>
                </a:cubicBezTo>
                <a:cubicBezTo>
                  <a:pt x="1902150" y="724878"/>
                  <a:pt x="2122194" y="591756"/>
                  <a:pt x="2325887" y="463589"/>
                </a:cubicBezTo>
                <a:cubicBezTo>
                  <a:pt x="2636399" y="263066"/>
                  <a:pt x="2810049" y="197787"/>
                  <a:pt x="3063384" y="102968"/>
                </a:cubicBezTo>
                <a:cubicBezTo>
                  <a:pt x="3242571" y="36089"/>
                  <a:pt x="3424543" y="2424"/>
                  <a:pt x="3604196" y="127"/>
                </a:cubicBezTo>
                <a:close/>
              </a:path>
            </a:pathLst>
          </a:custGeom>
          <a:solidFill>
            <a:schemeClr val="accent1">
              <a:alpha val="20000"/>
            </a:schemeClr>
          </a:solidFill>
          <a:ln>
            <a:noFill/>
          </a:ln>
        </p:spPr>
        <p:txBody>
          <a:bodyPr vert="horz" wrap="square" lIns="91406" tIns="45703" rIns="91406" bIns="45703" numCol="1" anchor="t" anchorCtr="0" compatLnSpc="1"/>
          <a:lstStyle/>
          <a:p>
            <a:pPr lvl="0"/>
            <a:endParaRPr lang="zh-CN" altLang="en-US" sz="1800">
              <a:solidFill>
                <a:schemeClr val="tx1"/>
              </a:solidFill>
            </a:endParaRPr>
          </a:p>
        </p:txBody>
      </p:sp>
      <p:pic>
        <p:nvPicPr>
          <p:cNvPr id="9" name="图片 8"/>
          <p:cNvPicPr>
            <a:picLocks noChangeAspect="1"/>
          </p:cNvPicPr>
          <p:nvPr userDrawn="1">
            <p:custDataLst>
              <p:tags r:id="rId3"/>
            </p:custDataLst>
          </p:nvPr>
        </p:nvPicPr>
        <p:blipFill rotWithShape="1">
          <a:blip r:embed="rId4" cstate="print">
            <a:extLst>
              <a:ext uri="{28A0092B-C50C-407E-A947-70E740481C1C}">
                <a14:useLocalDpi xmlns:a14="http://schemas.microsoft.com/office/drawing/2010/main" val="0"/>
              </a:ext>
            </a:extLst>
          </a:blip>
          <a:srcRect l="16256" t="-1" r="15418" b="631"/>
          <a:stretch>
            <a:fillRect/>
          </a:stretch>
        </p:blipFill>
        <p:spPr>
          <a:xfrm>
            <a:off x="5988406" y="2504807"/>
            <a:ext cx="5415210" cy="4430684"/>
          </a:xfrm>
          <a:prstGeom prst="rect">
            <a:avLst/>
          </a:prstGeom>
        </p:spPr>
      </p:pic>
      <p:sp>
        <p:nvSpPr>
          <p:cNvPr id="2" name="标题 1"/>
          <p:cNvSpPr>
            <a:spLocks noGrp="1"/>
          </p:cNvSpPr>
          <p:nvPr>
            <p:ph type="ctrTitle" hasCustomPrompt="1"/>
            <p:custDataLst>
              <p:tags r:id="rId5"/>
            </p:custDataLst>
          </p:nvPr>
        </p:nvSpPr>
        <p:spPr>
          <a:xfrm>
            <a:off x="695071" y="1387615"/>
            <a:ext cx="5398706" cy="2151865"/>
          </a:xfrm>
        </p:spPr>
        <p:txBody>
          <a:bodyPr wrap="square" anchor="b" anchorCtr="0">
            <a:normAutofit/>
          </a:bodyPr>
          <a:lstStyle>
            <a:lvl1pPr algn="l">
              <a:lnSpc>
                <a:spcPct val="100000"/>
              </a:lnSpc>
              <a:defRPr sz="5530"/>
            </a:lvl1pPr>
          </a:lstStyle>
          <a:p>
            <a:r>
              <a:rPr lang="zh-CN" altLang="en-US" dirty="0"/>
              <a:t>编辑母版标题</a:t>
            </a:r>
            <a:endParaRPr lang="zh-CN" altLang="en-US" dirty="0"/>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8607461" y="6437198"/>
            <a:ext cx="2742200" cy="364992"/>
          </a:xfrm>
        </p:spPr>
        <p:txBody>
          <a:bodyPr wrap="square">
            <a:normAutofit/>
          </a:bodyPr>
          <a:lstStyle/>
          <a:p>
            <a:fld id="{BE5F26B5-172A-4DC2-B0B7-181CFC56B87C}" type="slidenum">
              <a:rPr lang="zh-CN" altLang="en-US" smtClean="0"/>
            </a:fld>
            <a:endParaRPr lang="zh-CN" altLang="en-US"/>
          </a:p>
        </p:txBody>
      </p:sp>
      <p:sp>
        <p:nvSpPr>
          <p:cNvPr id="24" name="文本占位符 23"/>
          <p:cNvSpPr>
            <a:spLocks noGrp="1"/>
          </p:cNvSpPr>
          <p:nvPr>
            <p:ph type="body" sz="quarter" idx="17" hasCustomPrompt="1"/>
            <p:custDataLst>
              <p:tags r:id="rId9"/>
            </p:custDataLst>
          </p:nvPr>
        </p:nvSpPr>
        <p:spPr>
          <a:xfrm>
            <a:off x="701744" y="3822586"/>
            <a:ext cx="2878950" cy="579389"/>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a:solidFill>
                  <a:schemeClr val="lt1">
                    <a:lumMod val="100000"/>
                  </a:schemeClr>
                </a:solidFill>
              </a:defRPr>
            </a:lvl1pPr>
          </a:lstStyle>
          <a:p>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5.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2" Type="http://schemas.openxmlformats.org/officeDocument/2006/relationships/theme" Target="../theme/theme2.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6" Type="http://schemas.openxmlformats.org/officeDocument/2006/relationships/theme" Target="../theme/theme3.xml"/><Relationship Id="rId15" Type="http://schemas.openxmlformats.org/officeDocument/2006/relationships/image" Target="../media/image5.png"/><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8" Type="http://schemas.openxmlformats.org/officeDocument/2006/relationships/theme" Target="../theme/theme4.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tags" Target="../tags/tag73.xml"/><Relationship Id="rId13" Type="http://schemas.openxmlformats.org/officeDocument/2006/relationships/tags" Target="../tags/tag72.xml"/><Relationship Id="rId12" Type="http://schemas.openxmlformats.org/officeDocument/2006/relationships/tags" Target="../tags/tag7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20" name="Rectangle 19"/>
          <p:cNvSpPr/>
          <p:nvPr/>
        </p:nvSpPr>
        <p:spPr bwMode="gray">
          <a:xfrm rot="5400000" flipH="1">
            <a:off x="5882481" y="716756"/>
            <a:ext cx="4222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 name="Rectangle 29"/>
          <p:cNvSpPr/>
          <p:nvPr/>
        </p:nvSpPr>
        <p:spPr bwMode="gray">
          <a:xfrm flipH="1">
            <a:off x="0" y="0"/>
            <a:ext cx="12187238" cy="6937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28" name="Rectangle 27"/>
          <p:cNvSpPr/>
          <p:nvPr/>
        </p:nvSpPr>
        <p:spPr bwMode="gray">
          <a:xfrm flipH="1">
            <a:off x="0" y="0"/>
            <a:ext cx="646113" cy="693738"/>
          </a:xfrm>
          <a:prstGeom prst="rect">
            <a:avLst/>
          </a:prstGeom>
          <a:gradFill flip="none" rotWithShape="1">
            <a:gsLst>
              <a:gs pos="0">
                <a:schemeClr val="bg2">
                  <a:alpha val="50000"/>
                </a:schemeClr>
              </a:gs>
              <a:gs pos="100000">
                <a:schemeClr val="bg2">
                  <a:alpha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029" name="Rectangle 3"/>
          <p:cNvSpPr>
            <a:spLocks noGrp="1"/>
          </p:cNvSpPr>
          <p:nvPr>
            <p:ph type="body"/>
          </p:nvPr>
        </p:nvSpPr>
        <p:spPr>
          <a:xfrm>
            <a:off x="1543050" y="2354263"/>
            <a:ext cx="9748838" cy="2182812"/>
          </a:xfrm>
          <a:prstGeom prst="rect">
            <a:avLst/>
          </a:prstGeom>
          <a:noFill/>
          <a:ln w="9525">
            <a:noFill/>
          </a:ln>
        </p:spPr>
        <p:txBody>
          <a:bodyPr lIns="122932" tIns="61466" rIns="122932" bIns="61466" anchor="t" anchorCtr="1">
            <a:spAutoFit/>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30" name="Rectangle 2"/>
          <p:cNvSpPr>
            <a:spLocks noGrp="1"/>
          </p:cNvSpPr>
          <p:nvPr>
            <p:ph type="title"/>
          </p:nvPr>
        </p:nvSpPr>
        <p:spPr>
          <a:xfrm>
            <a:off x="646113" y="1404938"/>
            <a:ext cx="11541125" cy="579437"/>
          </a:xfrm>
          <a:prstGeom prst="rect">
            <a:avLst/>
          </a:prstGeom>
          <a:noFill/>
          <a:ln w="9525">
            <a:noFill/>
          </a:ln>
        </p:spPr>
        <p:txBody>
          <a:bodyPr lIns="614660" tIns="61466" rIns="614660" bIns="61466" anchor="b" anchorCtr="1">
            <a:spAutoFit/>
          </a:bodyPr>
          <a:lstStyle/>
          <a:p>
            <a:pPr lvl="0"/>
            <a:r>
              <a:rPr lang="en-US" altLang="en-US" dirty="0"/>
              <a:t>Click to edit Master title style</a:t>
            </a:r>
            <a:endParaRPr lang="en-US" altLang="en-US" dirty="0"/>
          </a:p>
        </p:txBody>
      </p:sp>
      <p:sp>
        <p:nvSpPr>
          <p:cNvPr id="3"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lgn="ct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lgn="r" eaLnBrk="1" hangingPunct="1">
              <a:defRPr sz="1300">
                <a:solidFill>
                  <a:schemeClr val="bg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pic>
        <p:nvPicPr>
          <p:cNvPr id="1034" name="图片 11"/>
          <p:cNvPicPr>
            <a:picLocks noChangeAspect="1"/>
          </p:cNvPicPr>
          <p:nvPr userDrawn="1"/>
        </p:nvPicPr>
        <p:blipFill>
          <a:blip r:embed="rId15"/>
          <a:stretch>
            <a:fillRect/>
          </a:stretch>
        </p:blipFill>
        <p:spPr>
          <a:xfrm>
            <a:off x="165100" y="122238"/>
            <a:ext cx="328613" cy="373062"/>
          </a:xfrm>
          <a:prstGeom prst="rect">
            <a:avLst/>
          </a:prstGeom>
          <a:noFill/>
          <a:ln w="9525">
            <a:noFill/>
          </a:ln>
        </p:spPr>
      </p:pic>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sldNum="0" hdr="0" ftr="0" dt="0"/>
  <p:txStyles>
    <p:titleStyle>
      <a:lvl1pPr algn="l" rtl="0" eaLnBrk="0" fontAlgn="base" hangingPunct="0">
        <a:lnSpc>
          <a:spcPct val="90000"/>
        </a:lnSpc>
        <a:spcBef>
          <a:spcPct val="0"/>
        </a:spcBef>
        <a:spcAft>
          <a:spcPct val="0"/>
        </a:spcAft>
        <a:defRPr sz="3200" b="1">
          <a:solidFill>
            <a:schemeClr val="bg2"/>
          </a:solidFill>
          <a:latin typeface="Lucida Sans" pitchFamily="34" charset="0"/>
          <a:ea typeface="+mj-ea"/>
          <a:cs typeface="+mj-cs"/>
        </a:defRPr>
      </a:lvl1pPr>
      <a:lvl2pPr algn="l" rtl="0" eaLnBrk="0" fontAlgn="base" hangingPunct="0">
        <a:lnSpc>
          <a:spcPct val="90000"/>
        </a:lnSpc>
        <a:spcBef>
          <a:spcPct val="0"/>
        </a:spcBef>
        <a:spcAft>
          <a:spcPct val="0"/>
        </a:spcAft>
        <a:defRPr sz="3200" b="1">
          <a:solidFill>
            <a:schemeClr val="bg2"/>
          </a:solidFill>
          <a:latin typeface="Lucida Sans" pitchFamily="34" charset="0"/>
        </a:defRPr>
      </a:lvl2pPr>
      <a:lvl3pPr algn="l" rtl="0" eaLnBrk="0" fontAlgn="base" hangingPunct="0">
        <a:lnSpc>
          <a:spcPct val="90000"/>
        </a:lnSpc>
        <a:spcBef>
          <a:spcPct val="0"/>
        </a:spcBef>
        <a:spcAft>
          <a:spcPct val="0"/>
        </a:spcAft>
        <a:defRPr sz="3200" b="1">
          <a:solidFill>
            <a:schemeClr val="bg2"/>
          </a:solidFill>
          <a:latin typeface="Lucida Sans" pitchFamily="34" charset="0"/>
        </a:defRPr>
      </a:lvl3pPr>
      <a:lvl4pPr algn="l" rtl="0" eaLnBrk="0" fontAlgn="base" hangingPunct="0">
        <a:lnSpc>
          <a:spcPct val="90000"/>
        </a:lnSpc>
        <a:spcBef>
          <a:spcPct val="0"/>
        </a:spcBef>
        <a:spcAft>
          <a:spcPct val="0"/>
        </a:spcAft>
        <a:defRPr sz="3200" b="1">
          <a:solidFill>
            <a:schemeClr val="bg2"/>
          </a:solidFill>
          <a:latin typeface="Lucida Sans" pitchFamily="34" charset="0"/>
        </a:defRPr>
      </a:lvl4pPr>
      <a:lvl5pPr algn="l" rtl="0" eaLnBrk="0" fontAlgn="base" hangingPunct="0">
        <a:lnSpc>
          <a:spcPct val="90000"/>
        </a:lnSpc>
        <a:spcBef>
          <a:spcPct val="0"/>
        </a:spcBef>
        <a:spcAft>
          <a:spcPct val="0"/>
        </a:spcAft>
        <a:defRPr sz="3200" b="1">
          <a:solidFill>
            <a:schemeClr val="bg2"/>
          </a:solidFill>
          <a:latin typeface="Lucida Sans" pitchFamily="34" charset="0"/>
        </a:defRPr>
      </a:lvl5pPr>
      <a:lvl6pPr marL="614680" algn="l" rtl="0" fontAlgn="base">
        <a:lnSpc>
          <a:spcPct val="90000"/>
        </a:lnSpc>
        <a:spcBef>
          <a:spcPct val="0"/>
        </a:spcBef>
        <a:spcAft>
          <a:spcPct val="0"/>
        </a:spcAft>
        <a:defRPr sz="3800" b="1">
          <a:solidFill>
            <a:schemeClr val="accent2"/>
          </a:solidFill>
          <a:latin typeface="Arial" panose="020B0604020202020204" pitchFamily="34" charset="0"/>
        </a:defRPr>
      </a:lvl6pPr>
      <a:lvl7pPr marL="1229360" algn="l" rtl="0" fontAlgn="base">
        <a:lnSpc>
          <a:spcPct val="90000"/>
        </a:lnSpc>
        <a:spcBef>
          <a:spcPct val="0"/>
        </a:spcBef>
        <a:spcAft>
          <a:spcPct val="0"/>
        </a:spcAft>
        <a:defRPr sz="3800" b="1">
          <a:solidFill>
            <a:schemeClr val="accent2"/>
          </a:solidFill>
          <a:latin typeface="Arial" panose="020B0604020202020204" pitchFamily="34" charset="0"/>
        </a:defRPr>
      </a:lvl7pPr>
      <a:lvl8pPr marL="1844040" algn="l" rtl="0" fontAlgn="base">
        <a:lnSpc>
          <a:spcPct val="90000"/>
        </a:lnSpc>
        <a:spcBef>
          <a:spcPct val="0"/>
        </a:spcBef>
        <a:spcAft>
          <a:spcPct val="0"/>
        </a:spcAft>
        <a:defRPr sz="3800" b="1">
          <a:solidFill>
            <a:schemeClr val="accent2"/>
          </a:solidFill>
          <a:latin typeface="Arial" panose="020B0604020202020204" pitchFamily="34" charset="0"/>
        </a:defRPr>
      </a:lvl8pPr>
      <a:lvl9pPr marL="2458720" algn="l" rtl="0" fontAlgn="base">
        <a:lnSpc>
          <a:spcPct val="90000"/>
        </a:lnSpc>
        <a:spcBef>
          <a:spcPct val="0"/>
        </a:spcBef>
        <a:spcAft>
          <a:spcPct val="0"/>
        </a:spcAft>
        <a:defRPr sz="3800" b="1">
          <a:solidFill>
            <a:schemeClr val="accent2"/>
          </a:solidFill>
          <a:latin typeface="Arial" panose="020B0604020202020204" pitchFamily="34" charset="0"/>
        </a:defRPr>
      </a:lvl9pPr>
    </p:titleStyle>
    <p:bodyStyle>
      <a:lvl1pPr marL="220980" indent="-220980" algn="l" rtl="0" eaLnBrk="0" fontAlgn="base" hangingPunct="0">
        <a:spcBef>
          <a:spcPct val="25000"/>
        </a:spcBef>
        <a:spcAft>
          <a:spcPct val="0"/>
        </a:spcAft>
        <a:buClr>
          <a:srgbClr val="C60C30"/>
        </a:buClr>
        <a:buSzPct val="100000"/>
        <a:buFont typeface="Arial" panose="020B0604020202020204" pitchFamily="34" charset="0"/>
        <a:buChar char="•"/>
        <a:defRPr lang="en-US" sz="3200" dirty="0">
          <a:solidFill>
            <a:schemeClr val="bg2"/>
          </a:solidFill>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p:bodyStyle>
    <p:otherStyle>
      <a:defPPr>
        <a:defRPr lang="en-US"/>
      </a:defPPr>
      <a:lvl1pPr marL="0" algn="l" defTabSz="1229360" rtl="0" eaLnBrk="1" latinLnBrk="0" hangingPunct="1">
        <a:defRPr sz="2400" kern="1200">
          <a:solidFill>
            <a:schemeClr val="tx1"/>
          </a:solidFill>
          <a:latin typeface="+mn-lt"/>
          <a:ea typeface="+mn-ea"/>
          <a:cs typeface="+mn-cs"/>
        </a:defRPr>
      </a:lvl1pPr>
      <a:lvl2pPr marL="614680" algn="l" defTabSz="1229360" rtl="0" eaLnBrk="1" latinLnBrk="0" hangingPunct="1">
        <a:defRPr sz="2400" kern="1200">
          <a:solidFill>
            <a:schemeClr val="tx1"/>
          </a:solidFill>
          <a:latin typeface="+mn-lt"/>
          <a:ea typeface="+mn-ea"/>
          <a:cs typeface="+mn-cs"/>
        </a:defRPr>
      </a:lvl2pPr>
      <a:lvl3pPr marL="1229360" algn="l" defTabSz="1229360" rtl="0" eaLnBrk="1" latinLnBrk="0" hangingPunct="1">
        <a:defRPr sz="2400" kern="1200">
          <a:solidFill>
            <a:schemeClr val="tx1"/>
          </a:solidFill>
          <a:latin typeface="+mn-lt"/>
          <a:ea typeface="+mn-ea"/>
          <a:cs typeface="+mn-cs"/>
        </a:defRPr>
      </a:lvl3pPr>
      <a:lvl4pPr marL="1844040" algn="l" defTabSz="1229360" rtl="0" eaLnBrk="1" latinLnBrk="0" hangingPunct="1">
        <a:defRPr sz="2400" kern="1200">
          <a:solidFill>
            <a:schemeClr val="tx1"/>
          </a:solidFill>
          <a:latin typeface="+mn-lt"/>
          <a:ea typeface="+mn-ea"/>
          <a:cs typeface="+mn-cs"/>
        </a:defRPr>
      </a:lvl4pPr>
      <a:lvl5pPr marL="2458720" algn="l" defTabSz="1229360" rtl="0" eaLnBrk="1" latinLnBrk="0" hangingPunct="1">
        <a:defRPr sz="2400" kern="1200">
          <a:solidFill>
            <a:schemeClr val="tx1"/>
          </a:solidFill>
          <a:latin typeface="+mn-lt"/>
          <a:ea typeface="+mn-ea"/>
          <a:cs typeface="+mn-cs"/>
        </a:defRPr>
      </a:lvl5pPr>
      <a:lvl6pPr marL="3073400" algn="l" defTabSz="1229360" rtl="0" eaLnBrk="1" latinLnBrk="0" hangingPunct="1">
        <a:defRPr sz="2400" kern="1200">
          <a:solidFill>
            <a:schemeClr val="tx1"/>
          </a:solidFill>
          <a:latin typeface="+mn-lt"/>
          <a:ea typeface="+mn-ea"/>
          <a:cs typeface="+mn-cs"/>
        </a:defRPr>
      </a:lvl6pPr>
      <a:lvl7pPr marL="3688080" algn="l" defTabSz="1229360" rtl="0" eaLnBrk="1" latinLnBrk="0" hangingPunct="1">
        <a:defRPr sz="2400" kern="1200">
          <a:solidFill>
            <a:schemeClr val="tx1"/>
          </a:solidFill>
          <a:latin typeface="+mn-lt"/>
          <a:ea typeface="+mn-ea"/>
          <a:cs typeface="+mn-cs"/>
        </a:defRPr>
      </a:lvl7pPr>
      <a:lvl8pPr marL="4302760" algn="l" defTabSz="1229360" rtl="0" eaLnBrk="1" latinLnBrk="0" hangingPunct="1">
        <a:defRPr sz="2400" kern="1200">
          <a:solidFill>
            <a:schemeClr val="tx1"/>
          </a:solidFill>
          <a:latin typeface="+mn-lt"/>
          <a:ea typeface="+mn-ea"/>
          <a:cs typeface="+mn-cs"/>
        </a:defRPr>
      </a:lvl8pPr>
      <a:lvl9pPr marL="4917440" algn="l" defTabSz="122936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文本占位符 2"/>
          <p:cNvSpPr>
            <a:spLocks noGrp="1"/>
          </p:cNvSpPr>
          <p:nvPr>
            <p:ph type="body"/>
          </p:nvPr>
        </p:nvSpPr>
        <p:spPr>
          <a:xfrm>
            <a:off x="609600" y="1638300"/>
            <a:ext cx="10968038" cy="4633913"/>
          </a:xfrm>
          <a:prstGeom prst="rect">
            <a:avLst/>
          </a:prstGeom>
          <a:noFill/>
          <a:ln w="9525">
            <a:noFill/>
          </a:ln>
        </p:spPr>
        <p:txBody>
          <a:bodyPr anchor="t" anchorCtr="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09600" y="6507163"/>
            <a:ext cx="2843213" cy="374650"/>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3"/>
          </p:nvPr>
        </p:nvSpPr>
        <p:spPr>
          <a:xfrm>
            <a:off x="4164013" y="6507163"/>
            <a:ext cx="3859213" cy="374650"/>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4"/>
          </p:nvPr>
        </p:nvSpPr>
        <p:spPr>
          <a:xfrm>
            <a:off x="8734425" y="6507163"/>
            <a:ext cx="2843213" cy="374650"/>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20" name="Rectangle 19"/>
          <p:cNvSpPr/>
          <p:nvPr/>
        </p:nvSpPr>
        <p:spPr bwMode="gray">
          <a:xfrm rot="5400000" flipH="1">
            <a:off x="5882481" y="716756"/>
            <a:ext cx="4222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 name="Rectangle 29"/>
          <p:cNvSpPr/>
          <p:nvPr/>
        </p:nvSpPr>
        <p:spPr bwMode="gray">
          <a:xfrm flipH="1">
            <a:off x="0" y="0"/>
            <a:ext cx="12187238" cy="6937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28" name="Rectangle 27"/>
          <p:cNvSpPr/>
          <p:nvPr/>
        </p:nvSpPr>
        <p:spPr bwMode="gray">
          <a:xfrm flipH="1">
            <a:off x="0" y="0"/>
            <a:ext cx="646113" cy="693738"/>
          </a:xfrm>
          <a:prstGeom prst="rect">
            <a:avLst/>
          </a:prstGeom>
          <a:gradFill flip="none" rotWithShape="1">
            <a:gsLst>
              <a:gs pos="0">
                <a:schemeClr val="bg2">
                  <a:alpha val="50000"/>
                </a:schemeClr>
              </a:gs>
              <a:gs pos="100000">
                <a:schemeClr val="bg2">
                  <a:alpha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029" name="Rectangle 3"/>
          <p:cNvSpPr>
            <a:spLocks noGrp="1"/>
          </p:cNvSpPr>
          <p:nvPr>
            <p:ph type="body"/>
          </p:nvPr>
        </p:nvSpPr>
        <p:spPr>
          <a:xfrm>
            <a:off x="1543050" y="2354263"/>
            <a:ext cx="9748838" cy="2182812"/>
          </a:xfrm>
          <a:prstGeom prst="rect">
            <a:avLst/>
          </a:prstGeom>
          <a:noFill/>
          <a:ln w="9525">
            <a:noFill/>
          </a:ln>
        </p:spPr>
        <p:txBody>
          <a:bodyPr lIns="122932" tIns="61466" rIns="122932" bIns="61466" anchor="t" anchorCtr="1">
            <a:spAutoFit/>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30" name="Rectangle 2"/>
          <p:cNvSpPr>
            <a:spLocks noGrp="1"/>
          </p:cNvSpPr>
          <p:nvPr>
            <p:ph type="title"/>
          </p:nvPr>
        </p:nvSpPr>
        <p:spPr>
          <a:xfrm>
            <a:off x="646113" y="1404938"/>
            <a:ext cx="11541125" cy="579437"/>
          </a:xfrm>
          <a:prstGeom prst="rect">
            <a:avLst/>
          </a:prstGeom>
          <a:noFill/>
          <a:ln w="9525">
            <a:noFill/>
          </a:ln>
        </p:spPr>
        <p:txBody>
          <a:bodyPr lIns="614660" tIns="61466" rIns="614660" bIns="61466" anchor="b" anchorCtr="1">
            <a:spAutoFit/>
          </a:bodyPr>
          <a:lstStyle/>
          <a:p>
            <a:pPr lvl="0"/>
            <a:r>
              <a:rPr lang="en-US" altLang="en-US" dirty="0"/>
              <a:t>Click to edit Master title style</a:t>
            </a:r>
            <a:endParaRPr lang="en-US" altLang="en-US" dirty="0"/>
          </a:p>
        </p:txBody>
      </p:sp>
      <p:sp>
        <p:nvSpPr>
          <p:cNvPr id="3"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lgn="ct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lgn="r" eaLnBrk="1" hangingPunct="1">
              <a:defRPr sz="1300">
                <a:solidFill>
                  <a:schemeClr val="bg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pic>
        <p:nvPicPr>
          <p:cNvPr id="1034" name="图片 11"/>
          <p:cNvPicPr>
            <a:picLocks noChangeAspect="1"/>
          </p:cNvPicPr>
          <p:nvPr userDrawn="1"/>
        </p:nvPicPr>
        <p:blipFill>
          <a:blip r:embed="rId15"/>
          <a:stretch>
            <a:fillRect/>
          </a:stretch>
        </p:blipFill>
        <p:spPr>
          <a:xfrm>
            <a:off x="165100" y="122238"/>
            <a:ext cx="328613" cy="373062"/>
          </a:xfrm>
          <a:prstGeom prst="rect">
            <a:avLst/>
          </a:prstGeom>
          <a:noFill/>
          <a:ln w="9525">
            <a:noFill/>
          </a:ln>
        </p:spPr>
      </p:pic>
    </p:spTree>
  </p:cSld>
  <p:clrMap bg1="dk2" tx1="lt1" bg2="dk1"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ransition/>
  <p:hf sldNum="0" hdr="0" ftr="0" dt="0"/>
  <p:txStyles>
    <p:titleStyle>
      <a:lvl1pPr algn="l" rtl="0" eaLnBrk="0" fontAlgn="base" hangingPunct="0">
        <a:lnSpc>
          <a:spcPct val="90000"/>
        </a:lnSpc>
        <a:spcBef>
          <a:spcPct val="0"/>
        </a:spcBef>
        <a:spcAft>
          <a:spcPct val="0"/>
        </a:spcAft>
        <a:defRPr sz="3200" b="1">
          <a:solidFill>
            <a:schemeClr val="bg2"/>
          </a:solidFill>
          <a:latin typeface="Lucida Sans" pitchFamily="34" charset="0"/>
          <a:ea typeface="+mj-ea"/>
          <a:cs typeface="+mj-cs"/>
        </a:defRPr>
      </a:lvl1pPr>
      <a:lvl2pPr algn="l" rtl="0" eaLnBrk="0" fontAlgn="base" hangingPunct="0">
        <a:lnSpc>
          <a:spcPct val="90000"/>
        </a:lnSpc>
        <a:spcBef>
          <a:spcPct val="0"/>
        </a:spcBef>
        <a:spcAft>
          <a:spcPct val="0"/>
        </a:spcAft>
        <a:defRPr sz="3200" b="1">
          <a:solidFill>
            <a:schemeClr val="bg2"/>
          </a:solidFill>
          <a:latin typeface="Lucida Sans" pitchFamily="34" charset="0"/>
        </a:defRPr>
      </a:lvl2pPr>
      <a:lvl3pPr algn="l" rtl="0" eaLnBrk="0" fontAlgn="base" hangingPunct="0">
        <a:lnSpc>
          <a:spcPct val="90000"/>
        </a:lnSpc>
        <a:spcBef>
          <a:spcPct val="0"/>
        </a:spcBef>
        <a:spcAft>
          <a:spcPct val="0"/>
        </a:spcAft>
        <a:defRPr sz="3200" b="1">
          <a:solidFill>
            <a:schemeClr val="bg2"/>
          </a:solidFill>
          <a:latin typeface="Lucida Sans" pitchFamily="34" charset="0"/>
        </a:defRPr>
      </a:lvl3pPr>
      <a:lvl4pPr algn="l" rtl="0" eaLnBrk="0" fontAlgn="base" hangingPunct="0">
        <a:lnSpc>
          <a:spcPct val="90000"/>
        </a:lnSpc>
        <a:spcBef>
          <a:spcPct val="0"/>
        </a:spcBef>
        <a:spcAft>
          <a:spcPct val="0"/>
        </a:spcAft>
        <a:defRPr sz="3200" b="1">
          <a:solidFill>
            <a:schemeClr val="bg2"/>
          </a:solidFill>
          <a:latin typeface="Lucida Sans" pitchFamily="34" charset="0"/>
        </a:defRPr>
      </a:lvl4pPr>
      <a:lvl5pPr algn="l" rtl="0" eaLnBrk="0" fontAlgn="base" hangingPunct="0">
        <a:lnSpc>
          <a:spcPct val="90000"/>
        </a:lnSpc>
        <a:spcBef>
          <a:spcPct val="0"/>
        </a:spcBef>
        <a:spcAft>
          <a:spcPct val="0"/>
        </a:spcAft>
        <a:defRPr sz="3200" b="1">
          <a:solidFill>
            <a:schemeClr val="bg2"/>
          </a:solidFill>
          <a:latin typeface="Lucida Sans" pitchFamily="34" charset="0"/>
        </a:defRPr>
      </a:lvl5pPr>
      <a:lvl6pPr marL="614680" algn="l" rtl="0" fontAlgn="base">
        <a:lnSpc>
          <a:spcPct val="90000"/>
        </a:lnSpc>
        <a:spcBef>
          <a:spcPct val="0"/>
        </a:spcBef>
        <a:spcAft>
          <a:spcPct val="0"/>
        </a:spcAft>
        <a:defRPr sz="3800" b="1">
          <a:solidFill>
            <a:schemeClr val="accent2"/>
          </a:solidFill>
          <a:latin typeface="Arial" panose="020B0604020202020204" pitchFamily="34" charset="0"/>
        </a:defRPr>
      </a:lvl6pPr>
      <a:lvl7pPr marL="1229360" algn="l" rtl="0" fontAlgn="base">
        <a:lnSpc>
          <a:spcPct val="90000"/>
        </a:lnSpc>
        <a:spcBef>
          <a:spcPct val="0"/>
        </a:spcBef>
        <a:spcAft>
          <a:spcPct val="0"/>
        </a:spcAft>
        <a:defRPr sz="3800" b="1">
          <a:solidFill>
            <a:schemeClr val="accent2"/>
          </a:solidFill>
          <a:latin typeface="Arial" panose="020B0604020202020204" pitchFamily="34" charset="0"/>
        </a:defRPr>
      </a:lvl7pPr>
      <a:lvl8pPr marL="1844040" algn="l" rtl="0" fontAlgn="base">
        <a:lnSpc>
          <a:spcPct val="90000"/>
        </a:lnSpc>
        <a:spcBef>
          <a:spcPct val="0"/>
        </a:spcBef>
        <a:spcAft>
          <a:spcPct val="0"/>
        </a:spcAft>
        <a:defRPr sz="3800" b="1">
          <a:solidFill>
            <a:schemeClr val="accent2"/>
          </a:solidFill>
          <a:latin typeface="Arial" panose="020B0604020202020204" pitchFamily="34" charset="0"/>
        </a:defRPr>
      </a:lvl8pPr>
      <a:lvl9pPr marL="2458720" algn="l" rtl="0" fontAlgn="base">
        <a:lnSpc>
          <a:spcPct val="90000"/>
        </a:lnSpc>
        <a:spcBef>
          <a:spcPct val="0"/>
        </a:spcBef>
        <a:spcAft>
          <a:spcPct val="0"/>
        </a:spcAft>
        <a:defRPr sz="3800" b="1">
          <a:solidFill>
            <a:schemeClr val="accent2"/>
          </a:solidFill>
          <a:latin typeface="Arial" panose="020B0604020202020204" pitchFamily="34" charset="0"/>
        </a:defRPr>
      </a:lvl9pPr>
    </p:titleStyle>
    <p:bodyStyle>
      <a:lvl1pPr marL="220980" indent="-220980" algn="l" rtl="0" eaLnBrk="0" fontAlgn="base" hangingPunct="0">
        <a:spcBef>
          <a:spcPct val="25000"/>
        </a:spcBef>
        <a:spcAft>
          <a:spcPct val="0"/>
        </a:spcAft>
        <a:buClr>
          <a:srgbClr val="C60C30"/>
        </a:buClr>
        <a:buSzPct val="100000"/>
        <a:buFont typeface="Arial" panose="020B0604020202020204" pitchFamily="34" charset="0"/>
        <a:buChar char="•"/>
        <a:defRPr lang="en-US" sz="3200" dirty="0">
          <a:solidFill>
            <a:schemeClr val="bg2"/>
          </a:solidFill>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p:bodyStyle>
    <p:otherStyle>
      <a:defPPr>
        <a:defRPr lang="en-US"/>
      </a:defPPr>
      <a:lvl1pPr marL="0" algn="l" defTabSz="1229360" rtl="0" eaLnBrk="1" latinLnBrk="0" hangingPunct="1">
        <a:defRPr sz="2400" kern="1200">
          <a:solidFill>
            <a:schemeClr val="tx1"/>
          </a:solidFill>
          <a:latin typeface="+mn-lt"/>
          <a:ea typeface="+mn-ea"/>
          <a:cs typeface="+mn-cs"/>
        </a:defRPr>
      </a:lvl1pPr>
      <a:lvl2pPr marL="614680" algn="l" defTabSz="1229360" rtl="0" eaLnBrk="1" latinLnBrk="0" hangingPunct="1">
        <a:defRPr sz="2400" kern="1200">
          <a:solidFill>
            <a:schemeClr val="tx1"/>
          </a:solidFill>
          <a:latin typeface="+mn-lt"/>
          <a:ea typeface="+mn-ea"/>
          <a:cs typeface="+mn-cs"/>
        </a:defRPr>
      </a:lvl2pPr>
      <a:lvl3pPr marL="1229360" algn="l" defTabSz="1229360" rtl="0" eaLnBrk="1" latinLnBrk="0" hangingPunct="1">
        <a:defRPr sz="2400" kern="1200">
          <a:solidFill>
            <a:schemeClr val="tx1"/>
          </a:solidFill>
          <a:latin typeface="+mn-lt"/>
          <a:ea typeface="+mn-ea"/>
          <a:cs typeface="+mn-cs"/>
        </a:defRPr>
      </a:lvl3pPr>
      <a:lvl4pPr marL="1844040" algn="l" defTabSz="1229360" rtl="0" eaLnBrk="1" latinLnBrk="0" hangingPunct="1">
        <a:defRPr sz="2400" kern="1200">
          <a:solidFill>
            <a:schemeClr val="tx1"/>
          </a:solidFill>
          <a:latin typeface="+mn-lt"/>
          <a:ea typeface="+mn-ea"/>
          <a:cs typeface="+mn-cs"/>
        </a:defRPr>
      </a:lvl4pPr>
      <a:lvl5pPr marL="2458720" algn="l" defTabSz="1229360" rtl="0" eaLnBrk="1" latinLnBrk="0" hangingPunct="1">
        <a:defRPr sz="2400" kern="1200">
          <a:solidFill>
            <a:schemeClr val="tx1"/>
          </a:solidFill>
          <a:latin typeface="+mn-lt"/>
          <a:ea typeface="+mn-ea"/>
          <a:cs typeface="+mn-cs"/>
        </a:defRPr>
      </a:lvl5pPr>
      <a:lvl6pPr marL="3073400" algn="l" defTabSz="1229360" rtl="0" eaLnBrk="1" latinLnBrk="0" hangingPunct="1">
        <a:defRPr sz="2400" kern="1200">
          <a:solidFill>
            <a:schemeClr val="tx1"/>
          </a:solidFill>
          <a:latin typeface="+mn-lt"/>
          <a:ea typeface="+mn-ea"/>
          <a:cs typeface="+mn-cs"/>
        </a:defRPr>
      </a:lvl6pPr>
      <a:lvl7pPr marL="3688080" algn="l" defTabSz="1229360" rtl="0" eaLnBrk="1" latinLnBrk="0" hangingPunct="1">
        <a:defRPr sz="2400" kern="1200">
          <a:solidFill>
            <a:schemeClr val="tx1"/>
          </a:solidFill>
          <a:latin typeface="+mn-lt"/>
          <a:ea typeface="+mn-ea"/>
          <a:cs typeface="+mn-cs"/>
        </a:defRPr>
      </a:lvl7pPr>
      <a:lvl8pPr marL="4302760" algn="l" defTabSz="1229360" rtl="0" eaLnBrk="1" latinLnBrk="0" hangingPunct="1">
        <a:defRPr sz="2400" kern="1200">
          <a:solidFill>
            <a:schemeClr val="tx1"/>
          </a:solidFill>
          <a:latin typeface="+mn-lt"/>
          <a:ea typeface="+mn-ea"/>
          <a:cs typeface="+mn-cs"/>
        </a:defRPr>
      </a:lvl8pPr>
      <a:lvl9pPr marL="4917440" algn="l" defTabSz="122936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547" y="443034"/>
            <a:ext cx="10796063" cy="719738"/>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071" y="1366032"/>
            <a:ext cx="10797412" cy="4892796"/>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071" y="6437198"/>
            <a:ext cx="2885023" cy="364992"/>
          </a:xfrm>
          <a:prstGeom prst="rect">
            <a:avLst/>
          </a:prstGeom>
        </p:spPr>
        <p:txBody>
          <a:bodyPr vert="horz" wrap="square" lIns="0" tIns="0" rIns="0" bIns="0" rtlCol="0" anchor="ctr">
            <a:normAutofit/>
          </a:bodyPr>
          <a:lstStyle>
            <a:lvl1pPr algn="l">
              <a:defRPr sz="1230">
                <a:solidFill>
                  <a:schemeClr val="tx1">
                    <a:tint val="75000"/>
                  </a:schemeClr>
                </a:solidFill>
              </a:defRPr>
            </a:lvl1pPr>
          </a:lstStyle>
          <a:p>
            <a:fld id="{5592522B-0F24-4480-B9DD-A9474A6880D6}" type="datetimeFigureOut">
              <a:rPr lang="zh-CN" altLang="en-US" smtClean="0"/>
            </a:fld>
            <a:endParaRPr lang="zh-CN" altLang="en-US" dirty="0"/>
          </a:p>
        </p:txBody>
      </p:sp>
      <p:sp>
        <p:nvSpPr>
          <p:cNvPr id="5" name="页脚占位符 4"/>
          <p:cNvSpPr>
            <a:spLocks noGrp="1"/>
          </p:cNvSpPr>
          <p:nvPr>
            <p:ph type="ftr" sz="quarter" idx="3"/>
            <p:custDataLst>
              <p:tags r:id="rId15"/>
            </p:custDataLst>
          </p:nvPr>
        </p:nvSpPr>
        <p:spPr>
          <a:xfrm>
            <a:off x="4037128" y="6437198"/>
            <a:ext cx="4113300" cy="364992"/>
          </a:xfrm>
          <a:prstGeom prst="rect">
            <a:avLst/>
          </a:prstGeom>
        </p:spPr>
        <p:txBody>
          <a:bodyPr vert="horz" lIns="0" tIns="0" rIns="0" bIns="0" rtlCol="0" anchor="ctr"/>
          <a:lstStyle>
            <a:lvl1pPr algn="ctr">
              <a:defRPr sz="123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607461" y="6437198"/>
            <a:ext cx="2883148" cy="364992"/>
          </a:xfrm>
          <a:prstGeom prst="rect">
            <a:avLst/>
          </a:prstGeom>
        </p:spPr>
        <p:txBody>
          <a:bodyPr vert="horz" wrap="square" lIns="0" tIns="0" rIns="0" bIns="0" rtlCol="0" anchor="ctr">
            <a:normAutofit/>
          </a:bodyPr>
          <a:lstStyle>
            <a:lvl1pPr algn="r">
              <a:defRPr sz="1230">
                <a:solidFill>
                  <a:schemeClr val="tx1">
                    <a:tint val="75000"/>
                  </a:schemeClr>
                </a:solidFill>
              </a:defRPr>
            </a:lvl1pPr>
          </a:lstStyle>
          <a:p>
            <a:fld id="{BE5F26B5-172A-4DC2-B0B7-181CFC56B87C}" type="slidenum">
              <a:rPr lang="zh-CN" altLang="en-US" smtClean="0"/>
            </a:fld>
            <a:endParaRPr lang="zh-CN" altLang="en-US" dirty="0"/>
          </a:p>
        </p:txBody>
      </p:sp>
      <p:sp>
        <p:nvSpPr>
          <p:cNvPr id="8" name="KSO_TEMPLATE" hidden="1"/>
          <p:cNvSpPr/>
          <p:nvPr userDrawn="1">
            <p:custDataLst>
              <p:tags r:id="rId17"/>
            </p:custDataLst>
          </p:nvPr>
        </p:nvSpPr>
        <p:spPr>
          <a:xfrm>
            <a:off x="0" y="83165"/>
            <a:ext cx="0" cy="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35990" rtl="0" eaLnBrk="1" latinLnBrk="0" hangingPunct="1">
        <a:lnSpc>
          <a:spcPct val="100000"/>
        </a:lnSpc>
        <a:spcBef>
          <a:spcPct val="0"/>
        </a:spcBef>
        <a:buNone/>
        <a:defRPr sz="3275" b="1" kern="1200">
          <a:solidFill>
            <a:schemeClr val="accent1"/>
          </a:solidFill>
          <a:latin typeface="+mj-lt"/>
          <a:ea typeface="+mj-ea"/>
          <a:cs typeface="+mj-cs"/>
        </a:defRPr>
      </a:lvl1pPr>
    </p:titleStyle>
    <p:bodyStyle>
      <a:lvl1pPr marL="234315" indent="-234315" algn="l" defTabSz="935990" rtl="0" eaLnBrk="1" latinLnBrk="0" hangingPunct="1">
        <a:lnSpc>
          <a:spcPct val="130000"/>
        </a:lnSpc>
        <a:spcBef>
          <a:spcPct val="205000"/>
        </a:spcBef>
        <a:buFont typeface="Arial" panose="020B0604020202020204" pitchFamily="34" charset="0"/>
        <a:buChar char="•"/>
        <a:defRPr sz="2455" kern="1200">
          <a:solidFill>
            <a:schemeClr val="tx1"/>
          </a:solidFill>
          <a:latin typeface="+mn-lt"/>
          <a:ea typeface="+mn-ea"/>
          <a:cs typeface="+mn-cs"/>
        </a:defRPr>
      </a:lvl1pPr>
      <a:lvl2pPr marL="551180" indent="-211455" algn="l" defTabSz="935990" rtl="0" eaLnBrk="1" latinLnBrk="0" hangingPunct="1">
        <a:lnSpc>
          <a:spcPct val="130000"/>
        </a:lnSpc>
        <a:spcBef>
          <a:spcPts val="0"/>
        </a:spcBef>
        <a:buFont typeface="Arial" panose="020B0604020202020204" pitchFamily="34" charset="0"/>
        <a:buChar char="•"/>
        <a:defRPr sz="2050" kern="1200">
          <a:solidFill>
            <a:schemeClr val="tx1">
              <a:lumMod val="65000"/>
              <a:lumOff val="35000"/>
            </a:schemeClr>
          </a:solidFill>
          <a:latin typeface="+mn-lt"/>
          <a:ea typeface="+mn-ea"/>
          <a:cs typeface="+mn-cs"/>
        </a:defRPr>
      </a:lvl2pPr>
      <a:lvl3pPr marL="817880" indent="-165735" algn="l" defTabSz="935990" rtl="0" eaLnBrk="1" latinLnBrk="0" hangingPunct="1">
        <a:lnSpc>
          <a:spcPct val="130000"/>
        </a:lnSpc>
        <a:spcBef>
          <a:spcPts val="0"/>
        </a:spcBef>
        <a:buFont typeface="Arial" panose="020B0604020202020204" pitchFamily="34" charset="0"/>
        <a:buChar char="•"/>
        <a:defRPr sz="1845" kern="1200">
          <a:solidFill>
            <a:schemeClr val="tx1">
              <a:lumMod val="65000"/>
              <a:lumOff val="35000"/>
            </a:schemeClr>
          </a:solidFill>
          <a:latin typeface="+mn-lt"/>
          <a:ea typeface="+mn-ea"/>
          <a:cs typeface="+mn-cs"/>
        </a:defRPr>
      </a:lvl3pPr>
      <a:lvl4pPr marL="1055370" indent="-153035" algn="l" defTabSz="935990" rtl="0" eaLnBrk="1" latinLnBrk="0" hangingPunct="1">
        <a:lnSpc>
          <a:spcPct val="130000"/>
        </a:lnSpc>
        <a:spcBef>
          <a:spcPts val="0"/>
        </a:spcBef>
        <a:buFont typeface="Arial" panose="020B0604020202020204" pitchFamily="34" charset="0"/>
        <a:buChar char="•"/>
        <a:defRPr sz="1640" kern="1200">
          <a:solidFill>
            <a:schemeClr val="tx1">
              <a:lumMod val="65000"/>
              <a:lumOff val="35000"/>
            </a:schemeClr>
          </a:solidFill>
          <a:latin typeface="+mn-lt"/>
          <a:ea typeface="+mn-ea"/>
          <a:cs typeface="+mn-cs"/>
        </a:defRPr>
      </a:lvl4pPr>
      <a:lvl5pPr marL="1264285" indent="-130175" algn="l" defTabSz="935990" rtl="0" eaLnBrk="1" latinLnBrk="0" hangingPunct="1">
        <a:lnSpc>
          <a:spcPct val="130000"/>
        </a:lnSpc>
        <a:spcBef>
          <a:spcPts val="0"/>
        </a:spcBef>
        <a:buFont typeface="Arial" panose="020B0604020202020204" pitchFamily="34" charset="0"/>
        <a:buChar char="•"/>
        <a:defRPr sz="1435" kern="1200">
          <a:solidFill>
            <a:schemeClr val="tx1">
              <a:lumMod val="65000"/>
              <a:lumOff val="35000"/>
            </a:schemeClr>
          </a:solidFill>
          <a:latin typeface="+mn-lt"/>
          <a:ea typeface="+mn-ea"/>
          <a:cs typeface="+mn-cs"/>
        </a:defRPr>
      </a:lvl5pPr>
      <a:lvl6pPr marL="257492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6pPr>
      <a:lvl7pPr marL="304292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7pPr>
      <a:lvl8pPr marL="351091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8pPr>
      <a:lvl9pPr marL="397891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9pPr>
    </p:bodyStyle>
    <p:otherStyle>
      <a:defPPr>
        <a:defRPr lang="zh-CN"/>
      </a:defPPr>
      <a:lvl1pPr marL="0" algn="l" defTabSz="935990" rtl="0" eaLnBrk="1" latinLnBrk="0" hangingPunct="1">
        <a:defRPr sz="1845" kern="1200">
          <a:solidFill>
            <a:schemeClr val="tx1"/>
          </a:solidFill>
          <a:latin typeface="+mn-lt"/>
          <a:ea typeface="+mn-ea"/>
          <a:cs typeface="+mn-cs"/>
        </a:defRPr>
      </a:lvl1pPr>
      <a:lvl2pPr marL="467995" algn="l" defTabSz="935990" rtl="0" eaLnBrk="1" latinLnBrk="0" hangingPunct="1">
        <a:defRPr sz="1845" kern="1200">
          <a:solidFill>
            <a:schemeClr val="tx1"/>
          </a:solidFill>
          <a:latin typeface="+mn-lt"/>
          <a:ea typeface="+mn-ea"/>
          <a:cs typeface="+mn-cs"/>
        </a:defRPr>
      </a:lvl2pPr>
      <a:lvl3pPr marL="935990" algn="l" defTabSz="935990" rtl="0" eaLnBrk="1" latinLnBrk="0" hangingPunct="1">
        <a:defRPr sz="1845" kern="1200">
          <a:solidFill>
            <a:schemeClr val="tx1"/>
          </a:solidFill>
          <a:latin typeface="+mn-lt"/>
          <a:ea typeface="+mn-ea"/>
          <a:cs typeface="+mn-cs"/>
        </a:defRPr>
      </a:lvl3pPr>
      <a:lvl4pPr marL="1404620" algn="l" defTabSz="935990" rtl="0" eaLnBrk="1" latinLnBrk="0" hangingPunct="1">
        <a:defRPr sz="1845" kern="1200">
          <a:solidFill>
            <a:schemeClr val="tx1"/>
          </a:solidFill>
          <a:latin typeface="+mn-lt"/>
          <a:ea typeface="+mn-ea"/>
          <a:cs typeface="+mn-cs"/>
        </a:defRPr>
      </a:lvl4pPr>
      <a:lvl5pPr marL="1872615" algn="l" defTabSz="935990" rtl="0" eaLnBrk="1" latinLnBrk="0" hangingPunct="1">
        <a:defRPr sz="1845" kern="1200">
          <a:solidFill>
            <a:schemeClr val="tx1"/>
          </a:solidFill>
          <a:latin typeface="+mn-lt"/>
          <a:ea typeface="+mn-ea"/>
          <a:cs typeface="+mn-cs"/>
        </a:defRPr>
      </a:lvl5pPr>
      <a:lvl6pPr marL="2340610" algn="l" defTabSz="935990" rtl="0" eaLnBrk="1" latinLnBrk="0" hangingPunct="1">
        <a:defRPr sz="1845" kern="1200">
          <a:solidFill>
            <a:schemeClr val="tx1"/>
          </a:solidFill>
          <a:latin typeface="+mn-lt"/>
          <a:ea typeface="+mn-ea"/>
          <a:cs typeface="+mn-cs"/>
        </a:defRPr>
      </a:lvl6pPr>
      <a:lvl7pPr marL="2808605" algn="l" defTabSz="935990" rtl="0" eaLnBrk="1" latinLnBrk="0" hangingPunct="1">
        <a:defRPr sz="1845" kern="1200">
          <a:solidFill>
            <a:schemeClr val="tx1"/>
          </a:solidFill>
          <a:latin typeface="+mn-lt"/>
          <a:ea typeface="+mn-ea"/>
          <a:cs typeface="+mn-cs"/>
        </a:defRPr>
      </a:lvl7pPr>
      <a:lvl8pPr marL="3276600" algn="l" defTabSz="935990" rtl="0" eaLnBrk="1" latinLnBrk="0" hangingPunct="1">
        <a:defRPr sz="1845" kern="1200">
          <a:solidFill>
            <a:schemeClr val="tx1"/>
          </a:solidFill>
          <a:latin typeface="+mn-lt"/>
          <a:ea typeface="+mn-ea"/>
          <a:cs typeface="+mn-cs"/>
        </a:defRPr>
      </a:lvl8pPr>
      <a:lvl9pPr marL="3745230" algn="l" defTabSz="935990" rtl="0" eaLnBrk="1" latinLnBrk="0" hangingPunct="1">
        <a:defRPr sz="184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7" Type="http://schemas.openxmlformats.org/officeDocument/2006/relationships/slideLayout" Target="../slideLayouts/slideLayout42.xml"/><Relationship Id="rId16" Type="http://schemas.openxmlformats.org/officeDocument/2006/relationships/tags" Target="../tags/tag92.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3" Type="http://schemas.openxmlformats.org/officeDocument/2006/relationships/slideLayout" Target="../slideLayouts/slideLayout42.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4.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3" Type="http://schemas.openxmlformats.org/officeDocument/2006/relationships/slideLayout" Target="../slideLayouts/slideLayout42.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23.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25.jpeg"/><Relationship Id="rId1" Type="http://schemas.openxmlformats.org/officeDocument/2006/relationships/image" Target="../media/image24.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123.xml"/><Relationship Id="rId7" Type="http://schemas.openxmlformats.org/officeDocument/2006/relationships/image" Target="../media/image27.jpeg"/><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image" Target="../media/image26.jpeg"/><Relationship Id="rId2" Type="http://schemas.openxmlformats.org/officeDocument/2006/relationships/tags" Target="../tags/tag119.xml"/><Relationship Id="rId1" Type="http://schemas.openxmlformats.org/officeDocument/2006/relationships/tags" Target="../tags/tag11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35.png"/><Relationship Id="rId1" Type="http://schemas.openxmlformats.org/officeDocument/2006/relationships/image" Target="../media/image34.png"/></Relationships>
</file>

<file path=ppt/slides/_rels/slide30.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3" Type="http://schemas.openxmlformats.org/officeDocument/2006/relationships/slideLayout" Target="../slideLayouts/slideLayout42.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37.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39.png"/><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1.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7.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3" Type="http://schemas.openxmlformats.org/officeDocument/2006/relationships/slideLayout" Target="../slideLayouts/slideLayout42.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6.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46.png"/><Relationship Id="rId1"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8.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5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66.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tags" Target="../tags/tag163.xml"/><Relationship Id="rId7" Type="http://schemas.openxmlformats.org/officeDocument/2006/relationships/tags" Target="../tags/tag162.xml"/><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69.xml"/><Relationship Id="rId7" Type="http://schemas.openxmlformats.org/officeDocument/2006/relationships/image" Target="../media/image61.png"/><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image" Target="../media/image60.png"/><Relationship Id="rId2" Type="http://schemas.openxmlformats.org/officeDocument/2006/relationships/tags" Target="../tags/tag165.xml"/><Relationship Id="rId1" Type="http://schemas.openxmlformats.org/officeDocument/2006/relationships/tags" Target="../tags/tag164.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emf"/></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4.emf"/><Relationship Id="rId1" Type="http://schemas.openxmlformats.org/officeDocument/2006/relationships/oleObject" Target="../embeddings/oleObject1.bin"/></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0325" y="2941638"/>
            <a:ext cx="12247563" cy="1476375"/>
            <a:chOff x="-59690" y="3590200"/>
            <a:chExt cx="12246928" cy="1476406"/>
          </a:xfrm>
        </p:grpSpPr>
        <p:sp>
          <p:nvSpPr>
            <p:cNvPr id="6" name="TextBox 5"/>
            <p:cNvSpPr txBox="1"/>
            <p:nvPr/>
          </p:nvSpPr>
          <p:spPr>
            <a:xfrm>
              <a:off x="-59690" y="3590200"/>
              <a:ext cx="12187238" cy="613531"/>
            </a:xfrm>
            <a:prstGeom prst="rect">
              <a:avLst/>
            </a:prstGeom>
            <a:noFill/>
          </p:spPr>
          <p:txBody>
            <a:bodyPr lIns="122932" tIns="61466" rIns="122932" bIns="61466">
              <a:spAutoFit/>
            </a:bodyPr>
            <a:lstStyle/>
            <a:p>
              <a:pPr marR="0" algn="ctr" defTabSz="914400">
                <a:buClrTx/>
                <a:buSzTx/>
                <a:buFontTx/>
                <a:buNone/>
                <a:defRPr/>
              </a:pPr>
              <a:r>
                <a:rPr kumimoji="0" lang="zh-CN" altLang="en-US" sz="32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rPr>
                <a:t>嵌入式软硬件基础</a:t>
              </a:r>
              <a:endParaRPr kumimoji="0" lang="zh-CN" altLang="en-US" sz="32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endParaRPr>
            </a:p>
          </p:txBody>
        </p:sp>
        <p:sp>
          <p:nvSpPr>
            <p:cNvPr id="18437" name="TextBox 6"/>
            <p:cNvSpPr txBox="1">
              <a:spLocks noChangeArrowheads="1"/>
            </p:cNvSpPr>
            <p:nvPr/>
          </p:nvSpPr>
          <p:spPr bwMode="auto">
            <a:xfrm>
              <a:off x="0" y="4421987"/>
              <a:ext cx="12187238" cy="644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134" normalizeH="0" baseline="0" noProof="0" dirty="0">
                  <a:ln>
                    <a:noFill/>
                  </a:ln>
                  <a:solidFill>
                    <a:schemeClr val="bg2">
                      <a:lumMod val="65000"/>
                      <a:lumOff val="35000"/>
                    </a:schemeClr>
                  </a:solidFill>
                  <a:effectLst/>
                  <a:uLnTx/>
                  <a:uFillTx/>
                  <a:latin typeface="仿宋" panose="02010609060101010101" pitchFamily="49" charset="-122"/>
                  <a:ea typeface="仿宋" panose="02010609060101010101" pitchFamily="49" charset="-122"/>
                  <a:cs typeface="+mn-cs"/>
                </a:rPr>
                <a:t>姓名：丰无界</a:t>
              </a:r>
              <a:endParaRPr kumimoji="0" lang="en-US" altLang="zh-CN" sz="1800" b="0" i="0" u="none" strike="noStrike" kern="1200" cap="none" spc="134" normalizeH="0" baseline="0" noProof="0" dirty="0">
                <a:ln>
                  <a:noFill/>
                </a:ln>
                <a:solidFill>
                  <a:schemeClr val="bg2">
                    <a:lumMod val="65000"/>
                    <a:lumOff val="35000"/>
                  </a:schemeClr>
                </a:solidFill>
                <a:effectLst/>
                <a:uLnTx/>
                <a:uFillTx/>
                <a:latin typeface="仿宋" panose="02010609060101010101" pitchFamily="49" charset="-122"/>
                <a:ea typeface="仿宋" panose="020106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7F7F7F"/>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4633595" cy="1080770"/>
          </a:xfrm>
        </p:spPr>
        <p:txBody>
          <a:bodyPr wrap="square">
            <a:normAutofit/>
          </a:bodyPr>
          <a:lstStyle/>
          <a:p>
            <a:r>
              <a:rPr lang="zh-CN" altLang="en-US"/>
              <a:t>目录</a:t>
            </a:r>
            <a:endParaRPr lang="zh-CN" altLang="en-US"/>
          </a:p>
        </p:txBody>
      </p:sp>
      <p:sp>
        <p:nvSpPr>
          <p:cNvPr id="6" name="序号"/>
          <p:cNvSpPr txBox="1"/>
          <p:nvPr>
            <p:custDataLst>
              <p:tags r:id="rId2"/>
            </p:custDataLst>
          </p:nvPr>
        </p:nvSpPr>
        <p:spPr>
          <a:xfrm>
            <a:off x="5700395" y="2204720"/>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805" y="2204561"/>
            <a:ext cx="4794406" cy="42354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sym typeface="+mn-ea"/>
              </a:rPr>
              <a:t>UART通讯</a:t>
            </a:r>
            <a:endParaRPr lang="en-US" altLang="zh-CN"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28595"/>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31611"/>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SPI</a:t>
            </a:r>
            <a:r>
              <a:rPr lang="zh-CN" altLang="en-US" sz="2400" b="1" spc="300" dirty="0">
                <a:solidFill>
                  <a:schemeClr val="accent1"/>
                </a:solidFill>
                <a:latin typeface="+mj-ea"/>
                <a:ea typeface="+mj-ea"/>
              </a:rPr>
              <a:t>通讯</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0221" y="3252470"/>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694805" y="3258026"/>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I2C</a:t>
            </a:r>
            <a:r>
              <a:rPr lang="zh-CN" altLang="en-US" sz="2400" b="1" spc="300" dirty="0">
                <a:solidFill>
                  <a:schemeClr val="accent1"/>
                </a:solidFill>
                <a:latin typeface="+mj-ea"/>
                <a:ea typeface="+mj-ea"/>
              </a:rPr>
              <a:t>通讯</a:t>
            </a:r>
            <a:endParaRPr lang="zh-CN" altLang="en-US" sz="2400" b="1" spc="300" dirty="0">
              <a:solidFill>
                <a:schemeClr val="accent1"/>
              </a:solidFill>
              <a:latin typeface="+mj-ea"/>
              <a:ea typeface="+mj-ea"/>
            </a:endParaRPr>
          </a:p>
        </p:txBody>
      </p:sp>
      <p:sp>
        <p:nvSpPr>
          <p:cNvPr id="15" name="序号"/>
          <p:cNvSpPr txBox="1"/>
          <p:nvPr>
            <p:custDataLst>
              <p:tags r:id="rId8"/>
            </p:custDataLst>
          </p:nvPr>
        </p:nvSpPr>
        <p:spPr>
          <a:xfrm>
            <a:off x="5700221" y="3776345"/>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04.</a:t>
            </a:r>
            <a:endParaRPr lang="en-US" sz="2800">
              <a:solidFill>
                <a:schemeClr val="accent1">
                  <a:lumMod val="60000"/>
                  <a:lumOff val="40000"/>
                </a:schemeClr>
              </a:solidFill>
              <a:latin typeface="+mj-ea"/>
              <a:ea typeface="+mj-ea"/>
            </a:endParaRPr>
          </a:p>
        </p:txBody>
      </p:sp>
      <p:sp>
        <p:nvSpPr>
          <p:cNvPr id="16" name="项标题"/>
          <p:cNvSpPr txBox="1"/>
          <p:nvPr>
            <p:custDataLst>
              <p:tags r:id="rId9"/>
            </p:custDataLst>
          </p:nvPr>
        </p:nvSpPr>
        <p:spPr>
          <a:xfrm>
            <a:off x="6694805" y="3784441"/>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CAN</a:t>
            </a:r>
            <a:r>
              <a:rPr lang="zh-CN" altLang="en-US" sz="2400" b="1" spc="300" dirty="0">
                <a:solidFill>
                  <a:schemeClr val="accent1"/>
                </a:solidFill>
                <a:latin typeface="+mj-ea"/>
                <a:ea typeface="+mj-ea"/>
              </a:rPr>
              <a:t>通讯</a:t>
            </a:r>
            <a:endParaRPr lang="zh-CN" altLang="en-US" sz="2400" b="1" spc="300" dirty="0">
              <a:solidFill>
                <a:schemeClr val="accent1"/>
              </a:solidFill>
              <a:latin typeface="+mj-ea"/>
              <a:ea typeface="+mj-ea"/>
            </a:endParaRPr>
          </a:p>
        </p:txBody>
      </p:sp>
      <p:sp>
        <p:nvSpPr>
          <p:cNvPr id="2" name="序号"/>
          <p:cNvSpPr txBox="1"/>
          <p:nvPr>
            <p:custDataLst>
              <p:tags r:id="rId10"/>
            </p:custDataLst>
          </p:nvPr>
        </p:nvSpPr>
        <p:spPr>
          <a:xfrm>
            <a:off x="5700221" y="4300220"/>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05.</a:t>
            </a:r>
            <a:endParaRPr lang="en-US" sz="2800">
              <a:solidFill>
                <a:schemeClr val="accent1">
                  <a:lumMod val="60000"/>
                  <a:lumOff val="40000"/>
                </a:schemeClr>
              </a:solidFill>
              <a:latin typeface="+mj-ea"/>
              <a:ea typeface="+mj-ea"/>
            </a:endParaRPr>
          </a:p>
        </p:txBody>
      </p:sp>
      <p:sp>
        <p:nvSpPr>
          <p:cNvPr id="5" name="项标题"/>
          <p:cNvSpPr txBox="1"/>
          <p:nvPr>
            <p:custDataLst>
              <p:tags r:id="rId11"/>
            </p:custDataLst>
          </p:nvPr>
        </p:nvSpPr>
        <p:spPr>
          <a:xfrm>
            <a:off x="6694805" y="4310856"/>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ADC</a:t>
            </a:r>
            <a:endParaRPr lang="en-US" altLang="zh-CN" sz="2400" b="1" spc="300" dirty="0">
              <a:solidFill>
                <a:schemeClr val="accent1"/>
              </a:solidFill>
              <a:latin typeface="+mj-ea"/>
              <a:ea typeface="+mj-ea"/>
            </a:endParaRPr>
          </a:p>
        </p:txBody>
      </p:sp>
      <p:sp>
        <p:nvSpPr>
          <p:cNvPr id="3" name="序号"/>
          <p:cNvSpPr txBox="1"/>
          <p:nvPr>
            <p:custDataLst>
              <p:tags r:id="rId12"/>
            </p:custDataLst>
          </p:nvPr>
        </p:nvSpPr>
        <p:spPr>
          <a:xfrm>
            <a:off x="5700221" y="4824095"/>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06.</a:t>
            </a:r>
            <a:endParaRPr lang="en-US" sz="2800">
              <a:solidFill>
                <a:schemeClr val="accent1">
                  <a:lumMod val="60000"/>
                  <a:lumOff val="40000"/>
                </a:schemeClr>
              </a:solidFill>
              <a:latin typeface="+mj-ea"/>
              <a:ea typeface="+mj-ea"/>
            </a:endParaRPr>
          </a:p>
        </p:txBody>
      </p:sp>
      <p:sp>
        <p:nvSpPr>
          <p:cNvPr id="8" name="项标题"/>
          <p:cNvSpPr txBox="1"/>
          <p:nvPr>
            <p:custDataLst>
              <p:tags r:id="rId13"/>
            </p:custDataLst>
          </p:nvPr>
        </p:nvSpPr>
        <p:spPr>
          <a:xfrm>
            <a:off x="6694805" y="4837271"/>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DAC</a:t>
            </a:r>
            <a:endParaRPr lang="en-US" altLang="zh-CN" sz="2400" b="1" spc="300" dirty="0">
              <a:solidFill>
                <a:schemeClr val="accent1"/>
              </a:solidFill>
              <a:latin typeface="+mj-ea"/>
              <a:ea typeface="+mj-ea"/>
            </a:endParaRPr>
          </a:p>
        </p:txBody>
      </p:sp>
      <p:sp>
        <p:nvSpPr>
          <p:cNvPr id="11" name="序号"/>
          <p:cNvSpPr txBox="1"/>
          <p:nvPr>
            <p:custDataLst>
              <p:tags r:id="rId14"/>
            </p:custDataLst>
          </p:nvPr>
        </p:nvSpPr>
        <p:spPr>
          <a:xfrm>
            <a:off x="5700221" y="5347970"/>
            <a:ext cx="791210" cy="430530"/>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07.</a:t>
            </a:r>
            <a:endParaRPr lang="en-US" sz="2800">
              <a:solidFill>
                <a:schemeClr val="accent1">
                  <a:lumMod val="60000"/>
                  <a:lumOff val="40000"/>
                </a:schemeClr>
              </a:solidFill>
              <a:latin typeface="+mj-ea"/>
              <a:ea typeface="+mj-ea"/>
            </a:endParaRPr>
          </a:p>
        </p:txBody>
      </p:sp>
      <p:sp>
        <p:nvSpPr>
          <p:cNvPr id="14" name="项标题"/>
          <p:cNvSpPr txBox="1"/>
          <p:nvPr>
            <p:custDataLst>
              <p:tags r:id="rId15"/>
            </p:custDataLst>
          </p:nvPr>
        </p:nvSpPr>
        <p:spPr>
          <a:xfrm>
            <a:off x="6694805" y="5363686"/>
            <a:ext cx="4794250" cy="42291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PWM</a:t>
            </a:r>
            <a:endParaRPr lang="en-US" altLang="zh-CN" sz="2400" b="1" spc="300" dirty="0">
              <a:solidFill>
                <a:schemeClr val="accent1"/>
              </a:solidFill>
              <a:latin typeface="+mj-ea"/>
              <a:ea typeface="+mj-ea"/>
            </a:endParaRPr>
          </a:p>
        </p:txBody>
      </p:sp>
    </p:spTree>
    <p:custDataLst>
      <p:tags r:id="rId1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latin typeface="Arial" panose="020B0604020202020204" pitchFamily="34" charset="0"/>
              </a:rPr>
              <a:t>嵌入式主要通讯技术</a:t>
            </a:r>
            <a:endParaRPr lang="zh-CN" altLang="en-US">
              <a:latin typeface="Arial" panose="020B0604020202020204" pitchFamily="34" charset="0"/>
            </a:endParaRPr>
          </a:p>
        </p:txBody>
      </p:sp>
      <p:sp>
        <p:nvSpPr>
          <p:cNvPr id="3" name="文本框 2"/>
          <p:cNvSpPr txBox="1"/>
          <p:nvPr/>
        </p:nvSpPr>
        <p:spPr>
          <a:xfrm>
            <a:off x="593090" y="860425"/>
            <a:ext cx="4062730" cy="368300"/>
          </a:xfrm>
          <a:prstGeom prst="rect">
            <a:avLst/>
          </a:prstGeom>
          <a:noFill/>
        </p:spPr>
        <p:txBody>
          <a:bodyPr wrap="square" rtlCol="0">
            <a:spAutoFit/>
          </a:bodyPr>
          <a:lstStyle/>
          <a:p>
            <a:endParaRPr lang="zh-CN" altLang="en-US"/>
          </a:p>
        </p:txBody>
      </p:sp>
      <p:graphicFrame>
        <p:nvGraphicFramePr>
          <p:cNvPr id="7" name="表格 6"/>
          <p:cNvGraphicFramePr/>
          <p:nvPr>
            <p:custDataLst>
              <p:tags r:id="rId1"/>
            </p:custDataLst>
          </p:nvPr>
        </p:nvGraphicFramePr>
        <p:xfrm>
          <a:off x="748030" y="930275"/>
          <a:ext cx="10885805" cy="3093720"/>
        </p:xfrm>
        <a:graphic>
          <a:graphicData uri="http://schemas.openxmlformats.org/drawingml/2006/table">
            <a:tbl>
              <a:tblPr firstRow="1" bandRow="1">
                <a:tableStyleId>{5C22544A-7EE6-4342-B048-85BDC9FD1C3A}</a:tableStyleId>
              </a:tblPr>
              <a:tblGrid>
                <a:gridCol w="1555115"/>
                <a:gridCol w="1555115"/>
                <a:gridCol w="1555115"/>
                <a:gridCol w="1555115"/>
                <a:gridCol w="1555115"/>
                <a:gridCol w="1555115"/>
                <a:gridCol w="1555115"/>
              </a:tblGrid>
              <a:tr h="773430">
                <a:tc>
                  <a:txBody>
                    <a:bodyPr/>
                    <a:lstStyle/>
                    <a:p>
                      <a:pPr marL="0" indent="0" algn="just">
                        <a:spcBef>
                          <a:spcPct val="0"/>
                        </a:spcBef>
                        <a:spcAft>
                          <a:spcPct val="0"/>
                        </a:spcAft>
                      </a:pPr>
                      <a:r>
                        <a:rPr lang="zh-CN" sz="1100">
                          <a:latin typeface="Calibri" panose="020F0502020204030204"/>
                          <a:ea typeface="宋体" panose="02010600030101010101" pitchFamily="2" charset="-122"/>
                        </a:rPr>
                        <a:t>协议</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复杂度</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传输速度</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设备数量</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线数</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通信模式</a:t>
                      </a:r>
                      <a:endParaRPr lang="zh-CN" sz="1100">
                        <a:latin typeface="Calibri" panose="020F0502020204030204"/>
                        <a:ea typeface="宋体" panose="02010600030101010101" pitchFamily="2" charset="-122"/>
                      </a:endParaRPr>
                    </a:p>
                  </a:txBody>
                  <a:tcPr marL="68580" marR="68580" marT="0" marB="0" anchor="ctr"/>
                </a:tc>
                <a:tc>
                  <a:txBody>
                    <a:bodyPr/>
                    <a:lstStyle/>
                    <a:p>
                      <a:pPr marL="0" indent="0" algn="just">
                        <a:spcBef>
                          <a:spcPct val="0"/>
                        </a:spcBef>
                        <a:spcAft>
                          <a:spcPct val="0"/>
                        </a:spcAft>
                      </a:pPr>
                      <a:r>
                        <a:rPr lang="zh-CN" sz="1100">
                          <a:latin typeface="Calibri" panose="020F0502020204030204"/>
                          <a:ea typeface="宋体" panose="02010600030101010101" pitchFamily="2" charset="-122"/>
                        </a:rPr>
                        <a:t>主从数量</a:t>
                      </a:r>
                      <a:endParaRPr lang="zh-CN" sz="1100">
                        <a:latin typeface="Calibri" panose="020F0502020204030204"/>
                        <a:ea typeface="宋体" panose="02010600030101010101" pitchFamily="2" charset="-122"/>
                      </a:endParaRPr>
                    </a:p>
                  </a:txBody>
                  <a:tcPr marL="68580" marR="68580" marT="0" marB="0" anchor="ctr"/>
                </a:tc>
              </a:tr>
              <a:tr h="773430">
                <a:tc>
                  <a:txBody>
                    <a:bodyPr/>
                    <a:lstStyle/>
                    <a:p>
                      <a:pPr marL="0" indent="0" algn="just">
                        <a:spcBef>
                          <a:spcPct val="0"/>
                        </a:spcBef>
                        <a:spcAft>
                          <a:spcPct val="0"/>
                        </a:spcAft>
                      </a:pPr>
                      <a:r>
                        <a:rPr lang="zh-CN" altLang="en-US" sz="1400">
                          <a:solidFill>
                            <a:schemeClr val="bg1"/>
                          </a:solidFill>
                          <a:latin typeface="Arial" panose="020B0604020202020204" pitchFamily="34" charset="0"/>
                        </a:rPr>
                        <a:t>UART</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简单的</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慢</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i="0">
                          <a:solidFill>
                            <a:schemeClr val="bg1"/>
                          </a:solidFill>
                          <a:latin typeface="Arial" panose="020B0604020202020204" pitchFamily="34" charset="0"/>
                        </a:rPr>
                        <a:t>2 台设备</a:t>
                      </a:r>
                      <a:endParaRPr lang="zh-CN" altLang="en-US" sz="1400" i="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3</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i="0">
                          <a:solidFill>
                            <a:schemeClr val="bg1"/>
                          </a:solidFill>
                          <a:latin typeface="Arial" panose="020B0604020202020204" pitchFamily="34" charset="0"/>
                        </a:rPr>
                        <a:t>全双工</a:t>
                      </a:r>
                      <a:endParaRPr lang="zh-CN" altLang="en-US" sz="1400" i="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单对单</a:t>
                      </a:r>
                      <a:endParaRPr lang="zh-CN" altLang="en-US" sz="1400">
                        <a:solidFill>
                          <a:schemeClr val="bg1"/>
                        </a:solidFill>
                        <a:latin typeface="Arial" panose="020B0604020202020204" pitchFamily="34" charset="0"/>
                      </a:endParaRPr>
                    </a:p>
                  </a:txBody>
                  <a:tcPr marL="68580" marR="68580" marT="0" marB="0" anchor="ctr"/>
                </a:tc>
              </a:tr>
              <a:tr h="773430">
                <a:tc>
                  <a:txBody>
                    <a:bodyPr/>
                    <a:lstStyle/>
                    <a:p>
                      <a:pPr marL="0" indent="0" algn="just">
                        <a:spcBef>
                          <a:spcPct val="0"/>
                        </a:spcBef>
                        <a:spcAft>
                          <a:spcPct val="0"/>
                        </a:spcAft>
                      </a:pPr>
                      <a:r>
                        <a:rPr lang="zh-CN" altLang="en-US" sz="1400">
                          <a:solidFill>
                            <a:schemeClr val="bg1"/>
                          </a:solidFill>
                          <a:latin typeface="Arial" panose="020B0604020202020204" pitchFamily="34" charset="0"/>
                        </a:rPr>
                        <a:t>I2C</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轻松链接多个设备</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比UART 更快</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最多 127 个，但变得复杂</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3</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半双工</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多个从机和主机</a:t>
                      </a:r>
                      <a:endParaRPr lang="zh-CN" altLang="en-US" sz="1400">
                        <a:solidFill>
                          <a:schemeClr val="bg1"/>
                        </a:solidFill>
                        <a:latin typeface="Arial" panose="020B0604020202020204" pitchFamily="34" charset="0"/>
                      </a:endParaRPr>
                    </a:p>
                  </a:txBody>
                  <a:tcPr marL="68580" marR="68580" marT="0" marB="0" anchor="ctr"/>
                </a:tc>
              </a:tr>
              <a:tr h="773430">
                <a:tc>
                  <a:txBody>
                    <a:bodyPr/>
                    <a:lstStyle/>
                    <a:p>
                      <a:pPr marL="0" indent="0" algn="just">
                        <a:spcBef>
                          <a:spcPct val="0"/>
                        </a:spcBef>
                        <a:spcAft>
                          <a:spcPct val="0"/>
                        </a:spcAft>
                      </a:pPr>
                      <a:r>
                        <a:rPr lang="zh-CN" altLang="en-US" sz="1400">
                          <a:solidFill>
                            <a:schemeClr val="bg1"/>
                          </a:solidFill>
                          <a:latin typeface="Arial" panose="020B0604020202020204" pitchFamily="34" charset="0"/>
                        </a:rPr>
                        <a:t>SPI</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随着设备的增加而复杂</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b="1">
                          <a:solidFill>
                            <a:schemeClr val="bg1"/>
                          </a:solidFill>
                          <a:latin typeface="Arial" panose="020B0604020202020204" pitchFamily="34" charset="0"/>
                        </a:rPr>
                        <a:t>最快的（时钟频率）</a:t>
                      </a:r>
                      <a:endParaRPr lang="zh-CN" altLang="en-US" sz="1400" b="1">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很多，但变得复杂</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4</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全双工</a:t>
                      </a:r>
                      <a:endParaRPr lang="zh-CN" altLang="en-US" sz="1400">
                        <a:solidFill>
                          <a:schemeClr val="bg1"/>
                        </a:solidFill>
                        <a:latin typeface="Arial" panose="020B0604020202020204" pitchFamily="34" charset="0"/>
                      </a:endParaRPr>
                    </a:p>
                  </a:txBody>
                  <a:tcPr marL="68580" marR="68580" marT="0" marB="0" anchor="ctr"/>
                </a:tc>
                <a:tc>
                  <a:txBody>
                    <a:bodyPr/>
                    <a:lstStyle/>
                    <a:p>
                      <a:pPr marL="0" indent="0" algn="just">
                        <a:spcBef>
                          <a:spcPct val="0"/>
                        </a:spcBef>
                        <a:spcAft>
                          <a:spcPct val="0"/>
                        </a:spcAft>
                      </a:pPr>
                      <a:r>
                        <a:rPr lang="zh-CN" altLang="en-US" sz="1400">
                          <a:solidFill>
                            <a:schemeClr val="bg1"/>
                          </a:solidFill>
                          <a:latin typeface="Arial" panose="020B0604020202020204" pitchFamily="34" charset="0"/>
                        </a:rPr>
                        <a:t>1个主站，多个从站</a:t>
                      </a:r>
                      <a:endParaRPr lang="zh-CN" altLang="en-US" sz="1400">
                        <a:solidFill>
                          <a:schemeClr val="bg1"/>
                        </a:solidFill>
                        <a:latin typeface="Arial" panose="020B0604020202020204" pitchFamily="34" charset="0"/>
                      </a:endParaRPr>
                    </a:p>
                  </a:txBody>
                  <a:tcPr marL="68580" marR="68580" marT="0" marB="0" anchor="ctr"/>
                </a:tc>
              </a:tr>
            </a:tbl>
          </a:graphicData>
        </a:graphic>
      </p:graphicFrame>
      <p:sp>
        <p:nvSpPr>
          <p:cNvPr id="10" name="文本框 9"/>
          <p:cNvSpPr txBox="1"/>
          <p:nvPr/>
        </p:nvSpPr>
        <p:spPr>
          <a:xfrm>
            <a:off x="827405" y="4452620"/>
            <a:ext cx="4062730" cy="368300"/>
          </a:xfrm>
          <a:prstGeom prst="rect">
            <a:avLst/>
          </a:prstGeom>
          <a:noFill/>
        </p:spPr>
        <p:txBody>
          <a:bodyPr wrap="square" rtlCol="0">
            <a:spAutoFit/>
          </a:bodyPr>
          <a:lstStyle/>
          <a:p>
            <a:r>
              <a:rPr lang="en-US" altLang="zh-CN" b="1">
                <a:solidFill>
                  <a:schemeClr val="bg1"/>
                </a:solidFill>
              </a:rPr>
              <a:t>CAN</a:t>
            </a:r>
            <a:r>
              <a:rPr lang="zh-CN" altLang="en-US" b="1">
                <a:solidFill>
                  <a:schemeClr val="bg1"/>
                </a:solidFill>
              </a:rPr>
              <a:t>通讯</a:t>
            </a:r>
            <a:endParaRPr lang="zh-CN" altLang="en-US" b="1">
              <a:solidFill>
                <a:schemeClr val="bg1"/>
              </a:solidFill>
            </a:endParaRPr>
          </a:p>
        </p:txBody>
      </p:sp>
      <p:sp>
        <p:nvSpPr>
          <p:cNvPr id="11" name="文本框 10"/>
          <p:cNvSpPr txBox="1"/>
          <p:nvPr/>
        </p:nvSpPr>
        <p:spPr>
          <a:xfrm>
            <a:off x="877570" y="4902200"/>
            <a:ext cx="10509885" cy="1168400"/>
          </a:xfrm>
          <a:prstGeom prst="rect">
            <a:avLst/>
          </a:prstGeom>
          <a:noFill/>
        </p:spPr>
        <p:txBody>
          <a:bodyPr wrap="square" rtlCol="0">
            <a:spAutoFit/>
          </a:bodyPr>
          <a:lstStyle/>
          <a:p>
            <a:r>
              <a:rPr lang="zh-CN" altLang="en-US" sz="1400">
                <a:solidFill>
                  <a:schemeClr val="bg1"/>
                </a:solidFill>
              </a:rPr>
              <a:t>它是由研发和生产汽车电子产品著称的德国</a:t>
            </a:r>
            <a:r>
              <a:rPr lang="en-US" altLang="zh-CN" sz="1400">
                <a:solidFill>
                  <a:schemeClr val="bg1"/>
                </a:solidFill>
              </a:rPr>
              <a:t> BOSCH </a:t>
            </a:r>
            <a:r>
              <a:rPr lang="zh-CN" altLang="en-US" sz="1400">
                <a:solidFill>
                  <a:schemeClr val="bg1"/>
                </a:solidFill>
              </a:rPr>
              <a:t>公司开发的，并最终成为国际标准（</a:t>
            </a:r>
            <a:r>
              <a:rPr lang="en-US" altLang="zh-CN" sz="1400">
                <a:solidFill>
                  <a:schemeClr val="bg1"/>
                </a:solidFill>
              </a:rPr>
              <a:t>ISO11519</a:t>
            </a:r>
            <a:r>
              <a:rPr lang="zh-CN" altLang="en-US" sz="1400">
                <a:solidFill>
                  <a:schemeClr val="bg1"/>
                </a:solidFill>
              </a:rPr>
              <a:t>），是国际上应用最广泛的现场总线之一。</a:t>
            </a:r>
            <a:r>
              <a:rPr lang="en-US" altLang="zh-CN" sz="1400">
                <a:solidFill>
                  <a:schemeClr val="bg1"/>
                </a:solidFill>
              </a:rPr>
              <a:t> </a:t>
            </a:r>
            <a:endParaRPr lang="en-US" altLang="zh-CN" sz="1400">
              <a:solidFill>
                <a:schemeClr val="bg1"/>
              </a:solidFill>
            </a:endParaRPr>
          </a:p>
          <a:p>
            <a:r>
              <a:rPr lang="en-US" altLang="zh-CN" sz="1400">
                <a:solidFill>
                  <a:schemeClr val="bg1"/>
                </a:solidFill>
              </a:rPr>
              <a:t>CAN </a:t>
            </a:r>
            <a:r>
              <a:rPr lang="zh-CN" altLang="en-US" sz="1400">
                <a:solidFill>
                  <a:schemeClr val="bg1"/>
                </a:solidFill>
              </a:rPr>
              <a:t>总线协议已经成为汽车计算机控制系统和嵌入式工业控制局域网的标准总线，并且拥有以</a:t>
            </a:r>
            <a:r>
              <a:rPr lang="en-US" altLang="zh-CN" sz="1400">
                <a:solidFill>
                  <a:schemeClr val="bg1"/>
                </a:solidFill>
              </a:rPr>
              <a:t>CAN </a:t>
            </a:r>
            <a:r>
              <a:rPr lang="zh-CN" altLang="en-US" sz="1400">
                <a:solidFill>
                  <a:schemeClr val="bg1"/>
                </a:solidFill>
              </a:rPr>
              <a:t>为底层协议专为大型货车和重工机械车辆设计的</a:t>
            </a:r>
            <a:r>
              <a:rPr lang="en-US" altLang="zh-CN" sz="1400">
                <a:solidFill>
                  <a:schemeClr val="bg1"/>
                </a:solidFill>
              </a:rPr>
              <a:t> J1939 </a:t>
            </a:r>
            <a:r>
              <a:rPr lang="zh-CN" altLang="en-US" sz="1400">
                <a:solidFill>
                  <a:schemeClr val="bg1"/>
                </a:solidFill>
              </a:rPr>
              <a:t>协议。近年来，它具有的高可靠性和良好的错误检测能力受到重视，被广泛应用于汽车计算机控制系统和环境温度恶劣、电磁辐射强及振动大的工业环境。</a:t>
            </a:r>
            <a:endParaRPr lang="zh-CN" altLang="en-US" sz="1400">
              <a:solidFill>
                <a:schemeClr val="bg1"/>
              </a:solidFill>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fontScale="90000"/>
          </a:bodyPr>
          <a:lstStyle/>
          <a:p>
            <a:r>
              <a:rPr lang="en-US" altLang="zh-CN" spc="300" dirty="0">
                <a:latin typeface="+mj-ea"/>
                <a:sym typeface="+mn-ea"/>
              </a:rPr>
              <a:t>UART</a:t>
            </a:r>
            <a:r>
              <a:rPr lang="zh-CN" altLang="en-US" spc="300" dirty="0">
                <a:latin typeface="+mj-ea"/>
                <a:sym typeface="+mn-ea"/>
              </a:rPr>
              <a:t>通讯</a:t>
            </a:r>
            <a:endParaRPr lang="zh-CN" altLang="en-US"/>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903" y="2204561"/>
            <a:ext cx="4794406" cy="907084"/>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物理层</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UART</a:t>
            </a:r>
            <a:r>
              <a:rPr lang="zh-CN" altLang="en-US" sz="2400" b="1" spc="300" dirty="0">
                <a:solidFill>
                  <a:schemeClr val="accent1"/>
                </a:solidFill>
                <a:latin typeface="+mj-ea"/>
                <a:ea typeface="+mj-ea"/>
              </a:rPr>
              <a:t>的主要特征</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数据包格式</a:t>
            </a:r>
            <a:endParaRPr lang="zh-CN" altLang="en-US" sz="2400" b="1" spc="300" dirty="0">
              <a:solidFill>
                <a:schemeClr val="accent1"/>
              </a:solidFill>
              <a:latin typeface="+mj-ea"/>
              <a:ea typeface="+mj-ea"/>
            </a:endParaRPr>
          </a:p>
        </p:txBody>
      </p:sp>
      <p:sp>
        <p:nvSpPr>
          <p:cNvPr id="15" name="序号"/>
          <p:cNvSpPr txBox="1"/>
          <p:nvPr>
            <p:custDataLst>
              <p:tags r:id="rId8"/>
            </p:custDataLst>
          </p:nvPr>
        </p:nvSpPr>
        <p:spPr>
          <a:xfrm>
            <a:off x="5700395" y="3851910"/>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04.</a:t>
            </a:r>
            <a:endParaRPr lang="en-US" sz="2800">
              <a:solidFill>
                <a:schemeClr val="accent1">
                  <a:lumMod val="60000"/>
                  <a:lumOff val="40000"/>
                </a:schemeClr>
              </a:solidFill>
              <a:latin typeface="+mj-ea"/>
              <a:ea typeface="+mj-ea"/>
            </a:endParaRPr>
          </a:p>
        </p:txBody>
      </p:sp>
      <p:sp>
        <p:nvSpPr>
          <p:cNvPr id="16" name="项标题"/>
          <p:cNvSpPr txBox="1"/>
          <p:nvPr>
            <p:custDataLst>
              <p:tags r:id="rId9"/>
            </p:custDataLst>
          </p:nvPr>
        </p:nvSpPr>
        <p:spPr>
          <a:xfrm>
            <a:off x="6694805" y="3851910"/>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协议层</a:t>
            </a:r>
            <a:endParaRPr lang="zh-CN" altLang="en-US" sz="2400" b="1" spc="300" dirty="0">
              <a:solidFill>
                <a:schemeClr val="accent1"/>
              </a:solidFill>
              <a:latin typeface="+mj-ea"/>
              <a:ea typeface="+mj-ea"/>
            </a:endParaRPr>
          </a:p>
        </p:txBody>
      </p:sp>
      <p:sp>
        <p:nvSpPr>
          <p:cNvPr id="2" name="序号"/>
          <p:cNvSpPr txBox="1"/>
          <p:nvPr>
            <p:custDataLst>
              <p:tags r:id="rId10"/>
            </p:custDataLst>
          </p:nvPr>
        </p:nvSpPr>
        <p:spPr>
          <a:xfrm>
            <a:off x="5706110" y="4387215"/>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05.</a:t>
            </a:r>
            <a:endParaRPr lang="en-US" sz="2800">
              <a:solidFill>
                <a:schemeClr val="accent1">
                  <a:lumMod val="60000"/>
                  <a:lumOff val="40000"/>
                </a:schemeClr>
              </a:solidFill>
              <a:latin typeface="+mj-ea"/>
              <a:ea typeface="+mj-ea"/>
            </a:endParaRPr>
          </a:p>
        </p:txBody>
      </p:sp>
      <p:sp>
        <p:nvSpPr>
          <p:cNvPr id="3" name="项标题"/>
          <p:cNvSpPr txBox="1"/>
          <p:nvPr>
            <p:custDataLst>
              <p:tags r:id="rId11"/>
            </p:custDataLst>
          </p:nvPr>
        </p:nvSpPr>
        <p:spPr>
          <a:xfrm>
            <a:off x="6700520" y="4387215"/>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程序配置</a:t>
            </a:r>
            <a:endParaRPr lang="zh-CN" altLang="en-US" sz="2400" b="1" spc="300" dirty="0">
              <a:solidFill>
                <a:schemeClr val="accent1"/>
              </a:solidFill>
              <a:latin typeface="+mj-ea"/>
              <a:ea typeface="+mj-ea"/>
              <a:sym typeface="+mn-ea"/>
            </a:endParaRPr>
          </a:p>
        </p:txBody>
      </p:sp>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noChangeArrowheads="1"/>
          </p:cNvSpPr>
          <p:nvPr>
            <p:ph type="subTitle" idx="1"/>
          </p:nvPr>
        </p:nvSpPr>
        <p:spPr>
          <a:xfrm>
            <a:off x="95885" y="841375"/>
            <a:ext cx="11541760" cy="388620"/>
          </a:xfrm>
        </p:spPr>
        <p:txBody>
          <a:bodyPr>
            <a:noAutofit/>
          </a:bodyPr>
          <a:lstStyle/>
          <a:p>
            <a:pPr algn="l"/>
            <a:r>
              <a:rPr lang="zh-CN" altLang="en-US" sz="1400"/>
              <a:t>通用异步接收器</a:t>
            </a:r>
            <a:r>
              <a:rPr lang="en-US" altLang="zh-CN" sz="1400"/>
              <a:t>/</a:t>
            </a:r>
            <a:r>
              <a:rPr lang="zh-CN" altLang="en-US" sz="1400"/>
              <a:t>发送器，通常称为</a:t>
            </a:r>
            <a:r>
              <a:rPr lang="en-US" altLang="zh-CN" sz="1400"/>
              <a:t>UART</a:t>
            </a:r>
            <a:r>
              <a:rPr lang="zh-CN" altLang="en-US" sz="1400"/>
              <a:t>，是一种广泛应用于嵌入式领域的串行、异步、全双工通信协议。</a:t>
            </a:r>
            <a:endParaRPr lang="zh-CN" altLang="en-US" sz="1400"/>
          </a:p>
        </p:txBody>
      </p:sp>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1427480"/>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物理层</a:t>
            </a:r>
            <a:endParaRPr lang="zh-CN" altLang="en-US" sz="2000"/>
          </a:p>
        </p:txBody>
      </p:sp>
      <p:sp>
        <p:nvSpPr>
          <p:cNvPr id="7" name="文本框 6"/>
          <p:cNvSpPr txBox="1"/>
          <p:nvPr/>
        </p:nvSpPr>
        <p:spPr>
          <a:xfrm>
            <a:off x="450215" y="2675890"/>
            <a:ext cx="3024505" cy="3622040"/>
          </a:xfrm>
          <a:prstGeom prst="rect">
            <a:avLst/>
          </a:prstGeom>
        </p:spPr>
        <p:txBody>
          <a:bodyPr wrap="square">
            <a:noAutofit/>
          </a:bodyPr>
          <a:lstStyle/>
          <a:p>
            <a:pPr marL="0" indent="0" algn="l" defTabSz="266700">
              <a:lnSpc>
                <a:spcPts val="1950"/>
              </a:lnSpc>
              <a:spcBef>
                <a:spcPts val="1800"/>
              </a:spcBef>
              <a:spcAft>
                <a:spcPts val="600"/>
              </a:spcAft>
            </a:pPr>
            <a:r>
              <a:rPr lang="zh-CN" altLang="en-US" sz="1900" b="1">
                <a:solidFill>
                  <a:srgbClr val="4F4F4F"/>
                </a:solidFill>
                <a:latin typeface="微软雅黑" panose="020B0503020204020204" charset="-122"/>
                <a:ea typeface="微软雅黑" panose="020B0503020204020204" charset="-122"/>
                <a:sym typeface="+mn-ea"/>
              </a:rPr>
              <a:t>串口连接</a:t>
            </a:r>
            <a:endParaRPr lang="zh-CN" altLang="en-US" sz="1900" b="1" i="0">
              <a:solidFill>
                <a:srgbClr val="4F4F4F"/>
              </a:solidFill>
              <a:latin typeface="微软雅黑" panose="020B0503020204020204" charset="-122"/>
              <a:ea typeface="微软雅黑" panose="020B0503020204020204" charset="-122"/>
            </a:endParaRPr>
          </a:p>
          <a:p>
            <a:pPr marL="0" indent="0" algn="l" defTabSz="266700">
              <a:lnSpc>
                <a:spcPts val="1800"/>
              </a:lnSpc>
              <a:spcBef>
                <a:spcPct val="0"/>
              </a:spcBef>
              <a:spcAft>
                <a:spcPts val="1200"/>
              </a:spcAft>
            </a:pPr>
            <a:r>
              <a:rPr lang="zh-CN" altLang="en-US" sz="1600">
                <a:solidFill>
                  <a:srgbClr val="2A2A2A"/>
                </a:solidFill>
                <a:latin typeface="Arial" panose="020B0604020202020204"/>
                <a:ea typeface="Arial" panose="020B0604020202020204"/>
                <a:sym typeface="+mn-ea"/>
              </a:rPr>
              <a:t>UART 通道有两条数据线。每个设备上都有一个 RX 引脚和一个 TX 引脚（RX 用于接收，TX 用于发送）。每个设备的 RX 引脚都连接到另一个设备的 TX 引脚。请注意，没有共享时钟线！这是通用异步接收方发送方的“异步”方面。</a:t>
            </a:r>
            <a:endParaRPr lang="zh-CN" altLang="en-US" sz="1600" b="0" i="0">
              <a:solidFill>
                <a:srgbClr val="2A2A2A"/>
              </a:solidFill>
              <a:latin typeface="Arial" panose="020B0604020202020204"/>
              <a:ea typeface="Arial" panose="020B0604020202020204"/>
            </a:endParaRPr>
          </a:p>
          <a:p>
            <a:pPr marL="0" algn="l" defTabSz="266700">
              <a:lnSpc>
                <a:spcPts val="1950"/>
              </a:lnSpc>
              <a:spcBef>
                <a:spcPts val="1800"/>
              </a:spcBef>
              <a:spcAft>
                <a:spcPts val="600"/>
              </a:spcAft>
              <a:buClrTx/>
              <a:buSzTx/>
              <a:buFontTx/>
            </a:pPr>
            <a:r>
              <a:rPr lang="zh-CN" altLang="en-US" sz="1900" b="1">
                <a:solidFill>
                  <a:srgbClr val="4F4F4F"/>
                </a:solidFill>
                <a:latin typeface="微软雅黑" panose="020B0503020204020204" charset="-122"/>
                <a:ea typeface="微软雅黑" panose="020B0503020204020204" charset="-122"/>
                <a:sym typeface="+mn-ea"/>
              </a:rPr>
              <a:t>对外接口</a:t>
            </a:r>
            <a:endParaRPr lang="zh-CN" altLang="en-US" sz="1900" b="1" i="0">
              <a:solidFill>
                <a:srgbClr val="4F4F4F"/>
              </a:solidFill>
              <a:latin typeface="微软雅黑" panose="020B0503020204020204" charset="-122"/>
              <a:ea typeface="微软雅黑" panose="020B0503020204020204" charset="-122"/>
            </a:endParaRPr>
          </a:p>
          <a:p>
            <a:pPr marL="0" indent="0" algn="l" defTabSz="266700">
              <a:lnSpc>
                <a:spcPts val="1800"/>
              </a:lnSpc>
              <a:spcBef>
                <a:spcPct val="0"/>
              </a:spcBef>
              <a:spcAft>
                <a:spcPts val="1200"/>
              </a:spcAft>
            </a:pPr>
            <a:r>
              <a:rPr lang="zh-CN" altLang="en-US" sz="1600">
                <a:solidFill>
                  <a:srgbClr val="2A2A2A"/>
                </a:solidFill>
                <a:latin typeface="Arial" panose="020B0604020202020204"/>
                <a:ea typeface="Arial" panose="020B0604020202020204"/>
                <a:sym typeface="+mn-ea"/>
              </a:rPr>
              <a:t>TTL电平、RS232、RS422、RS485等</a:t>
            </a:r>
            <a:endParaRPr lang="zh-CN" altLang="en-US" sz="1600" b="0" i="0">
              <a:solidFill>
                <a:srgbClr val="2A2A2A"/>
              </a:solidFill>
              <a:latin typeface="Arial" panose="020B0604020202020204"/>
              <a:ea typeface="Arial" panose="020B0604020202020204"/>
            </a:endParaRPr>
          </a:p>
        </p:txBody>
      </p:sp>
      <p:pic>
        <p:nvPicPr>
          <p:cNvPr id="8" name="图片 7"/>
          <p:cNvPicPr/>
          <p:nvPr/>
        </p:nvPicPr>
        <p:blipFill>
          <a:blip r:embed="rId1"/>
          <a:stretch>
            <a:fillRect/>
          </a:stretch>
        </p:blipFill>
        <p:spPr>
          <a:xfrm>
            <a:off x="4020820" y="1229995"/>
            <a:ext cx="7530465" cy="1699260"/>
          </a:xfrm>
          <a:prstGeom prst="rect">
            <a:avLst/>
          </a:prstGeom>
        </p:spPr>
      </p:pic>
      <p:pic>
        <p:nvPicPr>
          <p:cNvPr id="9" name="图片 8"/>
          <p:cNvPicPr>
            <a:picLocks noChangeAspect="1"/>
          </p:cNvPicPr>
          <p:nvPr/>
        </p:nvPicPr>
        <p:blipFill>
          <a:blip r:embed="rId2"/>
          <a:srcRect r="-247" b="3629"/>
          <a:stretch>
            <a:fillRect/>
          </a:stretch>
        </p:blipFill>
        <p:spPr>
          <a:xfrm>
            <a:off x="3679825" y="3716655"/>
            <a:ext cx="5662295" cy="2175510"/>
          </a:xfrm>
          <a:prstGeom prst="rect">
            <a:avLst/>
          </a:prstGeom>
        </p:spPr>
      </p:pic>
      <p:pic>
        <p:nvPicPr>
          <p:cNvPr id="10" name="图片 9"/>
          <p:cNvPicPr/>
          <p:nvPr/>
        </p:nvPicPr>
        <p:blipFill>
          <a:blip r:embed="rId3"/>
          <a:stretch>
            <a:fillRect/>
          </a:stretch>
        </p:blipFill>
        <p:spPr>
          <a:xfrm>
            <a:off x="9644380" y="3046095"/>
            <a:ext cx="2310765" cy="379984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UART</a:t>
            </a:r>
            <a:r>
              <a:rPr lang="zh-CN" altLang="en-US" sz="2000" b="1" spc="300">
                <a:latin typeface="+mj-ea"/>
                <a:ea typeface="+mj-ea"/>
                <a:sym typeface="+mn-ea"/>
              </a:rPr>
              <a:t>的主要特征</a:t>
            </a:r>
            <a:endParaRPr lang="zh-CN" altLang="en-US" sz="2000"/>
          </a:p>
        </p:txBody>
      </p:sp>
      <p:sp>
        <p:nvSpPr>
          <p:cNvPr id="7" name="文本框 6"/>
          <p:cNvSpPr txBox="1"/>
          <p:nvPr/>
        </p:nvSpPr>
        <p:spPr>
          <a:xfrm>
            <a:off x="511175" y="1473835"/>
            <a:ext cx="10577195" cy="3622040"/>
          </a:xfrm>
          <a:prstGeom prst="rect">
            <a:avLst/>
          </a:prstGeom>
        </p:spPr>
        <p:txBody>
          <a:bodyPr wrap="square">
            <a:noAutofit/>
          </a:bodyPr>
          <a:lstStyle/>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1. </a:t>
            </a:r>
            <a:r>
              <a:rPr lang="zh-CN" altLang="en-US" sz="1600" b="0" i="0">
                <a:solidFill>
                  <a:srgbClr val="2A2A2A"/>
                </a:solidFill>
                <a:latin typeface="Arial" panose="020B0604020202020204"/>
                <a:ea typeface="Arial" panose="020B0604020202020204"/>
              </a:rPr>
              <a:t>异步通信</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无时钟信号：</a:t>
            </a:r>
            <a:r>
              <a:rPr lang="en-US" altLang="zh-CN" sz="1600" b="0" i="0">
                <a:solidFill>
                  <a:srgbClr val="2A2A2A"/>
                </a:solidFill>
                <a:latin typeface="Arial" panose="020B0604020202020204"/>
                <a:ea typeface="Arial" panose="020B0604020202020204"/>
              </a:rPr>
              <a:t>UART </a:t>
            </a:r>
            <a:r>
              <a:rPr lang="zh-CN" altLang="en-US" sz="1600" b="0" i="0">
                <a:solidFill>
                  <a:srgbClr val="2A2A2A"/>
                </a:solidFill>
                <a:latin typeface="Arial" panose="020B0604020202020204"/>
                <a:ea typeface="Arial" panose="020B0604020202020204"/>
              </a:rPr>
              <a:t>不依赖共享时钟信号来同步数据传输，而是通过起始位、数据位、校验位和停止位来标识数据的开始和结束。</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发送方和接收方独立工作：发送方和接收方各自使用独立的时钟源，通过约定的波特率（数据传输速率）来保持同步。</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2.</a:t>
            </a:r>
            <a:r>
              <a:rPr lang="zh-CN" altLang="en-US" sz="1600" b="0" i="0">
                <a:solidFill>
                  <a:srgbClr val="2A2A2A"/>
                </a:solidFill>
                <a:latin typeface="Arial" panose="020B0604020202020204"/>
                <a:ea typeface="Arial" panose="020B0604020202020204"/>
              </a:rPr>
              <a:t>物理引脚</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默认</a:t>
            </a:r>
            <a:r>
              <a:rPr lang="zh-CN" altLang="en-US" sz="1600" b="0" i="0">
                <a:solidFill>
                  <a:srgbClr val="FF0000"/>
                </a:solidFill>
                <a:latin typeface="Arial" panose="020B0604020202020204"/>
                <a:ea typeface="Arial" panose="020B0604020202020204"/>
              </a:rPr>
              <a:t>高电平</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3. </a:t>
            </a:r>
            <a:r>
              <a:rPr lang="zh-CN" altLang="en-US" sz="1600" b="0" i="0">
                <a:solidFill>
                  <a:srgbClr val="2A2A2A"/>
                </a:solidFill>
                <a:latin typeface="Arial" panose="020B0604020202020204"/>
                <a:ea typeface="Arial" panose="020B0604020202020204"/>
              </a:rPr>
              <a:t>波特率</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传输速率：波特率表示每秒传输的位数（</a:t>
            </a:r>
            <a:r>
              <a:rPr lang="en-US" altLang="zh-CN" sz="1600" b="0" i="0">
                <a:solidFill>
                  <a:srgbClr val="2A2A2A"/>
                </a:solidFill>
                <a:latin typeface="Arial" panose="020B0604020202020204"/>
                <a:ea typeface="Arial" panose="020B0604020202020204"/>
              </a:rPr>
              <a:t>bps</a:t>
            </a:r>
            <a:r>
              <a:rPr lang="zh-CN" altLang="en-US" sz="1600" b="0" i="0">
                <a:solidFill>
                  <a:srgbClr val="2A2A2A"/>
                </a:solidFill>
                <a:latin typeface="Arial" panose="020B0604020202020204"/>
                <a:ea typeface="Arial" panose="020B0604020202020204"/>
              </a:rPr>
              <a:t>），常见的波特率有</a:t>
            </a:r>
            <a:r>
              <a:rPr lang="en-US" altLang="zh-CN" sz="1600" b="0" i="0">
                <a:solidFill>
                  <a:srgbClr val="2A2A2A"/>
                </a:solidFill>
                <a:latin typeface="Arial" panose="020B0604020202020204"/>
                <a:ea typeface="Arial" panose="020B0604020202020204"/>
              </a:rPr>
              <a:t> 9600</a:t>
            </a:r>
            <a:r>
              <a:rPr lang="zh-CN" altLang="en-US" sz="1600" b="0" i="0">
                <a:solidFill>
                  <a:srgbClr val="2A2A2A"/>
                </a:solidFill>
                <a:latin typeface="Arial" panose="020B0604020202020204"/>
                <a:ea typeface="Arial" panose="020B0604020202020204"/>
              </a:rPr>
              <a:t>、</a:t>
            </a:r>
            <a:r>
              <a:rPr lang="en-US" altLang="zh-CN" sz="1600" b="0" i="0">
                <a:solidFill>
                  <a:srgbClr val="2A2A2A"/>
                </a:solidFill>
                <a:latin typeface="Arial" panose="020B0604020202020204"/>
                <a:ea typeface="Arial" panose="020B0604020202020204"/>
              </a:rPr>
              <a:t>19200</a:t>
            </a:r>
            <a:r>
              <a:rPr lang="zh-CN" altLang="en-US" sz="1600" b="0" i="0">
                <a:solidFill>
                  <a:srgbClr val="2A2A2A"/>
                </a:solidFill>
                <a:latin typeface="Arial" panose="020B0604020202020204"/>
                <a:ea typeface="Arial" panose="020B0604020202020204"/>
              </a:rPr>
              <a:t>、</a:t>
            </a:r>
            <a:r>
              <a:rPr lang="en-US" altLang="zh-CN" sz="1600" b="0" i="0">
                <a:solidFill>
                  <a:srgbClr val="2A2A2A"/>
                </a:solidFill>
                <a:latin typeface="Arial" panose="020B0604020202020204"/>
                <a:ea typeface="Arial" panose="020B0604020202020204"/>
              </a:rPr>
              <a:t>38400</a:t>
            </a:r>
            <a:r>
              <a:rPr lang="zh-CN" altLang="en-US" sz="1600" b="0" i="0">
                <a:solidFill>
                  <a:srgbClr val="2A2A2A"/>
                </a:solidFill>
                <a:latin typeface="Arial" panose="020B0604020202020204"/>
                <a:ea typeface="Arial" panose="020B0604020202020204"/>
              </a:rPr>
              <a:t>、</a:t>
            </a:r>
            <a:r>
              <a:rPr lang="en-US" altLang="zh-CN" sz="1600" b="0" i="0">
                <a:solidFill>
                  <a:srgbClr val="2A2A2A"/>
                </a:solidFill>
                <a:latin typeface="Arial" panose="020B0604020202020204"/>
                <a:ea typeface="Arial" panose="020B0604020202020204"/>
              </a:rPr>
              <a:t>57600</a:t>
            </a:r>
            <a:r>
              <a:rPr lang="zh-CN" altLang="en-US" sz="1600" b="0" i="0">
                <a:solidFill>
                  <a:srgbClr val="2A2A2A"/>
                </a:solidFill>
                <a:latin typeface="Arial" panose="020B0604020202020204"/>
                <a:ea typeface="Arial" panose="020B0604020202020204"/>
              </a:rPr>
              <a:t>、</a:t>
            </a:r>
            <a:r>
              <a:rPr lang="en-US" altLang="zh-CN" sz="1600" b="0" i="0">
                <a:solidFill>
                  <a:srgbClr val="2A2A2A"/>
                </a:solidFill>
                <a:latin typeface="Arial" panose="020B0604020202020204"/>
                <a:ea typeface="Arial" panose="020B0604020202020204"/>
              </a:rPr>
              <a:t>115200 </a:t>
            </a:r>
            <a:r>
              <a:rPr lang="zh-CN" altLang="en-US" sz="1600" b="0" i="0">
                <a:solidFill>
                  <a:srgbClr val="2A2A2A"/>
                </a:solidFill>
                <a:latin typeface="Arial" panose="020B0604020202020204"/>
                <a:ea typeface="Arial" panose="020B0604020202020204"/>
              </a:rPr>
              <a:t>等。</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匹配要求：发送方和接收方的波特率必须一致，否则会导致数据错误。</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p:txBody>
      </p:sp>
      <p:pic>
        <p:nvPicPr>
          <p:cNvPr id="5" name="图片 4" descr="IMG_256"/>
          <p:cNvPicPr>
            <a:picLocks noChangeAspect="1"/>
          </p:cNvPicPr>
          <p:nvPr/>
        </p:nvPicPr>
        <p:blipFill>
          <a:blip r:embed="rId1"/>
          <a:stretch>
            <a:fillRect/>
          </a:stretch>
        </p:blipFill>
        <p:spPr>
          <a:xfrm>
            <a:off x="3826510" y="4620260"/>
            <a:ext cx="3479800" cy="1842135"/>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358765"/>
          </a:xfrm>
          <a:prstGeom prst="rect">
            <a:avLst/>
          </a:prstGeom>
        </p:spPr>
        <p:txBody>
          <a:bodyPr wrap="square">
            <a:noAutofit/>
          </a:bodyPr>
          <a:lstStyle/>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起始位</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每次通信开始时，发送方发送一个逻辑</a:t>
            </a:r>
            <a:r>
              <a:rPr lang="en-US" altLang="zh-CN" sz="1600" b="0" i="0" dirty="0">
                <a:solidFill>
                  <a:srgbClr val="2A2A2A"/>
                </a:solidFill>
                <a:latin typeface="Arial" panose="020B0604020202020204"/>
                <a:ea typeface="Arial" panose="020B0604020202020204"/>
              </a:rPr>
              <a:t>“0”</a:t>
            </a:r>
            <a:r>
              <a:rPr lang="zh-CN" altLang="en-US" sz="1600" b="0" i="0" dirty="0">
                <a:solidFill>
                  <a:srgbClr val="2A2A2A"/>
                </a:solidFill>
                <a:latin typeface="Arial" panose="020B0604020202020204"/>
                <a:ea typeface="Arial" panose="020B0604020202020204"/>
              </a:rPr>
              <a:t>信号（</a:t>
            </a:r>
            <a:r>
              <a:rPr lang="en-US" altLang="zh-CN" sz="1600" b="0" i="0" dirty="0">
                <a:solidFill>
                  <a:srgbClr val="2A2A2A"/>
                </a:solidFill>
                <a:latin typeface="Arial" panose="020B0604020202020204"/>
                <a:ea typeface="Arial" panose="020B0604020202020204"/>
              </a:rPr>
              <a:t>VOL</a:t>
            </a:r>
            <a:r>
              <a:rPr lang="zh-CN" altLang="en-US" sz="1600" b="0" i="0" dirty="0">
                <a:solidFill>
                  <a:srgbClr val="2A2A2A"/>
                </a:solidFill>
                <a:latin typeface="Arial" panose="020B0604020202020204"/>
                <a:ea typeface="Arial" panose="020B0604020202020204"/>
              </a:rPr>
              <a:t>），表示传输字符的开始。由于总线空闲时为高电平，因此在开始通信时先发送一个与空闲状态明显不同的信号，即</a:t>
            </a:r>
            <a:r>
              <a:rPr lang="en-US" altLang="zh-CN" sz="1600" b="0" i="0" dirty="0">
                <a:solidFill>
                  <a:srgbClr val="2A2A2A"/>
                </a:solidFill>
                <a:latin typeface="Arial" panose="020B0604020202020204"/>
                <a:ea typeface="Arial" panose="020B0604020202020204"/>
              </a:rPr>
              <a:t>VOL</a:t>
            </a:r>
            <a:r>
              <a:rPr lang="zh-CN" altLang="en-US" sz="1600" b="0" i="0" dirty="0">
                <a:solidFill>
                  <a:srgbClr val="2A2A2A"/>
                </a:solidFill>
                <a:latin typeface="Arial" panose="020B0604020202020204"/>
                <a:ea typeface="Arial" panose="020B0604020202020204"/>
              </a:rPr>
              <a:t>。</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数据位</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起始位之后是我们要传输的数据。数据位可以是</a:t>
            </a:r>
            <a:r>
              <a:rPr lang="en-US" altLang="zh-CN" sz="1600" b="0" i="0" dirty="0">
                <a:solidFill>
                  <a:srgbClr val="2A2A2A"/>
                </a:solidFill>
                <a:latin typeface="Arial" panose="020B0604020202020204"/>
                <a:ea typeface="Arial" panose="020B0604020202020204"/>
              </a:rPr>
              <a:t>5</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6</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7</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8</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9</a:t>
            </a:r>
            <a:r>
              <a:rPr lang="zh-CN" altLang="en-US" sz="1600" b="0" i="0" dirty="0">
                <a:solidFill>
                  <a:srgbClr val="2A2A2A"/>
                </a:solidFill>
                <a:latin typeface="Arial" panose="020B0604020202020204"/>
                <a:ea typeface="Arial" panose="020B0604020202020204"/>
              </a:rPr>
              <a:t>位等组成一个字符（通常是</a:t>
            </a:r>
            <a:r>
              <a:rPr lang="en-US" altLang="zh-CN" sz="1600" b="0" i="0" dirty="0">
                <a:solidFill>
                  <a:srgbClr val="2A2A2A"/>
                </a:solidFill>
                <a:latin typeface="Arial" panose="020B0604020202020204"/>
                <a:ea typeface="Arial" panose="020B0604020202020204"/>
              </a:rPr>
              <a:t>8</a:t>
            </a:r>
            <a:r>
              <a:rPr lang="zh-CN" altLang="en-US" sz="1600" b="0" i="0" dirty="0">
                <a:solidFill>
                  <a:srgbClr val="2A2A2A"/>
                </a:solidFill>
                <a:latin typeface="Arial" panose="020B0604020202020204"/>
                <a:ea typeface="Arial" panose="020B0604020202020204"/>
              </a:rPr>
              <a:t>位）。如</a:t>
            </a:r>
            <a:r>
              <a:rPr lang="en-US" altLang="zh-CN" sz="1600" b="0" i="0" dirty="0">
                <a:solidFill>
                  <a:srgbClr val="2A2A2A"/>
                </a:solidFill>
                <a:latin typeface="Arial" panose="020B0604020202020204"/>
                <a:ea typeface="Arial" panose="020B0604020202020204"/>
              </a:rPr>
              <a:t>ASCII</a:t>
            </a:r>
            <a:r>
              <a:rPr lang="zh-CN" altLang="en-US" sz="1600" b="0" i="0" dirty="0">
                <a:solidFill>
                  <a:srgbClr val="2A2A2A"/>
                </a:solidFill>
                <a:latin typeface="Arial" panose="020B0604020202020204"/>
                <a:ea typeface="Arial" panose="020B0604020202020204"/>
              </a:rPr>
              <a:t>码（</a:t>
            </a:r>
            <a:r>
              <a:rPr lang="en-US" altLang="zh-CN" sz="1600" b="0" i="0" dirty="0">
                <a:solidFill>
                  <a:srgbClr val="2A2A2A"/>
                </a:solidFill>
                <a:latin typeface="Arial" panose="020B0604020202020204"/>
                <a:ea typeface="Arial" panose="020B0604020202020204"/>
              </a:rPr>
              <a:t>7</a:t>
            </a:r>
            <a:r>
              <a:rPr lang="zh-CN" altLang="en-US" sz="1600" b="0" i="0" dirty="0">
                <a:solidFill>
                  <a:srgbClr val="2A2A2A"/>
                </a:solidFill>
                <a:latin typeface="Arial" panose="020B0604020202020204"/>
                <a:ea typeface="Arial" panose="020B0604020202020204"/>
              </a:rPr>
              <a:t>位）、扩展</a:t>
            </a:r>
            <a:r>
              <a:rPr lang="en-US" altLang="zh-CN" sz="1600" b="0" i="0" dirty="0">
                <a:solidFill>
                  <a:srgbClr val="2A2A2A"/>
                </a:solidFill>
                <a:latin typeface="Arial" panose="020B0604020202020204"/>
                <a:ea typeface="Arial" panose="020B0604020202020204"/>
              </a:rPr>
              <a:t>BCD</a:t>
            </a:r>
            <a:r>
              <a:rPr lang="zh-CN" altLang="en-US" sz="1600" b="0" i="0" dirty="0">
                <a:solidFill>
                  <a:srgbClr val="2A2A2A"/>
                </a:solidFill>
                <a:latin typeface="Arial" panose="020B0604020202020204"/>
                <a:ea typeface="Arial" panose="020B0604020202020204"/>
              </a:rPr>
              <a:t>码（</a:t>
            </a:r>
            <a:r>
              <a:rPr lang="en-US" altLang="zh-CN" sz="1600" b="0" i="0" dirty="0">
                <a:solidFill>
                  <a:srgbClr val="2A2A2A"/>
                </a:solidFill>
                <a:latin typeface="Arial" panose="020B0604020202020204"/>
                <a:ea typeface="Arial" panose="020B0604020202020204"/>
              </a:rPr>
              <a:t>8</a:t>
            </a:r>
            <a:r>
              <a:rPr lang="zh-CN" altLang="en-US" sz="1600" b="0" i="0" dirty="0">
                <a:solidFill>
                  <a:srgbClr val="2A2A2A"/>
                </a:solidFill>
                <a:latin typeface="Arial" panose="020B0604020202020204"/>
                <a:ea typeface="Arial" panose="020B0604020202020204"/>
              </a:rPr>
              <a:t>位）。首先发送最低位，最后发送最高位。用低电平</a:t>
            </a:r>
            <a:r>
              <a:rPr lang="en-US" altLang="en-US" sz="1600" b="0" i="0" dirty="0">
                <a:solidFill>
                  <a:srgbClr val="2A2A2A"/>
                </a:solidFill>
                <a:latin typeface="Arial" panose="020B0604020202020204"/>
                <a:ea typeface="Arial" panose="020B0604020202020204"/>
              </a:rPr>
              <a:t> </a:t>
            </a:r>
            <a:r>
              <a:rPr lang="zh-CN" altLang="en-US" sz="1600" b="0" i="0" dirty="0">
                <a:solidFill>
                  <a:srgbClr val="2A2A2A"/>
                </a:solidFill>
                <a:latin typeface="Arial" panose="020B0604020202020204"/>
                <a:ea typeface="Arial" panose="020B0604020202020204"/>
              </a:rPr>
              <a:t>表示</a:t>
            </a:r>
            <a:r>
              <a:rPr lang="en-US" altLang="zh-CN" sz="1600" b="0" i="0" dirty="0">
                <a:solidFill>
                  <a:srgbClr val="2A2A2A"/>
                </a:solidFill>
                <a:latin typeface="Arial" panose="020B0604020202020204"/>
                <a:ea typeface="Arial" panose="020B0604020202020204"/>
              </a:rPr>
              <a:t>“0”</a:t>
            </a:r>
            <a:r>
              <a:rPr lang="zh-CN" altLang="en-US" sz="1600" b="0" i="0" dirty="0">
                <a:solidFill>
                  <a:srgbClr val="2A2A2A"/>
                </a:solidFill>
                <a:latin typeface="Arial" panose="020B0604020202020204"/>
                <a:ea typeface="Arial" panose="020B0604020202020204"/>
              </a:rPr>
              <a:t>，高电平表示</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，完成数据位的传输。</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奇偶校验位</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将该位添加到数据位后，</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位的个数应为偶数（偶校验）或奇数（奇校验），以验证数据传输的正确性。校验位实际上就是调整数，串口校验分为几种方式：</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无奇偶校验</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奇校验：如果数据位中</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的个数为偶数，则奇偶校验位为</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，如果</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的个数为奇数，则奇偶校验位为</a:t>
            </a:r>
            <a:r>
              <a:rPr lang="en-US" altLang="zh-CN" sz="1600" b="0" i="0" dirty="0">
                <a:solidFill>
                  <a:srgbClr val="2A2A2A"/>
                </a:solidFill>
                <a:latin typeface="Arial" panose="020B0604020202020204"/>
                <a:ea typeface="Arial" panose="020B0604020202020204"/>
              </a:rPr>
              <a:t>“0”</a:t>
            </a:r>
            <a:r>
              <a:rPr lang="zh-CN" altLang="en-US" sz="1600" b="0" i="0" dirty="0">
                <a:solidFill>
                  <a:srgbClr val="2A2A2A"/>
                </a:solidFill>
                <a:latin typeface="Arial" panose="020B0604020202020204"/>
                <a:ea typeface="Arial" panose="020B0604020202020204"/>
              </a:rPr>
              <a:t>。</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偶校验：如果数据中</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的个数为偶数，则奇偶校验位为</a:t>
            </a:r>
            <a:r>
              <a:rPr lang="en-US" altLang="zh-CN" sz="1600" b="0" i="0" dirty="0">
                <a:solidFill>
                  <a:srgbClr val="2A2A2A"/>
                </a:solidFill>
                <a:latin typeface="Arial" panose="020B0604020202020204"/>
                <a:ea typeface="Arial" panose="020B0604020202020204"/>
              </a:rPr>
              <a:t>“0”</a:t>
            </a:r>
            <a:r>
              <a:rPr lang="zh-CN" altLang="en-US" sz="1600" b="0" i="0" dirty="0">
                <a:solidFill>
                  <a:srgbClr val="2A2A2A"/>
                </a:solidFill>
                <a:latin typeface="Arial" panose="020B0604020202020204"/>
                <a:ea typeface="Arial" panose="020B0604020202020204"/>
              </a:rPr>
              <a:t>，如果数据中</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的个数为奇数，则奇偶校验位为</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标记奇偶校验：校验位始终为</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（不常用）。</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奇偶校验：奇偶校验位始终为</a:t>
            </a:r>
            <a:r>
              <a:rPr lang="en-US" altLang="zh-CN" sz="1600" b="0" i="0" dirty="0">
                <a:solidFill>
                  <a:srgbClr val="2A2A2A"/>
                </a:solidFill>
                <a:latin typeface="Arial" panose="020B0604020202020204"/>
                <a:ea typeface="Arial" panose="020B0604020202020204"/>
              </a:rPr>
              <a:t>0</a:t>
            </a:r>
            <a:r>
              <a:rPr lang="zh-CN" altLang="en-US" sz="1600" b="0" i="0" dirty="0">
                <a:solidFill>
                  <a:srgbClr val="2A2A2A"/>
                </a:solidFill>
                <a:latin typeface="Arial" panose="020B0604020202020204"/>
                <a:ea typeface="Arial" panose="020B0604020202020204"/>
              </a:rPr>
              <a:t>（不常用）。</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停止位</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它是字符数据的结束标记。它可以是</a:t>
            </a:r>
            <a:r>
              <a:rPr lang="en-US" altLang="zh-CN" sz="1600" b="0" i="0" dirty="0">
                <a:solidFill>
                  <a:srgbClr val="2A2A2A"/>
                </a:solidFill>
                <a:latin typeface="Arial" panose="020B0604020202020204"/>
                <a:ea typeface="Arial" panose="020B0604020202020204"/>
              </a:rPr>
              <a:t> 1 </a:t>
            </a:r>
            <a:r>
              <a:rPr lang="zh-CN" altLang="en-US" sz="1600" b="0" i="0" dirty="0">
                <a:solidFill>
                  <a:srgbClr val="2A2A2A"/>
                </a:solidFill>
                <a:latin typeface="Arial" panose="020B0604020202020204"/>
                <a:ea typeface="Arial" panose="020B0604020202020204"/>
              </a:rPr>
              <a:t>位、</a:t>
            </a:r>
            <a:r>
              <a:rPr lang="en-US" altLang="zh-CN" sz="1600" b="0" i="0" dirty="0">
                <a:solidFill>
                  <a:srgbClr val="2A2A2A"/>
                </a:solidFill>
                <a:latin typeface="Arial" panose="020B0604020202020204"/>
                <a:ea typeface="Arial" panose="020B0604020202020204"/>
              </a:rPr>
              <a:t>1.5 </a:t>
            </a:r>
            <a:r>
              <a:rPr lang="zh-CN" altLang="en-US" sz="1600" b="0" i="0" dirty="0">
                <a:solidFill>
                  <a:srgbClr val="2A2A2A"/>
                </a:solidFill>
                <a:latin typeface="Arial" panose="020B0604020202020204"/>
                <a:ea typeface="Arial" panose="020B0604020202020204"/>
              </a:rPr>
              <a:t>位或</a:t>
            </a:r>
            <a:r>
              <a:rPr lang="en-US" altLang="zh-CN" sz="1600" b="0" i="0" dirty="0">
                <a:solidFill>
                  <a:srgbClr val="2A2A2A"/>
                </a:solidFill>
                <a:latin typeface="Arial" panose="020B0604020202020204"/>
                <a:ea typeface="Arial" panose="020B0604020202020204"/>
              </a:rPr>
              <a:t> 2 </a:t>
            </a:r>
            <a:r>
              <a:rPr lang="zh-CN" altLang="en-US" sz="1600" b="0" i="0" dirty="0">
                <a:solidFill>
                  <a:srgbClr val="2A2A2A"/>
                </a:solidFill>
                <a:latin typeface="Arial" panose="020B0604020202020204"/>
                <a:ea typeface="Arial" panose="020B0604020202020204"/>
              </a:rPr>
              <a:t>位</a:t>
            </a:r>
            <a:r>
              <a:rPr lang="en-US" altLang="zh-CN" sz="1600" b="0" i="0" dirty="0">
                <a:solidFill>
                  <a:srgbClr val="2A2A2A"/>
                </a:solidFill>
                <a:latin typeface="Arial" panose="020B0604020202020204"/>
                <a:ea typeface="Arial" panose="020B0604020202020204"/>
              </a:rPr>
              <a:t> VOH</a:t>
            </a:r>
            <a:r>
              <a:rPr lang="zh-CN" altLang="en-US" sz="1600" b="0" i="0" dirty="0">
                <a:solidFill>
                  <a:srgbClr val="2A2A2A"/>
                </a:solidFill>
                <a:latin typeface="Arial" panose="020B0604020202020204"/>
                <a:ea typeface="Arial" panose="020B0604020202020204"/>
              </a:rPr>
              <a:t>。由于数据在传输线上是定时的，并且每个设备都有自己的时钟，所以在通信时两个设备之间很可能会出现小的不同步。因此停止位不仅表示传输的结束，而且还为计算机提供了纠正时钟的机会。停止位越多，数据传输越稳定，但数据传输速度越慢</a:t>
            </a:r>
            <a:endParaRPr lang="zh-CN" altLang="en-US" sz="1600" b="0" i="0" dirty="0">
              <a:solidFill>
                <a:srgbClr val="2A2A2A"/>
              </a:solidFill>
              <a:latin typeface="Arial" panose="020B0604020202020204"/>
              <a:ea typeface="Arial" panose="020B0604020202020204"/>
            </a:endParaRPr>
          </a:p>
        </p:txBody>
      </p:sp>
      <p:pic>
        <p:nvPicPr>
          <p:cNvPr id="2" name="图片 2"/>
          <p:cNvPicPr>
            <a:picLocks noChangeAspect="1"/>
          </p:cNvPicPr>
          <p:nvPr/>
        </p:nvPicPr>
        <p:blipFill>
          <a:blip r:embed="rId1"/>
          <a:srcRect b="55942"/>
          <a:stretch>
            <a:fillRect/>
          </a:stretch>
        </p:blipFill>
        <p:spPr>
          <a:xfrm>
            <a:off x="6454457" y="169228"/>
            <a:ext cx="5269230" cy="1245235"/>
          </a:xfrm>
          <a:prstGeom prst="rect">
            <a:avLst/>
          </a:prstGeom>
          <a:noFill/>
          <a:ln>
            <a:noFill/>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1764030"/>
          </a:xfrm>
          <a:prstGeom prst="rect">
            <a:avLst/>
          </a:prstGeom>
        </p:spPr>
        <p:txBody>
          <a:bodyPr wrap="square">
            <a:noAutofit/>
          </a:bodyPr>
          <a:lstStyle/>
          <a:p>
            <a:pPr algn="l" defTabSz="266700">
              <a:lnSpc>
                <a:spcPts val="1950"/>
              </a:lnSpc>
              <a:spcBef>
                <a:spcPts val="100"/>
              </a:spcBef>
              <a:spcAft>
                <a:spcPts val="100"/>
              </a:spcAft>
            </a:pPr>
            <a:r>
              <a:rPr lang="zh-CN" altLang="en-US" sz="1600" b="0" i="0" dirty="0">
                <a:solidFill>
                  <a:srgbClr val="FF0000"/>
                </a:solidFill>
                <a:latin typeface="Arial" panose="020B0604020202020204"/>
                <a:ea typeface="Arial" panose="020B0604020202020204"/>
              </a:rPr>
              <a:t>最经典的</a:t>
            </a:r>
            <a:r>
              <a:rPr lang="en-US" altLang="zh-CN" sz="1600" b="0" i="0" dirty="0" err="1">
                <a:solidFill>
                  <a:srgbClr val="FF0000"/>
                </a:solidFill>
                <a:latin typeface="Arial" panose="020B0604020202020204"/>
                <a:ea typeface="Arial" panose="020B0604020202020204"/>
              </a:rPr>
              <a:t>modbus</a:t>
            </a:r>
            <a:endParaRPr lang="en-US" altLang="zh-CN" sz="1600" b="0" i="0" dirty="0">
              <a:solidFill>
                <a:srgbClr val="FF0000"/>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dirty="0">
                <a:solidFill>
                  <a:srgbClr val="2A2A2A"/>
                </a:solidFill>
                <a:latin typeface="Arial" panose="020B0604020202020204"/>
                <a:ea typeface="Arial" panose="020B0604020202020204"/>
              </a:rPr>
              <a:t>Modbus</a:t>
            </a:r>
            <a:r>
              <a:rPr lang="zh-CN" altLang="en-US" sz="1600" b="0" i="0" dirty="0">
                <a:solidFill>
                  <a:srgbClr val="2A2A2A"/>
                </a:solidFill>
                <a:latin typeface="Arial" panose="020B0604020202020204"/>
                <a:ea typeface="Arial" panose="020B0604020202020204"/>
              </a:rPr>
              <a:t>协议，由</a:t>
            </a:r>
            <a:r>
              <a:rPr lang="en-US" altLang="zh-CN" sz="1600" b="0" i="0" dirty="0">
                <a:solidFill>
                  <a:srgbClr val="2A2A2A"/>
                </a:solidFill>
                <a:latin typeface="Arial" panose="020B0604020202020204"/>
                <a:ea typeface="Arial" panose="020B0604020202020204"/>
              </a:rPr>
              <a:t>MODICON</a:t>
            </a:r>
            <a:r>
              <a:rPr lang="zh-CN" altLang="en-US" sz="1600" b="0" i="0" dirty="0">
                <a:solidFill>
                  <a:srgbClr val="2A2A2A"/>
                </a:solidFill>
                <a:latin typeface="Arial" panose="020B0604020202020204"/>
                <a:ea typeface="Arial" panose="020B0604020202020204"/>
              </a:rPr>
              <a:t>公司在</a:t>
            </a:r>
            <a:r>
              <a:rPr lang="en-US" altLang="zh-CN" sz="1600" b="0" i="0" dirty="0">
                <a:solidFill>
                  <a:srgbClr val="2A2A2A"/>
                </a:solidFill>
                <a:latin typeface="Arial" panose="020B0604020202020204"/>
                <a:ea typeface="Arial" panose="020B0604020202020204"/>
              </a:rPr>
              <a:t>1979</a:t>
            </a:r>
            <a:r>
              <a:rPr lang="zh-CN" altLang="en-US" sz="1600" b="0" i="0" dirty="0">
                <a:solidFill>
                  <a:srgbClr val="2A2A2A"/>
                </a:solidFill>
                <a:latin typeface="Arial" panose="020B0604020202020204"/>
                <a:ea typeface="Arial" panose="020B0604020202020204"/>
              </a:rPr>
              <a:t>年创立，自那时起便广泛应用于各种工业领域。</a:t>
            </a:r>
            <a:r>
              <a:rPr lang="en-US" altLang="zh-CN" sz="1600" b="0" i="0" dirty="0">
                <a:solidFill>
                  <a:srgbClr val="2A2A2A"/>
                </a:solidFill>
                <a:latin typeface="Arial" panose="020B0604020202020204"/>
                <a:ea typeface="Arial" panose="020B0604020202020204"/>
              </a:rPr>
              <a:t>1996</a:t>
            </a:r>
            <a:r>
              <a:rPr lang="zh-CN" altLang="en-US" sz="1600" b="0" i="0" dirty="0">
                <a:solidFill>
                  <a:srgbClr val="2A2A2A"/>
                </a:solidFill>
                <a:latin typeface="Arial" panose="020B0604020202020204"/>
                <a:ea typeface="Arial" panose="020B0604020202020204"/>
              </a:rPr>
              <a:t>年，施耐德公司推出了基于以太网</a:t>
            </a:r>
            <a:r>
              <a:rPr lang="en-US" altLang="zh-CN" sz="1600" b="0" i="0" dirty="0">
                <a:solidFill>
                  <a:srgbClr val="2A2A2A"/>
                </a:solidFill>
                <a:latin typeface="Arial" panose="020B0604020202020204"/>
                <a:ea typeface="Arial" panose="020B0604020202020204"/>
              </a:rPr>
              <a:t>TCP/IP</a:t>
            </a:r>
            <a:r>
              <a:rPr lang="zh-CN" altLang="en-US" sz="1600" b="0" i="0" dirty="0">
                <a:solidFill>
                  <a:srgbClr val="2A2A2A"/>
                </a:solidFill>
                <a:latin typeface="Arial" panose="020B0604020202020204"/>
                <a:ea typeface="Arial" panose="020B0604020202020204"/>
              </a:rPr>
              <a:t>的</a:t>
            </a:r>
            <a:r>
              <a:rPr lang="en-US" altLang="zh-CN" sz="1600" b="0" i="0" dirty="0" err="1">
                <a:solidFill>
                  <a:srgbClr val="2A2A2A"/>
                </a:solidFill>
                <a:latin typeface="Arial" panose="020B0604020202020204"/>
                <a:ea typeface="Arial" panose="020B0604020202020204"/>
              </a:rPr>
              <a:t>ModbusTCP</a:t>
            </a:r>
            <a:r>
              <a:rPr lang="zh-CN" altLang="en-US" sz="1600" b="0" i="0" dirty="0">
                <a:solidFill>
                  <a:srgbClr val="2A2A2A"/>
                </a:solidFill>
                <a:latin typeface="Arial" panose="020B0604020202020204"/>
                <a:ea typeface="Arial" panose="020B0604020202020204"/>
              </a:rPr>
              <a:t>版本，这进一步拓宽了</a:t>
            </a:r>
            <a:r>
              <a:rPr lang="en-US" altLang="zh-CN" sz="1600" b="0" i="0" dirty="0">
                <a:solidFill>
                  <a:srgbClr val="2A2A2A"/>
                </a:solidFill>
                <a:latin typeface="Arial" panose="020B0604020202020204"/>
                <a:ea typeface="Arial" panose="020B0604020202020204"/>
              </a:rPr>
              <a:t>Modbus</a:t>
            </a:r>
            <a:r>
              <a:rPr lang="zh-CN" altLang="en-US" sz="1600" b="0" i="0" dirty="0">
                <a:solidFill>
                  <a:srgbClr val="2A2A2A"/>
                </a:solidFill>
                <a:latin typeface="Arial" panose="020B0604020202020204"/>
                <a:ea typeface="Arial" panose="020B0604020202020204"/>
              </a:rPr>
              <a:t>协议的应用范围。</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在协议特点上，</a:t>
            </a:r>
            <a:r>
              <a:rPr lang="en-US" altLang="zh-CN" sz="1600" b="0" i="0" dirty="0">
                <a:solidFill>
                  <a:srgbClr val="2A2A2A"/>
                </a:solidFill>
                <a:latin typeface="Arial" panose="020B0604020202020204"/>
                <a:ea typeface="Arial" panose="020B0604020202020204"/>
              </a:rPr>
              <a:t>Modbus</a:t>
            </a:r>
            <a:r>
              <a:rPr lang="zh-CN" altLang="en-US" sz="1600" b="0" i="0" dirty="0">
                <a:solidFill>
                  <a:srgbClr val="2A2A2A"/>
                </a:solidFill>
                <a:latin typeface="Arial" panose="020B0604020202020204"/>
                <a:ea typeface="Arial" panose="020B0604020202020204"/>
              </a:rPr>
              <a:t>协议作为一种应用层报文传输协议，支持</a:t>
            </a:r>
            <a:r>
              <a:rPr lang="en-US" altLang="zh-CN" sz="1600" b="0" i="0" dirty="0">
                <a:solidFill>
                  <a:srgbClr val="2A2A2A"/>
                </a:solidFill>
                <a:latin typeface="Arial" panose="020B0604020202020204"/>
                <a:ea typeface="Arial" panose="020B0604020202020204"/>
              </a:rPr>
              <a:t>ASCII</a:t>
            </a:r>
            <a:r>
              <a:rPr lang="zh-CN" altLang="en-US" sz="1600" b="0" i="0" dirty="0">
                <a:solidFill>
                  <a:srgbClr val="2A2A2A"/>
                </a:solidFill>
                <a:latin typeface="Arial" panose="020B0604020202020204"/>
                <a:ea typeface="Arial" panose="020B0604020202020204"/>
              </a:rPr>
              <a:t>、</a:t>
            </a:r>
            <a:r>
              <a:rPr lang="en-US" altLang="zh-CN" sz="1600" b="0" i="0" dirty="0">
                <a:solidFill>
                  <a:srgbClr val="FF0000"/>
                </a:solidFill>
                <a:latin typeface="Arial" panose="020B0604020202020204"/>
                <a:ea typeface="Arial" panose="020B0604020202020204"/>
              </a:rPr>
              <a:t>RTU</a:t>
            </a:r>
            <a:r>
              <a:rPr lang="zh-CN" altLang="en-US" sz="1600" b="0" i="0" dirty="0">
                <a:solidFill>
                  <a:srgbClr val="2A2A2A"/>
                </a:solidFill>
                <a:latin typeface="Arial" panose="020B0604020202020204"/>
                <a:ea typeface="Arial" panose="020B0604020202020204"/>
              </a:rPr>
              <a:t>和</a:t>
            </a:r>
            <a:r>
              <a:rPr lang="en-US" altLang="zh-CN" sz="1600" b="0" i="0" dirty="0">
                <a:solidFill>
                  <a:srgbClr val="2A2A2A"/>
                </a:solidFill>
                <a:latin typeface="Arial" panose="020B0604020202020204"/>
                <a:ea typeface="Arial" panose="020B0604020202020204"/>
              </a:rPr>
              <a:t>TCP</a:t>
            </a:r>
            <a:r>
              <a:rPr lang="zh-CN" altLang="en-US" sz="1600" b="0" i="0" dirty="0">
                <a:solidFill>
                  <a:srgbClr val="2A2A2A"/>
                </a:solidFill>
                <a:latin typeface="Arial" panose="020B0604020202020204"/>
                <a:ea typeface="Arial" panose="020B0604020202020204"/>
              </a:rPr>
              <a:t>三种报文格式，这使得数据传输更加灵活多样。在物理层接口方面，标准的</a:t>
            </a:r>
            <a:r>
              <a:rPr lang="en-US" altLang="zh-CN" sz="1600" b="0" i="0" dirty="0">
                <a:solidFill>
                  <a:srgbClr val="2A2A2A"/>
                </a:solidFill>
                <a:latin typeface="Arial" panose="020B0604020202020204"/>
                <a:ea typeface="Arial" panose="020B0604020202020204"/>
              </a:rPr>
              <a:t>Modbus</a:t>
            </a:r>
            <a:r>
              <a:rPr lang="zh-CN" altLang="en-US" sz="1600" b="0" i="0" dirty="0">
                <a:solidFill>
                  <a:srgbClr val="2A2A2A"/>
                </a:solidFill>
                <a:latin typeface="Arial" panose="020B0604020202020204"/>
                <a:ea typeface="Arial" panose="020B0604020202020204"/>
              </a:rPr>
              <a:t>协议提供了</a:t>
            </a:r>
            <a:r>
              <a:rPr lang="en-US" altLang="zh-CN" sz="1600" b="0" i="0" dirty="0">
                <a:solidFill>
                  <a:srgbClr val="2A2A2A"/>
                </a:solidFill>
                <a:latin typeface="Arial" panose="020B0604020202020204"/>
                <a:ea typeface="Arial" panose="020B0604020202020204"/>
              </a:rPr>
              <a:t>RS232</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RS422</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RS485</a:t>
            </a:r>
            <a:r>
              <a:rPr lang="zh-CN" altLang="en-US" sz="1600" b="0" i="0" dirty="0">
                <a:solidFill>
                  <a:srgbClr val="2A2A2A"/>
                </a:solidFill>
                <a:latin typeface="Arial" panose="020B0604020202020204"/>
                <a:ea typeface="Arial" panose="020B0604020202020204"/>
              </a:rPr>
              <a:t>以及以太网接口等多种选择，同时采用</a:t>
            </a:r>
            <a:r>
              <a:rPr lang="en-US" altLang="zh-CN" sz="1600" b="0" i="0" dirty="0">
                <a:solidFill>
                  <a:srgbClr val="2A2A2A"/>
                </a:solidFill>
                <a:latin typeface="Arial" panose="020B0604020202020204"/>
                <a:ea typeface="Arial" panose="020B0604020202020204"/>
              </a:rPr>
              <a:t>master/slave</a:t>
            </a:r>
            <a:r>
              <a:rPr lang="zh-CN" altLang="en-US" sz="1600" b="0" i="0" dirty="0">
                <a:solidFill>
                  <a:srgbClr val="2A2A2A"/>
                </a:solidFill>
                <a:latin typeface="Arial" panose="020B0604020202020204"/>
                <a:ea typeface="Arial" panose="020B0604020202020204"/>
              </a:rPr>
              <a:t>通信方式，确保了数据传输的稳定与高效。</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endParaRPr lang="zh-CN" altLang="en-US" sz="1600" b="0" i="0" dirty="0">
              <a:solidFill>
                <a:srgbClr val="2A2A2A"/>
              </a:solidFill>
              <a:latin typeface="Arial" panose="020B0604020202020204"/>
              <a:ea typeface="Arial" panose="020B0604020202020204"/>
            </a:endParaRPr>
          </a:p>
        </p:txBody>
      </p:sp>
      <p:pic>
        <p:nvPicPr>
          <p:cNvPr id="4" name="图片 3" descr="D79D0720-7046-4fe7-A745-9242F93F0AE2"/>
          <p:cNvPicPr>
            <a:picLocks noChangeAspect="1"/>
          </p:cNvPicPr>
          <p:nvPr/>
        </p:nvPicPr>
        <p:blipFill>
          <a:blip r:embed="rId1"/>
          <a:stretch>
            <a:fillRect/>
          </a:stretch>
        </p:blipFill>
        <p:spPr>
          <a:xfrm>
            <a:off x="878840" y="3004820"/>
            <a:ext cx="4483735" cy="299529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4054475" cy="1896110"/>
          </a:xfrm>
          <a:prstGeom prst="rect">
            <a:avLst/>
          </a:prstGeom>
        </p:spPr>
        <p:txBody>
          <a:bodyPr wrap="square">
            <a:noAutofit/>
          </a:bodyPr>
          <a:lstStyle/>
          <a:p>
            <a:pPr algn="l" defTabSz="266700">
              <a:lnSpc>
                <a:spcPts val="1950"/>
              </a:lnSpc>
              <a:spcBef>
                <a:spcPts val="100"/>
              </a:spcBef>
              <a:spcAft>
                <a:spcPts val="100"/>
              </a:spcAft>
            </a:pPr>
            <a:r>
              <a:rPr lang="en-US" altLang="zh-CN" sz="1600" b="1" i="0">
                <a:solidFill>
                  <a:srgbClr val="2A2A2A"/>
                </a:solidFill>
                <a:latin typeface="Arial" panose="020B0604020202020204"/>
                <a:ea typeface="Arial" panose="020B0604020202020204"/>
              </a:rPr>
              <a:t>Modbus</a:t>
            </a:r>
            <a:r>
              <a:rPr lang="zh-CN" altLang="en-US" sz="1600" b="1" i="0">
                <a:solidFill>
                  <a:srgbClr val="2A2A2A"/>
                </a:solidFill>
                <a:latin typeface="Arial" panose="020B0604020202020204"/>
                <a:ea typeface="Arial" panose="020B0604020202020204"/>
              </a:rPr>
              <a:t>协议帧的基本结构</a:t>
            </a:r>
            <a:endParaRPr lang="zh-CN" altLang="en-US" sz="1600" b="1"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地址域（</a:t>
            </a:r>
            <a:r>
              <a:rPr lang="en-US" altLang="zh-CN" sz="1600" b="0" i="0">
                <a:solidFill>
                  <a:srgbClr val="2A2A2A"/>
                </a:solidFill>
                <a:latin typeface="Arial" panose="020B0604020202020204"/>
                <a:ea typeface="Arial" panose="020B0604020202020204"/>
              </a:rPr>
              <a:t>Address Field</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功能码（</a:t>
            </a:r>
            <a:r>
              <a:rPr lang="en-US" altLang="zh-CN" sz="1600" b="0" i="0">
                <a:solidFill>
                  <a:srgbClr val="2A2A2A"/>
                </a:solidFill>
                <a:latin typeface="Arial" panose="020B0604020202020204"/>
                <a:ea typeface="Arial" panose="020B0604020202020204"/>
              </a:rPr>
              <a:t>Function Code</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数据域（</a:t>
            </a:r>
            <a:r>
              <a:rPr lang="en-US" altLang="zh-CN" sz="1600" b="0" i="0">
                <a:solidFill>
                  <a:srgbClr val="2A2A2A"/>
                </a:solidFill>
                <a:latin typeface="Arial" panose="020B0604020202020204"/>
                <a:ea typeface="Arial" panose="020B0604020202020204"/>
              </a:rPr>
              <a:t>Data Field</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错误校验（</a:t>
            </a:r>
            <a:r>
              <a:rPr lang="en-US" altLang="zh-CN" sz="1600" b="0" i="0">
                <a:solidFill>
                  <a:srgbClr val="2A2A2A"/>
                </a:solidFill>
                <a:latin typeface="Arial" panose="020B0604020202020204"/>
                <a:ea typeface="Arial" panose="020B0604020202020204"/>
              </a:rPr>
              <a:t>Error Checking</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p:txBody>
      </p:sp>
      <p:pic>
        <p:nvPicPr>
          <p:cNvPr id="2" name="图片 1"/>
          <p:cNvPicPr/>
          <p:nvPr/>
        </p:nvPicPr>
        <p:blipFill>
          <a:blip r:embed="rId1"/>
          <a:srcRect b="16803"/>
          <a:stretch>
            <a:fillRect/>
          </a:stretch>
        </p:blipFill>
        <p:spPr>
          <a:xfrm>
            <a:off x="4052570" y="1240790"/>
            <a:ext cx="7115175" cy="1355090"/>
          </a:xfrm>
          <a:prstGeom prst="rect">
            <a:avLst/>
          </a:prstGeom>
        </p:spPr>
      </p:pic>
      <p:sp>
        <p:nvSpPr>
          <p:cNvPr id="5" name="文本框 4"/>
          <p:cNvSpPr txBox="1"/>
          <p:nvPr/>
        </p:nvSpPr>
        <p:spPr>
          <a:xfrm>
            <a:off x="412115" y="3136900"/>
            <a:ext cx="11139170" cy="1568450"/>
          </a:xfrm>
          <a:prstGeom prst="rect">
            <a:avLst/>
          </a:prstGeom>
          <a:noFill/>
        </p:spPr>
        <p:txBody>
          <a:bodyPr wrap="square" rtlCol="0">
            <a:spAutoFit/>
          </a:bodyPr>
          <a:lstStyle/>
          <a:p>
            <a:r>
              <a:rPr lang="en-US" altLang="zh-CN" sz="1600">
                <a:solidFill>
                  <a:srgbClr val="2A2A2A"/>
                </a:solidFill>
                <a:latin typeface="Arial" panose="020B0604020202020204"/>
                <a:ea typeface="Arial" panose="020B0604020202020204"/>
              </a:rPr>
              <a:t>1 地址域（Address Field）</a:t>
            </a:r>
            <a:endParaRPr lang="en-US" altLang="zh-CN" sz="1600">
              <a:solidFill>
                <a:srgbClr val="2A2A2A"/>
              </a:solidFill>
              <a:latin typeface="Arial" panose="020B0604020202020204"/>
              <a:ea typeface="Arial" panose="020B0604020202020204"/>
            </a:endParaRPr>
          </a:p>
          <a:p>
            <a:r>
              <a:rPr lang="en-US" altLang="zh-CN" sz="1600">
                <a:solidFill>
                  <a:srgbClr val="2A2A2A"/>
                </a:solidFill>
                <a:latin typeface="Arial" panose="020B0604020202020204"/>
                <a:ea typeface="Arial" panose="020B0604020202020204"/>
              </a:rPr>
              <a:t>作用：标识从站设备（Slave Device）的地址。</a:t>
            </a:r>
            <a:endParaRPr lang="en-US" altLang="zh-CN" sz="1600">
              <a:solidFill>
                <a:srgbClr val="2A2A2A"/>
              </a:solidFill>
              <a:latin typeface="Arial" panose="020B0604020202020204"/>
              <a:ea typeface="Arial" panose="020B0604020202020204"/>
            </a:endParaRPr>
          </a:p>
          <a:p>
            <a:r>
              <a:rPr lang="en-US" altLang="zh-CN" sz="1600">
                <a:solidFill>
                  <a:srgbClr val="2A2A2A"/>
                </a:solidFill>
                <a:latin typeface="Arial" panose="020B0604020202020204"/>
                <a:ea typeface="Arial" panose="020B0604020202020204"/>
              </a:rPr>
              <a:t>长度：1字节（0-255）。</a:t>
            </a:r>
            <a:endParaRPr lang="en-US" altLang="zh-CN" sz="1600">
              <a:solidFill>
                <a:srgbClr val="2A2A2A"/>
              </a:solidFill>
              <a:latin typeface="Arial" panose="020B0604020202020204"/>
              <a:ea typeface="Arial" panose="020B0604020202020204"/>
            </a:endParaRPr>
          </a:p>
          <a:p>
            <a:r>
              <a:rPr lang="en-US" altLang="zh-CN" sz="1600">
                <a:solidFill>
                  <a:srgbClr val="2A2A2A"/>
                </a:solidFill>
                <a:latin typeface="Arial" panose="020B0604020202020204"/>
                <a:ea typeface="Arial" panose="020B0604020202020204"/>
              </a:rPr>
              <a:t>说明：</a:t>
            </a:r>
            <a:endParaRPr lang="en-US" altLang="zh-CN" sz="1600">
              <a:solidFill>
                <a:srgbClr val="2A2A2A"/>
              </a:solidFill>
              <a:latin typeface="Arial" panose="020B0604020202020204"/>
              <a:ea typeface="Arial" panose="020B0604020202020204"/>
            </a:endParaRPr>
          </a:p>
          <a:p>
            <a:r>
              <a:rPr lang="en-US" altLang="zh-CN" sz="1600">
                <a:solidFill>
                  <a:srgbClr val="2A2A2A"/>
                </a:solidFill>
                <a:latin typeface="Arial" panose="020B0604020202020204"/>
                <a:ea typeface="Arial" panose="020B0604020202020204"/>
              </a:rPr>
              <a:t>主站（Master）通过地址域指定要通信的从站。</a:t>
            </a:r>
            <a:endParaRPr lang="en-US" altLang="zh-CN" sz="1600">
              <a:solidFill>
                <a:srgbClr val="2A2A2A"/>
              </a:solidFill>
              <a:latin typeface="Arial" panose="020B0604020202020204"/>
              <a:ea typeface="Arial" panose="020B0604020202020204"/>
            </a:endParaRPr>
          </a:p>
          <a:p>
            <a:r>
              <a:rPr lang="en-US" altLang="zh-CN" sz="1600">
                <a:solidFill>
                  <a:srgbClr val="2A2A2A"/>
                </a:solidFill>
                <a:latin typeface="Arial" panose="020B0604020202020204"/>
                <a:ea typeface="Arial" panose="020B0604020202020204"/>
              </a:rPr>
              <a:t>地址0通常用作广播地址，向所有从站发送消息（从站不会响应广播请求）。</a:t>
            </a:r>
            <a:endParaRPr lang="en-US" altLang="zh-CN" sz="1600">
              <a:solidFill>
                <a:srgbClr val="2A2A2A"/>
              </a:solidFill>
              <a:latin typeface="Arial" panose="020B0604020202020204"/>
              <a:ea typeface="Arial" panose="020B0604020202020204"/>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pic>
        <p:nvPicPr>
          <p:cNvPr id="2" name="图片 1"/>
          <p:cNvPicPr/>
          <p:nvPr/>
        </p:nvPicPr>
        <p:blipFill>
          <a:blip r:embed="rId1"/>
          <a:srcRect b="16803"/>
          <a:stretch>
            <a:fillRect/>
          </a:stretch>
        </p:blipFill>
        <p:spPr>
          <a:xfrm>
            <a:off x="3941445" y="1541145"/>
            <a:ext cx="7115175" cy="1355090"/>
          </a:xfrm>
          <a:prstGeom prst="rect">
            <a:avLst/>
          </a:prstGeom>
        </p:spPr>
      </p:pic>
      <p:sp>
        <p:nvSpPr>
          <p:cNvPr id="8" name="文本框 7"/>
          <p:cNvSpPr txBox="1"/>
          <p:nvPr/>
        </p:nvSpPr>
        <p:spPr>
          <a:xfrm>
            <a:off x="392430" y="1363345"/>
            <a:ext cx="11704320" cy="5077460"/>
          </a:xfrm>
          <a:prstGeom prst="rect">
            <a:avLst/>
          </a:prstGeom>
          <a:noFill/>
        </p:spPr>
        <p:txBody>
          <a:bodyPr wrap="square" rtlCol="0">
            <a:spAutoFit/>
          </a:bodyPr>
          <a:lstStyle/>
          <a:p>
            <a:r>
              <a:rPr lang="en-US" altLang="zh-CN" dirty="0">
                <a:solidFill>
                  <a:srgbClr val="2A2A2A"/>
                </a:solidFill>
                <a:latin typeface="Arial" panose="020B0604020202020204"/>
                <a:ea typeface="Arial" panose="020B0604020202020204"/>
                <a:sym typeface="+mn-ea"/>
              </a:rPr>
              <a:t>2 </a:t>
            </a:r>
            <a:r>
              <a:rPr lang="en-US" altLang="zh-CN" dirty="0" err="1">
                <a:solidFill>
                  <a:srgbClr val="2A2A2A"/>
                </a:solidFill>
                <a:latin typeface="Arial" panose="020B0604020202020204"/>
                <a:ea typeface="Arial" panose="020B0604020202020204"/>
                <a:sym typeface="+mn-ea"/>
              </a:rPr>
              <a:t>功能码（Function</a:t>
            </a:r>
            <a:r>
              <a:rPr lang="en-US" altLang="zh-CN" dirty="0">
                <a:solidFill>
                  <a:srgbClr val="2A2A2A"/>
                </a:solidFill>
                <a:latin typeface="Arial" panose="020B0604020202020204"/>
                <a:ea typeface="Arial" panose="020B0604020202020204"/>
                <a:sym typeface="+mn-ea"/>
              </a:rPr>
              <a:t> Code）</a:t>
            </a:r>
            <a:endParaRPr lang="en-US" altLang="zh-CN" dirty="0">
              <a:solidFill>
                <a:srgbClr val="2A2A2A"/>
              </a:solidFill>
              <a:latin typeface="Arial" panose="020B0604020202020204"/>
              <a:ea typeface="Arial" panose="020B0604020202020204"/>
            </a:endParaRPr>
          </a:p>
          <a:p>
            <a:r>
              <a:rPr lang="en-US" altLang="zh-CN" dirty="0" err="1">
                <a:solidFill>
                  <a:srgbClr val="2A2A2A"/>
                </a:solidFill>
                <a:latin typeface="Arial" panose="020B0604020202020204"/>
                <a:ea typeface="Arial" panose="020B0604020202020204"/>
                <a:sym typeface="+mn-ea"/>
              </a:rPr>
              <a:t>作用：指示从站要执行的操作类型</a:t>
            </a:r>
            <a:r>
              <a:rPr lang="en-US" altLang="zh-CN" dirty="0">
                <a:solidFill>
                  <a:srgbClr val="2A2A2A"/>
                </a:solidFill>
                <a:latin typeface="Arial" panose="020B0604020202020204"/>
                <a:ea typeface="Arial" panose="020B0604020202020204"/>
                <a:sym typeface="+mn-ea"/>
              </a:rPr>
              <a:t>。</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长度：1字节。</a:t>
            </a:r>
            <a:endParaRPr lang="en-US" altLang="zh-CN" dirty="0">
              <a:solidFill>
                <a:srgbClr val="2A2A2A"/>
              </a:solidFill>
              <a:latin typeface="Arial" panose="020B0604020202020204"/>
              <a:ea typeface="Arial" panose="020B0604020202020204"/>
            </a:endParaRPr>
          </a:p>
          <a:p>
            <a:r>
              <a:rPr lang="en-US" altLang="zh-CN" dirty="0" err="1">
                <a:solidFill>
                  <a:srgbClr val="2A2A2A"/>
                </a:solidFill>
                <a:latin typeface="Arial" panose="020B0604020202020204"/>
                <a:ea typeface="Arial" panose="020B0604020202020204"/>
                <a:sym typeface="+mn-ea"/>
              </a:rPr>
              <a:t>常见功能码</a:t>
            </a:r>
            <a:r>
              <a:rPr lang="en-US" altLang="zh-CN" dirty="0">
                <a:solidFill>
                  <a:srgbClr val="2A2A2A"/>
                </a:solidFill>
                <a:latin typeface="Arial" panose="020B0604020202020204"/>
                <a:ea typeface="Arial" panose="020B0604020202020204"/>
                <a:sym typeface="+mn-ea"/>
              </a:rPr>
              <a:t>：</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0x01（01）：</a:t>
            </a:r>
            <a:r>
              <a:rPr lang="en-US" altLang="zh-CN" dirty="0" err="1">
                <a:solidFill>
                  <a:srgbClr val="2A2A2A"/>
                </a:solidFill>
                <a:latin typeface="Arial" panose="020B0604020202020204"/>
                <a:ea typeface="Arial" panose="020B0604020202020204"/>
                <a:sym typeface="+mn-ea"/>
              </a:rPr>
              <a:t>读取线圈状态（Read</a:t>
            </a:r>
            <a:r>
              <a:rPr lang="en-US" altLang="zh-CN" dirty="0">
                <a:solidFill>
                  <a:srgbClr val="2A2A2A"/>
                </a:solidFill>
                <a:latin typeface="Arial" panose="020B0604020202020204"/>
                <a:ea typeface="Arial" panose="020B0604020202020204"/>
                <a:sym typeface="+mn-ea"/>
              </a:rPr>
              <a:t> Coils）。</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0x02（02）：</a:t>
            </a:r>
            <a:r>
              <a:rPr lang="en-US" altLang="zh-CN" dirty="0" err="1">
                <a:solidFill>
                  <a:srgbClr val="2A2A2A"/>
                </a:solidFill>
                <a:latin typeface="Arial" panose="020B0604020202020204"/>
                <a:ea typeface="Arial" panose="020B0604020202020204"/>
                <a:sym typeface="+mn-ea"/>
              </a:rPr>
              <a:t>读取离散输入状态（Read</a:t>
            </a:r>
            <a:r>
              <a:rPr lang="en-US" altLang="zh-CN" dirty="0">
                <a:solidFill>
                  <a:srgbClr val="2A2A2A"/>
                </a:solidFill>
                <a:latin typeface="Arial" panose="020B0604020202020204"/>
                <a:ea typeface="Arial" panose="020B0604020202020204"/>
                <a:sym typeface="+mn-ea"/>
              </a:rPr>
              <a:t> Discrete Inputs）。</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0x03（03）：</a:t>
            </a:r>
            <a:r>
              <a:rPr lang="en-US" altLang="zh-CN" dirty="0" err="1">
                <a:solidFill>
                  <a:srgbClr val="2A2A2A"/>
                </a:solidFill>
                <a:latin typeface="Arial" panose="020B0604020202020204"/>
                <a:ea typeface="Arial" panose="020B0604020202020204"/>
                <a:sym typeface="+mn-ea"/>
              </a:rPr>
              <a:t>读取保持寄存器（Read</a:t>
            </a:r>
            <a:r>
              <a:rPr lang="en-US" altLang="zh-CN" dirty="0">
                <a:solidFill>
                  <a:srgbClr val="2A2A2A"/>
                </a:solidFill>
                <a:latin typeface="Arial" panose="020B0604020202020204"/>
                <a:ea typeface="Arial" panose="020B0604020202020204"/>
                <a:sym typeface="+mn-ea"/>
              </a:rPr>
              <a:t> Holding Registers）。</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0x04（04）：</a:t>
            </a:r>
            <a:r>
              <a:rPr lang="en-US" altLang="zh-CN" dirty="0" err="1">
                <a:solidFill>
                  <a:srgbClr val="2A2A2A"/>
                </a:solidFill>
                <a:latin typeface="Arial" panose="020B0604020202020204"/>
                <a:ea typeface="Arial" panose="020B0604020202020204"/>
                <a:sym typeface="+mn-ea"/>
              </a:rPr>
              <a:t>读取输入寄存器（Read</a:t>
            </a:r>
            <a:r>
              <a:rPr lang="en-US" altLang="zh-CN" dirty="0">
                <a:solidFill>
                  <a:srgbClr val="2A2A2A"/>
                </a:solidFill>
                <a:latin typeface="Arial" panose="020B0604020202020204"/>
                <a:ea typeface="Arial" panose="020B0604020202020204"/>
                <a:sym typeface="+mn-ea"/>
              </a:rPr>
              <a:t> Input Registers）。</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0x05（05）：</a:t>
            </a:r>
            <a:r>
              <a:rPr lang="en-US" altLang="zh-CN" dirty="0" err="1">
                <a:solidFill>
                  <a:srgbClr val="2A2A2A"/>
                </a:solidFill>
                <a:latin typeface="Arial" panose="020B0604020202020204"/>
                <a:ea typeface="Arial" panose="020B0604020202020204"/>
                <a:sym typeface="+mn-ea"/>
              </a:rPr>
              <a:t>写单个线圈（Write</a:t>
            </a:r>
            <a:r>
              <a:rPr lang="en-US" altLang="zh-CN" dirty="0">
                <a:solidFill>
                  <a:srgbClr val="2A2A2A"/>
                </a:solidFill>
                <a:latin typeface="Arial" panose="020B0604020202020204"/>
                <a:ea typeface="Arial" panose="020B0604020202020204"/>
                <a:sym typeface="+mn-ea"/>
              </a:rPr>
              <a:t> Single Coil）。</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0x06（06）：</a:t>
            </a:r>
            <a:r>
              <a:rPr lang="en-US" altLang="zh-CN" dirty="0" err="1">
                <a:solidFill>
                  <a:srgbClr val="2A2A2A"/>
                </a:solidFill>
                <a:latin typeface="Arial" panose="020B0604020202020204"/>
                <a:ea typeface="Arial" panose="020B0604020202020204"/>
                <a:sym typeface="+mn-ea"/>
              </a:rPr>
              <a:t>写单个寄存器（Write</a:t>
            </a:r>
            <a:r>
              <a:rPr lang="en-US" altLang="zh-CN" dirty="0">
                <a:solidFill>
                  <a:srgbClr val="2A2A2A"/>
                </a:solidFill>
                <a:latin typeface="Arial" panose="020B0604020202020204"/>
                <a:ea typeface="Arial" panose="020B0604020202020204"/>
                <a:sym typeface="+mn-ea"/>
              </a:rPr>
              <a:t> Single Register）。</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0x0F（15）：</a:t>
            </a:r>
            <a:r>
              <a:rPr lang="en-US" altLang="zh-CN" dirty="0" err="1">
                <a:solidFill>
                  <a:srgbClr val="2A2A2A"/>
                </a:solidFill>
                <a:latin typeface="Arial" panose="020B0604020202020204"/>
                <a:ea typeface="Arial" panose="020B0604020202020204"/>
                <a:sym typeface="+mn-ea"/>
              </a:rPr>
              <a:t>写多个线圈（Write</a:t>
            </a:r>
            <a:r>
              <a:rPr lang="en-US" altLang="zh-CN" dirty="0">
                <a:solidFill>
                  <a:srgbClr val="2A2A2A"/>
                </a:solidFill>
                <a:latin typeface="Arial" panose="020B0604020202020204"/>
                <a:ea typeface="Arial" panose="020B0604020202020204"/>
                <a:sym typeface="+mn-ea"/>
              </a:rPr>
              <a:t> Multiple Coils）。</a:t>
            </a:r>
            <a:endParaRPr lang="en-US" altLang="zh-CN" dirty="0">
              <a:solidFill>
                <a:srgbClr val="2A2A2A"/>
              </a:solidFill>
              <a:latin typeface="Arial" panose="020B0604020202020204"/>
              <a:ea typeface="Arial" panose="020B0604020202020204"/>
            </a:endParaRPr>
          </a:p>
          <a:p>
            <a:r>
              <a:rPr lang="en-US" altLang="zh-CN" dirty="0">
                <a:solidFill>
                  <a:srgbClr val="2A2A2A"/>
                </a:solidFill>
                <a:latin typeface="Arial" panose="020B0604020202020204"/>
                <a:ea typeface="Arial" panose="020B0604020202020204"/>
                <a:sym typeface="+mn-ea"/>
              </a:rPr>
              <a:t>0x10（16）：</a:t>
            </a:r>
            <a:r>
              <a:rPr lang="en-US" altLang="zh-CN" dirty="0" err="1">
                <a:solidFill>
                  <a:srgbClr val="2A2A2A"/>
                </a:solidFill>
                <a:latin typeface="Arial" panose="020B0604020202020204"/>
                <a:ea typeface="Arial" panose="020B0604020202020204"/>
                <a:sym typeface="+mn-ea"/>
              </a:rPr>
              <a:t>写多个寄存器（Write</a:t>
            </a:r>
            <a:r>
              <a:rPr lang="en-US" altLang="zh-CN" dirty="0">
                <a:solidFill>
                  <a:srgbClr val="2A2A2A"/>
                </a:solidFill>
                <a:latin typeface="Arial" panose="020B0604020202020204"/>
                <a:ea typeface="Arial" panose="020B0604020202020204"/>
                <a:sym typeface="+mn-ea"/>
              </a:rPr>
              <a:t> Multiple Registers）。</a:t>
            </a:r>
            <a:endParaRPr lang="en-US" altLang="zh-CN" dirty="0">
              <a:solidFill>
                <a:srgbClr val="2A2A2A"/>
              </a:solidFill>
              <a:latin typeface="Arial" panose="020B0604020202020204"/>
              <a:ea typeface="Arial" panose="020B0604020202020204"/>
            </a:endParaRPr>
          </a:p>
          <a:p>
            <a:pPr algn="l">
              <a:buClrTx/>
              <a:buSzTx/>
              <a:buNone/>
            </a:pPr>
            <a:r>
              <a:rPr lang="en-US" altLang="zh-CN" sz="1800" dirty="0">
                <a:solidFill>
                  <a:srgbClr val="2A2A2A"/>
                </a:solidFill>
                <a:latin typeface="Arial" panose="020B0604020202020204"/>
                <a:ea typeface="Arial" panose="020B0604020202020204"/>
              </a:rPr>
              <a:t>3 </a:t>
            </a:r>
            <a:r>
              <a:rPr lang="en-US" altLang="zh-CN" sz="1800" dirty="0" err="1">
                <a:solidFill>
                  <a:srgbClr val="2A2A2A"/>
                </a:solidFill>
                <a:latin typeface="Arial" panose="020B0604020202020204"/>
                <a:ea typeface="Arial" panose="020B0604020202020204"/>
              </a:rPr>
              <a:t>数据域（Data</a:t>
            </a:r>
            <a:r>
              <a:rPr lang="en-US" altLang="zh-CN" sz="1800" dirty="0">
                <a:solidFill>
                  <a:srgbClr val="2A2A2A"/>
                </a:solidFill>
                <a:latin typeface="Arial" panose="020B0604020202020204"/>
                <a:ea typeface="Arial" panose="020B0604020202020204"/>
              </a:rPr>
              <a:t> Field）</a:t>
            </a:r>
            <a:endParaRPr lang="en-US" altLang="zh-CN" sz="1800" dirty="0">
              <a:solidFill>
                <a:srgbClr val="2A2A2A"/>
              </a:solidFill>
              <a:latin typeface="Arial" panose="020B0604020202020204"/>
              <a:ea typeface="Arial" panose="020B0604020202020204"/>
            </a:endParaRPr>
          </a:p>
          <a:p>
            <a:pPr algn="l">
              <a:buClrTx/>
              <a:buSzTx/>
              <a:buNone/>
            </a:pPr>
            <a:r>
              <a:rPr lang="en-US" altLang="zh-CN" sz="1800" dirty="0" err="1">
                <a:solidFill>
                  <a:srgbClr val="2A2A2A"/>
                </a:solidFill>
                <a:latin typeface="Arial" panose="020B0604020202020204"/>
                <a:ea typeface="Arial" panose="020B0604020202020204"/>
              </a:rPr>
              <a:t>作用：包含与功能码相关的具体数据</a:t>
            </a:r>
            <a:r>
              <a:rPr lang="en-US" altLang="zh-CN" sz="1800" dirty="0">
                <a:solidFill>
                  <a:srgbClr val="2A2A2A"/>
                </a:solidFill>
                <a:latin typeface="Arial" panose="020B0604020202020204"/>
                <a:ea typeface="Arial" panose="020B0604020202020204"/>
              </a:rPr>
              <a:t>。</a:t>
            </a:r>
            <a:endParaRPr lang="en-US" altLang="zh-CN" sz="1800" dirty="0">
              <a:solidFill>
                <a:srgbClr val="2A2A2A"/>
              </a:solidFill>
              <a:latin typeface="Arial" panose="020B0604020202020204"/>
              <a:ea typeface="Arial" panose="020B0604020202020204"/>
            </a:endParaRPr>
          </a:p>
          <a:p>
            <a:pPr algn="l">
              <a:buClrTx/>
              <a:buSzTx/>
              <a:buNone/>
            </a:pPr>
            <a:r>
              <a:rPr lang="en-US" altLang="zh-CN" sz="1800" dirty="0" err="1">
                <a:solidFill>
                  <a:srgbClr val="2A2A2A"/>
                </a:solidFill>
                <a:latin typeface="Arial" panose="020B0604020202020204"/>
                <a:ea typeface="Arial" panose="020B0604020202020204"/>
              </a:rPr>
              <a:t>长度：可变，取决于功能码和请求</a:t>
            </a:r>
            <a:r>
              <a:rPr lang="en-US" altLang="zh-CN" sz="1800" dirty="0">
                <a:solidFill>
                  <a:srgbClr val="2A2A2A"/>
                </a:solidFill>
                <a:latin typeface="Arial" panose="020B0604020202020204"/>
                <a:ea typeface="Arial" panose="020B0604020202020204"/>
              </a:rPr>
              <a:t>/</a:t>
            </a:r>
            <a:r>
              <a:rPr lang="en-US" altLang="zh-CN" sz="1800" dirty="0" err="1">
                <a:solidFill>
                  <a:srgbClr val="2A2A2A"/>
                </a:solidFill>
                <a:latin typeface="Arial" panose="020B0604020202020204"/>
                <a:ea typeface="Arial" panose="020B0604020202020204"/>
              </a:rPr>
              <a:t>响应的具体内容</a:t>
            </a:r>
            <a:r>
              <a:rPr lang="en-US" altLang="zh-CN" sz="1800" dirty="0">
                <a:solidFill>
                  <a:srgbClr val="2A2A2A"/>
                </a:solidFill>
                <a:latin typeface="Arial" panose="020B0604020202020204"/>
                <a:ea typeface="Arial" panose="020B0604020202020204"/>
              </a:rPr>
              <a:t>。</a:t>
            </a:r>
            <a:endParaRPr lang="en-US" altLang="zh-CN" sz="1800" dirty="0">
              <a:solidFill>
                <a:srgbClr val="2A2A2A"/>
              </a:solidFill>
              <a:latin typeface="Arial" panose="020B0604020202020204"/>
              <a:ea typeface="Arial" panose="020B0604020202020204"/>
            </a:endParaRPr>
          </a:p>
          <a:p>
            <a:pPr algn="l">
              <a:buClrTx/>
              <a:buSzTx/>
              <a:buNone/>
            </a:pPr>
            <a:r>
              <a:rPr lang="en-US" altLang="zh-CN" sz="1800" dirty="0" err="1">
                <a:solidFill>
                  <a:srgbClr val="2A2A2A"/>
                </a:solidFill>
                <a:latin typeface="Arial" panose="020B0604020202020204"/>
                <a:ea typeface="Arial" panose="020B0604020202020204"/>
              </a:rPr>
              <a:t>内容</a:t>
            </a:r>
            <a:r>
              <a:rPr lang="en-US" altLang="zh-CN" sz="1800" dirty="0">
                <a:solidFill>
                  <a:srgbClr val="2A2A2A"/>
                </a:solidFill>
                <a:latin typeface="Arial" panose="020B0604020202020204"/>
                <a:ea typeface="Arial" panose="020B0604020202020204"/>
              </a:rPr>
              <a:t>：</a:t>
            </a:r>
            <a:endParaRPr lang="en-US" altLang="zh-CN" sz="1800" dirty="0">
              <a:solidFill>
                <a:srgbClr val="2A2A2A"/>
              </a:solidFill>
              <a:latin typeface="Arial" panose="020B0604020202020204"/>
              <a:ea typeface="Arial" panose="020B0604020202020204"/>
            </a:endParaRPr>
          </a:p>
          <a:p>
            <a:pPr algn="l">
              <a:buClrTx/>
              <a:buSzTx/>
              <a:buNone/>
            </a:pPr>
            <a:r>
              <a:rPr lang="en-US" altLang="zh-CN" sz="1800" dirty="0" err="1">
                <a:solidFill>
                  <a:srgbClr val="2A2A2A"/>
                </a:solidFill>
                <a:latin typeface="Arial" panose="020B0604020202020204"/>
                <a:ea typeface="Arial" panose="020B0604020202020204"/>
              </a:rPr>
              <a:t>请求帧：包含主站希望从站执行的操作的详细信息（如寄存器地址、数量等</a:t>
            </a:r>
            <a:r>
              <a:rPr lang="en-US" altLang="zh-CN" sz="1800" dirty="0">
                <a:solidFill>
                  <a:srgbClr val="2A2A2A"/>
                </a:solidFill>
                <a:latin typeface="Arial" panose="020B0604020202020204"/>
                <a:ea typeface="Arial" panose="020B0604020202020204"/>
              </a:rPr>
              <a:t>）。</a:t>
            </a:r>
            <a:endParaRPr lang="en-US" altLang="zh-CN" sz="1800" dirty="0">
              <a:solidFill>
                <a:srgbClr val="2A2A2A"/>
              </a:solidFill>
              <a:latin typeface="Arial" panose="020B0604020202020204"/>
              <a:ea typeface="Arial" panose="020B0604020202020204"/>
            </a:endParaRPr>
          </a:p>
          <a:p>
            <a:pPr algn="l">
              <a:buClrTx/>
              <a:buSzTx/>
              <a:buNone/>
            </a:pPr>
            <a:r>
              <a:rPr lang="en-US" altLang="zh-CN" sz="1800" dirty="0" err="1">
                <a:solidFill>
                  <a:srgbClr val="2A2A2A"/>
                </a:solidFill>
                <a:latin typeface="Arial" panose="020B0604020202020204"/>
                <a:ea typeface="Arial" panose="020B0604020202020204"/>
              </a:rPr>
              <a:t>响应帧：包含从站返回的操作结果（如寄存器值、错误代码等</a:t>
            </a:r>
            <a:r>
              <a:rPr lang="en-US" altLang="zh-CN" sz="1800" dirty="0">
                <a:solidFill>
                  <a:srgbClr val="2A2A2A"/>
                </a:solidFill>
                <a:latin typeface="Arial" panose="020B0604020202020204"/>
                <a:ea typeface="Arial" panose="020B0604020202020204"/>
              </a:rPr>
              <a:t>）。</a:t>
            </a:r>
            <a:endParaRPr lang="en-US" altLang="zh-CN" sz="1800" dirty="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pic>
        <p:nvPicPr>
          <p:cNvPr id="2" name="图片 1"/>
          <p:cNvPicPr/>
          <p:nvPr/>
        </p:nvPicPr>
        <p:blipFill>
          <a:blip r:embed="rId1"/>
          <a:srcRect b="16803"/>
          <a:stretch>
            <a:fillRect/>
          </a:stretch>
        </p:blipFill>
        <p:spPr>
          <a:xfrm>
            <a:off x="3941445" y="1541145"/>
            <a:ext cx="7115175" cy="1355090"/>
          </a:xfrm>
          <a:prstGeom prst="rect">
            <a:avLst/>
          </a:prstGeom>
        </p:spPr>
      </p:pic>
      <p:sp>
        <p:nvSpPr>
          <p:cNvPr id="8" name="文本框 7"/>
          <p:cNvSpPr txBox="1"/>
          <p:nvPr/>
        </p:nvSpPr>
        <p:spPr>
          <a:xfrm>
            <a:off x="241935" y="1750695"/>
            <a:ext cx="11704320" cy="2306955"/>
          </a:xfrm>
          <a:prstGeom prst="rect">
            <a:avLst/>
          </a:prstGeom>
          <a:noFill/>
        </p:spPr>
        <p:txBody>
          <a:bodyPr wrap="square" rtlCol="0">
            <a:spAutoFit/>
          </a:bodyPr>
          <a:lstStyle/>
          <a:p>
            <a:r>
              <a:rPr lang="en-US" altLang="zh-CN" sz="1800" dirty="0">
                <a:solidFill>
                  <a:srgbClr val="2A2A2A"/>
                </a:solidFill>
                <a:latin typeface="Arial" panose="020B0604020202020204"/>
                <a:ea typeface="Arial" panose="020B0604020202020204"/>
              </a:rPr>
              <a:t>4 </a:t>
            </a:r>
            <a:r>
              <a:rPr lang="zh-CN" altLang="en-US" sz="1800" dirty="0">
                <a:solidFill>
                  <a:srgbClr val="2A2A2A"/>
                </a:solidFill>
                <a:latin typeface="Arial" panose="020B0604020202020204"/>
                <a:ea typeface="Arial" panose="020B0604020202020204"/>
              </a:rPr>
              <a:t>错误校验（</a:t>
            </a:r>
            <a:r>
              <a:rPr lang="en-US" altLang="zh-CN" sz="1800" dirty="0">
                <a:solidFill>
                  <a:srgbClr val="2A2A2A"/>
                </a:solidFill>
                <a:latin typeface="Arial" panose="020B0604020202020204"/>
                <a:ea typeface="Arial" panose="020B0604020202020204"/>
              </a:rPr>
              <a:t>Error Checking</a:t>
            </a:r>
            <a:r>
              <a:rPr lang="zh-CN" altLang="en-US" sz="1800" dirty="0">
                <a:solidFill>
                  <a:srgbClr val="2A2A2A"/>
                </a:solidFill>
                <a:latin typeface="Arial" panose="020B0604020202020204"/>
                <a:ea typeface="Arial" panose="020B0604020202020204"/>
              </a:rPr>
              <a:t>）</a:t>
            </a:r>
            <a:endParaRPr lang="zh-CN" altLang="en-US" sz="1800" dirty="0">
              <a:solidFill>
                <a:srgbClr val="2A2A2A"/>
              </a:solidFill>
              <a:latin typeface="Arial" panose="020B0604020202020204"/>
              <a:ea typeface="Arial" panose="020B0604020202020204"/>
            </a:endParaRPr>
          </a:p>
          <a:p>
            <a:r>
              <a:rPr lang="zh-CN" altLang="en-US" sz="1800" dirty="0">
                <a:solidFill>
                  <a:srgbClr val="2A2A2A"/>
                </a:solidFill>
                <a:latin typeface="Arial" panose="020B0604020202020204"/>
                <a:ea typeface="Arial" panose="020B0604020202020204"/>
              </a:rPr>
              <a:t>作用：确保数据传输的完整性。</a:t>
            </a:r>
            <a:endParaRPr lang="zh-CN" altLang="en-US" sz="1800" dirty="0">
              <a:solidFill>
                <a:srgbClr val="2A2A2A"/>
              </a:solidFill>
              <a:latin typeface="Arial" panose="020B0604020202020204"/>
              <a:ea typeface="Arial" panose="020B0604020202020204"/>
            </a:endParaRPr>
          </a:p>
          <a:p>
            <a:r>
              <a:rPr lang="zh-CN" altLang="en-US" sz="1800" dirty="0">
                <a:solidFill>
                  <a:srgbClr val="2A2A2A"/>
                </a:solidFill>
                <a:latin typeface="Arial" panose="020B0604020202020204"/>
                <a:ea typeface="Arial" panose="020B0604020202020204"/>
              </a:rPr>
              <a:t>常见校验方式：</a:t>
            </a:r>
            <a:endParaRPr lang="zh-CN" altLang="en-US" sz="1800" dirty="0">
              <a:solidFill>
                <a:srgbClr val="2A2A2A"/>
              </a:solidFill>
              <a:latin typeface="Arial" panose="020B0604020202020204"/>
              <a:ea typeface="Arial" panose="020B0604020202020204"/>
            </a:endParaRPr>
          </a:p>
          <a:p>
            <a:r>
              <a:rPr lang="en-US" altLang="zh-CN" sz="1800" dirty="0">
                <a:solidFill>
                  <a:srgbClr val="2A2A2A"/>
                </a:solidFill>
                <a:latin typeface="Arial" panose="020B0604020202020204"/>
                <a:ea typeface="Arial" panose="020B0604020202020204"/>
              </a:rPr>
              <a:t>CRC</a:t>
            </a:r>
            <a:r>
              <a:rPr lang="zh-CN" altLang="en-US" sz="1800" dirty="0">
                <a:solidFill>
                  <a:srgbClr val="2A2A2A"/>
                </a:solidFill>
                <a:latin typeface="Arial" panose="020B0604020202020204"/>
                <a:ea typeface="Arial" panose="020B0604020202020204"/>
              </a:rPr>
              <a:t>（</a:t>
            </a:r>
            <a:r>
              <a:rPr lang="en-US" altLang="zh-CN" sz="1800" dirty="0">
                <a:solidFill>
                  <a:srgbClr val="2A2A2A"/>
                </a:solidFill>
                <a:latin typeface="Arial" panose="020B0604020202020204"/>
                <a:ea typeface="Arial" panose="020B0604020202020204"/>
              </a:rPr>
              <a:t>Cyclic Redundancy Check</a:t>
            </a:r>
            <a:r>
              <a:rPr lang="zh-CN" altLang="en-US" sz="1800" dirty="0">
                <a:solidFill>
                  <a:srgbClr val="2A2A2A"/>
                </a:solidFill>
                <a:latin typeface="Arial" panose="020B0604020202020204"/>
                <a:ea typeface="Arial" panose="020B0604020202020204"/>
              </a:rPr>
              <a:t>）：用于</a:t>
            </a:r>
            <a:r>
              <a:rPr lang="en-US" altLang="zh-CN" sz="1800" dirty="0">
                <a:solidFill>
                  <a:srgbClr val="2A2A2A"/>
                </a:solidFill>
                <a:latin typeface="Arial" panose="020B0604020202020204"/>
                <a:ea typeface="Arial" panose="020B0604020202020204"/>
              </a:rPr>
              <a:t>Modbus RTU</a:t>
            </a:r>
            <a:r>
              <a:rPr lang="zh-CN" altLang="en-US" sz="1800" dirty="0">
                <a:solidFill>
                  <a:srgbClr val="2A2A2A"/>
                </a:solidFill>
                <a:latin typeface="Arial" panose="020B0604020202020204"/>
                <a:ea typeface="Arial" panose="020B0604020202020204"/>
              </a:rPr>
              <a:t>模式。</a:t>
            </a:r>
            <a:endParaRPr lang="zh-CN" altLang="en-US" sz="1800" dirty="0">
              <a:solidFill>
                <a:srgbClr val="2A2A2A"/>
              </a:solidFill>
              <a:latin typeface="Arial" panose="020B0604020202020204"/>
              <a:ea typeface="Arial" panose="020B0604020202020204"/>
            </a:endParaRPr>
          </a:p>
          <a:p>
            <a:r>
              <a:rPr lang="zh-CN" altLang="en-US" sz="1800" dirty="0">
                <a:solidFill>
                  <a:srgbClr val="2A2A2A"/>
                </a:solidFill>
                <a:latin typeface="Arial" panose="020B0604020202020204"/>
                <a:ea typeface="Arial" panose="020B0604020202020204"/>
              </a:rPr>
              <a:t>长度：</a:t>
            </a:r>
            <a:r>
              <a:rPr lang="en-US" altLang="zh-CN" sz="1800" dirty="0">
                <a:solidFill>
                  <a:srgbClr val="2A2A2A"/>
                </a:solidFill>
                <a:latin typeface="Arial" panose="020B0604020202020204"/>
                <a:ea typeface="Arial" panose="020B0604020202020204"/>
              </a:rPr>
              <a:t>2</a:t>
            </a:r>
            <a:r>
              <a:rPr lang="zh-CN" altLang="en-US" sz="1800" dirty="0">
                <a:solidFill>
                  <a:srgbClr val="2A2A2A"/>
                </a:solidFill>
                <a:latin typeface="Arial" panose="020B0604020202020204"/>
                <a:ea typeface="Arial" panose="020B0604020202020204"/>
              </a:rPr>
              <a:t>字节。</a:t>
            </a:r>
            <a:endParaRPr lang="zh-CN" altLang="en-US" sz="1800" dirty="0">
              <a:solidFill>
                <a:srgbClr val="2A2A2A"/>
              </a:solidFill>
              <a:latin typeface="Arial" panose="020B0604020202020204"/>
              <a:ea typeface="Arial" panose="020B0604020202020204"/>
            </a:endParaRPr>
          </a:p>
          <a:p>
            <a:r>
              <a:rPr lang="zh-CN" altLang="en-US" sz="1800" dirty="0">
                <a:solidFill>
                  <a:srgbClr val="2A2A2A"/>
                </a:solidFill>
                <a:latin typeface="Arial" panose="020B0604020202020204"/>
                <a:ea typeface="Arial" panose="020B0604020202020204"/>
              </a:rPr>
              <a:t>计算方式：基于帧的所有字节（除</a:t>
            </a:r>
            <a:r>
              <a:rPr lang="en-US" altLang="zh-CN" sz="1800" dirty="0">
                <a:solidFill>
                  <a:srgbClr val="2A2A2A"/>
                </a:solidFill>
                <a:latin typeface="Arial" panose="020B0604020202020204"/>
                <a:ea typeface="Arial" panose="020B0604020202020204"/>
              </a:rPr>
              <a:t>CRC</a:t>
            </a:r>
            <a:r>
              <a:rPr lang="zh-CN" altLang="en-US" sz="1800" dirty="0">
                <a:solidFill>
                  <a:srgbClr val="2A2A2A"/>
                </a:solidFill>
                <a:latin typeface="Arial" panose="020B0604020202020204"/>
                <a:ea typeface="Arial" panose="020B0604020202020204"/>
              </a:rPr>
              <a:t>本身）进行计算。</a:t>
            </a:r>
            <a:endParaRPr lang="zh-CN" altLang="en-US" sz="1800" dirty="0">
              <a:solidFill>
                <a:srgbClr val="2A2A2A"/>
              </a:solidFill>
              <a:latin typeface="Arial" panose="020B0604020202020204"/>
              <a:ea typeface="Arial" panose="020B0604020202020204"/>
            </a:endParaRPr>
          </a:p>
          <a:p>
            <a:r>
              <a:rPr lang="en-US" altLang="zh-CN" sz="1800" dirty="0">
                <a:solidFill>
                  <a:srgbClr val="2A2A2A"/>
                </a:solidFill>
                <a:latin typeface="Arial" panose="020B0604020202020204"/>
                <a:ea typeface="Arial" panose="020B0604020202020204"/>
              </a:rPr>
              <a:t>LRC</a:t>
            </a:r>
            <a:r>
              <a:rPr lang="zh-CN" altLang="en-US" sz="1800" dirty="0">
                <a:solidFill>
                  <a:srgbClr val="2A2A2A"/>
                </a:solidFill>
                <a:latin typeface="Arial" panose="020B0604020202020204"/>
                <a:ea typeface="Arial" panose="020B0604020202020204"/>
              </a:rPr>
              <a:t>（</a:t>
            </a:r>
            <a:r>
              <a:rPr lang="en-US" altLang="zh-CN" sz="1800" dirty="0">
                <a:solidFill>
                  <a:srgbClr val="2A2A2A"/>
                </a:solidFill>
                <a:latin typeface="Arial" panose="020B0604020202020204"/>
                <a:ea typeface="Arial" panose="020B0604020202020204"/>
              </a:rPr>
              <a:t>Longitudinal Redundancy Check</a:t>
            </a:r>
            <a:r>
              <a:rPr lang="zh-CN" altLang="en-US" sz="1800" dirty="0">
                <a:solidFill>
                  <a:srgbClr val="2A2A2A"/>
                </a:solidFill>
                <a:latin typeface="Arial" panose="020B0604020202020204"/>
                <a:ea typeface="Arial" panose="020B0604020202020204"/>
              </a:rPr>
              <a:t>）：用于</a:t>
            </a:r>
            <a:r>
              <a:rPr lang="en-US" altLang="zh-CN" sz="1800" dirty="0">
                <a:solidFill>
                  <a:srgbClr val="2A2A2A"/>
                </a:solidFill>
                <a:latin typeface="Arial" panose="020B0604020202020204"/>
                <a:ea typeface="Arial" panose="020B0604020202020204"/>
              </a:rPr>
              <a:t>Modbus ASCII</a:t>
            </a:r>
            <a:r>
              <a:rPr lang="zh-CN" altLang="en-US" sz="1800" dirty="0">
                <a:solidFill>
                  <a:srgbClr val="2A2A2A"/>
                </a:solidFill>
                <a:latin typeface="Arial" panose="020B0604020202020204"/>
                <a:ea typeface="Arial" panose="020B0604020202020204"/>
              </a:rPr>
              <a:t>模式（较少使用）。</a:t>
            </a:r>
            <a:endParaRPr lang="zh-CN" altLang="en-US" sz="1800" dirty="0">
              <a:solidFill>
                <a:srgbClr val="2A2A2A"/>
              </a:solidFill>
              <a:latin typeface="Arial" panose="020B0604020202020204"/>
              <a:ea typeface="Arial" panose="020B0604020202020204"/>
            </a:endParaRPr>
          </a:p>
          <a:p>
            <a:r>
              <a:rPr lang="zh-CN" altLang="en-US" sz="1800" dirty="0">
                <a:solidFill>
                  <a:srgbClr val="2A2A2A"/>
                </a:solidFill>
                <a:latin typeface="Arial" panose="020B0604020202020204"/>
                <a:ea typeface="Arial" panose="020B0604020202020204"/>
              </a:rPr>
              <a:t>长度：</a:t>
            </a:r>
            <a:r>
              <a:rPr lang="en-US" altLang="zh-CN" sz="1800" dirty="0">
                <a:solidFill>
                  <a:srgbClr val="2A2A2A"/>
                </a:solidFill>
                <a:latin typeface="Arial" panose="020B0604020202020204"/>
                <a:ea typeface="Arial" panose="020B0604020202020204"/>
              </a:rPr>
              <a:t>2</a:t>
            </a:r>
            <a:r>
              <a:rPr lang="zh-CN" altLang="en-US" sz="1800" dirty="0">
                <a:solidFill>
                  <a:srgbClr val="2A2A2A"/>
                </a:solidFill>
                <a:latin typeface="Arial" panose="020B0604020202020204"/>
                <a:ea typeface="Arial" panose="020B0604020202020204"/>
              </a:rPr>
              <a:t>字节（</a:t>
            </a:r>
            <a:r>
              <a:rPr lang="en-US" altLang="zh-CN" sz="1800" dirty="0">
                <a:solidFill>
                  <a:srgbClr val="2A2A2A"/>
                </a:solidFill>
                <a:latin typeface="Arial" panose="020B0604020202020204"/>
                <a:ea typeface="Arial" panose="020B0604020202020204"/>
              </a:rPr>
              <a:t>ASCII</a:t>
            </a:r>
            <a:r>
              <a:rPr lang="zh-CN" altLang="en-US" sz="1800" dirty="0">
                <a:solidFill>
                  <a:srgbClr val="2A2A2A"/>
                </a:solidFill>
                <a:latin typeface="Arial" panose="020B0604020202020204"/>
                <a:ea typeface="Arial" panose="020B0604020202020204"/>
              </a:rPr>
              <a:t>模式下为</a:t>
            </a:r>
            <a:r>
              <a:rPr lang="en-US" altLang="zh-CN" sz="1800" dirty="0">
                <a:solidFill>
                  <a:srgbClr val="2A2A2A"/>
                </a:solidFill>
                <a:latin typeface="Arial" panose="020B0604020202020204"/>
                <a:ea typeface="Arial" panose="020B0604020202020204"/>
              </a:rPr>
              <a:t>4</a:t>
            </a:r>
            <a:r>
              <a:rPr lang="zh-CN" altLang="en-US" sz="1800" dirty="0">
                <a:solidFill>
                  <a:srgbClr val="2A2A2A"/>
                </a:solidFill>
                <a:latin typeface="Arial" panose="020B0604020202020204"/>
                <a:ea typeface="Arial" panose="020B0604020202020204"/>
              </a:rPr>
              <a:t>个十六进制字符）。</a:t>
            </a:r>
            <a:endParaRPr lang="zh-CN" altLang="en-US" sz="1800" dirty="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串口配置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5" name="图片 4"/>
          <p:cNvPicPr/>
          <p:nvPr/>
        </p:nvPicPr>
        <p:blipFill>
          <a:blip r:embed="rId1"/>
          <a:stretch>
            <a:fillRect/>
          </a:stretch>
        </p:blipFill>
        <p:spPr>
          <a:xfrm>
            <a:off x="656590" y="2137410"/>
            <a:ext cx="9392920" cy="4259580"/>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串口配置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7" name="图片 6"/>
          <p:cNvPicPr>
            <a:picLocks noChangeAspect="1"/>
          </p:cNvPicPr>
          <p:nvPr/>
        </p:nvPicPr>
        <p:blipFill>
          <a:blip r:embed="rId1"/>
          <a:srcRect l="24999" b="6625"/>
          <a:stretch>
            <a:fillRect/>
          </a:stretch>
        </p:blipFill>
        <p:spPr>
          <a:xfrm>
            <a:off x="4548660" y="2011680"/>
            <a:ext cx="6828177" cy="4763904"/>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串口配置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2" name="图片 1"/>
          <p:cNvPicPr/>
          <p:nvPr/>
        </p:nvPicPr>
        <p:blipFill>
          <a:blip r:embed="rId1"/>
          <a:stretch>
            <a:fillRect/>
          </a:stretch>
        </p:blipFill>
        <p:spPr>
          <a:xfrm>
            <a:off x="347345" y="2011680"/>
            <a:ext cx="11038205" cy="450659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串口配置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4" name="图片 3"/>
          <p:cNvPicPr/>
          <p:nvPr/>
        </p:nvPicPr>
        <p:blipFill>
          <a:blip r:embed="rId1"/>
          <a:stretch>
            <a:fillRect/>
          </a:stretch>
        </p:blipFill>
        <p:spPr>
          <a:xfrm>
            <a:off x="515620" y="2011680"/>
            <a:ext cx="10701655" cy="4388485"/>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SPI</a:t>
            </a:r>
            <a:r>
              <a:rPr lang="zh-CN" altLang="en-US" spc="300" dirty="0">
                <a:latin typeface="+mj-ea"/>
                <a:sym typeface="+mn-ea"/>
              </a:rPr>
              <a:t>通讯</a:t>
            </a:r>
            <a:endParaRPr lang="zh-CN" altLang="en-US"/>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903" y="2204561"/>
            <a:ext cx="4794406" cy="907084"/>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物理层</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SPI</a:t>
            </a:r>
            <a:r>
              <a:rPr lang="zh-CN" altLang="en-US" sz="2400" b="1" spc="300" dirty="0">
                <a:solidFill>
                  <a:schemeClr val="accent1"/>
                </a:solidFill>
                <a:latin typeface="+mj-ea"/>
                <a:ea typeface="+mj-ea"/>
              </a:rPr>
              <a:t>的主要特征</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数据包格式</a:t>
            </a:r>
            <a:endParaRPr lang="zh-CN" altLang="en-US" sz="2400" b="1" spc="300" dirty="0">
              <a:solidFill>
                <a:schemeClr val="accent1"/>
              </a:solidFill>
              <a:latin typeface="+mj-ea"/>
              <a:ea typeface="+mj-ea"/>
            </a:endParaRPr>
          </a:p>
        </p:txBody>
      </p:sp>
      <p:sp>
        <p:nvSpPr>
          <p:cNvPr id="15" name="序号"/>
          <p:cNvSpPr txBox="1"/>
          <p:nvPr>
            <p:custDataLst>
              <p:tags r:id="rId8"/>
            </p:custDataLst>
          </p:nvPr>
        </p:nvSpPr>
        <p:spPr>
          <a:xfrm>
            <a:off x="5700395" y="3851910"/>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04.</a:t>
            </a:r>
            <a:endParaRPr lang="en-US" sz="2800">
              <a:solidFill>
                <a:schemeClr val="accent1">
                  <a:lumMod val="60000"/>
                  <a:lumOff val="40000"/>
                </a:schemeClr>
              </a:solidFill>
              <a:latin typeface="+mj-ea"/>
              <a:ea typeface="+mj-ea"/>
            </a:endParaRPr>
          </a:p>
        </p:txBody>
      </p:sp>
      <p:sp>
        <p:nvSpPr>
          <p:cNvPr id="16" name="项标题"/>
          <p:cNvSpPr txBox="1"/>
          <p:nvPr>
            <p:custDataLst>
              <p:tags r:id="rId9"/>
            </p:custDataLst>
          </p:nvPr>
        </p:nvSpPr>
        <p:spPr>
          <a:xfrm>
            <a:off x="6694805" y="3851910"/>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协议层</a:t>
            </a:r>
            <a:endParaRPr lang="zh-CN" altLang="en-US" sz="2400" b="1" spc="300" dirty="0">
              <a:solidFill>
                <a:schemeClr val="accent1"/>
              </a:solidFill>
              <a:latin typeface="+mj-ea"/>
              <a:ea typeface="+mj-ea"/>
            </a:endParaRPr>
          </a:p>
        </p:txBody>
      </p:sp>
      <p:sp>
        <p:nvSpPr>
          <p:cNvPr id="2" name="序号"/>
          <p:cNvSpPr txBox="1"/>
          <p:nvPr>
            <p:custDataLst>
              <p:tags r:id="rId10"/>
            </p:custDataLst>
          </p:nvPr>
        </p:nvSpPr>
        <p:spPr>
          <a:xfrm>
            <a:off x="5706110" y="4387215"/>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05.</a:t>
            </a:r>
            <a:endParaRPr lang="en-US" sz="2800">
              <a:solidFill>
                <a:schemeClr val="accent1">
                  <a:lumMod val="60000"/>
                  <a:lumOff val="40000"/>
                </a:schemeClr>
              </a:solidFill>
              <a:latin typeface="+mj-ea"/>
              <a:ea typeface="+mj-ea"/>
            </a:endParaRPr>
          </a:p>
        </p:txBody>
      </p:sp>
      <p:sp>
        <p:nvSpPr>
          <p:cNvPr id="3" name="项标题"/>
          <p:cNvSpPr txBox="1"/>
          <p:nvPr>
            <p:custDataLst>
              <p:tags r:id="rId11"/>
            </p:custDataLst>
          </p:nvPr>
        </p:nvSpPr>
        <p:spPr>
          <a:xfrm>
            <a:off x="6700520" y="4387215"/>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程序配置</a:t>
            </a:r>
            <a:endParaRPr lang="zh-CN" altLang="en-US" sz="2400" b="1" spc="300" dirty="0">
              <a:solidFill>
                <a:schemeClr val="accent1"/>
              </a:solidFill>
              <a:latin typeface="+mj-ea"/>
              <a:ea typeface="+mj-ea"/>
              <a:sym typeface="+mn-ea"/>
            </a:endParaRPr>
          </a:p>
        </p:txBody>
      </p:sp>
    </p:spTree>
    <p:custDataLst>
      <p:tags r:id="rId1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noChangeArrowheads="1"/>
          </p:cNvSpPr>
          <p:nvPr>
            <p:ph type="subTitle" idx="1"/>
          </p:nvPr>
        </p:nvSpPr>
        <p:spPr>
          <a:xfrm>
            <a:off x="95885" y="841375"/>
            <a:ext cx="11541760" cy="488950"/>
          </a:xfrm>
        </p:spPr>
        <p:txBody>
          <a:bodyPr>
            <a:noAutofit/>
          </a:bodyPr>
          <a:lstStyle/>
          <a:p>
            <a:pPr algn="l"/>
            <a:r>
              <a:rPr lang="zh-CN" altLang="en-US" sz="1400" dirty="0"/>
              <a:t>串行外设接口</a:t>
            </a:r>
            <a:r>
              <a:rPr lang="en-US" altLang="zh-CN" sz="1400" dirty="0"/>
              <a:t> (SPI) </a:t>
            </a:r>
            <a:r>
              <a:rPr lang="zh-CN" altLang="en-US" sz="1400" dirty="0"/>
              <a:t>是微控制器（</a:t>
            </a:r>
            <a:r>
              <a:rPr lang="en-US" altLang="zh-CN" sz="1400" dirty="0"/>
              <a:t>MCU</a:t>
            </a:r>
            <a:r>
              <a:rPr lang="zh-CN" altLang="en-US" sz="1400" dirty="0"/>
              <a:t>）和外设</a:t>
            </a:r>
            <a:r>
              <a:rPr lang="en-US" altLang="zh-CN" sz="1400" dirty="0"/>
              <a:t> IC</a:t>
            </a:r>
            <a:r>
              <a:rPr lang="zh-CN" altLang="en-US" sz="1400" dirty="0"/>
              <a:t>（例如传感器、</a:t>
            </a:r>
            <a:r>
              <a:rPr lang="en-US" altLang="zh-CN" sz="1400" dirty="0"/>
              <a:t>ADC</a:t>
            </a:r>
            <a:r>
              <a:rPr lang="zh-CN" altLang="en-US" sz="1400" dirty="0"/>
              <a:t>、</a:t>
            </a:r>
            <a:r>
              <a:rPr lang="en-US" altLang="zh-CN" sz="1400" dirty="0"/>
              <a:t>DAC</a:t>
            </a:r>
            <a:r>
              <a:rPr lang="zh-CN" altLang="en-US" sz="1400" dirty="0"/>
              <a:t>、移位寄存器、</a:t>
            </a:r>
            <a:r>
              <a:rPr lang="en-US" altLang="zh-CN" sz="1400" dirty="0"/>
              <a:t>SRAM </a:t>
            </a:r>
            <a:r>
              <a:rPr lang="zh-CN" altLang="en-US" sz="1400" dirty="0"/>
              <a:t>等）之间最广泛使用的接口之一，近年来也被用作于</a:t>
            </a:r>
            <a:r>
              <a:rPr lang="en-US" altLang="zh-CN" sz="1400" dirty="0"/>
              <a:t>MCU</a:t>
            </a:r>
            <a:r>
              <a:rPr lang="zh-CN" altLang="en-US" sz="1400" dirty="0"/>
              <a:t>与</a:t>
            </a:r>
            <a:r>
              <a:rPr lang="en-US" altLang="zh-CN" sz="1400" dirty="0"/>
              <a:t>MCU</a:t>
            </a:r>
            <a:r>
              <a:rPr lang="zh-CN" altLang="en-US" sz="1400" dirty="0"/>
              <a:t>的通讯之中。</a:t>
            </a:r>
            <a:r>
              <a:rPr lang="en-US" altLang="zh-CN" sz="1400" dirty="0"/>
              <a:t>SPI</a:t>
            </a:r>
            <a:r>
              <a:rPr lang="zh-CN" altLang="en-US" sz="1400" dirty="0"/>
              <a:t>速率直接取决于系统时钟频率。</a:t>
            </a:r>
            <a:endParaRPr lang="zh-CN" altLang="en-US" sz="1400" dirty="0"/>
          </a:p>
          <a:p>
            <a:pPr algn="l"/>
            <a:endParaRPr lang="en-US" altLang="zh-CN" sz="1400" dirty="0"/>
          </a:p>
          <a:p>
            <a:pPr algn="l"/>
            <a:r>
              <a:rPr lang="en-US" altLang="zh-CN" sz="1400" dirty="0"/>
              <a:t>SPI </a:t>
            </a:r>
            <a:r>
              <a:rPr lang="zh-CN" altLang="en-US" sz="1400" dirty="0"/>
              <a:t>是一种基于主子节点的同步、全双工接口。来自主节点或子节点的数据在时钟上升沿或下降沿同步。主、子节点可以同时传输数据。</a:t>
            </a:r>
            <a:r>
              <a:rPr lang="en-US" altLang="zh-CN" sz="1400" dirty="0"/>
              <a:t>SPI </a:t>
            </a:r>
            <a:r>
              <a:rPr lang="zh-CN" altLang="en-US" sz="1400" dirty="0"/>
              <a:t>接口可以是</a:t>
            </a:r>
            <a:r>
              <a:rPr lang="en-US" altLang="zh-CN" sz="1400" dirty="0"/>
              <a:t> 3 </a:t>
            </a:r>
            <a:r>
              <a:rPr lang="zh-CN" altLang="en-US" sz="1400" dirty="0"/>
              <a:t>线或</a:t>
            </a:r>
            <a:r>
              <a:rPr lang="en-US" altLang="zh-CN" sz="1400" dirty="0"/>
              <a:t> 4 </a:t>
            </a:r>
            <a:r>
              <a:rPr lang="zh-CN" altLang="en-US" sz="1400" dirty="0"/>
              <a:t>线。本文重点介绍流行的</a:t>
            </a:r>
            <a:r>
              <a:rPr lang="en-US" altLang="zh-CN" sz="1400" dirty="0"/>
              <a:t> 4 </a:t>
            </a:r>
            <a:r>
              <a:rPr lang="zh-CN" altLang="en-US" sz="1400" dirty="0"/>
              <a:t>线</a:t>
            </a:r>
            <a:r>
              <a:rPr lang="en-US" altLang="zh-CN" sz="1400" dirty="0"/>
              <a:t> SPI </a:t>
            </a:r>
            <a:r>
              <a:rPr lang="zh-CN" altLang="en-US" sz="1400" dirty="0"/>
              <a:t>接口。</a:t>
            </a:r>
            <a:endParaRPr lang="zh-CN" altLang="en-US" sz="1400" dirty="0"/>
          </a:p>
        </p:txBody>
      </p:sp>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2065020"/>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物理层</a:t>
            </a:r>
            <a:endParaRPr lang="zh-CN" altLang="en-US" sz="2000"/>
          </a:p>
        </p:txBody>
      </p:sp>
      <p:sp>
        <p:nvSpPr>
          <p:cNvPr id="7" name="文本框 6"/>
          <p:cNvSpPr txBox="1"/>
          <p:nvPr/>
        </p:nvSpPr>
        <p:spPr>
          <a:xfrm>
            <a:off x="450215" y="2423795"/>
            <a:ext cx="6534150" cy="4156075"/>
          </a:xfrm>
          <a:prstGeom prst="rect">
            <a:avLst/>
          </a:prstGeom>
        </p:spPr>
        <p:txBody>
          <a:bodyPr wrap="square">
            <a:noAutofit/>
          </a:bodyPr>
          <a:lstStyle/>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4 </a:t>
            </a:r>
            <a:r>
              <a:rPr lang="zh-CN" altLang="en-US" sz="1600" b="0" i="0">
                <a:solidFill>
                  <a:srgbClr val="2A2A2A"/>
                </a:solidFill>
                <a:latin typeface="Arial" panose="020B0604020202020204"/>
                <a:ea typeface="Arial" panose="020B0604020202020204"/>
              </a:rPr>
              <a:t>线</a:t>
            </a:r>
            <a:r>
              <a:rPr lang="en-US" altLang="zh-CN" sz="1600" b="0" i="0">
                <a:solidFill>
                  <a:srgbClr val="2A2A2A"/>
                </a:solidFill>
                <a:latin typeface="Arial" panose="020B0604020202020204"/>
                <a:ea typeface="Arial" panose="020B0604020202020204"/>
              </a:rPr>
              <a:t> SPI </a:t>
            </a:r>
            <a:r>
              <a:rPr lang="zh-CN" altLang="en-US" sz="1600" b="0" i="0">
                <a:solidFill>
                  <a:srgbClr val="2A2A2A"/>
                </a:solidFill>
                <a:latin typeface="Arial" panose="020B0604020202020204"/>
                <a:ea typeface="Arial" panose="020B0604020202020204"/>
              </a:rPr>
              <a:t>设备有四个信号：</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en-US"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时钟（</a:t>
            </a:r>
            <a:r>
              <a:rPr lang="en-US" altLang="zh-CN" sz="1600" b="0" i="0">
                <a:solidFill>
                  <a:srgbClr val="2A2A2A"/>
                </a:solidFill>
                <a:latin typeface="Arial" panose="020B0604020202020204"/>
                <a:ea typeface="Arial" panose="020B0604020202020204"/>
              </a:rPr>
              <a:t>SCLK</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en-US" sz="1600" b="0" i="0">
                <a:solidFill>
                  <a:srgbClr val="2A2A2A"/>
                </a:solidFill>
                <a:latin typeface="Arial" panose="020B0604020202020204"/>
                <a:ea typeface="Arial" panose="020B0604020202020204"/>
              </a:rPr>
              <a:t></a:t>
            </a:r>
            <a:r>
              <a:rPr lang="zh-CN" altLang="en-US" sz="1600" b="0" i="0">
                <a:solidFill>
                  <a:srgbClr val="92D050"/>
                </a:solidFill>
                <a:latin typeface="Arial" panose="020B0604020202020204"/>
                <a:ea typeface="Arial" panose="020B0604020202020204"/>
              </a:rPr>
              <a:t>片选（</a:t>
            </a:r>
            <a:r>
              <a:rPr lang="en-US" altLang="zh-CN" sz="1600" b="0" i="0">
                <a:solidFill>
                  <a:srgbClr val="92D050"/>
                </a:solidFill>
                <a:latin typeface="Arial" panose="020B0604020202020204"/>
                <a:ea typeface="Arial" panose="020B0604020202020204"/>
              </a:rPr>
              <a:t>CS</a:t>
            </a:r>
            <a:r>
              <a:rPr lang="zh-CN" altLang="en-US" sz="1600" b="0" i="0">
                <a:solidFill>
                  <a:srgbClr val="92D050"/>
                </a:solidFill>
                <a:latin typeface="Arial" panose="020B0604020202020204"/>
                <a:ea typeface="Arial" panose="020B0604020202020204"/>
              </a:rPr>
              <a:t>）</a:t>
            </a:r>
            <a:endParaRPr lang="zh-CN" altLang="en-US" sz="1600" b="0" i="0">
              <a:solidFill>
                <a:srgbClr val="92D050"/>
              </a:solidFill>
              <a:latin typeface="Arial" panose="020B0604020202020204"/>
              <a:ea typeface="Arial" panose="020B0604020202020204"/>
            </a:endParaRPr>
          </a:p>
          <a:p>
            <a:pPr algn="l" defTabSz="266700">
              <a:lnSpc>
                <a:spcPct val="100000"/>
              </a:lnSpc>
              <a:spcBef>
                <a:spcPts val="100"/>
              </a:spcBef>
              <a:spcAft>
                <a:spcPts val="100"/>
              </a:spcAft>
            </a:pPr>
            <a:r>
              <a:rPr lang="en-US" altLang="en-US"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主输出，子节点输入</a:t>
            </a:r>
            <a:r>
              <a:rPr lang="en-US" altLang="zh-CN" sz="1600" b="0" i="0">
                <a:solidFill>
                  <a:srgbClr val="2A2A2A"/>
                </a:solidFill>
                <a:latin typeface="Arial" panose="020B0604020202020204"/>
                <a:ea typeface="Arial" panose="020B0604020202020204"/>
              </a:rPr>
              <a:t> (MOSI)</a:t>
            </a:r>
            <a:endParaRPr lang="en-US" altLang="zh-CN"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en-US"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主输入，子节点输出</a:t>
            </a:r>
            <a:r>
              <a:rPr lang="en-US" altLang="zh-CN" sz="1600" b="0" i="0">
                <a:solidFill>
                  <a:srgbClr val="2A2A2A"/>
                </a:solidFill>
                <a:latin typeface="Arial" panose="020B0604020202020204"/>
                <a:ea typeface="Arial" panose="020B0604020202020204"/>
              </a:rPr>
              <a:t> (MISO)</a:t>
            </a:r>
            <a:endParaRPr lang="en-US" altLang="zh-CN"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产生时钟信号的设备称为主设备。主节点和子节点之间传输的数据与主节点产生的时钟同步。与</a:t>
            </a:r>
            <a:r>
              <a:rPr lang="en-US" altLang="zh-CN" sz="1600" b="0" i="0">
                <a:solidFill>
                  <a:srgbClr val="2A2A2A"/>
                </a:solidFill>
                <a:latin typeface="Arial" panose="020B0604020202020204"/>
                <a:ea typeface="Arial" panose="020B0604020202020204"/>
              </a:rPr>
              <a:t> I 2</a:t>
            </a:r>
            <a:r>
              <a:rPr lang="en-US" altLang="en-US" sz="1600" b="0" i="0">
                <a:solidFill>
                  <a:srgbClr val="2A2A2A"/>
                </a:solidFill>
                <a:latin typeface="Arial" panose="020B0604020202020204"/>
                <a:ea typeface="Arial" panose="020B0604020202020204"/>
              </a:rPr>
              <a:t> </a:t>
            </a:r>
            <a:r>
              <a:rPr lang="en-US" altLang="zh-CN" sz="1600" b="0" i="0">
                <a:solidFill>
                  <a:srgbClr val="2A2A2A"/>
                </a:solidFill>
                <a:latin typeface="Arial" panose="020B0604020202020204"/>
                <a:ea typeface="Arial" panose="020B0604020202020204"/>
              </a:rPr>
              <a:t>C </a:t>
            </a:r>
            <a:r>
              <a:rPr lang="zh-CN" altLang="en-US" sz="1600" b="0" i="0">
                <a:solidFill>
                  <a:srgbClr val="2A2A2A"/>
                </a:solidFill>
                <a:latin typeface="Arial" panose="020B0604020202020204"/>
                <a:ea typeface="Arial" panose="020B0604020202020204"/>
              </a:rPr>
              <a:t>接口相比，</a:t>
            </a:r>
            <a:r>
              <a:rPr lang="en-US" altLang="zh-CN" sz="1600" b="0" i="0">
                <a:solidFill>
                  <a:srgbClr val="2A2A2A"/>
                </a:solidFill>
                <a:latin typeface="Arial" panose="020B0604020202020204"/>
                <a:ea typeface="Arial" panose="020B0604020202020204"/>
              </a:rPr>
              <a:t>SPI </a:t>
            </a:r>
            <a:r>
              <a:rPr lang="zh-CN" altLang="en-US" sz="1600" b="0" i="0">
                <a:solidFill>
                  <a:srgbClr val="2A2A2A"/>
                </a:solidFill>
                <a:latin typeface="Arial" panose="020B0604020202020204"/>
                <a:ea typeface="Arial" panose="020B0604020202020204"/>
              </a:rPr>
              <a:t>设备支持更高的时钟频率。</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接口只能有一个主节点，可以有一个或多个子节点。图</a:t>
            </a:r>
            <a:r>
              <a:rPr lang="en-US" altLang="zh-CN" sz="1600" b="0" i="0">
                <a:solidFill>
                  <a:srgbClr val="2A2A2A"/>
                </a:solidFill>
                <a:latin typeface="Arial" panose="020B0604020202020204"/>
                <a:ea typeface="Arial" panose="020B0604020202020204"/>
              </a:rPr>
              <a:t>1</a:t>
            </a:r>
            <a:r>
              <a:rPr lang="zh-CN" altLang="en-US" sz="1600" b="0" i="0">
                <a:solidFill>
                  <a:srgbClr val="2A2A2A"/>
                </a:solidFill>
                <a:latin typeface="Arial" panose="020B0604020202020204"/>
                <a:ea typeface="Arial" panose="020B0604020202020204"/>
              </a:rPr>
              <a:t>显示了主节点和子节点之间的</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连接。</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来自主节点的片选信号用于选择子节点。这通常是一个低电平有效信号，被拉高以断开子节点与</a:t>
            </a:r>
            <a:r>
              <a:rPr lang="en-US" altLang="zh-CN" sz="1600" b="0" i="0">
                <a:solidFill>
                  <a:srgbClr val="2A2A2A"/>
                </a:solidFill>
                <a:latin typeface="Arial" panose="020B0604020202020204"/>
                <a:ea typeface="Arial" panose="020B0604020202020204"/>
              </a:rPr>
              <a:t> SPI </a:t>
            </a:r>
            <a:r>
              <a:rPr lang="zh-CN" altLang="en-US" sz="1600" b="0" i="0">
                <a:solidFill>
                  <a:srgbClr val="2A2A2A"/>
                </a:solidFill>
                <a:latin typeface="Arial" panose="020B0604020202020204"/>
                <a:ea typeface="Arial" panose="020B0604020202020204"/>
              </a:rPr>
              <a:t>总线的连接。当使用多个子节点时，每个子节点需要来自主节点的单独片选信号。在本文中，片选信号始终是低电平有效信号。</a:t>
            </a:r>
            <a:endParaRPr lang="en-US" altLang="zh-CN"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MOSI</a:t>
            </a:r>
            <a:r>
              <a:rPr lang="zh-CN" altLang="en-US" sz="1600" b="0" i="0">
                <a:solidFill>
                  <a:srgbClr val="2A2A2A"/>
                </a:solidFill>
                <a:latin typeface="Arial" panose="020B0604020202020204"/>
                <a:ea typeface="Arial" panose="020B0604020202020204"/>
              </a:rPr>
              <a:t>和</a:t>
            </a:r>
            <a:r>
              <a:rPr lang="en-US" altLang="zh-CN" sz="1600" b="0" i="0">
                <a:solidFill>
                  <a:srgbClr val="2A2A2A"/>
                </a:solidFill>
                <a:latin typeface="Arial" panose="020B0604020202020204"/>
                <a:ea typeface="Arial" panose="020B0604020202020204"/>
              </a:rPr>
              <a:t>MISO</a:t>
            </a:r>
            <a:r>
              <a:rPr lang="zh-CN" altLang="en-US" sz="1600" b="0" i="0">
                <a:solidFill>
                  <a:srgbClr val="2A2A2A"/>
                </a:solidFill>
                <a:latin typeface="Arial" panose="020B0604020202020204"/>
                <a:ea typeface="Arial" panose="020B0604020202020204"/>
              </a:rPr>
              <a:t>是数据线。</a:t>
            </a:r>
            <a:r>
              <a:rPr lang="en-US" altLang="zh-CN" sz="1600" b="0" i="0">
                <a:solidFill>
                  <a:srgbClr val="2A2A2A"/>
                </a:solidFill>
                <a:latin typeface="Arial" panose="020B0604020202020204"/>
                <a:ea typeface="Arial" panose="020B0604020202020204"/>
              </a:rPr>
              <a:t>MOSI </a:t>
            </a:r>
            <a:r>
              <a:rPr lang="zh-CN" altLang="en-US" sz="1600" b="0" i="0">
                <a:solidFill>
                  <a:srgbClr val="2A2A2A"/>
                </a:solidFill>
                <a:latin typeface="Arial" panose="020B0604020202020204"/>
                <a:ea typeface="Arial" panose="020B0604020202020204"/>
              </a:rPr>
              <a:t>将数据从主节点传输到子节点，</a:t>
            </a:r>
            <a:r>
              <a:rPr lang="en-US" altLang="zh-CN" sz="1600" b="0" i="0">
                <a:solidFill>
                  <a:srgbClr val="2A2A2A"/>
                </a:solidFill>
                <a:latin typeface="Arial" panose="020B0604020202020204"/>
                <a:ea typeface="Arial" panose="020B0604020202020204"/>
              </a:rPr>
              <a:t>MISO </a:t>
            </a:r>
            <a:r>
              <a:rPr lang="zh-CN" altLang="en-US" sz="1600" b="0" i="0">
                <a:solidFill>
                  <a:srgbClr val="2A2A2A"/>
                </a:solidFill>
                <a:latin typeface="Arial" panose="020B0604020202020204"/>
                <a:ea typeface="Arial" panose="020B0604020202020204"/>
              </a:rPr>
              <a:t>将数据从子节点传输到主节点</a:t>
            </a:r>
            <a:endParaRPr lang="zh-CN" altLang="en-US" sz="1600" b="0" i="0">
              <a:solidFill>
                <a:srgbClr val="2A2A2A"/>
              </a:solidFill>
              <a:latin typeface="Arial" panose="020B0604020202020204"/>
              <a:ea typeface="Arial" panose="020B0604020202020204"/>
            </a:endParaRPr>
          </a:p>
        </p:txBody>
      </p:sp>
      <p:pic>
        <p:nvPicPr>
          <p:cNvPr id="4" name="图片 3"/>
          <p:cNvPicPr/>
          <p:nvPr/>
        </p:nvPicPr>
        <p:blipFill>
          <a:blip r:embed="rId1"/>
          <a:stretch>
            <a:fillRect/>
          </a:stretch>
        </p:blipFill>
        <p:spPr>
          <a:xfrm>
            <a:off x="6984365" y="3096260"/>
            <a:ext cx="5121910" cy="2258060"/>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33120"/>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物理层</a:t>
            </a:r>
            <a:endParaRPr lang="zh-CN" altLang="en-US" sz="2000"/>
          </a:p>
        </p:txBody>
      </p:sp>
      <p:sp>
        <p:nvSpPr>
          <p:cNvPr id="7" name="文本框 6"/>
          <p:cNvSpPr txBox="1"/>
          <p:nvPr/>
        </p:nvSpPr>
        <p:spPr>
          <a:xfrm>
            <a:off x="339725" y="1432560"/>
            <a:ext cx="2545715" cy="434975"/>
          </a:xfrm>
          <a:prstGeom prst="rect">
            <a:avLst/>
          </a:prstGeom>
        </p:spPr>
        <p:txBody>
          <a:bodyPr wrap="square">
            <a:noAutofit/>
          </a:bodyPr>
          <a:lstStyle/>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常规</a:t>
            </a:r>
            <a:r>
              <a:rPr lang="en-US" altLang="zh-CN" sz="1600" b="0" i="0">
                <a:solidFill>
                  <a:srgbClr val="2A2A2A"/>
                </a:solidFill>
                <a:latin typeface="Arial" panose="020B0604020202020204"/>
                <a:ea typeface="Arial" panose="020B0604020202020204"/>
              </a:rPr>
              <a:t> SPI </a:t>
            </a:r>
            <a:r>
              <a:rPr lang="zh-CN" altLang="en-US" sz="1600" b="0" i="0">
                <a:solidFill>
                  <a:srgbClr val="2A2A2A"/>
                </a:solidFill>
                <a:latin typeface="Arial" panose="020B0604020202020204"/>
                <a:ea typeface="Arial" panose="020B0604020202020204"/>
              </a:rPr>
              <a:t>模式</a:t>
            </a:r>
            <a:endParaRPr lang="zh-CN" altLang="en-US" sz="1600" b="0" i="0">
              <a:solidFill>
                <a:srgbClr val="2A2A2A"/>
              </a:solidFill>
              <a:latin typeface="Arial" panose="020B0604020202020204"/>
              <a:ea typeface="Arial" panose="020B0604020202020204"/>
            </a:endParaRPr>
          </a:p>
        </p:txBody>
      </p:sp>
      <p:pic>
        <p:nvPicPr>
          <p:cNvPr id="11" name="图片 6" descr="IMG_256"/>
          <p:cNvPicPr>
            <a:picLocks noChangeAspect="1"/>
          </p:cNvPicPr>
          <p:nvPr/>
        </p:nvPicPr>
        <p:blipFill>
          <a:blip r:embed="rId1"/>
          <a:stretch>
            <a:fillRect/>
          </a:stretch>
        </p:blipFill>
        <p:spPr>
          <a:xfrm>
            <a:off x="340042" y="2850833"/>
            <a:ext cx="5269230" cy="2370455"/>
          </a:xfrm>
          <a:prstGeom prst="rect">
            <a:avLst/>
          </a:prstGeom>
          <a:noFill/>
          <a:ln w="9525">
            <a:noFill/>
          </a:ln>
        </p:spPr>
      </p:pic>
      <p:pic>
        <p:nvPicPr>
          <p:cNvPr id="16" name="图片 10" descr="IMG_256"/>
          <p:cNvPicPr>
            <a:picLocks noChangeAspect="1"/>
          </p:cNvPicPr>
          <p:nvPr/>
        </p:nvPicPr>
        <p:blipFill>
          <a:blip r:embed="rId2"/>
          <a:stretch>
            <a:fillRect/>
          </a:stretch>
        </p:blipFill>
        <p:spPr>
          <a:xfrm>
            <a:off x="7384732" y="2265363"/>
            <a:ext cx="2688590" cy="3904615"/>
          </a:xfrm>
          <a:prstGeom prst="rect">
            <a:avLst/>
          </a:prstGeom>
          <a:noFill/>
          <a:ln w="9525">
            <a:noFill/>
          </a:ln>
        </p:spPr>
      </p:pic>
      <p:sp>
        <p:nvSpPr>
          <p:cNvPr id="5" name="文本框 4"/>
          <p:cNvSpPr txBox="1"/>
          <p:nvPr/>
        </p:nvSpPr>
        <p:spPr>
          <a:xfrm>
            <a:off x="6794818" y="1595438"/>
            <a:ext cx="5080000" cy="337185"/>
          </a:xfrm>
          <a:prstGeom prst="rect">
            <a:avLst/>
          </a:prstGeom>
        </p:spPr>
        <p:txBody>
          <a:bodyPr>
            <a:spAutoFit/>
          </a:bodyPr>
          <a:lstStyle/>
          <a:p>
            <a:pPr marL="0" indent="0" algn="just" defTabSz="266700">
              <a:spcBef>
                <a:spcPct val="0"/>
              </a:spcBef>
              <a:spcAft>
                <a:spcPct val="0"/>
              </a:spcAft>
            </a:pPr>
            <a:r>
              <a:rPr lang="zh-CN" altLang="en-US" sz="1600" i="0">
                <a:solidFill>
                  <a:srgbClr val="333333"/>
                </a:solidFill>
                <a:latin typeface="Arial" panose="020B0604020202020204"/>
                <a:ea typeface="Arial" panose="020B0604020202020204"/>
              </a:rPr>
              <a:t>链式</a:t>
            </a:r>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模式</a:t>
            </a:r>
            <a:endParaRPr lang="zh-CN" altLang="en-US" sz="1600" i="0">
              <a:solidFill>
                <a:srgbClr val="333333"/>
              </a:solidFill>
              <a:latin typeface="Arial" panose="020B0604020202020204"/>
              <a:ea typeface="Arial" panose="020B0604020202020204"/>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SPI</a:t>
            </a:r>
            <a:r>
              <a:rPr lang="zh-CN" altLang="en-US" sz="2000" b="1" spc="300">
                <a:latin typeface="+mj-ea"/>
                <a:ea typeface="+mj-ea"/>
                <a:sym typeface="+mn-ea"/>
              </a:rPr>
              <a:t>的主要特征</a:t>
            </a:r>
            <a:endParaRPr lang="zh-CN" altLang="en-US" sz="2000"/>
          </a:p>
        </p:txBody>
      </p:sp>
      <p:sp>
        <p:nvSpPr>
          <p:cNvPr id="7" name="文本框 6"/>
          <p:cNvSpPr txBox="1"/>
          <p:nvPr/>
        </p:nvSpPr>
        <p:spPr>
          <a:xfrm>
            <a:off x="511175" y="1473835"/>
            <a:ext cx="10577195" cy="5106035"/>
          </a:xfrm>
          <a:prstGeom prst="rect">
            <a:avLst/>
          </a:prstGeom>
        </p:spPr>
        <p:txBody>
          <a:bodyPr wrap="square">
            <a:noAutofit/>
          </a:bodyPr>
          <a:lstStyle/>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1.</a:t>
            </a:r>
            <a:r>
              <a:rPr lang="zh-CN" altLang="en-US" sz="1600" b="0" i="0">
                <a:solidFill>
                  <a:srgbClr val="2A2A2A"/>
                </a:solidFill>
                <a:latin typeface="Arial" panose="020B0604020202020204"/>
                <a:ea typeface="Arial" panose="020B0604020202020204"/>
              </a:rPr>
              <a:t>引脚复用功能与时钟使能：需配置相关引脚的复用功能，使能</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时钟。例如在</a:t>
            </a:r>
            <a:r>
              <a:rPr lang="en-US" altLang="zh-CN" sz="1600" b="0" i="0">
                <a:solidFill>
                  <a:srgbClr val="2A2A2A"/>
                </a:solidFill>
                <a:latin typeface="Arial" panose="020B0604020202020204"/>
                <a:ea typeface="Arial" panose="020B0604020202020204"/>
              </a:rPr>
              <a:t>STM32</a:t>
            </a:r>
            <a:r>
              <a:rPr lang="zh-CN" altLang="en-US" sz="1600" b="0" i="0">
                <a:solidFill>
                  <a:srgbClr val="2A2A2A"/>
                </a:solidFill>
                <a:latin typeface="Arial" panose="020B0604020202020204"/>
                <a:ea typeface="Arial" panose="020B0604020202020204"/>
              </a:rPr>
              <a:t>中，通过</a:t>
            </a:r>
            <a:r>
              <a:rPr lang="en-US" altLang="zh-CN" sz="1600" b="0" i="0">
                <a:solidFill>
                  <a:srgbClr val="2A2A2A"/>
                </a:solidFill>
                <a:latin typeface="Arial" panose="020B0604020202020204"/>
                <a:ea typeface="Arial" panose="020B0604020202020204"/>
              </a:rPr>
              <a:t>GPIO_Init</a:t>
            </a:r>
            <a:r>
              <a:rPr lang="zh-CN" altLang="en-US" sz="1600" b="0" i="0">
                <a:solidFill>
                  <a:srgbClr val="2A2A2A"/>
                </a:solidFill>
                <a:latin typeface="Arial" panose="020B0604020202020204"/>
                <a:ea typeface="Arial" panose="020B0604020202020204"/>
              </a:rPr>
              <a:t>函数初始化引脚，并调用</a:t>
            </a:r>
            <a:r>
              <a:rPr lang="en-US" altLang="zh-CN" sz="1600" b="0" i="0">
                <a:solidFill>
                  <a:srgbClr val="2A2A2A"/>
                </a:solidFill>
                <a:latin typeface="Arial" panose="020B0604020202020204"/>
                <a:ea typeface="Arial" panose="020B0604020202020204"/>
              </a:rPr>
              <a:t>SPI_Cmd</a:t>
            </a:r>
            <a:r>
              <a:rPr lang="zh-CN" altLang="en-US" sz="1600" b="0" i="0">
                <a:solidFill>
                  <a:srgbClr val="2A2A2A"/>
                </a:solidFill>
                <a:latin typeface="Arial" panose="020B0604020202020204"/>
                <a:ea typeface="Arial" panose="020B0604020202020204"/>
              </a:rPr>
              <a:t>使能</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模块。</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2.</a:t>
            </a:r>
            <a:r>
              <a:rPr lang="zh-CN" altLang="en-US" sz="1600" b="0" i="0">
                <a:solidFill>
                  <a:srgbClr val="2A2A2A"/>
                </a:solidFill>
                <a:latin typeface="Arial" panose="020B0604020202020204"/>
                <a:ea typeface="Arial" panose="020B0604020202020204"/>
              </a:rPr>
              <a:t>工作模式设置：通过</a:t>
            </a:r>
            <a:r>
              <a:rPr lang="en-US" altLang="zh-CN" sz="1600" b="0" i="0">
                <a:solidFill>
                  <a:srgbClr val="2A2A2A"/>
                </a:solidFill>
                <a:latin typeface="Arial" panose="020B0604020202020204"/>
                <a:ea typeface="Arial" panose="020B0604020202020204"/>
              </a:rPr>
              <a:t>SPI_InitTypeDef</a:t>
            </a:r>
            <a:r>
              <a:rPr lang="zh-CN" altLang="en-US" sz="1600" b="0" i="0">
                <a:solidFill>
                  <a:srgbClr val="2A2A2A"/>
                </a:solidFill>
                <a:latin typeface="Arial" panose="020B0604020202020204"/>
                <a:ea typeface="Arial" panose="020B0604020202020204"/>
              </a:rPr>
              <a:t>结构体配置</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的工作模式，包括主从模式（</a:t>
            </a:r>
            <a:r>
              <a:rPr lang="en-US" altLang="zh-CN" sz="1600" b="0" i="0">
                <a:solidFill>
                  <a:srgbClr val="2A2A2A"/>
                </a:solidFill>
                <a:latin typeface="Arial" panose="020B0604020202020204"/>
                <a:ea typeface="Arial" panose="020B0604020202020204"/>
              </a:rPr>
              <a:t>SPI_Mode</a:t>
            </a:r>
            <a:r>
              <a:rPr lang="zh-CN" altLang="en-US" sz="1600" b="0" i="0">
                <a:solidFill>
                  <a:srgbClr val="2A2A2A"/>
                </a:solidFill>
                <a:latin typeface="Arial" panose="020B0604020202020204"/>
                <a:ea typeface="Arial" panose="020B0604020202020204"/>
              </a:rPr>
              <a:t>）、数据格式（</a:t>
            </a:r>
            <a:r>
              <a:rPr lang="en-US" altLang="zh-CN" sz="1600" b="0" i="0">
                <a:solidFill>
                  <a:srgbClr val="2A2A2A"/>
                </a:solidFill>
                <a:latin typeface="Arial" panose="020B0604020202020204"/>
                <a:ea typeface="Arial" panose="020B0604020202020204"/>
              </a:rPr>
              <a:t>SPI_DataSize</a:t>
            </a:r>
            <a:r>
              <a:rPr lang="zh-CN" altLang="en-US" sz="1600" b="0" i="0">
                <a:solidFill>
                  <a:srgbClr val="2A2A2A"/>
                </a:solidFill>
                <a:latin typeface="Arial" panose="020B0604020202020204"/>
                <a:ea typeface="Arial" panose="020B0604020202020204"/>
              </a:rPr>
              <a:t>）、时钟极性（</a:t>
            </a:r>
            <a:r>
              <a:rPr lang="en-US" altLang="zh-CN" sz="1600" b="0" i="0">
                <a:solidFill>
                  <a:srgbClr val="2A2A2A"/>
                </a:solidFill>
                <a:latin typeface="Arial" panose="020B0604020202020204"/>
                <a:ea typeface="Arial" panose="020B0604020202020204"/>
              </a:rPr>
              <a:t>SPI_CPOL</a:t>
            </a:r>
            <a:r>
              <a:rPr lang="zh-CN" altLang="en-US" sz="1600" b="0" i="0">
                <a:solidFill>
                  <a:srgbClr val="2A2A2A"/>
                </a:solidFill>
                <a:latin typeface="Arial" panose="020B0604020202020204"/>
                <a:ea typeface="Arial" panose="020B0604020202020204"/>
              </a:rPr>
              <a:t>）、时钟相位（</a:t>
            </a:r>
            <a:r>
              <a:rPr lang="en-US" altLang="zh-CN" sz="1600" b="0" i="0">
                <a:solidFill>
                  <a:srgbClr val="2A2A2A"/>
                </a:solidFill>
                <a:latin typeface="Arial" panose="020B0604020202020204"/>
                <a:ea typeface="Arial" panose="020B0604020202020204"/>
              </a:rPr>
              <a:t>SPI_CPHA</a:t>
            </a:r>
            <a:r>
              <a:rPr lang="zh-CN" altLang="en-US" sz="1600" b="0" i="0">
                <a:solidFill>
                  <a:srgbClr val="2A2A2A"/>
                </a:solidFill>
                <a:latin typeface="Arial" panose="020B0604020202020204"/>
                <a:ea typeface="Arial" panose="020B0604020202020204"/>
              </a:rPr>
              <a:t>）等。</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有四种工作模式，需根据从设备要求选择合适的模式。</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3.</a:t>
            </a:r>
            <a:r>
              <a:rPr lang="zh-CN" altLang="en-US" sz="1600" b="0" i="0">
                <a:solidFill>
                  <a:srgbClr val="2A2A2A"/>
                </a:solidFill>
                <a:latin typeface="Arial" panose="020B0604020202020204"/>
                <a:ea typeface="Arial" panose="020B0604020202020204"/>
              </a:rPr>
              <a:t>时钟频率配置：设置</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的时钟频率（</a:t>
            </a:r>
            <a:r>
              <a:rPr lang="en-US" altLang="zh-CN" sz="1600" b="0" i="0">
                <a:solidFill>
                  <a:srgbClr val="2A2A2A"/>
                </a:solidFill>
                <a:latin typeface="Arial" panose="020B0604020202020204"/>
                <a:ea typeface="Arial" panose="020B0604020202020204"/>
              </a:rPr>
              <a:t>SPI_BaudRatePrescaler</a:t>
            </a:r>
            <a:r>
              <a:rPr lang="zh-CN" altLang="en-US" sz="1600" b="0" i="0">
                <a:solidFill>
                  <a:srgbClr val="2A2A2A"/>
                </a:solidFill>
                <a:latin typeface="Arial" panose="020B0604020202020204"/>
                <a:ea typeface="Arial" panose="020B0604020202020204"/>
              </a:rPr>
              <a:t>），通常通过分频系数或预分频器实现。实际速率受限于从设备的最高支持频率，需参考设备手册。</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4.</a:t>
            </a:r>
            <a:r>
              <a:rPr lang="zh-CN" altLang="en-US" sz="1600" b="0" i="0">
                <a:solidFill>
                  <a:srgbClr val="2A2A2A"/>
                </a:solidFill>
                <a:latin typeface="Arial" panose="020B0604020202020204"/>
                <a:ea typeface="Arial" panose="020B0604020202020204"/>
              </a:rPr>
              <a:t>片选信号控制：配置片选信号（</a:t>
            </a:r>
            <a:r>
              <a:rPr lang="en-US" altLang="zh-CN" sz="1600" b="0" i="0">
                <a:solidFill>
                  <a:srgbClr val="2A2A2A"/>
                </a:solidFill>
                <a:latin typeface="Arial" panose="020B0604020202020204"/>
                <a:ea typeface="Arial" panose="020B0604020202020204"/>
              </a:rPr>
              <a:t>CS/SS</a:t>
            </a:r>
            <a:r>
              <a:rPr lang="zh-CN" altLang="en-US" sz="1600" b="0" i="0">
                <a:solidFill>
                  <a:srgbClr val="2A2A2A"/>
                </a:solidFill>
                <a:latin typeface="Arial" panose="020B0604020202020204"/>
                <a:ea typeface="Arial" panose="020B0604020202020204"/>
              </a:rPr>
              <a:t>）的极性和行为。片选信号通常为低电平有效，用于选择从设备。在多从机配置中，需为每个从机提供单独的片选信号。</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5.</a:t>
            </a:r>
            <a:r>
              <a:rPr lang="zh-CN" altLang="en-US" sz="1600" b="0" i="0">
                <a:solidFill>
                  <a:srgbClr val="2A2A2A"/>
                </a:solidFill>
                <a:latin typeface="Arial" panose="020B0604020202020204"/>
                <a:ea typeface="Arial" panose="020B0604020202020204"/>
              </a:rPr>
              <a:t>数据传输顺序：配置数据传输的顺序（</a:t>
            </a:r>
            <a:r>
              <a:rPr lang="en-US" altLang="zh-CN" sz="1600" b="0" i="0">
                <a:solidFill>
                  <a:srgbClr val="2A2A2A"/>
                </a:solidFill>
                <a:latin typeface="Arial" panose="020B0604020202020204"/>
                <a:ea typeface="Arial" panose="020B0604020202020204"/>
              </a:rPr>
              <a:t>SPI_FirstBit</a:t>
            </a:r>
            <a:r>
              <a:rPr lang="zh-CN" altLang="en-US" sz="1600" b="0" i="0">
                <a:solidFill>
                  <a:srgbClr val="2A2A2A"/>
                </a:solidFill>
                <a:latin typeface="Arial" panose="020B0604020202020204"/>
                <a:ea typeface="Arial" panose="020B0604020202020204"/>
              </a:rPr>
              <a:t>），即</a:t>
            </a:r>
            <a:r>
              <a:rPr lang="en-US" altLang="zh-CN" sz="1600" b="0" i="0">
                <a:solidFill>
                  <a:srgbClr val="2A2A2A"/>
                </a:solidFill>
                <a:latin typeface="Arial" panose="020B0604020202020204"/>
                <a:ea typeface="Arial" panose="020B0604020202020204"/>
              </a:rPr>
              <a:t>MSB</a:t>
            </a:r>
            <a:r>
              <a:rPr lang="zh-CN" altLang="en-US" sz="1600" b="0" i="0">
                <a:solidFill>
                  <a:srgbClr val="2A2A2A"/>
                </a:solidFill>
                <a:latin typeface="Arial" panose="020B0604020202020204"/>
                <a:ea typeface="Arial" panose="020B0604020202020204"/>
              </a:rPr>
              <a:t>（最高有效位）在前还是</a:t>
            </a:r>
            <a:r>
              <a:rPr lang="en-US" altLang="zh-CN" sz="1600" b="0" i="0">
                <a:solidFill>
                  <a:srgbClr val="2A2A2A"/>
                </a:solidFill>
                <a:latin typeface="Arial" panose="020B0604020202020204"/>
                <a:ea typeface="Arial" panose="020B0604020202020204"/>
              </a:rPr>
              <a:t>LSB</a:t>
            </a:r>
            <a:r>
              <a:rPr lang="zh-CN" altLang="en-US" sz="1600" b="0" i="0">
                <a:solidFill>
                  <a:srgbClr val="2A2A2A"/>
                </a:solidFill>
                <a:latin typeface="Arial" panose="020B0604020202020204"/>
                <a:ea typeface="Arial" panose="020B0604020202020204"/>
              </a:rPr>
              <a:t>（最低有效位）在前。</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CRC</a:t>
            </a:r>
            <a:r>
              <a:rPr lang="zh-CN" altLang="en-US" sz="1600" b="0" i="0">
                <a:solidFill>
                  <a:srgbClr val="2A2A2A"/>
                </a:solidFill>
                <a:latin typeface="Arial" panose="020B0604020202020204"/>
                <a:ea typeface="Arial" panose="020B0604020202020204"/>
              </a:rPr>
              <a:t>校验配置（可选）：通过</a:t>
            </a:r>
            <a:r>
              <a:rPr lang="en-US" altLang="zh-CN" sz="1600" b="0" i="0">
                <a:solidFill>
                  <a:srgbClr val="2A2A2A"/>
                </a:solidFill>
                <a:latin typeface="Arial" panose="020B0604020202020204"/>
                <a:ea typeface="Arial" panose="020B0604020202020204"/>
              </a:rPr>
              <a:t>SPI_CRCPolynomial</a:t>
            </a:r>
            <a:r>
              <a:rPr lang="zh-CN" altLang="en-US" sz="1600" b="0" i="0">
                <a:solidFill>
                  <a:srgbClr val="2A2A2A"/>
                </a:solidFill>
                <a:latin typeface="Arial" panose="020B0604020202020204"/>
                <a:ea typeface="Arial" panose="020B0604020202020204"/>
              </a:rPr>
              <a:t>设置</a:t>
            </a:r>
            <a:r>
              <a:rPr lang="en-US" altLang="zh-CN" sz="1600" b="0" i="0">
                <a:solidFill>
                  <a:srgbClr val="2A2A2A"/>
                </a:solidFill>
                <a:latin typeface="Arial" panose="020B0604020202020204"/>
                <a:ea typeface="Arial" panose="020B0604020202020204"/>
              </a:rPr>
              <a:t>CRC</a:t>
            </a:r>
            <a:r>
              <a:rPr lang="zh-CN" altLang="en-US" sz="1600" b="0" i="0">
                <a:solidFill>
                  <a:srgbClr val="2A2A2A"/>
                </a:solidFill>
                <a:latin typeface="Arial" panose="020B0604020202020204"/>
                <a:ea typeface="Arial" panose="020B0604020202020204"/>
              </a:rPr>
              <a:t>校验多项式，以提高通信可靠性。</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6.</a:t>
            </a:r>
            <a:r>
              <a:rPr lang="zh-CN" altLang="en-US" sz="1600" b="0" i="0">
                <a:solidFill>
                  <a:srgbClr val="2A2A2A"/>
                </a:solidFill>
                <a:latin typeface="Arial" panose="020B0604020202020204"/>
                <a:ea typeface="Arial" panose="020B0604020202020204"/>
              </a:rPr>
              <a:t>中断与状态标志：配置</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的中断使能，并通过状态标志（如</a:t>
            </a:r>
            <a:r>
              <a:rPr lang="en-US" altLang="zh-CN" sz="1600" b="0" i="0">
                <a:solidFill>
                  <a:srgbClr val="2A2A2A"/>
                </a:solidFill>
                <a:latin typeface="Arial" panose="020B0604020202020204"/>
                <a:ea typeface="Arial" panose="020B0604020202020204"/>
              </a:rPr>
              <a:t>SPI_I2S_FLAG_RXNE</a:t>
            </a:r>
            <a:r>
              <a:rPr lang="zh-CN" altLang="en-US" sz="1600" b="0" i="0">
                <a:solidFill>
                  <a:srgbClr val="2A2A2A"/>
                </a:solidFill>
                <a:latin typeface="Arial" panose="020B0604020202020204"/>
                <a:ea typeface="Arial" panose="020B0604020202020204"/>
              </a:rPr>
              <a:t>）监控数据传输状态。</a:t>
            </a:r>
            <a:endParaRPr lang="zh-CN" altLang="en-US" sz="1600" b="0" i="0">
              <a:solidFill>
                <a:srgbClr val="2A2A2A"/>
              </a:solidFill>
              <a:latin typeface="Arial" panose="020B0604020202020204"/>
              <a:ea typeface="Arial" panose="020B0604020202020204"/>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SPI</a:t>
            </a:r>
            <a:r>
              <a:rPr lang="zh-CN" altLang="en-US" sz="2000" b="1" spc="300">
                <a:latin typeface="+mj-ea"/>
                <a:ea typeface="+mj-ea"/>
                <a:sym typeface="+mn-ea"/>
              </a:rPr>
              <a:t>的主要特征</a:t>
            </a:r>
            <a:endParaRPr lang="zh-CN" altLang="en-US" sz="2000"/>
          </a:p>
        </p:txBody>
      </p:sp>
      <p:sp>
        <p:nvSpPr>
          <p:cNvPr id="7" name="文本框 6"/>
          <p:cNvSpPr txBox="1"/>
          <p:nvPr/>
        </p:nvSpPr>
        <p:spPr>
          <a:xfrm>
            <a:off x="511175" y="1473835"/>
            <a:ext cx="10577195" cy="1633220"/>
          </a:xfrm>
          <a:prstGeom prst="rect">
            <a:avLst/>
          </a:prstGeom>
        </p:spPr>
        <p:txBody>
          <a:bodyPr wrap="square">
            <a:noAutofit/>
          </a:bodyPr>
          <a:lstStyle/>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时钟极性和时钟相位</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zh-CN" altLang="en-US" sz="1600" b="0" i="0">
                <a:solidFill>
                  <a:srgbClr val="2A2A2A"/>
                </a:solidFill>
                <a:latin typeface="Arial" panose="020B0604020202020204"/>
                <a:ea typeface="Arial" panose="020B0604020202020204"/>
              </a:rPr>
              <a:t>在</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中，主要可以选择时钟极性和时钟相位。</a:t>
            </a:r>
            <a:r>
              <a:rPr lang="en-US" altLang="zh-CN" sz="1600" b="0" i="0">
                <a:solidFill>
                  <a:srgbClr val="2A2A2A"/>
                </a:solidFill>
                <a:latin typeface="Arial" panose="020B0604020202020204"/>
                <a:ea typeface="Arial" panose="020B0604020202020204"/>
              </a:rPr>
              <a:t>CPOL </a:t>
            </a:r>
            <a:r>
              <a:rPr lang="zh-CN" altLang="en-US" sz="1600" b="0" i="0">
                <a:solidFill>
                  <a:srgbClr val="2A2A2A"/>
                </a:solidFill>
                <a:latin typeface="Arial" panose="020B0604020202020204"/>
                <a:ea typeface="Arial" panose="020B0604020202020204"/>
              </a:rPr>
              <a:t>位设置空闲状态期间时钟信号的极性。空闲状态定义为</a:t>
            </a:r>
            <a:r>
              <a:rPr lang="en-US" altLang="zh-CN" sz="1600" b="0" i="0">
                <a:solidFill>
                  <a:srgbClr val="2A2A2A"/>
                </a:solidFill>
                <a:latin typeface="Arial" panose="020B0604020202020204"/>
                <a:ea typeface="Arial" panose="020B0604020202020204"/>
              </a:rPr>
              <a:t>CS</a:t>
            </a:r>
            <a:r>
              <a:rPr lang="zh-CN" altLang="en-US" sz="1600" b="0" i="0">
                <a:solidFill>
                  <a:srgbClr val="2A2A2A"/>
                </a:solidFill>
                <a:latin typeface="Arial" panose="020B0604020202020204"/>
                <a:ea typeface="Arial" panose="020B0604020202020204"/>
              </a:rPr>
              <a:t>为高电平并在传输开始时转变为低电平以及</a:t>
            </a:r>
            <a:r>
              <a:rPr lang="en-US" altLang="zh-CN" sz="1600" b="0" i="0">
                <a:solidFill>
                  <a:srgbClr val="2A2A2A"/>
                </a:solidFill>
                <a:latin typeface="Arial" panose="020B0604020202020204"/>
                <a:ea typeface="Arial" panose="020B0604020202020204"/>
              </a:rPr>
              <a:t>CS</a:t>
            </a:r>
            <a:r>
              <a:rPr lang="zh-CN" altLang="en-US" sz="1600" b="0" i="0">
                <a:solidFill>
                  <a:srgbClr val="2A2A2A"/>
                </a:solidFill>
                <a:latin typeface="Arial" panose="020B0604020202020204"/>
                <a:ea typeface="Arial" panose="020B0604020202020204"/>
              </a:rPr>
              <a:t>为低电平并在传输结束时转变为高电平的时段。</a:t>
            </a:r>
            <a:r>
              <a:rPr lang="en-US" altLang="zh-CN" sz="1600" b="0" i="0">
                <a:solidFill>
                  <a:srgbClr val="2A2A2A"/>
                </a:solidFill>
                <a:latin typeface="Arial" panose="020B0604020202020204"/>
                <a:ea typeface="Arial" panose="020B0604020202020204"/>
              </a:rPr>
              <a:t>CPHA </a:t>
            </a:r>
            <a:r>
              <a:rPr lang="zh-CN" altLang="en-US" sz="1600" b="0" i="0">
                <a:solidFill>
                  <a:srgbClr val="2A2A2A"/>
                </a:solidFill>
                <a:latin typeface="Arial" panose="020B0604020202020204"/>
                <a:ea typeface="Arial" panose="020B0604020202020204"/>
              </a:rPr>
              <a:t>位选择时钟相位。根据</a:t>
            </a:r>
            <a:r>
              <a:rPr lang="en-US" altLang="zh-CN" sz="1600" b="0" i="0">
                <a:solidFill>
                  <a:srgbClr val="2A2A2A"/>
                </a:solidFill>
                <a:latin typeface="Arial" panose="020B0604020202020204"/>
                <a:ea typeface="Arial" panose="020B0604020202020204"/>
              </a:rPr>
              <a:t> CPHA </a:t>
            </a:r>
            <a:r>
              <a:rPr lang="zh-CN" altLang="en-US" sz="1600" b="0" i="0">
                <a:solidFill>
                  <a:srgbClr val="2A2A2A"/>
                </a:solidFill>
                <a:latin typeface="Arial" panose="020B0604020202020204"/>
                <a:ea typeface="Arial" panose="020B0604020202020204"/>
              </a:rPr>
              <a:t>位，上升或下降时钟沿用于采样和</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或移位数据。主节点必须根据子节点的要求选择时钟极性和时钟相位。根据</a:t>
            </a:r>
            <a:r>
              <a:rPr lang="en-US" altLang="zh-CN" sz="1600" b="0" i="0">
                <a:solidFill>
                  <a:srgbClr val="2A2A2A"/>
                </a:solidFill>
                <a:latin typeface="Arial" panose="020B0604020202020204"/>
                <a:ea typeface="Arial" panose="020B0604020202020204"/>
              </a:rPr>
              <a:t> CPOL </a:t>
            </a:r>
            <a:r>
              <a:rPr lang="zh-CN" altLang="en-US" sz="1600" b="0" i="0">
                <a:solidFill>
                  <a:srgbClr val="2A2A2A"/>
                </a:solidFill>
                <a:latin typeface="Arial" panose="020B0604020202020204"/>
                <a:ea typeface="Arial" panose="020B0604020202020204"/>
              </a:rPr>
              <a:t>和</a:t>
            </a:r>
            <a:r>
              <a:rPr lang="en-US" altLang="zh-CN" sz="1600" b="0" i="0">
                <a:solidFill>
                  <a:srgbClr val="2A2A2A"/>
                </a:solidFill>
                <a:latin typeface="Arial" panose="020B0604020202020204"/>
                <a:ea typeface="Arial" panose="020B0604020202020204"/>
              </a:rPr>
              <a:t> CPHA </a:t>
            </a:r>
            <a:r>
              <a:rPr lang="zh-CN" altLang="en-US" sz="1600" b="0" i="0">
                <a:solidFill>
                  <a:srgbClr val="2A2A2A"/>
                </a:solidFill>
                <a:latin typeface="Arial" panose="020B0604020202020204"/>
                <a:ea typeface="Arial" panose="020B0604020202020204"/>
              </a:rPr>
              <a:t>位的选择，有四种</a:t>
            </a:r>
            <a:r>
              <a:rPr lang="en-US" altLang="zh-CN" sz="1600" b="0" i="0">
                <a:solidFill>
                  <a:srgbClr val="2A2A2A"/>
                </a:solidFill>
                <a:latin typeface="Arial" panose="020B0604020202020204"/>
                <a:ea typeface="Arial" panose="020B0604020202020204"/>
              </a:rPr>
              <a:t> SPI </a:t>
            </a:r>
            <a:r>
              <a:rPr lang="zh-CN" altLang="en-US" sz="1600" b="0" i="0">
                <a:solidFill>
                  <a:srgbClr val="2A2A2A"/>
                </a:solidFill>
                <a:latin typeface="Arial" panose="020B0604020202020204"/>
                <a:ea typeface="Arial" panose="020B0604020202020204"/>
              </a:rPr>
              <a:t>模式可用。</a:t>
            </a:r>
            <a:endParaRPr lang="zh-CN" altLang="en-US" sz="1600" b="0" i="0">
              <a:solidFill>
                <a:srgbClr val="2A2A2A"/>
              </a:solidFill>
              <a:latin typeface="Arial" panose="020B0604020202020204"/>
              <a:ea typeface="Arial" panose="020B0604020202020204"/>
            </a:endParaRPr>
          </a:p>
        </p:txBody>
      </p:sp>
      <p:sp>
        <p:nvSpPr>
          <p:cNvPr id="2" name="文本框 1"/>
          <p:cNvSpPr txBox="1"/>
          <p:nvPr/>
        </p:nvSpPr>
        <p:spPr>
          <a:xfrm>
            <a:off x="2786063" y="3339783"/>
            <a:ext cx="5080000" cy="337185"/>
          </a:xfrm>
          <a:prstGeom prst="rect">
            <a:avLst/>
          </a:prstGeom>
        </p:spPr>
        <p:txBody>
          <a:bodyPr>
            <a:spAutoFit/>
          </a:bodyPr>
          <a:lstStyle/>
          <a:p>
            <a:pPr marL="1333500" indent="266700" algn="just" defTabSz="266700">
              <a:spcBef>
                <a:spcPct val="0"/>
              </a:spcBef>
              <a:spcAft>
                <a:spcPct val="0"/>
              </a:spcAft>
            </a:pPr>
            <a:r>
              <a:rPr lang="zh-CN" altLang="en-US" sz="1600" b="1" i="0">
                <a:solidFill>
                  <a:srgbClr val="333333"/>
                </a:solidFill>
                <a:latin typeface="Arial" panose="020B0604020202020204"/>
                <a:ea typeface="Arial" panose="020B0604020202020204"/>
              </a:rPr>
              <a:t>四种 </a:t>
            </a:r>
            <a:r>
              <a:rPr lang="en-US" altLang="zh-CN" sz="1600" b="1" i="0">
                <a:solidFill>
                  <a:srgbClr val="333333"/>
                </a:solidFill>
                <a:latin typeface="Arial" panose="020B0604020202020204"/>
                <a:ea typeface="Arial" panose="020B0604020202020204"/>
              </a:rPr>
              <a:t>SPI </a:t>
            </a:r>
            <a:r>
              <a:rPr lang="zh-CN" altLang="en-US" sz="1600" b="1" i="0">
                <a:solidFill>
                  <a:srgbClr val="333333"/>
                </a:solidFill>
                <a:latin typeface="Arial" panose="020B0604020202020204"/>
                <a:ea typeface="Arial" panose="020B0604020202020204"/>
              </a:rPr>
              <a:t>模式</a:t>
            </a:r>
            <a:endParaRPr lang="zh-CN" altLang="en-US" sz="1600" b="1" i="0">
              <a:solidFill>
                <a:srgbClr val="333333"/>
              </a:solidFill>
              <a:latin typeface="Arial" panose="020B0604020202020204"/>
              <a:ea typeface="Arial" panose="020B0604020202020204"/>
            </a:endParaRPr>
          </a:p>
        </p:txBody>
      </p:sp>
      <p:graphicFrame>
        <p:nvGraphicFramePr>
          <p:cNvPr id="3" name="表格 2"/>
          <p:cNvGraphicFramePr/>
          <p:nvPr/>
        </p:nvGraphicFramePr>
        <p:xfrm>
          <a:off x="2786063" y="3676968"/>
          <a:ext cx="5568950" cy="2836928"/>
        </p:xfrm>
        <a:graphic>
          <a:graphicData uri="http://schemas.openxmlformats.org/drawingml/2006/table">
            <a:tbl>
              <a:tblPr/>
              <a:tblGrid>
                <a:gridCol w="729615"/>
                <a:gridCol w="677545"/>
                <a:gridCol w="937260"/>
                <a:gridCol w="1007110"/>
                <a:gridCol w="2217420"/>
              </a:tblGrid>
              <a:tr h="0">
                <a:tc>
                  <a:txBody>
                    <a:bodyPr/>
                    <a:lstStyle/>
                    <a:p>
                      <a:pPr marL="0" indent="0" algn="ctr" fontAlgn="ctr">
                        <a:lnSpc>
                          <a:spcPts val="1650"/>
                        </a:lnSpc>
                        <a:spcBef>
                          <a:spcPct val="0"/>
                        </a:spcBef>
                        <a:spcAft>
                          <a:spcPct val="0"/>
                        </a:spcAft>
                      </a:pPr>
                      <a:r>
                        <a:rPr lang="en-US" altLang="zh-CN" sz="1100" b="1" i="0">
                          <a:solidFill>
                            <a:srgbClr val="000000"/>
                          </a:solidFill>
                          <a:latin typeface="Arial" panose="020B0604020202020204"/>
                          <a:ea typeface="Arial" panose="020B0604020202020204"/>
                        </a:rPr>
                        <a:t>SPI</a:t>
                      </a:r>
                      <a:r>
                        <a:rPr lang="zh-CN" altLang="en-US" sz="1100" b="1" i="0">
                          <a:solidFill>
                            <a:srgbClr val="000000"/>
                          </a:solidFill>
                          <a:latin typeface="Arial" panose="020B0604020202020204"/>
                          <a:ea typeface="Arial" panose="020B0604020202020204"/>
                        </a:rPr>
                        <a:t>模式</a:t>
                      </a:r>
                      <a:endParaRPr lang="zh-CN" altLang="en-US" sz="1100" b="1" i="0">
                        <a:solidFill>
                          <a:srgbClr val="00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ctr" fontAlgn="ctr">
                        <a:lnSpc>
                          <a:spcPts val="1650"/>
                        </a:lnSpc>
                        <a:spcBef>
                          <a:spcPct val="0"/>
                        </a:spcBef>
                        <a:spcAft>
                          <a:spcPct val="0"/>
                        </a:spcAft>
                      </a:pPr>
                      <a:r>
                        <a:rPr lang="en-US" altLang="zh-CN" sz="1100" b="1" i="0">
                          <a:solidFill>
                            <a:srgbClr val="000000"/>
                          </a:solidFill>
                          <a:latin typeface="Arial" panose="020B0604020202020204"/>
                          <a:ea typeface="Arial" panose="020B0604020202020204"/>
                        </a:rPr>
                        <a:t>CPOL</a:t>
                      </a:r>
                      <a:endParaRPr lang="en-US" altLang="zh-CN" sz="1100" b="1" i="0">
                        <a:solidFill>
                          <a:srgbClr val="00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ctr" fontAlgn="ctr">
                        <a:lnSpc>
                          <a:spcPts val="1650"/>
                        </a:lnSpc>
                        <a:spcBef>
                          <a:spcPct val="0"/>
                        </a:spcBef>
                        <a:spcAft>
                          <a:spcPct val="0"/>
                        </a:spcAft>
                      </a:pPr>
                      <a:r>
                        <a:rPr lang="en-US" altLang="zh-CN" sz="1100" b="1" i="0">
                          <a:solidFill>
                            <a:srgbClr val="000000"/>
                          </a:solidFill>
                          <a:latin typeface="Arial" panose="020B0604020202020204"/>
                          <a:ea typeface="Arial" panose="020B0604020202020204"/>
                        </a:rPr>
                        <a:t>CPHA</a:t>
                      </a:r>
                      <a:endParaRPr lang="en-US" altLang="zh-CN" sz="1100" b="1" i="0">
                        <a:solidFill>
                          <a:srgbClr val="00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ctr" fontAlgn="ctr">
                        <a:lnSpc>
                          <a:spcPts val="1650"/>
                        </a:lnSpc>
                        <a:spcBef>
                          <a:spcPct val="0"/>
                        </a:spcBef>
                        <a:spcAft>
                          <a:spcPct val="0"/>
                        </a:spcAft>
                      </a:pPr>
                      <a:r>
                        <a:rPr lang="zh-CN" sz="1100" b="1" i="0">
                          <a:solidFill>
                            <a:srgbClr val="000000"/>
                          </a:solidFill>
                          <a:latin typeface="Arial" panose="020B0604020202020204"/>
                          <a:ea typeface="Arial" panose="020B0604020202020204"/>
                        </a:rPr>
                        <a:t>空闲状态下的时钟极性</a:t>
                      </a:r>
                      <a:endParaRPr lang="zh-CN" sz="1100" b="1" i="0">
                        <a:solidFill>
                          <a:srgbClr val="00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ctr" fontAlgn="ctr">
                        <a:lnSpc>
                          <a:spcPts val="1650"/>
                        </a:lnSpc>
                        <a:spcBef>
                          <a:spcPct val="0"/>
                        </a:spcBef>
                        <a:spcAft>
                          <a:spcPct val="0"/>
                        </a:spcAft>
                      </a:pPr>
                      <a:r>
                        <a:rPr lang="zh-CN" sz="1100" b="1" i="0">
                          <a:solidFill>
                            <a:srgbClr val="000000"/>
                          </a:solidFill>
                          <a:latin typeface="Arial" panose="020B0604020202020204"/>
                          <a:ea typeface="Arial" panose="020B0604020202020204"/>
                        </a:rPr>
                        <a:t>用于采样和</a:t>
                      </a:r>
                      <a:r>
                        <a:rPr lang="en-US" altLang="zh-CN" sz="1100" b="1" i="0">
                          <a:solidFill>
                            <a:srgbClr val="000000"/>
                          </a:solidFill>
                          <a:latin typeface="Arial" panose="020B0604020202020204"/>
                          <a:ea typeface="Arial" panose="020B0604020202020204"/>
                        </a:rPr>
                        <a:t>/</a:t>
                      </a:r>
                      <a:r>
                        <a:rPr lang="zh-CN" altLang="en-US" sz="1100" b="1" i="0">
                          <a:solidFill>
                            <a:srgbClr val="000000"/>
                          </a:solidFill>
                          <a:latin typeface="Arial" panose="020B0604020202020204"/>
                          <a:ea typeface="Arial" panose="020B0604020202020204"/>
                        </a:rPr>
                        <a:t>或移位数据的时钟相位</a:t>
                      </a:r>
                      <a:endParaRPr lang="zh-CN" altLang="en-US" sz="1100" b="1" i="0">
                        <a:solidFill>
                          <a:srgbClr val="00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r>
              <a:tr h="0">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0</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0</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0</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逻辑低电平</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数据在上升沿采样并在下降沿移出</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r>
              <a:tr h="0">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1</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0</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1</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逻辑低电平</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数据在下降沿采样并在上升沿移出</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r>
              <a:tr h="0">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2</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1</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0</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逻辑高电平</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数据在下降沿采样并在上升沿移出</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r>
              <a:tr h="0">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3</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1</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en-US" altLang="zh-CN" sz="1100" b="0" i="0">
                          <a:solidFill>
                            <a:schemeClr val="bg2"/>
                          </a:solidFill>
                          <a:latin typeface="Arial" panose="020B0604020202020204"/>
                          <a:ea typeface="Arial" panose="020B0604020202020204"/>
                        </a:rPr>
                        <a:t>1</a:t>
                      </a:r>
                      <a:endParaRPr lang="en-US" altLang="zh-CN" sz="1100" b="0" i="0">
                        <a:solidFill>
                          <a:schemeClr val="bg2"/>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逻辑高电平</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c>
                  <a:txBody>
                    <a:bodyPr/>
                    <a:lstStyle/>
                    <a:p>
                      <a:pPr marL="0" indent="0" algn="l">
                        <a:lnSpc>
                          <a:spcPts val="1650"/>
                        </a:lnSpc>
                        <a:spcBef>
                          <a:spcPct val="0"/>
                        </a:spcBef>
                        <a:spcAft>
                          <a:spcPct val="0"/>
                        </a:spcAft>
                      </a:pPr>
                      <a:r>
                        <a:rPr lang="zh-CN" sz="1100" b="1" i="0">
                          <a:solidFill>
                            <a:srgbClr val="FF0000"/>
                          </a:solidFill>
                          <a:latin typeface="Arial" panose="020B0604020202020204"/>
                          <a:ea typeface="Arial" panose="020B0604020202020204"/>
                        </a:rPr>
                        <a:t>数据在上升沿采样并在下降沿移出</a:t>
                      </a:r>
                      <a:endParaRPr lang="zh-CN" sz="1100" b="1" i="0">
                        <a:solidFill>
                          <a:srgbClr val="FF0000"/>
                        </a:solidFill>
                        <a:latin typeface="Arial" panose="020B0604020202020204"/>
                        <a:ea typeface="Arial" panose="020B0604020202020204"/>
                      </a:endParaRPr>
                    </a:p>
                  </a:txBody>
                  <a:tcPr marL="76200" marR="76200" marT="76200" marB="76200" anchor="ctr">
                    <a:lnL w="9525" cap="flat" cmpd="sng">
                      <a:solidFill>
                        <a:srgbClr val="DDDDDD"/>
                      </a:solidFill>
                      <a:prstDash val="solid"/>
                      <a:headEnd type="none" w="med" len="med"/>
                      <a:tailEnd type="none" w="med" len="med"/>
                    </a:lnL>
                    <a:lnR w="9525" cap="flat" cmpd="sng">
                      <a:solidFill>
                        <a:srgbClr val="DDDDDD"/>
                      </a:solidFill>
                      <a:prstDash val="solid"/>
                      <a:headEnd type="none" w="med" len="med"/>
                      <a:tailEnd type="none" w="med" len="med"/>
                    </a:lnR>
                    <a:lnT w="9525" cap="flat" cmpd="sng">
                      <a:solidFill>
                        <a:srgbClr val="DDDDDD"/>
                      </a:solidFill>
                      <a:prstDash val="solid"/>
                      <a:headEnd type="none" w="med" len="med"/>
                      <a:tailEnd type="none" w="med" len="med"/>
                    </a:lnT>
                    <a:lnB w="9525" cap="flat" cmpd="sng">
                      <a:solidFill>
                        <a:srgbClr val="DDDDDD"/>
                      </a:solidFill>
                      <a:prstDash val="solid"/>
                      <a:headEnd type="none" w="med" len="med"/>
                      <a:tailEnd type="none" w="med" len="med"/>
                    </a:lnB>
                    <a:solidFill>
                      <a:srgbClr val="FFFFFF"/>
                    </a:solidFill>
                  </a:tcPr>
                </a:tc>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SPI</a:t>
            </a:r>
            <a:r>
              <a:rPr lang="zh-CN" altLang="en-US" sz="2000" b="1" spc="300">
                <a:latin typeface="+mj-ea"/>
                <a:ea typeface="+mj-ea"/>
                <a:sym typeface="+mn-ea"/>
              </a:rPr>
              <a:t>的主要特征</a:t>
            </a:r>
            <a:endParaRPr lang="zh-CN" altLang="en-US" sz="2000"/>
          </a:p>
        </p:txBody>
      </p:sp>
      <p:sp>
        <p:nvSpPr>
          <p:cNvPr id="4" name="文本框 3"/>
          <p:cNvSpPr txBox="1"/>
          <p:nvPr/>
        </p:nvSpPr>
        <p:spPr>
          <a:xfrm>
            <a:off x="333058" y="1441927"/>
            <a:ext cx="5080000" cy="1568450"/>
          </a:xfrm>
          <a:prstGeom prst="rect">
            <a:avLst/>
          </a:prstGeom>
        </p:spPr>
        <p:txBody>
          <a:bodyPr>
            <a:spAutoFit/>
          </a:bodyPr>
          <a:lstStyle/>
          <a:p>
            <a:pPr marL="0" indent="0" algn="just" defTabSz="266700">
              <a:spcBef>
                <a:spcPct val="0"/>
              </a:spcBef>
              <a:spcAft>
                <a:spcPct val="0"/>
              </a:spcAft>
            </a:pPr>
            <a:r>
              <a:rPr lang="zh-CN" altLang="en-US" sz="1600" i="0">
                <a:solidFill>
                  <a:srgbClr val="333333"/>
                </a:solidFill>
                <a:latin typeface="Arial" panose="020B0604020202020204"/>
                <a:ea typeface="Arial" panose="020B0604020202020204"/>
              </a:rPr>
              <a:t>在这些示例中，数据显示在 </a:t>
            </a:r>
            <a:r>
              <a:rPr lang="en-US" altLang="zh-CN" sz="1600" i="0">
                <a:solidFill>
                  <a:srgbClr val="333333"/>
                </a:solidFill>
                <a:latin typeface="Arial" panose="020B0604020202020204"/>
                <a:ea typeface="Arial" panose="020B0604020202020204"/>
              </a:rPr>
              <a:t>MOSI </a:t>
            </a:r>
            <a:r>
              <a:rPr lang="zh-CN" altLang="en-US" sz="1600" i="0">
                <a:solidFill>
                  <a:srgbClr val="333333"/>
                </a:solidFill>
                <a:latin typeface="Arial" panose="020B0604020202020204"/>
                <a:ea typeface="Arial" panose="020B0604020202020204"/>
              </a:rPr>
              <a:t>和 </a:t>
            </a:r>
            <a:r>
              <a:rPr lang="en-US" altLang="zh-CN" sz="1600" i="0">
                <a:solidFill>
                  <a:srgbClr val="333333"/>
                </a:solidFill>
                <a:latin typeface="Arial" panose="020B0604020202020204"/>
                <a:ea typeface="Arial" panose="020B0604020202020204"/>
              </a:rPr>
              <a:t>MISO </a:t>
            </a:r>
            <a:r>
              <a:rPr lang="zh-CN" altLang="en-US" sz="1600" i="0">
                <a:solidFill>
                  <a:srgbClr val="333333"/>
                </a:solidFill>
                <a:latin typeface="Arial" panose="020B0604020202020204"/>
                <a:ea typeface="Arial" panose="020B0604020202020204"/>
              </a:rPr>
              <a:t>线上。传输的开始和结束用绿色虚线表示，采样边缘用橙色表示，移位边缘用蓝色表示。请注意，这些数字仅供说明之用。为了成功进行 </a:t>
            </a:r>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通信，用户必须参考产品数据表并确保满足器件的时序规范。</a:t>
            </a:r>
            <a:endParaRPr lang="zh-CN" altLang="en-US"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p:txBody>
      </p:sp>
      <p:pic>
        <p:nvPicPr>
          <p:cNvPr id="5" name="图片 4"/>
          <p:cNvPicPr/>
          <p:nvPr/>
        </p:nvPicPr>
        <p:blipFill>
          <a:blip r:embed="rId1"/>
          <a:stretch>
            <a:fillRect/>
          </a:stretch>
        </p:blipFill>
        <p:spPr>
          <a:xfrm>
            <a:off x="333058" y="3102452"/>
            <a:ext cx="5496242" cy="1600517"/>
          </a:xfrm>
          <a:prstGeom prst="rect">
            <a:avLst/>
          </a:prstGeom>
        </p:spPr>
      </p:pic>
      <p:sp>
        <p:nvSpPr>
          <p:cNvPr id="8" name="文本框 7"/>
          <p:cNvSpPr txBox="1"/>
          <p:nvPr/>
        </p:nvSpPr>
        <p:spPr>
          <a:xfrm>
            <a:off x="541338" y="4794568"/>
            <a:ext cx="5080000" cy="583565"/>
          </a:xfrm>
          <a:prstGeom prst="rect">
            <a:avLst/>
          </a:prstGeom>
        </p:spPr>
        <p:txBody>
          <a:bodyPr>
            <a:spAutoFit/>
          </a:bodyPr>
          <a:lstStyle/>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模式 </a:t>
            </a:r>
            <a:r>
              <a:rPr lang="en-US" altLang="zh-CN" sz="1600" i="0">
                <a:solidFill>
                  <a:srgbClr val="333333"/>
                </a:solidFill>
                <a:latin typeface="Arial" panose="020B0604020202020204"/>
                <a:ea typeface="Arial" panose="020B0604020202020204"/>
              </a:rPr>
              <a:t>0</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CPOL = 0</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CPHA = 0</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CLK </a:t>
            </a:r>
            <a:r>
              <a:rPr lang="zh-CN" altLang="en-US" sz="1600" i="0">
                <a:solidFill>
                  <a:srgbClr val="333333"/>
                </a:solidFill>
                <a:latin typeface="Arial" panose="020B0604020202020204"/>
                <a:ea typeface="Arial" panose="020B0604020202020204"/>
              </a:rPr>
              <a:t>空闲状态 </a:t>
            </a:r>
            <a:r>
              <a:rPr lang="en-US" altLang="zh-CN" sz="1600" i="0">
                <a:solidFill>
                  <a:srgbClr val="333333"/>
                </a:solidFill>
                <a:latin typeface="Arial" panose="020B0604020202020204"/>
                <a:ea typeface="Arial" panose="020B0604020202020204"/>
              </a:rPr>
              <a:t>= </a:t>
            </a:r>
            <a:r>
              <a:rPr lang="zh-CN" altLang="en-US" sz="1600" i="0">
                <a:solidFill>
                  <a:srgbClr val="333333"/>
                </a:solidFill>
                <a:latin typeface="Arial" panose="020B0604020202020204"/>
                <a:ea typeface="Arial" panose="020B0604020202020204"/>
              </a:rPr>
              <a:t>低，数据在</a:t>
            </a:r>
            <a:r>
              <a:rPr lang="zh-CN" altLang="en-US" sz="1600" b="1" i="0">
                <a:solidFill>
                  <a:schemeClr val="bg2"/>
                </a:solidFill>
                <a:latin typeface="Arial" panose="020B0604020202020204"/>
                <a:ea typeface="Arial" panose="020B0604020202020204"/>
              </a:rPr>
              <a:t>上升沿采样并在下降沿移位</a:t>
            </a:r>
            <a:endParaRPr lang="zh-CN" altLang="en-US" sz="1600" b="1" i="0">
              <a:solidFill>
                <a:schemeClr val="bg2"/>
              </a:solidFill>
              <a:latin typeface="Arial" panose="020B0604020202020204"/>
              <a:ea typeface="Arial" panose="020B0604020202020204"/>
            </a:endParaRPr>
          </a:p>
        </p:txBody>
      </p:sp>
      <p:sp>
        <p:nvSpPr>
          <p:cNvPr id="9" name="文本框 8"/>
          <p:cNvSpPr txBox="1"/>
          <p:nvPr/>
        </p:nvSpPr>
        <p:spPr>
          <a:xfrm>
            <a:off x="6008053" y="1584802"/>
            <a:ext cx="5080000" cy="1076325"/>
          </a:xfrm>
          <a:prstGeom prst="rect">
            <a:avLst/>
          </a:prstGeom>
        </p:spPr>
        <p:txBody>
          <a:bodyPr>
            <a:spAutoFit/>
          </a:bodyPr>
          <a:lstStyle/>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a:t>
            </a:r>
            <a:r>
              <a:rPr lang="zh-CN" altLang="en-US" sz="1600" i="0">
                <a:solidFill>
                  <a:srgbClr val="333333"/>
                </a:solidFill>
                <a:latin typeface="Arial" panose="020B0604020202020204"/>
                <a:ea typeface="Arial" panose="020B0604020202020204"/>
              </a:rPr>
              <a:t>模式</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的时序图。在此模式下，时钟极性为</a:t>
            </a:r>
            <a:r>
              <a:rPr lang="en-US" altLang="zh-CN" sz="1600" i="0">
                <a:solidFill>
                  <a:srgbClr val="333333"/>
                </a:solidFill>
                <a:latin typeface="Arial" panose="020B0604020202020204"/>
                <a:ea typeface="Arial" panose="020B0604020202020204"/>
              </a:rPr>
              <a:t>0</a:t>
            </a:r>
            <a:r>
              <a:rPr lang="zh-CN" altLang="en-US" sz="1600" i="0">
                <a:solidFill>
                  <a:srgbClr val="333333"/>
                </a:solidFill>
                <a:latin typeface="Arial" panose="020B0604020202020204"/>
                <a:ea typeface="Arial" panose="020B0604020202020204"/>
              </a:rPr>
              <a:t>，表示</a:t>
            </a:r>
            <a:r>
              <a:rPr lang="zh-CN" altLang="en-US" sz="1600" b="1" i="0">
                <a:solidFill>
                  <a:schemeClr val="bg2"/>
                </a:solidFill>
                <a:latin typeface="Arial" panose="020B0604020202020204"/>
                <a:ea typeface="Arial" panose="020B0604020202020204"/>
              </a:rPr>
              <a:t>时钟信号的空闲状态为低电平</a:t>
            </a:r>
            <a:r>
              <a:rPr lang="zh-CN" altLang="en-US" sz="1600" i="0">
                <a:solidFill>
                  <a:srgbClr val="333333"/>
                </a:solidFill>
                <a:latin typeface="Arial" panose="020B0604020202020204"/>
                <a:ea typeface="Arial" panose="020B0604020202020204"/>
              </a:rPr>
              <a:t>。该模式下时钟相位为</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，表示在时钟信号的下降沿（橙色虚线所示）采样数据，在时钟信号的上升沿（蓝色虚线所示）移位数据。</a:t>
            </a:r>
            <a:endParaRPr lang="zh-CN" altLang="en-US" sz="1600" i="0">
              <a:solidFill>
                <a:srgbClr val="333333"/>
              </a:solidFill>
              <a:latin typeface="Arial" panose="020B0604020202020204"/>
              <a:ea typeface="Arial" panose="020B0604020202020204"/>
            </a:endParaRPr>
          </a:p>
        </p:txBody>
      </p:sp>
      <p:pic>
        <p:nvPicPr>
          <p:cNvPr id="10" name="图片 9"/>
          <p:cNvPicPr/>
          <p:nvPr/>
        </p:nvPicPr>
        <p:blipFill>
          <a:blip r:embed="rId2"/>
          <a:stretch>
            <a:fillRect/>
          </a:stretch>
        </p:blipFill>
        <p:spPr>
          <a:xfrm>
            <a:off x="6008370" y="3005455"/>
            <a:ext cx="5650865" cy="1718310"/>
          </a:xfrm>
          <a:prstGeom prst="rect">
            <a:avLst/>
          </a:prstGeom>
        </p:spPr>
      </p:pic>
      <p:sp>
        <p:nvSpPr>
          <p:cNvPr id="11" name="文本框 10"/>
          <p:cNvSpPr txBox="1"/>
          <p:nvPr/>
        </p:nvSpPr>
        <p:spPr>
          <a:xfrm>
            <a:off x="6008053" y="4795044"/>
            <a:ext cx="5080000" cy="583565"/>
          </a:xfrm>
          <a:prstGeom prst="rect">
            <a:avLst/>
          </a:prstGeom>
        </p:spPr>
        <p:txBody>
          <a:bodyPr>
            <a:spAutoFit/>
          </a:bodyPr>
          <a:lstStyle/>
          <a:p>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模式 </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CPOL = 0</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CPHA = 1</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CLK </a:t>
            </a:r>
            <a:r>
              <a:rPr lang="zh-CN" altLang="en-US" sz="1600" i="0">
                <a:solidFill>
                  <a:srgbClr val="333333"/>
                </a:solidFill>
                <a:latin typeface="Arial" panose="020B0604020202020204"/>
                <a:ea typeface="Arial" panose="020B0604020202020204"/>
              </a:rPr>
              <a:t>空闲状态 </a:t>
            </a:r>
            <a:r>
              <a:rPr lang="en-US" altLang="zh-CN" sz="1600" i="0">
                <a:solidFill>
                  <a:srgbClr val="333333"/>
                </a:solidFill>
                <a:latin typeface="Arial" panose="020B0604020202020204"/>
                <a:ea typeface="Arial" panose="020B0604020202020204"/>
              </a:rPr>
              <a:t>= </a:t>
            </a:r>
            <a:r>
              <a:rPr lang="zh-CN" altLang="en-US" sz="1600" i="0">
                <a:solidFill>
                  <a:srgbClr val="333333"/>
                </a:solidFill>
                <a:latin typeface="Arial" panose="020B0604020202020204"/>
                <a:ea typeface="Arial" panose="020B0604020202020204"/>
              </a:rPr>
              <a:t>低电平，数据在</a:t>
            </a:r>
            <a:r>
              <a:rPr lang="zh-CN" altLang="en-US" sz="1600" b="1" i="0">
                <a:solidFill>
                  <a:srgbClr val="333333"/>
                </a:solidFill>
                <a:latin typeface="Arial" panose="020B0604020202020204"/>
                <a:ea typeface="Arial" panose="020B0604020202020204"/>
              </a:rPr>
              <a:t>下降沿采样并在上升沿移位</a:t>
            </a:r>
            <a:r>
              <a:rPr lang="zh-CN" altLang="en-US" sz="1600" i="0">
                <a:solidFill>
                  <a:srgbClr val="333333"/>
                </a:solidFill>
                <a:latin typeface="Arial" panose="020B0604020202020204"/>
                <a:ea typeface="Arial" panose="020B0604020202020204"/>
              </a:rPr>
              <a:t>。</a:t>
            </a:r>
            <a:endParaRPr lang="zh-CN" altLang="en-US" sz="1600" i="0">
              <a:solidFill>
                <a:srgbClr val="333333"/>
              </a:solidFill>
              <a:latin typeface="Arial" panose="020B0604020202020204"/>
              <a:ea typeface="Arial" panose="020B0604020202020204"/>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SPI</a:t>
            </a:r>
            <a:r>
              <a:rPr lang="zh-CN" altLang="en-US" sz="2000" b="1" spc="300">
                <a:latin typeface="+mj-ea"/>
                <a:ea typeface="+mj-ea"/>
                <a:sym typeface="+mn-ea"/>
              </a:rPr>
              <a:t>的主要特征</a:t>
            </a:r>
            <a:endParaRPr lang="zh-CN" altLang="en-US" sz="2000"/>
          </a:p>
        </p:txBody>
      </p:sp>
      <p:sp>
        <p:nvSpPr>
          <p:cNvPr id="2" name="文本框 1"/>
          <p:cNvSpPr txBox="1"/>
          <p:nvPr>
            <p:custDataLst>
              <p:tags r:id="rId1"/>
            </p:custDataLst>
          </p:nvPr>
        </p:nvSpPr>
        <p:spPr>
          <a:xfrm>
            <a:off x="489268" y="1488917"/>
            <a:ext cx="5080000" cy="1568450"/>
          </a:xfrm>
          <a:prstGeom prst="rect">
            <a:avLst/>
          </a:prstGeom>
        </p:spPr>
        <p:txBody>
          <a:bodyPr>
            <a:spAutoFit/>
          </a:bodyPr>
          <a:lstStyle/>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a:t>
            </a:r>
            <a:r>
              <a:rPr lang="zh-CN" altLang="en-US" sz="1600" i="0">
                <a:solidFill>
                  <a:srgbClr val="333333"/>
                </a:solidFill>
                <a:latin typeface="Arial" panose="020B0604020202020204"/>
                <a:ea typeface="Arial" panose="020B0604020202020204"/>
              </a:rPr>
              <a:t>模式</a:t>
            </a:r>
            <a:r>
              <a:rPr lang="en-US" altLang="zh-CN" sz="1600" i="0">
                <a:solidFill>
                  <a:srgbClr val="333333"/>
                </a:solidFill>
                <a:latin typeface="Arial" panose="020B0604020202020204"/>
                <a:ea typeface="Arial" panose="020B0604020202020204"/>
              </a:rPr>
              <a:t>2</a:t>
            </a:r>
            <a:r>
              <a:rPr lang="zh-CN" altLang="en-US" sz="1600" i="0">
                <a:solidFill>
                  <a:srgbClr val="333333"/>
                </a:solidFill>
                <a:latin typeface="Arial" panose="020B0604020202020204"/>
                <a:ea typeface="Arial" panose="020B0604020202020204"/>
              </a:rPr>
              <a:t>的时序图。在此模式下，时钟极性为</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，表示</a:t>
            </a:r>
            <a:r>
              <a:rPr lang="zh-CN" altLang="en-US" sz="1600" b="1" i="0">
                <a:solidFill>
                  <a:schemeClr val="bg2"/>
                </a:solidFill>
                <a:latin typeface="Arial" panose="020B0604020202020204"/>
                <a:ea typeface="Arial" panose="020B0604020202020204"/>
              </a:rPr>
              <a:t>时钟信号的空闲状态为高电平</a:t>
            </a:r>
            <a:r>
              <a:rPr lang="zh-CN" altLang="en-US" sz="1600" i="0">
                <a:solidFill>
                  <a:srgbClr val="333333"/>
                </a:solidFill>
                <a:latin typeface="Arial" panose="020B0604020202020204"/>
                <a:ea typeface="Arial" panose="020B0604020202020204"/>
              </a:rPr>
              <a:t>。该模式下的时钟相位为</a:t>
            </a:r>
            <a:r>
              <a:rPr lang="en-US" altLang="zh-CN" sz="1600" i="0">
                <a:solidFill>
                  <a:srgbClr val="333333"/>
                </a:solidFill>
                <a:latin typeface="Arial" panose="020B0604020202020204"/>
                <a:ea typeface="Arial" panose="020B0604020202020204"/>
              </a:rPr>
              <a:t>0</a:t>
            </a:r>
            <a:r>
              <a:rPr lang="zh-CN" altLang="en-US" sz="1600" i="0">
                <a:solidFill>
                  <a:srgbClr val="333333"/>
                </a:solidFill>
                <a:latin typeface="Arial" panose="020B0604020202020204"/>
                <a:ea typeface="Arial" panose="020B0604020202020204"/>
              </a:rPr>
              <a:t>，表示在时钟信号的下降沿（橙色虚线所示）采样数据，在时钟信号的上升沿（蓝色虚线所示）移位数据。</a:t>
            </a:r>
            <a:endParaRPr lang="zh-CN" altLang="en-US"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p:txBody>
      </p:sp>
      <p:pic>
        <p:nvPicPr>
          <p:cNvPr id="3" name="图片 2"/>
          <p:cNvPicPr/>
          <p:nvPr>
            <p:custDataLst>
              <p:tags r:id="rId2"/>
            </p:custDataLst>
          </p:nvPr>
        </p:nvPicPr>
        <p:blipFill>
          <a:blip r:embed="rId3"/>
          <a:stretch>
            <a:fillRect/>
          </a:stretch>
        </p:blipFill>
        <p:spPr>
          <a:xfrm>
            <a:off x="489268" y="3057367"/>
            <a:ext cx="5267642" cy="1276667"/>
          </a:xfrm>
          <a:prstGeom prst="rect">
            <a:avLst/>
          </a:prstGeom>
        </p:spPr>
      </p:pic>
      <p:sp>
        <p:nvSpPr>
          <p:cNvPr id="7" name="文本框 6"/>
          <p:cNvSpPr txBox="1"/>
          <p:nvPr>
            <p:custDataLst>
              <p:tags r:id="rId4"/>
            </p:custDataLst>
          </p:nvPr>
        </p:nvSpPr>
        <p:spPr>
          <a:xfrm>
            <a:off x="489268" y="4334034"/>
            <a:ext cx="5080000" cy="1198880"/>
          </a:xfrm>
          <a:prstGeom prst="rect">
            <a:avLst/>
          </a:prstGeom>
        </p:spPr>
        <p:txBody>
          <a:bodyPr>
            <a:spAutoFit/>
          </a:bodyPr>
          <a:lstStyle/>
          <a:p>
            <a:endParaRPr lang="en-US" altLang="zh-CN" sz="2400"/>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模式 </a:t>
            </a:r>
            <a:r>
              <a:rPr lang="en-US" altLang="zh-CN" sz="1600" i="0">
                <a:solidFill>
                  <a:srgbClr val="333333"/>
                </a:solidFill>
                <a:latin typeface="Arial" panose="020B0604020202020204"/>
                <a:ea typeface="Arial" panose="020B0604020202020204"/>
              </a:rPr>
              <a:t>2</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CPOL = 1</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CPHA = 0</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CLK </a:t>
            </a:r>
            <a:r>
              <a:rPr lang="zh-CN" altLang="en-US" sz="1600" i="0">
                <a:solidFill>
                  <a:srgbClr val="333333"/>
                </a:solidFill>
                <a:latin typeface="Arial" panose="020B0604020202020204"/>
                <a:ea typeface="Arial" panose="020B0604020202020204"/>
              </a:rPr>
              <a:t>空闲状态 </a:t>
            </a:r>
            <a:r>
              <a:rPr lang="en-US" altLang="zh-CN" sz="1600" i="0">
                <a:solidFill>
                  <a:srgbClr val="333333"/>
                </a:solidFill>
                <a:latin typeface="Arial" panose="020B0604020202020204"/>
                <a:ea typeface="Arial" panose="020B0604020202020204"/>
              </a:rPr>
              <a:t>= </a:t>
            </a:r>
            <a:r>
              <a:rPr lang="zh-CN" altLang="en-US" sz="1600" i="0">
                <a:solidFill>
                  <a:srgbClr val="333333"/>
                </a:solidFill>
                <a:latin typeface="Arial" panose="020B0604020202020204"/>
                <a:ea typeface="Arial" panose="020B0604020202020204"/>
              </a:rPr>
              <a:t>高电平，数据在</a:t>
            </a:r>
            <a:r>
              <a:rPr lang="zh-CN" altLang="en-US" sz="1600" b="1" i="0">
                <a:solidFill>
                  <a:srgbClr val="333333"/>
                </a:solidFill>
                <a:latin typeface="Arial" panose="020B0604020202020204"/>
                <a:ea typeface="Arial" panose="020B0604020202020204"/>
              </a:rPr>
              <a:t>下降沿采样并在上升沿移位</a:t>
            </a:r>
            <a:r>
              <a:rPr lang="zh-CN" altLang="en-US" sz="1600" i="0">
                <a:solidFill>
                  <a:srgbClr val="333333"/>
                </a:solidFill>
                <a:latin typeface="Arial" panose="020B0604020202020204"/>
                <a:ea typeface="Arial" panose="020B0604020202020204"/>
              </a:rPr>
              <a:t>。</a:t>
            </a:r>
            <a:endParaRPr lang="zh-CN" altLang="en-US" sz="1600" i="0">
              <a:solidFill>
                <a:srgbClr val="333333"/>
              </a:solidFill>
              <a:latin typeface="Arial" panose="020B0604020202020204"/>
              <a:ea typeface="Arial" panose="020B0604020202020204"/>
            </a:endParaRPr>
          </a:p>
        </p:txBody>
      </p:sp>
      <p:sp>
        <p:nvSpPr>
          <p:cNvPr id="12" name="文本框 11"/>
          <p:cNvSpPr txBox="1"/>
          <p:nvPr>
            <p:custDataLst>
              <p:tags r:id="rId5"/>
            </p:custDataLst>
          </p:nvPr>
        </p:nvSpPr>
        <p:spPr>
          <a:xfrm>
            <a:off x="6068378" y="1336517"/>
            <a:ext cx="5080000" cy="1568450"/>
          </a:xfrm>
          <a:prstGeom prst="rect">
            <a:avLst/>
          </a:prstGeom>
        </p:spPr>
        <p:txBody>
          <a:bodyPr>
            <a:spAutoFit/>
          </a:bodyPr>
          <a:lstStyle/>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a:t>
            </a:r>
            <a:r>
              <a:rPr lang="zh-CN" altLang="en-US" sz="1600" i="0">
                <a:solidFill>
                  <a:srgbClr val="333333"/>
                </a:solidFill>
                <a:latin typeface="Arial" panose="020B0604020202020204"/>
                <a:ea typeface="Arial" panose="020B0604020202020204"/>
              </a:rPr>
              <a:t>模式</a:t>
            </a:r>
            <a:r>
              <a:rPr lang="en-US" altLang="zh-CN" sz="1600" i="0">
                <a:solidFill>
                  <a:srgbClr val="333333"/>
                </a:solidFill>
                <a:latin typeface="Arial" panose="020B0604020202020204"/>
                <a:ea typeface="Arial" panose="020B0604020202020204"/>
              </a:rPr>
              <a:t>3</a:t>
            </a:r>
            <a:r>
              <a:rPr lang="zh-CN" altLang="en-US" sz="1600" i="0">
                <a:solidFill>
                  <a:srgbClr val="333333"/>
                </a:solidFill>
                <a:latin typeface="Arial" panose="020B0604020202020204"/>
                <a:ea typeface="Arial" panose="020B0604020202020204"/>
              </a:rPr>
              <a:t>的时序图。在此模式下，时钟极性为</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，表示</a:t>
            </a:r>
            <a:r>
              <a:rPr lang="zh-CN" altLang="en-US" sz="1600" b="1" i="0">
                <a:solidFill>
                  <a:srgbClr val="333333"/>
                </a:solidFill>
                <a:latin typeface="Arial" panose="020B0604020202020204"/>
                <a:ea typeface="Arial" panose="020B0604020202020204"/>
              </a:rPr>
              <a:t>时钟信号的空闲状态为高电平</a:t>
            </a:r>
            <a:r>
              <a:rPr lang="zh-CN" altLang="en-US" sz="1600" i="0">
                <a:solidFill>
                  <a:srgbClr val="333333"/>
                </a:solidFill>
                <a:latin typeface="Arial" panose="020B0604020202020204"/>
                <a:ea typeface="Arial" panose="020B0604020202020204"/>
              </a:rPr>
              <a:t>。该模式下的时钟相位为</a:t>
            </a:r>
            <a:r>
              <a:rPr lang="en-US" altLang="zh-CN" sz="1600" i="0">
                <a:solidFill>
                  <a:srgbClr val="333333"/>
                </a:solidFill>
                <a:latin typeface="Arial" panose="020B0604020202020204"/>
                <a:ea typeface="Arial" panose="020B0604020202020204"/>
              </a:rPr>
              <a:t>1</a:t>
            </a:r>
            <a:r>
              <a:rPr lang="zh-CN" altLang="en-US" sz="1600" i="0">
                <a:solidFill>
                  <a:srgbClr val="333333"/>
                </a:solidFill>
                <a:latin typeface="Arial" panose="020B0604020202020204"/>
                <a:ea typeface="Arial" panose="020B0604020202020204"/>
              </a:rPr>
              <a:t>，表示在时钟信号的上升沿（橙色虚线所示）采样数据，在时钟信号的下降沿（蓝色虚线所示）移位数据。</a:t>
            </a:r>
            <a:endParaRPr lang="zh-CN" altLang="en-US"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p:txBody>
      </p:sp>
      <p:pic>
        <p:nvPicPr>
          <p:cNvPr id="13" name="图片 12"/>
          <p:cNvPicPr/>
          <p:nvPr>
            <p:custDataLst>
              <p:tags r:id="rId6"/>
            </p:custDataLst>
          </p:nvPr>
        </p:nvPicPr>
        <p:blipFill>
          <a:blip r:embed="rId7"/>
          <a:stretch>
            <a:fillRect/>
          </a:stretch>
        </p:blipFill>
        <p:spPr>
          <a:xfrm>
            <a:off x="6068378" y="2904967"/>
            <a:ext cx="5277167" cy="1581467"/>
          </a:xfrm>
          <a:prstGeom prst="rect">
            <a:avLst/>
          </a:prstGeom>
        </p:spPr>
      </p:pic>
      <p:sp>
        <p:nvSpPr>
          <p:cNvPr id="14" name="文本框 13"/>
          <p:cNvSpPr txBox="1"/>
          <p:nvPr>
            <p:custDataLst>
              <p:tags r:id="rId8"/>
            </p:custDataLst>
          </p:nvPr>
        </p:nvSpPr>
        <p:spPr>
          <a:xfrm>
            <a:off x="6068378" y="4486434"/>
            <a:ext cx="5080000" cy="1198880"/>
          </a:xfrm>
          <a:prstGeom prst="rect">
            <a:avLst/>
          </a:prstGeom>
        </p:spPr>
        <p:txBody>
          <a:bodyPr>
            <a:spAutoFit/>
          </a:bodyPr>
          <a:lstStyle/>
          <a:p>
            <a:endParaRPr lang="en-US" altLang="zh-CN" sz="2400"/>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 </a:t>
            </a:r>
            <a:endParaRPr lang="en-US" altLang="zh-CN" sz="1600" i="0">
              <a:solidFill>
                <a:srgbClr val="333333"/>
              </a:solidFill>
              <a:latin typeface="Arial" panose="020B0604020202020204"/>
              <a:ea typeface="Arial" panose="020B0604020202020204"/>
            </a:endParaRPr>
          </a:p>
          <a:p>
            <a:pPr marL="0" indent="0" algn="just" defTabSz="266700">
              <a:spcBef>
                <a:spcPct val="0"/>
              </a:spcBef>
              <a:spcAft>
                <a:spcPct val="0"/>
              </a:spcAft>
            </a:pPr>
            <a:r>
              <a:rPr lang="en-US" altLang="zh-CN" sz="1600" i="0">
                <a:solidFill>
                  <a:srgbClr val="333333"/>
                </a:solidFill>
                <a:latin typeface="Arial" panose="020B0604020202020204"/>
                <a:ea typeface="Arial" panose="020B0604020202020204"/>
              </a:rPr>
              <a:t>SPI </a:t>
            </a:r>
            <a:r>
              <a:rPr lang="zh-CN" altLang="en-US" sz="1600" i="0">
                <a:solidFill>
                  <a:srgbClr val="333333"/>
                </a:solidFill>
                <a:latin typeface="Arial" panose="020B0604020202020204"/>
                <a:ea typeface="Arial" panose="020B0604020202020204"/>
              </a:rPr>
              <a:t>模式 </a:t>
            </a:r>
            <a:r>
              <a:rPr lang="en-US" altLang="zh-CN" sz="1600" i="0">
                <a:solidFill>
                  <a:srgbClr val="333333"/>
                </a:solidFill>
                <a:latin typeface="Arial" panose="020B0604020202020204"/>
                <a:ea typeface="Arial" panose="020B0604020202020204"/>
              </a:rPr>
              <a:t>3</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CPOL = 1</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CPHA = 1</a:t>
            </a:r>
            <a:r>
              <a:rPr lang="zh-CN" altLang="en-US" sz="1600" i="0">
                <a:solidFill>
                  <a:srgbClr val="333333"/>
                </a:solidFill>
                <a:latin typeface="Arial" panose="020B0604020202020204"/>
                <a:ea typeface="Arial" panose="020B0604020202020204"/>
              </a:rPr>
              <a:t>：</a:t>
            </a:r>
            <a:r>
              <a:rPr lang="en-US" altLang="zh-CN" sz="1600" i="0">
                <a:solidFill>
                  <a:srgbClr val="333333"/>
                </a:solidFill>
                <a:latin typeface="Arial" panose="020B0604020202020204"/>
                <a:ea typeface="Arial" panose="020B0604020202020204"/>
              </a:rPr>
              <a:t>CLK </a:t>
            </a:r>
            <a:r>
              <a:rPr lang="zh-CN" altLang="en-US" sz="1600" i="0">
                <a:solidFill>
                  <a:srgbClr val="333333"/>
                </a:solidFill>
                <a:latin typeface="Arial" panose="020B0604020202020204"/>
                <a:ea typeface="Arial" panose="020B0604020202020204"/>
              </a:rPr>
              <a:t>空闲状态 </a:t>
            </a:r>
            <a:r>
              <a:rPr lang="en-US" altLang="zh-CN" sz="1600" i="0">
                <a:solidFill>
                  <a:srgbClr val="333333"/>
                </a:solidFill>
                <a:latin typeface="Arial" panose="020B0604020202020204"/>
                <a:ea typeface="Arial" panose="020B0604020202020204"/>
              </a:rPr>
              <a:t>= </a:t>
            </a:r>
            <a:r>
              <a:rPr lang="zh-CN" altLang="en-US" sz="1600" i="0">
                <a:solidFill>
                  <a:srgbClr val="333333"/>
                </a:solidFill>
                <a:latin typeface="Arial" panose="020B0604020202020204"/>
                <a:ea typeface="Arial" panose="020B0604020202020204"/>
              </a:rPr>
              <a:t>高电平，数据在</a:t>
            </a:r>
            <a:r>
              <a:rPr lang="zh-CN" altLang="en-US" sz="1600" b="1" i="0">
                <a:solidFill>
                  <a:srgbClr val="333333"/>
                </a:solidFill>
                <a:latin typeface="Arial" panose="020B0604020202020204"/>
                <a:ea typeface="Arial" panose="020B0604020202020204"/>
              </a:rPr>
              <a:t>上升沿采样并在下降沿移位</a:t>
            </a:r>
            <a:endParaRPr lang="zh-CN" altLang="en-US" sz="1600" b="1" i="0">
              <a:solidFill>
                <a:srgbClr val="333333"/>
              </a:solidFill>
              <a:latin typeface="Arial" panose="020B0604020202020204"/>
              <a:ea typeface="Arial" panose="020B0604020202020204"/>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SPI</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35876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数据帧大小：</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通信的数据帧大小通常由数据宽度（即数据位的大小）决定。标准</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接口通常支持从</a:t>
            </a:r>
            <a:r>
              <a:rPr lang="en-US" altLang="zh-CN" sz="1600" b="0" i="0">
                <a:solidFill>
                  <a:srgbClr val="2A2A2A"/>
                </a:solidFill>
                <a:latin typeface="Arial" panose="020B0604020202020204"/>
                <a:ea typeface="Arial" panose="020B0604020202020204"/>
              </a:rPr>
              <a:t>4</a:t>
            </a:r>
            <a:r>
              <a:rPr lang="zh-CN" altLang="en-US" sz="1600" b="0" i="0">
                <a:solidFill>
                  <a:srgbClr val="2A2A2A"/>
                </a:solidFill>
                <a:latin typeface="Arial" panose="020B0604020202020204"/>
                <a:ea typeface="Arial" panose="020B0604020202020204"/>
              </a:rPr>
              <a:t>位到</a:t>
            </a:r>
            <a:r>
              <a:rPr lang="en-US" altLang="zh-CN" sz="1600" b="0" i="0">
                <a:solidFill>
                  <a:srgbClr val="2A2A2A"/>
                </a:solidFill>
                <a:latin typeface="Arial" panose="020B0604020202020204"/>
                <a:ea typeface="Arial" panose="020B0604020202020204"/>
              </a:rPr>
              <a:t>32</a:t>
            </a:r>
            <a:r>
              <a:rPr lang="zh-CN" altLang="en-US" sz="1600" b="0" i="0">
                <a:solidFill>
                  <a:srgbClr val="2A2A2A"/>
                </a:solidFill>
                <a:latin typeface="Arial" panose="020B0604020202020204"/>
                <a:ea typeface="Arial" panose="020B0604020202020204"/>
              </a:rPr>
              <a:t>位不等的宽度。例如，一个常见的配置是</a:t>
            </a:r>
            <a:r>
              <a:rPr lang="en-US" altLang="zh-CN" sz="1600" b="0" i="0">
                <a:solidFill>
                  <a:srgbClr val="2A2A2A"/>
                </a:solidFill>
                <a:latin typeface="Arial" panose="020B0604020202020204"/>
                <a:ea typeface="Arial" panose="020B0604020202020204"/>
              </a:rPr>
              <a:t>8</a:t>
            </a:r>
            <a:r>
              <a:rPr lang="zh-CN" altLang="en-US" sz="1600" b="0" i="0">
                <a:solidFill>
                  <a:srgbClr val="2A2A2A"/>
                </a:solidFill>
                <a:latin typeface="Arial" panose="020B0604020202020204"/>
                <a:ea typeface="Arial" panose="020B0604020202020204"/>
              </a:rPr>
              <a:t>位数据宽度，这意味着每次可以传输</a:t>
            </a:r>
            <a:r>
              <a:rPr lang="en-US" altLang="zh-CN" sz="1600" b="0" i="0">
                <a:solidFill>
                  <a:srgbClr val="2A2A2A"/>
                </a:solidFill>
                <a:latin typeface="Arial" panose="020B0604020202020204"/>
                <a:ea typeface="Arial" panose="020B0604020202020204"/>
              </a:rPr>
              <a:t>8</a:t>
            </a:r>
            <a:r>
              <a:rPr lang="zh-CN" altLang="en-US" sz="1600" b="0" i="0">
                <a:solidFill>
                  <a:srgbClr val="2A2A2A"/>
                </a:solidFill>
                <a:latin typeface="Arial" panose="020B0604020202020204"/>
                <a:ea typeface="Arial" panose="020B0604020202020204"/>
              </a:rPr>
              <a:t>位（</a:t>
            </a:r>
            <a:r>
              <a:rPr lang="en-US" altLang="zh-CN" sz="1600" b="0" i="0">
                <a:solidFill>
                  <a:srgbClr val="2A2A2A"/>
                </a:solidFill>
                <a:latin typeface="Arial" panose="020B0604020202020204"/>
                <a:ea typeface="Arial" panose="020B0604020202020204"/>
              </a:rPr>
              <a:t>1</a:t>
            </a:r>
            <a:r>
              <a:rPr lang="zh-CN" altLang="en-US" sz="1600" b="0" i="0">
                <a:solidFill>
                  <a:srgbClr val="2A2A2A"/>
                </a:solidFill>
                <a:latin typeface="Arial" panose="020B0604020202020204"/>
                <a:ea typeface="Arial" panose="020B0604020202020204"/>
              </a:rPr>
              <a:t>字节）的数据。</a:t>
            </a:r>
            <a:endParaRPr lang="zh-CN" altLang="en-US" sz="1600" b="0" i="0">
              <a:solidFill>
                <a:srgbClr val="2A2A2A"/>
              </a:solidFill>
              <a:latin typeface="Arial" panose="020B0604020202020204"/>
              <a:ea typeface="Arial" panose="020B0604020202020204"/>
            </a:endParaRPr>
          </a:p>
        </p:txBody>
      </p:sp>
      <p:pic>
        <p:nvPicPr>
          <p:cNvPr id="4" name="图片 3"/>
          <p:cNvPicPr/>
          <p:nvPr/>
        </p:nvPicPr>
        <p:blipFill>
          <a:blip r:embed="rId1"/>
          <a:stretch>
            <a:fillRect/>
          </a:stretch>
        </p:blipFill>
        <p:spPr>
          <a:xfrm>
            <a:off x="2651760" y="1819593"/>
            <a:ext cx="6429375" cy="420052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en-US" altLang="zh-CN" sz="1600" b="0" i="0" dirty="0">
                <a:solidFill>
                  <a:srgbClr val="2A2A2A"/>
                </a:solidFill>
                <a:latin typeface="Arial" panose="020B0604020202020204"/>
                <a:ea typeface="Arial" panose="020B0604020202020204"/>
              </a:rPr>
              <a:t>‌SPI</a:t>
            </a:r>
            <a:r>
              <a:rPr lang="zh-CN" altLang="en-US" sz="1600" b="0" i="0" dirty="0">
                <a:solidFill>
                  <a:srgbClr val="2A2A2A"/>
                </a:solidFill>
                <a:latin typeface="Arial" panose="020B0604020202020204"/>
                <a:ea typeface="Arial" panose="020B0604020202020204"/>
              </a:rPr>
              <a:t>通信协议并没有一个大家公认的协议层</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SPI</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Serial Peripheral Interface</a:t>
            </a:r>
            <a:r>
              <a:rPr lang="zh-CN" altLang="en-US" sz="1600" b="0" i="0" dirty="0">
                <a:solidFill>
                  <a:srgbClr val="2A2A2A"/>
                </a:solidFill>
                <a:latin typeface="Arial" panose="020B0604020202020204"/>
                <a:ea typeface="Arial" panose="020B0604020202020204"/>
              </a:rPr>
              <a:t>）是一种广泛使用的串行通信协议，主要用于单片机和外围设备之间的通信。</a:t>
            </a:r>
            <a:r>
              <a:rPr lang="en-US" altLang="zh-CN" sz="1600" b="0" i="0" dirty="0">
                <a:solidFill>
                  <a:srgbClr val="2A2A2A"/>
                </a:solidFill>
                <a:latin typeface="Arial" panose="020B0604020202020204"/>
                <a:ea typeface="Arial" panose="020B0604020202020204"/>
              </a:rPr>
              <a:t>SPI</a:t>
            </a:r>
            <a:r>
              <a:rPr lang="zh-CN" altLang="en-US" sz="1600" b="0" i="0" dirty="0">
                <a:solidFill>
                  <a:srgbClr val="2A2A2A"/>
                </a:solidFill>
                <a:latin typeface="Arial" panose="020B0604020202020204"/>
                <a:ea typeface="Arial" panose="020B0604020202020204"/>
              </a:rPr>
              <a:t>采用主从架构，支持全双工通信，通常被称为四线串行总线，包括</a:t>
            </a:r>
            <a:r>
              <a:rPr lang="en-US" altLang="zh-CN" sz="1600" b="0" i="0" dirty="0">
                <a:solidFill>
                  <a:srgbClr val="2A2A2A"/>
                </a:solidFill>
                <a:latin typeface="Arial" panose="020B0604020202020204"/>
                <a:ea typeface="Arial" panose="020B0604020202020204"/>
              </a:rPr>
              <a:t>SCLK</a:t>
            </a:r>
            <a:r>
              <a:rPr lang="zh-CN" altLang="en-US" sz="1600" b="0" i="0" dirty="0">
                <a:solidFill>
                  <a:srgbClr val="2A2A2A"/>
                </a:solidFill>
                <a:latin typeface="Arial" panose="020B0604020202020204"/>
                <a:ea typeface="Arial" panose="020B0604020202020204"/>
              </a:rPr>
              <a:t>（串行时钟）、</a:t>
            </a:r>
            <a:r>
              <a:rPr lang="en-US" altLang="zh-CN" sz="1600" b="0" i="0" dirty="0">
                <a:solidFill>
                  <a:srgbClr val="2A2A2A"/>
                </a:solidFill>
                <a:latin typeface="Arial" panose="020B0604020202020204"/>
                <a:ea typeface="Arial" panose="020B0604020202020204"/>
              </a:rPr>
              <a:t>MOSI</a:t>
            </a:r>
            <a:r>
              <a:rPr lang="zh-CN" altLang="en-US" sz="1600" b="0" i="0" dirty="0">
                <a:solidFill>
                  <a:srgbClr val="2A2A2A"/>
                </a:solidFill>
                <a:latin typeface="Arial" panose="020B0604020202020204"/>
                <a:ea typeface="Arial" panose="020B0604020202020204"/>
              </a:rPr>
              <a:t>（主设备输出从设备输入）、</a:t>
            </a:r>
            <a:r>
              <a:rPr lang="en-US" altLang="zh-CN" sz="1600" b="0" i="0" dirty="0">
                <a:solidFill>
                  <a:srgbClr val="2A2A2A"/>
                </a:solidFill>
                <a:latin typeface="Arial" panose="020B0604020202020204"/>
                <a:ea typeface="Arial" panose="020B0604020202020204"/>
              </a:rPr>
              <a:t>MISO</a:t>
            </a:r>
            <a:r>
              <a:rPr lang="zh-CN" altLang="en-US" sz="1600" b="0" i="0" dirty="0">
                <a:solidFill>
                  <a:srgbClr val="2A2A2A"/>
                </a:solidFill>
                <a:latin typeface="Arial" panose="020B0604020202020204"/>
                <a:ea typeface="Arial" panose="020B0604020202020204"/>
              </a:rPr>
              <a:t>（主设备输入从设备输出）和</a:t>
            </a:r>
            <a:r>
              <a:rPr lang="en-US" altLang="zh-CN" sz="1600" b="0" i="0" dirty="0">
                <a:solidFill>
                  <a:srgbClr val="2A2A2A"/>
                </a:solidFill>
                <a:latin typeface="Arial" panose="020B0604020202020204"/>
                <a:ea typeface="Arial" panose="020B0604020202020204"/>
              </a:rPr>
              <a:t>SS/CS</a:t>
            </a:r>
            <a:r>
              <a:rPr lang="zh-CN" altLang="en-US" sz="1600" b="0" i="0" dirty="0">
                <a:solidFill>
                  <a:srgbClr val="2A2A2A"/>
                </a:solidFill>
                <a:latin typeface="Arial" panose="020B0604020202020204"/>
                <a:ea typeface="Arial" panose="020B0604020202020204"/>
              </a:rPr>
              <a:t>（从机选择</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片选）四条线</a:t>
            </a:r>
            <a:r>
              <a:rPr lang="en-US" altLang="zh-CN" sz="1600" b="0" i="0" dirty="0">
                <a:solidFill>
                  <a:srgbClr val="2A2A2A"/>
                </a:solidFill>
                <a:latin typeface="Arial" panose="020B0604020202020204"/>
                <a:ea typeface="Arial" panose="020B0604020202020204"/>
              </a:rPr>
              <a:t>‌</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由于</a:t>
            </a:r>
            <a:r>
              <a:rPr lang="en-US" altLang="zh-CN" sz="1600" b="0" i="0" dirty="0">
                <a:solidFill>
                  <a:srgbClr val="2A2A2A"/>
                </a:solidFill>
                <a:latin typeface="Arial" panose="020B0604020202020204"/>
                <a:ea typeface="Arial" panose="020B0604020202020204"/>
              </a:rPr>
              <a:t> SPI </a:t>
            </a:r>
            <a:r>
              <a:rPr lang="zh-CN" altLang="en-US" sz="1600" b="0" i="0" dirty="0">
                <a:solidFill>
                  <a:srgbClr val="2A2A2A"/>
                </a:solidFill>
                <a:latin typeface="Arial" panose="020B0604020202020204"/>
                <a:ea typeface="Arial" panose="020B0604020202020204"/>
              </a:rPr>
              <a:t>本身没有高层协议，每个</a:t>
            </a:r>
            <a:r>
              <a:rPr lang="en-US" altLang="zh-CN" sz="1600" b="0" i="0" dirty="0">
                <a:solidFill>
                  <a:srgbClr val="2A2A2A"/>
                </a:solidFill>
                <a:latin typeface="Arial" panose="020B0604020202020204"/>
                <a:ea typeface="Arial" panose="020B0604020202020204"/>
              </a:rPr>
              <a:t> SPI </a:t>
            </a:r>
            <a:r>
              <a:rPr lang="zh-CN" altLang="en-US" sz="1600" b="0" i="0" dirty="0">
                <a:solidFill>
                  <a:srgbClr val="2A2A2A"/>
                </a:solidFill>
                <a:latin typeface="Arial" panose="020B0604020202020204"/>
                <a:ea typeface="Arial" panose="020B0604020202020204"/>
              </a:rPr>
              <a:t>从设备（如传感器、存储器、显示器控制器、以太网控制器等）的制造商必须定义自己的命令集、数据格式和通信流程。需要查阅每个特定设备的详细数据手册才能知道。</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br>
              <a:rPr lang="zh-CN" altLang="en-US" sz="1600" b="0" i="0" dirty="0">
                <a:solidFill>
                  <a:srgbClr val="2A2A2A"/>
                </a:solidFill>
                <a:latin typeface="Arial" panose="020B0604020202020204"/>
                <a:ea typeface="Arial" panose="020B0604020202020204"/>
              </a:rPr>
            </a:br>
            <a:r>
              <a:rPr lang="zh-CN" altLang="en-US" sz="1600" b="0" i="0" dirty="0">
                <a:solidFill>
                  <a:srgbClr val="2A2A2A"/>
                </a:solidFill>
                <a:latin typeface="Arial" panose="020B0604020202020204"/>
                <a:ea typeface="Arial" panose="020B0604020202020204"/>
              </a:rPr>
              <a:t>很多</a:t>
            </a:r>
            <a:r>
              <a:rPr lang="en-US" altLang="zh-CN" sz="1600" b="0" i="0" dirty="0">
                <a:solidFill>
                  <a:srgbClr val="2A2A2A"/>
                </a:solidFill>
                <a:latin typeface="Arial" panose="020B0604020202020204"/>
                <a:ea typeface="Arial" panose="020B0604020202020204"/>
              </a:rPr>
              <a:t> SPI </a:t>
            </a:r>
            <a:r>
              <a:rPr lang="zh-CN" altLang="en-US" sz="1600" b="0" i="0" dirty="0">
                <a:solidFill>
                  <a:srgbClr val="2A2A2A"/>
                </a:solidFill>
                <a:latin typeface="Arial" panose="020B0604020202020204"/>
                <a:ea typeface="Arial" panose="020B0604020202020204"/>
              </a:rPr>
              <a:t>设备（如</a:t>
            </a:r>
            <a:r>
              <a:rPr lang="en-US" altLang="zh-CN" sz="1600" b="0" i="0" dirty="0">
                <a:solidFill>
                  <a:srgbClr val="2A2A2A"/>
                </a:solidFill>
                <a:latin typeface="Arial" panose="020B0604020202020204"/>
                <a:ea typeface="Arial" panose="020B0604020202020204"/>
              </a:rPr>
              <a:t> ADC</a:t>
            </a:r>
            <a:r>
              <a:rPr lang="zh-CN" altLang="en-US" sz="1600" b="0" i="0" dirty="0">
                <a:solidFill>
                  <a:srgbClr val="2A2A2A"/>
                </a:solidFill>
                <a:latin typeface="Arial" panose="020B0604020202020204"/>
                <a:ea typeface="Arial" panose="020B0604020202020204"/>
              </a:rPr>
              <a:t>、</a:t>
            </a:r>
            <a:r>
              <a:rPr lang="en-US" altLang="zh-CN" sz="1600" b="0" i="0" dirty="0">
                <a:solidFill>
                  <a:srgbClr val="2A2A2A"/>
                </a:solidFill>
                <a:latin typeface="Arial" panose="020B0604020202020204"/>
                <a:ea typeface="Arial" panose="020B0604020202020204"/>
              </a:rPr>
              <a:t>DAC</a:t>
            </a:r>
            <a:r>
              <a:rPr lang="zh-CN" altLang="en-US" sz="1600" b="0" i="0" dirty="0">
                <a:solidFill>
                  <a:srgbClr val="2A2A2A"/>
                </a:solidFill>
                <a:latin typeface="Arial" panose="020B0604020202020204"/>
                <a:ea typeface="Arial" panose="020B0604020202020204"/>
              </a:rPr>
              <a:t>、传感器）采用一种简单的</a:t>
            </a:r>
            <a:r>
              <a:rPr lang="en-US" altLang="zh-CN" sz="1600" b="0" i="0" dirty="0">
                <a:solidFill>
                  <a:srgbClr val="2A2A2A"/>
                </a:solidFill>
                <a:latin typeface="Arial" panose="020B0604020202020204"/>
                <a:ea typeface="Arial" panose="020B0604020202020204"/>
              </a:rPr>
              <a:t>“</a:t>
            </a:r>
            <a:r>
              <a:rPr lang="zh-CN" altLang="en-US" sz="1600" b="0" i="0" dirty="0">
                <a:solidFill>
                  <a:srgbClr val="FF0000"/>
                </a:solidFill>
                <a:latin typeface="Arial" panose="020B0604020202020204"/>
                <a:ea typeface="Arial" panose="020B0604020202020204"/>
              </a:rPr>
              <a:t>命令</a:t>
            </a:r>
            <a:r>
              <a:rPr lang="en-US" altLang="zh-CN" sz="1600" b="0" i="0" dirty="0">
                <a:solidFill>
                  <a:srgbClr val="FF0000"/>
                </a:solidFill>
                <a:latin typeface="Arial" panose="020B0604020202020204"/>
                <a:ea typeface="Arial" panose="020B0604020202020204"/>
              </a:rPr>
              <a:t>+</a:t>
            </a:r>
            <a:r>
              <a:rPr lang="zh-CN" altLang="en-US" sz="1600" b="0" i="0" dirty="0">
                <a:solidFill>
                  <a:srgbClr val="FF0000"/>
                </a:solidFill>
                <a:latin typeface="Arial" panose="020B0604020202020204"/>
                <a:ea typeface="Arial" panose="020B0604020202020204"/>
              </a:rPr>
              <a:t>地址</a:t>
            </a:r>
            <a:r>
              <a:rPr lang="en-US" altLang="zh-CN" sz="1600" b="0" i="0" dirty="0">
                <a:solidFill>
                  <a:srgbClr val="FF0000"/>
                </a:solidFill>
                <a:latin typeface="Arial" panose="020B0604020202020204"/>
                <a:ea typeface="Arial" panose="020B0604020202020204"/>
              </a:rPr>
              <a:t>+</a:t>
            </a:r>
            <a:r>
              <a:rPr lang="zh-CN" altLang="en-US" sz="1600" b="0" i="0" dirty="0">
                <a:solidFill>
                  <a:srgbClr val="FF0000"/>
                </a:solidFill>
                <a:latin typeface="Arial" panose="020B0604020202020204"/>
                <a:ea typeface="Arial" panose="020B0604020202020204"/>
              </a:rPr>
              <a:t>数据</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模型。</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寄存器读写模式（最常见）：</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写操作：</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主设备发送一个</a:t>
            </a:r>
            <a:r>
              <a:rPr lang="en-US" altLang="zh-CN" sz="1600" b="0" i="0" dirty="0">
                <a:solidFill>
                  <a:srgbClr val="2A2A2A"/>
                </a:solidFill>
                <a:latin typeface="Arial" panose="020B0604020202020204"/>
                <a:ea typeface="Arial" panose="020B0604020202020204"/>
              </a:rPr>
              <a:t> “</a:t>
            </a:r>
            <a:r>
              <a:rPr lang="zh-CN" altLang="en-US" sz="1600" b="0" i="0" dirty="0">
                <a:solidFill>
                  <a:srgbClr val="2A2A2A"/>
                </a:solidFill>
                <a:latin typeface="Arial" panose="020B0604020202020204"/>
                <a:ea typeface="Arial" panose="020B0604020202020204"/>
              </a:rPr>
              <a:t>写命令</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字节（通常包含一个</a:t>
            </a:r>
            <a:r>
              <a:rPr lang="en-US" altLang="zh-CN" sz="1600" b="1" i="0" dirty="0">
                <a:solidFill>
                  <a:srgbClr val="2A2A2A"/>
                </a:solidFill>
                <a:latin typeface="Arial" panose="020B0604020202020204"/>
                <a:ea typeface="Arial" panose="020B0604020202020204"/>
              </a:rPr>
              <a:t>“</a:t>
            </a:r>
            <a:r>
              <a:rPr lang="zh-CN" altLang="en-US" sz="1600" b="1" i="0" dirty="0">
                <a:solidFill>
                  <a:srgbClr val="2A2A2A"/>
                </a:solidFill>
                <a:latin typeface="Arial" panose="020B0604020202020204"/>
                <a:ea typeface="Arial" panose="020B0604020202020204"/>
              </a:rPr>
              <a:t>写</a:t>
            </a:r>
            <a:r>
              <a:rPr lang="en-US" altLang="zh-CN" sz="1600" b="1" i="0" dirty="0">
                <a:solidFill>
                  <a:srgbClr val="2A2A2A"/>
                </a:solidFill>
                <a:latin typeface="Arial" panose="020B0604020202020204"/>
                <a:ea typeface="Arial" panose="020B0604020202020204"/>
              </a:rPr>
              <a:t>”</a:t>
            </a:r>
            <a:r>
              <a:rPr lang="zh-CN" altLang="en-US" sz="1600" b="1" i="0" dirty="0">
                <a:solidFill>
                  <a:srgbClr val="2A2A2A"/>
                </a:solidFill>
                <a:latin typeface="Arial" panose="020B0604020202020204"/>
                <a:ea typeface="Arial" panose="020B0604020202020204"/>
              </a:rPr>
              <a:t>标志位</a:t>
            </a:r>
            <a:r>
              <a:rPr lang="en-US" altLang="zh-CN" sz="1600" b="1" i="0" dirty="0">
                <a:solidFill>
                  <a:srgbClr val="2A2A2A"/>
                </a:solidFill>
                <a:latin typeface="Arial" panose="020B0604020202020204"/>
                <a:ea typeface="Arial" panose="020B0604020202020204"/>
              </a:rPr>
              <a:t> + </a:t>
            </a:r>
            <a:r>
              <a:rPr lang="zh-CN" altLang="en-US" sz="1600" b="1" i="0" dirty="0">
                <a:solidFill>
                  <a:srgbClr val="2A2A2A"/>
                </a:solidFill>
                <a:latin typeface="Arial" panose="020B0604020202020204"/>
                <a:ea typeface="Arial" panose="020B0604020202020204"/>
              </a:rPr>
              <a:t>寄存器地址</a:t>
            </a:r>
            <a:r>
              <a:rPr lang="zh-CN" altLang="en-US" sz="1600" b="0" i="0" dirty="0">
                <a:solidFill>
                  <a:srgbClr val="2A2A2A"/>
                </a:solidFill>
                <a:latin typeface="Arial" panose="020B0604020202020204"/>
                <a:ea typeface="Arial" panose="020B0604020202020204"/>
              </a:rPr>
              <a:t>）。</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主设备紧接着发送要写入该寄存器的数据字节（</a:t>
            </a: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个或多个）。</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读操作：</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主设备发送一个</a:t>
            </a:r>
            <a:r>
              <a:rPr lang="en-US" altLang="zh-CN" sz="1600" b="0" i="0" dirty="0">
                <a:solidFill>
                  <a:srgbClr val="2A2A2A"/>
                </a:solidFill>
                <a:latin typeface="Arial" panose="020B0604020202020204"/>
                <a:ea typeface="Arial" panose="020B0604020202020204"/>
              </a:rPr>
              <a:t> “</a:t>
            </a:r>
            <a:r>
              <a:rPr lang="zh-CN" altLang="en-US" sz="1600" b="0" i="0" dirty="0">
                <a:solidFill>
                  <a:srgbClr val="2A2A2A"/>
                </a:solidFill>
                <a:latin typeface="Arial" panose="020B0604020202020204"/>
                <a:ea typeface="Arial" panose="020B0604020202020204"/>
              </a:rPr>
              <a:t>读命令</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字节（通常包含一个</a:t>
            </a:r>
            <a:r>
              <a:rPr lang="en-US" altLang="zh-CN" sz="1600" b="1" i="0" dirty="0">
                <a:solidFill>
                  <a:srgbClr val="2A2A2A"/>
                </a:solidFill>
                <a:latin typeface="Arial" panose="020B0604020202020204"/>
                <a:ea typeface="Arial" panose="020B0604020202020204"/>
              </a:rPr>
              <a:t>“</a:t>
            </a:r>
            <a:r>
              <a:rPr lang="zh-CN" altLang="en-US" sz="1600" b="1" i="0" dirty="0">
                <a:solidFill>
                  <a:srgbClr val="2A2A2A"/>
                </a:solidFill>
                <a:latin typeface="Arial" panose="020B0604020202020204"/>
                <a:ea typeface="Arial" panose="020B0604020202020204"/>
              </a:rPr>
              <a:t>读</a:t>
            </a:r>
            <a:r>
              <a:rPr lang="en-US" altLang="zh-CN" sz="1600" b="1" i="0" dirty="0">
                <a:solidFill>
                  <a:srgbClr val="2A2A2A"/>
                </a:solidFill>
                <a:latin typeface="Arial" panose="020B0604020202020204"/>
                <a:ea typeface="Arial" panose="020B0604020202020204"/>
              </a:rPr>
              <a:t>”</a:t>
            </a:r>
            <a:r>
              <a:rPr lang="zh-CN" altLang="en-US" sz="1600" b="1" i="0" dirty="0">
                <a:solidFill>
                  <a:srgbClr val="2A2A2A"/>
                </a:solidFill>
                <a:latin typeface="Arial" panose="020B0604020202020204"/>
                <a:ea typeface="Arial" panose="020B0604020202020204"/>
              </a:rPr>
              <a:t>标志位</a:t>
            </a:r>
            <a:r>
              <a:rPr lang="en-US" altLang="zh-CN" sz="1600" b="1" i="0" dirty="0">
                <a:solidFill>
                  <a:srgbClr val="2A2A2A"/>
                </a:solidFill>
                <a:latin typeface="Arial" panose="020B0604020202020204"/>
                <a:ea typeface="Arial" panose="020B0604020202020204"/>
              </a:rPr>
              <a:t> + </a:t>
            </a:r>
            <a:r>
              <a:rPr lang="zh-CN" altLang="en-US" sz="1600" b="1" i="0" dirty="0">
                <a:solidFill>
                  <a:srgbClr val="2A2A2A"/>
                </a:solidFill>
                <a:latin typeface="Arial" panose="020B0604020202020204"/>
                <a:ea typeface="Arial" panose="020B0604020202020204"/>
              </a:rPr>
              <a:t>寄存器地址</a:t>
            </a:r>
            <a:r>
              <a:rPr lang="zh-CN" altLang="en-US" sz="1600" b="0" i="0" dirty="0">
                <a:solidFill>
                  <a:srgbClr val="2A2A2A"/>
                </a:solidFill>
                <a:latin typeface="Arial" panose="020B0604020202020204"/>
                <a:ea typeface="Arial" panose="020B0604020202020204"/>
              </a:rPr>
              <a:t>）。</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主设备继续发送时钟（</a:t>
            </a:r>
            <a:r>
              <a:rPr lang="en-US" altLang="zh-CN" sz="1600" b="0" i="0" dirty="0">
                <a:solidFill>
                  <a:srgbClr val="2A2A2A"/>
                </a:solidFill>
                <a:latin typeface="Arial" panose="020B0604020202020204"/>
                <a:ea typeface="Arial" panose="020B0604020202020204"/>
              </a:rPr>
              <a:t>SCLK</a:t>
            </a:r>
            <a:r>
              <a:rPr lang="zh-CN" altLang="en-US" sz="1600" b="0" i="0" dirty="0">
                <a:solidFill>
                  <a:srgbClr val="2A2A2A"/>
                </a:solidFill>
                <a:latin typeface="Arial" panose="020B0604020202020204"/>
                <a:ea typeface="Arial" panose="020B0604020202020204"/>
              </a:rPr>
              <a:t>），但此时发送的数据可能是无效的（如</a:t>
            </a:r>
            <a:r>
              <a:rPr lang="en-US" altLang="zh-CN" sz="1600" b="0" i="0" dirty="0">
                <a:solidFill>
                  <a:srgbClr val="2A2A2A"/>
                </a:solidFill>
                <a:latin typeface="Arial" panose="020B0604020202020204"/>
                <a:ea typeface="Arial" panose="020B0604020202020204"/>
              </a:rPr>
              <a:t> 0x00 </a:t>
            </a:r>
            <a:r>
              <a:rPr lang="zh-CN" altLang="en-US" sz="1600" b="0" i="0" dirty="0">
                <a:solidFill>
                  <a:srgbClr val="2A2A2A"/>
                </a:solidFill>
                <a:latin typeface="Arial" panose="020B0604020202020204"/>
                <a:ea typeface="Arial" panose="020B0604020202020204"/>
              </a:rPr>
              <a:t>或</a:t>
            </a:r>
            <a:r>
              <a:rPr lang="en-US" altLang="zh-CN" sz="1600" b="0" i="0" dirty="0">
                <a:solidFill>
                  <a:srgbClr val="2A2A2A"/>
                </a:solidFill>
                <a:latin typeface="Arial" panose="020B0604020202020204"/>
                <a:ea typeface="Arial" panose="020B0604020202020204"/>
              </a:rPr>
              <a:t> 0xFF</a:t>
            </a:r>
            <a:r>
              <a:rPr lang="zh-CN" altLang="en-US" sz="1600" b="0" i="0" dirty="0">
                <a:solidFill>
                  <a:srgbClr val="2A2A2A"/>
                </a:solidFill>
                <a:latin typeface="Arial" panose="020B0604020202020204"/>
                <a:ea typeface="Arial" panose="020B0604020202020204"/>
              </a:rPr>
              <a:t>，称为</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哑元</a:t>
            </a:r>
            <a:r>
              <a:rPr lang="en-US" altLang="zh-CN" sz="1600" b="0" i="0" dirty="0">
                <a:solidFill>
                  <a:srgbClr val="2A2A2A"/>
                </a:solidFill>
                <a:latin typeface="Arial" panose="020B0604020202020204"/>
                <a:ea typeface="Arial" panose="020B0604020202020204"/>
              </a:rPr>
              <a:t>”</a:t>
            </a:r>
            <a:r>
              <a:rPr lang="zh-CN" altLang="en-US" sz="1600" b="0" i="0" dirty="0">
                <a:solidFill>
                  <a:srgbClr val="2A2A2A"/>
                </a:solidFill>
                <a:latin typeface="Arial" panose="020B0604020202020204"/>
                <a:ea typeface="Arial" panose="020B0604020202020204"/>
              </a:rPr>
              <a:t>数据）。</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从设备在接收到读命令和地址后，会在后续的</a:t>
            </a:r>
            <a:r>
              <a:rPr lang="en-US" altLang="zh-CN" sz="1600" b="0" i="0" dirty="0">
                <a:solidFill>
                  <a:srgbClr val="2A2A2A"/>
                </a:solidFill>
                <a:latin typeface="Arial" panose="020B0604020202020204"/>
                <a:ea typeface="Arial" panose="020B0604020202020204"/>
              </a:rPr>
              <a:t> SCLK </a:t>
            </a:r>
            <a:r>
              <a:rPr lang="zh-CN" altLang="en-US" sz="1600" b="0" i="0" dirty="0">
                <a:solidFill>
                  <a:srgbClr val="2A2A2A"/>
                </a:solidFill>
                <a:latin typeface="Arial" panose="020B0604020202020204"/>
                <a:ea typeface="Arial" panose="020B0604020202020204"/>
              </a:rPr>
              <a:t>周期中通过</a:t>
            </a:r>
            <a:r>
              <a:rPr lang="en-US" altLang="zh-CN" sz="1600" b="0" i="0" dirty="0">
                <a:solidFill>
                  <a:srgbClr val="2A2A2A"/>
                </a:solidFill>
                <a:latin typeface="Arial" panose="020B0604020202020204"/>
                <a:ea typeface="Arial" panose="020B0604020202020204"/>
              </a:rPr>
              <a:t> MISO </a:t>
            </a:r>
            <a:r>
              <a:rPr lang="zh-CN" altLang="en-US" sz="1600" b="0" i="0" dirty="0">
                <a:solidFill>
                  <a:srgbClr val="2A2A2A"/>
                </a:solidFill>
                <a:latin typeface="Arial" panose="020B0604020202020204"/>
                <a:ea typeface="Arial" panose="020B0604020202020204"/>
              </a:rPr>
              <a:t>线返回该寄存器的内容。</a:t>
            </a:r>
            <a:endParaRPr lang="zh-CN" altLang="en-US"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endParaRPr lang="en-US" altLang="zh-CN" sz="1600" b="0" i="0" dirty="0">
              <a:solidFill>
                <a:srgbClr val="2A2A2A"/>
              </a:solidFill>
              <a:latin typeface="Arial" panose="020B0604020202020204"/>
              <a:ea typeface="Arial" panose="020B0604020202020204"/>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endParaRPr lang="en-US" altLang="zh-CN" sz="1600" b="0" i="0">
              <a:solidFill>
                <a:srgbClr val="2A2A2A"/>
              </a:solidFill>
              <a:latin typeface="Arial" panose="020B0604020202020204"/>
              <a:ea typeface="Arial" panose="020B0604020202020204"/>
            </a:endParaRPr>
          </a:p>
        </p:txBody>
      </p:sp>
      <p:pic>
        <p:nvPicPr>
          <p:cNvPr id="3" name="图片 2"/>
          <p:cNvPicPr>
            <a:picLocks noChangeAspect="1"/>
          </p:cNvPicPr>
          <p:nvPr/>
        </p:nvPicPr>
        <p:blipFill>
          <a:blip r:embed="rId1"/>
          <a:stretch>
            <a:fillRect/>
          </a:stretch>
        </p:blipFill>
        <p:spPr>
          <a:xfrm>
            <a:off x="1507504" y="1129591"/>
            <a:ext cx="8001000" cy="5685155"/>
          </a:xfrm>
          <a:prstGeom prst="rect">
            <a:avLst/>
          </a:prstGeom>
        </p:spPr>
      </p:pic>
      <p:sp>
        <p:nvSpPr>
          <p:cNvPr id="5" name="文本框 4"/>
          <p:cNvSpPr txBox="1"/>
          <p:nvPr/>
        </p:nvSpPr>
        <p:spPr>
          <a:xfrm>
            <a:off x="2543810" y="872490"/>
            <a:ext cx="6772275" cy="368300"/>
          </a:xfrm>
          <a:prstGeom prst="rect">
            <a:avLst/>
          </a:prstGeom>
          <a:noFill/>
        </p:spPr>
        <p:txBody>
          <a:bodyPr wrap="square" rtlCol="0">
            <a:spAutoFit/>
          </a:bodyPr>
          <a:lstStyle/>
          <a:p>
            <a:r>
              <a:rPr lang="en-US" altLang="zh-CN">
                <a:solidFill>
                  <a:schemeClr val="bg2"/>
                </a:solidFill>
              </a:rPr>
              <a:t>flash</a:t>
            </a:r>
            <a:r>
              <a:rPr lang="zh-CN" altLang="en-US">
                <a:solidFill>
                  <a:schemeClr val="bg2"/>
                </a:solidFill>
              </a:rPr>
              <a:t>只能从</a:t>
            </a:r>
            <a:r>
              <a:rPr lang="en-US" altLang="zh-CN">
                <a:solidFill>
                  <a:schemeClr val="bg2"/>
                </a:solidFill>
              </a:rPr>
              <a:t>1</a:t>
            </a:r>
            <a:r>
              <a:rPr lang="zh-CN" altLang="en-US">
                <a:solidFill>
                  <a:schemeClr val="bg2"/>
                </a:solidFill>
              </a:rPr>
              <a:t>写到</a:t>
            </a:r>
            <a:r>
              <a:rPr lang="en-US" altLang="zh-CN">
                <a:solidFill>
                  <a:schemeClr val="bg2"/>
                </a:solidFill>
              </a:rPr>
              <a:t>0</a:t>
            </a:r>
            <a:r>
              <a:rPr lang="zh-CN" altLang="en-US">
                <a:solidFill>
                  <a:schemeClr val="bg2"/>
                </a:solidFill>
                <a:ea typeface="宋体" panose="02010600030101010101" pitchFamily="2" charset="-122"/>
              </a:rPr>
              <a:t>，如果要讲数据写为</a:t>
            </a:r>
            <a:r>
              <a:rPr lang="en-US" altLang="zh-CN">
                <a:solidFill>
                  <a:schemeClr val="bg2"/>
                </a:solidFill>
                <a:ea typeface="宋体" panose="02010600030101010101" pitchFamily="2" charset="-122"/>
              </a:rPr>
              <a:t>1</a:t>
            </a:r>
            <a:r>
              <a:rPr lang="zh-CN" altLang="en-US">
                <a:solidFill>
                  <a:schemeClr val="bg2"/>
                </a:solidFill>
                <a:ea typeface="宋体" panose="02010600030101010101" pitchFamily="2" charset="-122"/>
              </a:rPr>
              <a:t>，只能擦除整片扇区</a:t>
            </a:r>
            <a:endParaRPr lang="zh-CN" altLang="en-US">
              <a:solidFill>
                <a:schemeClr val="bg2"/>
              </a:solidFill>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自建协议</a:t>
            </a:r>
            <a:endParaRPr lang="zh-CN" altLang="en-US" sz="1600" b="0" i="0">
              <a:solidFill>
                <a:srgbClr val="2A2A2A"/>
              </a:solidFill>
              <a:latin typeface="Arial" panose="020B0604020202020204"/>
              <a:ea typeface="Arial" panose="020B0604020202020204"/>
            </a:endParaRPr>
          </a:p>
          <a:p>
            <a:pPr indent="457200" algn="l" defTabSz="266700">
              <a:lnSpc>
                <a:spcPts val="1950"/>
              </a:lnSpc>
              <a:spcBef>
                <a:spcPts val="100"/>
              </a:spcBef>
              <a:spcAft>
                <a:spcPts val="100"/>
              </a:spcAft>
            </a:pPr>
            <a:r>
              <a:rPr lang="zh-CN" altLang="en-US" sz="1600">
                <a:solidFill>
                  <a:srgbClr val="FF0000"/>
                </a:solidFill>
                <a:latin typeface="Arial" panose="020B0604020202020204"/>
                <a:ea typeface="Arial" panose="020B0604020202020204"/>
                <a:sym typeface="+mn-ea"/>
              </a:rPr>
              <a:t>命令</a:t>
            </a:r>
            <a:r>
              <a:rPr lang="en-US" altLang="zh-CN" sz="1600">
                <a:solidFill>
                  <a:srgbClr val="FF0000"/>
                </a:solidFill>
                <a:latin typeface="Arial" panose="020B0604020202020204"/>
                <a:ea typeface="Arial" panose="020B0604020202020204"/>
                <a:sym typeface="+mn-ea"/>
              </a:rPr>
              <a:t>/</a:t>
            </a:r>
            <a:r>
              <a:rPr lang="zh-CN" altLang="en-US" sz="1600" b="0" i="0">
                <a:solidFill>
                  <a:srgbClr val="FF0000"/>
                </a:solidFill>
                <a:latin typeface="Arial" panose="020B0604020202020204"/>
                <a:ea typeface="Arial" panose="020B0604020202020204"/>
              </a:rPr>
              <a:t>地址</a:t>
            </a:r>
            <a:r>
              <a:rPr lang="en-US" altLang="zh-CN" sz="1600" b="0" i="0">
                <a:solidFill>
                  <a:srgbClr val="FF0000"/>
                </a:solidFill>
                <a:latin typeface="Arial" panose="020B0604020202020204"/>
                <a:ea typeface="Arial" panose="020B0604020202020204"/>
              </a:rPr>
              <a:t>+</a:t>
            </a:r>
            <a:r>
              <a:rPr lang="zh-CN" altLang="en-US" sz="1600" b="0" i="0">
                <a:solidFill>
                  <a:srgbClr val="FF0000"/>
                </a:solidFill>
                <a:latin typeface="Arial" panose="020B0604020202020204"/>
                <a:ea typeface="Arial" panose="020B0604020202020204"/>
              </a:rPr>
              <a:t>数据</a:t>
            </a:r>
            <a:r>
              <a:rPr lang="en-US" altLang="zh-CN" sz="1600" b="0" i="0">
                <a:solidFill>
                  <a:srgbClr val="FF0000"/>
                </a:solidFill>
                <a:latin typeface="Arial" panose="020B0604020202020204"/>
                <a:ea typeface="Arial" panose="020B0604020202020204"/>
              </a:rPr>
              <a:t>+</a:t>
            </a:r>
            <a:r>
              <a:rPr lang="zh-CN" altLang="en-US" sz="1600" b="0" i="0">
                <a:solidFill>
                  <a:srgbClr val="FF0000"/>
                </a:solidFill>
                <a:latin typeface="Arial" panose="020B0604020202020204"/>
                <a:ea typeface="Arial" panose="020B0604020202020204"/>
              </a:rPr>
              <a:t>校验</a:t>
            </a:r>
            <a:br>
              <a:rPr lang="zh-CN" altLang="en-US" sz="1600" b="0" i="0">
                <a:solidFill>
                  <a:srgbClr val="FF0000"/>
                </a:solidFill>
                <a:latin typeface="Arial" panose="020B0604020202020204"/>
                <a:ea typeface="Arial" panose="020B0604020202020204"/>
              </a:rPr>
            </a:br>
            <a:br>
              <a:rPr lang="zh-CN" altLang="en-US" sz="1600" b="0" i="0">
                <a:solidFill>
                  <a:srgbClr val="FF0000"/>
                </a:solidFill>
                <a:latin typeface="Arial" panose="020B0604020202020204"/>
                <a:ea typeface="Arial" panose="020B0604020202020204"/>
              </a:rPr>
            </a:br>
            <a:r>
              <a:rPr lang="zh-CN" altLang="en-US" sz="1600" b="0" i="0">
                <a:solidFill>
                  <a:srgbClr val="FF0000"/>
                </a:solidFill>
                <a:latin typeface="Arial" panose="020B0604020202020204"/>
                <a:ea typeface="Arial" panose="020B0604020202020204"/>
              </a:rPr>
              <a:t>参考</a:t>
            </a:r>
            <a:r>
              <a:rPr lang="en-US" altLang="zh-CN" sz="1600" b="0" i="0">
                <a:solidFill>
                  <a:srgbClr val="FF0000"/>
                </a:solidFill>
                <a:latin typeface="Arial" panose="020B0604020202020204"/>
                <a:ea typeface="Arial" panose="020B0604020202020204"/>
              </a:rPr>
              <a:t>	https://item.szlcsc.com/datasheet/W25Q64JVSSIQ/190565.html?spm=sc.gbn.xds.a___sc.hm.hd.ss&amp;lcsc_vid=E1JcAV1RTlQLXgIHE1FdA11UFlEKAgIDElNbAVBWQwcxVlNTQlhfUlFSQlRcUjtW</a:t>
            </a:r>
            <a:endParaRPr lang="en-US" altLang="zh-CN" sz="1600" b="0" i="0">
              <a:solidFill>
                <a:srgbClr val="FF0000"/>
              </a:solidFill>
              <a:latin typeface="Arial" panose="020B0604020202020204"/>
              <a:ea typeface="Arial" panose="020B0604020202020204"/>
            </a:endParaRPr>
          </a:p>
        </p:txBody>
      </p:sp>
      <p:sp>
        <p:nvSpPr>
          <p:cNvPr id="3" name="文本框 2"/>
          <p:cNvSpPr txBox="1"/>
          <p:nvPr/>
        </p:nvSpPr>
        <p:spPr>
          <a:xfrm>
            <a:off x="282575" y="2955290"/>
            <a:ext cx="6261100" cy="3300095"/>
          </a:xfrm>
          <a:prstGeom prst="rect">
            <a:avLst/>
          </a:prstGeom>
        </p:spPr>
        <p:txBody>
          <a:bodyPr wrap="square">
            <a:spAutoFit/>
          </a:bodyPr>
          <a:lstStyle/>
          <a:p>
            <a:pPr marL="0" indent="0">
              <a:lnSpc>
                <a:spcPts val="2100"/>
              </a:lnSpc>
              <a:spcBef>
                <a:spcPts val="1200"/>
              </a:spcBef>
              <a:spcAft>
                <a:spcPts val="1200"/>
              </a:spcAft>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读取步骤：</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12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将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CS </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端拉低为低电平；</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6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发送指令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90H</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1001_0000</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6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发送地址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000000H</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0000_0000_0000_0000_0000_0000</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6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读取制造商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ID</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，根据数据手册可以知道制造商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ID </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为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EFh</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6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读取设备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ID</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600"/>
              </a:spcBef>
              <a:spcAft>
                <a:spcPts val="1200"/>
              </a:spcAft>
              <a:buAutoNum type="arabicPeriod"/>
            </a:pP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恢复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CS </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端为高电平；</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6102985" y="1456690"/>
            <a:ext cx="6144895" cy="538480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276161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自建协议</a:t>
            </a:r>
            <a:endParaRPr lang="zh-CN" altLang="en-US" sz="1600" b="0" i="0">
              <a:solidFill>
                <a:srgbClr val="2A2A2A"/>
              </a:solidFill>
              <a:latin typeface="Arial" panose="020B0604020202020204"/>
              <a:ea typeface="Arial" panose="020B0604020202020204"/>
            </a:endParaRPr>
          </a:p>
          <a:p>
            <a:pPr indent="457200" algn="l" defTabSz="266700">
              <a:lnSpc>
                <a:spcPts val="1950"/>
              </a:lnSpc>
              <a:spcBef>
                <a:spcPts val="100"/>
              </a:spcBef>
              <a:spcAft>
                <a:spcPts val="100"/>
              </a:spcAft>
            </a:pPr>
            <a:r>
              <a:rPr lang="zh-CN" altLang="en-US" sz="1600">
                <a:solidFill>
                  <a:srgbClr val="FF0000"/>
                </a:solidFill>
                <a:latin typeface="Arial" panose="020B0604020202020204"/>
                <a:ea typeface="Arial" panose="020B0604020202020204"/>
                <a:sym typeface="+mn-ea"/>
              </a:rPr>
              <a:t>命令</a:t>
            </a:r>
            <a:r>
              <a:rPr lang="en-US" altLang="zh-CN" sz="1600">
                <a:solidFill>
                  <a:srgbClr val="FF0000"/>
                </a:solidFill>
                <a:latin typeface="Arial" panose="020B0604020202020204"/>
                <a:ea typeface="Arial" panose="020B0604020202020204"/>
                <a:sym typeface="+mn-ea"/>
              </a:rPr>
              <a:t>/</a:t>
            </a:r>
            <a:r>
              <a:rPr lang="zh-CN" altLang="en-US" sz="1600" b="0" i="0">
                <a:solidFill>
                  <a:srgbClr val="FF0000"/>
                </a:solidFill>
                <a:latin typeface="Arial" panose="020B0604020202020204"/>
                <a:ea typeface="Arial" panose="020B0604020202020204"/>
              </a:rPr>
              <a:t>地址</a:t>
            </a:r>
            <a:r>
              <a:rPr lang="en-US" altLang="zh-CN" sz="1600" b="0" i="0">
                <a:solidFill>
                  <a:srgbClr val="FF0000"/>
                </a:solidFill>
                <a:latin typeface="Arial" panose="020B0604020202020204"/>
                <a:ea typeface="Arial" panose="020B0604020202020204"/>
              </a:rPr>
              <a:t>+</a:t>
            </a:r>
            <a:r>
              <a:rPr lang="zh-CN" altLang="en-US" sz="1600" b="0" i="0">
                <a:solidFill>
                  <a:srgbClr val="FF0000"/>
                </a:solidFill>
                <a:latin typeface="Arial" panose="020B0604020202020204"/>
                <a:ea typeface="Arial" panose="020B0604020202020204"/>
              </a:rPr>
              <a:t>数据</a:t>
            </a:r>
            <a:r>
              <a:rPr lang="en-US" altLang="zh-CN" sz="1600" b="0" i="0">
                <a:solidFill>
                  <a:srgbClr val="FF0000"/>
                </a:solidFill>
                <a:latin typeface="Arial" panose="020B0604020202020204"/>
                <a:ea typeface="Arial" panose="020B0604020202020204"/>
              </a:rPr>
              <a:t>+</a:t>
            </a:r>
            <a:r>
              <a:rPr lang="zh-CN" altLang="en-US" sz="1600" b="0" i="0">
                <a:solidFill>
                  <a:srgbClr val="FF0000"/>
                </a:solidFill>
                <a:latin typeface="Arial" panose="020B0604020202020204"/>
                <a:ea typeface="Arial" panose="020B0604020202020204"/>
              </a:rPr>
              <a:t>校验</a:t>
            </a:r>
            <a:br>
              <a:rPr lang="zh-CN" altLang="en-US" sz="1600" b="0" i="0">
                <a:solidFill>
                  <a:srgbClr val="FF0000"/>
                </a:solidFill>
                <a:latin typeface="Arial" panose="020B0604020202020204"/>
                <a:ea typeface="Arial" panose="020B0604020202020204"/>
              </a:rPr>
            </a:br>
            <a:endParaRPr lang="en-US" altLang="zh-CN" sz="1600" b="0" i="0">
              <a:solidFill>
                <a:srgbClr val="FF0000"/>
              </a:solidFill>
              <a:latin typeface="Arial" panose="020B0604020202020204"/>
              <a:ea typeface="Arial" panose="020B0604020202020204"/>
            </a:endParaRPr>
          </a:p>
        </p:txBody>
      </p:sp>
      <p:pic>
        <p:nvPicPr>
          <p:cNvPr id="4" name="图片 3"/>
          <p:cNvPicPr/>
          <p:nvPr/>
        </p:nvPicPr>
        <p:blipFill>
          <a:blip r:embed="rId1"/>
          <a:stretch>
            <a:fillRect/>
          </a:stretch>
        </p:blipFill>
        <p:spPr>
          <a:xfrm>
            <a:off x="181610" y="245110"/>
            <a:ext cx="2164715" cy="6687820"/>
          </a:xfrm>
          <a:prstGeom prst="rect">
            <a:avLst/>
          </a:prstGeom>
        </p:spPr>
      </p:pic>
      <p:sp>
        <p:nvSpPr>
          <p:cNvPr id="5" name="文本框 4"/>
          <p:cNvSpPr txBox="1"/>
          <p:nvPr/>
        </p:nvSpPr>
        <p:spPr>
          <a:xfrm>
            <a:off x="3270885" y="1744980"/>
            <a:ext cx="4062730" cy="368300"/>
          </a:xfrm>
          <a:prstGeom prst="rect">
            <a:avLst/>
          </a:prstGeom>
          <a:noFill/>
        </p:spPr>
        <p:txBody>
          <a:bodyPr wrap="square" rtlCol="0">
            <a:spAutoFit/>
          </a:bodyPr>
          <a:lstStyle/>
          <a:p>
            <a:r>
              <a:rPr lang="en-US" altLang="zh-CN">
                <a:solidFill>
                  <a:schemeClr val="bg2"/>
                </a:solidFill>
              </a:rPr>
              <a:t>06h</a:t>
            </a:r>
            <a:endParaRPr lang="en-US" altLang="zh-CN">
              <a:solidFill>
                <a:schemeClr val="bg2"/>
              </a:solidFill>
            </a:endParaRPr>
          </a:p>
        </p:txBody>
      </p:sp>
      <p:sp>
        <p:nvSpPr>
          <p:cNvPr id="8" name="文本框 7"/>
          <p:cNvSpPr txBox="1"/>
          <p:nvPr/>
        </p:nvSpPr>
        <p:spPr>
          <a:xfrm>
            <a:off x="3270885" y="2476500"/>
            <a:ext cx="4062730" cy="368300"/>
          </a:xfrm>
          <a:prstGeom prst="rect">
            <a:avLst/>
          </a:prstGeom>
          <a:noFill/>
        </p:spPr>
        <p:txBody>
          <a:bodyPr wrap="square" rtlCol="0">
            <a:spAutoFit/>
          </a:bodyPr>
          <a:lstStyle/>
          <a:p>
            <a:r>
              <a:rPr lang="en-US" altLang="zh-CN">
                <a:solidFill>
                  <a:schemeClr val="bg2"/>
                </a:solidFill>
              </a:rPr>
              <a:t>05h</a:t>
            </a:r>
            <a:endParaRPr lang="en-US" altLang="zh-CN">
              <a:solidFill>
                <a:schemeClr val="bg2"/>
              </a:solidFill>
            </a:endParaRPr>
          </a:p>
        </p:txBody>
      </p:sp>
      <p:sp>
        <p:nvSpPr>
          <p:cNvPr id="9" name="文本框 8"/>
          <p:cNvSpPr txBox="1"/>
          <p:nvPr/>
        </p:nvSpPr>
        <p:spPr>
          <a:xfrm>
            <a:off x="3270885" y="3688715"/>
            <a:ext cx="4062730" cy="368300"/>
          </a:xfrm>
          <a:prstGeom prst="rect">
            <a:avLst/>
          </a:prstGeom>
          <a:noFill/>
        </p:spPr>
        <p:txBody>
          <a:bodyPr wrap="square" rtlCol="0">
            <a:spAutoFit/>
          </a:bodyPr>
          <a:lstStyle/>
          <a:p>
            <a:r>
              <a:rPr lang="en-US" altLang="zh-CN">
                <a:solidFill>
                  <a:schemeClr val="bg2"/>
                </a:solidFill>
              </a:rPr>
              <a:t>20h+</a:t>
            </a:r>
            <a:r>
              <a:rPr lang="zh-CN" altLang="en-US">
                <a:solidFill>
                  <a:schemeClr val="bg2"/>
                </a:solidFill>
              </a:rPr>
              <a:t>地址</a:t>
            </a:r>
            <a:endParaRPr lang="zh-CN" altLang="en-US">
              <a:solidFill>
                <a:schemeClr val="bg2"/>
              </a:solidFill>
            </a:endParaRPr>
          </a:p>
        </p:txBody>
      </p:sp>
      <p:pic>
        <p:nvPicPr>
          <p:cNvPr id="10" name="图片 9"/>
          <p:cNvPicPr/>
          <p:nvPr/>
        </p:nvPicPr>
        <p:blipFill>
          <a:blip r:embed="rId2"/>
          <a:stretch>
            <a:fillRect/>
          </a:stretch>
        </p:blipFill>
        <p:spPr>
          <a:xfrm>
            <a:off x="6158865" y="537845"/>
            <a:ext cx="5598795" cy="3710940"/>
          </a:xfrm>
          <a:prstGeom prst="rect">
            <a:avLst/>
          </a:prstGeom>
        </p:spPr>
      </p:pic>
      <p:sp>
        <p:nvSpPr>
          <p:cNvPr id="11" name="文本框 10"/>
          <p:cNvSpPr txBox="1"/>
          <p:nvPr/>
        </p:nvSpPr>
        <p:spPr>
          <a:xfrm>
            <a:off x="3270885" y="4900930"/>
            <a:ext cx="4062730" cy="368300"/>
          </a:xfrm>
          <a:prstGeom prst="rect">
            <a:avLst/>
          </a:prstGeom>
          <a:noFill/>
        </p:spPr>
        <p:txBody>
          <a:bodyPr wrap="square" rtlCol="0">
            <a:spAutoFit/>
          </a:bodyPr>
          <a:lstStyle/>
          <a:p>
            <a:r>
              <a:rPr lang="en-US" altLang="zh-CN">
                <a:solidFill>
                  <a:schemeClr val="bg2"/>
                </a:solidFill>
              </a:rPr>
              <a:t>02h+</a:t>
            </a:r>
            <a:r>
              <a:rPr lang="zh-CN" altLang="en-US">
                <a:solidFill>
                  <a:schemeClr val="bg2"/>
                </a:solidFill>
              </a:rPr>
              <a:t>地址</a:t>
            </a:r>
            <a:r>
              <a:rPr lang="en-US" altLang="zh-CN">
                <a:solidFill>
                  <a:schemeClr val="bg2"/>
                </a:solidFill>
                <a:sym typeface="+mn-ea"/>
              </a:rPr>
              <a:t>+</a:t>
            </a:r>
            <a:r>
              <a:rPr lang="zh-CN" altLang="en-US">
                <a:solidFill>
                  <a:schemeClr val="bg2"/>
                </a:solidFill>
              </a:rPr>
              <a:t>数据</a:t>
            </a:r>
            <a:endParaRPr lang="en-US" altLang="zh-CN">
              <a:solidFill>
                <a:schemeClr val="bg2"/>
              </a:solidFill>
            </a:endParaRPr>
          </a:p>
        </p:txBody>
      </p:sp>
      <p:sp>
        <p:nvSpPr>
          <p:cNvPr id="12" name="右大括号 11"/>
          <p:cNvSpPr/>
          <p:nvPr/>
        </p:nvSpPr>
        <p:spPr>
          <a:xfrm>
            <a:off x="2695575" y="3514725"/>
            <a:ext cx="323215" cy="807720"/>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3" name="右箭头 12"/>
          <p:cNvSpPr/>
          <p:nvPr/>
        </p:nvSpPr>
        <p:spPr>
          <a:xfrm>
            <a:off x="4745355" y="3782060"/>
            <a:ext cx="1231900" cy="1816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3"/>
          <a:stretch>
            <a:fillRect/>
          </a:stretch>
        </p:blipFill>
        <p:spPr>
          <a:xfrm>
            <a:off x="6245225" y="4322445"/>
            <a:ext cx="5478145" cy="2584450"/>
          </a:xfrm>
          <a:prstGeom prst="rect">
            <a:avLst/>
          </a:prstGeom>
        </p:spPr>
      </p:pic>
      <p:sp>
        <p:nvSpPr>
          <p:cNvPr id="15" name="右箭头 14"/>
          <p:cNvSpPr/>
          <p:nvPr/>
        </p:nvSpPr>
        <p:spPr>
          <a:xfrm>
            <a:off x="5088890" y="4994275"/>
            <a:ext cx="1070610" cy="1911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-&gt;SPI</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5" name="图片 4"/>
          <p:cNvPicPr/>
          <p:nvPr/>
        </p:nvPicPr>
        <p:blipFill>
          <a:blip r:embed="rId1"/>
          <a:stretch>
            <a:fillRect/>
          </a:stretch>
        </p:blipFill>
        <p:spPr>
          <a:xfrm>
            <a:off x="656590" y="2137410"/>
            <a:ext cx="9392920" cy="425958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-&gt;SPI</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2" name="图片 1"/>
          <p:cNvPicPr/>
          <p:nvPr/>
        </p:nvPicPr>
        <p:blipFill>
          <a:blip r:embed="rId1"/>
          <a:srcRect r="44844"/>
          <a:stretch>
            <a:fillRect/>
          </a:stretch>
        </p:blipFill>
        <p:spPr>
          <a:xfrm>
            <a:off x="181610" y="2137410"/>
            <a:ext cx="4785995" cy="4598670"/>
          </a:xfrm>
          <a:prstGeom prst="rect">
            <a:avLst/>
          </a:prstGeom>
        </p:spPr>
      </p:pic>
      <p:pic>
        <p:nvPicPr>
          <p:cNvPr id="4" name="图片 3"/>
          <p:cNvPicPr/>
          <p:nvPr/>
        </p:nvPicPr>
        <p:blipFill>
          <a:blip r:embed="rId2"/>
          <a:srcRect b="6160"/>
          <a:stretch>
            <a:fillRect/>
          </a:stretch>
        </p:blipFill>
        <p:spPr>
          <a:xfrm>
            <a:off x="5525135" y="2352040"/>
            <a:ext cx="6481445" cy="416941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I2C</a:t>
            </a:r>
            <a:r>
              <a:rPr lang="zh-CN" altLang="en-US" spc="300" dirty="0">
                <a:latin typeface="+mj-ea"/>
                <a:sym typeface="+mn-ea"/>
              </a:rPr>
              <a:t>通讯</a:t>
            </a:r>
            <a:endParaRPr lang="zh-CN" altLang="en-US"/>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903" y="2204561"/>
            <a:ext cx="4794406" cy="907084"/>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物理层</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I2C</a:t>
            </a:r>
            <a:r>
              <a:rPr lang="zh-CN" altLang="en-US" sz="2400" b="1" spc="300" dirty="0">
                <a:solidFill>
                  <a:schemeClr val="accent1"/>
                </a:solidFill>
                <a:latin typeface="+mj-ea"/>
                <a:ea typeface="+mj-ea"/>
              </a:rPr>
              <a:t>的主要特征</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数据包格式</a:t>
            </a:r>
            <a:endParaRPr lang="zh-CN" altLang="en-US" sz="2400" b="1" spc="300" dirty="0">
              <a:solidFill>
                <a:schemeClr val="accent1"/>
              </a:solidFill>
              <a:latin typeface="+mj-ea"/>
              <a:ea typeface="+mj-ea"/>
            </a:endParaRPr>
          </a:p>
        </p:txBody>
      </p:sp>
      <p:sp>
        <p:nvSpPr>
          <p:cNvPr id="15" name="序号"/>
          <p:cNvSpPr txBox="1"/>
          <p:nvPr>
            <p:custDataLst>
              <p:tags r:id="rId8"/>
            </p:custDataLst>
          </p:nvPr>
        </p:nvSpPr>
        <p:spPr>
          <a:xfrm>
            <a:off x="5700395" y="3851910"/>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04.</a:t>
            </a:r>
            <a:endParaRPr lang="en-US" sz="2800">
              <a:solidFill>
                <a:schemeClr val="accent1">
                  <a:lumMod val="60000"/>
                  <a:lumOff val="40000"/>
                </a:schemeClr>
              </a:solidFill>
              <a:latin typeface="+mj-ea"/>
              <a:ea typeface="+mj-ea"/>
            </a:endParaRPr>
          </a:p>
        </p:txBody>
      </p:sp>
      <p:sp>
        <p:nvSpPr>
          <p:cNvPr id="16" name="项标题"/>
          <p:cNvSpPr txBox="1"/>
          <p:nvPr>
            <p:custDataLst>
              <p:tags r:id="rId9"/>
            </p:custDataLst>
          </p:nvPr>
        </p:nvSpPr>
        <p:spPr>
          <a:xfrm>
            <a:off x="6694805" y="3851910"/>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协议层</a:t>
            </a:r>
            <a:endParaRPr lang="zh-CN" altLang="en-US" sz="2400" b="1" spc="300" dirty="0">
              <a:solidFill>
                <a:schemeClr val="accent1"/>
              </a:solidFill>
              <a:latin typeface="+mj-ea"/>
              <a:ea typeface="+mj-ea"/>
            </a:endParaRPr>
          </a:p>
        </p:txBody>
      </p:sp>
      <p:sp>
        <p:nvSpPr>
          <p:cNvPr id="2" name="序号"/>
          <p:cNvSpPr txBox="1"/>
          <p:nvPr>
            <p:custDataLst>
              <p:tags r:id="rId10"/>
            </p:custDataLst>
          </p:nvPr>
        </p:nvSpPr>
        <p:spPr>
          <a:xfrm>
            <a:off x="5706110" y="4387215"/>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05.</a:t>
            </a:r>
            <a:endParaRPr lang="en-US" sz="2800">
              <a:solidFill>
                <a:schemeClr val="accent1">
                  <a:lumMod val="60000"/>
                  <a:lumOff val="40000"/>
                </a:schemeClr>
              </a:solidFill>
              <a:latin typeface="+mj-ea"/>
              <a:ea typeface="+mj-ea"/>
            </a:endParaRPr>
          </a:p>
        </p:txBody>
      </p:sp>
      <p:sp>
        <p:nvSpPr>
          <p:cNvPr id="3" name="项标题"/>
          <p:cNvSpPr txBox="1"/>
          <p:nvPr>
            <p:custDataLst>
              <p:tags r:id="rId11"/>
            </p:custDataLst>
          </p:nvPr>
        </p:nvSpPr>
        <p:spPr>
          <a:xfrm>
            <a:off x="6700520" y="4387215"/>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程序配置</a:t>
            </a:r>
            <a:endParaRPr lang="zh-CN" altLang="en-US" sz="2400" b="1" spc="300" dirty="0">
              <a:solidFill>
                <a:schemeClr val="accent1"/>
              </a:solidFill>
              <a:latin typeface="+mj-ea"/>
              <a:ea typeface="+mj-ea"/>
              <a:sym typeface="+mn-ea"/>
            </a:endParaRPr>
          </a:p>
        </p:txBody>
      </p:sp>
    </p:spTree>
    <p:custDataLst>
      <p:tags r:id="rId1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noChangeArrowheads="1"/>
          </p:cNvSpPr>
          <p:nvPr>
            <p:ph type="subTitle" idx="1"/>
          </p:nvPr>
        </p:nvSpPr>
        <p:spPr>
          <a:xfrm>
            <a:off x="95885" y="841375"/>
            <a:ext cx="11541760" cy="388620"/>
          </a:xfrm>
        </p:spPr>
        <p:txBody>
          <a:bodyPr>
            <a:noAutofit/>
          </a:bodyPr>
          <a:lstStyle/>
          <a:p>
            <a:pPr algn="l"/>
            <a:r>
              <a:rPr lang="zh-CN" altLang="en-US" sz="1400"/>
              <a:t>它由飞利浦公司（现为恩智浦半导体公司）在</a:t>
            </a:r>
            <a:r>
              <a:rPr lang="en-US" altLang="zh-CN" sz="1400"/>
              <a:t>20</a:t>
            </a:r>
            <a:r>
              <a:rPr lang="zh-CN" altLang="en-US" sz="1400"/>
              <a:t>世纪</a:t>
            </a:r>
            <a:r>
              <a:rPr lang="en-US" altLang="zh-CN" sz="1400"/>
              <a:t>80</a:t>
            </a:r>
            <a:r>
              <a:rPr lang="zh-CN" altLang="en-US" sz="1400"/>
              <a:t>年代初开发，广泛应用于各种嵌入式系统。</a:t>
            </a:r>
            <a:endParaRPr lang="zh-CN" altLang="en-US" sz="1400"/>
          </a:p>
        </p:txBody>
      </p:sp>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1427480"/>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物理层</a:t>
            </a:r>
            <a:endParaRPr lang="zh-CN" altLang="en-US" sz="2000"/>
          </a:p>
        </p:txBody>
      </p:sp>
      <p:sp>
        <p:nvSpPr>
          <p:cNvPr id="7" name="文本框 6"/>
          <p:cNvSpPr txBox="1"/>
          <p:nvPr/>
        </p:nvSpPr>
        <p:spPr>
          <a:xfrm>
            <a:off x="520700" y="1983740"/>
            <a:ext cx="3024505" cy="3622040"/>
          </a:xfrm>
          <a:prstGeom prst="rect">
            <a:avLst/>
          </a:prstGeom>
        </p:spPr>
        <p:txBody>
          <a:bodyPr wrap="square">
            <a:noAutofit/>
          </a:bodyPr>
          <a:lstStyle/>
          <a:p>
            <a:pPr marL="0" indent="0" algn="l" defTabSz="266700">
              <a:lnSpc>
                <a:spcPts val="1950"/>
              </a:lnSpc>
              <a:spcBef>
                <a:spcPts val="1800"/>
              </a:spcBef>
              <a:spcAft>
                <a:spcPts val="600"/>
              </a:spcAft>
            </a:pPr>
            <a:r>
              <a:rPr lang="zh-CN" altLang="en-US" sz="1600" b="0" i="0" dirty="0">
                <a:solidFill>
                  <a:srgbClr val="2A2A2A"/>
                </a:solidFill>
                <a:latin typeface="Arial" panose="020B0604020202020204"/>
                <a:ea typeface="Arial" panose="020B0604020202020204"/>
              </a:rPr>
              <a:t>硬件最重要的注意是在</a:t>
            </a:r>
            <a:r>
              <a:rPr lang="en-US" altLang="zh-CN" sz="1600" b="0" i="0" dirty="0">
                <a:solidFill>
                  <a:srgbClr val="2A2A2A"/>
                </a:solidFill>
                <a:latin typeface="Arial" panose="020B0604020202020204"/>
                <a:ea typeface="Arial" panose="020B0604020202020204"/>
              </a:rPr>
              <a:t>SDA</a:t>
            </a:r>
            <a:r>
              <a:rPr lang="zh-CN" altLang="en-US" sz="1600" b="0" i="0" dirty="0">
                <a:solidFill>
                  <a:srgbClr val="2A2A2A"/>
                </a:solidFill>
                <a:latin typeface="Arial" panose="020B0604020202020204"/>
                <a:ea typeface="Arial" panose="020B0604020202020204"/>
              </a:rPr>
              <a:t>和</a:t>
            </a:r>
            <a:r>
              <a:rPr lang="en-US" altLang="zh-CN" sz="1600" b="0" i="0" dirty="0">
                <a:solidFill>
                  <a:srgbClr val="2A2A2A"/>
                </a:solidFill>
                <a:latin typeface="Arial" panose="020B0604020202020204"/>
                <a:ea typeface="Arial" panose="020B0604020202020204"/>
              </a:rPr>
              <a:t>SCL</a:t>
            </a:r>
            <a:r>
              <a:rPr lang="zh-CN" altLang="en-US" sz="1600" b="0" i="0" dirty="0">
                <a:solidFill>
                  <a:srgbClr val="2A2A2A"/>
                </a:solidFill>
                <a:latin typeface="Arial" panose="020B0604020202020204"/>
                <a:ea typeface="Arial" panose="020B0604020202020204"/>
              </a:rPr>
              <a:t>上加入上拉电阻。</a:t>
            </a:r>
            <a:r>
              <a:rPr lang="en-US" altLang="zh-CN" sz="1600" b="0" i="0" dirty="0">
                <a:solidFill>
                  <a:srgbClr val="2A2A2A"/>
                </a:solidFill>
                <a:latin typeface="Arial" panose="020B0604020202020204"/>
                <a:ea typeface="Arial" panose="020B0604020202020204"/>
              </a:rPr>
              <a:t>I2C</a:t>
            </a:r>
            <a:r>
              <a:rPr lang="zh-CN" altLang="en-US" sz="1600" b="0" i="0" dirty="0">
                <a:solidFill>
                  <a:srgbClr val="2A2A2A"/>
                </a:solidFill>
                <a:latin typeface="Arial" panose="020B0604020202020204"/>
                <a:ea typeface="Arial" panose="020B0604020202020204"/>
              </a:rPr>
              <a:t>器件通过开集或开漏引脚连接到总线，将线路拉低。当没有数据传输时，</a:t>
            </a:r>
            <a:r>
              <a:rPr lang="en-US" altLang="zh-CN" sz="1600" b="0" i="0" dirty="0">
                <a:solidFill>
                  <a:srgbClr val="2A2A2A"/>
                </a:solidFill>
                <a:latin typeface="Arial" panose="020B0604020202020204"/>
                <a:ea typeface="Arial" panose="020B0604020202020204"/>
              </a:rPr>
              <a:t>I2C</a:t>
            </a:r>
            <a:r>
              <a:rPr lang="zh-CN" altLang="en-US" sz="1600" b="0" i="0" dirty="0">
                <a:solidFill>
                  <a:srgbClr val="2A2A2A"/>
                </a:solidFill>
                <a:latin typeface="Arial" panose="020B0604020202020204"/>
                <a:ea typeface="Arial" panose="020B0604020202020204"/>
              </a:rPr>
              <a:t>总线处于高电平空闲状态；线路被被动拉高。要传输数据，须切换线路，即先拉低再释放（又变为高电平）。数据位在时钟下降沿传输。</a:t>
            </a:r>
            <a:endParaRPr lang="zh-CN" altLang="en-US" sz="1600" b="0" i="0" dirty="0">
              <a:solidFill>
                <a:srgbClr val="2A2A2A"/>
              </a:solidFill>
              <a:latin typeface="Arial" panose="020B0604020202020204"/>
              <a:ea typeface="Arial" panose="020B0604020202020204"/>
            </a:endParaRPr>
          </a:p>
          <a:p>
            <a:pPr marL="0" indent="0" algn="l" defTabSz="266700">
              <a:lnSpc>
                <a:spcPts val="1950"/>
              </a:lnSpc>
              <a:spcBef>
                <a:spcPts val="1800"/>
              </a:spcBef>
              <a:spcAft>
                <a:spcPts val="600"/>
              </a:spcAft>
            </a:pPr>
            <a:r>
              <a:rPr lang="zh-CN" altLang="en-US" sz="1600" b="0" i="0" dirty="0">
                <a:solidFill>
                  <a:srgbClr val="2A2A2A"/>
                </a:solidFill>
                <a:latin typeface="Arial" panose="020B0604020202020204"/>
                <a:ea typeface="Arial" panose="020B0604020202020204"/>
              </a:rPr>
              <a:t>开漏输出需要一个上拉电阻才能正确输出高电平。上拉电阻连接在输出引脚和高电平所需的输出电压之间。</a:t>
            </a:r>
            <a:endParaRPr lang="zh-CN" altLang="en-US" sz="1600" b="0" i="0" dirty="0">
              <a:solidFill>
                <a:srgbClr val="2A2A2A"/>
              </a:solidFill>
              <a:latin typeface="Arial" panose="020B0604020202020204"/>
              <a:ea typeface="Arial" panose="020B0604020202020204"/>
            </a:endParaRPr>
          </a:p>
        </p:txBody>
      </p:sp>
      <p:pic>
        <p:nvPicPr>
          <p:cNvPr id="15" name="图片 9" descr="IMG_256"/>
          <p:cNvPicPr>
            <a:picLocks noChangeAspect="1"/>
          </p:cNvPicPr>
          <p:nvPr/>
        </p:nvPicPr>
        <p:blipFill>
          <a:blip r:embed="rId1"/>
          <a:stretch>
            <a:fillRect/>
          </a:stretch>
        </p:blipFill>
        <p:spPr>
          <a:xfrm>
            <a:off x="6094095" y="3078163"/>
            <a:ext cx="5273675" cy="2036445"/>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I2C</a:t>
            </a:r>
            <a:r>
              <a:rPr lang="zh-CN" altLang="en-US" sz="2000" b="1" spc="300">
                <a:latin typeface="+mj-ea"/>
                <a:ea typeface="+mj-ea"/>
                <a:sym typeface="+mn-ea"/>
              </a:rPr>
              <a:t>的主要特征</a:t>
            </a:r>
            <a:endParaRPr lang="zh-CN" altLang="en-US" sz="2000"/>
          </a:p>
        </p:txBody>
      </p:sp>
      <p:sp>
        <p:nvSpPr>
          <p:cNvPr id="7" name="文本框 6"/>
          <p:cNvSpPr txBox="1"/>
          <p:nvPr/>
        </p:nvSpPr>
        <p:spPr>
          <a:xfrm>
            <a:off x="511175" y="1473835"/>
            <a:ext cx="10577195" cy="4705985"/>
          </a:xfrm>
          <a:prstGeom prst="rect">
            <a:avLst/>
          </a:prstGeom>
        </p:spPr>
        <p:txBody>
          <a:bodyPr wrap="square">
            <a:noAutofit/>
          </a:bodyPr>
          <a:lstStyle/>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1.</a:t>
            </a:r>
            <a:r>
              <a:rPr lang="zh-CN" altLang="en-US" sz="1600" b="0" i="0" dirty="0">
                <a:solidFill>
                  <a:srgbClr val="2A2A2A"/>
                </a:solidFill>
                <a:latin typeface="Arial" panose="020B0604020202020204"/>
                <a:ea typeface="Arial" panose="020B0604020202020204"/>
              </a:rPr>
              <a:t>双线通信：</a:t>
            </a:r>
            <a:r>
              <a:rPr lang="en-US" altLang="zh-CN" sz="1600" b="0" i="0" dirty="0">
                <a:solidFill>
                  <a:srgbClr val="2A2A2A"/>
                </a:solidFill>
                <a:latin typeface="Arial" panose="020B0604020202020204"/>
                <a:ea typeface="Arial" panose="020B0604020202020204"/>
              </a:rPr>
              <a:t>I</a:t>
            </a:r>
            <a:r>
              <a:rPr lang="en-US" altLang="en-US" sz="1600" b="0" i="0" dirty="0">
                <a:solidFill>
                  <a:srgbClr val="2A2A2A"/>
                </a:solidFill>
                <a:latin typeface="Arial" panose="020B0604020202020204"/>
                <a:ea typeface="Arial" panose="020B0604020202020204"/>
              </a:rPr>
              <a:t>²</a:t>
            </a:r>
            <a:r>
              <a:rPr lang="en-US" altLang="zh-CN" sz="1600" b="0" i="0" dirty="0">
                <a:solidFill>
                  <a:srgbClr val="2A2A2A"/>
                </a:solidFill>
                <a:latin typeface="Arial" panose="020B0604020202020204"/>
                <a:ea typeface="Arial" panose="020B0604020202020204"/>
              </a:rPr>
              <a:t>C</a:t>
            </a:r>
            <a:r>
              <a:rPr lang="zh-CN" altLang="en-US" sz="1600" b="0" i="0" dirty="0">
                <a:solidFill>
                  <a:srgbClr val="2A2A2A"/>
                </a:solidFill>
                <a:latin typeface="Arial" panose="020B0604020202020204"/>
                <a:ea typeface="Arial" panose="020B0604020202020204"/>
              </a:rPr>
              <a:t>协议使用两根线进行通信，一根是数据线（</a:t>
            </a:r>
            <a:r>
              <a:rPr lang="en-US" altLang="zh-CN" sz="1600" b="0" i="0" dirty="0">
                <a:solidFill>
                  <a:srgbClr val="2A2A2A"/>
                </a:solidFill>
                <a:latin typeface="Arial" panose="020B0604020202020204"/>
                <a:ea typeface="Arial" panose="020B0604020202020204"/>
              </a:rPr>
              <a:t>SDA</a:t>
            </a:r>
            <a:r>
              <a:rPr lang="zh-CN" altLang="en-US" sz="1600" b="0" i="0" dirty="0">
                <a:solidFill>
                  <a:srgbClr val="2A2A2A"/>
                </a:solidFill>
                <a:latin typeface="Arial" panose="020B0604020202020204"/>
                <a:ea typeface="Arial" panose="020B0604020202020204"/>
              </a:rPr>
              <a:t>），另一根是时钟线（</a:t>
            </a:r>
            <a:r>
              <a:rPr lang="en-US" altLang="zh-CN" sz="1600" b="0" i="0" dirty="0">
                <a:solidFill>
                  <a:srgbClr val="2A2A2A"/>
                </a:solidFill>
                <a:latin typeface="Arial" panose="020B0604020202020204"/>
                <a:ea typeface="Arial" panose="020B0604020202020204"/>
              </a:rPr>
              <a:t>SCL</a:t>
            </a:r>
            <a:r>
              <a:rPr lang="zh-CN" altLang="en-US" sz="1600" b="0" i="0" dirty="0">
                <a:solidFill>
                  <a:srgbClr val="2A2A2A"/>
                </a:solidFill>
                <a:latin typeface="Arial" panose="020B0604020202020204"/>
                <a:ea typeface="Arial" panose="020B0604020202020204"/>
              </a:rPr>
              <a:t>）。这两条线是双向的，可以同时进行发送和接收数据。</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2.</a:t>
            </a:r>
            <a:r>
              <a:rPr lang="zh-CN" altLang="en-US" sz="1600" b="0" i="0" dirty="0">
                <a:solidFill>
                  <a:srgbClr val="2A2A2A"/>
                </a:solidFill>
                <a:latin typeface="Arial" panose="020B0604020202020204"/>
                <a:ea typeface="Arial" panose="020B0604020202020204"/>
              </a:rPr>
              <a:t>多主多从：</a:t>
            </a:r>
            <a:r>
              <a:rPr lang="en-US" altLang="zh-CN" sz="1600" b="0" i="0" dirty="0">
                <a:solidFill>
                  <a:srgbClr val="2A2A2A"/>
                </a:solidFill>
                <a:latin typeface="Arial" panose="020B0604020202020204"/>
                <a:ea typeface="Arial" panose="020B0604020202020204"/>
              </a:rPr>
              <a:t>I</a:t>
            </a:r>
            <a:r>
              <a:rPr lang="en-US" altLang="en-US" sz="1600" b="0" i="0" dirty="0">
                <a:solidFill>
                  <a:srgbClr val="2A2A2A"/>
                </a:solidFill>
                <a:latin typeface="Arial" panose="020B0604020202020204"/>
                <a:ea typeface="Arial" panose="020B0604020202020204"/>
              </a:rPr>
              <a:t>²</a:t>
            </a:r>
            <a:r>
              <a:rPr lang="en-US" altLang="zh-CN" sz="1600" b="0" i="0" dirty="0">
                <a:solidFill>
                  <a:srgbClr val="2A2A2A"/>
                </a:solidFill>
                <a:latin typeface="Arial" panose="020B0604020202020204"/>
                <a:ea typeface="Arial" panose="020B0604020202020204"/>
              </a:rPr>
              <a:t>C</a:t>
            </a:r>
            <a:r>
              <a:rPr lang="zh-CN" altLang="en-US" sz="1600" b="0" i="0" dirty="0">
                <a:solidFill>
                  <a:srgbClr val="2A2A2A"/>
                </a:solidFill>
                <a:latin typeface="Arial" panose="020B0604020202020204"/>
                <a:ea typeface="Arial" panose="020B0604020202020204"/>
              </a:rPr>
              <a:t>总线上可以有多个主设备和多个从设备。主设备是发起通信并控制时钟信号的设备，而从设备则响应主设备的请求。</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3.</a:t>
            </a:r>
            <a:r>
              <a:rPr lang="zh-CN" altLang="en-US" sz="1600" b="0" i="0" dirty="0">
                <a:solidFill>
                  <a:srgbClr val="2A2A2A"/>
                </a:solidFill>
                <a:latin typeface="Arial" panose="020B0604020202020204"/>
                <a:ea typeface="Arial" panose="020B0604020202020204"/>
              </a:rPr>
              <a:t>地址唯一性：每个从设备都有一个唯一的地址，这使得主设备能够与总线上特定的从设备进行通信。</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4.</a:t>
            </a:r>
            <a:r>
              <a:rPr lang="zh-CN" altLang="en-US" sz="1600" b="0" i="0" dirty="0">
                <a:solidFill>
                  <a:srgbClr val="2A2A2A"/>
                </a:solidFill>
                <a:latin typeface="Arial" panose="020B0604020202020204"/>
                <a:ea typeface="Arial" panose="020B0604020202020204"/>
              </a:rPr>
              <a:t>同步通信：数据传输由时钟信号同步，主设备生成时钟信号，从设备按时钟信号的节奏传输数据。</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5.</a:t>
            </a:r>
            <a:r>
              <a:rPr lang="zh-CN" altLang="en-US" sz="1600" b="0" i="0" dirty="0">
                <a:solidFill>
                  <a:srgbClr val="2A2A2A"/>
                </a:solidFill>
                <a:latin typeface="Arial" panose="020B0604020202020204"/>
                <a:ea typeface="Arial" panose="020B0604020202020204"/>
              </a:rPr>
              <a:t>速度和灵活性：</a:t>
            </a:r>
            <a:r>
              <a:rPr lang="en-US" altLang="zh-CN" sz="1600" b="0" i="0" dirty="0">
                <a:solidFill>
                  <a:srgbClr val="2A2A2A"/>
                </a:solidFill>
                <a:latin typeface="Arial" panose="020B0604020202020204"/>
                <a:ea typeface="Arial" panose="020B0604020202020204"/>
              </a:rPr>
              <a:t>I</a:t>
            </a:r>
            <a:r>
              <a:rPr lang="en-US" altLang="en-US" sz="1600" b="0" i="0" dirty="0">
                <a:solidFill>
                  <a:srgbClr val="2A2A2A"/>
                </a:solidFill>
                <a:latin typeface="Arial" panose="020B0604020202020204"/>
                <a:ea typeface="Arial" panose="020B0604020202020204"/>
              </a:rPr>
              <a:t>²</a:t>
            </a:r>
            <a:r>
              <a:rPr lang="en-US" altLang="zh-CN" sz="1600" b="0" i="0" dirty="0">
                <a:solidFill>
                  <a:srgbClr val="2A2A2A"/>
                </a:solidFill>
                <a:latin typeface="Arial" panose="020B0604020202020204"/>
                <a:ea typeface="Arial" panose="020B0604020202020204"/>
              </a:rPr>
              <a:t>C</a:t>
            </a:r>
            <a:r>
              <a:rPr lang="zh-CN" altLang="en-US" sz="1600" b="0" i="0" dirty="0">
                <a:solidFill>
                  <a:srgbClr val="2A2A2A"/>
                </a:solidFill>
                <a:latin typeface="Arial" panose="020B0604020202020204"/>
                <a:ea typeface="Arial" panose="020B0604020202020204"/>
              </a:rPr>
              <a:t>支持标准模式（</a:t>
            </a:r>
            <a:r>
              <a:rPr lang="en-US" altLang="zh-CN" sz="1600" b="0" i="0" dirty="0">
                <a:solidFill>
                  <a:srgbClr val="2A2A2A"/>
                </a:solidFill>
                <a:latin typeface="Arial" panose="020B0604020202020204"/>
                <a:ea typeface="Arial" panose="020B0604020202020204"/>
              </a:rPr>
              <a:t>100 kbps</a:t>
            </a:r>
            <a:r>
              <a:rPr lang="zh-CN" altLang="en-US" sz="1600" b="0" i="0" dirty="0">
                <a:solidFill>
                  <a:srgbClr val="2A2A2A"/>
                </a:solidFill>
                <a:latin typeface="Arial" panose="020B0604020202020204"/>
                <a:ea typeface="Arial" panose="020B0604020202020204"/>
              </a:rPr>
              <a:t>）、快速模式（</a:t>
            </a:r>
            <a:r>
              <a:rPr lang="en-US" altLang="zh-CN" sz="1600" b="0" i="0" dirty="0">
                <a:solidFill>
                  <a:srgbClr val="2A2A2A"/>
                </a:solidFill>
                <a:latin typeface="Arial" panose="020B0604020202020204"/>
                <a:ea typeface="Arial" panose="020B0604020202020204"/>
              </a:rPr>
              <a:t>400 kbps</a:t>
            </a:r>
            <a:r>
              <a:rPr lang="zh-CN" altLang="en-US" sz="1600" b="0" i="0" dirty="0">
                <a:solidFill>
                  <a:srgbClr val="2A2A2A"/>
                </a:solidFill>
                <a:latin typeface="Arial" panose="020B0604020202020204"/>
                <a:ea typeface="Arial" panose="020B0604020202020204"/>
              </a:rPr>
              <a:t>）、高速模式（</a:t>
            </a:r>
            <a:r>
              <a:rPr lang="en-US" altLang="zh-CN" sz="1600" b="0" i="0" dirty="0">
                <a:solidFill>
                  <a:srgbClr val="2A2A2A"/>
                </a:solidFill>
                <a:latin typeface="Arial" panose="020B0604020202020204"/>
                <a:ea typeface="Arial" panose="020B0604020202020204"/>
              </a:rPr>
              <a:t>3.4 Mbps</a:t>
            </a:r>
            <a:r>
              <a:rPr lang="zh-CN" altLang="en-US" sz="1600" b="0" i="0" dirty="0">
                <a:solidFill>
                  <a:srgbClr val="2A2A2A"/>
                </a:solidFill>
                <a:latin typeface="Arial" panose="020B0604020202020204"/>
                <a:ea typeface="Arial" panose="020B0604020202020204"/>
              </a:rPr>
              <a:t>）、超高速模式（</a:t>
            </a:r>
            <a:r>
              <a:rPr lang="en-US" altLang="zh-CN" sz="1600" b="0" i="0" dirty="0">
                <a:solidFill>
                  <a:srgbClr val="2A2A2A"/>
                </a:solidFill>
                <a:latin typeface="Arial" panose="020B0604020202020204"/>
                <a:ea typeface="Arial" panose="020B0604020202020204"/>
              </a:rPr>
              <a:t>5 Mbps</a:t>
            </a:r>
            <a:r>
              <a:rPr lang="zh-CN" altLang="en-US" sz="1600" b="0" i="0" dirty="0">
                <a:solidFill>
                  <a:srgbClr val="2A2A2A"/>
                </a:solidFill>
                <a:latin typeface="Arial" panose="020B0604020202020204"/>
                <a:ea typeface="Arial" panose="020B0604020202020204"/>
              </a:rPr>
              <a:t>）等不同的通信速度。</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6.</a:t>
            </a:r>
            <a:r>
              <a:rPr lang="zh-CN" altLang="en-US" sz="1600" b="0" i="0" dirty="0">
                <a:solidFill>
                  <a:srgbClr val="2A2A2A"/>
                </a:solidFill>
                <a:latin typeface="Arial" panose="020B0604020202020204"/>
                <a:ea typeface="Arial" panose="020B0604020202020204"/>
              </a:rPr>
              <a:t>总线状态：</a:t>
            </a:r>
            <a:r>
              <a:rPr lang="en-US" altLang="zh-CN" sz="1600" b="0" i="0" dirty="0">
                <a:solidFill>
                  <a:srgbClr val="2A2A2A"/>
                </a:solidFill>
                <a:latin typeface="Arial" panose="020B0604020202020204"/>
                <a:ea typeface="Arial" panose="020B0604020202020204"/>
              </a:rPr>
              <a:t> I2C </a:t>
            </a:r>
            <a:r>
              <a:rPr lang="zh-CN" altLang="en-US" sz="1600" b="0" i="0" dirty="0">
                <a:solidFill>
                  <a:srgbClr val="2A2A2A"/>
                </a:solidFill>
                <a:latin typeface="Arial" panose="020B0604020202020204"/>
                <a:ea typeface="Arial" panose="020B0604020202020204"/>
              </a:rPr>
              <a:t>总线有五种状态，分别是空闲状态、起始信号、结束信号、响应信号、数据传输。</a:t>
            </a: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dirty="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dirty="0">
                <a:solidFill>
                  <a:srgbClr val="2A2A2A"/>
                </a:solidFill>
                <a:latin typeface="Arial" panose="020B0604020202020204"/>
                <a:ea typeface="Arial" panose="020B0604020202020204"/>
              </a:rPr>
              <a:t>I</a:t>
            </a:r>
            <a:r>
              <a:rPr lang="en-US" altLang="en-US" sz="1600" b="0" i="0" dirty="0">
                <a:solidFill>
                  <a:srgbClr val="2A2A2A"/>
                </a:solidFill>
                <a:latin typeface="Arial" panose="020B0604020202020204"/>
                <a:ea typeface="Arial" panose="020B0604020202020204"/>
              </a:rPr>
              <a:t>²</a:t>
            </a:r>
            <a:r>
              <a:rPr lang="en-US" altLang="zh-CN" sz="1600" b="0" i="0" dirty="0">
                <a:solidFill>
                  <a:srgbClr val="2A2A2A"/>
                </a:solidFill>
                <a:latin typeface="Arial" panose="020B0604020202020204"/>
                <a:ea typeface="Arial" panose="020B0604020202020204"/>
              </a:rPr>
              <a:t>C</a:t>
            </a:r>
            <a:r>
              <a:rPr lang="zh-CN" altLang="en-US" sz="1600" b="0" i="0" dirty="0">
                <a:solidFill>
                  <a:srgbClr val="2A2A2A"/>
                </a:solidFill>
                <a:latin typeface="Arial" panose="020B0604020202020204"/>
                <a:ea typeface="Arial" panose="020B0604020202020204"/>
              </a:rPr>
              <a:t>协议常用于传感器、显示器、</a:t>
            </a:r>
            <a:r>
              <a:rPr lang="en-US" altLang="zh-CN" sz="1600" b="0" i="0" dirty="0">
                <a:solidFill>
                  <a:srgbClr val="2A2A2A"/>
                </a:solidFill>
                <a:latin typeface="Arial" panose="020B0604020202020204"/>
                <a:ea typeface="Arial" panose="020B0604020202020204"/>
              </a:rPr>
              <a:t>EEPROM</a:t>
            </a:r>
            <a:r>
              <a:rPr lang="zh-CN" altLang="en-US" sz="1600" b="0" i="0" dirty="0">
                <a:solidFill>
                  <a:srgbClr val="2A2A2A"/>
                </a:solidFill>
                <a:latin typeface="Arial" panose="020B0604020202020204"/>
                <a:ea typeface="Arial" panose="020B0604020202020204"/>
              </a:rPr>
              <a:t>、实时时钟和其他外围设备的通信，因为它只需要两条通信线，简化了电路设计和连接。</a:t>
            </a:r>
            <a:endParaRPr lang="zh-CN" altLang="en-US" sz="1600" b="0" i="0" dirty="0">
              <a:solidFill>
                <a:srgbClr val="2A2A2A"/>
              </a:solidFill>
              <a:latin typeface="Arial" panose="020B0604020202020204"/>
              <a:ea typeface="Arial" panose="020B0604020202020204"/>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2087880"/>
          </a:xfrm>
          <a:prstGeom prst="rect">
            <a:avLst/>
          </a:prstGeom>
        </p:spPr>
        <p:txBody>
          <a:bodyPr wrap="square">
            <a:noAutofit/>
          </a:bodyPr>
          <a:lstStyle/>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7</a:t>
            </a:r>
            <a:r>
              <a:rPr lang="zh-CN" altLang="en-US" sz="1600" b="0" i="0">
                <a:solidFill>
                  <a:srgbClr val="2A2A2A"/>
                </a:solidFill>
                <a:latin typeface="Arial" panose="020B0604020202020204"/>
                <a:ea typeface="Arial" panose="020B0604020202020204"/>
              </a:rPr>
              <a:t>位</a:t>
            </a:r>
            <a:r>
              <a:rPr lang="en-US" altLang="zh-CN" sz="1600" b="0" i="0">
                <a:solidFill>
                  <a:srgbClr val="2A2A2A"/>
                </a:solidFill>
                <a:latin typeface="Arial" panose="020B0604020202020204"/>
                <a:ea typeface="Arial" panose="020B0604020202020204"/>
              </a:rPr>
              <a:t>/10</a:t>
            </a:r>
            <a:r>
              <a:rPr lang="zh-CN" altLang="en-US" sz="1600" b="0" i="0">
                <a:solidFill>
                  <a:srgbClr val="2A2A2A"/>
                </a:solidFill>
                <a:latin typeface="Arial" panose="020B0604020202020204"/>
                <a:ea typeface="Arial" panose="020B0604020202020204"/>
              </a:rPr>
              <a:t>位设备地址</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I2C </a:t>
            </a:r>
            <a:r>
              <a:rPr lang="zh-CN" altLang="en-US" sz="1600" b="0" i="0">
                <a:solidFill>
                  <a:srgbClr val="2A2A2A"/>
                </a:solidFill>
                <a:latin typeface="Arial" panose="020B0604020202020204"/>
                <a:ea typeface="Arial" panose="020B0604020202020204"/>
              </a:rPr>
              <a:t>通常有</a:t>
            </a:r>
            <a:r>
              <a:rPr lang="en-US" altLang="zh-CN" sz="1600" b="0" i="0">
                <a:solidFill>
                  <a:srgbClr val="2A2A2A"/>
                </a:solidFill>
                <a:latin typeface="Arial" panose="020B0604020202020204"/>
                <a:ea typeface="Arial" panose="020B0604020202020204"/>
              </a:rPr>
              <a:t> 7 </a:t>
            </a:r>
            <a:r>
              <a:rPr lang="zh-CN" altLang="en-US" sz="1600" b="0" i="0">
                <a:solidFill>
                  <a:srgbClr val="2A2A2A"/>
                </a:solidFill>
                <a:latin typeface="Arial" panose="020B0604020202020204"/>
                <a:ea typeface="Arial" panose="020B0604020202020204"/>
              </a:rPr>
              <a:t>位地址，并且只有</a:t>
            </a:r>
            <a:r>
              <a:rPr lang="en-US" altLang="zh-CN" sz="1600" b="0" i="0">
                <a:solidFill>
                  <a:srgbClr val="2A2A2A"/>
                </a:solidFill>
                <a:latin typeface="Arial" panose="020B0604020202020204"/>
                <a:ea typeface="Arial" panose="020B0604020202020204"/>
              </a:rPr>
              <a:t> 127 </a:t>
            </a:r>
            <a:r>
              <a:rPr lang="zh-CN" altLang="en-US" sz="1600" b="0" i="0">
                <a:solidFill>
                  <a:srgbClr val="2A2A2A"/>
                </a:solidFill>
                <a:latin typeface="Arial" panose="020B0604020202020204"/>
                <a:ea typeface="Arial" panose="020B0604020202020204"/>
              </a:rPr>
              <a:t>个不同的</a:t>
            </a:r>
            <a:r>
              <a:rPr lang="en-US" altLang="zh-CN" sz="1600" b="0" i="0">
                <a:solidFill>
                  <a:srgbClr val="2A2A2A"/>
                </a:solidFill>
                <a:latin typeface="Arial" panose="020B0604020202020204"/>
                <a:ea typeface="Arial" panose="020B0604020202020204"/>
              </a:rPr>
              <a:t> I2C </a:t>
            </a:r>
            <a:r>
              <a:rPr lang="zh-CN" altLang="en-US" sz="1600" b="0" i="0">
                <a:solidFill>
                  <a:srgbClr val="2A2A2A"/>
                </a:solidFill>
                <a:latin typeface="Arial" panose="020B0604020202020204"/>
                <a:ea typeface="Arial" panose="020B0604020202020204"/>
              </a:rPr>
              <a:t>设备。然而，实际上，</a:t>
            </a:r>
            <a:r>
              <a:rPr lang="en-US" altLang="zh-CN" sz="1600" b="0" i="0">
                <a:solidFill>
                  <a:srgbClr val="2A2A2A"/>
                </a:solidFill>
                <a:latin typeface="Arial" panose="020B0604020202020204"/>
                <a:ea typeface="Arial" panose="020B0604020202020204"/>
              </a:rPr>
              <a:t>I2C </a:t>
            </a:r>
            <a:r>
              <a:rPr lang="zh-CN" altLang="en-US" sz="1600" b="0" i="0">
                <a:solidFill>
                  <a:srgbClr val="2A2A2A"/>
                </a:solidFill>
                <a:latin typeface="Arial" panose="020B0604020202020204"/>
                <a:ea typeface="Arial" panose="020B0604020202020204"/>
              </a:rPr>
              <a:t>设备的类型要多得多，并且</a:t>
            </a:r>
            <a:r>
              <a:rPr lang="en-US" altLang="zh-CN" sz="1600" b="0" i="0">
                <a:solidFill>
                  <a:srgbClr val="2A2A2A"/>
                </a:solidFill>
                <a:latin typeface="Arial" panose="020B0604020202020204"/>
                <a:ea typeface="Arial" panose="020B0604020202020204"/>
              </a:rPr>
              <a:t> I2C </a:t>
            </a:r>
            <a:r>
              <a:rPr lang="zh-CN" altLang="en-US" sz="1600" b="0" i="0">
                <a:solidFill>
                  <a:srgbClr val="2A2A2A"/>
                </a:solidFill>
                <a:latin typeface="Arial" panose="020B0604020202020204"/>
                <a:ea typeface="Arial" panose="020B0604020202020204"/>
              </a:rPr>
              <a:t>设备很有可能在总线上具有相同的地址。</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为了克服这一限制，许多器件通过外部配置引脚使用双地址以及</a:t>
            </a:r>
            <a:r>
              <a:rPr lang="en-US" altLang="zh-CN" sz="1600" b="0" i="0">
                <a:solidFill>
                  <a:srgbClr val="2A2A2A"/>
                </a:solidFill>
                <a:latin typeface="Arial" panose="020B0604020202020204"/>
                <a:ea typeface="Arial" panose="020B0604020202020204"/>
              </a:rPr>
              <a:t> 10 </a:t>
            </a:r>
            <a:r>
              <a:rPr lang="zh-CN" altLang="en-US" sz="1600" b="0" i="0">
                <a:solidFill>
                  <a:srgbClr val="2A2A2A"/>
                </a:solidFill>
                <a:latin typeface="Arial" panose="020B0604020202020204"/>
                <a:ea typeface="Arial" panose="020B0604020202020204"/>
              </a:rPr>
              <a:t>位地址方案。</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10 </a:t>
            </a:r>
            <a:r>
              <a:rPr lang="zh-CN" altLang="en-US" sz="1600" b="0" i="0">
                <a:solidFill>
                  <a:srgbClr val="2A2A2A"/>
                </a:solidFill>
                <a:latin typeface="Arial" panose="020B0604020202020204"/>
                <a:ea typeface="Arial" panose="020B0604020202020204"/>
              </a:rPr>
              <a:t>位地址方案对普通</a:t>
            </a:r>
            <a:r>
              <a:rPr lang="en-US" altLang="zh-CN" sz="1600" b="0" i="0">
                <a:solidFill>
                  <a:srgbClr val="2A2A2A"/>
                </a:solidFill>
                <a:latin typeface="Arial" panose="020B0604020202020204"/>
                <a:ea typeface="Arial" panose="020B0604020202020204"/>
              </a:rPr>
              <a:t> I2C </a:t>
            </a:r>
            <a:r>
              <a:rPr lang="zh-CN" altLang="en-US" sz="1600" b="0" i="0">
                <a:solidFill>
                  <a:srgbClr val="2A2A2A"/>
                </a:solidFill>
                <a:latin typeface="Arial" panose="020B0604020202020204"/>
                <a:ea typeface="Arial" panose="020B0604020202020204"/>
              </a:rPr>
              <a:t>协议有两个影响：</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地址帧现在有两个字节而不是</a:t>
            </a:r>
            <a:r>
              <a:rPr lang="en-US" altLang="zh-CN" sz="1600" b="0" i="0">
                <a:solidFill>
                  <a:srgbClr val="2A2A2A"/>
                </a:solidFill>
                <a:latin typeface="Arial" panose="020B0604020202020204"/>
                <a:ea typeface="Arial" panose="020B0604020202020204"/>
              </a:rPr>
              <a:t> 1 </a:t>
            </a:r>
            <a:r>
              <a:rPr lang="zh-CN" altLang="en-US" sz="1600" b="0" i="0">
                <a:solidFill>
                  <a:srgbClr val="2A2A2A"/>
                </a:solidFill>
                <a:latin typeface="Arial" panose="020B0604020202020204"/>
                <a:ea typeface="Arial" panose="020B0604020202020204"/>
              </a:rPr>
              <a:t>个字节。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第一个字节的前五个最高有效位用于标识</a:t>
            </a:r>
            <a:r>
              <a:rPr lang="en-US" altLang="zh-CN" sz="1600" b="0" i="0">
                <a:solidFill>
                  <a:srgbClr val="2A2A2A"/>
                </a:solidFill>
                <a:latin typeface="Arial" panose="020B0604020202020204"/>
                <a:ea typeface="Arial" panose="020B0604020202020204"/>
              </a:rPr>
              <a:t> 10 </a:t>
            </a:r>
            <a:r>
              <a:rPr lang="zh-CN" altLang="en-US" sz="1600" b="0" i="0">
                <a:solidFill>
                  <a:srgbClr val="2A2A2A"/>
                </a:solidFill>
                <a:latin typeface="Arial" panose="020B0604020202020204"/>
                <a:ea typeface="Arial" panose="020B0604020202020204"/>
              </a:rPr>
              <a:t>位地址，约定为</a:t>
            </a:r>
            <a:r>
              <a:rPr lang="en-US" altLang="zh-CN" sz="1600" b="0" i="0">
                <a:solidFill>
                  <a:srgbClr val="2A2A2A"/>
                </a:solidFill>
                <a:latin typeface="Arial" panose="020B0604020202020204"/>
                <a:ea typeface="Arial" panose="020B0604020202020204"/>
              </a:rPr>
              <a:t>“11110”</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p:txBody>
      </p:sp>
      <p:pic>
        <p:nvPicPr>
          <p:cNvPr id="17" name="图片 11" descr="IMG_256"/>
          <p:cNvPicPr>
            <a:picLocks noChangeAspect="1"/>
          </p:cNvPicPr>
          <p:nvPr/>
        </p:nvPicPr>
        <p:blipFill>
          <a:blip r:embed="rId1"/>
          <a:stretch>
            <a:fillRect/>
          </a:stretch>
        </p:blipFill>
        <p:spPr>
          <a:xfrm>
            <a:off x="1266825" y="3391535"/>
            <a:ext cx="10068560" cy="3156585"/>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2087880"/>
          </a:xfrm>
          <a:prstGeom prst="rect">
            <a:avLst/>
          </a:prstGeom>
        </p:spPr>
        <p:txBody>
          <a:bodyPr wrap="square">
            <a:noAutofit/>
          </a:bodyPr>
          <a:lstStyle/>
          <a:p>
            <a:pPr algn="l" defTabSz="266700">
              <a:lnSpc>
                <a:spcPts val="1950"/>
              </a:lnSpc>
              <a:spcBef>
                <a:spcPts val="100"/>
              </a:spcBef>
              <a:spcAft>
                <a:spcPts val="100"/>
              </a:spcAft>
            </a:pPr>
            <a:endParaRPr lang="zh-CN" altLang="en-US" sz="1600" b="0" i="0">
              <a:solidFill>
                <a:srgbClr val="2A2A2A"/>
              </a:solidFill>
              <a:latin typeface="Arial" panose="020B0604020202020204"/>
              <a:ea typeface="Arial" panose="020B0604020202020204"/>
            </a:endParaRPr>
          </a:p>
        </p:txBody>
      </p:sp>
      <p:pic>
        <p:nvPicPr>
          <p:cNvPr id="18" name="图片 12" descr="IMG_256"/>
          <p:cNvPicPr>
            <a:picLocks noChangeAspect="1"/>
          </p:cNvPicPr>
          <p:nvPr/>
        </p:nvPicPr>
        <p:blipFill>
          <a:blip r:embed="rId1"/>
          <a:stretch>
            <a:fillRect/>
          </a:stretch>
        </p:blipFill>
        <p:spPr>
          <a:xfrm>
            <a:off x="2190750" y="777240"/>
            <a:ext cx="8955405" cy="2181225"/>
          </a:xfrm>
          <a:prstGeom prst="rect">
            <a:avLst/>
          </a:prstGeom>
          <a:noFill/>
          <a:ln w="9525">
            <a:noFill/>
          </a:ln>
        </p:spPr>
      </p:pic>
      <p:pic>
        <p:nvPicPr>
          <p:cNvPr id="19" name="图片 13" descr="IMG_256"/>
          <p:cNvPicPr>
            <a:picLocks noChangeAspect="1"/>
          </p:cNvPicPr>
          <p:nvPr/>
        </p:nvPicPr>
        <p:blipFill>
          <a:blip r:embed="rId2"/>
          <a:stretch>
            <a:fillRect/>
          </a:stretch>
        </p:blipFill>
        <p:spPr>
          <a:xfrm>
            <a:off x="0" y="3197860"/>
            <a:ext cx="12048490" cy="3280410"/>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写数据步骤</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起始信号</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：主设备通过拉低</a:t>
            </a:r>
            <a:r>
              <a:rPr lang="en-US" altLang="zh-CN" sz="1600" b="0" i="0">
                <a:solidFill>
                  <a:srgbClr val="2A2A2A"/>
                </a:solidFill>
                <a:latin typeface="Arial" panose="020B0604020202020204"/>
                <a:ea typeface="Arial" panose="020B0604020202020204"/>
              </a:rPr>
              <a:t>SDA</a:t>
            </a:r>
            <a:r>
              <a:rPr lang="zh-CN" altLang="en-US" sz="1600" b="0" i="0">
                <a:solidFill>
                  <a:srgbClr val="2A2A2A"/>
                </a:solidFill>
                <a:latin typeface="Arial" panose="020B0604020202020204"/>
                <a:ea typeface="Arial" panose="020B0604020202020204"/>
              </a:rPr>
              <a:t>线，同时保持</a:t>
            </a:r>
            <a:r>
              <a:rPr lang="en-US" altLang="zh-CN" sz="1600" b="0" i="0">
                <a:solidFill>
                  <a:srgbClr val="2A2A2A"/>
                </a:solidFill>
                <a:latin typeface="Arial" panose="020B0604020202020204"/>
                <a:ea typeface="Arial" panose="020B0604020202020204"/>
              </a:rPr>
              <a:t>SCL</a:t>
            </a:r>
            <a:r>
              <a:rPr lang="zh-CN" altLang="en-US" sz="1600" b="0" i="0">
                <a:solidFill>
                  <a:srgbClr val="2A2A2A"/>
                </a:solidFill>
                <a:latin typeface="Arial" panose="020B0604020202020204"/>
                <a:ea typeface="Arial" panose="020B0604020202020204"/>
              </a:rPr>
              <a:t>线为高电平，来发送起始信号。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发送从设备地址</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：主设备发送从设备的</a:t>
            </a:r>
            <a:r>
              <a:rPr lang="en-US" altLang="zh-CN" sz="1600" b="0" i="0">
                <a:solidFill>
                  <a:srgbClr val="2A2A2A"/>
                </a:solidFill>
                <a:latin typeface="Arial" panose="020B0604020202020204"/>
                <a:ea typeface="Arial" panose="020B0604020202020204"/>
              </a:rPr>
              <a:t>7</a:t>
            </a:r>
            <a:r>
              <a:rPr lang="zh-CN" altLang="en-US" sz="1600" b="0" i="0">
                <a:solidFill>
                  <a:srgbClr val="2A2A2A"/>
                </a:solidFill>
                <a:latin typeface="Arial" panose="020B0604020202020204"/>
                <a:ea typeface="Arial" panose="020B0604020202020204"/>
              </a:rPr>
              <a:t>位地址，并加上一个读</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写位（</a:t>
            </a:r>
            <a:r>
              <a:rPr lang="en-US" altLang="zh-CN" sz="1600" b="0" i="0">
                <a:solidFill>
                  <a:srgbClr val="2A2A2A"/>
                </a:solidFill>
                <a:latin typeface="Arial" panose="020B0604020202020204"/>
                <a:ea typeface="Arial" panose="020B0604020202020204"/>
              </a:rPr>
              <a:t>0</a:t>
            </a:r>
            <a:r>
              <a:rPr lang="zh-CN" altLang="en-US" sz="1600" b="0" i="0">
                <a:solidFill>
                  <a:srgbClr val="2A2A2A"/>
                </a:solidFill>
                <a:latin typeface="Arial" panose="020B0604020202020204"/>
                <a:ea typeface="Arial" panose="020B0604020202020204"/>
              </a:rPr>
              <a:t>表示写操作）。</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等待应答</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：从设备接收到地址后，如果地址匹配，会通过拉低</a:t>
            </a:r>
            <a:r>
              <a:rPr lang="en-US" altLang="zh-CN" sz="1600" b="0" i="0">
                <a:solidFill>
                  <a:srgbClr val="2A2A2A"/>
                </a:solidFill>
                <a:latin typeface="Arial" panose="020B0604020202020204"/>
                <a:ea typeface="Arial" panose="020B0604020202020204"/>
              </a:rPr>
              <a:t>SDA</a:t>
            </a:r>
            <a:r>
              <a:rPr lang="zh-CN" altLang="en-US" sz="1600" b="0" i="0">
                <a:solidFill>
                  <a:srgbClr val="2A2A2A"/>
                </a:solidFill>
                <a:latin typeface="Arial" panose="020B0604020202020204"/>
                <a:ea typeface="Arial" panose="020B0604020202020204"/>
              </a:rPr>
              <a:t>线发送一个应答信号（</a:t>
            </a:r>
            <a:r>
              <a:rPr lang="en-US" altLang="zh-CN" sz="1600" b="0" i="0">
                <a:solidFill>
                  <a:srgbClr val="2A2A2A"/>
                </a:solidFill>
                <a:latin typeface="Arial" panose="020B0604020202020204"/>
                <a:ea typeface="Arial" panose="020B0604020202020204"/>
              </a:rPr>
              <a:t>ACK</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发送寄存器地址</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：主设备发送想要写入数据的寄存器地址。</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再次等待应答</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：从设备接收到寄存器地址后，再次发送</a:t>
            </a:r>
            <a:r>
              <a:rPr lang="en-US" altLang="zh-CN" sz="1600" b="0" i="0">
                <a:solidFill>
                  <a:srgbClr val="2A2A2A"/>
                </a:solidFill>
                <a:latin typeface="Arial" panose="020B0604020202020204"/>
                <a:ea typeface="Arial" panose="020B0604020202020204"/>
              </a:rPr>
              <a:t>ACK</a:t>
            </a:r>
            <a:r>
              <a:rPr lang="zh-CN" altLang="en-US" sz="1600" b="0" i="0">
                <a:solidFill>
                  <a:srgbClr val="2A2A2A"/>
                </a:solidFill>
                <a:latin typeface="Arial" panose="020B0604020202020204"/>
                <a:ea typeface="Arial" panose="020B0604020202020204"/>
              </a:rPr>
              <a:t>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发送数据</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：主设备开始发送想要写入从设备寄存器的数据，通常以</a:t>
            </a:r>
            <a:r>
              <a:rPr lang="en-US" altLang="zh-CN" sz="1600" b="0" i="0">
                <a:solidFill>
                  <a:srgbClr val="2A2A2A"/>
                </a:solidFill>
                <a:latin typeface="Arial" panose="020B0604020202020204"/>
                <a:ea typeface="Arial" panose="020B0604020202020204"/>
              </a:rPr>
              <a:t>8</a:t>
            </a:r>
            <a:r>
              <a:rPr lang="zh-CN" altLang="en-US" sz="1600" b="0" i="0">
                <a:solidFill>
                  <a:srgbClr val="2A2A2A"/>
                </a:solidFill>
                <a:latin typeface="Arial" panose="020B0604020202020204"/>
                <a:ea typeface="Arial" panose="020B0604020202020204"/>
              </a:rPr>
              <a:t>位字节的形式发送。</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每次数据后等待应答</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：每次发送一个字节的数据后，主设备需要等待从设备的应答信号。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结束信号</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：主设备在所有数据发送完毕后，通过拉高</a:t>
            </a:r>
            <a:r>
              <a:rPr lang="en-US" altLang="zh-CN" sz="1600" b="0" i="0">
                <a:solidFill>
                  <a:srgbClr val="2A2A2A"/>
                </a:solidFill>
                <a:latin typeface="Arial" panose="020B0604020202020204"/>
                <a:ea typeface="Arial" panose="020B0604020202020204"/>
              </a:rPr>
              <a:t>SDA</a:t>
            </a:r>
            <a:r>
              <a:rPr lang="zh-CN" altLang="en-US" sz="1600" b="0" i="0">
                <a:solidFill>
                  <a:srgbClr val="2A2A2A"/>
                </a:solidFill>
                <a:latin typeface="Arial" panose="020B0604020202020204"/>
                <a:ea typeface="Arial" panose="020B0604020202020204"/>
              </a:rPr>
              <a:t>线并保持</a:t>
            </a:r>
            <a:r>
              <a:rPr lang="en-US" altLang="zh-CN" sz="1600" b="0" i="0">
                <a:solidFill>
                  <a:srgbClr val="2A2A2A"/>
                </a:solidFill>
                <a:latin typeface="Arial" panose="020B0604020202020204"/>
                <a:ea typeface="Arial" panose="020B0604020202020204"/>
              </a:rPr>
              <a:t>SCL</a:t>
            </a:r>
            <a:r>
              <a:rPr lang="zh-CN" altLang="en-US" sz="1600" b="0" i="0">
                <a:solidFill>
                  <a:srgbClr val="2A2A2A"/>
                </a:solidFill>
                <a:latin typeface="Arial" panose="020B0604020202020204"/>
                <a:ea typeface="Arial" panose="020B0604020202020204"/>
              </a:rPr>
              <a:t>线为高电平，来发送结束信号。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endParaRPr lang="zh-CN" altLang="en-US" sz="1600" b="0" i="0">
              <a:solidFill>
                <a:srgbClr val="2A2A2A"/>
              </a:solidFill>
              <a:latin typeface="Arial" panose="020B0604020202020204"/>
              <a:ea typeface="Arial" panose="020B0604020202020204"/>
            </a:endParaRPr>
          </a:p>
        </p:txBody>
      </p:sp>
      <p:pic>
        <p:nvPicPr>
          <p:cNvPr id="21" name="图片 15"/>
          <p:cNvPicPr>
            <a:picLocks noChangeAspect="1"/>
          </p:cNvPicPr>
          <p:nvPr/>
        </p:nvPicPr>
        <p:blipFill>
          <a:blip r:embed="rId1"/>
          <a:stretch>
            <a:fillRect/>
          </a:stretch>
        </p:blipFill>
        <p:spPr>
          <a:xfrm>
            <a:off x="835025" y="3726815"/>
            <a:ext cx="9356090" cy="2785110"/>
          </a:xfrm>
          <a:prstGeom prst="rect">
            <a:avLst/>
          </a:prstGeom>
          <a:noFill/>
          <a:ln>
            <a:noFill/>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a:sym typeface="+mn-ea"/>
              </a:rPr>
              <a:t>I2C</a:t>
            </a:r>
            <a:r>
              <a:rPr lang="zh-CN" altLang="en-US">
                <a:sym typeface="+mn-ea"/>
              </a:rPr>
              <a: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读数据步骤</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起始信号</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：主设备发送起始信号。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发送从设备地址</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：主设备发送从设备的</a:t>
            </a:r>
            <a:r>
              <a:rPr lang="en-US" altLang="zh-CN" sz="1600" b="0" i="0">
                <a:solidFill>
                  <a:srgbClr val="2A2A2A"/>
                </a:solidFill>
                <a:latin typeface="Arial" panose="020B0604020202020204"/>
                <a:ea typeface="Arial" panose="020B0604020202020204"/>
              </a:rPr>
              <a:t>7</a:t>
            </a:r>
            <a:r>
              <a:rPr lang="zh-CN" altLang="en-US" sz="1600" b="0" i="0">
                <a:solidFill>
                  <a:srgbClr val="2A2A2A"/>
                </a:solidFill>
                <a:latin typeface="Arial" panose="020B0604020202020204"/>
                <a:ea typeface="Arial" panose="020B0604020202020204"/>
              </a:rPr>
              <a:t>位地址，并加上一个读</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写位（</a:t>
            </a:r>
            <a:r>
              <a:rPr lang="en-US" altLang="zh-CN" sz="1600" b="0" i="0">
                <a:solidFill>
                  <a:srgbClr val="2A2A2A"/>
                </a:solidFill>
                <a:latin typeface="Arial" panose="020B0604020202020204"/>
                <a:ea typeface="Arial" panose="020B0604020202020204"/>
              </a:rPr>
              <a:t>1</a:t>
            </a:r>
            <a:r>
              <a:rPr lang="zh-CN" altLang="en-US" sz="1600" b="0" i="0">
                <a:solidFill>
                  <a:srgbClr val="2A2A2A"/>
                </a:solidFill>
                <a:latin typeface="Arial" panose="020B0604020202020204"/>
                <a:ea typeface="Arial" panose="020B0604020202020204"/>
              </a:rPr>
              <a:t>表示读操作）。</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等待应答</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：从设备接收到地址后，发送</a:t>
            </a:r>
            <a:r>
              <a:rPr lang="en-US" altLang="zh-CN" sz="1600" b="0" i="0">
                <a:solidFill>
                  <a:srgbClr val="2A2A2A"/>
                </a:solidFill>
                <a:latin typeface="Arial" panose="020B0604020202020204"/>
                <a:ea typeface="Arial" panose="020B0604020202020204"/>
              </a:rPr>
              <a:t>ACK</a:t>
            </a:r>
            <a:r>
              <a:rPr lang="zh-CN" altLang="en-US" sz="1600" b="0" i="0">
                <a:solidFill>
                  <a:srgbClr val="2A2A2A"/>
                </a:solidFill>
                <a:latin typeface="Arial" panose="020B0604020202020204"/>
                <a:ea typeface="Arial" panose="020B0604020202020204"/>
              </a:rPr>
              <a:t>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发送寄存器地址</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：主设备发送想要读取的寄存器地址。</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再次等待应答</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：从设备接收到寄存器地址后，再次发送</a:t>
            </a:r>
            <a:r>
              <a:rPr lang="en-US" altLang="zh-CN" sz="1600" b="0" i="0">
                <a:solidFill>
                  <a:srgbClr val="2A2A2A"/>
                </a:solidFill>
                <a:latin typeface="Arial" panose="020B0604020202020204"/>
                <a:ea typeface="Arial" panose="020B0604020202020204"/>
              </a:rPr>
              <a:t>ACK</a:t>
            </a:r>
            <a:r>
              <a:rPr lang="zh-CN" altLang="en-US" sz="1600" b="0" i="0">
                <a:solidFill>
                  <a:srgbClr val="2A2A2A"/>
                </a:solidFill>
                <a:latin typeface="Arial" panose="020B0604020202020204"/>
                <a:ea typeface="Arial" panose="020B0604020202020204"/>
              </a:rPr>
              <a:t>信号。</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读取数据</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：从设备开始发送数据，主设备在每次接收到数据后需要发送</a:t>
            </a:r>
            <a:r>
              <a:rPr lang="en-US" altLang="zh-CN" sz="1600" b="0" i="0">
                <a:solidFill>
                  <a:srgbClr val="2A2A2A"/>
                </a:solidFill>
                <a:latin typeface="Arial" panose="020B0604020202020204"/>
                <a:ea typeface="Arial" panose="020B0604020202020204"/>
              </a:rPr>
              <a:t>ACK</a:t>
            </a:r>
            <a:r>
              <a:rPr lang="zh-CN" altLang="en-US" sz="1600" b="0" i="0">
                <a:solidFill>
                  <a:srgbClr val="2A2A2A"/>
                </a:solidFill>
                <a:latin typeface="Arial" panose="020B0604020202020204"/>
                <a:ea typeface="Arial" panose="020B0604020202020204"/>
              </a:rPr>
              <a:t>或</a:t>
            </a:r>
            <a:r>
              <a:rPr lang="en-US" altLang="zh-CN" sz="1600" b="0" i="0">
                <a:solidFill>
                  <a:srgbClr val="2A2A2A"/>
                </a:solidFill>
                <a:latin typeface="Arial" panose="020B0604020202020204"/>
                <a:ea typeface="Arial" panose="020B0604020202020204"/>
              </a:rPr>
              <a:t>NACK</a:t>
            </a:r>
            <a:r>
              <a:rPr lang="zh-CN" altLang="en-US" sz="1600" b="0" i="0">
                <a:solidFill>
                  <a:srgbClr val="2A2A2A"/>
                </a:solidFill>
                <a:latin typeface="Arial" panose="020B0604020202020204"/>
                <a:ea typeface="Arial" panose="020B0604020202020204"/>
              </a:rPr>
              <a:t>信号来控制读取的继续或停止。</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结束信号</a:t>
            </a:r>
            <a:r>
              <a:rPr lang="en-US" altLang="zh-CN" sz="1600" b="0" i="0">
                <a:solidFill>
                  <a:srgbClr val="2A2A2A"/>
                </a:solidFill>
                <a:latin typeface="Arial" panose="020B0604020202020204"/>
                <a:ea typeface="Arial" panose="020B0604020202020204"/>
              </a:rPr>
              <a:t>‌</a:t>
            </a:r>
            <a:r>
              <a:rPr lang="zh-CN" altLang="en-US" sz="1600" b="0" i="0">
                <a:solidFill>
                  <a:srgbClr val="2A2A2A"/>
                </a:solidFill>
                <a:latin typeface="Arial" panose="020B0604020202020204"/>
                <a:ea typeface="Arial" panose="020B0604020202020204"/>
              </a:rPr>
              <a:t>：主设备在读取完所有需要的数据后，发送结束信号来结束通信。</a:t>
            </a:r>
            <a:endParaRPr lang="zh-CN" altLang="en-US" sz="1600" b="0" i="0">
              <a:solidFill>
                <a:srgbClr val="2A2A2A"/>
              </a:solidFill>
              <a:latin typeface="Arial" panose="020B0604020202020204"/>
              <a:ea typeface="Arial" panose="020B0604020202020204"/>
            </a:endParaRPr>
          </a:p>
        </p:txBody>
      </p:sp>
      <p:pic>
        <p:nvPicPr>
          <p:cNvPr id="20" name="图片 14" descr="IMG_256"/>
          <p:cNvPicPr>
            <a:picLocks noChangeAspect="1"/>
          </p:cNvPicPr>
          <p:nvPr/>
        </p:nvPicPr>
        <p:blipFill>
          <a:blip r:embed="rId1"/>
          <a:srcRect l="-1384" t="50948"/>
          <a:stretch>
            <a:fillRect/>
          </a:stretch>
        </p:blipFill>
        <p:spPr>
          <a:xfrm>
            <a:off x="615315" y="3510915"/>
            <a:ext cx="9680575" cy="2689225"/>
          </a:xfrm>
          <a:prstGeom prst="rect">
            <a:avLst/>
          </a:prstGeom>
          <a:noFill/>
          <a:ln w="9525">
            <a:noFill/>
          </a:ln>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与</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类似，按照从机地址去寻址操作</a:t>
            </a:r>
            <a:endParaRPr lang="zh-CN" altLang="en-US" sz="1600" b="0" i="0">
              <a:solidFill>
                <a:srgbClr val="2A2A2A"/>
              </a:solidFill>
              <a:latin typeface="Arial" panose="020B0604020202020204"/>
              <a:ea typeface="Arial" panose="020B0604020202020204"/>
            </a:endParaRPr>
          </a:p>
        </p:txBody>
      </p:sp>
      <p:pic>
        <p:nvPicPr>
          <p:cNvPr id="2" name="图片 1"/>
          <p:cNvPicPr/>
          <p:nvPr/>
        </p:nvPicPr>
        <p:blipFill>
          <a:blip r:embed="rId1"/>
          <a:stretch>
            <a:fillRect/>
          </a:stretch>
        </p:blipFill>
        <p:spPr>
          <a:xfrm>
            <a:off x="181610" y="1584960"/>
            <a:ext cx="5293995" cy="5436235"/>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085080"/>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与</a:t>
            </a:r>
            <a:r>
              <a:rPr lang="en-US" altLang="zh-CN" sz="1600" b="0" i="0">
                <a:solidFill>
                  <a:srgbClr val="2A2A2A"/>
                </a:solidFill>
                <a:latin typeface="Arial" panose="020B0604020202020204"/>
                <a:ea typeface="Arial" panose="020B0604020202020204"/>
              </a:rPr>
              <a:t>SPI</a:t>
            </a:r>
            <a:r>
              <a:rPr lang="zh-CN" altLang="en-US" sz="1600" b="0" i="0">
                <a:solidFill>
                  <a:srgbClr val="2A2A2A"/>
                </a:solidFill>
                <a:latin typeface="Arial" panose="020B0604020202020204"/>
                <a:ea typeface="Arial" panose="020B0604020202020204"/>
              </a:rPr>
              <a:t>类似，按照从机地址去寻址操作</a:t>
            </a:r>
            <a:endParaRPr lang="zh-CN" altLang="en-US" sz="1600" b="0" i="0">
              <a:solidFill>
                <a:srgbClr val="2A2A2A"/>
              </a:solidFill>
              <a:latin typeface="Arial" panose="020B0604020202020204"/>
              <a:ea typeface="Arial" panose="020B0604020202020204"/>
            </a:endParaRPr>
          </a:p>
        </p:txBody>
      </p:sp>
      <p:pic>
        <p:nvPicPr>
          <p:cNvPr id="3" name="图片 2"/>
          <p:cNvPicPr/>
          <p:nvPr/>
        </p:nvPicPr>
        <p:blipFill>
          <a:blip r:embed="rId1"/>
          <a:stretch>
            <a:fillRect/>
          </a:stretch>
        </p:blipFill>
        <p:spPr>
          <a:xfrm>
            <a:off x="6402944" y="278130"/>
            <a:ext cx="5604668" cy="701040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-&gt;I2C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5" name="图片 4"/>
          <p:cNvPicPr/>
          <p:nvPr/>
        </p:nvPicPr>
        <p:blipFill>
          <a:blip r:embed="rId1"/>
          <a:stretch>
            <a:fillRect/>
          </a:stretch>
        </p:blipFill>
        <p:spPr>
          <a:xfrm>
            <a:off x="656590" y="2137410"/>
            <a:ext cx="9392920" cy="4259580"/>
          </a:xfrm>
          <a:prstGeom prst="rect">
            <a:avLst/>
          </a:prstGeom>
        </p:spPr>
      </p:pic>
      <p:sp>
        <p:nvSpPr>
          <p:cNvPr id="2" name="文本框 1"/>
          <p:cNvSpPr txBox="1"/>
          <p:nvPr/>
        </p:nvSpPr>
        <p:spPr>
          <a:xfrm>
            <a:off x="6470968" y="1396683"/>
            <a:ext cx="5080000" cy="583565"/>
          </a:xfrm>
          <a:prstGeom prst="rect">
            <a:avLst/>
          </a:prstGeom>
        </p:spPr>
        <p:txBody>
          <a:bodyPr>
            <a:spAutoFit/>
          </a:bodyPr>
          <a:lstStyle/>
          <a:p>
            <a:pPr marL="0" indent="0"/>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STM32F407VET6 </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的硬件 </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I2C </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模块上只支持标准模式（</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100 kHz</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）和快速模式（</a:t>
            </a:r>
            <a:r>
              <a:rPr lang="en-US" altLang="zh-CN" sz="1600" b="0" i="0">
                <a:solidFill>
                  <a:srgbClr val="3C3C43"/>
                </a:solidFill>
                <a:latin typeface="宋体" panose="02010600030101010101" pitchFamily="2" charset="-122"/>
                <a:ea typeface="宋体" panose="02010600030101010101" pitchFamily="2" charset="-122"/>
                <a:cs typeface="宋体" panose="02010600030101010101" pitchFamily="2" charset="-122"/>
              </a:rPr>
              <a:t>400 kHz</a:t>
            </a:r>
            <a:r>
              <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rPr>
              <a:t>）</a:t>
            </a:r>
            <a:endParaRPr lang="zh-CN" altLang="en-US" sz="1600" b="0" i="0">
              <a:solidFill>
                <a:srgbClr val="3C3C43"/>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zh-CN" altLang="en-US">
                <a:sym typeface="+mn-ea"/>
              </a:rPr>
              <a:t>UART通信方式</a:t>
            </a:r>
            <a:endParaRPr lang="zh-CN" altLang="en-US">
              <a:latin typeface="Arial" panose="020B0604020202020204" pitchFamily="34" charset="0"/>
            </a:endParaRPr>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-&gt;I2C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4" name="图片 3"/>
          <p:cNvPicPr/>
          <p:nvPr/>
        </p:nvPicPr>
        <p:blipFill>
          <a:blip r:embed="rId1"/>
          <a:stretch>
            <a:fillRect/>
          </a:stretch>
        </p:blipFill>
        <p:spPr>
          <a:xfrm>
            <a:off x="347980" y="2237740"/>
            <a:ext cx="5385435" cy="382778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CAN</a:t>
            </a:r>
            <a:r>
              <a:rPr lang="zh-CN" altLang="en-US" spc="300" dirty="0">
                <a:latin typeface="+mj-ea"/>
                <a:sym typeface="+mn-ea"/>
              </a:rPr>
              <a:t>通讯</a:t>
            </a:r>
            <a:endParaRPr lang="zh-CN" altLang="en-US"/>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903" y="2204561"/>
            <a:ext cx="4794406" cy="907084"/>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物理层</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CAN</a:t>
            </a:r>
            <a:r>
              <a:rPr lang="zh-CN" altLang="en-US" sz="2400" b="1" spc="300" dirty="0">
                <a:solidFill>
                  <a:schemeClr val="accent1"/>
                </a:solidFill>
                <a:latin typeface="+mj-ea"/>
                <a:ea typeface="+mj-ea"/>
              </a:rPr>
              <a:t>的主要特征</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数据包格式</a:t>
            </a:r>
            <a:endParaRPr lang="zh-CN" altLang="en-US" sz="2400" b="1" spc="300" dirty="0">
              <a:solidFill>
                <a:schemeClr val="accent1"/>
              </a:solidFill>
              <a:latin typeface="+mj-ea"/>
              <a:ea typeface="+mj-ea"/>
            </a:endParaRPr>
          </a:p>
        </p:txBody>
      </p:sp>
      <p:sp>
        <p:nvSpPr>
          <p:cNvPr id="15" name="序号"/>
          <p:cNvSpPr txBox="1"/>
          <p:nvPr>
            <p:custDataLst>
              <p:tags r:id="rId8"/>
            </p:custDataLst>
          </p:nvPr>
        </p:nvSpPr>
        <p:spPr>
          <a:xfrm>
            <a:off x="5700395" y="3851910"/>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04.</a:t>
            </a:r>
            <a:endParaRPr lang="en-US" sz="2800">
              <a:solidFill>
                <a:schemeClr val="accent1">
                  <a:lumMod val="60000"/>
                  <a:lumOff val="40000"/>
                </a:schemeClr>
              </a:solidFill>
              <a:latin typeface="+mj-ea"/>
              <a:ea typeface="+mj-ea"/>
            </a:endParaRPr>
          </a:p>
        </p:txBody>
      </p:sp>
      <p:sp>
        <p:nvSpPr>
          <p:cNvPr id="16" name="项标题"/>
          <p:cNvSpPr txBox="1"/>
          <p:nvPr>
            <p:custDataLst>
              <p:tags r:id="rId9"/>
            </p:custDataLst>
          </p:nvPr>
        </p:nvSpPr>
        <p:spPr>
          <a:xfrm>
            <a:off x="6694805" y="3851910"/>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协议层</a:t>
            </a:r>
            <a:endParaRPr lang="zh-CN" altLang="en-US" sz="2400" b="1" spc="300" dirty="0">
              <a:solidFill>
                <a:schemeClr val="accent1"/>
              </a:solidFill>
              <a:latin typeface="+mj-ea"/>
              <a:ea typeface="+mj-ea"/>
            </a:endParaRPr>
          </a:p>
        </p:txBody>
      </p:sp>
      <p:sp>
        <p:nvSpPr>
          <p:cNvPr id="2" name="序号"/>
          <p:cNvSpPr txBox="1"/>
          <p:nvPr>
            <p:custDataLst>
              <p:tags r:id="rId10"/>
            </p:custDataLst>
          </p:nvPr>
        </p:nvSpPr>
        <p:spPr>
          <a:xfrm>
            <a:off x="5706110" y="4387215"/>
            <a:ext cx="791210" cy="456565"/>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05.</a:t>
            </a:r>
            <a:endParaRPr lang="en-US" sz="2800">
              <a:solidFill>
                <a:schemeClr val="accent1">
                  <a:lumMod val="60000"/>
                  <a:lumOff val="40000"/>
                </a:schemeClr>
              </a:solidFill>
              <a:latin typeface="+mj-ea"/>
              <a:ea typeface="+mj-ea"/>
            </a:endParaRPr>
          </a:p>
        </p:txBody>
      </p:sp>
      <p:sp>
        <p:nvSpPr>
          <p:cNvPr id="3" name="项标题"/>
          <p:cNvSpPr txBox="1"/>
          <p:nvPr>
            <p:custDataLst>
              <p:tags r:id="rId11"/>
            </p:custDataLst>
          </p:nvPr>
        </p:nvSpPr>
        <p:spPr>
          <a:xfrm>
            <a:off x="6700520" y="4387215"/>
            <a:ext cx="4794250" cy="45720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程序配置</a:t>
            </a:r>
            <a:endParaRPr lang="zh-CN" altLang="en-US" sz="2400" b="1" spc="300" dirty="0">
              <a:solidFill>
                <a:schemeClr val="accent1"/>
              </a:solidFill>
              <a:latin typeface="+mj-ea"/>
              <a:ea typeface="+mj-ea"/>
              <a:sym typeface="+mn-ea"/>
            </a:endParaRPr>
          </a:p>
        </p:txBody>
      </p:sp>
    </p:spTree>
    <p:custDataLst>
      <p:tags r:id="rId12"/>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noChangeArrowheads="1"/>
          </p:cNvSpPr>
          <p:nvPr>
            <p:ph type="subTitle" idx="1"/>
          </p:nvPr>
        </p:nvSpPr>
        <p:spPr>
          <a:xfrm>
            <a:off x="95885" y="841375"/>
            <a:ext cx="11541760" cy="1212215"/>
          </a:xfrm>
        </p:spPr>
        <p:txBody>
          <a:bodyPr>
            <a:noAutofit/>
          </a:bodyPr>
          <a:lstStyle/>
          <a:p>
            <a:pPr algn="l"/>
            <a:r>
              <a:rPr lang="en-US" altLang="zh-CN" sz="1400" dirty="0"/>
              <a:t>CAN </a:t>
            </a:r>
            <a:r>
              <a:rPr lang="zh-CN" altLang="en-US" sz="1400" dirty="0"/>
              <a:t>是控制器局域网络</a:t>
            </a:r>
            <a:r>
              <a:rPr lang="en-US" altLang="zh-CN" sz="1400" dirty="0"/>
              <a:t> (Controller Area Network) </a:t>
            </a:r>
            <a:r>
              <a:rPr lang="zh-CN" altLang="en-US" sz="1400" dirty="0"/>
              <a:t>的简称，它是由研发和生产汽车电子产品著称的德国</a:t>
            </a:r>
            <a:r>
              <a:rPr lang="en-US" altLang="zh-CN" sz="1400" dirty="0"/>
              <a:t> BOSCH </a:t>
            </a:r>
            <a:r>
              <a:rPr lang="zh-CN" altLang="en-US" sz="1400" dirty="0"/>
              <a:t>公司开发的，并最终成为国际标准（</a:t>
            </a:r>
            <a:r>
              <a:rPr lang="en-US" altLang="zh-CN" sz="1400" dirty="0"/>
              <a:t>ISO11519</a:t>
            </a:r>
            <a:r>
              <a:rPr lang="zh-CN" altLang="en-US" sz="1400" dirty="0"/>
              <a:t>），是国际上应用最广泛的现场总线之一。</a:t>
            </a:r>
            <a:r>
              <a:rPr lang="en-US" altLang="zh-CN" sz="1400" dirty="0"/>
              <a:t> </a:t>
            </a:r>
            <a:endParaRPr lang="en-US" altLang="zh-CN" sz="1400" dirty="0"/>
          </a:p>
          <a:p>
            <a:pPr algn="l"/>
            <a:r>
              <a:rPr lang="en-US" altLang="zh-CN" sz="1400" dirty="0"/>
              <a:t>CAN </a:t>
            </a:r>
            <a:r>
              <a:rPr lang="zh-CN" altLang="en-US" sz="1400" dirty="0"/>
              <a:t>总线协议已经成为汽车计算机控制系统和嵌入式工业控制局域网的标准总线，并且拥有以</a:t>
            </a:r>
            <a:r>
              <a:rPr lang="en-US" altLang="zh-CN" sz="1400" dirty="0"/>
              <a:t>CAN </a:t>
            </a:r>
            <a:r>
              <a:rPr lang="zh-CN" altLang="en-US" sz="1400" dirty="0"/>
              <a:t>为底层协议专为大型货车和重工机械车辆设计的</a:t>
            </a:r>
            <a:r>
              <a:rPr lang="en-US" altLang="zh-CN" sz="1400" dirty="0"/>
              <a:t> J1939 </a:t>
            </a:r>
            <a:r>
              <a:rPr lang="zh-CN" altLang="en-US" sz="1400" dirty="0"/>
              <a:t>协议。近年来，它具有的高可靠性和良好的错误检测能力受到重视，被广泛应用于汽车计算机控制系统和环境温度恶劣、电磁辐射强及振动大的工业环境。</a:t>
            </a:r>
            <a:endParaRPr lang="zh-CN" altLang="en-US" sz="1400" dirty="0"/>
          </a:p>
        </p:txBody>
      </p:sp>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pPr algn="l"/>
            <a:r>
              <a:rPr lang="en-US" altLang="zh-CN" dirty="0">
                <a:sym typeface="+mn-ea"/>
              </a:rPr>
              <a:t>CAN</a:t>
            </a:r>
            <a:r>
              <a:rPr lang="zh-CN" altLang="en-US" dirty="0">
                <a:sym typeface="+mn-ea"/>
              </a:rPr>
              <a:t>通信方式</a:t>
            </a:r>
            <a:endParaRPr lang="zh-CN" altLang="en-US" dirty="0">
              <a:latin typeface="Arial" panose="020B0604020202020204" pitchFamily="34" charset="0"/>
            </a:endParaRPr>
          </a:p>
        </p:txBody>
      </p:sp>
      <p:sp>
        <p:nvSpPr>
          <p:cNvPr id="6" name="副标题 2"/>
          <p:cNvSpPr>
            <a:spLocks noGrp="1" noChangeArrowheads="1"/>
          </p:cNvSpPr>
          <p:nvPr/>
        </p:nvSpPr>
        <p:spPr>
          <a:xfrm>
            <a:off x="181610" y="2053590"/>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物理层</a:t>
            </a:r>
            <a:endParaRPr lang="zh-CN" altLang="en-US" sz="2000"/>
          </a:p>
        </p:txBody>
      </p:sp>
      <p:sp>
        <p:nvSpPr>
          <p:cNvPr id="7" name="文本框 6"/>
          <p:cNvSpPr txBox="1"/>
          <p:nvPr/>
        </p:nvSpPr>
        <p:spPr>
          <a:xfrm>
            <a:off x="399415" y="2640330"/>
            <a:ext cx="3024505" cy="3622040"/>
          </a:xfrm>
          <a:prstGeom prst="rect">
            <a:avLst/>
          </a:prstGeom>
        </p:spPr>
        <p:txBody>
          <a:bodyPr wrap="square">
            <a:noAutofit/>
          </a:bodyPr>
          <a:lstStyle/>
          <a:p>
            <a:pPr marL="0" indent="0" algn="l" defTabSz="266700">
              <a:lnSpc>
                <a:spcPts val="1950"/>
              </a:lnSpc>
              <a:spcBef>
                <a:spcPts val="1800"/>
              </a:spcBef>
              <a:spcAft>
                <a:spcPts val="600"/>
              </a:spcAft>
            </a:pPr>
            <a:r>
              <a:rPr lang="zh-CN" altLang="en-US" sz="1600" b="0" i="0">
                <a:solidFill>
                  <a:srgbClr val="2A2A2A"/>
                </a:solidFill>
                <a:latin typeface="Arial" panose="020B0604020202020204"/>
                <a:ea typeface="Arial" panose="020B0604020202020204"/>
              </a:rPr>
              <a:t>与</a:t>
            </a:r>
            <a:r>
              <a:rPr lang="en-US" altLang="zh-CN" sz="1600" b="0" i="0">
                <a:solidFill>
                  <a:srgbClr val="2A2A2A"/>
                </a:solidFill>
                <a:latin typeface="Arial" panose="020B0604020202020204"/>
                <a:ea typeface="Arial" panose="020B0604020202020204"/>
              </a:rPr>
              <a:t> I2C</a:t>
            </a:r>
            <a:r>
              <a:rPr lang="zh-CN" altLang="en-US" sz="1600" b="0" i="0">
                <a:solidFill>
                  <a:srgbClr val="2A2A2A"/>
                </a:solidFill>
                <a:latin typeface="Arial" panose="020B0604020202020204"/>
                <a:ea typeface="Arial" panose="020B0604020202020204"/>
              </a:rPr>
              <a:t>、</a:t>
            </a:r>
            <a:r>
              <a:rPr lang="en-US" altLang="zh-CN" sz="1600" b="0" i="0">
                <a:solidFill>
                  <a:srgbClr val="2A2A2A"/>
                </a:solidFill>
                <a:latin typeface="Arial" panose="020B0604020202020204"/>
                <a:ea typeface="Arial" panose="020B0604020202020204"/>
              </a:rPr>
              <a:t>SPI </a:t>
            </a:r>
            <a:r>
              <a:rPr lang="zh-CN" altLang="en-US" sz="1600" b="0" i="0">
                <a:solidFill>
                  <a:srgbClr val="2A2A2A"/>
                </a:solidFill>
                <a:latin typeface="Arial" panose="020B0604020202020204"/>
                <a:ea typeface="Arial" panose="020B0604020202020204"/>
              </a:rPr>
              <a:t>等具有时钟信号的同步通讯方式不同，</a:t>
            </a: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通讯并不是以时钟信号来进行同步的，</a:t>
            </a:r>
            <a:r>
              <a:rPr lang="en-US" altLang="zh-CN" sz="1600" b="0" i="0">
                <a:solidFill>
                  <a:srgbClr val="2A2A2A"/>
                </a:solidFill>
                <a:latin typeface="Arial" panose="020B0604020202020204"/>
                <a:ea typeface="Arial" panose="020B0604020202020204"/>
              </a:rPr>
              <a:t> </a:t>
            </a:r>
            <a:r>
              <a:rPr lang="zh-CN" altLang="en-US" sz="1600" b="0" i="0">
                <a:solidFill>
                  <a:srgbClr val="2A2A2A"/>
                </a:solidFill>
                <a:latin typeface="Arial" panose="020B0604020202020204"/>
                <a:ea typeface="Arial" panose="020B0604020202020204"/>
              </a:rPr>
              <a:t>它是一种异步通讯，只具有</a:t>
            </a:r>
            <a:r>
              <a:rPr lang="en-US" altLang="zh-CN" sz="1600" b="0" i="0">
                <a:solidFill>
                  <a:srgbClr val="2A2A2A"/>
                </a:solidFill>
                <a:latin typeface="Arial" panose="020B0604020202020204"/>
                <a:ea typeface="Arial" panose="020B0604020202020204"/>
              </a:rPr>
              <a:t> CAN_High </a:t>
            </a:r>
            <a:r>
              <a:rPr lang="zh-CN" altLang="en-US" sz="1600" b="0" i="0">
                <a:solidFill>
                  <a:srgbClr val="2A2A2A"/>
                </a:solidFill>
                <a:latin typeface="Arial" panose="020B0604020202020204"/>
                <a:ea typeface="Arial" panose="020B0604020202020204"/>
              </a:rPr>
              <a:t>和</a:t>
            </a:r>
            <a:r>
              <a:rPr lang="en-US" altLang="zh-CN" sz="1600" b="0" i="0">
                <a:solidFill>
                  <a:srgbClr val="2A2A2A"/>
                </a:solidFill>
                <a:latin typeface="Arial" panose="020B0604020202020204"/>
                <a:ea typeface="Arial" panose="020B0604020202020204"/>
              </a:rPr>
              <a:t> CAN_Low </a:t>
            </a:r>
            <a:r>
              <a:rPr lang="zh-CN" altLang="en-US" sz="1600" b="0" i="0">
                <a:solidFill>
                  <a:srgbClr val="2A2A2A"/>
                </a:solidFill>
                <a:latin typeface="Arial" panose="020B0604020202020204"/>
                <a:ea typeface="Arial" panose="020B0604020202020204"/>
              </a:rPr>
              <a:t>两条信号线，共同构成一组差分信号线，以</a:t>
            </a:r>
            <a:r>
              <a:rPr lang="en-US" altLang="zh-CN" sz="1600" b="0" i="0">
                <a:solidFill>
                  <a:srgbClr val="2A2A2A"/>
                </a:solidFill>
                <a:latin typeface="Arial" panose="020B0604020202020204"/>
                <a:ea typeface="Arial" panose="020B0604020202020204"/>
              </a:rPr>
              <a:t> </a:t>
            </a:r>
            <a:r>
              <a:rPr lang="zh-CN" altLang="en-US" sz="1600" b="0" i="0">
                <a:solidFill>
                  <a:srgbClr val="2A2A2A"/>
                </a:solidFill>
                <a:latin typeface="Arial" panose="020B0604020202020204"/>
                <a:ea typeface="Arial" panose="020B0604020202020204"/>
              </a:rPr>
              <a:t>差分信号的形式进行通讯。</a:t>
            </a:r>
            <a:endParaRPr lang="zh-CN" altLang="en-US" sz="1600" b="0" i="0">
              <a:solidFill>
                <a:srgbClr val="2A2A2A"/>
              </a:solidFill>
              <a:latin typeface="Arial" panose="020B0604020202020204"/>
              <a:ea typeface="Arial" panose="020B0604020202020204"/>
            </a:endParaRPr>
          </a:p>
        </p:txBody>
      </p:sp>
      <p:pic>
        <p:nvPicPr>
          <p:cNvPr id="23" name="图片 17" descr="IMG_256"/>
          <p:cNvPicPr>
            <a:picLocks noChangeAspect="1"/>
          </p:cNvPicPr>
          <p:nvPr/>
        </p:nvPicPr>
        <p:blipFill>
          <a:blip r:embed="rId1"/>
          <a:stretch>
            <a:fillRect/>
          </a:stretch>
        </p:blipFill>
        <p:spPr>
          <a:xfrm>
            <a:off x="4457065" y="2640330"/>
            <a:ext cx="7730490" cy="3658235"/>
          </a:xfrm>
          <a:prstGeom prst="rect">
            <a:avLst/>
          </a:prstGeom>
          <a:noFill/>
          <a:ln w="9525">
            <a:noFill/>
          </a:ln>
        </p:spPr>
      </p:pic>
      <p:pic>
        <p:nvPicPr>
          <p:cNvPr id="24" name="图片 18" descr="IMG_256"/>
          <p:cNvPicPr>
            <a:picLocks noChangeAspect="1"/>
          </p:cNvPicPr>
          <p:nvPr/>
        </p:nvPicPr>
        <p:blipFill>
          <a:blip r:embed="rId2"/>
          <a:stretch>
            <a:fillRect/>
          </a:stretch>
        </p:blipFill>
        <p:spPr>
          <a:xfrm>
            <a:off x="0" y="4732020"/>
            <a:ext cx="4601845" cy="2289810"/>
          </a:xfrm>
          <a:prstGeom prst="rect">
            <a:avLst/>
          </a:prstGeom>
          <a:noFill/>
          <a:ln w="9525">
            <a:noFill/>
          </a:ln>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altLang="zh-CN" sz="2000" b="1" spc="300">
                <a:latin typeface="+mj-ea"/>
                <a:ea typeface="+mj-ea"/>
                <a:sym typeface="+mn-ea"/>
              </a:rPr>
              <a:t>CAN</a:t>
            </a:r>
            <a:r>
              <a:rPr lang="zh-CN" altLang="en-US" sz="2000" b="1" spc="300">
                <a:latin typeface="+mj-ea"/>
                <a:ea typeface="+mj-ea"/>
                <a:sym typeface="+mn-ea"/>
              </a:rPr>
              <a:t>的主要特征</a:t>
            </a:r>
            <a:endParaRPr lang="zh-CN" altLang="en-US" sz="2000"/>
          </a:p>
        </p:txBody>
      </p:sp>
      <p:sp>
        <p:nvSpPr>
          <p:cNvPr id="7" name="文本框 6"/>
          <p:cNvSpPr txBox="1"/>
          <p:nvPr/>
        </p:nvSpPr>
        <p:spPr>
          <a:xfrm>
            <a:off x="511175" y="1473835"/>
            <a:ext cx="10577195" cy="5106035"/>
          </a:xfrm>
          <a:prstGeom prst="rect">
            <a:avLst/>
          </a:prstGeom>
        </p:spPr>
        <p:txBody>
          <a:bodyPr wrap="square">
            <a:noAutofit/>
          </a:bodyPr>
          <a:lstStyle/>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1. </a:t>
            </a:r>
            <a:r>
              <a:rPr lang="zh-CN" altLang="en-US" sz="1600" b="0" i="0">
                <a:solidFill>
                  <a:srgbClr val="2A2A2A"/>
                </a:solidFill>
                <a:latin typeface="Arial" panose="020B0604020202020204"/>
                <a:ea typeface="Arial" panose="020B0604020202020204"/>
              </a:rPr>
              <a:t>高可靠性</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2. </a:t>
            </a:r>
            <a:r>
              <a:rPr lang="zh-CN" altLang="en-US" sz="1600" b="0" i="0">
                <a:solidFill>
                  <a:srgbClr val="2A2A2A"/>
                </a:solidFill>
                <a:latin typeface="Arial" panose="020B0604020202020204"/>
                <a:ea typeface="Arial" panose="020B0604020202020204"/>
              </a:rPr>
              <a:t>实时性</a:t>
            </a:r>
            <a:br>
              <a:rPr lang="zh-CN" altLang="en-US" sz="1600" b="0" i="0">
                <a:solidFill>
                  <a:srgbClr val="2A2A2A"/>
                </a:solidFill>
                <a:latin typeface="Arial" panose="020B0604020202020204"/>
                <a:ea typeface="Arial" panose="020B0604020202020204"/>
              </a:rPr>
            </a:br>
            <a:r>
              <a:rPr lang="en-US" altLang="zh-CN" sz="1600" b="0" i="0">
                <a:solidFill>
                  <a:srgbClr val="2A2A2A"/>
                </a:solidFill>
                <a:latin typeface="Arial" panose="020B0604020202020204"/>
                <a:ea typeface="Arial" panose="020B0604020202020204"/>
              </a:rPr>
              <a:t>3. </a:t>
            </a:r>
            <a:r>
              <a:rPr lang="zh-CN" altLang="en-US" sz="1600" b="0" i="0">
                <a:solidFill>
                  <a:srgbClr val="2A2A2A"/>
                </a:solidFill>
                <a:latin typeface="Arial" panose="020B0604020202020204"/>
                <a:ea typeface="Arial" panose="020B0604020202020204"/>
              </a:rPr>
              <a:t>多主从架构</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4. </a:t>
            </a:r>
            <a:r>
              <a:rPr lang="zh-CN" altLang="en-US" sz="1600" b="0" i="0">
                <a:solidFill>
                  <a:srgbClr val="2A2A2A"/>
                </a:solidFill>
                <a:latin typeface="Arial" panose="020B0604020202020204"/>
                <a:ea typeface="Arial" panose="020B0604020202020204"/>
              </a:rPr>
              <a:t>高带宽与可扩展性</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5. </a:t>
            </a:r>
            <a:r>
              <a:rPr lang="zh-CN" altLang="en-US" sz="1600" b="0" i="0">
                <a:solidFill>
                  <a:srgbClr val="2A2A2A"/>
                </a:solidFill>
                <a:latin typeface="Arial" panose="020B0604020202020204"/>
                <a:ea typeface="Arial" panose="020B0604020202020204"/>
              </a:rPr>
              <a:t>错误处理与容错性</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6. </a:t>
            </a:r>
            <a:r>
              <a:rPr lang="zh-CN" altLang="en-US" sz="1600" b="0" i="0">
                <a:solidFill>
                  <a:srgbClr val="2A2A2A"/>
                </a:solidFill>
                <a:latin typeface="Arial" panose="020B0604020202020204"/>
                <a:ea typeface="Arial" panose="020B0604020202020204"/>
              </a:rPr>
              <a:t>成本效益</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7. </a:t>
            </a:r>
            <a:r>
              <a:rPr lang="zh-CN" altLang="en-US" sz="1600" b="0" i="0">
                <a:solidFill>
                  <a:srgbClr val="2A2A2A"/>
                </a:solidFill>
                <a:latin typeface="Arial" panose="020B0604020202020204"/>
                <a:ea typeface="Arial" panose="020B0604020202020204"/>
              </a:rPr>
              <a:t>标准化与兼容性</a:t>
            </a: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endParaRPr lang="zh-CN" altLang="en-US" sz="1600" b="0" i="0">
              <a:solidFill>
                <a:srgbClr val="2A2A2A"/>
              </a:solidFill>
              <a:latin typeface="Arial" panose="020B0604020202020204"/>
              <a:ea typeface="Arial" panose="020B0604020202020204"/>
            </a:endParaRPr>
          </a:p>
          <a:p>
            <a:pPr algn="l" defTabSz="266700">
              <a:lnSpc>
                <a:spcPct val="100000"/>
              </a:lnSpc>
              <a:spcBef>
                <a:spcPts val="100"/>
              </a:spcBef>
              <a:spcAft>
                <a:spcPts val="100"/>
              </a:spcAft>
            </a:pPr>
            <a:r>
              <a:rPr lang="en-US" altLang="zh-CN" sz="1600" b="0" i="0">
                <a:solidFill>
                  <a:srgbClr val="2A2A2A"/>
                </a:solidFill>
                <a:latin typeface="Arial" panose="020B0604020202020204"/>
                <a:ea typeface="Arial" panose="020B0604020202020204"/>
              </a:rPr>
              <a:t>CAN</a:t>
            </a:r>
            <a:r>
              <a:rPr lang="zh-CN" altLang="en-US" sz="1600" b="0" i="0">
                <a:solidFill>
                  <a:srgbClr val="2A2A2A"/>
                </a:solidFill>
                <a:latin typeface="Arial" panose="020B0604020202020204"/>
                <a:ea typeface="Arial" panose="020B0604020202020204"/>
              </a:rPr>
              <a:t>的核心优势在于高可靠性、实时性和多主从架构，尤其适合对安全性、实时性要求高的嵌入式系统。若需更高带宽或大数据量传输，可考虑</a:t>
            </a:r>
            <a:r>
              <a:rPr lang="en-US" altLang="zh-CN" sz="1600" b="0" i="0">
                <a:solidFill>
                  <a:srgbClr val="2A2A2A"/>
                </a:solidFill>
                <a:latin typeface="Arial" panose="020B0604020202020204"/>
                <a:ea typeface="Arial" panose="020B0604020202020204"/>
              </a:rPr>
              <a:t>CAN FD</a:t>
            </a:r>
            <a:r>
              <a:rPr lang="zh-CN" altLang="en-US" sz="1600" b="0" i="0">
                <a:solidFill>
                  <a:srgbClr val="2A2A2A"/>
                </a:solidFill>
                <a:latin typeface="Arial" panose="020B0604020202020204"/>
                <a:ea typeface="Arial" panose="020B0604020202020204"/>
              </a:rPr>
              <a:t>或工业以太网（如</a:t>
            </a:r>
            <a:r>
              <a:rPr lang="en-US" altLang="zh-CN" sz="1600" b="0" i="0">
                <a:solidFill>
                  <a:srgbClr val="2A2A2A"/>
                </a:solidFill>
                <a:latin typeface="Arial" panose="020B0604020202020204"/>
                <a:ea typeface="Arial" panose="020B0604020202020204"/>
              </a:rPr>
              <a:t>EtherCAT</a:t>
            </a:r>
            <a:r>
              <a:rPr lang="zh-CN" altLang="en-US" sz="1600" b="0" i="0">
                <a:solidFill>
                  <a:srgbClr val="2A2A2A"/>
                </a:solidFill>
                <a:latin typeface="Arial" panose="020B0604020202020204"/>
                <a:ea typeface="Arial" panose="020B0604020202020204"/>
              </a:rPr>
              <a:t>）。</a:t>
            </a:r>
            <a:endParaRPr lang="zh-CN" altLang="en-US" sz="1600" b="0" i="0">
              <a:solidFill>
                <a:srgbClr val="2A2A2A"/>
              </a:solidFill>
              <a:latin typeface="Arial" panose="020B0604020202020204"/>
              <a:ea typeface="Arial" panose="020B0604020202020204"/>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sp>
        <p:nvSpPr>
          <p:cNvPr id="8" name="文本框 7"/>
          <p:cNvSpPr txBox="1"/>
          <p:nvPr/>
        </p:nvSpPr>
        <p:spPr>
          <a:xfrm>
            <a:off x="180975" y="1913255"/>
            <a:ext cx="11918950" cy="4312285"/>
          </a:xfrm>
          <a:prstGeom prst="rect">
            <a:avLst/>
          </a:prstGeom>
          <a:noFill/>
        </p:spPr>
        <p:txBody>
          <a:bodyPr wrap="square" rtlCol="0" anchor="t">
            <a:noAutofit/>
          </a:bodyPr>
          <a:lstStyle/>
          <a:p>
            <a:r>
              <a:rPr lang="en-US" altLang="zh-CN" sz="1400">
                <a:solidFill>
                  <a:schemeClr val="bg2"/>
                </a:solidFill>
              </a:rPr>
              <a:t>typedef struct</a:t>
            </a:r>
            <a:endParaRPr lang="en-US" altLang="zh-CN" sz="1400">
              <a:solidFill>
                <a:schemeClr val="bg2"/>
              </a:solidFill>
            </a:endParaRPr>
          </a:p>
          <a:p>
            <a:r>
              <a:rPr lang="en-US" altLang="zh-CN" sz="1400">
                <a:solidFill>
                  <a:schemeClr val="bg2"/>
                </a:solidFill>
              </a:rPr>
              <a:t>{</a:t>
            </a:r>
            <a:endParaRPr lang="en-US" altLang="zh-CN" sz="1400">
              <a:solidFill>
                <a:schemeClr val="bg2"/>
              </a:solidFill>
            </a:endParaRPr>
          </a:p>
          <a:p>
            <a:r>
              <a:rPr lang="en-US" altLang="zh-CN" sz="1400">
                <a:solidFill>
                  <a:schemeClr val="bg2"/>
                </a:solidFill>
              </a:rPr>
              <a:t>  uint32_t StdId;  /*!&lt; Specifies the standard identifier. This parameter can be a value between 0 to 0x7FF. */</a:t>
            </a:r>
            <a:endParaRPr lang="en-US" altLang="zh-CN" sz="1400">
              <a:solidFill>
                <a:schemeClr val="bg2"/>
              </a:solidFill>
            </a:endParaRPr>
          </a:p>
          <a:p>
            <a:r>
              <a:rPr lang="en-US" altLang="zh-CN" sz="1400">
                <a:solidFill>
                  <a:schemeClr val="bg2"/>
                </a:solidFill>
              </a:rPr>
              <a:t>  uint32_t ExtId;  /*!&lt; Specifies the extended identifier. This parameter can be a value between 0 to 0x1FFFFFFF. */</a:t>
            </a:r>
            <a:endParaRPr lang="en-US" altLang="zh-CN" sz="1400">
              <a:solidFill>
                <a:schemeClr val="bg2"/>
              </a:solidFill>
            </a:endParaRPr>
          </a:p>
          <a:p>
            <a:r>
              <a:rPr lang="en-US" altLang="zh-CN" sz="1400">
                <a:solidFill>
                  <a:schemeClr val="bg2"/>
                </a:solidFill>
              </a:rPr>
              <a:t>  uint8_t IDE;     /*!&lt; Specifies the type of identifier for the message that will be transmitted. This parameter can be a value  of @ref CAN_identifier_type */</a:t>
            </a:r>
            <a:endParaRPr lang="en-US" altLang="zh-CN" sz="1400">
              <a:solidFill>
                <a:schemeClr val="bg2"/>
              </a:solidFill>
            </a:endParaRPr>
          </a:p>
          <a:p>
            <a:r>
              <a:rPr lang="en-US" altLang="zh-CN" sz="1400">
                <a:solidFill>
                  <a:schemeClr val="bg2"/>
                </a:solidFill>
              </a:rPr>
              <a:t>  uint8_t RTR;     /*!&lt; Specifies the type of frame for the message that will  be transmitted. This parameter can be a value of  @ref CAN_remote_transmission_request */</a:t>
            </a:r>
            <a:endParaRPr lang="en-US" altLang="zh-CN" sz="1400">
              <a:solidFill>
                <a:schemeClr val="bg2"/>
              </a:solidFill>
            </a:endParaRPr>
          </a:p>
          <a:p>
            <a:r>
              <a:rPr lang="en-US" altLang="zh-CN" sz="1400">
                <a:solidFill>
                  <a:schemeClr val="bg2"/>
                </a:solidFill>
              </a:rPr>
              <a:t>  uint8_t DLC;     /*!&lt; Specifies the length of the frame that will be transmitted. This parameter can be a value between 0 to 8 */</a:t>
            </a:r>
            <a:endParaRPr lang="en-US" altLang="zh-CN" sz="1400">
              <a:solidFill>
                <a:schemeClr val="bg2"/>
              </a:solidFill>
            </a:endParaRPr>
          </a:p>
          <a:p>
            <a:r>
              <a:rPr lang="en-US" altLang="zh-CN" sz="1400">
                <a:solidFill>
                  <a:schemeClr val="bg2"/>
                </a:solidFill>
              </a:rPr>
              <a:t>  uint8_t Data[8]; /*!&lt; Contains the data to be transmitted. It ranges from 0  to 0xFF. */</a:t>
            </a:r>
            <a:endParaRPr lang="en-US" altLang="zh-CN" sz="1400">
              <a:solidFill>
                <a:schemeClr val="bg2"/>
              </a:solidFill>
            </a:endParaRPr>
          </a:p>
          <a:p>
            <a:r>
              <a:rPr lang="en-US" altLang="zh-CN" sz="1400">
                <a:solidFill>
                  <a:schemeClr val="bg2"/>
                </a:solidFill>
              </a:rPr>
              <a:t>} CanTxMsg;</a:t>
            </a:r>
            <a:endParaRPr lang="en-US" altLang="zh-CN" sz="1400">
              <a:solidFill>
                <a:schemeClr val="bg2"/>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graphicFrame>
        <p:nvGraphicFramePr>
          <p:cNvPr id="5" name="表格 4"/>
          <p:cNvGraphicFramePr/>
          <p:nvPr/>
        </p:nvGraphicFramePr>
        <p:xfrm>
          <a:off x="635318" y="2035493"/>
          <a:ext cx="10479405" cy="3449312"/>
        </p:xfrm>
        <a:graphic>
          <a:graphicData uri="http://schemas.openxmlformats.org/drawingml/2006/table">
            <a:tbl>
              <a:tblPr/>
              <a:tblGrid>
                <a:gridCol w="3493135"/>
                <a:gridCol w="3493135"/>
                <a:gridCol w="3493135"/>
              </a:tblGrid>
              <a:tr h="358140">
                <a:tc>
                  <a:txBody>
                    <a:bodyPr/>
                    <a:lstStyle/>
                    <a:p>
                      <a:pPr marL="0" indent="0" algn="ctr" fontAlgn="t">
                        <a:spcBef>
                          <a:spcPct val="0"/>
                        </a:spcBef>
                        <a:spcAft>
                          <a:spcPct val="0"/>
                        </a:spcAft>
                      </a:pPr>
                      <a:r>
                        <a:rPr lang="zh-CN" altLang="en-US" sz="1400" b="0">
                          <a:solidFill>
                            <a:srgbClr val="001846"/>
                          </a:solidFill>
                          <a:latin typeface="仿宋" panose="02010609060101010101" pitchFamily="49" charset="-122"/>
                          <a:ea typeface="仿宋" panose="02010609060101010101" pitchFamily="49" charset="-122"/>
                        </a:rPr>
                        <a:t>字段</a:t>
                      </a:r>
                      <a:endParaRPr lang="zh-CN" altLang="en-US" sz="1400" b="0">
                        <a:solidFill>
                          <a:srgbClr val="001846"/>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标准帧（</a:t>
                      </a:r>
                      <a:r>
                        <a:rPr lang="en-US" altLang="zh-CN" sz="1400" b="0">
                          <a:solidFill>
                            <a:srgbClr val="001846"/>
                          </a:solidFill>
                          <a:latin typeface="仿宋" panose="02010609060101010101" pitchFamily="49" charset="-122"/>
                          <a:ea typeface="仿宋" panose="02010609060101010101" pitchFamily="49" charset="-122"/>
                          <a:cs typeface="仿宋" panose="02010609060101010101" pitchFamily="49" charset="-122"/>
                        </a:rPr>
                        <a:t>11</a:t>
                      </a: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001846"/>
                          </a:solidFill>
                          <a:latin typeface="仿宋" panose="02010609060101010101" pitchFamily="49" charset="-122"/>
                          <a:ea typeface="仿宋" panose="02010609060101010101" pitchFamily="49" charset="-122"/>
                          <a:cs typeface="仿宋" panose="02010609060101010101" pitchFamily="49" charset="-122"/>
                        </a:rPr>
                        <a:t>ID</a:t>
                      </a: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a:t>
                      </a:r>
                      <a:endPar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扩展帧（</a:t>
                      </a:r>
                      <a:r>
                        <a:rPr lang="en-US" altLang="zh-CN" sz="1400" b="0">
                          <a:solidFill>
                            <a:srgbClr val="001846"/>
                          </a:solidFill>
                          <a:latin typeface="仿宋" panose="02010609060101010101" pitchFamily="49" charset="-122"/>
                          <a:ea typeface="仿宋" panose="02010609060101010101" pitchFamily="49" charset="-122"/>
                          <a:cs typeface="仿宋" panose="02010609060101010101" pitchFamily="49" charset="-122"/>
                        </a:rPr>
                        <a:t>29</a:t>
                      </a: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001846"/>
                          </a:solidFill>
                          <a:latin typeface="仿宋" panose="02010609060101010101" pitchFamily="49" charset="-122"/>
                          <a:ea typeface="仿宋" panose="02010609060101010101" pitchFamily="49" charset="-122"/>
                          <a:cs typeface="仿宋" panose="02010609060101010101" pitchFamily="49" charset="-122"/>
                        </a:rPr>
                        <a:t>ID</a:t>
                      </a:r>
                      <a:r>
                        <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rPr>
                        <a:t>）</a:t>
                      </a:r>
                      <a:endParaRPr lang="zh-CN" altLang="en-US" sz="1400" b="0">
                        <a:solidFill>
                          <a:srgbClr val="001846"/>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rPr>
                        <a:t>SOF</a:t>
                      </a:r>
                      <a:endParaRPr lang="en-US" altLang="zh-CN"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zh-CN" altLang="en-US" sz="1400" b="0">
                          <a:solidFill>
                            <a:srgbClr val="120649"/>
                          </a:solidFill>
                          <a:latin typeface="仿宋" panose="02010609060101010101" pitchFamily="49" charset="-122"/>
                          <a:ea typeface="仿宋" panose="02010609060101010101" pitchFamily="49" charset="-122"/>
                        </a:rPr>
                        <a:t>仲裁段</a:t>
                      </a:r>
                      <a:endParaRPr lang="zh-CN" altLang="en-US"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11</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ID + RTR</a:t>
                      </a:r>
                      <a:endPar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11</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ID + SRR + IDE + 18</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位扩展</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ID + RTR</a:t>
                      </a:r>
                      <a:endPar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zh-CN" altLang="en-US" sz="1400" b="0">
                          <a:solidFill>
                            <a:srgbClr val="120649"/>
                          </a:solidFill>
                          <a:latin typeface="仿宋" panose="02010609060101010101" pitchFamily="49" charset="-122"/>
                          <a:ea typeface="仿宋" panose="02010609060101010101" pitchFamily="49" charset="-122"/>
                        </a:rPr>
                        <a:t>控制段</a:t>
                      </a:r>
                      <a:endParaRPr lang="zh-CN" altLang="en-US"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rPr>
                        <a:t>DLC + r0</a:t>
                      </a:r>
                      <a:endParaRPr lang="en-US" altLang="zh-CN"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rPr>
                        <a:t>DLC + r1</a:t>
                      </a:r>
                      <a:endParaRPr lang="en-US" altLang="zh-CN"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zh-CN" altLang="en-US" sz="1400" b="0">
                          <a:solidFill>
                            <a:srgbClr val="120649"/>
                          </a:solidFill>
                          <a:latin typeface="仿宋" panose="02010609060101010101" pitchFamily="49" charset="-122"/>
                          <a:ea typeface="仿宋" panose="02010609060101010101" pitchFamily="49" charset="-122"/>
                        </a:rPr>
                        <a:t>数据段</a:t>
                      </a:r>
                      <a:endParaRPr lang="zh-CN" altLang="en-US"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0~8</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字节</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0~8</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字节</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CRC</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段</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15</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CRC + </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界定符</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15</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CRC + </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界定符</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ACK</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段</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ACK</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间隙 </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 </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界定符</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ACK</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间隙 </a:t>
                      </a: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 </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界定符</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r h="358140">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rPr>
                        <a:t>EOF</a:t>
                      </a:r>
                      <a:endParaRPr lang="en-US" altLang="zh-CN" sz="1400" b="0">
                        <a:solidFill>
                          <a:srgbClr val="120649"/>
                        </a:solidFill>
                        <a:latin typeface="仿宋" panose="02010609060101010101" pitchFamily="49" charset="-122"/>
                        <a:ea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7</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c>
                  <a:txBody>
                    <a:bodyPr/>
                    <a:lstStyle/>
                    <a:p>
                      <a:pPr marL="0" indent="0" algn="ctr" fontAlgn="t">
                        <a:spcBef>
                          <a:spcPct val="0"/>
                        </a:spcBef>
                        <a:spcAft>
                          <a:spcPct val="0"/>
                        </a:spcAft>
                      </a:pPr>
                      <a:r>
                        <a:rPr lang="en-US" altLang="zh-CN" sz="1400" b="0">
                          <a:solidFill>
                            <a:srgbClr val="120649"/>
                          </a:solidFill>
                          <a:latin typeface="仿宋" panose="02010609060101010101" pitchFamily="49" charset="-122"/>
                          <a:ea typeface="仿宋" panose="02010609060101010101" pitchFamily="49" charset="-122"/>
                          <a:cs typeface="仿宋" panose="02010609060101010101" pitchFamily="49" charset="-122"/>
                        </a:rPr>
                        <a:t>7</a:t>
                      </a:r>
                      <a:r>
                        <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rPr>
                        <a:t>位</a:t>
                      </a:r>
                      <a:endParaRPr lang="zh-CN" altLang="en-US" sz="1400" b="0">
                        <a:solidFill>
                          <a:srgbClr val="120649"/>
                        </a:solidFill>
                        <a:latin typeface="仿宋" panose="02010609060101010101" pitchFamily="49" charset="-122"/>
                        <a:ea typeface="仿宋" panose="02010609060101010101" pitchFamily="49" charset="-122"/>
                        <a:cs typeface="仿宋" panose="02010609060101010101" pitchFamily="49" charset="-122"/>
                      </a:endParaRPr>
                    </a:p>
                  </a:txBody>
                  <a:tcPr marL="190817" marR="190817" marT="95567" marB="95567" anchor="ctr">
                    <a:lnL w="12700">
                      <a:solidFill>
                        <a:schemeClr val="bg2"/>
                      </a:solidFill>
                      <a:prstDash val="solid"/>
                    </a:lnL>
                    <a:lnR w="12700">
                      <a:solidFill>
                        <a:schemeClr val="bg2"/>
                      </a:solidFill>
                      <a:prstDash val="solid"/>
                    </a:lnR>
                    <a:lnT w="12700">
                      <a:solidFill>
                        <a:schemeClr val="bg2"/>
                      </a:solidFill>
                      <a:prstDash val="solid"/>
                    </a:lnT>
                    <a:lnB w="12700">
                      <a:solidFill>
                        <a:schemeClr val="bg2"/>
                      </a:solidFill>
                      <a:prstDash val="solid"/>
                    </a:lnB>
                    <a:noFill/>
                  </a:tcPr>
                </a:tc>
              </a:tr>
            </a:tbl>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pic>
        <p:nvPicPr>
          <p:cNvPr id="25" name="图片 19" descr="IMG_256"/>
          <p:cNvPicPr>
            <a:picLocks noChangeAspect="1"/>
          </p:cNvPicPr>
          <p:nvPr/>
        </p:nvPicPr>
        <p:blipFill>
          <a:blip r:embed="rId1"/>
          <a:stretch>
            <a:fillRect/>
          </a:stretch>
        </p:blipFill>
        <p:spPr>
          <a:xfrm>
            <a:off x="846455" y="1953895"/>
            <a:ext cx="9583420" cy="4376420"/>
          </a:xfrm>
          <a:prstGeom prst="rect">
            <a:avLst/>
          </a:prstGeom>
          <a:noFill/>
          <a:ln w="9525">
            <a:noFill/>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pic>
        <p:nvPicPr>
          <p:cNvPr id="26" name="图片 20" descr="IMG_256"/>
          <p:cNvPicPr>
            <a:picLocks noChangeAspect="1"/>
          </p:cNvPicPr>
          <p:nvPr/>
        </p:nvPicPr>
        <p:blipFill>
          <a:blip r:embed="rId1"/>
          <a:stretch>
            <a:fillRect/>
          </a:stretch>
        </p:blipFill>
        <p:spPr>
          <a:xfrm>
            <a:off x="1639570" y="2170430"/>
            <a:ext cx="8453755" cy="3883025"/>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pic>
        <p:nvPicPr>
          <p:cNvPr id="27" name="图片 21" descr="IMG_256"/>
          <p:cNvPicPr>
            <a:picLocks noChangeAspect="1"/>
          </p:cNvPicPr>
          <p:nvPr/>
        </p:nvPicPr>
        <p:blipFill>
          <a:blip r:embed="rId1"/>
          <a:stretch>
            <a:fillRect/>
          </a:stretch>
        </p:blipFill>
        <p:spPr>
          <a:xfrm>
            <a:off x="753745" y="2250440"/>
            <a:ext cx="9941560" cy="3535045"/>
          </a:xfrm>
          <a:prstGeom prst="rect">
            <a:avLst/>
          </a:prstGeom>
          <a:noFill/>
          <a:ln w="9525">
            <a:noFill/>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数据包格式</a:t>
            </a:r>
            <a:endParaRPr lang="zh-CN" altLang="en-US" sz="2000"/>
          </a:p>
        </p:txBody>
      </p:sp>
      <p:sp>
        <p:nvSpPr>
          <p:cNvPr id="7" name="文本框 6"/>
          <p:cNvSpPr txBox="1"/>
          <p:nvPr/>
        </p:nvSpPr>
        <p:spPr>
          <a:xfrm>
            <a:off x="349885" y="1240790"/>
            <a:ext cx="10577195" cy="573405"/>
          </a:xfrm>
          <a:prstGeom prst="rect">
            <a:avLst/>
          </a:prstGeom>
        </p:spPr>
        <p:txBody>
          <a:bodyPr wrap="square">
            <a:noAutofit/>
          </a:bodyPr>
          <a:lstStyle/>
          <a:p>
            <a:pPr algn="l" defTabSz="266700">
              <a:lnSpc>
                <a:spcPts val="1950"/>
              </a:lnSpc>
              <a:spcBef>
                <a:spcPts val="100"/>
              </a:spcBef>
              <a:spcAft>
                <a:spcPts val="100"/>
              </a:spcAft>
            </a:pPr>
            <a:r>
              <a:rPr lang="zh-CN" altLang="en-US" sz="1600" b="0" i="0">
                <a:solidFill>
                  <a:srgbClr val="2A2A2A"/>
                </a:solidFill>
                <a:latin typeface="Arial" panose="020B0604020202020204"/>
                <a:ea typeface="Arial" panose="020B0604020202020204"/>
              </a:rPr>
              <a:t>协议层</a:t>
            </a:r>
            <a:endParaRPr lang="zh-CN" altLang="en-US" sz="1600" b="0" i="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en-US" altLang="zh-CN" sz="1600" b="0" i="0">
                <a:solidFill>
                  <a:srgbClr val="2A2A2A"/>
                </a:solidFill>
                <a:latin typeface="Arial" panose="020B0604020202020204"/>
                <a:ea typeface="Arial" panose="020B0604020202020204"/>
              </a:rPr>
              <a:t>CAN </a:t>
            </a:r>
            <a:r>
              <a:rPr lang="zh-CN" altLang="en-US" sz="1600" b="0" i="0">
                <a:solidFill>
                  <a:srgbClr val="2A2A2A"/>
                </a:solidFill>
                <a:latin typeface="Arial" panose="020B0604020202020204"/>
                <a:ea typeface="Arial" panose="020B0604020202020204"/>
              </a:rPr>
              <a:t>的报文种类及结构</a:t>
            </a:r>
            <a:endParaRPr lang="zh-CN" altLang="en-US" sz="1600" b="0" i="0">
              <a:solidFill>
                <a:srgbClr val="2A2A2A"/>
              </a:solidFill>
              <a:latin typeface="Arial" panose="020B0604020202020204"/>
              <a:ea typeface="Arial" panose="020B0604020202020204"/>
            </a:endParaRPr>
          </a:p>
        </p:txBody>
      </p:sp>
      <p:pic>
        <p:nvPicPr>
          <p:cNvPr id="2" name="图片 1"/>
          <p:cNvPicPr/>
          <p:nvPr/>
        </p:nvPicPr>
        <p:blipFill>
          <a:blip r:embed="rId1"/>
          <a:srcRect b="10989"/>
          <a:stretch>
            <a:fillRect/>
          </a:stretch>
        </p:blipFill>
        <p:spPr>
          <a:xfrm>
            <a:off x="788035" y="2117090"/>
            <a:ext cx="9283700" cy="3487420"/>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a:t>协议层</a:t>
            </a:r>
            <a:endParaRPr lang="zh-CN" altLang="en-US" sz="2000"/>
          </a:p>
        </p:txBody>
      </p:sp>
      <p:sp>
        <p:nvSpPr>
          <p:cNvPr id="7" name="文本框 6"/>
          <p:cNvSpPr txBox="1"/>
          <p:nvPr/>
        </p:nvSpPr>
        <p:spPr>
          <a:xfrm>
            <a:off x="349885" y="1240790"/>
            <a:ext cx="10577195" cy="561340"/>
          </a:xfrm>
          <a:prstGeom prst="rect">
            <a:avLst/>
          </a:prstGeom>
        </p:spPr>
        <p:txBody>
          <a:bodyPr wrap="square">
            <a:noAutofit/>
          </a:bodyPr>
          <a:lstStyle/>
          <a:p>
            <a:pPr algn="l" defTabSz="266700">
              <a:lnSpc>
                <a:spcPts val="1950"/>
              </a:lnSpc>
              <a:spcBef>
                <a:spcPts val="100"/>
              </a:spcBef>
              <a:spcAft>
                <a:spcPts val="100"/>
              </a:spcAft>
            </a:pPr>
            <a:r>
              <a:rPr lang="en-US" altLang="zh-CN" sz="1600" b="0" i="0" dirty="0" err="1">
                <a:solidFill>
                  <a:srgbClr val="2A2A2A"/>
                </a:solidFill>
                <a:latin typeface="Arial" panose="020B0604020202020204"/>
                <a:ea typeface="Arial" panose="020B0604020202020204"/>
              </a:rPr>
              <a:t>CANopen</a:t>
            </a: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endParaRPr lang="en-US" altLang="zh-CN" sz="1600" b="0" i="0" dirty="0">
              <a:solidFill>
                <a:srgbClr val="2A2A2A"/>
              </a:solidFill>
              <a:latin typeface="Arial" panose="020B0604020202020204"/>
              <a:ea typeface="Arial" panose="020B0604020202020204"/>
            </a:endParaRPr>
          </a:p>
          <a:p>
            <a:pPr algn="l" defTabSz="266700">
              <a:lnSpc>
                <a:spcPts val="1950"/>
              </a:lnSpc>
              <a:spcBef>
                <a:spcPts val="100"/>
              </a:spcBef>
              <a:spcAft>
                <a:spcPts val="100"/>
              </a:spcAft>
            </a:pPr>
            <a:r>
              <a:rPr lang="zh-CN" altLang="en-US" sz="1600" b="0" i="0" dirty="0">
                <a:solidFill>
                  <a:srgbClr val="2A2A2A"/>
                </a:solidFill>
                <a:latin typeface="Arial" panose="020B0604020202020204"/>
                <a:ea typeface="Arial" panose="020B0604020202020204"/>
              </a:rPr>
              <a:t>参考文档</a:t>
            </a:r>
            <a:r>
              <a:rPr lang="en-US" altLang="zh-CN" sz="1600" b="0" i="0" dirty="0">
                <a:solidFill>
                  <a:srgbClr val="2A2A2A"/>
                </a:solidFill>
                <a:latin typeface="Arial" panose="020B0604020202020204"/>
                <a:ea typeface="Arial" panose="020B0604020202020204"/>
              </a:rPr>
              <a:t> </a:t>
            </a:r>
            <a:r>
              <a:rPr lang="en-US" altLang="zh-CN" sz="1600" b="0" i="0" dirty="0" err="1">
                <a:solidFill>
                  <a:srgbClr val="2A2A2A"/>
                </a:solidFill>
                <a:latin typeface="Arial" panose="020B0604020202020204"/>
                <a:ea typeface="Arial" panose="020B0604020202020204"/>
              </a:rPr>
              <a:t>CANopeneasy</a:t>
            </a:r>
            <a:r>
              <a:rPr lang="en-US" altLang="zh-CN" sz="1600" b="0" i="0" dirty="0">
                <a:solidFill>
                  <a:srgbClr val="2A2A2A"/>
                </a:solidFill>
                <a:latin typeface="Arial" panose="020B0604020202020204"/>
                <a:ea typeface="Arial" panose="020B0604020202020204"/>
              </a:rPr>
              <a:t> pdf</a:t>
            </a:r>
            <a:endParaRPr lang="en-US" altLang="zh-CN" sz="1600" b="0" i="0" dirty="0">
              <a:solidFill>
                <a:srgbClr val="2A2A2A"/>
              </a:solidFill>
              <a:latin typeface="Arial" panose="020B0604020202020204"/>
              <a:ea typeface="Arial" panose="020B0604020202020204"/>
            </a:endParaRPr>
          </a:p>
        </p:txBody>
      </p:sp>
      <p:pic>
        <p:nvPicPr>
          <p:cNvPr id="3" name="图片 2"/>
          <p:cNvPicPr/>
          <p:nvPr/>
        </p:nvPicPr>
        <p:blipFill>
          <a:blip r:embed="rId1"/>
          <a:stretch>
            <a:fillRect/>
          </a:stretch>
        </p:blipFill>
        <p:spPr>
          <a:xfrm>
            <a:off x="6093460" y="1402715"/>
            <a:ext cx="5721350" cy="4895850"/>
          </a:xfrm>
          <a:prstGeom prst="rect">
            <a:avLst/>
          </a:prstGeom>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-&gt;I2C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5" name="图片 4"/>
          <p:cNvPicPr/>
          <p:nvPr/>
        </p:nvPicPr>
        <p:blipFill>
          <a:blip r:embed="rId1"/>
          <a:stretch>
            <a:fillRect/>
          </a:stretch>
        </p:blipFill>
        <p:spPr>
          <a:xfrm>
            <a:off x="1169670" y="2070735"/>
            <a:ext cx="9392920" cy="4259580"/>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框 3"/>
          <p:cNvSpPr txBox="1"/>
          <p:nvPr/>
        </p:nvSpPr>
        <p:spPr>
          <a:xfrm>
            <a:off x="181293" y="169545"/>
            <a:ext cx="11369675" cy="368300"/>
          </a:xfrm>
          <a:prstGeom prst="rect">
            <a:avLst/>
          </a:prstGeom>
          <a:noFill/>
          <a:ln w="9525">
            <a:noFill/>
          </a:ln>
        </p:spPr>
        <p:txBody>
          <a:bodyPr wrap="square" anchor="t" anchorCtr="0">
            <a:spAutoFit/>
          </a:bodyPr>
          <a:lstStyle/>
          <a:p>
            <a:r>
              <a:rPr lang="en-US" altLang="zh-CN" dirty="0">
                <a:sym typeface="+mn-ea"/>
              </a:rPr>
              <a:t>CAN</a:t>
            </a:r>
            <a:r>
              <a:rPr lang="zh-CN" altLang="en-US" dirty="0">
                <a:sym typeface="+mn-ea"/>
              </a:rPr>
              <a:t>通信方式</a:t>
            </a:r>
            <a:endParaRPr lang="zh-CN" altLang="en-US" dirty="0"/>
          </a:p>
        </p:txBody>
      </p:sp>
      <p:sp>
        <p:nvSpPr>
          <p:cNvPr id="6" name="副标题 2"/>
          <p:cNvSpPr>
            <a:spLocks noGrp="1" noChangeArrowheads="1"/>
          </p:cNvSpPr>
          <p:nvPr/>
        </p:nvSpPr>
        <p:spPr>
          <a:xfrm>
            <a:off x="181610" y="882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241935" y="1366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-&gt;I2C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2" name="图片 1"/>
          <p:cNvPicPr/>
          <p:nvPr/>
        </p:nvPicPr>
        <p:blipFill>
          <a:blip r:embed="rId1"/>
          <a:stretch>
            <a:fillRect/>
          </a:stretch>
        </p:blipFill>
        <p:spPr>
          <a:xfrm>
            <a:off x="338455" y="2011680"/>
            <a:ext cx="11384915" cy="4481830"/>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ADC</a:t>
            </a:r>
            <a:endParaRPr lang="en-US" altLang="zh-CN" spc="300" dirty="0">
              <a:latin typeface="+mj-ea"/>
              <a:sym typeface="+mn-ea"/>
            </a:endParaRPr>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805" y="2204720"/>
            <a:ext cx="4794250" cy="45847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sym typeface="+mn-ea"/>
              </a:rPr>
              <a:t>ADC</a:t>
            </a:r>
            <a:r>
              <a:rPr lang="zh-CN" altLang="en-US" sz="2400" b="1" spc="300" dirty="0">
                <a:solidFill>
                  <a:schemeClr val="accent1"/>
                </a:solidFill>
                <a:latin typeface="+mj-ea"/>
                <a:ea typeface="+mj-ea"/>
                <a:sym typeface="+mn-ea"/>
              </a:rPr>
              <a:t>简介</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ADC</a:t>
            </a:r>
            <a:r>
              <a:rPr lang="zh-CN" altLang="en-US" sz="2400" b="1" spc="300" dirty="0">
                <a:solidFill>
                  <a:schemeClr val="accent1"/>
                </a:solidFill>
                <a:latin typeface="+mj-ea"/>
                <a:ea typeface="+mj-ea"/>
              </a:rPr>
              <a:t>工作原理</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sym typeface="+mn-ea"/>
              </a:rPr>
              <a:t>ADC</a:t>
            </a:r>
            <a:r>
              <a:rPr lang="zh-CN" altLang="en-US" sz="2400" b="1" spc="300" dirty="0">
                <a:solidFill>
                  <a:schemeClr val="accent1"/>
                </a:solidFill>
                <a:latin typeface="+mj-ea"/>
                <a:ea typeface="+mj-ea"/>
                <a:sym typeface="+mn-ea"/>
              </a:rPr>
              <a:t>基本实验</a:t>
            </a:r>
            <a:endParaRPr lang="zh-CN" altLang="en-US" sz="2400" b="1" spc="300" dirty="0">
              <a:solidFill>
                <a:schemeClr val="accent1"/>
              </a:solidFill>
              <a:latin typeface="+mj-ea"/>
              <a:ea typeface="+mj-ea"/>
              <a:sym typeface="+mn-ea"/>
            </a:endParaRPr>
          </a:p>
        </p:txBody>
      </p:sp>
    </p:spTree>
    <p:custDataLst>
      <p:tags r:id="rId8"/>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899447" y="2074889"/>
            <a:ext cx="7987587" cy="369332"/>
          </a:xfrm>
          <a:prstGeom prst="rect">
            <a:avLst/>
          </a:prstGeom>
        </p:spPr>
        <p:txBody>
          <a:bodyPr wrap="square">
            <a:spAutoFit/>
          </a:bodyPr>
          <a:lstStyle/>
          <a:p>
            <a:r>
              <a:rPr lang="en-US" altLang="zh-CN">
                <a:solidFill>
                  <a:srgbClr val="002060"/>
                </a:solidFill>
                <a:latin typeface="思源黑体 CN Normal" panose="020B0400000000000000" pitchFamily="34" charset="-122"/>
                <a:ea typeface="思源黑体 CN Normal" panose="020B0400000000000000" pitchFamily="34" charset="-122"/>
              </a:rPr>
              <a:t>ADC</a:t>
            </a:r>
            <a:r>
              <a:rPr lang="zh-CN" altLang="en-US">
                <a:solidFill>
                  <a:srgbClr val="002060"/>
                </a:solidFill>
                <a:latin typeface="思源黑体 CN Normal" panose="020B0400000000000000" pitchFamily="34" charset="-122"/>
                <a:ea typeface="思源黑体 CN Normal" panose="020B0400000000000000" pitchFamily="34" charset="-122"/>
              </a:rPr>
              <a:t>，全称：</a:t>
            </a:r>
            <a:r>
              <a:rPr lang="en-US" altLang="zh-CN">
                <a:solidFill>
                  <a:srgbClr val="002060"/>
                </a:solidFill>
                <a:latin typeface="思源黑体 CN Normal" panose="020B0400000000000000" pitchFamily="34" charset="-122"/>
                <a:ea typeface="思源黑体 CN Normal" panose="020B0400000000000000" pitchFamily="34" charset="-122"/>
              </a:rPr>
              <a:t>Analog-to-Digital Converter</a:t>
            </a:r>
            <a:r>
              <a:rPr lang="zh-CN" altLang="en-US">
                <a:solidFill>
                  <a:srgbClr val="002060"/>
                </a:solidFill>
                <a:latin typeface="思源黑体 CN Normal" panose="020B0400000000000000" pitchFamily="34" charset="-122"/>
                <a:ea typeface="思源黑体 CN Normal" panose="020B0400000000000000" pitchFamily="34" charset="-122"/>
              </a:rPr>
              <a:t>，指模拟</a:t>
            </a:r>
            <a:r>
              <a:rPr lang="en-US" altLang="zh-CN">
                <a:solidFill>
                  <a:srgbClr val="002060"/>
                </a:solidFill>
                <a:latin typeface="思源黑体 CN Normal" panose="020B0400000000000000" pitchFamily="34" charset="-122"/>
                <a:ea typeface="思源黑体 CN Normal" panose="020B0400000000000000" pitchFamily="34" charset="-122"/>
              </a:rPr>
              <a:t>/</a:t>
            </a:r>
            <a:r>
              <a:rPr lang="zh-CN" altLang="en-US">
                <a:solidFill>
                  <a:srgbClr val="002060"/>
                </a:solidFill>
                <a:latin typeface="思源黑体 CN Normal" panose="020B0400000000000000" pitchFamily="34" charset="-122"/>
                <a:ea typeface="思源黑体 CN Normal" panose="020B0400000000000000" pitchFamily="34" charset="-122"/>
              </a:rPr>
              <a:t>数字转换器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21" name="矩形 20"/>
          <p:cNvSpPr/>
          <p:nvPr/>
        </p:nvSpPr>
        <p:spPr>
          <a:xfrm>
            <a:off x="1613934" y="2798432"/>
            <a:ext cx="1475015"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压力传感器</a:t>
            </a:r>
            <a:endParaRPr lang="zh-CN" altLang="en-US" dirty="0">
              <a:latin typeface="思源黑体 CN Normal" panose="020B0400000000000000" pitchFamily="34" charset="-122"/>
              <a:ea typeface="思源黑体 CN Normal" panose="020B0400000000000000" pitchFamily="34" charset="-122"/>
            </a:endParaRPr>
          </a:p>
        </p:txBody>
      </p:sp>
      <p:cxnSp>
        <p:nvCxnSpPr>
          <p:cNvPr id="26" name="直接箭头连接符 25"/>
          <p:cNvCxnSpPr/>
          <p:nvPr/>
        </p:nvCxnSpPr>
        <p:spPr>
          <a:xfrm>
            <a:off x="3178356" y="3865960"/>
            <a:ext cx="114974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1613934" y="3511061"/>
            <a:ext cx="1475015"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温度传感器</a:t>
            </a:r>
            <a:endParaRPr lang="zh-CN" altLang="en-US" dirty="0">
              <a:latin typeface="思源黑体 CN Normal" panose="020B0400000000000000" pitchFamily="34" charset="-122"/>
              <a:ea typeface="思源黑体 CN Normal" panose="020B0400000000000000" pitchFamily="34" charset="-122"/>
            </a:endParaRPr>
          </a:p>
        </p:txBody>
      </p:sp>
      <p:sp>
        <p:nvSpPr>
          <p:cNvPr id="30" name="矩形 29"/>
          <p:cNvSpPr/>
          <p:nvPr/>
        </p:nvSpPr>
        <p:spPr>
          <a:xfrm>
            <a:off x="1613934" y="4239727"/>
            <a:ext cx="1475015"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Normal" panose="020B0400000000000000" pitchFamily="34" charset="-122"/>
                <a:ea typeface="思源黑体 CN Normal" panose="020B0400000000000000" pitchFamily="34" charset="-122"/>
              </a:rPr>
              <a:t>图像传感器</a:t>
            </a:r>
            <a:endParaRPr lang="zh-CN" altLang="en-US" dirty="0">
              <a:latin typeface="思源黑体 CN Normal" panose="020B0400000000000000" pitchFamily="34" charset="-122"/>
              <a:ea typeface="思源黑体 CN Normal" panose="020B0400000000000000" pitchFamily="34" charset="-122"/>
            </a:endParaRPr>
          </a:p>
        </p:txBody>
      </p:sp>
      <p:sp>
        <p:nvSpPr>
          <p:cNvPr id="31" name="矩形 30"/>
          <p:cNvSpPr/>
          <p:nvPr/>
        </p:nvSpPr>
        <p:spPr>
          <a:xfrm>
            <a:off x="4383502" y="3554675"/>
            <a:ext cx="96303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思源黑体 CN Normal" panose="020B0400000000000000" pitchFamily="34" charset="-122"/>
                <a:ea typeface="思源黑体 CN Normal" panose="020B0400000000000000" pitchFamily="34" charset="-122"/>
              </a:rPr>
              <a:t>ADC</a:t>
            </a:r>
            <a:endParaRPr lang="zh-CN" altLang="en-US" dirty="0">
              <a:latin typeface="思源黑体 CN Normal" panose="020B0400000000000000" pitchFamily="34" charset="-122"/>
              <a:ea typeface="思源黑体 CN Normal" panose="020B0400000000000000" pitchFamily="34" charset="-122"/>
            </a:endParaRPr>
          </a:p>
        </p:txBody>
      </p:sp>
      <p:cxnSp>
        <p:nvCxnSpPr>
          <p:cNvPr id="33" name="直接箭头连接符 32"/>
          <p:cNvCxnSpPr/>
          <p:nvPr/>
        </p:nvCxnSpPr>
        <p:spPr>
          <a:xfrm flipV="1">
            <a:off x="5397038" y="3859439"/>
            <a:ext cx="1287972"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6720102" y="3548154"/>
            <a:ext cx="133265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Normal" panose="020B0400000000000000" pitchFamily="34" charset="-122"/>
                <a:ea typeface="思源黑体 CN Normal" panose="020B0400000000000000" pitchFamily="34" charset="-122"/>
              </a:rPr>
              <a:t>单片机处理</a:t>
            </a:r>
            <a:endParaRPr lang="zh-CN" altLang="en-US">
              <a:latin typeface="思源黑体 CN Normal" panose="020B0400000000000000" pitchFamily="34" charset="-122"/>
              <a:ea typeface="思源黑体 CN Normal" panose="020B0400000000000000" pitchFamily="34" charset="-122"/>
            </a:endParaRPr>
          </a:p>
        </p:txBody>
      </p:sp>
      <p:cxnSp>
        <p:nvCxnSpPr>
          <p:cNvPr id="35" name="直接箭头连接符 34"/>
          <p:cNvCxnSpPr/>
          <p:nvPr/>
        </p:nvCxnSpPr>
        <p:spPr>
          <a:xfrm flipV="1">
            <a:off x="8135216" y="3859439"/>
            <a:ext cx="557251"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8774924" y="3554675"/>
            <a:ext cx="1213624"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Normal" panose="020B0400000000000000" pitchFamily="34" charset="-122"/>
                <a:ea typeface="思源黑体 CN Normal" panose="020B0400000000000000" pitchFamily="34" charset="-122"/>
              </a:rPr>
              <a:t>控制</a:t>
            </a:r>
            <a:r>
              <a:rPr lang="en-US" altLang="zh-CN">
                <a:latin typeface="思源黑体 CN Normal" panose="020B0400000000000000" pitchFamily="34" charset="-122"/>
                <a:ea typeface="思源黑体 CN Normal" panose="020B0400000000000000" pitchFamily="34" charset="-122"/>
              </a:rPr>
              <a:t>/</a:t>
            </a:r>
            <a:r>
              <a:rPr lang="zh-CN" altLang="en-US">
                <a:latin typeface="思源黑体 CN Normal" panose="020B0400000000000000" pitchFamily="34" charset="-122"/>
                <a:ea typeface="思源黑体 CN Normal" panose="020B0400000000000000" pitchFamily="34" charset="-122"/>
              </a:rPr>
              <a:t>显示</a:t>
            </a:r>
            <a:endParaRPr lang="zh-CN" altLang="en-US">
              <a:latin typeface="思源黑体 CN Normal" panose="020B0400000000000000" pitchFamily="34" charset="-122"/>
              <a:ea typeface="思源黑体 CN Normal" panose="020B0400000000000000" pitchFamily="34" charset="-122"/>
            </a:endParaRPr>
          </a:p>
        </p:txBody>
      </p:sp>
      <p:sp>
        <p:nvSpPr>
          <p:cNvPr id="28" name="矩形 39"/>
          <p:cNvSpPr>
            <a:spLocks noChangeArrowheads="1"/>
          </p:cNvSpPr>
          <p:nvPr/>
        </p:nvSpPr>
        <p:spPr bwMode="auto">
          <a:xfrm>
            <a:off x="1613934" y="1372200"/>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什么是</a:t>
            </a:r>
            <a:r>
              <a:rPr lang="en-US" altLang="zh-CN" sz="2000" b="1">
                <a:solidFill>
                  <a:srgbClr val="002060"/>
                </a:solidFill>
                <a:latin typeface="思源黑体 CN Bold" pitchFamily="34" charset="-122"/>
                <a:ea typeface="思源黑体 CN Bold" pitchFamily="34" charset="-122"/>
              </a:rPr>
              <a:t>ADC</a:t>
            </a:r>
            <a:r>
              <a:rPr lang="zh-CN" altLang="en-US" sz="2000" b="1">
                <a:solidFill>
                  <a:srgbClr val="002060"/>
                </a:solidFill>
                <a:latin typeface="思源黑体 CN Bold" pitchFamily="34" charset="-122"/>
                <a:ea typeface="思源黑体 CN Bold" pitchFamily="34" charset="-122"/>
              </a:rPr>
              <a:t>？</a:t>
            </a:r>
            <a:endParaRPr lang="en-US" altLang="zh-CN" sz="2000" b="1" dirty="0">
              <a:solidFill>
                <a:srgbClr val="002060"/>
              </a:solidFill>
              <a:latin typeface="思源黑体 CN Bold" pitchFamily="34" charset="-122"/>
              <a:ea typeface="思源黑体 CN Bold" pitchFamily="34" charset="-122"/>
            </a:endParaRPr>
          </a:p>
        </p:txBody>
      </p:sp>
      <p:sp>
        <p:nvSpPr>
          <p:cNvPr id="27" name="矩形 26"/>
          <p:cNvSpPr/>
          <p:nvPr/>
        </p:nvSpPr>
        <p:spPr>
          <a:xfrm>
            <a:off x="2008778" y="4871066"/>
            <a:ext cx="903988" cy="369332"/>
          </a:xfrm>
          <a:prstGeom prst="rect">
            <a:avLst/>
          </a:prstGeom>
        </p:spPr>
        <p:txBody>
          <a:bodyPr wrap="square">
            <a:spAutoFit/>
          </a:bodyPr>
          <a:lstStyle/>
          <a:p>
            <a:r>
              <a:rPr lang="en-US" altLang="zh-CN">
                <a:solidFill>
                  <a:srgbClr val="002060"/>
                </a:solidFill>
                <a:latin typeface="思源黑体 CN Normal" panose="020B0400000000000000" pitchFamily="34" charset="-122"/>
                <a:ea typeface="思源黑体 CN Normal" panose="020B0400000000000000" pitchFamily="34" charset="-122"/>
              </a:rPr>
              <a:t>……</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41" name="矩形 40"/>
          <p:cNvSpPr/>
          <p:nvPr/>
        </p:nvSpPr>
        <p:spPr>
          <a:xfrm>
            <a:off x="3144352" y="3508268"/>
            <a:ext cx="1451581"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转换为电压</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42" name="矩形 41"/>
          <p:cNvSpPr/>
          <p:nvPr/>
        </p:nvSpPr>
        <p:spPr>
          <a:xfrm>
            <a:off x="5337912" y="3508268"/>
            <a:ext cx="190029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转换为数字量</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bldLvl="0" animBg="1"/>
      <p:bldP spid="29" grpId="0" bldLvl="0" animBg="1"/>
      <p:bldP spid="30" grpId="0" bldLvl="0" animBg="1"/>
      <p:bldP spid="31" grpId="0" bldLvl="0" animBg="1"/>
      <p:bldP spid="34" grpId="0" bldLvl="0" animBg="1"/>
      <p:bldP spid="36" grpId="0" bldLvl="0" animBg="1"/>
      <p:bldP spid="27" grpId="0"/>
      <p:bldP spid="41" grpId="0"/>
      <p:bldP spid="4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9"/>
          <p:cNvSpPr>
            <a:spLocks noChangeArrowheads="1"/>
          </p:cNvSpPr>
          <p:nvPr/>
        </p:nvSpPr>
        <p:spPr bwMode="auto">
          <a:xfrm>
            <a:off x="1990489" y="143379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ADC</a:t>
            </a:r>
            <a:r>
              <a:rPr lang="zh-CN" altLang="en-US" sz="2000" b="1">
                <a:solidFill>
                  <a:srgbClr val="002060"/>
                </a:solidFill>
                <a:latin typeface="思源黑体 CN Bold" pitchFamily="34" charset="-122"/>
                <a:ea typeface="思源黑体 CN Bold" pitchFamily="34" charset="-122"/>
              </a:rPr>
              <a:t>的特性参数</a:t>
            </a:r>
            <a:endParaRPr lang="en-US" altLang="zh-CN" sz="2000" b="1" dirty="0">
              <a:solidFill>
                <a:srgbClr val="002060"/>
              </a:solidFill>
              <a:latin typeface="思源黑体 CN Bold" pitchFamily="34" charset="-122"/>
              <a:ea typeface="思源黑体 CN Bold" pitchFamily="34" charset="-122"/>
            </a:endParaRPr>
          </a:p>
        </p:txBody>
      </p:sp>
      <p:sp>
        <p:nvSpPr>
          <p:cNvPr id="22" name="圆角矩形 27"/>
          <p:cNvSpPr/>
          <p:nvPr/>
        </p:nvSpPr>
        <p:spPr>
          <a:xfrm>
            <a:off x="1973095" y="2471062"/>
            <a:ext cx="129368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分辨率</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23" name="矩形 22"/>
          <p:cNvSpPr/>
          <p:nvPr/>
        </p:nvSpPr>
        <p:spPr>
          <a:xfrm>
            <a:off x="3266784" y="2491340"/>
            <a:ext cx="8046258"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表示</a:t>
            </a:r>
            <a:r>
              <a:rPr lang="en-US" altLang="zh-CN" sz="1600" dirty="0">
                <a:solidFill>
                  <a:srgbClr val="002060"/>
                </a:solidFill>
                <a:latin typeface="思源黑体 CN Normal" panose="020B0400000000000000" pitchFamily="34" charset="-122"/>
                <a:ea typeface="思源黑体 CN Normal" panose="020B0400000000000000" pitchFamily="34" charset="-122"/>
              </a:rPr>
              <a:t>ADC</a:t>
            </a:r>
            <a:r>
              <a:rPr lang="zh-CN" altLang="en-US" sz="1600" dirty="0">
                <a:solidFill>
                  <a:srgbClr val="002060"/>
                </a:solidFill>
                <a:latin typeface="思源黑体 CN Normal" panose="020B0400000000000000" pitchFamily="34" charset="-122"/>
                <a:ea typeface="思源黑体 CN Normal" panose="020B0400000000000000" pitchFamily="34" charset="-122"/>
              </a:rPr>
              <a:t>能辨别的最小模拟量，用二进制位数表示，比如：</a:t>
            </a:r>
            <a:r>
              <a:rPr lang="en-US" altLang="zh-CN" sz="1600" dirty="0">
                <a:solidFill>
                  <a:srgbClr val="002060"/>
                </a:solidFill>
                <a:latin typeface="思源黑体 CN Normal" panose="020B0400000000000000" pitchFamily="34" charset="-122"/>
                <a:ea typeface="思源黑体 CN Normal" panose="020B0400000000000000" pitchFamily="34" charset="-122"/>
              </a:rPr>
              <a:t>8</a:t>
            </a:r>
            <a:r>
              <a:rPr lang="zh-CN" altLang="en-US"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002060"/>
                </a:solidFill>
                <a:latin typeface="思源黑体 CN Normal" panose="020B0400000000000000" pitchFamily="34" charset="-122"/>
                <a:ea typeface="思源黑体 CN Normal" panose="020B0400000000000000" pitchFamily="34" charset="-122"/>
              </a:rPr>
              <a:t>10</a:t>
            </a:r>
            <a:r>
              <a:rPr lang="zh-CN" altLang="en-US"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FF0000"/>
                </a:solidFill>
                <a:latin typeface="思源黑体 CN Normal" panose="020B0400000000000000" pitchFamily="34" charset="-122"/>
                <a:ea typeface="思源黑体 CN Normal" panose="020B0400000000000000" pitchFamily="34" charset="-122"/>
              </a:rPr>
              <a:t>12</a:t>
            </a:r>
            <a:r>
              <a:rPr lang="zh-CN" altLang="en-US"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002060"/>
                </a:solidFill>
                <a:latin typeface="思源黑体 CN Normal" panose="020B0400000000000000" pitchFamily="34" charset="-122"/>
                <a:ea typeface="思源黑体 CN Normal" panose="020B0400000000000000" pitchFamily="34" charset="-122"/>
              </a:rPr>
              <a:t>16</a:t>
            </a:r>
            <a:r>
              <a:rPr lang="zh-CN" altLang="en-US" sz="1600" dirty="0">
                <a:solidFill>
                  <a:srgbClr val="002060"/>
                </a:solidFill>
                <a:latin typeface="思源黑体 CN Normal" panose="020B0400000000000000" pitchFamily="34" charset="-122"/>
                <a:ea typeface="思源黑体 CN Normal" panose="020B0400000000000000" pitchFamily="34" charset="-122"/>
              </a:rPr>
              <a:t>位等</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2" name="矩形 1"/>
          <p:cNvSpPr/>
          <p:nvPr/>
        </p:nvSpPr>
        <p:spPr>
          <a:xfrm>
            <a:off x="3266785" y="3169486"/>
            <a:ext cx="666411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表示完成一次</a:t>
            </a:r>
            <a:r>
              <a:rPr lang="en-US" altLang="zh-CN" sz="1600">
                <a:solidFill>
                  <a:srgbClr val="002060"/>
                </a:solidFill>
                <a:latin typeface="思源黑体 CN Normal" panose="020B0400000000000000" pitchFamily="34" charset="-122"/>
                <a:ea typeface="思源黑体 CN Normal" panose="020B0400000000000000" pitchFamily="34" charset="-122"/>
              </a:rPr>
              <a:t>A/D</a:t>
            </a:r>
            <a:r>
              <a:rPr lang="zh-CN" altLang="en-US" sz="1600">
                <a:solidFill>
                  <a:srgbClr val="002060"/>
                </a:solidFill>
                <a:latin typeface="思源黑体 CN Normal" panose="020B0400000000000000" pitchFamily="34" charset="-122"/>
                <a:ea typeface="思源黑体 CN Normal" panose="020B0400000000000000" pitchFamily="34" charset="-122"/>
              </a:rPr>
              <a:t>转换所需要的时间，转换时间越短，采样率就可以越高</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3" name="圆角矩形 39"/>
          <p:cNvSpPr/>
          <p:nvPr/>
        </p:nvSpPr>
        <p:spPr>
          <a:xfrm>
            <a:off x="1973095" y="3145379"/>
            <a:ext cx="129368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转换时间</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7" name="圆角矩形 42"/>
          <p:cNvSpPr/>
          <p:nvPr/>
        </p:nvSpPr>
        <p:spPr>
          <a:xfrm>
            <a:off x="1973091" y="4707351"/>
            <a:ext cx="129368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量化误差</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32" name="矩形 31"/>
          <p:cNvSpPr/>
          <p:nvPr/>
        </p:nvSpPr>
        <p:spPr>
          <a:xfrm>
            <a:off x="3266783" y="4721501"/>
            <a:ext cx="7327893" cy="338554"/>
          </a:xfrm>
          <a:prstGeom prst="rect">
            <a:avLst/>
          </a:prstGeom>
          <a:noFill/>
        </p:spPr>
        <p:txBody>
          <a:bodyPr wrap="square" rtlCol="0">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用数字量近似表示模拟量，采用四舍五入原则，此过程产生的误差为量化误差</a:t>
            </a:r>
            <a:endParaRPr lang="zh-CN" altLang="en-US" sz="1600">
              <a:solidFill>
                <a:srgbClr val="002060"/>
              </a:solidFill>
              <a:latin typeface="思源黑体 CN Normal" panose="020B0400000000000000" pitchFamily="34" charset="-122"/>
              <a:ea typeface="思源黑体 CN Normal" panose="020B0400000000000000" pitchFamily="34" charset="-122"/>
            </a:endParaRPr>
          </a:p>
        </p:txBody>
      </p:sp>
      <p:sp>
        <p:nvSpPr>
          <p:cNvPr id="8" name="圆角矩形 46"/>
          <p:cNvSpPr/>
          <p:nvPr/>
        </p:nvSpPr>
        <p:spPr>
          <a:xfrm>
            <a:off x="1973094" y="3857209"/>
            <a:ext cx="1293691"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精度</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10" name="矩形 9"/>
          <p:cNvSpPr/>
          <p:nvPr/>
        </p:nvSpPr>
        <p:spPr>
          <a:xfrm>
            <a:off x="3266786" y="3872598"/>
            <a:ext cx="7126357" cy="338554"/>
          </a:xfrm>
          <a:prstGeom prst="rect">
            <a:avLst/>
          </a:prstGeom>
          <a:noFill/>
        </p:spPr>
        <p:txBody>
          <a:bodyPr wrap="square" rtlCol="0">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最小刻度基础上叠加各种误差的参数，精度受</a:t>
            </a:r>
            <a:r>
              <a:rPr lang="en-US" altLang="zh-CN" sz="1600">
                <a:solidFill>
                  <a:srgbClr val="002060"/>
                </a:solidFill>
                <a:latin typeface="思源黑体 CN Normal" panose="020B0400000000000000" pitchFamily="34" charset="-122"/>
                <a:ea typeface="思源黑体 CN Normal" panose="020B0400000000000000" pitchFamily="34" charset="-122"/>
              </a:rPr>
              <a:t>ADC</a:t>
            </a:r>
            <a:r>
              <a:rPr lang="zh-CN" altLang="en-US" sz="1600">
                <a:solidFill>
                  <a:srgbClr val="002060"/>
                </a:solidFill>
                <a:latin typeface="思源黑体 CN Normal" panose="020B0400000000000000" pitchFamily="34" charset="-122"/>
                <a:ea typeface="思源黑体 CN Normal" panose="020B0400000000000000" pitchFamily="34" charset="-122"/>
              </a:rPr>
              <a:t>性能、温度和气压等影响</a:t>
            </a:r>
            <a:endParaRPr lang="zh-CN" altLang="en-US" sz="1600">
              <a:solidFill>
                <a:srgbClr val="002060"/>
              </a:solidFill>
              <a:latin typeface="思源黑体 CN Normal" panose="020B0400000000000000" pitchFamily="34" charset="-122"/>
              <a:ea typeface="思源黑体 CN Normal" panose="020B0400000000000000" pitchFamily="34" charset="-122"/>
            </a:endParaRPr>
          </a:p>
        </p:txBody>
      </p:sp>
      <p:sp>
        <p:nvSpPr>
          <p:cNvPr id="13" name="矩形 12"/>
          <p:cNvSpPr/>
          <p:nvPr/>
        </p:nvSpPr>
        <p:spPr>
          <a:xfrm>
            <a:off x="3321459" y="1963190"/>
            <a:ext cx="1142694" cy="338554"/>
          </a:xfrm>
          <a:prstGeom prst="rect">
            <a:avLst/>
          </a:prstGeom>
          <a:noFill/>
        </p:spPr>
        <p:txBody>
          <a:bodyPr wrap="square" rtlCol="0">
            <a:spAutoFit/>
          </a:bodyPr>
          <a:lstStyle/>
          <a:p>
            <a:r>
              <a:rPr lang="zh-CN" altLang="en-US" sz="1600" b="1">
                <a:solidFill>
                  <a:srgbClr val="FF0000"/>
                </a:solidFill>
                <a:latin typeface="思源黑体 CN Normal" panose="020B0400000000000000" pitchFamily="34" charset="-122"/>
                <a:ea typeface="思源黑体 CN Normal" panose="020B0400000000000000" pitchFamily="34" charset="-122"/>
              </a:rPr>
              <a:t>刻度划分</a:t>
            </a:r>
            <a:endParaRPr lang="zh-CN" altLang="en-US" sz="1600" b="1">
              <a:solidFill>
                <a:srgbClr val="FF0000"/>
              </a:solidFill>
              <a:latin typeface="思源黑体 CN Normal" panose="020B0400000000000000" pitchFamily="34" charset="-122"/>
              <a:ea typeface="思源黑体 CN Normal" panose="020B0400000000000000" pitchFamily="34" charset="-122"/>
            </a:endParaRPr>
          </a:p>
        </p:txBody>
      </p:sp>
      <p:sp>
        <p:nvSpPr>
          <p:cNvPr id="14" name="矩形 13"/>
          <p:cNvSpPr/>
          <p:nvPr/>
        </p:nvSpPr>
        <p:spPr>
          <a:xfrm>
            <a:off x="3266780" y="4297669"/>
            <a:ext cx="1910932" cy="338554"/>
          </a:xfrm>
          <a:prstGeom prst="rect">
            <a:avLst/>
          </a:prstGeom>
          <a:noFill/>
        </p:spPr>
        <p:txBody>
          <a:bodyPr wrap="square" rtlCol="0">
            <a:spAutoFit/>
          </a:bodyPr>
          <a:lstStyle/>
          <a:p>
            <a:r>
              <a:rPr lang="zh-CN" altLang="en-US" sz="1600" b="1">
                <a:solidFill>
                  <a:srgbClr val="FF0000"/>
                </a:solidFill>
                <a:latin typeface="思源黑体 CN Normal" panose="020B0400000000000000" pitchFamily="34" charset="-122"/>
                <a:ea typeface="思源黑体 CN Normal" panose="020B0400000000000000" pitchFamily="34" charset="-122"/>
              </a:rPr>
              <a:t>物理量的精准程度</a:t>
            </a:r>
            <a:endParaRPr lang="zh-CN" altLang="en-US" sz="1600" b="1">
              <a:solidFill>
                <a:srgbClr val="FF0000"/>
              </a:solidFill>
              <a:latin typeface="思源黑体 CN Normal" panose="020B0400000000000000" pitchFamily="34" charset="-122"/>
              <a:ea typeface="思源黑体 CN Normal" panose="020B0400000000000000" pitchFamily="34" charset="-122"/>
            </a:endParaRPr>
          </a:p>
        </p:txBody>
      </p:sp>
      <p:cxnSp>
        <p:nvCxnSpPr>
          <p:cNvPr id="15" name="直接箭头连接符 14"/>
          <p:cNvCxnSpPr/>
          <p:nvPr/>
        </p:nvCxnSpPr>
        <p:spPr>
          <a:xfrm flipH="1">
            <a:off x="2818820" y="2156397"/>
            <a:ext cx="487017" cy="1995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flipV="1">
            <a:off x="2779763" y="4283885"/>
            <a:ext cx="487017" cy="1909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p:bldP spid="2" grpId="0"/>
      <p:bldP spid="3" grpId="0" bldLvl="0" animBg="1"/>
      <p:bldP spid="7" grpId="0" bldLvl="0" animBg="1"/>
      <p:bldP spid="32" grpId="0"/>
      <p:bldP spid="8" grpId="0" bldLvl="0" animBg="1"/>
      <p:bldP spid="10" grpId="0"/>
      <p:bldP spid="13" grpId="0"/>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表格 27"/>
          <p:cNvGraphicFramePr>
            <a:graphicFrameLocks noGrp="1"/>
          </p:cNvGraphicFramePr>
          <p:nvPr/>
        </p:nvGraphicFramePr>
        <p:xfrm>
          <a:off x="1959694" y="828103"/>
          <a:ext cx="8267532" cy="1684732"/>
        </p:xfrm>
        <a:graphic>
          <a:graphicData uri="http://schemas.openxmlformats.org/drawingml/2006/table">
            <a:tbl>
              <a:tblPr firstRow="1" firstCol="1" bandRow="1">
                <a:tableStyleId>{5C22544A-7EE6-4342-B048-85BDC9FD1C3A}</a:tableStyleId>
              </a:tblPr>
              <a:tblGrid>
                <a:gridCol w="1855440"/>
                <a:gridCol w="3093335"/>
                <a:gridCol w="3318757"/>
              </a:tblGrid>
              <a:tr h="598058">
                <a:tc>
                  <a:txBody>
                    <a:bodyPr/>
                    <a:lstStyle/>
                    <a:p>
                      <a:pPr algn="ctr">
                        <a:lnSpc>
                          <a:spcPct val="150000"/>
                        </a:lnSpc>
                        <a:spcAft>
                          <a:spcPts val="0"/>
                        </a:spcAft>
                      </a:pPr>
                      <a:r>
                        <a:rPr lang="en-US" altLang="zh-CN" sz="1600" kern="100">
                          <a:effectLst/>
                          <a:latin typeface="思源黑体 CN Normal" panose="020B0400000000000000" pitchFamily="34" charset="-122"/>
                          <a:ea typeface="思源黑体 CN Normal" panose="020B0400000000000000" pitchFamily="34" charset="-122"/>
                        </a:rPr>
                        <a:t>ADC</a:t>
                      </a:r>
                      <a:r>
                        <a:rPr lang="zh-CN" altLang="en-US" sz="1600" kern="100">
                          <a:effectLst/>
                          <a:latin typeface="思源黑体 CN Normal" panose="020B0400000000000000" pitchFamily="34" charset="-122"/>
                          <a:ea typeface="思源黑体 CN Normal" panose="020B0400000000000000" pitchFamily="34" charset="-122"/>
                        </a:rPr>
                        <a:t>电路类型</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effectLst/>
                          <a:latin typeface="思源黑体 CN Normal" panose="020B0400000000000000" pitchFamily="34" charset="-122"/>
                          <a:ea typeface="思源黑体 CN Normal" panose="020B0400000000000000" pitchFamily="34" charset="-122"/>
                        </a:rPr>
                        <a:t>优点</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effectLst/>
                          <a:latin typeface="思源黑体 CN Normal" panose="020B0400000000000000" pitchFamily="34" charset="-122"/>
                          <a:ea typeface="思源黑体 CN Normal" panose="020B0400000000000000" pitchFamily="34" charset="-122"/>
                        </a:rPr>
                        <a:t>缺点</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38667">
                <a:tc>
                  <a:txBody>
                    <a:bodyPr/>
                    <a:lstStyle/>
                    <a:p>
                      <a:pPr algn="ctr">
                        <a:lnSpc>
                          <a:spcPct val="150000"/>
                        </a:lnSpc>
                        <a:spcAft>
                          <a:spcPts val="0"/>
                        </a:spcAft>
                      </a:pPr>
                      <a:r>
                        <a:rPr lang="zh-CN" altLang="en-US" sz="1600" kern="100">
                          <a:effectLst/>
                          <a:latin typeface="思源黑体 CN Normal" panose="020B0400000000000000" pitchFamily="34" charset="-122"/>
                          <a:ea typeface="思源黑体 CN Normal" panose="020B0400000000000000" pitchFamily="34" charset="-122"/>
                        </a:rPr>
                        <a:t>并联比较型</a:t>
                      </a:r>
                      <a:endParaRPr lang="en-US" alt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转换速度最快</a:t>
                      </a:r>
                      <a:endParaRPr lang="zh-CN" altLang="en-US"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成本高、功耗高，分辨率低</a:t>
                      </a:r>
                      <a:endParaRPr lang="zh-CN" altLang="en-US"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8007">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sz="1600" kern="100">
                          <a:effectLst/>
                          <a:latin typeface="思源黑体 CN Normal" panose="020B0400000000000000" pitchFamily="34" charset="-122"/>
                          <a:ea typeface="思源黑体 CN Normal" panose="020B0400000000000000" pitchFamily="34" charset="-122"/>
                        </a:rPr>
                        <a:t>逐次逼近型</a:t>
                      </a:r>
                      <a:endParaRPr lang="en-US" altLang="zh-CN" sz="16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结构简单，功耗低</a:t>
                      </a:r>
                      <a:endParaRPr lang="en-US"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转换速度较慢</a:t>
                      </a:r>
                      <a:endParaRPr lang="en-US"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矩形 39"/>
          <p:cNvSpPr>
            <a:spLocks noChangeArrowheads="1"/>
          </p:cNvSpPr>
          <p:nvPr/>
        </p:nvSpPr>
        <p:spPr bwMode="auto">
          <a:xfrm>
            <a:off x="95014" y="108550"/>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常见的</a:t>
            </a:r>
            <a:r>
              <a:rPr lang="en-US" altLang="zh-CN" sz="2000" b="1">
                <a:solidFill>
                  <a:srgbClr val="002060"/>
                </a:solidFill>
                <a:latin typeface="思源黑体 CN Bold" pitchFamily="34" charset="-122"/>
                <a:ea typeface="思源黑体 CN Bold" pitchFamily="34" charset="-122"/>
              </a:rPr>
              <a:t>ADC</a:t>
            </a:r>
            <a:r>
              <a:rPr lang="zh-CN" altLang="en-US" sz="2000" b="1">
                <a:solidFill>
                  <a:srgbClr val="002060"/>
                </a:solidFill>
                <a:latin typeface="思源黑体 CN Bold" pitchFamily="34" charset="-122"/>
                <a:ea typeface="思源黑体 CN Bold" pitchFamily="34" charset="-122"/>
              </a:rPr>
              <a:t>类型</a:t>
            </a:r>
            <a:endParaRPr lang="en-US" altLang="zh-CN" sz="2000" b="1" dirty="0">
              <a:solidFill>
                <a:srgbClr val="002060"/>
              </a:solidFill>
              <a:latin typeface="思源黑体 CN Bold" pitchFamily="34" charset="-122"/>
              <a:ea typeface="思源黑体 CN Bold" pitchFamily="34" charset="-122"/>
            </a:endParaRPr>
          </a:p>
        </p:txBody>
      </p:sp>
      <p:sp>
        <p:nvSpPr>
          <p:cNvPr id="2" name="矩形 39"/>
          <p:cNvSpPr>
            <a:spLocks noChangeArrowheads="1"/>
          </p:cNvSpPr>
          <p:nvPr/>
        </p:nvSpPr>
        <p:spPr bwMode="auto">
          <a:xfrm>
            <a:off x="-67546" y="205355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并联比较型工作示意图</a:t>
            </a:r>
            <a:endParaRPr lang="en-US" altLang="zh-CN" sz="2000" b="1" dirty="0">
              <a:solidFill>
                <a:srgbClr val="002060"/>
              </a:solidFill>
              <a:latin typeface="思源黑体 CN Bold" pitchFamily="34" charset="-122"/>
              <a:ea typeface="思源黑体 CN Bold" pitchFamily="34" charset="-122"/>
            </a:endParaRPr>
          </a:p>
        </p:txBody>
      </p:sp>
      <p:sp>
        <p:nvSpPr>
          <p:cNvPr id="13" name="矩形 12"/>
          <p:cNvSpPr/>
          <p:nvPr/>
        </p:nvSpPr>
        <p:spPr>
          <a:xfrm>
            <a:off x="833640" y="6644200"/>
            <a:ext cx="3379809"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分压部分 </a:t>
            </a:r>
            <a:r>
              <a:rPr lang="en-US" altLang="zh-CN" sz="1600">
                <a:solidFill>
                  <a:srgbClr val="002060"/>
                </a:solidFill>
                <a:latin typeface="思源黑体 CN Normal" panose="020B0400000000000000" pitchFamily="34" charset="-122"/>
                <a:ea typeface="思源黑体 CN Normal" panose="020B0400000000000000" pitchFamily="34" charset="-122"/>
              </a:rPr>
              <a:t>+ </a:t>
            </a:r>
            <a:r>
              <a:rPr lang="zh-CN" altLang="en-US" sz="1600">
                <a:solidFill>
                  <a:srgbClr val="002060"/>
                </a:solidFill>
                <a:latin typeface="思源黑体 CN Normal" panose="020B0400000000000000" pitchFamily="34" charset="-122"/>
                <a:ea typeface="思源黑体 CN Normal" panose="020B0400000000000000" pitchFamily="34" charset="-122"/>
              </a:rPr>
              <a:t>比较部分 </a:t>
            </a:r>
            <a:r>
              <a:rPr lang="en-US" altLang="zh-CN" sz="1600">
                <a:solidFill>
                  <a:srgbClr val="002060"/>
                </a:solidFill>
                <a:latin typeface="思源黑体 CN Normal" panose="020B0400000000000000" pitchFamily="34" charset="-122"/>
                <a:ea typeface="思源黑体 CN Normal" panose="020B0400000000000000" pitchFamily="34" charset="-122"/>
              </a:rPr>
              <a:t>+ </a:t>
            </a:r>
            <a:r>
              <a:rPr lang="zh-CN" altLang="en-US" sz="1600">
                <a:solidFill>
                  <a:srgbClr val="002060"/>
                </a:solidFill>
                <a:latin typeface="思源黑体 CN Normal" panose="020B0400000000000000" pitchFamily="34" charset="-122"/>
                <a:ea typeface="思源黑体 CN Normal" panose="020B0400000000000000" pitchFamily="34" charset="-122"/>
              </a:rPr>
              <a:t>编码部分</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pic>
        <p:nvPicPr>
          <p:cNvPr id="20" name="图片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0952" y="2685390"/>
            <a:ext cx="4177728" cy="3936837"/>
          </a:xfrm>
          <a:prstGeom prst="rect">
            <a:avLst/>
          </a:prstGeom>
          <a:ln>
            <a:noFill/>
          </a:ln>
          <a:effectLst>
            <a:outerShdw blurRad="190500" algn="tl" rotWithShape="0">
              <a:srgbClr val="000000">
                <a:alpha val="70000"/>
              </a:srgbClr>
            </a:outerShdw>
          </a:effectLst>
        </p:spPr>
      </p:pic>
      <p:cxnSp>
        <p:nvCxnSpPr>
          <p:cNvPr id="24" name="直接连接符 23"/>
          <p:cNvCxnSpPr/>
          <p:nvPr/>
        </p:nvCxnSpPr>
        <p:spPr>
          <a:xfrm>
            <a:off x="4029710" y="4159885"/>
            <a:ext cx="33337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046761" y="5348605"/>
            <a:ext cx="33337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046761" y="4146576"/>
            <a:ext cx="0" cy="12147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363085" y="4159885"/>
            <a:ext cx="0" cy="12147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1945981" y="2685386"/>
            <a:ext cx="1602943" cy="338554"/>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模拟电压输入</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sp>
        <p:nvSpPr>
          <p:cNvPr id="33" name="矩形 32"/>
          <p:cNvSpPr/>
          <p:nvPr/>
        </p:nvSpPr>
        <p:spPr>
          <a:xfrm>
            <a:off x="276027" y="2805862"/>
            <a:ext cx="1115226" cy="338554"/>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参考电压</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9961" y="3023947"/>
            <a:ext cx="5379716" cy="3522609"/>
          </a:xfrm>
          <a:prstGeom prst="rect">
            <a:avLst/>
          </a:prstGeom>
          <a:ln>
            <a:noFill/>
          </a:ln>
          <a:effectLst>
            <a:outerShdw blurRad="190500" algn="tl" rotWithShape="0">
              <a:srgbClr val="000000">
                <a:alpha val="70000"/>
              </a:srgbClr>
            </a:outerShdw>
          </a:effectLst>
        </p:spPr>
      </p:pic>
      <p:sp>
        <p:nvSpPr>
          <p:cNvPr id="19" name="矩形 39"/>
          <p:cNvSpPr>
            <a:spLocks noChangeArrowheads="1"/>
          </p:cNvSpPr>
          <p:nvPr/>
        </p:nvSpPr>
        <p:spPr bwMode="auto">
          <a:xfrm>
            <a:off x="7217174" y="253869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dirty="0">
                <a:solidFill>
                  <a:srgbClr val="002060"/>
                </a:solidFill>
                <a:latin typeface="思源黑体 CN Bold" pitchFamily="34" charset="-122"/>
                <a:ea typeface="思源黑体 CN Bold" pitchFamily="34" charset="-122"/>
              </a:rPr>
              <a:t>逐次逼近型工作示意图</a:t>
            </a:r>
            <a:endParaRPr lang="en-US" altLang="zh-CN" sz="2000" b="1" dirty="0">
              <a:solidFill>
                <a:srgbClr val="002060"/>
              </a:solidFill>
              <a:latin typeface="思源黑体 CN Bold" pitchFamily="34" charset="-122"/>
              <a:ea typeface="思源黑体 CN Bold" pitchFamily="34" charset="-122"/>
            </a:endParaRPr>
          </a:p>
        </p:txBody>
      </p:sp>
      <p:sp>
        <p:nvSpPr>
          <p:cNvPr id="21" name="矩形 20"/>
          <p:cNvSpPr/>
          <p:nvPr/>
        </p:nvSpPr>
        <p:spPr>
          <a:xfrm>
            <a:off x="5415407" y="6541865"/>
            <a:ext cx="4722123"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控制电路</a:t>
            </a:r>
            <a:r>
              <a:rPr lang="en-US" altLang="zh-CN" sz="1600">
                <a:solidFill>
                  <a:srgbClr val="002060"/>
                </a:solidFill>
                <a:latin typeface="思源黑体 CN Normal" panose="020B0400000000000000" pitchFamily="34" charset="-122"/>
                <a:ea typeface="思源黑体 CN Normal" panose="020B0400000000000000" pitchFamily="34" charset="-122"/>
              </a:rPr>
              <a:t>+ </a:t>
            </a:r>
            <a:r>
              <a:rPr lang="zh-CN" altLang="en-US" sz="1600">
                <a:solidFill>
                  <a:srgbClr val="002060"/>
                </a:solidFill>
                <a:latin typeface="思源黑体 CN Normal" panose="020B0400000000000000" pitchFamily="34" charset="-122"/>
                <a:ea typeface="思源黑体 CN Normal" panose="020B0400000000000000" pitchFamily="34" charset="-122"/>
              </a:rPr>
              <a:t>数码寄存器 </a:t>
            </a:r>
            <a:r>
              <a:rPr lang="en-US" altLang="zh-CN" sz="1600">
                <a:solidFill>
                  <a:srgbClr val="002060"/>
                </a:solidFill>
                <a:latin typeface="思源黑体 CN Normal" panose="020B0400000000000000" pitchFamily="34" charset="-122"/>
                <a:ea typeface="思源黑体 CN Normal" panose="020B0400000000000000" pitchFamily="34" charset="-122"/>
              </a:rPr>
              <a:t>+ D/A</a:t>
            </a:r>
            <a:r>
              <a:rPr lang="zh-CN" altLang="en-US" sz="1600">
                <a:solidFill>
                  <a:srgbClr val="002060"/>
                </a:solidFill>
                <a:latin typeface="思源黑体 CN Normal" panose="020B0400000000000000" pitchFamily="34" charset="-122"/>
                <a:ea typeface="思源黑体 CN Normal" panose="020B0400000000000000" pitchFamily="34" charset="-122"/>
              </a:rPr>
              <a:t>转换器 </a:t>
            </a:r>
            <a:r>
              <a:rPr lang="en-US" altLang="zh-CN" sz="1600">
                <a:solidFill>
                  <a:srgbClr val="002060"/>
                </a:solidFill>
                <a:latin typeface="思源黑体 CN Normal" panose="020B0400000000000000" pitchFamily="34" charset="-122"/>
                <a:ea typeface="思源黑体 CN Normal" panose="020B0400000000000000" pitchFamily="34" charset="-122"/>
              </a:rPr>
              <a:t>+ </a:t>
            </a:r>
            <a:r>
              <a:rPr lang="zh-CN" altLang="en-US" sz="1600">
                <a:solidFill>
                  <a:srgbClr val="002060"/>
                </a:solidFill>
                <a:latin typeface="思源黑体 CN Normal" panose="020B0400000000000000" pitchFamily="34" charset="-122"/>
                <a:ea typeface="思源黑体 CN Normal" panose="020B0400000000000000" pitchFamily="34" charset="-122"/>
              </a:rPr>
              <a:t>电压比较器</a:t>
            </a:r>
            <a:r>
              <a:rPr lang="en-US" altLang="zh-CN" sz="1600">
                <a:solidFill>
                  <a:srgbClr val="002060"/>
                </a:solidFill>
                <a:latin typeface="思源黑体 CN Normal" panose="020B0400000000000000" pitchFamily="34" charset="-122"/>
                <a:ea typeface="思源黑体 CN Normal" panose="020B0400000000000000" pitchFamily="34" charset="-122"/>
              </a:rPr>
              <a:t> </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23" name="直接连接符 22"/>
          <p:cNvCxnSpPr/>
          <p:nvPr/>
        </p:nvCxnSpPr>
        <p:spPr>
          <a:xfrm>
            <a:off x="10496694" y="3781828"/>
            <a:ext cx="30437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513746" y="4535764"/>
            <a:ext cx="30437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0513746" y="3781828"/>
            <a:ext cx="0" cy="75393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0818119" y="3767112"/>
            <a:ext cx="0" cy="76865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5614588" y="6245221"/>
            <a:ext cx="1602943" cy="338554"/>
          </a:xfrm>
          <a:prstGeom prst="rect">
            <a:avLst/>
          </a:prstGeom>
        </p:spPr>
        <p:txBody>
          <a:bodyPr wrap="square">
            <a:spAutoFit/>
          </a:bodyPr>
          <a:lstStyle/>
          <a:p>
            <a:r>
              <a:rPr lang="zh-CN" altLang="en-US" sz="1600" dirty="0">
                <a:solidFill>
                  <a:srgbClr val="FF0000"/>
                </a:solidFill>
                <a:latin typeface="思源黑体 CN Normal" panose="020B0400000000000000" pitchFamily="34" charset="-122"/>
                <a:ea typeface="思源黑体 CN Normal" panose="020B0400000000000000" pitchFamily="34" charset="-122"/>
              </a:rPr>
              <a:t>模拟电压输入</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sp>
        <p:nvSpPr>
          <p:cNvPr id="35" name="矩形 34"/>
          <p:cNvSpPr/>
          <p:nvPr/>
        </p:nvSpPr>
        <p:spPr>
          <a:xfrm>
            <a:off x="10091387" y="4620344"/>
            <a:ext cx="1493050" cy="584775"/>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二进制</a:t>
            </a:r>
            <a:endParaRPr lang="en-US" altLang="zh-CN" sz="1600">
              <a:solidFill>
                <a:srgbClr val="FF0000"/>
              </a:solidFill>
              <a:latin typeface="思源黑体 CN Normal" panose="020B0400000000000000" pitchFamily="34" charset="-122"/>
              <a:ea typeface="思源黑体 CN Normal" panose="020B0400000000000000" pitchFamily="34" charset="-122"/>
            </a:endParaRPr>
          </a:p>
          <a:p>
            <a:r>
              <a:rPr lang="zh-CN" altLang="en-US" sz="1600">
                <a:solidFill>
                  <a:srgbClr val="FF0000"/>
                </a:solidFill>
                <a:latin typeface="思源黑体 CN Normal" panose="020B0400000000000000" pitchFamily="34" charset="-122"/>
                <a:ea typeface="思源黑体 CN Normal" panose="020B0400000000000000" pitchFamily="34" charset="-122"/>
              </a:rPr>
              <a:t>数字量</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sp>
        <p:nvSpPr>
          <p:cNvPr id="36" name="矩形 35"/>
          <p:cNvSpPr/>
          <p:nvPr/>
        </p:nvSpPr>
        <p:spPr>
          <a:xfrm>
            <a:off x="9179324" y="5292857"/>
            <a:ext cx="2938884" cy="1162049"/>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特点：</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分辨率和采样速度相互矛盾，</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分辨率越高，采样速率越低</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37" name="矩形 36"/>
          <p:cNvSpPr/>
          <p:nvPr/>
        </p:nvSpPr>
        <p:spPr>
          <a:xfrm>
            <a:off x="3783330" y="5660390"/>
            <a:ext cx="832485" cy="583565"/>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二进制</a:t>
            </a:r>
            <a:endParaRPr lang="en-US" altLang="zh-CN" sz="1600">
              <a:solidFill>
                <a:srgbClr val="FF0000"/>
              </a:solidFill>
              <a:latin typeface="思源黑体 CN Normal" panose="020B0400000000000000" pitchFamily="34" charset="-122"/>
              <a:ea typeface="思源黑体 CN Normal" panose="020B0400000000000000" pitchFamily="34" charset="-122"/>
            </a:endParaRPr>
          </a:p>
          <a:p>
            <a:r>
              <a:rPr lang="zh-CN" altLang="en-US" sz="1600">
                <a:solidFill>
                  <a:srgbClr val="FF0000"/>
                </a:solidFill>
                <a:latin typeface="思源黑体 CN Normal" panose="020B0400000000000000" pitchFamily="34" charset="-122"/>
                <a:ea typeface="思源黑体 CN Normal" panose="020B0400000000000000" pitchFamily="34" charset="-122"/>
              </a:rPr>
              <a:t>数字量</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5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00"/>
                                        <p:tgtEl>
                                          <p:spTgt spid="3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500"/>
                                        <p:tgtEl>
                                          <p:spTgt spid="3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2" grpId="0"/>
      <p:bldP spid="33" grpId="0"/>
      <p:bldP spid="21" grpId="0"/>
      <p:bldP spid="34" grpId="0"/>
      <p:bldP spid="35" grpId="0"/>
      <p:bldP spid="36" grpId="0"/>
      <p:bldP spid="3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nvGraphicFramePr>
        <p:xfrm>
          <a:off x="1730182" y="2335202"/>
          <a:ext cx="8726555" cy="3270123"/>
        </p:xfrm>
        <a:graphic>
          <a:graphicData uri="http://schemas.openxmlformats.org/drawingml/2006/table">
            <a:tbl>
              <a:tblPr firstRow="1" firstCol="1" bandRow="1">
                <a:tableStyleId>{69012ECD-51FC-41F1-AA8D-1B2483CD663E}</a:tableStyleId>
              </a:tblPr>
              <a:tblGrid>
                <a:gridCol w="1745311"/>
                <a:gridCol w="1745311"/>
                <a:gridCol w="1745311"/>
                <a:gridCol w="1641945"/>
                <a:gridCol w="1848677"/>
              </a:tblGrid>
              <a:tr h="137795">
                <a:tc>
                  <a:txBody>
                    <a:bodyPr/>
                    <a:lstStyle/>
                    <a:p>
                      <a:pPr indent="127000" algn="ctr">
                        <a:lnSpc>
                          <a:spcPct val="150000"/>
                        </a:lnSpc>
                        <a:spcAft>
                          <a:spcPts val="0"/>
                        </a:spcAft>
                      </a:pPr>
                      <a:r>
                        <a:rPr lang="zh-CN" altLang="en-US" sz="1600" kern="100">
                          <a:effectLst/>
                          <a:latin typeface="思源黑体 CN Normal" panose="020B0400000000000000" pitchFamily="34" charset="-122"/>
                          <a:ea typeface="思源黑体 CN Normal" panose="020B0400000000000000" pitchFamily="34" charset="-122"/>
                        </a:rPr>
                        <a:t>主要特性</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effectLst/>
                          <a:latin typeface="思源黑体 CN Normal" panose="020B0400000000000000" pitchFamily="34" charset="-122"/>
                          <a:ea typeface="思源黑体 CN Normal" panose="020B0400000000000000" pitchFamily="34" charset="-122"/>
                        </a:rPr>
                        <a:t>F1</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effectLst/>
                          <a:latin typeface="思源黑体 CN Normal" panose="020B0400000000000000" pitchFamily="34" charset="-122"/>
                          <a:ea typeface="思源黑体 CN Normal" panose="020B0400000000000000" pitchFamily="34" charset="-122"/>
                        </a:rPr>
                        <a:t>F4</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effectLst/>
                          <a:latin typeface="思源黑体 CN Normal" panose="020B0400000000000000" pitchFamily="34" charset="-122"/>
                          <a:ea typeface="思源黑体 CN Normal" panose="020B0400000000000000" pitchFamily="34" charset="-122"/>
                        </a:rPr>
                        <a:t>F7</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effectLst/>
                          <a:latin typeface="思源黑体 CN Normal" panose="020B0400000000000000" pitchFamily="34" charset="-122"/>
                          <a:ea typeface="思源黑体 CN Normal" panose="020B0400000000000000" pitchFamily="34" charset="-122"/>
                        </a:rPr>
                        <a:t>H7</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ADC</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类型</a:t>
                      </a:r>
                      <a:endParaRPr lang="zh-CN" alt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逐次逼近型</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分辨率</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12</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位</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6/8/10/12</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位</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6/8/10/12</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位</a:t>
                      </a:r>
                      <a:endParaRPr lang="zh-CN" alt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8/10/12/14/16</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位</a:t>
                      </a:r>
                      <a:endParaRPr lang="zh-CN" alt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ADC</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时钟频率</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14MHz</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max</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36MHz</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max</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endParaRPr lang="zh-CN" altLang="en-US"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采样时间</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采样时间越长</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 </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转换结果相对越准确</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 </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但是转换速度就越慢</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转换时间</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与</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ADC</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时钟频率、分辨率和采样时间等有关</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tc>
                <a:tc hMerge="1">
                  <a:tcPr marL="68580" marR="68580" marT="0" marB="0" anchor="ctr"/>
                </a:tc>
                <a:tc hMerge="1">
                  <a:tcPr marL="68580" marR="68580" marT="0" marB="0" anchor="ct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供电电压</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indent="127000" algn="ctr">
                        <a:lnSpc>
                          <a:spcPct val="150000"/>
                        </a:lnSpc>
                        <a:spcAft>
                          <a:spcPts val="0"/>
                        </a:spcAft>
                      </a:pPr>
                      <a:r>
                        <a:rPr lang="en-US" altLang="zh-CN" sz="160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kern="1200" baseline="-25000">
                          <a:solidFill>
                            <a:srgbClr val="002060"/>
                          </a:solidFill>
                          <a:effectLst/>
                          <a:latin typeface="思源黑体 CN Normal" panose="020B0400000000000000" pitchFamily="34" charset="-122"/>
                          <a:ea typeface="思源黑体 CN Normal" panose="020B0400000000000000" pitchFamily="34" charset="-122"/>
                          <a:cs typeface="+mn-cs"/>
                        </a:rPr>
                        <a:t>SSA </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0V</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kern="1200" baseline="-25000">
                          <a:solidFill>
                            <a:srgbClr val="002060"/>
                          </a:solidFill>
                          <a:effectLst/>
                          <a:latin typeface="思源黑体 CN Normal" panose="020B0400000000000000" pitchFamily="34" charset="-122"/>
                          <a:ea typeface="思源黑体 CN Normal" panose="020B0400000000000000" pitchFamily="34" charset="-122"/>
                          <a:cs typeface="+mn-cs"/>
                        </a:rPr>
                        <a:t>DDA </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2.4V~3.6V</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（全速运行）</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r>
              <a:tr h="137795">
                <a:tc>
                  <a:txBody>
                    <a:bodyPr/>
                    <a:lstStyle/>
                    <a:p>
                      <a:pPr indent="127000" algn="ctr">
                        <a:lnSpc>
                          <a:spcPct val="150000"/>
                        </a:lnSpc>
                        <a:spcAft>
                          <a:spcPts val="0"/>
                        </a:spcAft>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参考电压</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indent="127000" algn="ctr">
                        <a:lnSpc>
                          <a:spcPct val="150000"/>
                        </a:lnSpc>
                        <a:spcAft>
                          <a:spcPts val="0"/>
                        </a:spcAft>
                      </a:pPr>
                      <a:r>
                        <a:rPr lang="en-US" altLang="zh-CN" sz="1600" b="0">
                          <a:solidFill>
                            <a:srgbClr val="002060"/>
                          </a:solidFill>
                          <a:latin typeface="思源黑体 CN Normal" panose="020B0400000000000000" pitchFamily="34" charset="-122"/>
                          <a:ea typeface="思源黑体 CN Normal" panose="020B0400000000000000" pitchFamily="34" charset="-122"/>
                        </a:rPr>
                        <a:t>V</a:t>
                      </a:r>
                      <a:r>
                        <a:rPr lang="en-US" altLang="zh-CN" sz="1600" b="0" baseline="-25000">
                          <a:solidFill>
                            <a:srgbClr val="002060"/>
                          </a:solidFill>
                          <a:latin typeface="思源黑体 CN Normal" panose="020B0400000000000000" pitchFamily="34" charset="-122"/>
                          <a:ea typeface="思源黑体 CN Normal" panose="020B0400000000000000" pitchFamily="34" charset="-122"/>
                        </a:rPr>
                        <a:t>REF</a:t>
                      </a:r>
                      <a:r>
                        <a:rPr lang="zh-CN" altLang="zh-CN" sz="1600" b="0" baseline="-25000">
                          <a:solidFill>
                            <a:srgbClr val="002060"/>
                          </a:solidFill>
                          <a:latin typeface="思源黑体 CN Normal" panose="020B0400000000000000" pitchFamily="34" charset="-122"/>
                          <a:ea typeface="思源黑体 CN Normal" panose="020B0400000000000000" pitchFamily="34" charset="-122"/>
                        </a:rPr>
                        <a:t>–</a:t>
                      </a:r>
                      <a:r>
                        <a:rPr lang="en-US" altLang="zh-CN" sz="1600" b="0" baseline="-25000">
                          <a:solidFill>
                            <a:srgbClr val="002060"/>
                          </a:solidFill>
                          <a:latin typeface="思源黑体 CN Normal" panose="020B0400000000000000" pitchFamily="34" charset="-122"/>
                          <a:ea typeface="思源黑体 CN Normal" panose="020B0400000000000000" pitchFamily="34" charset="-122"/>
                        </a:rPr>
                        <a:t> </a:t>
                      </a:r>
                      <a:r>
                        <a:rPr lang="zh-CN" altLang="en-US" sz="1600" b="0" kern="1200">
                          <a:solidFill>
                            <a:srgbClr val="002060"/>
                          </a:solidFill>
                          <a:effectLst/>
                          <a:latin typeface="思源黑体 CN Normal" panose="020B0400000000000000" pitchFamily="34" charset="-122"/>
                          <a:ea typeface="思源黑体 CN Normal" panose="020B0400000000000000" pitchFamily="34" charset="-122"/>
                          <a:cs typeface="+mn-cs"/>
                        </a:rPr>
                        <a:t>：</a:t>
                      </a:r>
                      <a:r>
                        <a:rPr lang="en-US" altLang="zh-CN" sz="1600" b="0" kern="1200">
                          <a:solidFill>
                            <a:srgbClr val="002060"/>
                          </a:solidFill>
                          <a:effectLst/>
                          <a:latin typeface="思源黑体 CN Normal" panose="020B0400000000000000" pitchFamily="34" charset="-122"/>
                          <a:ea typeface="思源黑体 CN Normal" panose="020B0400000000000000" pitchFamily="34" charset="-122"/>
                          <a:cs typeface="+mn-cs"/>
                        </a:rPr>
                        <a:t>0V</a:t>
                      </a:r>
                      <a:r>
                        <a:rPr lang="zh-CN" altLang="en-US" sz="1600" b="0" kern="1200">
                          <a:solidFill>
                            <a:srgbClr val="002060"/>
                          </a:solidFill>
                          <a:effectLst/>
                          <a:latin typeface="思源黑体 CN Normal" panose="020B0400000000000000" pitchFamily="34" charset="-122"/>
                          <a:ea typeface="思源黑体 CN Normal" panose="020B0400000000000000" pitchFamily="34" charset="-122"/>
                          <a:cs typeface="+mn-cs"/>
                        </a:rPr>
                        <a:t>，</a:t>
                      </a:r>
                      <a:r>
                        <a:rPr lang="en-US" altLang="zh-CN" sz="1600" b="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b="0" kern="1200" baseline="-25000">
                          <a:solidFill>
                            <a:srgbClr val="002060"/>
                          </a:solidFill>
                          <a:effectLst/>
                          <a:latin typeface="思源黑体 CN Normal" panose="020B0400000000000000" pitchFamily="34" charset="-122"/>
                          <a:ea typeface="思源黑体 CN Normal" panose="020B0400000000000000" pitchFamily="34" charset="-122"/>
                          <a:cs typeface="+mn-cs"/>
                        </a:rPr>
                        <a:t>REF+</a:t>
                      </a:r>
                      <a:r>
                        <a:rPr lang="zh-CN" altLang="en-US" sz="1600" b="0">
                          <a:solidFill>
                            <a:srgbClr val="002060"/>
                          </a:solidFill>
                          <a:latin typeface="思源黑体 CN Normal" panose="020B0400000000000000" pitchFamily="34" charset="-122"/>
                          <a:ea typeface="思源黑体 CN Normal" panose="020B0400000000000000" pitchFamily="34" charset="-122"/>
                        </a:rPr>
                        <a:t>一般为</a:t>
                      </a:r>
                      <a:r>
                        <a:rPr lang="en-US" altLang="zh-CN" sz="1600" b="0">
                          <a:solidFill>
                            <a:srgbClr val="002060"/>
                          </a:solidFill>
                          <a:latin typeface="思源黑体 CN Normal" panose="020B0400000000000000" pitchFamily="34" charset="-122"/>
                          <a:ea typeface="思源黑体 CN Normal" panose="020B0400000000000000" pitchFamily="34" charset="-122"/>
                        </a:rPr>
                        <a:t>3.3V</a:t>
                      </a:r>
                      <a:endParaRPr lang="zh-CN" sz="1600" b="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输入电压</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indent="127000" algn="ctr">
                        <a:lnSpc>
                          <a:spcPct val="150000"/>
                        </a:lnSpc>
                        <a:spcAft>
                          <a:spcPts val="0"/>
                        </a:spcAft>
                      </a:pPr>
                      <a:r>
                        <a:rPr lang="en-US" altLang="zh-CN" sz="1600" dirty="0">
                          <a:solidFill>
                            <a:srgbClr val="002060"/>
                          </a:solidFill>
                          <a:latin typeface="思源黑体 CN Normal" panose="020B0400000000000000" pitchFamily="34" charset="-122"/>
                          <a:ea typeface="思源黑体 CN Normal" panose="020B0400000000000000" pitchFamily="34" charset="-122"/>
                        </a:rPr>
                        <a:t>V</a:t>
                      </a:r>
                      <a:r>
                        <a:rPr lang="en-US" altLang="zh-CN" sz="1600" baseline="-25000" dirty="0">
                          <a:solidFill>
                            <a:srgbClr val="002060"/>
                          </a:solidFill>
                          <a:latin typeface="思源黑体 CN Normal" panose="020B0400000000000000" pitchFamily="34" charset="-122"/>
                          <a:ea typeface="思源黑体 CN Normal" panose="020B0400000000000000" pitchFamily="34" charset="-122"/>
                        </a:rPr>
                        <a:t>REF</a:t>
                      </a:r>
                      <a:r>
                        <a:rPr lang="zh-CN" altLang="zh-CN" sz="1600" baseline="-25000" dirty="0">
                          <a:solidFill>
                            <a:srgbClr val="002060"/>
                          </a:solidFill>
                          <a:latin typeface="思源黑体 CN Normal" panose="020B0400000000000000" pitchFamily="34" charset="-122"/>
                          <a:ea typeface="思源黑体 CN Normal" panose="020B0400000000000000" pitchFamily="34" charset="-122"/>
                        </a:rPr>
                        <a:t>–</a:t>
                      </a:r>
                      <a:r>
                        <a:rPr lang="zh-CN" altLang="zh-CN"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002060"/>
                          </a:solidFill>
                          <a:latin typeface="思源黑体 CN Normal" panose="020B0400000000000000" pitchFamily="34" charset="-122"/>
                          <a:ea typeface="思源黑体 CN Normal" panose="020B0400000000000000" pitchFamily="34" charset="-122"/>
                        </a:rPr>
                        <a:t>V</a:t>
                      </a:r>
                      <a:r>
                        <a:rPr lang="en-US" altLang="zh-CN" sz="1600" baseline="-25000" dirty="0">
                          <a:solidFill>
                            <a:srgbClr val="002060"/>
                          </a:solidFill>
                          <a:latin typeface="思源黑体 CN Normal" panose="020B0400000000000000" pitchFamily="34" charset="-122"/>
                          <a:ea typeface="思源黑体 CN Normal" panose="020B0400000000000000" pitchFamily="34" charset="-122"/>
                        </a:rPr>
                        <a:t>IN</a:t>
                      </a:r>
                      <a:r>
                        <a:rPr lang="zh-CN" altLang="zh-CN"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002060"/>
                          </a:solidFill>
                          <a:latin typeface="思源黑体 CN Normal" panose="020B0400000000000000" pitchFamily="34" charset="-122"/>
                          <a:ea typeface="思源黑体 CN Normal" panose="020B0400000000000000" pitchFamily="34" charset="-122"/>
                        </a:rPr>
                        <a:t>V</a:t>
                      </a:r>
                      <a:r>
                        <a:rPr lang="en-US" altLang="zh-CN" sz="1600" baseline="-25000" dirty="0">
                          <a:solidFill>
                            <a:srgbClr val="002060"/>
                          </a:solidFill>
                          <a:latin typeface="思源黑体 CN Normal" panose="020B0400000000000000" pitchFamily="34" charset="-122"/>
                          <a:ea typeface="思源黑体 CN Normal" panose="020B0400000000000000" pitchFamily="34" charset="-122"/>
                        </a:rPr>
                        <a:t>REF+</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8" name="矩形 39"/>
          <p:cNvSpPr>
            <a:spLocks noChangeArrowheads="1"/>
          </p:cNvSpPr>
          <p:nvPr/>
        </p:nvSpPr>
        <p:spPr bwMode="auto">
          <a:xfrm>
            <a:off x="1890159" y="1576670"/>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STM32</a:t>
            </a:r>
            <a:r>
              <a:rPr lang="zh-CN" altLang="en-US" sz="2000" b="1">
                <a:solidFill>
                  <a:srgbClr val="002060"/>
                </a:solidFill>
                <a:latin typeface="思源黑体 CN Bold" pitchFamily="34" charset="-122"/>
                <a:ea typeface="思源黑体 CN Bold" pitchFamily="34" charset="-122"/>
              </a:rPr>
              <a:t>各系列</a:t>
            </a:r>
            <a:r>
              <a:rPr lang="en-US" altLang="zh-CN" sz="2000" b="1">
                <a:solidFill>
                  <a:srgbClr val="002060"/>
                </a:solidFill>
                <a:latin typeface="思源黑体 CN Bold" pitchFamily="34" charset="-122"/>
                <a:ea typeface="思源黑体 CN Bold" pitchFamily="34" charset="-122"/>
              </a:rPr>
              <a:t>ADC</a:t>
            </a:r>
            <a:r>
              <a:rPr lang="zh-CN" altLang="en-US" sz="2000" b="1">
                <a:solidFill>
                  <a:srgbClr val="002060"/>
                </a:solidFill>
                <a:latin typeface="思源黑体 CN Bold" pitchFamily="34" charset="-122"/>
                <a:ea typeface="思源黑体 CN Bold" pitchFamily="34" charset="-122"/>
              </a:rPr>
              <a:t>的主要特性</a:t>
            </a:r>
            <a:endParaRPr lang="en-US" altLang="zh-CN" sz="2000" b="1" dirty="0">
              <a:solidFill>
                <a:srgbClr val="002060"/>
              </a:solidFill>
              <a:latin typeface="思源黑体 CN Bold" pitchFamily="34" charset="-122"/>
              <a:ea typeface="思源黑体 CN Bold"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425444" y="1209493"/>
            <a:ext cx="4176936" cy="5143500"/>
          </a:xfrm>
          <a:prstGeom prst="rect">
            <a:avLst/>
          </a:prstGeom>
          <a:ln>
            <a:noFill/>
          </a:ln>
          <a:effectLst>
            <a:outerShdw blurRad="190500" algn="tl" rotWithShape="0">
              <a:srgbClr val="000000">
                <a:alpha val="70000"/>
              </a:srgbClr>
            </a:outerShdw>
          </a:effectLst>
        </p:spPr>
      </p:pic>
      <p:sp>
        <p:nvSpPr>
          <p:cNvPr id="12" name="文本框 11"/>
          <p:cNvSpPr txBox="1"/>
          <p:nvPr/>
        </p:nvSpPr>
        <p:spPr>
          <a:xfrm>
            <a:off x="1690328" y="2573835"/>
            <a:ext cx="3244851" cy="2639377"/>
          </a:xfrm>
          <a:prstGeom prst="rect">
            <a:avLst/>
          </a:prstGeom>
          <a:noFill/>
        </p:spPr>
        <p:txBody>
          <a:bodyPr wrap="square" rtlCol="0">
            <a:spAutoFit/>
          </a:bodyPr>
          <a:lstStyle/>
          <a:p>
            <a:pPr>
              <a:lnSpc>
                <a:spcPct val="150000"/>
              </a:lnSpc>
            </a:pPr>
            <a:r>
              <a:rPr lang="en-US" altLang="zh-CN" sz="1600">
                <a:solidFill>
                  <a:srgbClr val="FF0000"/>
                </a:solidFill>
                <a:latin typeface="思源黑体 CN Normal" panose="020B0400000000000000" pitchFamily="34" charset="-122"/>
                <a:ea typeface="思源黑体 CN Normal" panose="020B0400000000000000" pitchFamily="34" charset="-122"/>
              </a:rPr>
              <a:t>①</a:t>
            </a:r>
            <a:r>
              <a:rPr lang="zh-CN" altLang="en-US" sz="1600">
                <a:solidFill>
                  <a:srgbClr val="002060"/>
                </a:solidFill>
                <a:latin typeface="思源黑体 CN Normal" panose="020B0400000000000000" pitchFamily="34" charset="-122"/>
                <a:ea typeface="思源黑体 CN Normal" panose="020B0400000000000000" pitchFamily="34" charset="-122"/>
              </a:rPr>
              <a:t>参考电压</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模拟部分电压</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②</a:t>
            </a:r>
            <a:r>
              <a:rPr lang="zh-CN" altLang="en-US" sz="1600">
                <a:solidFill>
                  <a:srgbClr val="002060"/>
                </a:solidFill>
                <a:latin typeface="思源黑体 CN Normal" panose="020B0400000000000000" pitchFamily="34" charset="-122"/>
                <a:ea typeface="思源黑体 CN Normal" panose="020B0400000000000000" pitchFamily="34" charset="-122"/>
              </a:rPr>
              <a:t>输入通道</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③</a:t>
            </a:r>
            <a:r>
              <a:rPr lang="zh-CN" altLang="en-US" sz="1600">
                <a:solidFill>
                  <a:srgbClr val="002060"/>
                </a:solidFill>
                <a:latin typeface="思源黑体 CN Normal" panose="020B0400000000000000" pitchFamily="34" charset="-122"/>
                <a:ea typeface="思源黑体 CN Normal" panose="020B0400000000000000" pitchFamily="34" charset="-122"/>
              </a:rPr>
              <a:t>转换序列</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④</a:t>
            </a:r>
            <a:r>
              <a:rPr lang="zh-CN" altLang="en-US" sz="1600">
                <a:solidFill>
                  <a:srgbClr val="002060"/>
                </a:solidFill>
                <a:latin typeface="思源黑体 CN Normal" panose="020B0400000000000000" pitchFamily="34" charset="-122"/>
                <a:ea typeface="思源黑体 CN Normal" panose="020B0400000000000000" pitchFamily="34" charset="-122"/>
              </a:rPr>
              <a:t>触发源</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⑤</a:t>
            </a:r>
            <a:r>
              <a:rPr lang="zh-CN" altLang="en-US" sz="1600">
                <a:solidFill>
                  <a:srgbClr val="002060"/>
                </a:solidFill>
                <a:latin typeface="思源黑体 CN Normal" panose="020B0400000000000000" pitchFamily="34" charset="-122"/>
                <a:ea typeface="思源黑体 CN Normal" panose="020B0400000000000000" pitchFamily="34" charset="-122"/>
              </a:rPr>
              <a:t>转换时间</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⑥</a:t>
            </a:r>
            <a:r>
              <a:rPr lang="zh-CN" altLang="en-US" sz="1600">
                <a:solidFill>
                  <a:srgbClr val="002060"/>
                </a:solidFill>
                <a:latin typeface="思源黑体 CN Normal" panose="020B0400000000000000" pitchFamily="34" charset="-122"/>
                <a:ea typeface="思源黑体 CN Normal" panose="020B0400000000000000" pitchFamily="34" charset="-122"/>
              </a:rPr>
              <a:t>数据寄存器</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⑦</a:t>
            </a:r>
            <a:r>
              <a:rPr lang="zh-CN" altLang="en-US" sz="1600">
                <a:solidFill>
                  <a:srgbClr val="002060"/>
                </a:solidFill>
                <a:latin typeface="思源黑体 CN Normal" panose="020B0400000000000000" pitchFamily="34" charset="-122"/>
                <a:ea typeface="思源黑体 CN Normal" panose="020B0400000000000000" pitchFamily="34" charset="-122"/>
              </a:rPr>
              <a:t>中断</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13" name="矩形 39"/>
          <p:cNvSpPr>
            <a:spLocks noChangeArrowheads="1"/>
          </p:cNvSpPr>
          <p:nvPr/>
        </p:nvSpPr>
        <p:spPr bwMode="auto">
          <a:xfrm>
            <a:off x="1031589" y="1269081"/>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ADC</a:t>
            </a:r>
            <a:r>
              <a:rPr lang="zh-CN" altLang="en-US" sz="2000" b="1">
                <a:solidFill>
                  <a:srgbClr val="002060"/>
                </a:solidFill>
                <a:latin typeface="思源黑体 CN Bold" pitchFamily="34" charset="-122"/>
                <a:ea typeface="思源黑体 CN Bold" pitchFamily="34" charset="-122"/>
              </a:rPr>
              <a:t>框图简介（</a:t>
            </a:r>
            <a:r>
              <a:rPr lang="en-US" altLang="zh-CN" sz="2000" b="1">
                <a:solidFill>
                  <a:srgbClr val="002060"/>
                </a:solidFill>
                <a:latin typeface="思源黑体 CN Bold" pitchFamily="34" charset="-122"/>
                <a:ea typeface="思源黑体 CN Bold" pitchFamily="34" charset="-122"/>
              </a:rPr>
              <a:t>F4</a:t>
            </a:r>
            <a:r>
              <a:rPr lang="zh-CN" altLang="en-US" sz="2000" b="1">
                <a:solidFill>
                  <a:srgbClr val="002060"/>
                </a:solidFill>
                <a:latin typeface="思源黑体 CN Bold" pitchFamily="34" charset="-122"/>
                <a:ea typeface="思源黑体 CN Bold" pitchFamily="34" charset="-122"/>
              </a:rPr>
              <a:t>）</a:t>
            </a:r>
            <a:endParaRPr lang="en-US" altLang="zh-CN" sz="2000" b="1" dirty="0">
              <a:solidFill>
                <a:srgbClr val="002060"/>
              </a:solidFill>
              <a:latin typeface="思源黑体 CN Bold" pitchFamily="34" charset="-122"/>
              <a:ea typeface="思源黑体 CN Bold" pitchFamily="34" charset="-122"/>
            </a:endParaRPr>
          </a:p>
        </p:txBody>
      </p:sp>
      <p:sp>
        <p:nvSpPr>
          <p:cNvPr id="18" name="矩形 17"/>
          <p:cNvSpPr/>
          <p:nvPr/>
        </p:nvSpPr>
        <p:spPr>
          <a:xfrm>
            <a:off x="5425444" y="2788730"/>
            <a:ext cx="825500" cy="617547"/>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417192" y="3465358"/>
            <a:ext cx="756044" cy="780184"/>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071915" y="3693288"/>
            <a:ext cx="965326" cy="552254"/>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5425444" y="4570520"/>
            <a:ext cx="3712204" cy="1779480"/>
          </a:xfrm>
          <a:prstGeom prst="rect">
            <a:avLst/>
          </a:prstGeom>
          <a:solidFill>
            <a:schemeClr val="accent2">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596605" y="3712676"/>
            <a:ext cx="731551" cy="599097"/>
          </a:xfrm>
          <a:prstGeom prst="rect">
            <a:avLst/>
          </a:prstGeom>
          <a:solidFill>
            <a:schemeClr val="accent6">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400082" y="2680088"/>
            <a:ext cx="1666226" cy="599097"/>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501354" y="1206500"/>
            <a:ext cx="2964220" cy="638336"/>
          </a:xfrm>
          <a:prstGeom prst="rect">
            <a:avLst/>
          </a:prstGeom>
          <a:solidFill>
            <a:srgbClr val="11745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804453" y="1844836"/>
            <a:ext cx="2324942" cy="771405"/>
          </a:xfrm>
          <a:prstGeom prst="rect">
            <a:avLst/>
          </a:prstGeom>
          <a:solidFill>
            <a:srgbClr val="11745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5342787" y="2941189"/>
            <a:ext cx="561132" cy="369332"/>
          </a:xfrm>
          <a:prstGeom prst="rect">
            <a:avLst/>
          </a:prstGeom>
          <a:noFill/>
        </p:spPr>
        <p:txBody>
          <a:bodyPr wrap="square">
            <a:spAutoFit/>
          </a:bodyPr>
          <a:lstStyle/>
          <a:p>
            <a:r>
              <a:rPr lang="en-US" altLang="zh-CN" sz="1800" b="1">
                <a:solidFill>
                  <a:srgbClr val="FF0000"/>
                </a:solidFill>
                <a:latin typeface="思源黑体 CN Normal" panose="020B0400000000000000" pitchFamily="34" charset="-122"/>
                <a:ea typeface="思源黑体 CN Normal" panose="020B0400000000000000" pitchFamily="34" charset="-122"/>
              </a:rPr>
              <a:t>①</a:t>
            </a:r>
            <a:endParaRPr lang="zh-CN" altLang="en-US" b="1">
              <a:solidFill>
                <a:srgbClr val="FF0000"/>
              </a:solidFill>
            </a:endParaRPr>
          </a:p>
        </p:txBody>
      </p:sp>
      <p:sp>
        <p:nvSpPr>
          <p:cNvPr id="30" name="文本框 29"/>
          <p:cNvSpPr txBox="1"/>
          <p:nvPr/>
        </p:nvSpPr>
        <p:spPr>
          <a:xfrm>
            <a:off x="5384887" y="3743493"/>
            <a:ext cx="705692"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②</a:t>
            </a:r>
            <a:endParaRPr lang="zh-CN" altLang="en-US" b="1">
              <a:solidFill>
                <a:srgbClr val="FF0000"/>
              </a:solidFill>
            </a:endParaRPr>
          </a:p>
        </p:txBody>
      </p:sp>
      <p:sp>
        <p:nvSpPr>
          <p:cNvPr id="32" name="文本框 31"/>
          <p:cNvSpPr txBox="1"/>
          <p:nvPr/>
        </p:nvSpPr>
        <p:spPr>
          <a:xfrm>
            <a:off x="7694600" y="3703760"/>
            <a:ext cx="8270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③</a:t>
            </a:r>
            <a:endParaRPr lang="zh-CN" altLang="en-US" b="1">
              <a:solidFill>
                <a:srgbClr val="FF0000"/>
              </a:solidFill>
            </a:endParaRPr>
          </a:p>
        </p:txBody>
      </p:sp>
      <p:sp>
        <p:nvSpPr>
          <p:cNvPr id="36" name="文本框 35"/>
          <p:cNvSpPr txBox="1"/>
          <p:nvPr/>
        </p:nvSpPr>
        <p:spPr>
          <a:xfrm>
            <a:off x="5426967" y="4816430"/>
            <a:ext cx="4333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④</a:t>
            </a:r>
            <a:endParaRPr lang="zh-CN" altLang="en-US" b="1">
              <a:solidFill>
                <a:srgbClr val="FF0000"/>
              </a:solidFill>
            </a:endParaRPr>
          </a:p>
        </p:txBody>
      </p:sp>
      <p:sp>
        <p:nvSpPr>
          <p:cNvPr id="38" name="文本框 37"/>
          <p:cNvSpPr txBox="1"/>
          <p:nvPr/>
        </p:nvSpPr>
        <p:spPr>
          <a:xfrm>
            <a:off x="8621342" y="3882410"/>
            <a:ext cx="540494"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⑤</a:t>
            </a:r>
            <a:endParaRPr lang="zh-CN" altLang="en-US" b="1">
              <a:solidFill>
                <a:srgbClr val="FF0000"/>
              </a:solidFill>
            </a:endParaRPr>
          </a:p>
        </p:txBody>
      </p:sp>
      <p:sp>
        <p:nvSpPr>
          <p:cNvPr id="40" name="文本框 39"/>
          <p:cNvSpPr txBox="1"/>
          <p:nvPr/>
        </p:nvSpPr>
        <p:spPr>
          <a:xfrm>
            <a:off x="7485458" y="2952356"/>
            <a:ext cx="6111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⑥</a:t>
            </a:r>
            <a:endParaRPr lang="zh-CN" altLang="en-US" b="1">
              <a:solidFill>
                <a:srgbClr val="FF0000"/>
              </a:solidFill>
            </a:endParaRPr>
          </a:p>
        </p:txBody>
      </p:sp>
      <p:sp>
        <p:nvSpPr>
          <p:cNvPr id="42" name="文本框 41"/>
          <p:cNvSpPr txBox="1"/>
          <p:nvPr/>
        </p:nvSpPr>
        <p:spPr>
          <a:xfrm>
            <a:off x="8703889" y="1216757"/>
            <a:ext cx="76993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⑦</a:t>
            </a:r>
            <a:endParaRPr lang="zh-CN" altLang="en-US" b="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500"/>
                                        <p:tgtEl>
                                          <p:spTgt spid="3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5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bldLvl="0" animBg="1"/>
      <p:bldP spid="19" grpId="0" bldLvl="0" animBg="1"/>
      <p:bldP spid="20" grpId="0" bldLvl="0" animBg="1"/>
      <p:bldP spid="21" grpId="0" bldLvl="0" animBg="1"/>
      <p:bldP spid="23" grpId="0" bldLvl="0" animBg="1"/>
      <p:bldP spid="24" grpId="0" bldLvl="0" animBg="1"/>
      <p:bldP spid="25" grpId="0" bldLvl="0" animBg="1"/>
      <p:bldP spid="26" grpId="0" bldLvl="0" animBg="1"/>
      <p:bldP spid="28" grpId="0"/>
      <p:bldP spid="30" grpId="0"/>
      <p:bldP spid="32" grpId="0"/>
      <p:bldP spid="36" grpId="0"/>
      <p:bldP spid="38" grpId="0"/>
      <p:bldP spid="40" grpId="0"/>
      <p:bldP spid="4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39"/>
          <p:cNvSpPr>
            <a:spLocks noChangeArrowheads="1"/>
          </p:cNvSpPr>
          <p:nvPr/>
        </p:nvSpPr>
        <p:spPr bwMode="auto">
          <a:xfrm>
            <a:off x="1920937" y="1622469"/>
            <a:ext cx="4790170" cy="35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a:solidFill>
                  <a:srgbClr val="002060"/>
                </a:solidFill>
                <a:latin typeface="思源黑体 CN Normal" panose="020B0400000000000000" pitchFamily="34" charset="-122"/>
                <a:ea typeface="思源黑体 CN Normal" panose="020B0400000000000000" pitchFamily="34" charset="-122"/>
              </a:rPr>
              <a:t>规则组和注入组执行优先级对比</a:t>
            </a:r>
            <a:endParaRPr lang="en-US" altLang="zh-CN" sz="2000">
              <a:solidFill>
                <a:srgbClr val="002060"/>
              </a:solidFill>
              <a:latin typeface="思源黑体 CN Normal" panose="020B0400000000000000" pitchFamily="34" charset="-122"/>
              <a:ea typeface="思源黑体 CN Normal" panose="020B0400000000000000" pitchFamily="34" charset="-122"/>
            </a:endParaRPr>
          </a:p>
        </p:txBody>
      </p:sp>
      <p:pic>
        <p:nvPicPr>
          <p:cNvPr id="16" name="图片 1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37123" y="2015054"/>
            <a:ext cx="6592074" cy="3796816"/>
          </a:xfrm>
          <a:prstGeom prst="rect">
            <a:avLst/>
          </a:prstGeom>
          <a:ln>
            <a:noFill/>
          </a:ln>
          <a:effectLst>
            <a:outerShdw blurRad="190500" algn="tl" rotWithShape="0">
              <a:srgbClr val="000000">
                <a:alpha val="70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363470" y="2361565"/>
            <a:ext cx="7056755" cy="368300"/>
          </a:xfrm>
          <a:prstGeom prst="rect">
            <a:avLst/>
          </a:prstGeom>
        </p:spPr>
        <p:txBody>
          <a:bodyPr wrap="square">
            <a:spAutoFit/>
          </a:bodyPr>
          <a:lstStyle/>
          <a:p>
            <a:r>
              <a:rPr lang="en-US" altLang="zh-CN" sz="1600" dirty="0">
                <a:solidFill>
                  <a:srgbClr val="FF0000"/>
                </a:solidFill>
                <a:latin typeface="思源黑体 CN Normal" panose="020B0400000000000000" pitchFamily="34" charset="-122"/>
                <a:ea typeface="思源黑体 CN Normal" panose="020B0400000000000000" pitchFamily="34" charset="-122"/>
              </a:rPr>
              <a:t>ADC</a:t>
            </a:r>
            <a:r>
              <a:rPr lang="zh-CN" altLang="en-US" sz="1600" dirty="0">
                <a:solidFill>
                  <a:srgbClr val="FF0000"/>
                </a:solidFill>
                <a:latin typeface="思源黑体 CN Normal" panose="020B0400000000000000" pitchFamily="34" charset="-122"/>
                <a:ea typeface="思源黑体 CN Normal" panose="020B0400000000000000" pitchFamily="34" charset="-122"/>
              </a:rPr>
              <a:t>转换时间（</a:t>
            </a:r>
            <a:r>
              <a:rPr lang="en-US" altLang="zh-CN" sz="1600" dirty="0">
                <a:solidFill>
                  <a:srgbClr val="FF0000"/>
                </a:solidFill>
                <a:latin typeface="思源黑体 CN Normal" panose="020B0400000000000000" pitchFamily="34" charset="-122"/>
                <a:ea typeface="思源黑体 CN Normal" panose="020B0400000000000000" pitchFamily="34" charset="-122"/>
              </a:rPr>
              <a:t>12</a:t>
            </a:r>
            <a:r>
              <a:rPr lang="zh-CN" altLang="en-US" sz="1600" dirty="0">
                <a:solidFill>
                  <a:srgbClr val="FF0000"/>
                </a:solidFill>
                <a:latin typeface="思源黑体 CN Normal" panose="020B0400000000000000" pitchFamily="34" charset="-122"/>
                <a:ea typeface="思源黑体 CN Normal" panose="020B0400000000000000" pitchFamily="34" charset="-122"/>
              </a:rPr>
              <a:t>位分辨率）： </a:t>
            </a:r>
            <a:r>
              <a:rPr lang="en-US" altLang="zh-CN" dirty="0">
                <a:solidFill>
                  <a:srgbClr val="FF0000"/>
                </a:solidFill>
              </a:rPr>
              <a:t>T</a:t>
            </a:r>
            <a:r>
              <a:rPr lang="en-US" altLang="zh-CN" baseline="-25000" dirty="0">
                <a:solidFill>
                  <a:srgbClr val="FF0000"/>
                </a:solidFill>
              </a:rPr>
              <a:t>CONV</a:t>
            </a:r>
            <a:r>
              <a:rPr lang="en-US" altLang="zh-CN" sz="1600" dirty="0">
                <a:solidFill>
                  <a:srgbClr val="FF0000"/>
                </a:solidFill>
                <a:latin typeface="思源黑体 CN Normal" panose="020B0400000000000000" pitchFamily="34" charset="-122"/>
                <a:ea typeface="思源黑体 CN Normal" panose="020B0400000000000000" pitchFamily="34" charset="-122"/>
              </a:rPr>
              <a:t> = </a:t>
            </a:r>
            <a:r>
              <a:rPr lang="zh-CN" altLang="en-US" sz="1600" dirty="0">
                <a:solidFill>
                  <a:srgbClr val="FF0000"/>
                </a:solidFill>
                <a:latin typeface="思源黑体 CN Normal" panose="020B0400000000000000" pitchFamily="34" charset="-122"/>
                <a:ea typeface="思源黑体 CN Normal" panose="020B0400000000000000" pitchFamily="34" charset="-122"/>
              </a:rPr>
              <a:t>采样时间 </a:t>
            </a:r>
            <a:r>
              <a:rPr lang="en-US" altLang="zh-CN" sz="1600" dirty="0">
                <a:solidFill>
                  <a:srgbClr val="FF0000"/>
                </a:solidFill>
                <a:latin typeface="思源黑体 CN Normal" panose="020B0400000000000000" pitchFamily="34" charset="-122"/>
                <a:ea typeface="思源黑体 CN Normal" panose="020B0400000000000000" pitchFamily="34" charset="-122"/>
              </a:rPr>
              <a:t>+ 12</a:t>
            </a:r>
            <a:r>
              <a:rPr lang="zh-CN" altLang="en-US" sz="1600" dirty="0">
                <a:solidFill>
                  <a:srgbClr val="FF0000"/>
                </a:solidFill>
                <a:latin typeface="思源黑体 CN Normal" panose="020B0400000000000000" pitchFamily="34" charset="-122"/>
                <a:ea typeface="思源黑体 CN Normal" panose="020B0400000000000000" pitchFamily="34" charset="-122"/>
              </a:rPr>
              <a:t>个周期</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p:sp>
        <p:nvSpPr>
          <p:cNvPr id="13" name="矩形 12"/>
          <p:cNvSpPr/>
          <p:nvPr/>
        </p:nvSpPr>
        <p:spPr>
          <a:xfrm>
            <a:off x="1808052" y="1910557"/>
            <a:ext cx="5677594"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en-US" altLang="zh-CN" sz="1600">
                <a:solidFill>
                  <a:srgbClr val="002060"/>
                </a:solidFill>
                <a:latin typeface="思源黑体 CN Normal" panose="020B0400000000000000" pitchFamily="34" charset="-122"/>
                <a:ea typeface="思源黑体 CN Normal" panose="020B0400000000000000" pitchFamily="34" charset="-122"/>
              </a:rPr>
              <a:t>2</a:t>
            </a:r>
            <a:r>
              <a:rPr lang="zh-CN" altLang="en-US" sz="1600">
                <a:solidFill>
                  <a:srgbClr val="002060"/>
                </a:solidFill>
                <a:latin typeface="思源黑体 CN Normal" panose="020B0400000000000000" pitchFamily="34" charset="-122"/>
                <a:ea typeface="思源黑体 CN Normal" panose="020B0400000000000000" pitchFamily="34" charset="-122"/>
              </a:rPr>
              <a:t>）如何设置</a:t>
            </a:r>
            <a:r>
              <a:rPr lang="en-US" altLang="zh-CN" sz="1600">
                <a:solidFill>
                  <a:srgbClr val="002060"/>
                </a:solidFill>
                <a:latin typeface="思源黑体 CN Normal" panose="020B0400000000000000" pitchFamily="34" charset="-122"/>
                <a:ea typeface="思源黑体 CN Normal" panose="020B0400000000000000" pitchFamily="34" charset="-122"/>
              </a:rPr>
              <a:t>ADC</a:t>
            </a:r>
            <a:r>
              <a:rPr lang="zh-CN" altLang="en-US" sz="1600">
                <a:solidFill>
                  <a:srgbClr val="002060"/>
                </a:solidFill>
                <a:latin typeface="思源黑体 CN Normal" panose="020B0400000000000000" pitchFamily="34" charset="-122"/>
                <a:ea typeface="思源黑体 CN Normal" panose="020B0400000000000000" pitchFamily="34" charset="-122"/>
              </a:rPr>
              <a:t>转换时间？</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15" name="文本框 14"/>
          <p:cNvSpPr txBox="1"/>
          <p:nvPr/>
        </p:nvSpPr>
        <p:spPr>
          <a:xfrm>
            <a:off x="2280843" y="2910933"/>
            <a:ext cx="8101484" cy="338554"/>
          </a:xfrm>
          <a:prstGeom prst="rect">
            <a:avLst/>
          </a:prstGeom>
          <a:noFill/>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采样时间可通过</a:t>
            </a:r>
            <a:r>
              <a:rPr lang="en-US" altLang="zh-CN" sz="1600">
                <a:solidFill>
                  <a:srgbClr val="002060"/>
                </a:solidFill>
                <a:latin typeface="思源黑体 CN Normal" panose="020B0400000000000000" pitchFamily="34" charset="-122"/>
                <a:ea typeface="思源黑体 CN Normal" panose="020B0400000000000000" pitchFamily="34" charset="-122"/>
              </a:rPr>
              <a:t>SMPx[2:0]</a:t>
            </a:r>
            <a:r>
              <a:rPr lang="zh-CN" altLang="en-US" sz="1600">
                <a:solidFill>
                  <a:srgbClr val="002060"/>
                </a:solidFill>
                <a:latin typeface="思源黑体 CN Normal" panose="020B0400000000000000" pitchFamily="34" charset="-122"/>
                <a:ea typeface="思源黑体 CN Normal" panose="020B0400000000000000" pitchFamily="34" charset="-122"/>
              </a:rPr>
              <a:t>位设置，</a:t>
            </a:r>
            <a:r>
              <a:rPr lang="en-US" altLang="zh-CN" sz="1600">
                <a:solidFill>
                  <a:srgbClr val="002060"/>
                </a:solidFill>
                <a:latin typeface="思源黑体 CN Normal" panose="020B0400000000000000" pitchFamily="34" charset="-122"/>
                <a:ea typeface="思源黑体 CN Normal" panose="020B0400000000000000" pitchFamily="34" charset="-122"/>
              </a:rPr>
              <a:t>x=0~18</a:t>
            </a:r>
            <a:endParaRPr lang="zh-CN" altLang="en-US" sz="1600">
              <a:solidFill>
                <a:srgbClr val="002060"/>
              </a:solidFill>
            </a:endParaRPr>
          </a:p>
        </p:txBody>
      </p:sp>
      <p:sp>
        <p:nvSpPr>
          <p:cNvPr id="16" name="文本框 15"/>
          <p:cNvSpPr txBox="1"/>
          <p:nvPr/>
        </p:nvSpPr>
        <p:spPr>
          <a:xfrm>
            <a:off x="2280843" y="3273329"/>
            <a:ext cx="3910065" cy="1077218"/>
          </a:xfrm>
          <a:prstGeom prst="rect">
            <a:avLst/>
          </a:prstGeom>
          <a:noFill/>
        </p:spPr>
        <p:txBody>
          <a:bodyPr wrap="square">
            <a:spAutoFit/>
          </a:bodyPr>
          <a:lstStyle/>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000</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3</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001</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15</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010</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28</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011</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56</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endParaRPr>
          </a:p>
        </p:txBody>
      </p:sp>
      <mc:AlternateContent xmlns:mc="http://schemas.openxmlformats.org/markup-compatibility/2006">
        <mc:Choice xmlns:a14="http://schemas.microsoft.com/office/drawing/2010/main" Requires="a14">
          <p:sp>
            <p:nvSpPr>
              <p:cNvPr id="18" name="矩形 17"/>
              <p:cNvSpPr/>
              <p:nvPr/>
            </p:nvSpPr>
            <p:spPr>
              <a:xfrm>
                <a:off x="1734820" y="4939665"/>
                <a:ext cx="8562340" cy="826135"/>
              </a:xfrm>
              <a:prstGeom prst="rect">
                <a:avLst/>
              </a:prstGeom>
            </p:spPr>
            <p:txBody>
              <a:bodyPr wrap="square">
                <a:noAutofit/>
              </a:bodyPr>
              <a:lstStyle/>
              <a:p>
                <a:r>
                  <a:rPr lang="en-US" altLang="zh-CN">
                    <a:solidFill>
                      <a:srgbClr val="FF0000"/>
                    </a:solidFill>
                  </a:rPr>
                  <a:t>T</a:t>
                </a:r>
                <a:r>
                  <a:rPr lang="en-US" altLang="zh-CN" baseline="-25000">
                    <a:solidFill>
                      <a:srgbClr val="FF0000"/>
                    </a:solidFill>
                  </a:rPr>
                  <a:t>CONV</a:t>
                </a:r>
                <a:r>
                  <a:rPr lang="en-US" altLang="zh-CN" sz="1600">
                    <a:solidFill>
                      <a:srgbClr val="FF0000"/>
                    </a:solidFill>
                    <a:latin typeface="思源黑体 CN Normal" panose="020B0400000000000000" pitchFamily="34" charset="-122"/>
                    <a:ea typeface="思源黑体 CN Normal" panose="020B0400000000000000" pitchFamily="34" charset="-122"/>
                  </a:rPr>
                  <a:t> = </a:t>
                </a:r>
                <a:r>
                  <a:rPr lang="zh-CN" altLang="en-US" sz="1600">
                    <a:solidFill>
                      <a:srgbClr val="FF0000"/>
                    </a:solidFill>
                    <a:latin typeface="思源黑体 CN Normal" panose="020B0400000000000000" pitchFamily="34" charset="-122"/>
                    <a:ea typeface="思源黑体 CN Normal" panose="020B0400000000000000" pitchFamily="34" charset="-122"/>
                  </a:rPr>
                  <a:t>采样时间 </a:t>
                </a:r>
                <a:r>
                  <a:rPr lang="en-US" altLang="zh-CN" sz="1600">
                    <a:solidFill>
                      <a:srgbClr val="FF0000"/>
                    </a:solidFill>
                    <a:latin typeface="思源黑体 CN Normal" panose="020B0400000000000000" pitchFamily="34" charset="-122"/>
                    <a:ea typeface="思源黑体 CN Normal" panose="020B0400000000000000" pitchFamily="34" charset="-122"/>
                  </a:rPr>
                  <a:t>+ 12</a:t>
                </a:r>
                <a:r>
                  <a:rPr lang="zh-CN" altLang="en-US" sz="1600">
                    <a:solidFill>
                      <a:srgbClr val="FF0000"/>
                    </a:solidFill>
                    <a:latin typeface="思源黑体 CN Normal" panose="020B0400000000000000" pitchFamily="34" charset="-122"/>
                    <a:ea typeface="思源黑体 CN Normal" panose="020B0400000000000000" pitchFamily="34" charset="-122"/>
                  </a:rPr>
                  <a:t>个周期 </a:t>
                </a:r>
                <a:r>
                  <a:rPr lang="en-US" altLang="zh-CN" sz="1600">
                    <a:solidFill>
                      <a:srgbClr val="FF0000"/>
                    </a:solidFill>
                    <a:latin typeface="思源黑体 CN Normal" panose="020B0400000000000000" pitchFamily="34" charset="-122"/>
                    <a:ea typeface="思源黑体 CN Normal" panose="020B0400000000000000" pitchFamily="34" charset="-122"/>
                  </a:rPr>
                  <a:t>= 3</a:t>
                </a:r>
                <a:r>
                  <a:rPr lang="zh-CN" altLang="en-US" sz="1600">
                    <a:solidFill>
                      <a:srgbClr val="FF0000"/>
                    </a:solidFill>
                    <a:latin typeface="思源黑体 CN Normal" panose="020B0400000000000000" pitchFamily="34" charset="-122"/>
                    <a:ea typeface="思源黑体 CN Normal" panose="020B0400000000000000" pitchFamily="34" charset="-122"/>
                  </a:rPr>
                  <a:t>个周期 </a:t>
                </a:r>
                <a:r>
                  <a:rPr lang="en-US" altLang="zh-CN" sz="1600">
                    <a:solidFill>
                      <a:srgbClr val="FF0000"/>
                    </a:solidFill>
                    <a:latin typeface="思源黑体 CN Normal" panose="020B0400000000000000" pitchFamily="34" charset="-122"/>
                    <a:ea typeface="思源黑体 CN Normal" panose="020B0400000000000000" pitchFamily="34" charset="-122"/>
                  </a:rPr>
                  <a:t>+ 12</a:t>
                </a:r>
                <a:r>
                  <a:rPr lang="zh-CN" altLang="en-US" sz="1600">
                    <a:solidFill>
                      <a:srgbClr val="FF0000"/>
                    </a:solidFill>
                    <a:latin typeface="思源黑体 CN Normal" panose="020B0400000000000000" pitchFamily="34" charset="-122"/>
                    <a:ea typeface="思源黑体 CN Normal" panose="020B0400000000000000" pitchFamily="34" charset="-122"/>
                  </a:rPr>
                  <a:t>个周期 </a:t>
                </a:r>
                <a:r>
                  <a:rPr lang="en-US" altLang="zh-CN" sz="1600">
                    <a:solidFill>
                      <a:srgbClr val="FF0000"/>
                    </a:solidFill>
                    <a:latin typeface="思源黑体 CN Normal" panose="020B0400000000000000" pitchFamily="34" charset="-122"/>
                    <a:ea typeface="思源黑体 CN Normal" panose="020B0400000000000000" pitchFamily="34" charset="-122"/>
                  </a:rPr>
                  <a:t>= 15</a:t>
                </a:r>
                <a:r>
                  <a:rPr lang="zh-CN" altLang="en-US" sz="1600">
                    <a:solidFill>
                      <a:srgbClr val="FF0000"/>
                    </a:solidFill>
                    <a:latin typeface="思源黑体 CN Normal" panose="020B0400000000000000" pitchFamily="34" charset="-122"/>
                    <a:ea typeface="思源黑体 CN Normal" panose="020B0400000000000000" pitchFamily="34" charset="-122"/>
                  </a:rPr>
                  <a:t>个周期 </a:t>
                </a:r>
                <a:r>
                  <a:rPr lang="en-US" altLang="zh-CN" sz="1600">
                    <a:solidFill>
                      <a:srgbClr val="FF0000"/>
                    </a:solidFill>
                    <a:latin typeface="思源黑体 CN Normal" panose="020B0400000000000000" pitchFamily="34" charset="-122"/>
                    <a:ea typeface="思源黑体 CN Normal" panose="020B0400000000000000" pitchFamily="34" charset="-122"/>
                  </a:rPr>
                  <a:t>= </a:t>
                </a:r>
                <a14:m>
                  <m:oMath xmlns:m="http://schemas.openxmlformats.org/officeDocument/2006/math">
                    <m:d>
                      <m:dPr>
                        <m:ctrlPr>
                          <a:rPr lang="zh-CN" altLang="zh-CN" i="1">
                            <a:solidFill>
                              <a:srgbClr val="FF0000"/>
                            </a:solidFill>
                            <a:latin typeface="Cambria Math" panose="02040503050406030204" pitchFamily="18" charset="0"/>
                          </a:rPr>
                        </m:ctrlPr>
                      </m:dPr>
                      <m:e>
                        <m:f>
                          <m:fPr>
                            <m:ctrlPr>
                              <a:rPr lang="zh-CN"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1</m:t>
                            </m:r>
                          </m:num>
                          <m:den>
                            <m:r>
                              <a:rPr lang="en-US" altLang="zh-CN" b="0" i="0" smtClean="0">
                                <a:solidFill>
                                  <a:srgbClr val="FF0000"/>
                                </a:solidFill>
                                <a:latin typeface="Cambria Math" panose="02040503050406030204" pitchFamily="18" charset="0"/>
                              </a:rPr>
                              <m:t>21</m:t>
                            </m:r>
                            <m:r>
                              <a:rPr lang="en-US" altLang="zh-CN">
                                <a:solidFill>
                                  <a:srgbClr val="FF0000"/>
                                </a:solidFill>
                                <a:latin typeface="Cambria Math" panose="02040503050406030204" pitchFamily="18" charset="0"/>
                              </a:rPr>
                              <m:t>000000</m:t>
                            </m:r>
                          </m:den>
                        </m:f>
                      </m:e>
                    </m:d>
                    <m:r>
                      <a:rPr lang="en-US" altLang="zh-CN" i="1">
                        <a:solidFill>
                          <a:srgbClr val="FF0000"/>
                        </a:solidFill>
                        <a:latin typeface="Cambria Math" panose="02040503050406030204" pitchFamily="18" charset="0"/>
                      </a:rPr>
                      <m:t>∗</m:t>
                    </m:r>
                    <m:r>
                      <a:rPr lang="en-US" altLang="zh-CN">
                        <a:solidFill>
                          <a:srgbClr val="FF0000"/>
                        </a:solidFill>
                        <a:latin typeface="Cambria Math" panose="02040503050406030204" pitchFamily="18" charset="0"/>
                      </a:rPr>
                      <m:t>1</m:t>
                    </m:r>
                    <m:r>
                      <a:rPr lang="en-US" altLang="zh-CN" b="0" i="0" smtClean="0">
                        <a:solidFill>
                          <a:srgbClr val="FF0000"/>
                        </a:solidFill>
                        <a:latin typeface="Cambria Math" panose="02040503050406030204" pitchFamily="18" charset="0"/>
                      </a:rPr>
                      <m:t>5</m:t>
                    </m:r>
                    <m:r>
                      <a:rPr lang="en-US" altLang="zh-CN">
                        <a:solidFill>
                          <a:srgbClr val="FF0000"/>
                        </a:solidFill>
                        <a:latin typeface="Cambria Math" panose="02040503050406030204" pitchFamily="18" charset="0"/>
                      </a:rPr>
                      <m:t> </m:t>
                    </m:r>
                    <m:r>
                      <m:rPr>
                        <m:sty m:val="p"/>
                      </m:rPr>
                      <a:rPr lang="en-US" altLang="zh-CN">
                        <a:solidFill>
                          <a:srgbClr val="FF0000"/>
                        </a:solidFill>
                        <a:latin typeface="Cambria Math" panose="02040503050406030204" pitchFamily="18" charset="0"/>
                      </a:rPr>
                      <m:t>s</m:t>
                    </m:r>
                  </m:oMath>
                </a14:m>
                <a:r>
                  <a:rPr lang="en-US" altLang="zh-CN">
                    <a:solidFill>
                      <a:srgbClr val="FF0000"/>
                    </a:solidFill>
                  </a:rPr>
                  <a:t> = 0.71us</a:t>
                </a:r>
                <a:endParaRPr lang="zh-CN" altLang="en-US" sz="1600" dirty="0">
                  <a:solidFill>
                    <a:srgbClr val="FF0000"/>
                  </a:solidFill>
                  <a:latin typeface="思源黑体 CN Normal" panose="020B0400000000000000" pitchFamily="34" charset="-122"/>
                  <a:ea typeface="思源黑体 CN Normal" panose="020B0400000000000000" pitchFamily="34" charset="-122"/>
                </a:endParaRPr>
              </a:p>
            </p:txBody>
          </p:sp>
        </mc:Choice>
        <mc:Fallback>
          <p:sp>
            <p:nvSpPr>
              <p:cNvPr id="18" name="矩形 17"/>
              <p:cNvSpPr>
                <a:spLocks noRot="1" noChangeAspect="1" noMove="1" noResize="1" noEditPoints="1" noAdjustHandles="1" noChangeArrowheads="1" noChangeShapeType="1" noTextEdit="1"/>
              </p:cNvSpPr>
              <p:nvPr/>
            </p:nvSpPr>
            <p:spPr>
              <a:xfrm>
                <a:off x="1734820" y="4939665"/>
                <a:ext cx="8562340" cy="826135"/>
              </a:xfrm>
              <a:prstGeom prst="rect">
                <a:avLst/>
              </a:prstGeom>
              <a:blipFill rotWithShape="1">
                <a:blip r:embed="rId1"/>
                <a:stretch>
                  <a:fillRect/>
                </a:stretch>
              </a:blipFill>
            </p:spPr>
            <p:txBody>
              <a:bodyPr/>
              <a:lstStyle/>
              <a:p>
                <a:r>
                  <a:rPr lang="zh-CN" altLang="en-US">
                    <a:noFill/>
                  </a:rPr>
                  <a:t> </a:t>
                </a:r>
              </a:p>
            </p:txBody>
          </p:sp>
        </mc:Fallback>
      </mc:AlternateContent>
      <p:sp>
        <p:nvSpPr>
          <p:cNvPr id="19" name="文本框 18"/>
          <p:cNvSpPr txBox="1"/>
          <p:nvPr/>
        </p:nvSpPr>
        <p:spPr>
          <a:xfrm>
            <a:off x="5895583" y="3257434"/>
            <a:ext cx="3816184" cy="1077218"/>
          </a:xfrm>
          <a:prstGeom prst="rect">
            <a:avLst/>
          </a:prstGeom>
          <a:noFill/>
        </p:spPr>
        <p:txBody>
          <a:bodyPr wrap="square">
            <a:spAutoFit/>
          </a:bodyPr>
          <a:lstStyle/>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100</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84</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101</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112</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110</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144</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latin typeface="思源黑体 CN Normal" panose="020B0400000000000000" pitchFamily="34" charset="-122"/>
              <a:ea typeface="思源黑体 CN Normal" panose="020B0400000000000000" pitchFamily="34" charset="-122"/>
            </a:endParaRPr>
          </a:p>
          <a:p>
            <a:r>
              <a:rPr lang="zh-CN" altLang="en-US" sz="1600">
                <a:solidFill>
                  <a:srgbClr val="7030A0"/>
                </a:solidFill>
                <a:latin typeface="思源黑体 CN Normal" panose="020B0400000000000000" pitchFamily="34" charset="-122"/>
                <a:ea typeface="思源黑体 CN Normal" panose="020B0400000000000000" pitchFamily="34" charset="-122"/>
              </a:rPr>
              <a:t> </a:t>
            </a:r>
            <a:r>
              <a:rPr lang="en-US" altLang="zh-CN" sz="1600">
                <a:solidFill>
                  <a:srgbClr val="7030A0"/>
                </a:solidFill>
                <a:latin typeface="思源黑体 CN Normal" panose="020B0400000000000000" pitchFamily="34" charset="-122"/>
                <a:ea typeface="思源黑体 CN Normal" panose="020B0400000000000000" pitchFamily="34" charset="-122"/>
              </a:rPr>
              <a:t>SMP = 111</a:t>
            </a:r>
            <a:r>
              <a:rPr lang="zh-CN" altLang="en-US" sz="1600">
                <a:solidFill>
                  <a:srgbClr val="7030A0"/>
                </a:solidFill>
                <a:latin typeface="思源黑体 CN Normal" panose="020B0400000000000000" pitchFamily="34" charset="-122"/>
                <a:ea typeface="思源黑体 CN Normal" panose="020B0400000000000000" pitchFamily="34" charset="-122"/>
              </a:rPr>
              <a:t>：</a:t>
            </a:r>
            <a:r>
              <a:rPr lang="en-US" altLang="zh-CN" sz="1600">
                <a:solidFill>
                  <a:srgbClr val="7030A0"/>
                </a:solidFill>
                <a:latin typeface="思源黑体 CN Normal" panose="020B0400000000000000" pitchFamily="34" charset="-122"/>
                <a:ea typeface="思源黑体 CN Normal" panose="020B0400000000000000" pitchFamily="34" charset="-122"/>
              </a:rPr>
              <a:t>480</a:t>
            </a:r>
            <a:r>
              <a:rPr lang="zh-CN" altLang="en-US" sz="1600">
                <a:solidFill>
                  <a:srgbClr val="7030A0"/>
                </a:solidFill>
                <a:latin typeface="思源黑体 CN Normal" panose="020B0400000000000000" pitchFamily="34" charset="-122"/>
                <a:ea typeface="思源黑体 CN Normal" panose="020B0400000000000000" pitchFamily="34" charset="-122"/>
              </a:rPr>
              <a:t>个</a:t>
            </a:r>
            <a:r>
              <a:rPr lang="en-US" altLang="zh-CN" sz="1600">
                <a:solidFill>
                  <a:srgbClr val="7030A0"/>
                </a:solidFill>
                <a:latin typeface="思源黑体 CN Normal" panose="020B0400000000000000" pitchFamily="34" charset="-122"/>
                <a:ea typeface="思源黑体 CN Normal" panose="020B0400000000000000" pitchFamily="34" charset="-122"/>
              </a:rPr>
              <a:t>ADC</a:t>
            </a:r>
            <a:r>
              <a:rPr lang="zh-CN" altLang="en-US" sz="1600">
                <a:solidFill>
                  <a:srgbClr val="7030A0"/>
                </a:solidFill>
                <a:latin typeface="思源黑体 CN Normal" panose="020B0400000000000000" pitchFamily="34" charset="-122"/>
                <a:ea typeface="思源黑体 CN Normal" panose="020B0400000000000000" pitchFamily="34" charset="-122"/>
              </a:rPr>
              <a:t>时钟周期</a:t>
            </a:r>
            <a:endParaRPr lang="zh-CN" altLang="en-US" sz="1600">
              <a:solidFill>
                <a:srgbClr val="7030A0"/>
              </a:solidFill>
            </a:endParaRPr>
          </a:p>
        </p:txBody>
      </p:sp>
      <p:sp>
        <p:nvSpPr>
          <p:cNvPr id="2" name="矩形 1"/>
          <p:cNvSpPr/>
          <p:nvPr/>
        </p:nvSpPr>
        <p:spPr>
          <a:xfrm>
            <a:off x="2280843" y="4502339"/>
            <a:ext cx="668502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举个例子：</a:t>
            </a:r>
            <a:r>
              <a:rPr lang="en-US" altLang="zh-CN" sz="1600">
                <a:solidFill>
                  <a:srgbClr val="002060"/>
                </a:solidFill>
                <a:latin typeface="思源黑体 CN Normal" panose="020B0400000000000000" pitchFamily="34" charset="-122"/>
                <a:ea typeface="思源黑体 CN Normal" panose="020B0400000000000000" pitchFamily="34" charset="-122"/>
              </a:rPr>
              <a:t>ADC</a:t>
            </a:r>
            <a:r>
              <a:rPr lang="zh-CN" altLang="en-US" sz="1600">
                <a:solidFill>
                  <a:srgbClr val="002060"/>
                </a:solidFill>
                <a:latin typeface="思源黑体 CN Normal" panose="020B0400000000000000" pitchFamily="34" charset="-122"/>
                <a:ea typeface="思源黑体 CN Normal" panose="020B0400000000000000" pitchFamily="34" charset="-122"/>
              </a:rPr>
              <a:t>时钟频率为</a:t>
            </a:r>
            <a:r>
              <a:rPr lang="en-US" altLang="zh-CN" sz="1600">
                <a:solidFill>
                  <a:srgbClr val="002060"/>
                </a:solidFill>
                <a:latin typeface="思源黑体 CN Normal" panose="020B0400000000000000" pitchFamily="34" charset="-122"/>
                <a:ea typeface="思源黑体 CN Normal" panose="020B0400000000000000" pitchFamily="34" charset="-122"/>
              </a:rPr>
              <a:t>21MHz</a:t>
            </a:r>
            <a:r>
              <a:rPr lang="zh-CN" altLang="en-US" sz="1600">
                <a:solidFill>
                  <a:srgbClr val="002060"/>
                </a:solidFill>
                <a:latin typeface="思源黑体 CN Normal" panose="020B0400000000000000" pitchFamily="34" charset="-122"/>
                <a:ea typeface="思源黑体 CN Normal" panose="020B0400000000000000" pitchFamily="34" charset="-122"/>
              </a:rPr>
              <a:t>时，</a:t>
            </a:r>
            <a:r>
              <a:rPr lang="en-US" altLang="zh-CN" sz="1600">
                <a:solidFill>
                  <a:srgbClr val="002060"/>
                </a:solidFill>
                <a:latin typeface="思源黑体 CN Normal" panose="020B0400000000000000" pitchFamily="34" charset="-122"/>
                <a:ea typeface="思源黑体 CN Normal" panose="020B0400000000000000" pitchFamily="34" charset="-122"/>
              </a:rPr>
              <a:t>ADC</a:t>
            </a:r>
            <a:r>
              <a:rPr lang="zh-CN" altLang="en-US" sz="1600">
                <a:solidFill>
                  <a:srgbClr val="002060"/>
                </a:solidFill>
                <a:latin typeface="思源黑体 CN Normal" panose="020B0400000000000000" pitchFamily="34" charset="-122"/>
                <a:ea typeface="思源黑体 CN Normal" panose="020B0400000000000000" pitchFamily="34" charset="-122"/>
              </a:rPr>
              <a:t>最短的转换时间是多少？</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22" name="矩形 21"/>
          <p:cNvSpPr>
            <a:spLocks noChangeArrowheads="1"/>
          </p:cNvSpPr>
          <p:nvPr/>
        </p:nvSpPr>
        <p:spPr bwMode="auto">
          <a:xfrm>
            <a:off x="1798574" y="1357784"/>
            <a:ext cx="5895331"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转换时间</a:t>
            </a:r>
            <a:endParaRPr lang="en-US" altLang="zh-CN" sz="2000" b="1" dirty="0">
              <a:solidFill>
                <a:srgbClr val="002060"/>
              </a:solidFill>
              <a:latin typeface="思源黑体 CN Bold" pitchFamily="34" charset="-122"/>
              <a:ea typeface="思源黑体 CN Bold"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6" grpId="0"/>
      <p:bldP spid="18" grpId="0"/>
      <p:bldP spid="19" grpId="0"/>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2527155" y="2372599"/>
          <a:ext cx="6616434" cy="1836940"/>
        </p:xfrm>
        <a:graphic>
          <a:graphicData uri="http://schemas.openxmlformats.org/drawingml/2006/table">
            <a:tbl>
              <a:tblPr firstRow="1" firstCol="1" bandRow="1">
                <a:tableStyleId>{5C22544A-7EE6-4342-B048-85BDC9FD1C3A}</a:tableStyleId>
              </a:tblPr>
              <a:tblGrid>
                <a:gridCol w="2423924"/>
                <a:gridCol w="2160396"/>
                <a:gridCol w="2032114"/>
              </a:tblGrid>
              <a:tr h="367388">
                <a:tc>
                  <a:txBody>
                    <a:bodyPr/>
                    <a:lstStyle/>
                    <a:p>
                      <a:pPr algn="ctr"/>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中断事件</a:t>
                      </a:r>
                      <a:endParaRPr 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400" kern="100">
                          <a:effectLst/>
                          <a:latin typeface="思源黑体 CN Normal" panose="020B0400000000000000" pitchFamily="34" charset="-122"/>
                          <a:ea typeface="思源黑体 CN Normal" panose="020B0400000000000000" pitchFamily="34" charset="-122"/>
                        </a:rPr>
                        <a:t>事件标志</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400" kern="100">
                          <a:effectLst/>
                          <a:latin typeface="思源黑体 CN Normal" panose="020B0400000000000000" pitchFamily="34" charset="-122"/>
                          <a:ea typeface="思源黑体 CN Normal" panose="020B0400000000000000" pitchFamily="34" charset="-122"/>
                        </a:rPr>
                        <a:t>使能控制位</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367388">
                <a:tc>
                  <a:txBody>
                    <a:bodyPr/>
                    <a:lstStyle/>
                    <a:p>
                      <a:pPr algn="ctr"/>
                      <a:r>
                        <a:rPr lang="zh-CN" altLang="en-US" sz="1400" b="1" kern="100" dirty="0">
                          <a:solidFill>
                            <a:schemeClr val="bg1"/>
                          </a:solidFill>
                          <a:effectLst/>
                          <a:latin typeface="思源黑体 CN Normal" panose="020B0400000000000000" pitchFamily="34" charset="-122"/>
                          <a:ea typeface="思源黑体 CN Normal" panose="020B0400000000000000" pitchFamily="34" charset="-122"/>
                        </a:rPr>
                        <a:t>规则通道转换结束</a:t>
                      </a:r>
                      <a:endParaRPr lang="zh-CN" sz="1400" b="1" kern="100" dirty="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EOC</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EOCIE</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7388">
                <a:tc>
                  <a:txBody>
                    <a:bodyPr/>
                    <a:lstStyle/>
                    <a:p>
                      <a:pPr algn="ctr"/>
                      <a:r>
                        <a:rPr lang="zh-CN" altLang="en-US" sz="1400" b="1" kern="100" dirty="0">
                          <a:solidFill>
                            <a:schemeClr val="bg1"/>
                          </a:solidFill>
                          <a:effectLst/>
                          <a:latin typeface="思源黑体 CN Normal" panose="020B0400000000000000" pitchFamily="34" charset="-122"/>
                          <a:ea typeface="思源黑体 CN Normal" panose="020B0400000000000000" pitchFamily="34" charset="-122"/>
                        </a:rPr>
                        <a:t>注入通道转换结束</a:t>
                      </a:r>
                      <a:endParaRPr lang="zh-CN" sz="1400" b="1" kern="100" dirty="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JEOC</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JEOCIE</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7388">
                <a:tc>
                  <a:txBody>
                    <a:bodyPr/>
                    <a:lstStyle/>
                    <a:p>
                      <a:pPr algn="ctr"/>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设置了模拟看门狗状态位</a:t>
                      </a:r>
                      <a:endParaRPr 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AWD</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AWDIE</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7388">
                <a:tc>
                  <a:txBody>
                    <a:bodyPr/>
                    <a:lstStyle/>
                    <a:p>
                      <a:pPr algn="ctr"/>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溢出（</a:t>
                      </a:r>
                      <a:r>
                        <a:rPr lang="en-US" altLang="zh-CN" sz="1400" b="1" kern="100">
                          <a:solidFill>
                            <a:schemeClr val="bg1"/>
                          </a:solidFill>
                          <a:effectLst/>
                          <a:latin typeface="思源黑体 CN Normal" panose="020B0400000000000000" pitchFamily="34" charset="-122"/>
                          <a:ea typeface="思源黑体 CN Normal" panose="020B0400000000000000" pitchFamily="34" charset="-122"/>
                        </a:rPr>
                        <a:t>F1</a:t>
                      </a:r>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没有）</a:t>
                      </a:r>
                      <a:endParaRPr 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400" kern="100">
                          <a:effectLst/>
                          <a:latin typeface="思源黑体 CN Normal" panose="020B0400000000000000" pitchFamily="34" charset="-122"/>
                          <a:ea typeface="思源黑体 CN Normal" panose="020B0400000000000000" pitchFamily="34" charset="-122"/>
                        </a:rPr>
                        <a:t>OVR</a:t>
                      </a:r>
                      <a:endParaRPr lang="zh-CN" sz="140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400" kern="100" dirty="0">
                          <a:effectLst/>
                          <a:latin typeface="思源黑体 CN Normal" panose="020B0400000000000000" pitchFamily="34" charset="-122"/>
                          <a:ea typeface="思源黑体 CN Normal" panose="020B0400000000000000" pitchFamily="34" charset="-122"/>
                        </a:rPr>
                        <a:t>OVRIE</a:t>
                      </a:r>
                      <a:endParaRPr lang="zh-CN" sz="14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4" name="矩形 13"/>
          <p:cNvSpPr/>
          <p:nvPr/>
        </p:nvSpPr>
        <p:spPr>
          <a:xfrm>
            <a:off x="2366928" y="4826225"/>
            <a:ext cx="6965201" cy="792718"/>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规则组每个通道转换结束后，除了可以产生中断外，还可以产生</a:t>
            </a:r>
            <a:r>
              <a:rPr lang="en-US" altLang="zh-CN" sz="1600">
                <a:solidFill>
                  <a:srgbClr val="002060"/>
                </a:solidFill>
                <a:latin typeface="思源黑体 CN Normal" panose="020B0400000000000000" pitchFamily="34" charset="-122"/>
                <a:ea typeface="思源黑体 CN Normal" panose="020B0400000000000000" pitchFamily="34" charset="-122"/>
              </a:rPr>
              <a:t>DMA</a:t>
            </a:r>
            <a:r>
              <a:rPr lang="zh-CN" altLang="en-US" sz="1600">
                <a:solidFill>
                  <a:srgbClr val="002060"/>
                </a:solidFill>
                <a:latin typeface="思源黑体 CN Normal" panose="020B0400000000000000" pitchFamily="34" charset="-122"/>
                <a:ea typeface="思源黑体 CN Normal" panose="020B0400000000000000" pitchFamily="34" charset="-122"/>
              </a:rPr>
              <a:t>请求，我们利用</a:t>
            </a:r>
            <a:r>
              <a:rPr lang="en-US" altLang="zh-CN" sz="1600">
                <a:solidFill>
                  <a:srgbClr val="002060"/>
                </a:solidFill>
                <a:latin typeface="思源黑体 CN Normal" panose="020B0400000000000000" pitchFamily="34" charset="-122"/>
                <a:ea typeface="思源黑体 CN Normal" panose="020B0400000000000000" pitchFamily="34" charset="-122"/>
              </a:rPr>
              <a:t>DMA</a:t>
            </a:r>
            <a:r>
              <a:rPr lang="zh-CN" altLang="en-US" sz="1600">
                <a:solidFill>
                  <a:srgbClr val="002060"/>
                </a:solidFill>
                <a:latin typeface="思源黑体 CN Normal" panose="020B0400000000000000" pitchFamily="34" charset="-122"/>
                <a:ea typeface="思源黑体 CN Normal" panose="020B0400000000000000" pitchFamily="34" charset="-122"/>
              </a:rPr>
              <a:t>及时把转换好的数据传输到指定的内存里，防止数据被覆盖。</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15" name="矩形 14"/>
          <p:cNvSpPr/>
          <p:nvPr/>
        </p:nvSpPr>
        <p:spPr>
          <a:xfrm>
            <a:off x="2009692" y="4487669"/>
            <a:ext cx="7322437" cy="338554"/>
          </a:xfrm>
          <a:prstGeom prst="rect">
            <a:avLst/>
          </a:prstGeom>
        </p:spPr>
        <p:txBody>
          <a:bodyPr wrap="square">
            <a:spAutoFit/>
          </a:bodyPr>
          <a:lstStyle/>
          <a:p>
            <a:r>
              <a:rPr lang="en-US" altLang="zh-CN" sz="1600">
                <a:solidFill>
                  <a:srgbClr val="002060"/>
                </a:solidFill>
                <a:latin typeface="思源黑体 CN Normal" panose="020B0400000000000000" pitchFamily="34" charset="-122"/>
                <a:ea typeface="思源黑体 CN Normal" panose="020B0400000000000000" pitchFamily="34" charset="-122"/>
              </a:rPr>
              <a:t>DMA</a:t>
            </a:r>
            <a:r>
              <a:rPr lang="zh-CN" altLang="en-US" sz="1600">
                <a:solidFill>
                  <a:srgbClr val="002060"/>
                </a:solidFill>
                <a:latin typeface="思源黑体 CN Normal" panose="020B0400000000000000" pitchFamily="34" charset="-122"/>
                <a:ea typeface="思源黑体 CN Normal" panose="020B0400000000000000" pitchFamily="34" charset="-122"/>
              </a:rPr>
              <a:t>请求（只适用于规则组）</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17" name="矩形 16"/>
          <p:cNvSpPr>
            <a:spLocks noChangeArrowheads="1"/>
          </p:cNvSpPr>
          <p:nvPr/>
        </p:nvSpPr>
        <p:spPr bwMode="auto">
          <a:xfrm>
            <a:off x="1818894" y="1434619"/>
            <a:ext cx="5895331"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中断</a:t>
            </a:r>
            <a:endParaRPr lang="en-US" altLang="zh-CN" sz="2000" b="1" dirty="0">
              <a:solidFill>
                <a:srgbClr val="002060"/>
              </a:solidFill>
              <a:latin typeface="思源黑体 CN Bold" pitchFamily="34" charset="-122"/>
              <a:ea typeface="思源黑体 CN Bold" pitchFamily="34" charset="-122"/>
            </a:endParaRPr>
          </a:p>
        </p:txBody>
      </p:sp>
      <p:sp>
        <p:nvSpPr>
          <p:cNvPr id="18" name="矩形 17"/>
          <p:cNvSpPr/>
          <p:nvPr/>
        </p:nvSpPr>
        <p:spPr>
          <a:xfrm>
            <a:off x="2482710" y="2002682"/>
            <a:ext cx="7322437" cy="338554"/>
          </a:xfrm>
          <a:prstGeom prst="rect">
            <a:avLst/>
          </a:prstGeom>
        </p:spPr>
        <p:txBody>
          <a:bodyPr wrap="square">
            <a:spAutoFit/>
          </a:bodyPr>
          <a:lstStyle/>
          <a:p>
            <a:r>
              <a:rPr lang="en-US" altLang="zh-CN" sz="1600">
                <a:solidFill>
                  <a:srgbClr val="002060"/>
                </a:solidFill>
                <a:latin typeface="思源黑体 CN Normal" panose="020B0400000000000000" pitchFamily="34" charset="-122"/>
                <a:ea typeface="思源黑体 CN Normal" panose="020B0400000000000000" pitchFamily="34" charset="-122"/>
              </a:rPr>
              <a:t>F1/F4/F7</a:t>
            </a:r>
            <a:r>
              <a:rPr lang="zh-CN" altLang="en-US" sz="1600">
                <a:solidFill>
                  <a:srgbClr val="002060"/>
                </a:solidFill>
                <a:latin typeface="思源黑体 CN Normal" panose="020B0400000000000000" pitchFamily="34" charset="-122"/>
                <a:ea typeface="思源黑体 CN Normal" panose="020B0400000000000000" pitchFamily="34" charset="-122"/>
              </a:rPr>
              <a:t>系列</a:t>
            </a:r>
            <a:r>
              <a:rPr lang="en-US" altLang="zh-CN" sz="1600">
                <a:solidFill>
                  <a:srgbClr val="002060"/>
                </a:solidFill>
                <a:latin typeface="思源黑体 CN Normal" panose="020B0400000000000000" pitchFamily="34" charset="-122"/>
                <a:ea typeface="思源黑体 CN Normal" panose="020B0400000000000000" pitchFamily="34" charset="-122"/>
              </a:rPr>
              <a:t>ADC</a:t>
            </a:r>
            <a:r>
              <a:rPr lang="zh-CN" altLang="en-US" sz="1600">
                <a:solidFill>
                  <a:srgbClr val="002060"/>
                </a:solidFill>
                <a:latin typeface="思源黑体 CN Normal" panose="020B0400000000000000" pitchFamily="34" charset="-122"/>
                <a:ea typeface="思源黑体 CN Normal" panose="020B0400000000000000" pitchFamily="34" charset="-122"/>
              </a:rPr>
              <a:t>中断事件汇总表：</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表格 13"/>
          <p:cNvGraphicFramePr>
            <a:graphicFrameLocks noGrp="1"/>
          </p:cNvGraphicFramePr>
          <p:nvPr/>
        </p:nvGraphicFramePr>
        <p:xfrm>
          <a:off x="2512550" y="1835279"/>
          <a:ext cx="6616434" cy="656578"/>
        </p:xfrm>
        <a:graphic>
          <a:graphicData uri="http://schemas.openxmlformats.org/drawingml/2006/table">
            <a:tbl>
              <a:tblPr firstRow="1" firstCol="1" bandRow="1">
                <a:tableStyleId>{5C22544A-7EE6-4342-B048-85BDC9FD1C3A}</a:tableStyleId>
              </a:tblPr>
              <a:tblGrid>
                <a:gridCol w="2423924"/>
                <a:gridCol w="2160396"/>
                <a:gridCol w="2032114"/>
              </a:tblGrid>
              <a:tr h="328289">
                <a:tc>
                  <a:txBody>
                    <a:bodyPr/>
                    <a:lstStyle/>
                    <a:p>
                      <a:pPr algn="ctr"/>
                      <a:r>
                        <a:rPr lang="en-US" altLang="zh-CN" sz="1600" b="1" kern="100">
                          <a:solidFill>
                            <a:schemeClr val="bg1"/>
                          </a:solidFill>
                          <a:effectLst/>
                          <a:latin typeface="思源黑体 CN Normal" panose="020B0400000000000000" pitchFamily="34" charset="-122"/>
                          <a:ea typeface="思源黑体 CN Normal" panose="020B0400000000000000" pitchFamily="34" charset="-122"/>
                        </a:rPr>
                        <a:t>CONT</a:t>
                      </a: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位</a:t>
                      </a:r>
                      <a:endParaRPr 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600" kern="100">
                          <a:solidFill>
                            <a:schemeClr val="bg1"/>
                          </a:solidFill>
                          <a:effectLst/>
                          <a:latin typeface="思源黑体 CN Normal" panose="020B0400000000000000" pitchFamily="34" charset="-122"/>
                          <a:ea typeface="思源黑体 CN Normal" panose="020B0400000000000000" pitchFamily="34" charset="-122"/>
                        </a:rPr>
                        <a:t>0</a:t>
                      </a:r>
                      <a:endParaRPr 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600" kern="100">
                          <a:solidFill>
                            <a:schemeClr val="bg1"/>
                          </a:solidFill>
                          <a:effectLst/>
                          <a:latin typeface="思源黑体 CN Normal" panose="020B0400000000000000" pitchFamily="34" charset="-122"/>
                          <a:ea typeface="思源黑体 CN Normal" panose="020B0400000000000000" pitchFamily="34" charset="-122"/>
                        </a:rPr>
                        <a:t>1</a:t>
                      </a:r>
                      <a:endParaRPr 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328289">
                <a:tc>
                  <a:txBody>
                    <a:bodyPr/>
                    <a:lstStyle/>
                    <a:p>
                      <a:pPr algn="ct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转换模式</a:t>
                      </a:r>
                      <a:endParaRPr 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单次转换模式</a:t>
                      </a:r>
                      <a:endParaRPr 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连续转换模式</a:t>
                      </a:r>
                      <a:endParaRPr 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9" name="矩形 58"/>
          <p:cNvSpPr>
            <a:spLocks noChangeArrowheads="1"/>
          </p:cNvSpPr>
          <p:nvPr/>
        </p:nvSpPr>
        <p:spPr bwMode="auto">
          <a:xfrm>
            <a:off x="1804289" y="1265709"/>
            <a:ext cx="5895331"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单次转换模式和连续转换模式</a:t>
            </a:r>
            <a:endParaRPr lang="en-US" altLang="zh-CN" sz="2000" b="1" dirty="0">
              <a:solidFill>
                <a:srgbClr val="002060"/>
              </a:solidFill>
              <a:latin typeface="思源黑体 CN Bold" pitchFamily="34" charset="-122"/>
              <a:ea typeface="思源黑体 CN Bold" pitchFamily="34" charset="-122"/>
            </a:endParaRPr>
          </a:p>
        </p:txBody>
      </p:sp>
      <p:graphicFrame>
        <p:nvGraphicFramePr>
          <p:cNvPr id="16" name="表格 15"/>
          <p:cNvGraphicFramePr>
            <a:graphicFrameLocks noGrp="1"/>
          </p:cNvGraphicFramePr>
          <p:nvPr/>
        </p:nvGraphicFramePr>
        <p:xfrm>
          <a:off x="1639340" y="2661665"/>
          <a:ext cx="8725359" cy="2803421"/>
        </p:xfrm>
        <a:graphic>
          <a:graphicData uri="http://schemas.openxmlformats.org/drawingml/2006/table">
            <a:tbl>
              <a:tblPr firstRow="1" firstCol="1" bandRow="1">
                <a:tableStyleId>{5C22544A-7EE6-4342-B048-85BDC9FD1C3A}</a:tableStyleId>
              </a:tblPr>
              <a:tblGrid>
                <a:gridCol w="1685580"/>
                <a:gridCol w="3294044"/>
                <a:gridCol w="3745735"/>
              </a:tblGrid>
              <a:tr h="730107">
                <a:tc>
                  <a:txBody>
                    <a:bodyPr/>
                    <a:lstStyle/>
                    <a:p>
                      <a:pPr algn="ct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转换组</a:t>
                      </a:r>
                      <a:r>
                        <a:rPr lang="en-US" altLang="zh-CN" sz="1600" b="1" kern="100">
                          <a:solidFill>
                            <a:schemeClr val="bg1"/>
                          </a:solidFill>
                          <a:effectLst/>
                          <a:latin typeface="思源黑体 CN Normal" panose="020B0400000000000000" pitchFamily="34" charset="-122"/>
                          <a:ea typeface="思源黑体 CN Normal" panose="020B0400000000000000" pitchFamily="34" charset="-122"/>
                        </a:rPr>
                        <a:t>/</a:t>
                      </a: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转换模式</a:t>
                      </a:r>
                      <a:endParaRPr 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单次转换模式</a:t>
                      </a:r>
                      <a:r>
                        <a:rPr lang="en-US" altLang="zh-CN" sz="1600" b="1" kern="100">
                          <a:solidFill>
                            <a:schemeClr val="bg1"/>
                          </a:solidFill>
                          <a:effectLst/>
                          <a:latin typeface="思源黑体 CN Normal" panose="020B0400000000000000" pitchFamily="34" charset="-122"/>
                          <a:ea typeface="思源黑体 CN Normal" panose="020B0400000000000000" pitchFamily="34" charset="-122"/>
                        </a:rPr>
                        <a:t>(</a:t>
                      </a: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只触发一次转换</a:t>
                      </a:r>
                      <a:r>
                        <a:rPr lang="en-US" altLang="zh-CN" sz="1600" b="1" kern="100">
                          <a:solidFill>
                            <a:schemeClr val="bg1"/>
                          </a:solidFill>
                          <a:effectLst/>
                          <a:latin typeface="思源黑体 CN Normal" panose="020B0400000000000000" pitchFamily="34" charset="-122"/>
                          <a:ea typeface="思源黑体 CN Normal" panose="020B0400000000000000" pitchFamily="34" charset="-122"/>
                        </a:rPr>
                        <a:t>)</a:t>
                      </a:r>
                      <a:endParaRPr lang="zh-CN" alt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b="1" kern="100" dirty="0">
                          <a:solidFill>
                            <a:schemeClr val="bg1"/>
                          </a:solidFill>
                          <a:effectLst/>
                          <a:latin typeface="思源黑体 CN Normal" panose="020B0400000000000000" pitchFamily="34" charset="-122"/>
                          <a:ea typeface="思源黑体 CN Normal" panose="020B0400000000000000" pitchFamily="34" charset="-122"/>
                        </a:rPr>
                        <a:t>连续转换模式</a:t>
                      </a:r>
                      <a:r>
                        <a:rPr lang="en-US" altLang="zh-CN" sz="1600" b="1" kern="100" dirty="0">
                          <a:solidFill>
                            <a:schemeClr val="bg1"/>
                          </a:solidFill>
                          <a:effectLst/>
                          <a:latin typeface="思源黑体 CN Normal" panose="020B0400000000000000" pitchFamily="34" charset="-122"/>
                          <a:ea typeface="思源黑体 CN Normal" panose="020B0400000000000000" pitchFamily="34" charset="-122"/>
                        </a:rPr>
                        <a:t>(</a:t>
                      </a:r>
                      <a:r>
                        <a:rPr lang="zh-CN" altLang="en-US" sz="1600" b="1" kern="100" dirty="0">
                          <a:solidFill>
                            <a:schemeClr val="bg1"/>
                          </a:solidFill>
                          <a:effectLst/>
                          <a:latin typeface="思源黑体 CN Normal" panose="020B0400000000000000" pitchFamily="34" charset="-122"/>
                          <a:ea typeface="思源黑体 CN Normal" panose="020B0400000000000000" pitchFamily="34" charset="-122"/>
                        </a:rPr>
                        <a:t>自动触发下一次转换</a:t>
                      </a:r>
                      <a:r>
                        <a:rPr lang="en-US" altLang="zh-CN" sz="1600" b="1" kern="100" dirty="0">
                          <a:solidFill>
                            <a:schemeClr val="bg1"/>
                          </a:solidFill>
                          <a:effectLst/>
                          <a:latin typeface="思源黑体 CN Normal" panose="020B0400000000000000" pitchFamily="34" charset="-122"/>
                          <a:ea typeface="思源黑体 CN Normal" panose="020B0400000000000000" pitchFamily="34" charset="-122"/>
                        </a:rPr>
                        <a:t>)</a:t>
                      </a:r>
                      <a:endParaRPr lang="en-US" altLang="zh-CN" sz="1600" b="1" kern="100" dirty="0">
                        <a:solidFill>
                          <a:schemeClr val="bg1"/>
                        </a:solidFill>
                        <a:effectLst/>
                        <a:latin typeface="思源黑体 CN Normal" panose="020B0400000000000000" pitchFamily="34" charset="-122"/>
                        <a:ea typeface="思源黑体 CN Normal" panose="020B0400000000000000" pitchFamily="34" charset="-122"/>
                      </a:endParaRPr>
                    </a:p>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b="1" kern="100" dirty="0">
                          <a:solidFill>
                            <a:schemeClr val="bg1"/>
                          </a:solidFill>
                          <a:effectLst/>
                          <a:latin typeface="思源黑体 CN Normal" panose="020B0400000000000000" pitchFamily="34" charset="-122"/>
                          <a:ea typeface="思源黑体 CN Normal" panose="020B0400000000000000" pitchFamily="34" charset="-122"/>
                        </a:rPr>
                        <a:t>注意：只有规则组才能触发该模式</a:t>
                      </a:r>
                      <a:endParaRPr lang="zh-CN" altLang="zh-CN" sz="1600" b="1" kern="100" dirty="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036657">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kern="100">
                          <a:solidFill>
                            <a:schemeClr val="bg1"/>
                          </a:solidFill>
                          <a:effectLst/>
                          <a:latin typeface="思源黑体 CN Normal" panose="020B0400000000000000" pitchFamily="34" charset="-122"/>
                          <a:ea typeface="思源黑体 CN Normal" panose="020B0400000000000000" pitchFamily="34" charset="-122"/>
                        </a:rPr>
                        <a:t>规则组</a:t>
                      </a:r>
                      <a:endParaRPr lang="zh-CN" alt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600">
                          <a:solidFill>
                            <a:srgbClr val="002060"/>
                          </a:solidFill>
                          <a:latin typeface="思源黑体 CN Normal" panose="020B0400000000000000" pitchFamily="34" charset="-122"/>
                          <a:ea typeface="思源黑体 CN Normal" panose="020B0400000000000000" pitchFamily="34" charset="-122"/>
                        </a:rPr>
                        <a:t>转换结果被储存在</a:t>
                      </a:r>
                      <a:r>
                        <a:rPr lang="en-US" altLang="zh-CN" sz="1600">
                          <a:solidFill>
                            <a:srgbClr val="002060"/>
                          </a:solidFill>
                          <a:latin typeface="思源黑体 CN Normal" panose="020B0400000000000000" pitchFamily="34" charset="-122"/>
                          <a:ea typeface="思源黑体 CN Normal" panose="020B0400000000000000" pitchFamily="34" charset="-122"/>
                        </a:rPr>
                        <a:t>ADC_DR </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en-US" altLang="zh-CN" sz="1600">
                          <a:solidFill>
                            <a:srgbClr val="002060"/>
                          </a:solidFill>
                          <a:latin typeface="思源黑体 CN Normal" panose="020B0400000000000000" pitchFamily="34" charset="-122"/>
                          <a:ea typeface="思源黑体 CN Normal" panose="020B0400000000000000" pitchFamily="34" charset="-122"/>
                        </a:rPr>
                        <a:t>EOC</a:t>
                      </a:r>
                      <a:r>
                        <a:rPr lang="zh-CN" altLang="en-US" sz="1600">
                          <a:solidFill>
                            <a:srgbClr val="002060"/>
                          </a:solidFill>
                          <a:latin typeface="思源黑体 CN Normal" panose="020B0400000000000000" pitchFamily="34" charset="-122"/>
                          <a:ea typeface="思源黑体 CN Normal" panose="020B0400000000000000" pitchFamily="34" charset="-122"/>
                        </a:rPr>
                        <a:t>（转换结束）标志位被置</a:t>
                      </a:r>
                      <a:r>
                        <a:rPr lang="en-US" altLang="zh-CN" sz="1600">
                          <a:solidFill>
                            <a:srgbClr val="002060"/>
                          </a:solidFill>
                          <a:latin typeface="思源黑体 CN Normal" panose="020B0400000000000000" pitchFamily="34" charset="-122"/>
                          <a:ea typeface="思源黑体 CN Normal" panose="020B0400000000000000" pitchFamily="34" charset="-122"/>
                        </a:rPr>
                        <a:t>1</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a:solidFill>
                            <a:srgbClr val="002060"/>
                          </a:solidFill>
                          <a:latin typeface="思源黑体 CN Normal" panose="020B0400000000000000" pitchFamily="34" charset="-122"/>
                          <a:ea typeface="思源黑体 CN Normal" panose="020B0400000000000000" pitchFamily="34" charset="-122"/>
                        </a:rPr>
                        <a:t>如果设置了</a:t>
                      </a:r>
                      <a:r>
                        <a:rPr lang="en-US" altLang="zh-CN" sz="1600">
                          <a:solidFill>
                            <a:srgbClr val="002060"/>
                          </a:solidFill>
                          <a:latin typeface="思源黑体 CN Normal" panose="020B0400000000000000" pitchFamily="34" charset="-122"/>
                          <a:ea typeface="思源黑体 CN Normal" panose="020B0400000000000000" pitchFamily="34" charset="-122"/>
                        </a:rPr>
                        <a:t>EOCIE</a:t>
                      </a:r>
                      <a:r>
                        <a:rPr lang="zh-CN" altLang="en-US" sz="1600">
                          <a:solidFill>
                            <a:srgbClr val="002060"/>
                          </a:solidFill>
                          <a:latin typeface="思源黑体 CN Normal" panose="020B0400000000000000" pitchFamily="34" charset="-122"/>
                          <a:ea typeface="思源黑体 CN Normal" panose="020B0400000000000000" pitchFamily="34" charset="-122"/>
                        </a:rPr>
                        <a:t>位，则产生中断</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a:solidFill>
                            <a:srgbClr val="C00000"/>
                          </a:solidFill>
                          <a:latin typeface="思源黑体 CN Normal" panose="020B0400000000000000" pitchFamily="34" charset="-122"/>
                          <a:ea typeface="思源黑体 CN Normal" panose="020B0400000000000000" pitchFamily="34" charset="-122"/>
                        </a:rPr>
                        <a:t>然后</a:t>
                      </a:r>
                      <a:r>
                        <a:rPr lang="en-US" altLang="zh-CN" sz="1600">
                          <a:solidFill>
                            <a:srgbClr val="C00000"/>
                          </a:solidFill>
                          <a:latin typeface="思源黑体 CN Normal" panose="020B0400000000000000" pitchFamily="34" charset="-122"/>
                          <a:ea typeface="思源黑体 CN Normal" panose="020B0400000000000000" pitchFamily="34" charset="-122"/>
                        </a:rPr>
                        <a:t>ADC</a:t>
                      </a:r>
                      <a:r>
                        <a:rPr lang="zh-CN" altLang="en-US" sz="1600">
                          <a:solidFill>
                            <a:srgbClr val="C00000"/>
                          </a:solidFill>
                          <a:latin typeface="思源黑体 CN Normal" panose="020B0400000000000000" pitchFamily="34" charset="-122"/>
                          <a:ea typeface="思源黑体 CN Normal" panose="020B0400000000000000" pitchFamily="34" charset="-122"/>
                        </a:rPr>
                        <a:t>停止</a:t>
                      </a:r>
                      <a:endParaRPr lang="zh-CN" sz="1600" kern="100">
                        <a:solidFill>
                          <a:srgbClr val="C0000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a:solidFill>
                            <a:srgbClr val="002060"/>
                          </a:solidFill>
                          <a:latin typeface="思源黑体 CN Normal" panose="020B0400000000000000" pitchFamily="34" charset="-122"/>
                          <a:ea typeface="思源黑体 CN Normal" panose="020B0400000000000000" pitchFamily="34" charset="-122"/>
                        </a:rPr>
                        <a:t>转换结果被储存在</a:t>
                      </a:r>
                      <a:r>
                        <a:rPr lang="en-US" altLang="zh-CN" sz="1600">
                          <a:solidFill>
                            <a:srgbClr val="002060"/>
                          </a:solidFill>
                          <a:latin typeface="思源黑体 CN Normal" panose="020B0400000000000000" pitchFamily="34" charset="-122"/>
                          <a:ea typeface="思源黑体 CN Normal" panose="020B0400000000000000" pitchFamily="34" charset="-122"/>
                        </a:rPr>
                        <a:t>ADC_DR </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en-US" altLang="zh-CN" sz="1600">
                          <a:solidFill>
                            <a:srgbClr val="002060"/>
                          </a:solidFill>
                          <a:latin typeface="思源黑体 CN Normal" panose="020B0400000000000000" pitchFamily="34" charset="-122"/>
                          <a:ea typeface="思源黑体 CN Normal" panose="020B0400000000000000" pitchFamily="34" charset="-122"/>
                        </a:rPr>
                        <a:t>EOC</a:t>
                      </a:r>
                      <a:r>
                        <a:rPr lang="zh-CN" altLang="en-US" sz="1600">
                          <a:solidFill>
                            <a:srgbClr val="002060"/>
                          </a:solidFill>
                          <a:latin typeface="思源黑体 CN Normal" panose="020B0400000000000000" pitchFamily="34" charset="-122"/>
                          <a:ea typeface="思源黑体 CN Normal" panose="020B0400000000000000" pitchFamily="34" charset="-122"/>
                        </a:rPr>
                        <a:t>（转换结束）标志位被置</a:t>
                      </a:r>
                      <a:r>
                        <a:rPr lang="en-US" altLang="zh-CN" sz="1600">
                          <a:solidFill>
                            <a:srgbClr val="002060"/>
                          </a:solidFill>
                          <a:latin typeface="思源黑体 CN Normal" panose="020B0400000000000000" pitchFamily="34" charset="-122"/>
                          <a:ea typeface="思源黑体 CN Normal" panose="020B0400000000000000" pitchFamily="34" charset="-122"/>
                        </a:rPr>
                        <a:t>1</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a:solidFill>
                            <a:srgbClr val="002060"/>
                          </a:solidFill>
                          <a:latin typeface="思源黑体 CN Normal" panose="020B0400000000000000" pitchFamily="34" charset="-122"/>
                          <a:ea typeface="思源黑体 CN Normal" panose="020B0400000000000000" pitchFamily="34" charset="-122"/>
                        </a:rPr>
                        <a:t>如果设置了</a:t>
                      </a:r>
                      <a:r>
                        <a:rPr lang="en-US" altLang="zh-CN" sz="1600">
                          <a:solidFill>
                            <a:srgbClr val="002060"/>
                          </a:solidFill>
                          <a:latin typeface="思源黑体 CN Normal" panose="020B0400000000000000" pitchFamily="34" charset="-122"/>
                          <a:ea typeface="思源黑体 CN Normal" panose="020B0400000000000000" pitchFamily="34" charset="-122"/>
                        </a:rPr>
                        <a:t>EOCIE</a:t>
                      </a:r>
                      <a:r>
                        <a:rPr lang="zh-CN" altLang="en-US" sz="1600">
                          <a:solidFill>
                            <a:srgbClr val="002060"/>
                          </a:solidFill>
                          <a:latin typeface="思源黑体 CN Normal" panose="020B0400000000000000" pitchFamily="34" charset="-122"/>
                          <a:ea typeface="思源黑体 CN Normal" panose="020B0400000000000000" pitchFamily="34" charset="-122"/>
                        </a:rPr>
                        <a:t>位，则产生中断</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036657">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kern="100">
                          <a:solidFill>
                            <a:schemeClr val="bg1"/>
                          </a:solidFill>
                          <a:effectLst/>
                          <a:latin typeface="思源黑体 CN Normal" panose="020B0400000000000000" pitchFamily="34" charset="-122"/>
                          <a:ea typeface="思源黑体 CN Normal" panose="020B0400000000000000" pitchFamily="34" charset="-122"/>
                        </a:rPr>
                        <a:t>注入组</a:t>
                      </a:r>
                      <a:endParaRPr lang="zh-CN" alt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600">
                          <a:solidFill>
                            <a:srgbClr val="002060"/>
                          </a:solidFill>
                          <a:latin typeface="思源黑体 CN Normal" panose="020B0400000000000000" pitchFamily="34" charset="-122"/>
                          <a:ea typeface="思源黑体 CN Normal" panose="020B0400000000000000" pitchFamily="34" charset="-122"/>
                        </a:rPr>
                        <a:t>转换结果被储存在</a:t>
                      </a:r>
                      <a:r>
                        <a:rPr lang="en-US" altLang="zh-CN" sz="1600">
                          <a:solidFill>
                            <a:srgbClr val="002060"/>
                          </a:solidFill>
                          <a:latin typeface="思源黑体 CN Normal" panose="020B0400000000000000" pitchFamily="34" charset="-122"/>
                          <a:ea typeface="思源黑体 CN Normal" panose="020B0400000000000000" pitchFamily="34" charset="-122"/>
                        </a:rPr>
                        <a:t>ADC_DRJx</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en-US" altLang="zh-CN" sz="1600">
                          <a:solidFill>
                            <a:srgbClr val="002060"/>
                          </a:solidFill>
                          <a:latin typeface="思源黑体 CN Normal" panose="020B0400000000000000" pitchFamily="34" charset="-122"/>
                          <a:ea typeface="思源黑体 CN Normal" panose="020B0400000000000000" pitchFamily="34" charset="-122"/>
                        </a:rPr>
                        <a:t>JEOC</a:t>
                      </a:r>
                      <a:r>
                        <a:rPr lang="zh-CN" altLang="en-US" sz="1600">
                          <a:solidFill>
                            <a:srgbClr val="002060"/>
                          </a:solidFill>
                          <a:latin typeface="思源黑体 CN Normal" panose="020B0400000000000000" pitchFamily="34" charset="-122"/>
                          <a:ea typeface="思源黑体 CN Normal" panose="020B0400000000000000" pitchFamily="34" charset="-122"/>
                        </a:rPr>
                        <a:t>（转换结束）标志位被置</a:t>
                      </a:r>
                      <a:r>
                        <a:rPr lang="en-US" altLang="zh-CN" sz="1600">
                          <a:solidFill>
                            <a:srgbClr val="002060"/>
                          </a:solidFill>
                          <a:latin typeface="思源黑体 CN Normal" panose="020B0400000000000000" pitchFamily="34" charset="-122"/>
                          <a:ea typeface="思源黑体 CN Normal" panose="020B0400000000000000" pitchFamily="34" charset="-122"/>
                        </a:rPr>
                        <a:t>1</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a:solidFill>
                            <a:srgbClr val="002060"/>
                          </a:solidFill>
                          <a:latin typeface="思源黑体 CN Normal" panose="020B0400000000000000" pitchFamily="34" charset="-122"/>
                          <a:ea typeface="思源黑体 CN Normal" panose="020B0400000000000000" pitchFamily="34" charset="-122"/>
                        </a:rPr>
                        <a:t>如果设置了</a:t>
                      </a:r>
                      <a:r>
                        <a:rPr lang="en-US" altLang="zh-CN" sz="1600">
                          <a:solidFill>
                            <a:srgbClr val="002060"/>
                          </a:solidFill>
                          <a:latin typeface="思源黑体 CN Normal" panose="020B0400000000000000" pitchFamily="34" charset="-122"/>
                          <a:ea typeface="思源黑体 CN Normal" panose="020B0400000000000000" pitchFamily="34" charset="-122"/>
                        </a:rPr>
                        <a:t>JEOCIE</a:t>
                      </a:r>
                      <a:r>
                        <a:rPr lang="zh-CN" altLang="en-US" sz="1600">
                          <a:solidFill>
                            <a:srgbClr val="002060"/>
                          </a:solidFill>
                          <a:latin typeface="思源黑体 CN Normal" panose="020B0400000000000000" pitchFamily="34" charset="-122"/>
                          <a:ea typeface="思源黑体 CN Normal" panose="020B0400000000000000" pitchFamily="34" charset="-122"/>
                        </a:rPr>
                        <a:t>位，则产生中断</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a:solidFill>
                            <a:srgbClr val="C00000"/>
                          </a:solidFill>
                          <a:latin typeface="思源黑体 CN Normal" panose="020B0400000000000000" pitchFamily="34" charset="-122"/>
                          <a:ea typeface="思源黑体 CN Normal" panose="020B0400000000000000" pitchFamily="34" charset="-122"/>
                        </a:rPr>
                        <a:t>然后</a:t>
                      </a:r>
                      <a:r>
                        <a:rPr lang="en-US" altLang="zh-CN" sz="1600">
                          <a:solidFill>
                            <a:srgbClr val="C00000"/>
                          </a:solidFill>
                          <a:latin typeface="思源黑体 CN Normal" panose="020B0400000000000000" pitchFamily="34" charset="-122"/>
                          <a:ea typeface="思源黑体 CN Normal" panose="020B0400000000000000" pitchFamily="34" charset="-122"/>
                        </a:rPr>
                        <a:t>ADC</a:t>
                      </a:r>
                      <a:r>
                        <a:rPr lang="zh-CN" altLang="en-US" sz="1600">
                          <a:solidFill>
                            <a:srgbClr val="C00000"/>
                          </a:solidFill>
                          <a:latin typeface="思源黑体 CN Normal" panose="020B0400000000000000" pitchFamily="34" charset="-122"/>
                          <a:ea typeface="思源黑体 CN Normal" panose="020B0400000000000000" pitchFamily="34" charset="-122"/>
                        </a:rPr>
                        <a:t>停止</a:t>
                      </a:r>
                      <a:endParaRPr lang="zh-CN" altLang="zh-CN" sz="1600" kern="100">
                        <a:solidFill>
                          <a:srgbClr val="C0000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dirty="0">
                          <a:solidFill>
                            <a:srgbClr val="002060"/>
                          </a:solidFill>
                          <a:latin typeface="思源黑体 CN Normal" panose="020B0400000000000000" pitchFamily="34" charset="-122"/>
                          <a:ea typeface="思源黑体 CN Normal" panose="020B0400000000000000" pitchFamily="34" charset="-122"/>
                        </a:rPr>
                        <a:t>转换结果被储存在</a:t>
                      </a:r>
                      <a:r>
                        <a:rPr lang="en-US" altLang="zh-CN" sz="1600" dirty="0" err="1">
                          <a:solidFill>
                            <a:srgbClr val="002060"/>
                          </a:solidFill>
                          <a:latin typeface="思源黑体 CN Normal" panose="020B0400000000000000" pitchFamily="34" charset="-122"/>
                          <a:ea typeface="思源黑体 CN Normal" panose="020B0400000000000000" pitchFamily="34" charset="-122"/>
                        </a:rPr>
                        <a:t>ADC_DRJx</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a:p>
                      <a:pPr algn="ctr"/>
                      <a:r>
                        <a:rPr lang="en-US" altLang="zh-CN" sz="1600" dirty="0">
                          <a:solidFill>
                            <a:srgbClr val="002060"/>
                          </a:solidFill>
                          <a:latin typeface="思源黑体 CN Normal" panose="020B0400000000000000" pitchFamily="34" charset="-122"/>
                          <a:ea typeface="思源黑体 CN Normal" panose="020B0400000000000000" pitchFamily="34" charset="-122"/>
                        </a:rPr>
                        <a:t>JEOC</a:t>
                      </a:r>
                      <a:r>
                        <a:rPr lang="zh-CN" altLang="en-US" sz="1600" dirty="0">
                          <a:solidFill>
                            <a:srgbClr val="002060"/>
                          </a:solidFill>
                          <a:latin typeface="思源黑体 CN Normal" panose="020B0400000000000000" pitchFamily="34" charset="-122"/>
                          <a:ea typeface="思源黑体 CN Normal" panose="020B0400000000000000" pitchFamily="34" charset="-122"/>
                        </a:rPr>
                        <a:t>（转换结束）标志位被置</a:t>
                      </a:r>
                      <a:r>
                        <a:rPr lang="en-US" altLang="zh-CN" sz="1600" dirty="0">
                          <a:solidFill>
                            <a:srgbClr val="002060"/>
                          </a:solidFill>
                          <a:latin typeface="思源黑体 CN Normal" panose="020B0400000000000000" pitchFamily="34" charset="-122"/>
                          <a:ea typeface="思源黑体 CN Normal" panose="020B0400000000000000" pitchFamily="34" charset="-122"/>
                        </a:rPr>
                        <a:t>1</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a:p>
                      <a:pPr algn="ctr"/>
                      <a:r>
                        <a:rPr lang="zh-CN" altLang="en-US" sz="1600" dirty="0">
                          <a:solidFill>
                            <a:srgbClr val="002060"/>
                          </a:solidFill>
                          <a:latin typeface="思源黑体 CN Normal" panose="020B0400000000000000" pitchFamily="34" charset="-122"/>
                          <a:ea typeface="思源黑体 CN Normal" panose="020B0400000000000000" pitchFamily="34" charset="-122"/>
                        </a:rPr>
                        <a:t>如果设置了</a:t>
                      </a:r>
                      <a:r>
                        <a:rPr lang="en-US" altLang="zh-CN" sz="1600" dirty="0">
                          <a:solidFill>
                            <a:srgbClr val="002060"/>
                          </a:solidFill>
                          <a:latin typeface="思源黑体 CN Normal" panose="020B0400000000000000" pitchFamily="34" charset="-122"/>
                          <a:ea typeface="思源黑体 CN Normal" panose="020B0400000000000000" pitchFamily="34" charset="-122"/>
                        </a:rPr>
                        <a:t>JEOCIE</a:t>
                      </a:r>
                      <a:r>
                        <a:rPr lang="zh-CN" altLang="en-US" sz="1600" dirty="0">
                          <a:solidFill>
                            <a:srgbClr val="002060"/>
                          </a:solidFill>
                          <a:latin typeface="思源黑体 CN Normal" panose="020B0400000000000000" pitchFamily="34" charset="-122"/>
                          <a:ea typeface="思源黑体 CN Normal" panose="020B0400000000000000" pitchFamily="34" charset="-122"/>
                        </a:rPr>
                        <a:t>位，则产生中断</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dirty="0">
                          <a:solidFill>
                            <a:srgbClr val="FF0000"/>
                          </a:solidFill>
                          <a:latin typeface="思源黑体 CN Normal" panose="020B0400000000000000" pitchFamily="34" charset="-122"/>
                          <a:ea typeface="思源黑体 CN Normal" panose="020B0400000000000000" pitchFamily="34" charset="-122"/>
                        </a:rPr>
                        <a:t>自动注入：将</a:t>
                      </a:r>
                      <a:r>
                        <a:rPr lang="en-US" altLang="zh-CN" sz="1600" dirty="0">
                          <a:solidFill>
                            <a:srgbClr val="FF0000"/>
                          </a:solidFill>
                          <a:latin typeface="思源黑体 CN Normal" panose="020B0400000000000000" pitchFamily="34" charset="-122"/>
                          <a:ea typeface="思源黑体 CN Normal" panose="020B0400000000000000" pitchFamily="34" charset="-122"/>
                        </a:rPr>
                        <a:t>JAUTO</a:t>
                      </a:r>
                      <a:r>
                        <a:rPr lang="zh-CN" altLang="en-US" sz="1600" dirty="0">
                          <a:solidFill>
                            <a:srgbClr val="FF0000"/>
                          </a:solidFill>
                          <a:latin typeface="思源黑体 CN Normal" panose="020B0400000000000000" pitchFamily="34" charset="-122"/>
                          <a:ea typeface="思源黑体 CN Normal" panose="020B0400000000000000" pitchFamily="34" charset="-122"/>
                        </a:rPr>
                        <a:t>位置</a:t>
                      </a:r>
                      <a:r>
                        <a:rPr lang="en-US" altLang="zh-CN" sz="1600" dirty="0">
                          <a:solidFill>
                            <a:srgbClr val="FF0000"/>
                          </a:solidFill>
                          <a:latin typeface="思源黑体 CN Normal" panose="020B0400000000000000" pitchFamily="34" charset="-122"/>
                          <a:ea typeface="思源黑体 CN Normal" panose="020B0400000000000000" pitchFamily="34" charset="-122"/>
                        </a:rPr>
                        <a:t>1</a:t>
                      </a:r>
                      <a:endParaRPr lang="en-US" altLang="zh-CN" sz="1600" dirty="0">
                        <a:solidFill>
                          <a:srgbClr val="FF0000"/>
                        </a:solidFill>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nvGraphicFramePr>
        <p:xfrm>
          <a:off x="2978283" y="2152855"/>
          <a:ext cx="6616434" cy="656578"/>
        </p:xfrm>
        <a:graphic>
          <a:graphicData uri="http://schemas.openxmlformats.org/drawingml/2006/table">
            <a:tbl>
              <a:tblPr firstRow="1" firstCol="1" bandRow="1">
                <a:tableStyleId>{5C22544A-7EE6-4342-B048-85BDC9FD1C3A}</a:tableStyleId>
              </a:tblPr>
              <a:tblGrid>
                <a:gridCol w="2423924"/>
                <a:gridCol w="2160396"/>
                <a:gridCol w="2032114"/>
              </a:tblGrid>
              <a:tr h="328289">
                <a:tc>
                  <a:txBody>
                    <a:bodyPr/>
                    <a:lstStyle/>
                    <a:p>
                      <a:pPr algn="ctr"/>
                      <a:r>
                        <a:rPr lang="en-US" altLang="zh-CN" sz="1600" b="1" kern="100">
                          <a:solidFill>
                            <a:schemeClr val="bg1"/>
                          </a:solidFill>
                          <a:effectLst/>
                          <a:latin typeface="思源黑体 CN Normal" panose="020B0400000000000000" pitchFamily="34" charset="-122"/>
                          <a:ea typeface="思源黑体 CN Normal" panose="020B0400000000000000" pitchFamily="34" charset="-122"/>
                        </a:rPr>
                        <a:t>SCAN</a:t>
                      </a: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位</a:t>
                      </a:r>
                      <a:endParaRPr 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600" kern="100">
                          <a:solidFill>
                            <a:schemeClr val="bg1"/>
                          </a:solidFill>
                          <a:effectLst/>
                          <a:latin typeface="思源黑体 CN Normal" panose="020B0400000000000000" pitchFamily="34" charset="-122"/>
                          <a:ea typeface="思源黑体 CN Normal" panose="020B0400000000000000" pitchFamily="34" charset="-122"/>
                        </a:rPr>
                        <a:t>0</a:t>
                      </a:r>
                      <a:endParaRPr 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US" altLang="zh-CN" sz="1600" kern="100">
                          <a:solidFill>
                            <a:schemeClr val="bg1"/>
                          </a:solidFill>
                          <a:effectLst/>
                          <a:latin typeface="思源黑体 CN Normal" panose="020B0400000000000000" pitchFamily="34" charset="-122"/>
                          <a:ea typeface="思源黑体 CN Normal" panose="020B0400000000000000" pitchFamily="34" charset="-122"/>
                        </a:rPr>
                        <a:t>1</a:t>
                      </a:r>
                      <a:endParaRPr lang="zh-CN" sz="1600"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328289">
                <a:tc>
                  <a:txBody>
                    <a:bodyPr/>
                    <a:lstStyle/>
                    <a:p>
                      <a:pPr algn="ct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扫描模式</a:t>
                      </a:r>
                      <a:endParaRPr 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关闭扫描模式</a:t>
                      </a:r>
                      <a:endParaRPr 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使用扫描模式</a:t>
                      </a:r>
                      <a:endParaRPr 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5" name="矩形 14"/>
          <p:cNvSpPr>
            <a:spLocks noChangeArrowheads="1"/>
          </p:cNvSpPr>
          <p:nvPr/>
        </p:nvSpPr>
        <p:spPr bwMode="auto">
          <a:xfrm>
            <a:off x="2088769" y="1416204"/>
            <a:ext cx="5895331"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2.10</a:t>
            </a:r>
            <a:r>
              <a:rPr lang="zh-CN" altLang="en-US" sz="2000" b="1">
                <a:solidFill>
                  <a:srgbClr val="002060"/>
                </a:solidFill>
                <a:latin typeface="思源黑体 CN Bold" pitchFamily="34" charset="-122"/>
                <a:ea typeface="思源黑体 CN Bold" pitchFamily="34" charset="-122"/>
              </a:rPr>
              <a:t>，扫描模式</a:t>
            </a:r>
            <a:endParaRPr lang="en-US" altLang="zh-CN" sz="2000" b="1" dirty="0">
              <a:solidFill>
                <a:srgbClr val="002060"/>
              </a:solidFill>
              <a:latin typeface="思源黑体 CN Bold" pitchFamily="34" charset="-122"/>
              <a:ea typeface="思源黑体 CN Bold" pitchFamily="34" charset="-122"/>
            </a:endParaRPr>
          </a:p>
        </p:txBody>
      </p:sp>
      <p:graphicFrame>
        <p:nvGraphicFramePr>
          <p:cNvPr id="12" name="表格 11"/>
          <p:cNvGraphicFramePr>
            <a:graphicFrameLocks noGrp="1"/>
          </p:cNvGraphicFramePr>
          <p:nvPr/>
        </p:nvGraphicFramePr>
        <p:xfrm>
          <a:off x="2796887" y="3404567"/>
          <a:ext cx="7039779" cy="1496088"/>
        </p:xfrm>
        <a:graphic>
          <a:graphicData uri="http://schemas.openxmlformats.org/drawingml/2006/table">
            <a:tbl>
              <a:tblPr firstRow="1" firstCol="1" bandRow="1">
                <a:tableStyleId>{5C22544A-7EE6-4342-B048-85BDC9FD1C3A}</a:tableStyleId>
              </a:tblPr>
              <a:tblGrid>
                <a:gridCol w="3496606"/>
                <a:gridCol w="3543173"/>
              </a:tblGrid>
              <a:tr h="618251">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关闭扫描模式</a:t>
                      </a:r>
                      <a:endParaRPr lang="zh-CN" alt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600" b="1" kern="100">
                          <a:solidFill>
                            <a:schemeClr val="bg1"/>
                          </a:solidFill>
                          <a:effectLst/>
                          <a:latin typeface="思源黑体 CN Normal" panose="020B0400000000000000" pitchFamily="34" charset="-122"/>
                          <a:ea typeface="思源黑体 CN Normal" panose="020B0400000000000000" pitchFamily="34" charset="-122"/>
                        </a:rPr>
                        <a:t>使用扫描模式</a:t>
                      </a:r>
                      <a:endParaRPr lang="zh-CN" altLang="zh-CN" sz="16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877837">
                <a:tc>
                  <a:txBody>
                    <a:bodyPr/>
                    <a:lstStyle/>
                    <a:p>
                      <a:pPr algn="ctr"/>
                      <a:r>
                        <a:rPr lang="en-US" altLang="zh-CN" sz="1600" b="0" kern="100" dirty="0">
                          <a:solidFill>
                            <a:srgbClr val="002060"/>
                          </a:solidFill>
                          <a:effectLst/>
                          <a:latin typeface="思源黑体 CN Normal" panose="020B0400000000000000" pitchFamily="34" charset="-122"/>
                          <a:ea typeface="思源黑体 CN Normal" panose="020B0400000000000000" pitchFamily="34" charset="-122"/>
                        </a:rPr>
                        <a:t>ADC</a:t>
                      </a:r>
                      <a:r>
                        <a:rPr lang="zh-CN" altLang="en-US" sz="1600" b="0" kern="100" dirty="0">
                          <a:solidFill>
                            <a:srgbClr val="002060"/>
                          </a:solidFill>
                          <a:effectLst/>
                          <a:latin typeface="思源黑体 CN Normal" panose="020B0400000000000000" pitchFamily="34" charset="-122"/>
                          <a:ea typeface="思源黑体 CN Normal" panose="020B0400000000000000" pitchFamily="34" charset="-122"/>
                        </a:rPr>
                        <a:t>只转换</a:t>
                      </a:r>
                      <a:r>
                        <a:rPr lang="en-US" altLang="zh-CN" sz="1600" b="0" dirty="0" err="1">
                          <a:solidFill>
                            <a:srgbClr val="002060"/>
                          </a:solidFill>
                          <a:latin typeface="思源黑体 CN Normal" panose="020B0400000000000000" pitchFamily="34" charset="-122"/>
                          <a:ea typeface="思源黑体 CN Normal" panose="020B0400000000000000" pitchFamily="34" charset="-122"/>
                        </a:rPr>
                        <a:t>ADC_SQRx</a:t>
                      </a:r>
                      <a:r>
                        <a:rPr lang="zh-CN" altLang="en-US" sz="1600" b="0" dirty="0">
                          <a:solidFill>
                            <a:srgbClr val="002060"/>
                          </a:solidFill>
                          <a:latin typeface="思源黑体 CN Normal" panose="020B0400000000000000" pitchFamily="34" charset="-122"/>
                          <a:ea typeface="思源黑体 CN Normal" panose="020B0400000000000000" pitchFamily="34" charset="-122"/>
                        </a:rPr>
                        <a:t>或</a:t>
                      </a:r>
                      <a:r>
                        <a:rPr lang="en-US" altLang="zh-CN" sz="1600" b="0" dirty="0">
                          <a:solidFill>
                            <a:srgbClr val="002060"/>
                          </a:solidFill>
                          <a:latin typeface="思源黑体 CN Normal" panose="020B0400000000000000" pitchFamily="34" charset="-122"/>
                          <a:ea typeface="思源黑体 CN Normal" panose="020B0400000000000000" pitchFamily="34" charset="-122"/>
                        </a:rPr>
                        <a:t>ADC_JSQR</a:t>
                      </a:r>
                      <a:r>
                        <a:rPr lang="zh-CN" altLang="en-US" sz="1600" b="0" dirty="0">
                          <a:solidFill>
                            <a:srgbClr val="002060"/>
                          </a:solidFill>
                          <a:latin typeface="思源黑体 CN Normal" panose="020B0400000000000000" pitchFamily="34" charset="-122"/>
                          <a:ea typeface="思源黑体 CN Normal" panose="020B0400000000000000" pitchFamily="34" charset="-122"/>
                        </a:rPr>
                        <a:t>选中的第一个通道进行转换</a:t>
                      </a:r>
                      <a:endParaRPr lang="zh-CN" sz="1600" b="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rgbClr val="002060"/>
                          </a:solidFill>
                          <a:latin typeface="思源黑体 CN Normal" panose="020B0400000000000000" pitchFamily="34" charset="-122"/>
                          <a:ea typeface="思源黑体 CN Normal" panose="020B0400000000000000" pitchFamily="34" charset="-122"/>
                        </a:rPr>
                        <a:t>ADC</a:t>
                      </a:r>
                      <a:r>
                        <a:rPr lang="zh-CN" altLang="en-US" sz="1600" dirty="0">
                          <a:solidFill>
                            <a:srgbClr val="002060"/>
                          </a:solidFill>
                          <a:latin typeface="思源黑体 CN Normal" panose="020B0400000000000000" pitchFamily="34" charset="-122"/>
                          <a:ea typeface="思源黑体 CN Normal" panose="020B0400000000000000" pitchFamily="34" charset="-122"/>
                        </a:rPr>
                        <a:t>会扫描所有被</a:t>
                      </a:r>
                      <a:r>
                        <a:rPr lang="en-US" altLang="zh-CN" sz="1600" dirty="0" err="1">
                          <a:solidFill>
                            <a:srgbClr val="002060"/>
                          </a:solidFill>
                          <a:latin typeface="思源黑体 CN Normal" panose="020B0400000000000000" pitchFamily="34" charset="-122"/>
                          <a:ea typeface="思源黑体 CN Normal" panose="020B0400000000000000" pitchFamily="34" charset="-122"/>
                        </a:rPr>
                        <a:t>ADC_SQRx</a:t>
                      </a:r>
                      <a:r>
                        <a:rPr lang="zh-CN" altLang="en-US" sz="1600" dirty="0">
                          <a:solidFill>
                            <a:srgbClr val="002060"/>
                          </a:solidFill>
                          <a:latin typeface="思源黑体 CN Normal" panose="020B0400000000000000" pitchFamily="34" charset="-122"/>
                          <a:ea typeface="思源黑体 CN Normal" panose="020B0400000000000000" pitchFamily="34" charset="-122"/>
                        </a:rPr>
                        <a:t>或</a:t>
                      </a:r>
                      <a:r>
                        <a:rPr lang="en-US" altLang="zh-CN" sz="1600" dirty="0">
                          <a:solidFill>
                            <a:srgbClr val="002060"/>
                          </a:solidFill>
                          <a:latin typeface="思源黑体 CN Normal" panose="020B0400000000000000" pitchFamily="34" charset="-122"/>
                          <a:ea typeface="思源黑体 CN Normal" panose="020B0400000000000000" pitchFamily="34" charset="-122"/>
                        </a:rPr>
                        <a:t>ADC_JSQR</a:t>
                      </a:r>
                      <a:r>
                        <a:rPr lang="zh-CN" altLang="en-US" sz="1600" dirty="0">
                          <a:solidFill>
                            <a:srgbClr val="002060"/>
                          </a:solidFill>
                          <a:latin typeface="思源黑体 CN Normal" panose="020B0400000000000000" pitchFamily="34" charset="-122"/>
                          <a:ea typeface="思源黑体 CN Normal" panose="020B0400000000000000" pitchFamily="34" charset="-122"/>
                        </a:rPr>
                        <a:t>选中的所有通道</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a:spLocks noChangeArrowheads="1"/>
          </p:cNvSpPr>
          <p:nvPr/>
        </p:nvSpPr>
        <p:spPr bwMode="auto">
          <a:xfrm>
            <a:off x="1377569" y="1118871"/>
            <a:ext cx="5895331"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不同模式组合的作用</a:t>
            </a:r>
            <a:endParaRPr lang="en-US" altLang="zh-CN" sz="2000" b="1" dirty="0">
              <a:solidFill>
                <a:srgbClr val="002060"/>
              </a:solidFill>
              <a:latin typeface="思源黑体 CN Bold" pitchFamily="34" charset="-122"/>
              <a:ea typeface="思源黑体 CN Bold" pitchFamily="34" charset="-122"/>
            </a:endParaRPr>
          </a:p>
        </p:txBody>
      </p:sp>
      <p:graphicFrame>
        <p:nvGraphicFramePr>
          <p:cNvPr id="12" name="表格 11"/>
          <p:cNvGraphicFramePr>
            <a:graphicFrameLocks noGrp="1"/>
          </p:cNvGraphicFramePr>
          <p:nvPr/>
        </p:nvGraphicFramePr>
        <p:xfrm>
          <a:off x="1525137" y="1644683"/>
          <a:ext cx="8100326" cy="1483807"/>
        </p:xfrm>
        <a:graphic>
          <a:graphicData uri="http://schemas.openxmlformats.org/drawingml/2006/table">
            <a:tbl>
              <a:tblPr firstRow="1" firstCol="1" bandRow="1">
                <a:tableStyleId>{5C22544A-7EE6-4342-B048-85BDC9FD1C3A}</a:tableStyleId>
              </a:tblPr>
              <a:tblGrid>
                <a:gridCol w="2410934"/>
                <a:gridCol w="5689392"/>
              </a:tblGrid>
              <a:tr h="345085">
                <a:tc>
                  <a:txBody>
                    <a:bodyPr/>
                    <a:lstStyle/>
                    <a:p>
                      <a:pPr algn="l"/>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单次转换模式（不扫描）</a:t>
                      </a:r>
                      <a:endParaRPr 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zh-CN" altLang="en-US" sz="1400" b="0" kern="100">
                          <a:solidFill>
                            <a:srgbClr val="002060"/>
                          </a:solidFill>
                          <a:effectLst/>
                          <a:latin typeface="思源黑体 CN Normal" panose="020B0400000000000000" pitchFamily="34" charset="-122"/>
                          <a:ea typeface="思源黑体 CN Normal" panose="020B0400000000000000" pitchFamily="34" charset="-122"/>
                        </a:rPr>
                        <a:t>只转换一个通道，而且是一次，需等待下一次触发</a:t>
                      </a:r>
                      <a:endParaRPr lang="zh-CN" sz="1400" b="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45085">
                <a:tc>
                  <a:txBody>
                    <a:bodyPr/>
                    <a:lstStyle/>
                    <a:p>
                      <a:pPr algn="l"/>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单次转换模式（扫描）</a:t>
                      </a:r>
                      <a:endParaRPr lang="zh-CN" alt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en-US" altLang="zh-CN" sz="1400" b="0" kern="100">
                          <a:solidFill>
                            <a:srgbClr val="002060"/>
                          </a:solidFill>
                          <a:effectLst/>
                          <a:latin typeface="思源黑体 CN Normal" panose="020B0400000000000000" pitchFamily="34" charset="-122"/>
                          <a:ea typeface="思源黑体 CN Normal" panose="020B0400000000000000" pitchFamily="34" charset="-122"/>
                        </a:rPr>
                        <a:t>ADC_SQRx </a:t>
                      </a:r>
                      <a:r>
                        <a:rPr lang="zh-CN" altLang="en-US" sz="1400" b="0" kern="100">
                          <a:solidFill>
                            <a:srgbClr val="002060"/>
                          </a:solidFill>
                          <a:effectLst/>
                          <a:latin typeface="思源黑体 CN Normal" panose="020B0400000000000000" pitchFamily="34" charset="-122"/>
                          <a:ea typeface="思源黑体 CN Normal" panose="020B0400000000000000" pitchFamily="34" charset="-122"/>
                        </a:rPr>
                        <a:t>和</a:t>
                      </a:r>
                      <a:r>
                        <a:rPr lang="en-US" altLang="zh-CN" sz="1400" b="0" kern="100">
                          <a:solidFill>
                            <a:srgbClr val="002060"/>
                          </a:solidFill>
                          <a:effectLst/>
                          <a:latin typeface="思源黑体 CN Normal" panose="020B0400000000000000" pitchFamily="34" charset="-122"/>
                          <a:ea typeface="思源黑体 CN Normal" panose="020B0400000000000000" pitchFamily="34" charset="-122"/>
                        </a:rPr>
                        <a:t>ADC_JSQR </a:t>
                      </a:r>
                      <a:r>
                        <a:rPr lang="zh-CN" altLang="en-US" sz="1400" b="0" kern="100">
                          <a:solidFill>
                            <a:srgbClr val="002060"/>
                          </a:solidFill>
                          <a:effectLst/>
                          <a:latin typeface="思源黑体 CN Normal" panose="020B0400000000000000" pitchFamily="34" charset="-122"/>
                          <a:ea typeface="思源黑体 CN Normal" panose="020B0400000000000000" pitchFamily="34" charset="-122"/>
                        </a:rPr>
                        <a:t>选中的所有通道都转换一次</a:t>
                      </a:r>
                      <a:endParaRPr lang="zh-CN" sz="1400" b="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45085">
                <a:tc>
                  <a:txBody>
                    <a:bodyPr/>
                    <a:lstStyle/>
                    <a:p>
                      <a:pPr algn="l"/>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连续转换模式（不扫描）</a:t>
                      </a:r>
                      <a:endParaRPr lang="zh-CN" alt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r>
                        <a:rPr lang="zh-CN" altLang="en-US" sz="1400" kern="100">
                          <a:solidFill>
                            <a:srgbClr val="002060"/>
                          </a:solidFill>
                          <a:effectLst/>
                          <a:latin typeface="思源黑体 CN Normal" panose="020B0400000000000000" pitchFamily="34" charset="-122"/>
                          <a:ea typeface="思源黑体 CN Normal" panose="020B0400000000000000" pitchFamily="34" charset="-122"/>
                        </a:rPr>
                        <a:t>只会转换一个通道，转换完后会自动执行下一次转换</a:t>
                      </a:r>
                      <a:endParaRPr lang="zh-CN" sz="14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48552">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b="1" kern="100">
                          <a:solidFill>
                            <a:schemeClr val="bg1"/>
                          </a:solidFill>
                          <a:effectLst/>
                          <a:latin typeface="思源黑体 CN Normal" panose="020B0400000000000000" pitchFamily="34" charset="-122"/>
                          <a:ea typeface="思源黑体 CN Normal" panose="020B0400000000000000" pitchFamily="34" charset="-122"/>
                        </a:rPr>
                        <a:t>连续转换模式（扫描）</a:t>
                      </a:r>
                      <a:endParaRPr lang="zh-CN" altLang="zh-CN" sz="1400" b="1" kern="100">
                        <a:solidFill>
                          <a:schemeClr val="bg1"/>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altLang="zh-CN" sz="1400" b="0" kern="100">
                          <a:solidFill>
                            <a:srgbClr val="002060"/>
                          </a:solidFill>
                          <a:effectLst/>
                          <a:latin typeface="思源黑体 CN Normal" panose="020B0400000000000000" pitchFamily="34" charset="-122"/>
                          <a:ea typeface="思源黑体 CN Normal" panose="020B0400000000000000" pitchFamily="34" charset="-122"/>
                        </a:rPr>
                        <a:t>ADC_SQRx </a:t>
                      </a:r>
                      <a:r>
                        <a:rPr lang="zh-CN" altLang="en-US" sz="1400" b="0" kern="100">
                          <a:solidFill>
                            <a:srgbClr val="002060"/>
                          </a:solidFill>
                          <a:effectLst/>
                          <a:latin typeface="思源黑体 CN Normal" panose="020B0400000000000000" pitchFamily="34" charset="-122"/>
                          <a:ea typeface="思源黑体 CN Normal" panose="020B0400000000000000" pitchFamily="34" charset="-122"/>
                        </a:rPr>
                        <a:t>和</a:t>
                      </a:r>
                      <a:r>
                        <a:rPr lang="en-US" altLang="zh-CN" sz="1400" b="0" kern="100">
                          <a:solidFill>
                            <a:srgbClr val="002060"/>
                          </a:solidFill>
                          <a:effectLst/>
                          <a:latin typeface="思源黑体 CN Normal" panose="020B0400000000000000" pitchFamily="34" charset="-122"/>
                          <a:ea typeface="思源黑体 CN Normal" panose="020B0400000000000000" pitchFamily="34" charset="-122"/>
                        </a:rPr>
                        <a:t>ADC_JSQR </a:t>
                      </a:r>
                      <a:r>
                        <a:rPr lang="zh-CN" altLang="en-US" sz="1400" b="0" kern="100">
                          <a:solidFill>
                            <a:srgbClr val="002060"/>
                          </a:solidFill>
                          <a:effectLst/>
                          <a:latin typeface="思源黑体 CN Normal" panose="020B0400000000000000" pitchFamily="34" charset="-122"/>
                          <a:ea typeface="思源黑体 CN Normal" panose="020B0400000000000000" pitchFamily="34" charset="-122"/>
                        </a:rPr>
                        <a:t>选中的所有通道都转换一次，并自动进入下一轮转换</a:t>
                      </a:r>
                      <a:endParaRPr lang="zh-CN" altLang="zh-CN" sz="1400" b="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2"/>
          <p:cNvSpPr>
            <a:spLocks noGrp="1" noChangeArrowheads="1"/>
          </p:cNvSpPr>
          <p:nvPr/>
        </p:nvSpPr>
        <p:spPr>
          <a:xfrm>
            <a:off x="241935" y="247015"/>
            <a:ext cx="11541760" cy="358775"/>
          </a:xfrm>
          <a:prstGeom prst="rect">
            <a:avLst/>
          </a:prstGeom>
          <a:noFill/>
          <a:ln w="9525">
            <a:noFill/>
          </a:ln>
        </p:spPr>
        <p:txBody>
          <a:bodyPr lIns="122932" tIns="61466" rIns="0" bIns="61466" anchor="t" anchorCtr="0">
            <a:noAutofit/>
          </a:bodyPr>
          <a:lstStyle>
            <a:lvl1pPr marL="0" indent="0" algn="ctr" rtl="0" eaLnBrk="0" fontAlgn="base" hangingPunct="0">
              <a:spcBef>
                <a:spcPct val="25000"/>
              </a:spcBef>
              <a:spcAft>
                <a:spcPct val="0"/>
              </a:spcAft>
              <a:buClr>
                <a:srgbClr val="C60C30"/>
              </a:buClr>
              <a:buSzPct val="100000"/>
              <a:buFont typeface="Arial" panose="020B0604020202020204" pitchFamily="34" charset="0"/>
              <a:buNone/>
              <a:defRPr lang="en-US" sz="3000" b="0" dirty="0">
                <a:solidFill>
                  <a:schemeClr val="accent1"/>
                </a:solidFill>
                <a:effectLst/>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a:lstStyle>
          <a:p>
            <a:pPr algn="l"/>
            <a:r>
              <a:rPr lang="zh-CN" altLang="en-US" sz="2000" b="1" spc="300">
                <a:latin typeface="+mj-ea"/>
                <a:ea typeface="+mj-ea"/>
                <a:sym typeface="+mn-ea"/>
              </a:rPr>
              <a:t>程序配置</a:t>
            </a:r>
            <a:endParaRPr lang="zh-CN" altLang="en-US" sz="2000"/>
          </a:p>
        </p:txBody>
      </p:sp>
      <p:sp>
        <p:nvSpPr>
          <p:cNvPr id="8" name="文本框 7"/>
          <p:cNvSpPr txBox="1"/>
          <p:nvPr/>
        </p:nvSpPr>
        <p:spPr>
          <a:xfrm>
            <a:off x="302260" y="731520"/>
            <a:ext cx="11704320" cy="645160"/>
          </a:xfrm>
          <a:prstGeom prst="rect">
            <a:avLst/>
          </a:prstGeom>
          <a:noFill/>
        </p:spPr>
        <p:txBody>
          <a:bodyPr wrap="square" rtlCol="0">
            <a:spAutoFit/>
          </a:bodyPr>
          <a:lstStyle/>
          <a:p>
            <a:pPr defTabSz="266700"/>
            <a:r>
              <a:rPr lang="en-US" altLang="zh-CN" sz="1800" b="1">
                <a:solidFill>
                  <a:srgbClr val="4F4F4F"/>
                </a:solidFill>
                <a:latin typeface="微软雅黑" panose="020B0503020204020204" charset="-122"/>
                <a:ea typeface="微软雅黑" panose="020B0503020204020204" charset="-122"/>
                <a:sym typeface="+mn-ea"/>
              </a:rPr>
              <a:t>Cubemx</a:t>
            </a:r>
            <a:r>
              <a:rPr lang="zh-CN" altLang="en-US" sz="1800" b="1">
                <a:solidFill>
                  <a:srgbClr val="4F4F4F"/>
                </a:solidFill>
                <a:latin typeface="微软雅黑" panose="020B0503020204020204" charset="-122"/>
                <a:ea typeface="微软雅黑" panose="020B0503020204020204" charset="-122"/>
                <a:sym typeface="+mn-ea"/>
              </a:rPr>
              <a:t>配置流程</a:t>
            </a:r>
            <a:endParaRPr lang="zh-CN" altLang="en-US" sz="1800" b="1" i="0">
              <a:solidFill>
                <a:srgbClr val="4F4F4F"/>
              </a:solidFill>
              <a:latin typeface="微软雅黑" panose="020B0503020204020204" charset="-122"/>
              <a:ea typeface="微软雅黑" panose="020B0503020204020204" charset="-122"/>
            </a:endParaRPr>
          </a:p>
          <a:p>
            <a:pPr marL="0" indent="0" algn="just" defTabSz="266700">
              <a:spcBef>
                <a:spcPct val="0"/>
              </a:spcBef>
              <a:spcAft>
                <a:spcPct val="0"/>
              </a:spcAft>
            </a:pPr>
            <a:r>
              <a:rPr lang="en-US" altLang="zh-CN" sz="1800">
                <a:solidFill>
                  <a:srgbClr val="2A2A2A"/>
                </a:solidFill>
                <a:latin typeface="Arial" panose="020B0604020202020204"/>
                <a:ea typeface="Arial" panose="020B0604020202020204"/>
              </a:rPr>
              <a:t>Rcc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时钟配置</a:t>
            </a:r>
            <a:r>
              <a:rPr lang="en-US" altLang="zh-CN" sz="1800">
                <a:solidFill>
                  <a:srgbClr val="2A2A2A"/>
                </a:solidFill>
                <a:latin typeface="Arial" panose="020B0604020202020204"/>
                <a:ea typeface="Arial" panose="020B0604020202020204"/>
              </a:rPr>
              <a:t>-&gt;IO</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-&gt;ADC</a:t>
            </a:r>
            <a:r>
              <a:rPr lang="zh-CN" altLang="en-US" sz="1800">
                <a:solidFill>
                  <a:srgbClr val="2A2A2A"/>
                </a:solidFill>
                <a:latin typeface="Arial" panose="020B0604020202020204"/>
                <a:ea typeface="Arial" panose="020B0604020202020204"/>
              </a:rPr>
              <a:t>配置</a:t>
            </a:r>
            <a:r>
              <a:rPr lang="en-US" altLang="zh-CN" sz="1800">
                <a:solidFill>
                  <a:srgbClr val="2A2A2A"/>
                </a:solidFill>
                <a:latin typeface="Arial" panose="020B0604020202020204"/>
                <a:ea typeface="Arial" panose="020B0604020202020204"/>
              </a:rPr>
              <a:t>-&gt;</a:t>
            </a:r>
            <a:r>
              <a:rPr lang="zh-CN" altLang="en-US" sz="1800">
                <a:solidFill>
                  <a:srgbClr val="2A2A2A"/>
                </a:solidFill>
                <a:latin typeface="Arial" panose="020B0604020202020204"/>
                <a:ea typeface="Arial" panose="020B0604020202020204"/>
              </a:rPr>
              <a:t>写应用程序</a:t>
            </a:r>
            <a:endParaRPr lang="zh-CN" altLang="en-US" sz="1800">
              <a:solidFill>
                <a:srgbClr val="2A2A2A"/>
              </a:solidFill>
              <a:latin typeface="Arial" panose="020B0604020202020204"/>
              <a:ea typeface="Arial" panose="020B0604020202020204"/>
            </a:endParaRPr>
          </a:p>
        </p:txBody>
      </p:sp>
      <p:sp>
        <p:nvSpPr>
          <p:cNvPr id="3" name="文本框 2"/>
          <p:cNvSpPr txBox="1"/>
          <p:nvPr/>
        </p:nvSpPr>
        <p:spPr>
          <a:xfrm>
            <a:off x="1009015" y="5271135"/>
            <a:ext cx="4062730" cy="368300"/>
          </a:xfrm>
          <a:prstGeom prst="rect">
            <a:avLst/>
          </a:prstGeom>
          <a:noFill/>
        </p:spPr>
        <p:txBody>
          <a:bodyPr wrap="square" rtlCol="0">
            <a:spAutoFit/>
          </a:bodyPr>
          <a:lstStyle/>
          <a:p>
            <a:endParaRPr lang="zh-CN" altLang="en-US"/>
          </a:p>
        </p:txBody>
      </p:sp>
      <p:pic>
        <p:nvPicPr>
          <p:cNvPr id="2" name="图片 1"/>
          <p:cNvPicPr>
            <a:picLocks noChangeAspect="1"/>
          </p:cNvPicPr>
          <p:nvPr/>
        </p:nvPicPr>
        <p:blipFill>
          <a:blip r:embed="rId1"/>
          <a:stretch>
            <a:fillRect/>
          </a:stretch>
        </p:blipFill>
        <p:spPr>
          <a:xfrm>
            <a:off x="5913755" y="854828"/>
            <a:ext cx="6092825" cy="6055360"/>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DAC</a:t>
            </a:r>
            <a:endParaRPr lang="en-US" altLang="zh-CN" spc="300" dirty="0">
              <a:latin typeface="+mj-ea"/>
              <a:sym typeface="+mn-ea"/>
            </a:endParaRPr>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805" y="2204720"/>
            <a:ext cx="4794250" cy="458470"/>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sym typeface="+mn-ea"/>
              </a:rPr>
              <a:t>DAC</a:t>
            </a:r>
            <a:r>
              <a:rPr lang="zh-CN" altLang="en-US" sz="2400" b="1" spc="300" dirty="0">
                <a:solidFill>
                  <a:schemeClr val="accent1"/>
                </a:solidFill>
                <a:latin typeface="+mj-ea"/>
                <a:ea typeface="+mj-ea"/>
                <a:sym typeface="+mn-ea"/>
              </a:rPr>
              <a:t>简介</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rPr>
              <a:t>DAC</a:t>
            </a:r>
            <a:r>
              <a:rPr lang="zh-CN" altLang="en-US" sz="2400" b="1" spc="300" dirty="0">
                <a:solidFill>
                  <a:schemeClr val="accent1"/>
                </a:solidFill>
                <a:latin typeface="+mj-ea"/>
                <a:ea typeface="+mj-ea"/>
              </a:rPr>
              <a:t>工作原理</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447675"/>
          </a:xfrm>
          <a:prstGeom prst="rect">
            <a:avLst/>
          </a:prstGeom>
          <a:noFill/>
        </p:spPr>
        <p:txBody>
          <a:bodyPr wrap="square" lIns="0" tIns="0" rIns="0" bIns="0" rtlCol="0" anchor="t" anchorCtr="0">
            <a:normAutofit/>
          </a:bodyPr>
          <a:lstStyle/>
          <a:p>
            <a:pPr>
              <a:lnSpc>
                <a:spcPct val="100000"/>
              </a:lnSpc>
            </a:pPr>
            <a:r>
              <a:rPr lang="en-US" altLang="zh-CN" sz="2400" b="1" spc="300" dirty="0">
                <a:solidFill>
                  <a:schemeClr val="accent1"/>
                </a:solidFill>
                <a:latin typeface="+mj-ea"/>
                <a:ea typeface="+mj-ea"/>
                <a:sym typeface="+mn-ea"/>
              </a:rPr>
              <a:t>DAC</a:t>
            </a:r>
            <a:r>
              <a:rPr lang="zh-CN" altLang="en-US" sz="2400" b="1" spc="300" dirty="0">
                <a:solidFill>
                  <a:schemeClr val="accent1"/>
                </a:solidFill>
                <a:latin typeface="+mj-ea"/>
                <a:ea typeface="+mj-ea"/>
                <a:sym typeface="+mn-ea"/>
              </a:rPr>
              <a:t>基本实验</a:t>
            </a:r>
            <a:endParaRPr lang="zh-CN" altLang="en-US" sz="2400" b="1" spc="300" dirty="0">
              <a:solidFill>
                <a:schemeClr val="accent1"/>
              </a:solidFill>
              <a:latin typeface="+mj-ea"/>
              <a:ea typeface="+mj-ea"/>
              <a:sym typeface="+mn-ea"/>
            </a:endParaRPr>
          </a:p>
        </p:txBody>
      </p:sp>
    </p:spTree>
    <p:custDataLst>
      <p:tags r:id="rId8"/>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145827" y="2248299"/>
            <a:ext cx="7987587" cy="369332"/>
          </a:xfrm>
          <a:prstGeom prst="rect">
            <a:avLst/>
          </a:prstGeom>
        </p:spPr>
        <p:txBody>
          <a:bodyPr wrap="square">
            <a:spAutoFit/>
          </a:bodyPr>
          <a:lstStyle/>
          <a:p>
            <a:r>
              <a:rPr lang="en-US" altLang="zh-CN">
                <a:solidFill>
                  <a:srgbClr val="002060"/>
                </a:solidFill>
                <a:latin typeface="思源黑体 CN Normal" panose="020B0400000000000000" pitchFamily="34" charset="-122"/>
                <a:ea typeface="思源黑体 CN Normal" panose="020B0400000000000000" pitchFamily="34" charset="-122"/>
              </a:rPr>
              <a:t>DAC</a:t>
            </a:r>
            <a:r>
              <a:rPr lang="zh-CN" altLang="en-US">
                <a:solidFill>
                  <a:srgbClr val="002060"/>
                </a:solidFill>
                <a:latin typeface="思源黑体 CN Normal" panose="020B0400000000000000" pitchFamily="34" charset="-122"/>
                <a:ea typeface="思源黑体 CN Normal" panose="020B0400000000000000" pitchFamily="34" charset="-122"/>
              </a:rPr>
              <a:t>，全称：</a:t>
            </a:r>
            <a:r>
              <a:rPr lang="en-US" altLang="zh-CN">
                <a:solidFill>
                  <a:srgbClr val="002060"/>
                </a:solidFill>
                <a:latin typeface="思源黑体 CN Normal" panose="020B0400000000000000" pitchFamily="34" charset="-122"/>
                <a:ea typeface="思源黑体 CN Normal" panose="020B0400000000000000" pitchFamily="34" charset="-122"/>
              </a:rPr>
              <a:t>Digital-to-Analog Converter</a:t>
            </a:r>
            <a:r>
              <a:rPr lang="zh-CN" altLang="en-US">
                <a:solidFill>
                  <a:srgbClr val="002060"/>
                </a:solidFill>
                <a:latin typeface="思源黑体 CN Normal" panose="020B0400000000000000" pitchFamily="34" charset="-122"/>
                <a:ea typeface="思源黑体 CN Normal" panose="020B0400000000000000" pitchFamily="34" charset="-122"/>
              </a:rPr>
              <a:t>，指数字</a:t>
            </a:r>
            <a:r>
              <a:rPr lang="en-US" altLang="zh-CN">
                <a:solidFill>
                  <a:srgbClr val="002060"/>
                </a:solidFill>
                <a:latin typeface="思源黑体 CN Normal" panose="020B0400000000000000" pitchFamily="34" charset="-122"/>
                <a:ea typeface="思源黑体 CN Normal" panose="020B0400000000000000" pitchFamily="34" charset="-122"/>
              </a:rPr>
              <a:t>/</a:t>
            </a:r>
            <a:r>
              <a:rPr lang="zh-CN" altLang="en-US">
                <a:solidFill>
                  <a:srgbClr val="002060"/>
                </a:solidFill>
                <a:latin typeface="思源黑体 CN Normal" panose="020B0400000000000000" pitchFamily="34" charset="-122"/>
                <a:ea typeface="思源黑体 CN Normal" panose="020B0400000000000000" pitchFamily="34" charset="-122"/>
              </a:rPr>
              <a:t>模拟转换器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26" name="直接箭头连接符 25"/>
          <p:cNvCxnSpPr/>
          <p:nvPr/>
        </p:nvCxnSpPr>
        <p:spPr>
          <a:xfrm flipV="1">
            <a:off x="3047907" y="3786645"/>
            <a:ext cx="658096"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735043" y="3481881"/>
            <a:ext cx="96303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思源黑体 CN Normal" panose="020B0400000000000000" pitchFamily="34" charset="-122"/>
                <a:ea typeface="思源黑体 CN Normal" panose="020B0400000000000000" pitchFamily="34" charset="-122"/>
              </a:rPr>
              <a:t>ADC</a:t>
            </a:r>
            <a:endParaRPr lang="zh-CN" altLang="en-US">
              <a:latin typeface="思源黑体 CN Normal" panose="020B0400000000000000" pitchFamily="34" charset="-122"/>
              <a:ea typeface="思源黑体 CN Normal" panose="020B0400000000000000" pitchFamily="34" charset="-122"/>
            </a:endParaRPr>
          </a:p>
        </p:txBody>
      </p:sp>
      <p:sp>
        <p:nvSpPr>
          <p:cNvPr id="34" name="矩形 33"/>
          <p:cNvSpPr/>
          <p:nvPr/>
        </p:nvSpPr>
        <p:spPr>
          <a:xfrm>
            <a:off x="5446922" y="3458295"/>
            <a:ext cx="96303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Normal" panose="020B0400000000000000" pitchFamily="34" charset="-122"/>
                <a:ea typeface="思源黑体 CN Normal" panose="020B0400000000000000" pitchFamily="34" charset="-122"/>
              </a:rPr>
              <a:t>单片机</a:t>
            </a:r>
            <a:endParaRPr lang="zh-CN" altLang="en-US">
              <a:latin typeface="思源黑体 CN Normal" panose="020B0400000000000000" pitchFamily="34" charset="-122"/>
              <a:ea typeface="思源黑体 CN Normal" panose="020B0400000000000000" pitchFamily="34" charset="-122"/>
            </a:endParaRPr>
          </a:p>
        </p:txBody>
      </p:sp>
      <p:sp>
        <p:nvSpPr>
          <p:cNvPr id="28" name="矩形 39"/>
          <p:cNvSpPr>
            <a:spLocks noChangeArrowheads="1"/>
          </p:cNvSpPr>
          <p:nvPr/>
        </p:nvSpPr>
        <p:spPr bwMode="auto">
          <a:xfrm>
            <a:off x="1860314" y="127631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什么是</a:t>
            </a:r>
            <a:r>
              <a:rPr lang="en-US" altLang="zh-CN" sz="2000" b="1">
                <a:solidFill>
                  <a:srgbClr val="002060"/>
                </a:solidFill>
                <a:latin typeface="思源黑体 CN Bold" pitchFamily="34" charset="-122"/>
                <a:ea typeface="思源黑体 CN Bold" pitchFamily="34" charset="-122"/>
              </a:rPr>
              <a:t>DAC</a:t>
            </a:r>
            <a:r>
              <a:rPr lang="zh-CN" altLang="en-US" sz="2000" b="1">
                <a:solidFill>
                  <a:srgbClr val="002060"/>
                </a:solidFill>
                <a:latin typeface="思源黑体 CN Bold" pitchFamily="34" charset="-122"/>
                <a:ea typeface="思源黑体 CN Bold" pitchFamily="34" charset="-122"/>
              </a:rPr>
              <a:t>？</a:t>
            </a:r>
            <a:endParaRPr lang="en-US" altLang="zh-CN" sz="2000" b="1" dirty="0">
              <a:solidFill>
                <a:srgbClr val="002060"/>
              </a:solidFill>
              <a:latin typeface="思源黑体 CN Bold" pitchFamily="34" charset="-122"/>
              <a:ea typeface="思源黑体 CN Bold" pitchFamily="34" charset="-122"/>
            </a:endParaRPr>
          </a:p>
        </p:txBody>
      </p:sp>
      <p:sp>
        <p:nvSpPr>
          <p:cNvPr id="42" name="矩形 41"/>
          <p:cNvSpPr/>
          <p:nvPr/>
        </p:nvSpPr>
        <p:spPr>
          <a:xfrm>
            <a:off x="2986202" y="3409992"/>
            <a:ext cx="190029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电信号</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22" name="矩形 21"/>
          <p:cNvSpPr/>
          <p:nvPr/>
        </p:nvSpPr>
        <p:spPr>
          <a:xfrm>
            <a:off x="2023164" y="3481881"/>
            <a:ext cx="96303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Normal" panose="020B0400000000000000" pitchFamily="34" charset="-122"/>
                <a:ea typeface="思源黑体 CN Normal" panose="020B0400000000000000" pitchFamily="34" charset="-122"/>
              </a:rPr>
              <a:t>传感器</a:t>
            </a:r>
            <a:endParaRPr lang="zh-CN" altLang="en-US">
              <a:latin typeface="思源黑体 CN Normal" panose="020B0400000000000000" pitchFamily="34" charset="-122"/>
              <a:ea typeface="思源黑体 CN Normal" panose="020B0400000000000000" pitchFamily="34" charset="-122"/>
            </a:endParaRPr>
          </a:p>
        </p:txBody>
      </p:sp>
      <p:sp>
        <p:nvSpPr>
          <p:cNvPr id="32" name="矩形 31"/>
          <p:cNvSpPr/>
          <p:nvPr/>
        </p:nvSpPr>
        <p:spPr>
          <a:xfrm>
            <a:off x="4698081" y="3454612"/>
            <a:ext cx="1451581"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数字量</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37" name="矩形 36"/>
          <p:cNvSpPr/>
          <p:nvPr/>
        </p:nvSpPr>
        <p:spPr>
          <a:xfrm>
            <a:off x="8852346" y="3461593"/>
            <a:ext cx="115676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Normal" panose="020B0400000000000000" pitchFamily="34" charset="-122"/>
                <a:ea typeface="思源黑体 CN Normal" panose="020B0400000000000000" pitchFamily="34" charset="-122"/>
              </a:rPr>
              <a:t>模拟控制</a:t>
            </a:r>
            <a:endParaRPr lang="en-US" altLang="zh-CN">
              <a:latin typeface="思源黑体 CN Normal" panose="020B0400000000000000" pitchFamily="34" charset="-122"/>
              <a:ea typeface="思源黑体 CN Normal" panose="020B0400000000000000" pitchFamily="34" charset="-122"/>
            </a:endParaRPr>
          </a:p>
          <a:p>
            <a:pPr algn="ctr"/>
            <a:r>
              <a:rPr lang="zh-CN" altLang="en-US">
                <a:latin typeface="思源黑体 CN Normal" panose="020B0400000000000000" pitchFamily="34" charset="-122"/>
                <a:ea typeface="思源黑体 CN Normal" panose="020B0400000000000000" pitchFamily="34" charset="-122"/>
              </a:rPr>
              <a:t>系统</a:t>
            </a:r>
            <a:endParaRPr lang="zh-CN" altLang="en-US">
              <a:latin typeface="思源黑体 CN Normal" panose="020B0400000000000000" pitchFamily="34" charset="-122"/>
              <a:ea typeface="思源黑体 CN Normal" panose="020B0400000000000000" pitchFamily="34" charset="-122"/>
            </a:endParaRPr>
          </a:p>
        </p:txBody>
      </p:sp>
      <p:sp>
        <p:nvSpPr>
          <p:cNvPr id="38" name="矩形 37"/>
          <p:cNvSpPr/>
          <p:nvPr/>
        </p:nvSpPr>
        <p:spPr>
          <a:xfrm>
            <a:off x="7149634" y="3454612"/>
            <a:ext cx="963038" cy="622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思源黑体 CN Normal" panose="020B0400000000000000" pitchFamily="34" charset="-122"/>
                <a:ea typeface="思源黑体 CN Normal" panose="020B0400000000000000" pitchFamily="34" charset="-122"/>
              </a:rPr>
              <a:t>DAC</a:t>
            </a:r>
            <a:endParaRPr lang="zh-CN" altLang="en-US">
              <a:latin typeface="思源黑体 CN Normal" panose="020B0400000000000000" pitchFamily="34" charset="-122"/>
              <a:ea typeface="思源黑体 CN Normal" panose="020B0400000000000000" pitchFamily="34" charset="-122"/>
            </a:endParaRPr>
          </a:p>
        </p:txBody>
      </p:sp>
      <p:cxnSp>
        <p:nvCxnSpPr>
          <p:cNvPr id="39" name="直接箭头连接符 38"/>
          <p:cNvCxnSpPr/>
          <p:nvPr/>
        </p:nvCxnSpPr>
        <p:spPr>
          <a:xfrm flipV="1">
            <a:off x="4748037" y="3798307"/>
            <a:ext cx="658096"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6450749" y="3786645"/>
            <a:ext cx="658096"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8153461" y="3786645"/>
            <a:ext cx="658096" cy="652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6383054" y="3409992"/>
            <a:ext cx="1451581"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数字量</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45" name="矩形 44"/>
          <p:cNvSpPr/>
          <p:nvPr/>
        </p:nvSpPr>
        <p:spPr>
          <a:xfrm>
            <a:off x="8068027" y="3425781"/>
            <a:ext cx="190029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电信号</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46" name="矩形 45"/>
          <p:cNvSpPr/>
          <p:nvPr/>
        </p:nvSpPr>
        <p:spPr>
          <a:xfrm>
            <a:off x="3706003" y="4784836"/>
            <a:ext cx="5187959" cy="369332"/>
          </a:xfrm>
          <a:prstGeom prst="rect">
            <a:avLst/>
          </a:prstGeom>
        </p:spPr>
        <p:txBody>
          <a:bodyPr wrap="square">
            <a:spAutoFit/>
          </a:bodyPr>
          <a:lstStyle/>
          <a:p>
            <a:r>
              <a:rPr lang="en-US" altLang="zh-CN">
                <a:solidFill>
                  <a:srgbClr val="FF0000"/>
                </a:solidFill>
                <a:latin typeface="思源黑体 CN Normal" panose="020B0400000000000000" pitchFamily="34" charset="-122"/>
                <a:ea typeface="思源黑体 CN Normal" panose="020B0400000000000000" pitchFamily="34" charset="-122"/>
              </a:rPr>
              <a:t>ADC</a:t>
            </a:r>
            <a:r>
              <a:rPr lang="zh-CN" altLang="en-US">
                <a:solidFill>
                  <a:srgbClr val="FF0000"/>
                </a:solidFill>
                <a:latin typeface="思源黑体 CN Normal" panose="020B0400000000000000" pitchFamily="34" charset="-122"/>
                <a:ea typeface="思源黑体 CN Normal" panose="020B0400000000000000" pitchFamily="34" charset="-122"/>
              </a:rPr>
              <a:t>和</a:t>
            </a:r>
            <a:r>
              <a:rPr lang="en-US" altLang="zh-CN">
                <a:solidFill>
                  <a:srgbClr val="FF0000"/>
                </a:solidFill>
                <a:latin typeface="思源黑体 CN Normal" panose="020B0400000000000000" pitchFamily="34" charset="-122"/>
                <a:ea typeface="思源黑体 CN Normal" panose="020B0400000000000000" pitchFamily="34" charset="-122"/>
              </a:rPr>
              <a:t>DAC</a:t>
            </a:r>
            <a:r>
              <a:rPr lang="zh-CN" altLang="en-US">
                <a:solidFill>
                  <a:srgbClr val="FF0000"/>
                </a:solidFill>
                <a:latin typeface="思源黑体 CN Normal" panose="020B0400000000000000" pitchFamily="34" charset="-122"/>
                <a:ea typeface="思源黑体 CN Normal" panose="020B0400000000000000" pitchFamily="34" charset="-122"/>
              </a:rPr>
              <a:t>是模拟电路与数字电路之间的桥梁</a:t>
            </a:r>
            <a:endParaRPr lang="zh-CN" altLang="en-US" dirty="0">
              <a:solidFill>
                <a:srgbClr val="FF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500"/>
                                        <p:tgtEl>
                                          <p:spTgt spid="3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fade">
                                      <p:cBhvr>
                                        <p:cTn id="64" dur="5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1" grpId="0" bldLvl="0" animBg="1"/>
      <p:bldP spid="34" grpId="0" bldLvl="0" animBg="1"/>
      <p:bldP spid="42" grpId="0"/>
      <p:bldP spid="22" grpId="0" bldLvl="0" animBg="1"/>
      <p:bldP spid="32" grpId="0"/>
      <p:bldP spid="37" grpId="0" bldLvl="0" animBg="1"/>
      <p:bldP spid="38" grpId="0" bldLvl="0" animBg="1"/>
      <p:bldP spid="44" grpId="0"/>
      <p:bldP spid="45" grpId="0"/>
      <p:bldP spid="4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39"/>
          <p:cNvSpPr>
            <a:spLocks noChangeArrowheads="1"/>
          </p:cNvSpPr>
          <p:nvPr/>
        </p:nvSpPr>
        <p:spPr bwMode="auto">
          <a:xfrm>
            <a:off x="1566309" y="120773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DAC</a:t>
            </a:r>
            <a:r>
              <a:rPr lang="zh-CN" altLang="en-US" sz="2000" b="1">
                <a:solidFill>
                  <a:srgbClr val="002060"/>
                </a:solidFill>
                <a:latin typeface="思源黑体 CN Bold" pitchFamily="34" charset="-122"/>
                <a:ea typeface="思源黑体 CN Bold" pitchFamily="34" charset="-122"/>
              </a:rPr>
              <a:t>的特性参数</a:t>
            </a:r>
            <a:endParaRPr lang="en-US" altLang="zh-CN" sz="2000" b="1" dirty="0">
              <a:solidFill>
                <a:srgbClr val="002060"/>
              </a:solidFill>
              <a:latin typeface="思源黑体 CN Bold" pitchFamily="34" charset="-122"/>
              <a:ea typeface="思源黑体 CN Bold" pitchFamily="34" charset="-122"/>
            </a:endParaRPr>
          </a:p>
        </p:txBody>
      </p:sp>
      <p:sp>
        <p:nvSpPr>
          <p:cNvPr id="22" name="圆角矩形 27"/>
          <p:cNvSpPr/>
          <p:nvPr/>
        </p:nvSpPr>
        <p:spPr>
          <a:xfrm>
            <a:off x="2027906" y="2287289"/>
            <a:ext cx="129368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分辨率</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23" name="矩形 22"/>
          <p:cNvSpPr/>
          <p:nvPr/>
        </p:nvSpPr>
        <p:spPr>
          <a:xfrm>
            <a:off x="3321595" y="2307567"/>
            <a:ext cx="6740236" cy="338554"/>
          </a:xfrm>
          <a:prstGeom prst="rect">
            <a:avLst/>
          </a:prstGeom>
          <a:noFill/>
        </p:spPr>
        <p:txBody>
          <a:bodyPr wrap="square" rtlCol="0">
            <a:spAutoFit/>
          </a:bodyPr>
          <a:lstStyle/>
          <a:p>
            <a:r>
              <a:rPr lang="zh-CN" altLang="en-US" sz="1600" dirty="0">
                <a:solidFill>
                  <a:srgbClr val="002060"/>
                </a:solidFill>
                <a:latin typeface="思源黑体 CN Normal" panose="020B0400000000000000" pitchFamily="34" charset="-122"/>
                <a:ea typeface="思源黑体 CN Normal" panose="020B0400000000000000" pitchFamily="34" charset="-122"/>
              </a:rPr>
              <a:t>表示模拟电压的最小增量，常用二进制位数表示，比如：</a:t>
            </a:r>
            <a:r>
              <a:rPr lang="en-US" altLang="zh-CN" sz="1600" dirty="0">
                <a:solidFill>
                  <a:srgbClr val="002060"/>
                </a:solidFill>
                <a:latin typeface="思源黑体 CN Normal" panose="020B0400000000000000" pitchFamily="34" charset="-122"/>
                <a:ea typeface="思源黑体 CN Normal" panose="020B0400000000000000" pitchFamily="34" charset="-122"/>
              </a:rPr>
              <a:t>8</a:t>
            </a:r>
            <a:r>
              <a:rPr lang="zh-CN" altLang="en-US" sz="1600" dirty="0">
                <a:solidFill>
                  <a:srgbClr val="002060"/>
                </a:solidFill>
                <a:latin typeface="思源黑体 CN Normal" panose="020B0400000000000000" pitchFamily="34" charset="-122"/>
                <a:ea typeface="思源黑体 CN Normal" panose="020B0400000000000000" pitchFamily="34" charset="-122"/>
              </a:rPr>
              <a:t>、</a:t>
            </a:r>
            <a:r>
              <a:rPr lang="en-US" altLang="zh-CN" sz="1600" dirty="0">
                <a:solidFill>
                  <a:srgbClr val="002060"/>
                </a:solidFill>
                <a:latin typeface="思源黑体 CN Normal" panose="020B0400000000000000" pitchFamily="34" charset="-122"/>
                <a:ea typeface="思源黑体 CN Normal" panose="020B0400000000000000" pitchFamily="34" charset="-122"/>
              </a:rPr>
              <a:t>12</a:t>
            </a:r>
            <a:r>
              <a:rPr lang="zh-CN" altLang="en-US" sz="1600" dirty="0">
                <a:solidFill>
                  <a:srgbClr val="002060"/>
                </a:solidFill>
                <a:latin typeface="思源黑体 CN Normal" panose="020B0400000000000000" pitchFamily="34" charset="-122"/>
                <a:ea typeface="思源黑体 CN Normal" panose="020B0400000000000000" pitchFamily="34" charset="-122"/>
              </a:rPr>
              <a:t>位等</a:t>
            </a:r>
            <a:endParaRPr lang="zh-CN" altLang="en-US"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26" name="矩形 25"/>
          <p:cNvSpPr/>
          <p:nvPr/>
        </p:nvSpPr>
        <p:spPr>
          <a:xfrm>
            <a:off x="3321596" y="2985713"/>
            <a:ext cx="6664118" cy="338554"/>
          </a:xfrm>
          <a:prstGeom prst="rect">
            <a:avLst/>
          </a:prstGeom>
        </p:spPr>
        <p:txBody>
          <a:bodyPr wrap="square">
            <a:spAutoFit/>
          </a:bodyPr>
          <a:lstStyle/>
          <a:p>
            <a:r>
              <a:rPr lang="zh-CN" altLang="en-US" sz="1600">
                <a:solidFill>
                  <a:srgbClr val="002060"/>
                </a:solidFill>
                <a:latin typeface="思源黑体 CN Normal" panose="020B0400000000000000" pitchFamily="34" charset="-122"/>
                <a:ea typeface="思源黑体 CN Normal" panose="020B0400000000000000" pitchFamily="34" charset="-122"/>
              </a:rPr>
              <a:t>表示将一个数字量转换为稳定模拟信号所需的时间</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30" name="圆角矩形 39"/>
          <p:cNvSpPr/>
          <p:nvPr/>
        </p:nvSpPr>
        <p:spPr>
          <a:xfrm>
            <a:off x="2027906" y="2961606"/>
            <a:ext cx="1293689"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建立时间</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33" name="圆角矩形 46"/>
          <p:cNvSpPr/>
          <p:nvPr/>
        </p:nvSpPr>
        <p:spPr>
          <a:xfrm>
            <a:off x="2027905" y="3673436"/>
            <a:ext cx="1293691" cy="3693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精度</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34" name="矩形 33"/>
          <p:cNvSpPr/>
          <p:nvPr/>
        </p:nvSpPr>
        <p:spPr>
          <a:xfrm>
            <a:off x="3337392" y="3629787"/>
            <a:ext cx="4955096" cy="792718"/>
          </a:xfrm>
          <a:prstGeom prst="rect">
            <a:avLst/>
          </a:prstGeom>
          <a:noFill/>
        </p:spPr>
        <p:txBody>
          <a:bodyPr wrap="square" rtlCol="0">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转换器实际特性曲线与理想特性曲线之间的最大偏差</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误差源：比例系统误差、失调误差、非线性误差</a:t>
            </a:r>
            <a:endParaRPr lang="zh-CN" altLang="en-US" sz="1600">
              <a:solidFill>
                <a:srgbClr val="002060"/>
              </a:solidFill>
              <a:latin typeface="思源黑体 CN Normal" panose="020B0400000000000000" pitchFamily="34" charset="-122"/>
              <a:ea typeface="思源黑体 CN Normal" panose="020B0400000000000000" pitchFamily="34" charset="-122"/>
            </a:endParaRPr>
          </a:p>
        </p:txBody>
      </p:sp>
      <p:sp>
        <p:nvSpPr>
          <p:cNvPr id="27" name="矩形 26"/>
          <p:cNvSpPr/>
          <p:nvPr/>
        </p:nvSpPr>
        <p:spPr>
          <a:xfrm>
            <a:off x="3337392" y="4422505"/>
            <a:ext cx="6038173" cy="338554"/>
          </a:xfrm>
          <a:prstGeom prst="rect">
            <a:avLst/>
          </a:prstGeom>
          <a:noFill/>
        </p:spPr>
        <p:txBody>
          <a:bodyPr wrap="square" rtlCol="0">
            <a:spAutoFit/>
          </a:bodyPr>
          <a:lstStyle/>
          <a:p>
            <a:r>
              <a:rPr lang="zh-CN" altLang="en-US" sz="1600" b="1">
                <a:solidFill>
                  <a:srgbClr val="FF0000"/>
                </a:solidFill>
                <a:latin typeface="思源黑体 CN Normal" panose="020B0400000000000000" pitchFamily="34" charset="-122"/>
                <a:ea typeface="思源黑体 CN Normal" panose="020B0400000000000000" pitchFamily="34" charset="-122"/>
              </a:rPr>
              <a:t>原因：元件参数误差、基准电压不稳定、运算放大器零漂等</a:t>
            </a:r>
            <a:endParaRPr lang="zh-CN" altLang="en-US" sz="1600" b="1">
              <a:solidFill>
                <a:srgbClr val="FF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p:bldP spid="26" grpId="0"/>
      <p:bldP spid="30" grpId="0" bldLvl="0" animBg="1"/>
      <p:bldP spid="33" grpId="0" bldLvl="0" animBg="1"/>
      <p:bldP spid="34" grpId="0"/>
      <p:bldP spid="2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1415222" y="1851189"/>
          <a:ext cx="8726555" cy="3678936"/>
        </p:xfrm>
        <a:graphic>
          <a:graphicData uri="http://schemas.openxmlformats.org/drawingml/2006/table">
            <a:tbl>
              <a:tblPr firstRow="1" firstCol="1" bandRow="1">
                <a:tableStyleId>{69012ECD-51FC-41F1-AA8D-1B2483CD663E}</a:tableStyleId>
              </a:tblPr>
              <a:tblGrid>
                <a:gridCol w="1745311"/>
                <a:gridCol w="1745311"/>
                <a:gridCol w="1745311"/>
                <a:gridCol w="1641945"/>
                <a:gridCol w="103366"/>
                <a:gridCol w="1745311"/>
              </a:tblGrid>
              <a:tr h="137795">
                <a:tc>
                  <a:txBody>
                    <a:bodyPr/>
                    <a:lstStyle/>
                    <a:p>
                      <a:pPr indent="127000" algn="ctr">
                        <a:lnSpc>
                          <a:spcPct val="150000"/>
                        </a:lnSpc>
                        <a:spcAft>
                          <a:spcPts val="0"/>
                        </a:spcAft>
                      </a:pPr>
                      <a:r>
                        <a:rPr lang="zh-CN" altLang="en-US" sz="1600" kern="100">
                          <a:effectLst/>
                          <a:latin typeface="思源黑体 CN Normal" panose="020B0400000000000000" pitchFamily="34" charset="-122"/>
                          <a:ea typeface="思源黑体 CN Normal" panose="020B0400000000000000" pitchFamily="34" charset="-122"/>
                        </a:rPr>
                        <a:t>主要特性</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dirty="0">
                          <a:effectLst/>
                          <a:latin typeface="思源黑体 CN Normal" panose="020B0400000000000000" pitchFamily="34" charset="-122"/>
                          <a:ea typeface="思源黑体 CN Normal" panose="020B0400000000000000" pitchFamily="34" charset="-122"/>
                        </a:rPr>
                        <a:t>F1</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dirty="0">
                          <a:effectLst/>
                          <a:latin typeface="思源黑体 CN Normal" panose="020B0400000000000000" pitchFamily="34" charset="-122"/>
                          <a:ea typeface="思源黑体 CN Normal" panose="020B0400000000000000" pitchFamily="34" charset="-122"/>
                        </a:rPr>
                        <a:t>F4</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dirty="0">
                          <a:effectLst/>
                          <a:latin typeface="思源黑体 CN Normal" panose="020B0400000000000000" pitchFamily="34" charset="-122"/>
                          <a:ea typeface="思源黑体 CN Normal" panose="020B0400000000000000" pitchFamily="34" charset="-122"/>
                        </a:rPr>
                        <a:t>F7</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indent="127000" algn="ctr">
                        <a:lnSpc>
                          <a:spcPct val="150000"/>
                        </a:lnSpc>
                        <a:spcAft>
                          <a:spcPts val="0"/>
                        </a:spcAft>
                      </a:pPr>
                      <a:r>
                        <a:rPr lang="en-US" altLang="zh-CN" sz="1600" kern="100" dirty="0">
                          <a:effectLst/>
                          <a:latin typeface="思源黑体 CN Normal" panose="020B0400000000000000" pitchFamily="34" charset="-122"/>
                          <a:ea typeface="思源黑体 CN Normal" panose="020B0400000000000000" pitchFamily="34" charset="-122"/>
                        </a:rPr>
                        <a:t>H7</a:t>
                      </a:r>
                      <a:endParaRPr lang="zh-CN" sz="160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137795">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DAC</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输出类型</a:t>
                      </a:r>
                      <a:endParaRPr lang="zh-CN" alt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电压输出型</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137795">
                <a:tc>
                  <a:txBody>
                    <a:bodyPr/>
                    <a:lstStyle/>
                    <a:p>
                      <a:pPr indent="127000" algn="ctr">
                        <a:lnSpc>
                          <a:spcPct val="150000"/>
                        </a:lnSpc>
                        <a:spcAft>
                          <a:spcPts val="0"/>
                        </a:spcAft>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分辨率</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8/12</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位</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137795">
                <a:tc>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DAC</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时钟频率</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27000" algn="ctr">
                        <a:lnSpc>
                          <a:spcPct val="150000"/>
                        </a:lnSpc>
                        <a:spcAft>
                          <a:spcPts val="0"/>
                        </a:spcAft>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36MHz(APB1)</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42MHz(APB1)</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45MHz(APB1)</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54MHz(APB1)</a:t>
                      </a:r>
                      <a:endParaRPr lang="zh-CN" altLang="zh-CN" sz="1600" kern="10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127000" algn="ctr" defTabSz="685800" rtl="0" eaLnBrk="1" fontAlgn="auto" latinLnBrk="0" hangingPunct="1">
                        <a:lnSpc>
                          <a:spcPct val="150000"/>
                        </a:lnSpc>
                        <a:spcBef>
                          <a:spcPts val="0"/>
                        </a:spcBef>
                        <a:spcAft>
                          <a:spcPts val="0"/>
                        </a:spcAft>
                        <a:buClrTx/>
                        <a:buSzTx/>
                        <a:buFontTx/>
                        <a:buNone/>
                        <a:defRPr/>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120MHz(APB1)</a:t>
                      </a:r>
                      <a:endParaRPr lang="zh-CN"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建立时间</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3us</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tc>
                <a:tc>
                  <a:txBody>
                    <a:bodyPr/>
                    <a:lstStyle/>
                    <a:p>
                      <a:pPr indent="127000" algn="ctr">
                        <a:lnSpc>
                          <a:spcPct val="150000"/>
                        </a:lnSpc>
                        <a:spcAft>
                          <a:spcPts val="0"/>
                        </a:spcAft>
                      </a:pP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1.7us</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供电电压</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indent="127000" algn="ctr">
                        <a:lnSpc>
                          <a:spcPct val="150000"/>
                        </a:lnSpc>
                        <a:spcAft>
                          <a:spcPts val="0"/>
                        </a:spcAft>
                      </a:pPr>
                      <a:r>
                        <a:rPr lang="en-US" altLang="zh-CN" sz="160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kern="1200" baseline="-25000">
                          <a:solidFill>
                            <a:srgbClr val="002060"/>
                          </a:solidFill>
                          <a:effectLst/>
                          <a:latin typeface="思源黑体 CN Normal" panose="020B0400000000000000" pitchFamily="34" charset="-122"/>
                          <a:ea typeface="思源黑体 CN Normal" panose="020B0400000000000000" pitchFamily="34" charset="-122"/>
                          <a:cs typeface="+mn-cs"/>
                        </a:rPr>
                        <a:t>SSA </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0V</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kern="1200" baseline="-25000">
                          <a:solidFill>
                            <a:srgbClr val="002060"/>
                          </a:solidFill>
                          <a:effectLst/>
                          <a:latin typeface="思源黑体 CN Normal" panose="020B0400000000000000" pitchFamily="34" charset="-122"/>
                          <a:ea typeface="思源黑体 CN Normal" panose="020B0400000000000000" pitchFamily="34" charset="-122"/>
                          <a:cs typeface="+mn-cs"/>
                        </a:rPr>
                        <a:t>DDA </a:t>
                      </a: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a:solidFill>
                            <a:srgbClr val="002060"/>
                          </a:solidFill>
                          <a:effectLst/>
                          <a:latin typeface="思源黑体 CN Normal" panose="020B0400000000000000" pitchFamily="34" charset="-122"/>
                          <a:ea typeface="思源黑体 CN Normal" panose="020B0400000000000000" pitchFamily="34" charset="-122"/>
                        </a:rPr>
                        <a:t>2.4V~3.6V</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r>
              <a:tr h="137795">
                <a:tc>
                  <a:txBody>
                    <a:bodyPr/>
                    <a:lstStyle/>
                    <a:p>
                      <a:pPr indent="127000" algn="ctr">
                        <a:lnSpc>
                          <a:spcPct val="150000"/>
                        </a:lnSpc>
                        <a:spcAft>
                          <a:spcPts val="0"/>
                        </a:spcAft>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参考电压</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indent="127000" algn="ctr">
                        <a:lnSpc>
                          <a:spcPct val="150000"/>
                        </a:lnSpc>
                        <a:spcAft>
                          <a:spcPts val="0"/>
                        </a:spcAft>
                      </a:pPr>
                      <a:r>
                        <a:rPr lang="en-US" altLang="zh-CN" sz="1600" b="0">
                          <a:solidFill>
                            <a:srgbClr val="002060"/>
                          </a:solidFill>
                          <a:latin typeface="思源黑体 CN Normal" panose="020B0400000000000000" pitchFamily="34" charset="-122"/>
                          <a:ea typeface="思源黑体 CN Normal" panose="020B0400000000000000" pitchFamily="34" charset="-122"/>
                        </a:rPr>
                        <a:t>V</a:t>
                      </a:r>
                      <a:r>
                        <a:rPr lang="en-US" altLang="zh-CN" sz="1600" b="0" baseline="-25000">
                          <a:solidFill>
                            <a:srgbClr val="002060"/>
                          </a:solidFill>
                          <a:latin typeface="思源黑体 CN Normal" panose="020B0400000000000000" pitchFamily="34" charset="-122"/>
                          <a:ea typeface="思源黑体 CN Normal" panose="020B0400000000000000" pitchFamily="34" charset="-122"/>
                        </a:rPr>
                        <a:t>REF</a:t>
                      </a:r>
                      <a:r>
                        <a:rPr lang="zh-CN" altLang="zh-CN" sz="1600" b="0" baseline="-25000">
                          <a:solidFill>
                            <a:srgbClr val="002060"/>
                          </a:solidFill>
                          <a:latin typeface="思源黑体 CN Normal" panose="020B0400000000000000" pitchFamily="34" charset="-122"/>
                          <a:ea typeface="思源黑体 CN Normal" panose="020B0400000000000000" pitchFamily="34" charset="-122"/>
                        </a:rPr>
                        <a:t>–</a:t>
                      </a:r>
                      <a:r>
                        <a:rPr lang="en-US" altLang="zh-CN" sz="1600" b="0" baseline="-25000">
                          <a:solidFill>
                            <a:srgbClr val="002060"/>
                          </a:solidFill>
                          <a:latin typeface="思源黑体 CN Normal" panose="020B0400000000000000" pitchFamily="34" charset="-122"/>
                          <a:ea typeface="思源黑体 CN Normal" panose="020B0400000000000000" pitchFamily="34" charset="-122"/>
                        </a:rPr>
                        <a:t> </a:t>
                      </a:r>
                      <a:r>
                        <a:rPr lang="zh-CN" altLang="en-US" sz="1600" b="0" kern="1200">
                          <a:solidFill>
                            <a:srgbClr val="002060"/>
                          </a:solidFill>
                          <a:effectLst/>
                          <a:latin typeface="思源黑体 CN Normal" panose="020B0400000000000000" pitchFamily="34" charset="-122"/>
                          <a:ea typeface="思源黑体 CN Normal" panose="020B0400000000000000" pitchFamily="34" charset="-122"/>
                          <a:cs typeface="+mn-cs"/>
                        </a:rPr>
                        <a:t>：</a:t>
                      </a:r>
                      <a:r>
                        <a:rPr lang="en-US" altLang="zh-CN" sz="1600" b="0" kern="1200">
                          <a:solidFill>
                            <a:srgbClr val="002060"/>
                          </a:solidFill>
                          <a:effectLst/>
                          <a:latin typeface="思源黑体 CN Normal" panose="020B0400000000000000" pitchFamily="34" charset="-122"/>
                          <a:ea typeface="思源黑体 CN Normal" panose="020B0400000000000000" pitchFamily="34" charset="-122"/>
                          <a:cs typeface="+mn-cs"/>
                        </a:rPr>
                        <a:t>0V</a:t>
                      </a:r>
                      <a:r>
                        <a:rPr lang="zh-CN" altLang="en-US" sz="1600" b="0" kern="1200">
                          <a:solidFill>
                            <a:srgbClr val="002060"/>
                          </a:solidFill>
                          <a:effectLst/>
                          <a:latin typeface="思源黑体 CN Normal" panose="020B0400000000000000" pitchFamily="34" charset="-122"/>
                          <a:ea typeface="思源黑体 CN Normal" panose="020B0400000000000000" pitchFamily="34" charset="-122"/>
                          <a:cs typeface="+mn-cs"/>
                        </a:rPr>
                        <a:t>，</a:t>
                      </a:r>
                      <a:r>
                        <a:rPr lang="en-US" altLang="zh-CN" sz="1600" b="0" kern="1200">
                          <a:solidFill>
                            <a:srgbClr val="002060"/>
                          </a:solidFill>
                          <a:effectLst/>
                          <a:latin typeface="思源黑体 CN Normal" panose="020B0400000000000000" pitchFamily="34" charset="-122"/>
                          <a:ea typeface="思源黑体 CN Normal" panose="020B0400000000000000" pitchFamily="34" charset="-122"/>
                          <a:cs typeface="+mn-cs"/>
                        </a:rPr>
                        <a:t>V</a:t>
                      </a:r>
                      <a:r>
                        <a:rPr lang="en-US" altLang="zh-CN" sz="1600" b="0" kern="1200" baseline="-25000">
                          <a:solidFill>
                            <a:srgbClr val="002060"/>
                          </a:solidFill>
                          <a:effectLst/>
                          <a:latin typeface="思源黑体 CN Normal" panose="020B0400000000000000" pitchFamily="34" charset="-122"/>
                          <a:ea typeface="思源黑体 CN Normal" panose="020B0400000000000000" pitchFamily="34" charset="-122"/>
                          <a:cs typeface="+mn-cs"/>
                        </a:rPr>
                        <a:t>REF+</a:t>
                      </a:r>
                      <a:r>
                        <a:rPr lang="zh-CN" altLang="en-US" sz="1600" b="0">
                          <a:solidFill>
                            <a:srgbClr val="002060"/>
                          </a:solidFill>
                          <a:latin typeface="思源黑体 CN Normal" panose="020B0400000000000000" pitchFamily="34" charset="-122"/>
                          <a:ea typeface="思源黑体 CN Normal" panose="020B0400000000000000" pitchFamily="34" charset="-122"/>
                        </a:rPr>
                        <a:t>一般为</a:t>
                      </a:r>
                      <a:r>
                        <a:rPr lang="en-US" altLang="zh-CN" sz="1600" b="0">
                          <a:solidFill>
                            <a:srgbClr val="002060"/>
                          </a:solidFill>
                          <a:latin typeface="思源黑体 CN Normal" panose="020B0400000000000000" pitchFamily="34" charset="-122"/>
                          <a:ea typeface="思源黑体 CN Normal" panose="020B0400000000000000" pitchFamily="34" charset="-122"/>
                        </a:rPr>
                        <a:t>3.3V</a:t>
                      </a:r>
                      <a:endParaRPr lang="zh-CN" sz="1600" b="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137795">
                <a:tc>
                  <a:txBody>
                    <a:bodyPr/>
                    <a:lstStyle/>
                    <a:p>
                      <a:pPr indent="127000" algn="ctr">
                        <a:lnSpc>
                          <a:spcPct val="150000"/>
                        </a:lnSpc>
                        <a:spcAft>
                          <a:spcPts val="0"/>
                        </a:spcAft>
                      </a:pPr>
                      <a:r>
                        <a:rPr lang="zh-CN" altLang="en-US" sz="1600" kern="100">
                          <a:solidFill>
                            <a:srgbClr val="002060"/>
                          </a:solidFill>
                          <a:effectLst/>
                          <a:latin typeface="思源黑体 CN Normal" panose="020B0400000000000000" pitchFamily="34" charset="-122"/>
                          <a:ea typeface="思源黑体 CN Normal" panose="020B0400000000000000" pitchFamily="34" charset="-122"/>
                        </a:rPr>
                        <a:t>输出通道</a:t>
                      </a:r>
                      <a:endParaRPr 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indent="127000" algn="ctr">
                        <a:lnSpc>
                          <a:spcPct val="150000"/>
                        </a:lnSpc>
                        <a:spcAft>
                          <a:spcPts val="0"/>
                        </a:spcAft>
                      </a:pP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DAC_OUT1</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PA4</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DAC_OUT2</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PA5</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a:t>
                      </a:r>
                      <a:endParaRPr lang="en-US"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p>
                      <a:pPr marL="0" marR="0" lvl="0" indent="127000" algn="ctr" defTabSz="685800" rtl="0" eaLnBrk="1" fontAlgn="auto" latinLnBrk="0" hangingPunct="1">
                        <a:lnSpc>
                          <a:spcPct val="150000"/>
                        </a:lnSpc>
                        <a:spcBef>
                          <a:spcPts val="0"/>
                        </a:spcBef>
                        <a:spcAft>
                          <a:spcPts val="0"/>
                        </a:spcAft>
                        <a:buClrTx/>
                        <a:buSzTx/>
                        <a:buFontTx/>
                        <a:buNone/>
                        <a:defRPr/>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为了避免寄生电流消耗，</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PA4</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和</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PA5</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配置为模拟功能</a:t>
                      </a:r>
                      <a:endParaRPr lang="en-US"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p>
                      <a:pPr indent="127000" algn="ctr">
                        <a:lnSpc>
                          <a:spcPct val="150000"/>
                        </a:lnSpc>
                        <a:spcAft>
                          <a:spcPts val="0"/>
                        </a:spcAft>
                      </a:pP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每个通道都有单独的转换器，可同时或单独转换，每个通道都有</a:t>
                      </a:r>
                      <a:r>
                        <a:rPr lang="en-US" altLang="zh-CN" sz="1600" kern="100" dirty="0">
                          <a:solidFill>
                            <a:srgbClr val="002060"/>
                          </a:solidFill>
                          <a:effectLst/>
                          <a:latin typeface="思源黑体 CN Normal" panose="020B0400000000000000" pitchFamily="34" charset="-122"/>
                          <a:ea typeface="思源黑体 CN Normal" panose="020B0400000000000000" pitchFamily="34" charset="-122"/>
                        </a:rPr>
                        <a:t>DMA</a:t>
                      </a:r>
                      <a:r>
                        <a:rPr lang="zh-CN" altLang="en-US" sz="1600" kern="100" dirty="0">
                          <a:solidFill>
                            <a:srgbClr val="002060"/>
                          </a:solidFill>
                          <a:effectLst/>
                          <a:latin typeface="思源黑体 CN Normal" panose="020B0400000000000000" pitchFamily="34" charset="-122"/>
                          <a:ea typeface="思源黑体 CN Normal" panose="020B0400000000000000" pitchFamily="34" charset="-122"/>
                        </a:rPr>
                        <a:t>功能</a:t>
                      </a:r>
                      <a:endParaRPr lang="en-US" altLang="zh-CN" sz="1600" kern="100" dirty="0">
                        <a:solidFill>
                          <a:srgbClr val="002060"/>
                        </a:solidFill>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hMerge="1">
                  <a:tcPr/>
                </a:tc>
                <a:tc hMerge="1">
                  <a:tcPr/>
                </a:tc>
                <a:tc hMerge="1">
                  <a:tcPr/>
                </a:tc>
              </a:tr>
            </a:tbl>
          </a:graphicData>
        </a:graphic>
      </p:graphicFrame>
      <p:sp>
        <p:nvSpPr>
          <p:cNvPr id="13" name="矩形 39"/>
          <p:cNvSpPr>
            <a:spLocks noChangeArrowheads="1"/>
          </p:cNvSpPr>
          <p:nvPr/>
        </p:nvSpPr>
        <p:spPr bwMode="auto">
          <a:xfrm>
            <a:off x="1586350" y="1302036"/>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STM32</a:t>
            </a:r>
            <a:r>
              <a:rPr lang="zh-CN" altLang="en-US" sz="2000" b="1">
                <a:solidFill>
                  <a:srgbClr val="002060"/>
                </a:solidFill>
                <a:latin typeface="思源黑体 CN Bold" pitchFamily="34" charset="-122"/>
                <a:ea typeface="思源黑体 CN Bold" pitchFamily="34" charset="-122"/>
              </a:rPr>
              <a:t>各系列</a:t>
            </a:r>
            <a:r>
              <a:rPr lang="en-US" altLang="zh-CN" sz="2000" b="1">
                <a:solidFill>
                  <a:srgbClr val="002060"/>
                </a:solidFill>
                <a:latin typeface="思源黑体 CN Bold" pitchFamily="34" charset="-122"/>
                <a:ea typeface="思源黑体 CN Bold" pitchFamily="34" charset="-122"/>
              </a:rPr>
              <a:t>DAC</a:t>
            </a:r>
            <a:r>
              <a:rPr lang="zh-CN" altLang="en-US" sz="2000" b="1">
                <a:solidFill>
                  <a:srgbClr val="002060"/>
                </a:solidFill>
                <a:latin typeface="思源黑体 CN Bold" pitchFamily="34" charset="-122"/>
                <a:ea typeface="思源黑体 CN Bold" pitchFamily="34" charset="-122"/>
              </a:rPr>
              <a:t>的主要特性</a:t>
            </a:r>
            <a:endParaRPr lang="en-US" altLang="zh-CN" sz="2000" b="1" dirty="0">
              <a:solidFill>
                <a:srgbClr val="002060"/>
              </a:solidFill>
              <a:latin typeface="思源黑体 CN Bold" pitchFamily="34" charset="-122"/>
              <a:ea typeface="思源黑体 CN Bold"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24336" y="1105257"/>
            <a:ext cx="6716346" cy="4760873"/>
          </a:xfrm>
          <a:prstGeom prst="rect">
            <a:avLst/>
          </a:prstGeom>
        </p:spPr>
      </p:pic>
      <p:sp>
        <p:nvSpPr>
          <p:cNvPr id="12" name="文本框 11"/>
          <p:cNvSpPr txBox="1"/>
          <p:nvPr/>
        </p:nvSpPr>
        <p:spPr>
          <a:xfrm>
            <a:off x="1772926" y="1803910"/>
            <a:ext cx="2857915" cy="3008709"/>
          </a:xfrm>
          <a:prstGeom prst="rect">
            <a:avLst/>
          </a:prstGeom>
          <a:noFill/>
        </p:spPr>
        <p:txBody>
          <a:bodyPr wrap="square" rtlCol="0">
            <a:spAutoFit/>
          </a:bodyPr>
          <a:lstStyle/>
          <a:p>
            <a:pPr>
              <a:lnSpc>
                <a:spcPct val="150000"/>
              </a:lnSpc>
            </a:pPr>
            <a:r>
              <a:rPr lang="en-US" altLang="zh-CN" sz="1600">
                <a:solidFill>
                  <a:srgbClr val="FF0000"/>
                </a:solidFill>
                <a:latin typeface="思源黑体 CN Normal" panose="020B0400000000000000" pitchFamily="34" charset="-122"/>
                <a:ea typeface="思源黑体 CN Normal" panose="020B0400000000000000" pitchFamily="34" charset="-122"/>
              </a:rPr>
              <a:t>①</a:t>
            </a:r>
            <a:r>
              <a:rPr lang="zh-CN" altLang="en-US" sz="1600">
                <a:solidFill>
                  <a:srgbClr val="002060"/>
                </a:solidFill>
                <a:latin typeface="思源黑体 CN Normal" panose="020B0400000000000000" pitchFamily="34" charset="-122"/>
                <a:ea typeface="思源黑体 CN Normal" panose="020B0400000000000000" pitchFamily="34" charset="-122"/>
              </a:rPr>
              <a:t>参考电压</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模拟部分电压</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②</a:t>
            </a:r>
            <a:r>
              <a:rPr lang="en-US" altLang="zh-CN" sz="1600">
                <a:solidFill>
                  <a:srgbClr val="002060"/>
                </a:solidFill>
                <a:latin typeface="思源黑体 CN Normal" panose="020B0400000000000000" pitchFamily="34" charset="-122"/>
                <a:ea typeface="思源黑体 CN Normal" panose="020B0400000000000000" pitchFamily="34" charset="-122"/>
              </a:rPr>
              <a:t>DA</a:t>
            </a:r>
            <a:r>
              <a:rPr lang="zh-CN" altLang="en-US" sz="1600">
                <a:solidFill>
                  <a:srgbClr val="002060"/>
                </a:solidFill>
                <a:latin typeface="思源黑体 CN Normal" panose="020B0400000000000000" pitchFamily="34" charset="-122"/>
                <a:ea typeface="思源黑体 CN Normal" panose="020B0400000000000000" pitchFamily="34" charset="-122"/>
              </a:rPr>
              <a:t>转换器</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③</a:t>
            </a:r>
            <a:r>
              <a:rPr lang="zh-CN" altLang="en-US" sz="1600">
                <a:solidFill>
                  <a:srgbClr val="002060"/>
                </a:solidFill>
                <a:latin typeface="思源黑体 CN Normal" panose="020B0400000000000000" pitchFamily="34" charset="-122"/>
                <a:ea typeface="思源黑体 CN Normal" panose="020B0400000000000000" pitchFamily="34" charset="-122"/>
              </a:rPr>
              <a:t>输出通道</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④</a:t>
            </a:r>
            <a:r>
              <a:rPr lang="zh-CN" altLang="en-US" sz="1600">
                <a:solidFill>
                  <a:srgbClr val="002060"/>
                </a:solidFill>
                <a:latin typeface="思源黑体 CN Normal" panose="020B0400000000000000" pitchFamily="34" charset="-122"/>
                <a:ea typeface="思源黑体 CN Normal" panose="020B0400000000000000" pitchFamily="34" charset="-122"/>
              </a:rPr>
              <a:t>数据输出寄存器</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⑤</a:t>
            </a:r>
            <a:r>
              <a:rPr lang="zh-CN" altLang="en-US" sz="1600">
                <a:solidFill>
                  <a:srgbClr val="002060"/>
                </a:solidFill>
                <a:latin typeface="思源黑体 CN Normal" panose="020B0400000000000000" pitchFamily="34" charset="-122"/>
                <a:ea typeface="思源黑体 CN Normal" panose="020B0400000000000000" pitchFamily="34" charset="-122"/>
              </a:rPr>
              <a:t>数据保持寄存器</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⑥</a:t>
            </a:r>
            <a:r>
              <a:rPr lang="zh-CN" altLang="en-US" sz="1600">
                <a:solidFill>
                  <a:srgbClr val="002060"/>
                </a:solidFill>
                <a:latin typeface="思源黑体 CN Normal" panose="020B0400000000000000" pitchFamily="34" charset="-122"/>
                <a:ea typeface="思源黑体 CN Normal" panose="020B0400000000000000" pitchFamily="34" charset="-122"/>
              </a:rPr>
              <a:t>控制逻辑</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噪声波</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三角波</a:t>
            </a:r>
            <a:r>
              <a:rPr lang="en-US" altLang="zh-CN" sz="1600">
                <a:solidFill>
                  <a:srgbClr val="002060"/>
                </a:solidFill>
                <a:latin typeface="思源黑体 CN Normal" panose="020B0400000000000000" pitchFamily="34" charset="-122"/>
                <a:ea typeface="思源黑体 CN Normal" panose="020B0400000000000000" pitchFamily="34" charset="-122"/>
              </a:rPr>
              <a:t>)</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FF0000"/>
                </a:solidFill>
                <a:latin typeface="思源黑体 CN Normal" panose="020B0400000000000000" pitchFamily="34" charset="-122"/>
                <a:ea typeface="思源黑体 CN Normal" panose="020B0400000000000000" pitchFamily="34" charset="-122"/>
              </a:rPr>
              <a:t>⑦</a:t>
            </a:r>
            <a:r>
              <a:rPr lang="en-US" altLang="zh-CN" sz="1600">
                <a:solidFill>
                  <a:srgbClr val="002060"/>
                </a:solidFill>
                <a:latin typeface="思源黑体 CN Normal" panose="020B0400000000000000" pitchFamily="34" charset="-122"/>
                <a:ea typeface="思源黑体 CN Normal" panose="020B0400000000000000" pitchFamily="34" charset="-122"/>
              </a:rPr>
              <a:t>DAC</a:t>
            </a:r>
            <a:r>
              <a:rPr lang="zh-CN" altLang="en-US" sz="1600">
                <a:solidFill>
                  <a:srgbClr val="002060"/>
                </a:solidFill>
                <a:latin typeface="思源黑体 CN Normal" panose="020B0400000000000000" pitchFamily="34" charset="-122"/>
                <a:ea typeface="思源黑体 CN Normal" panose="020B0400000000000000" pitchFamily="34" charset="-122"/>
              </a:rPr>
              <a:t>控制寄存器</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FF0000"/>
                </a:solidFill>
                <a:latin typeface="思源黑体 CN Normal" panose="020B0400000000000000" pitchFamily="34" charset="-122"/>
                <a:ea typeface="思源黑体 CN Normal" panose="020B0400000000000000" pitchFamily="34" charset="-122"/>
              </a:rPr>
              <a:t>⑧</a:t>
            </a:r>
            <a:r>
              <a:rPr lang="zh-CN" altLang="en-US" sz="1600">
                <a:solidFill>
                  <a:srgbClr val="002060"/>
                </a:solidFill>
                <a:latin typeface="思源黑体 CN Normal" panose="020B0400000000000000" pitchFamily="34" charset="-122"/>
                <a:ea typeface="思源黑体 CN Normal" panose="020B0400000000000000" pitchFamily="34" charset="-122"/>
              </a:rPr>
              <a:t>触发源</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13" name="矩形 39"/>
          <p:cNvSpPr>
            <a:spLocks noChangeArrowheads="1"/>
          </p:cNvSpPr>
          <p:nvPr/>
        </p:nvSpPr>
        <p:spPr bwMode="auto">
          <a:xfrm>
            <a:off x="1583874" y="717155"/>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DAC</a:t>
            </a:r>
            <a:r>
              <a:rPr lang="zh-CN" altLang="en-US" sz="2000" b="1">
                <a:solidFill>
                  <a:srgbClr val="002060"/>
                </a:solidFill>
                <a:latin typeface="思源黑体 CN Bold" pitchFamily="34" charset="-122"/>
                <a:ea typeface="思源黑体 CN Bold" pitchFamily="34" charset="-122"/>
              </a:rPr>
              <a:t>框图简介</a:t>
            </a:r>
            <a:endParaRPr lang="en-US" altLang="zh-CN" sz="2000" b="1" dirty="0">
              <a:solidFill>
                <a:srgbClr val="002060"/>
              </a:solidFill>
              <a:latin typeface="思源黑体 CN Bold" pitchFamily="34" charset="-122"/>
              <a:ea typeface="思源黑体 CN Bold" pitchFamily="34" charset="-122"/>
            </a:endParaRPr>
          </a:p>
        </p:txBody>
      </p:sp>
      <p:sp>
        <p:nvSpPr>
          <p:cNvPr id="18" name="矩形 17"/>
          <p:cNvSpPr/>
          <p:nvPr/>
        </p:nvSpPr>
        <p:spPr>
          <a:xfrm>
            <a:off x="3961141" y="5029034"/>
            <a:ext cx="1145611" cy="822259"/>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535658" y="4401765"/>
            <a:ext cx="1277569" cy="345900"/>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834255" y="3250714"/>
            <a:ext cx="1282181" cy="425270"/>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281760" y="5095360"/>
            <a:ext cx="1937045" cy="754259"/>
          </a:xfrm>
          <a:prstGeom prst="rect">
            <a:avLst/>
          </a:prstGeom>
          <a:solidFill>
            <a:schemeClr val="accent2">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9139705" y="5091694"/>
            <a:ext cx="1537781" cy="539961"/>
          </a:xfrm>
          <a:prstGeom prst="rect">
            <a:avLst/>
          </a:prstGeom>
          <a:solidFill>
            <a:schemeClr val="accent6">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850231" y="2548317"/>
            <a:ext cx="2192619" cy="563943"/>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505990" y="1162397"/>
            <a:ext cx="2128865" cy="1456302"/>
          </a:xfrm>
          <a:prstGeom prst="rect">
            <a:avLst/>
          </a:prstGeom>
          <a:solidFill>
            <a:srgbClr val="11745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4630841" y="5202208"/>
            <a:ext cx="561132" cy="369332"/>
          </a:xfrm>
          <a:prstGeom prst="rect">
            <a:avLst/>
          </a:prstGeom>
          <a:noFill/>
        </p:spPr>
        <p:txBody>
          <a:bodyPr wrap="square">
            <a:spAutoFit/>
          </a:bodyPr>
          <a:lstStyle/>
          <a:p>
            <a:r>
              <a:rPr lang="en-US" altLang="zh-CN" sz="1800" b="1">
                <a:solidFill>
                  <a:srgbClr val="FF0000"/>
                </a:solidFill>
                <a:latin typeface="思源黑体 CN Normal" panose="020B0400000000000000" pitchFamily="34" charset="-122"/>
                <a:ea typeface="思源黑体 CN Normal" panose="020B0400000000000000" pitchFamily="34" charset="-122"/>
              </a:rPr>
              <a:t>①</a:t>
            </a:r>
            <a:endParaRPr lang="zh-CN" altLang="en-US" b="1">
              <a:solidFill>
                <a:srgbClr val="FF0000"/>
              </a:solidFill>
            </a:endParaRPr>
          </a:p>
        </p:txBody>
      </p:sp>
      <p:sp>
        <p:nvSpPr>
          <p:cNvPr id="30" name="文本框 29"/>
          <p:cNvSpPr txBox="1"/>
          <p:nvPr/>
        </p:nvSpPr>
        <p:spPr>
          <a:xfrm>
            <a:off x="6557645" y="5298837"/>
            <a:ext cx="705692"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②</a:t>
            </a:r>
            <a:endParaRPr lang="zh-CN" altLang="en-US" b="1">
              <a:solidFill>
                <a:srgbClr val="FF0000"/>
              </a:solidFill>
            </a:endParaRPr>
          </a:p>
        </p:txBody>
      </p:sp>
      <p:sp>
        <p:nvSpPr>
          <p:cNvPr id="32" name="文本框 31"/>
          <p:cNvSpPr txBox="1"/>
          <p:nvPr/>
        </p:nvSpPr>
        <p:spPr>
          <a:xfrm>
            <a:off x="9296367" y="5070831"/>
            <a:ext cx="8270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③</a:t>
            </a:r>
            <a:endParaRPr lang="zh-CN" altLang="en-US" b="1">
              <a:solidFill>
                <a:srgbClr val="FF0000"/>
              </a:solidFill>
            </a:endParaRPr>
          </a:p>
        </p:txBody>
      </p:sp>
      <p:sp>
        <p:nvSpPr>
          <p:cNvPr id="36" name="文本框 35"/>
          <p:cNvSpPr txBox="1"/>
          <p:nvPr/>
        </p:nvSpPr>
        <p:spPr>
          <a:xfrm>
            <a:off x="6465557" y="4394421"/>
            <a:ext cx="4333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④</a:t>
            </a:r>
            <a:endParaRPr lang="zh-CN" altLang="en-US" b="1">
              <a:solidFill>
                <a:srgbClr val="FF0000"/>
              </a:solidFill>
            </a:endParaRPr>
          </a:p>
        </p:txBody>
      </p:sp>
      <p:sp>
        <p:nvSpPr>
          <p:cNvPr id="38" name="文本框 37"/>
          <p:cNvSpPr txBox="1"/>
          <p:nvPr/>
        </p:nvSpPr>
        <p:spPr>
          <a:xfrm>
            <a:off x="4946541" y="3306651"/>
            <a:ext cx="540494"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⑤</a:t>
            </a:r>
            <a:endParaRPr lang="zh-CN" altLang="en-US" b="1">
              <a:solidFill>
                <a:srgbClr val="FF0000"/>
              </a:solidFill>
            </a:endParaRPr>
          </a:p>
        </p:txBody>
      </p:sp>
      <p:sp>
        <p:nvSpPr>
          <p:cNvPr id="40" name="文本框 39"/>
          <p:cNvSpPr txBox="1"/>
          <p:nvPr/>
        </p:nvSpPr>
        <p:spPr>
          <a:xfrm>
            <a:off x="7106768" y="3746029"/>
            <a:ext cx="61118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⑥</a:t>
            </a:r>
            <a:endParaRPr lang="zh-CN" altLang="en-US" b="1">
              <a:solidFill>
                <a:srgbClr val="FF0000"/>
              </a:solidFill>
            </a:endParaRPr>
          </a:p>
        </p:txBody>
      </p:sp>
      <p:sp>
        <p:nvSpPr>
          <p:cNvPr id="42" name="文本框 41"/>
          <p:cNvSpPr txBox="1"/>
          <p:nvPr/>
        </p:nvSpPr>
        <p:spPr>
          <a:xfrm>
            <a:off x="7716649" y="1231634"/>
            <a:ext cx="769937" cy="369332"/>
          </a:xfrm>
          <a:prstGeom prst="rect">
            <a:avLst/>
          </a:prstGeom>
          <a:noFill/>
        </p:spPr>
        <p:txBody>
          <a:bodyPr wrap="square">
            <a:spAutoFit/>
          </a:bodyPr>
          <a:lstStyle/>
          <a:p>
            <a:r>
              <a:rPr lang="zh-CN" altLang="en-US" sz="1800" b="1">
                <a:solidFill>
                  <a:srgbClr val="FF0000"/>
                </a:solidFill>
                <a:latin typeface="思源黑体 CN Normal" panose="020B0400000000000000" pitchFamily="34" charset="-122"/>
                <a:ea typeface="思源黑体 CN Normal" panose="020B0400000000000000" pitchFamily="34" charset="-122"/>
              </a:rPr>
              <a:t>⑦</a:t>
            </a:r>
            <a:endParaRPr lang="zh-CN" altLang="en-US" b="1">
              <a:solidFill>
                <a:srgbClr val="FF0000"/>
              </a:solidFill>
            </a:endParaRPr>
          </a:p>
        </p:txBody>
      </p:sp>
      <p:sp>
        <p:nvSpPr>
          <p:cNvPr id="27" name="矩形 26"/>
          <p:cNvSpPr/>
          <p:nvPr/>
        </p:nvSpPr>
        <p:spPr>
          <a:xfrm>
            <a:off x="4601160" y="1438837"/>
            <a:ext cx="2037318" cy="390699"/>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601160" y="1828237"/>
            <a:ext cx="1441690" cy="718638"/>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6622702" y="2950532"/>
            <a:ext cx="1298722" cy="1199133"/>
          </a:xfrm>
          <a:prstGeom prst="rect">
            <a:avLst/>
          </a:prstGeom>
          <a:solidFill>
            <a:schemeClr val="accent4">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7928643" y="2618699"/>
            <a:ext cx="1706212" cy="1434306"/>
          </a:xfrm>
          <a:prstGeom prst="rect">
            <a:avLst/>
          </a:prstGeom>
          <a:solidFill>
            <a:srgbClr val="11745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705408" y="1412177"/>
            <a:ext cx="769937" cy="369332"/>
          </a:xfrm>
          <a:prstGeom prst="rect">
            <a:avLst/>
          </a:prstGeom>
          <a:noFill/>
        </p:spPr>
        <p:txBody>
          <a:bodyPr wrap="square">
            <a:spAutoFit/>
          </a:bodyPr>
          <a:lstStyle/>
          <a:p>
            <a:r>
              <a:rPr lang="zh-CN" altLang="en-US" b="1">
                <a:solidFill>
                  <a:srgbClr val="FF0000"/>
                </a:solidFill>
                <a:latin typeface="思源黑体 CN Normal" panose="020B0400000000000000" pitchFamily="34" charset="-122"/>
                <a:ea typeface="思源黑体 CN Normal" panose="020B0400000000000000" pitchFamily="34" charset="-122"/>
              </a:rPr>
              <a:t>⑧</a:t>
            </a:r>
            <a:endParaRPr lang="zh-CN" altLang="en-US" b="1">
              <a:solidFill>
                <a:srgbClr val="FF0000"/>
              </a:solidFill>
            </a:endParaRPr>
          </a:p>
        </p:txBody>
      </p:sp>
      <p:sp>
        <p:nvSpPr>
          <p:cNvPr id="6" name="矩形 5"/>
          <p:cNvSpPr/>
          <p:nvPr/>
        </p:nvSpPr>
        <p:spPr>
          <a:xfrm>
            <a:off x="7765138" y="4405438"/>
            <a:ext cx="1937044" cy="338554"/>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不能直接写入数据</a:t>
            </a:r>
            <a:endParaRPr lang="zh-CN" altLang="zh-CN" sz="1600" b="0" kern="100" baseline="0" dirty="0">
              <a:ln>
                <a:noFill/>
              </a:ln>
              <a:solidFill>
                <a:srgbClr val="FF0000"/>
              </a:solidFill>
              <a:effectLst/>
              <a:latin typeface="思源黑体 CN Normal" panose="020B0400000000000000" pitchFamily="34" charset="-122"/>
              <a:ea typeface="思源黑体 CN Normal" panose="020B0400000000000000" pitchFamily="34" charset="-122"/>
            </a:endParaRPr>
          </a:p>
        </p:txBody>
      </p:sp>
      <p:sp>
        <p:nvSpPr>
          <p:cNvPr id="7" name="矩形 6"/>
          <p:cNvSpPr/>
          <p:nvPr/>
        </p:nvSpPr>
        <p:spPr>
          <a:xfrm>
            <a:off x="4585845" y="4092892"/>
            <a:ext cx="2443139" cy="338554"/>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自动、软件、外部事件</a:t>
            </a:r>
            <a:endParaRPr lang="zh-CN" altLang="zh-CN" sz="1600" b="0" kern="100" baseline="0" dirty="0">
              <a:ln>
                <a:noFill/>
              </a:ln>
              <a:solidFill>
                <a:srgbClr val="FF0000"/>
              </a:solidFill>
              <a:effectLst/>
              <a:latin typeface="思源黑体 CN Normal" panose="020B0400000000000000" pitchFamily="34" charset="-122"/>
              <a:ea typeface="思源黑体 CN Normal" panose="020B0400000000000000" pitchFamily="34" charset="-122"/>
            </a:endParaRPr>
          </a:p>
        </p:txBody>
      </p:sp>
      <p:sp>
        <p:nvSpPr>
          <p:cNvPr id="8" name="矩形 7"/>
          <p:cNvSpPr/>
          <p:nvPr/>
        </p:nvSpPr>
        <p:spPr>
          <a:xfrm>
            <a:off x="4622046" y="3654001"/>
            <a:ext cx="1852307" cy="338554"/>
          </a:xfrm>
          <a:prstGeom prst="rect">
            <a:avLst/>
          </a:prstGeom>
        </p:spPr>
        <p:txBody>
          <a:bodyPr wrap="square">
            <a:spAutoFit/>
          </a:bodyPr>
          <a:lstStyle/>
          <a:p>
            <a:r>
              <a:rPr lang="zh-CN" altLang="en-US" sz="1600">
                <a:solidFill>
                  <a:srgbClr val="FF0000"/>
                </a:solidFill>
                <a:latin typeface="思源黑体 CN Normal" panose="020B0400000000000000" pitchFamily="34" charset="-122"/>
                <a:ea typeface="思源黑体 CN Normal" panose="020B0400000000000000" pitchFamily="34" charset="-122"/>
              </a:rPr>
              <a:t>实际操作</a:t>
            </a:r>
            <a:r>
              <a:rPr lang="en-US" altLang="zh-CN" sz="1600">
                <a:solidFill>
                  <a:srgbClr val="FF0000"/>
                </a:solidFill>
                <a:latin typeface="思源黑体 CN Normal" panose="020B0400000000000000" pitchFamily="34" charset="-122"/>
                <a:ea typeface="思源黑体 CN Normal" panose="020B0400000000000000" pitchFamily="34" charset="-122"/>
              </a:rPr>
              <a:t>DHRyyy</a:t>
            </a:r>
            <a:endParaRPr lang="zh-CN" altLang="zh-CN" sz="1600" b="0" kern="100" baseline="0" dirty="0">
              <a:ln>
                <a:noFill/>
              </a:ln>
              <a:solidFill>
                <a:srgbClr val="FF0000"/>
              </a:solidFill>
              <a:effectLst/>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500"/>
                                        <p:tgtEl>
                                          <p:spTgt spid="12">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xEl>
                                              <p:pRg st="2" end="2"/>
                                            </p:txEl>
                                          </p:spTgt>
                                        </p:tgtEl>
                                        <p:attrNameLst>
                                          <p:attrName>style.visibility</p:attrName>
                                        </p:attrNameLst>
                                      </p:cBhvr>
                                      <p:to>
                                        <p:strVal val="visible"/>
                                      </p:to>
                                    </p:set>
                                    <p:animEffect transition="in" filter="fade">
                                      <p:cBhvr>
                                        <p:cTn id="34" dur="500"/>
                                        <p:tgtEl>
                                          <p:spTgt spid="12">
                                            <p:txEl>
                                              <p:pRg st="2" end="2"/>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animEffect transition="in" filter="fade">
                                      <p:cBhvr>
                                        <p:cTn id="45" dur="500"/>
                                        <p:tgtEl>
                                          <p:spTgt spid="12">
                                            <p:txEl>
                                              <p:pRg st="3" end="3"/>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2">
                                            <p:txEl>
                                              <p:pRg st="4" end="4"/>
                                            </p:txEl>
                                          </p:spTgt>
                                        </p:tgtEl>
                                        <p:attrNameLst>
                                          <p:attrName>style.visibility</p:attrName>
                                        </p:attrNameLst>
                                      </p:cBhvr>
                                      <p:to>
                                        <p:strVal val="visible"/>
                                      </p:to>
                                    </p:set>
                                    <p:animEffect transition="in" filter="fade">
                                      <p:cBhvr>
                                        <p:cTn id="61" dur="500"/>
                                        <p:tgtEl>
                                          <p:spTgt spid="12">
                                            <p:txEl>
                                              <p:pRg st="4" end="4"/>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
                                            <p:txEl>
                                              <p:pRg st="5" end="5"/>
                                            </p:txEl>
                                          </p:spTgt>
                                        </p:tgtEl>
                                        <p:attrNameLst>
                                          <p:attrName>style.visibility</p:attrName>
                                        </p:attrNameLst>
                                      </p:cBhvr>
                                      <p:to>
                                        <p:strVal val="visible"/>
                                      </p:to>
                                    </p:set>
                                    <p:animEffect transition="in" filter="fade">
                                      <p:cBhvr>
                                        <p:cTn id="77" dur="500"/>
                                        <p:tgtEl>
                                          <p:spTgt spid="12">
                                            <p:txEl>
                                              <p:pRg st="5" end="5"/>
                                            </p:txEl>
                                          </p:spTgt>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2">
                                            <p:txEl>
                                              <p:pRg st="6" end="6"/>
                                            </p:txEl>
                                          </p:spTgt>
                                        </p:tgtEl>
                                        <p:attrNameLst>
                                          <p:attrName>style.visibility</p:attrName>
                                        </p:attrNameLst>
                                      </p:cBhvr>
                                      <p:to>
                                        <p:strVal val="visible"/>
                                      </p:to>
                                    </p:set>
                                    <p:animEffect transition="in" filter="fade">
                                      <p:cBhvr>
                                        <p:cTn id="88" dur="500"/>
                                        <p:tgtEl>
                                          <p:spTgt spid="12">
                                            <p:txEl>
                                              <p:pRg st="6" end="6"/>
                                            </p:txEl>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500"/>
                                        <p:tgtEl>
                                          <p:spTgt spid="4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2">
                                            <p:txEl>
                                              <p:pRg st="7" end="7"/>
                                            </p:txEl>
                                          </p:spTgt>
                                        </p:tgtEl>
                                        <p:attrNameLst>
                                          <p:attrName>style.visibility</p:attrName>
                                        </p:attrNameLst>
                                      </p:cBhvr>
                                      <p:to>
                                        <p:strVal val="visible"/>
                                      </p:to>
                                    </p:set>
                                    <p:animEffect transition="in" filter="fade">
                                      <p:cBhvr>
                                        <p:cTn id="102" dur="500"/>
                                        <p:tgtEl>
                                          <p:spTgt spid="12">
                                            <p:txEl>
                                              <p:pRg st="7" end="7"/>
                                            </p:txEl>
                                          </p:spTgt>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500"/>
                                        <p:tgtEl>
                                          <p:spTgt spid="2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500"/>
                                        <p:tgtEl>
                                          <p:spTgt spid="24"/>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
                                        </p:tgtEl>
                                        <p:attrNameLst>
                                          <p:attrName>style.visibility</p:attrName>
                                        </p:attrNameLst>
                                      </p:cBhvr>
                                      <p:to>
                                        <p:strVal val="visible"/>
                                      </p:to>
                                    </p:set>
                                    <p:animEffect transition="in" filter="fade">
                                      <p:cBhvr>
                                        <p:cTn id="114" dur="500"/>
                                        <p:tgtEl>
                                          <p:spTgt spid="2"/>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7"/>
                                        </p:tgtEl>
                                        <p:attrNameLst>
                                          <p:attrName>style.visibility</p:attrName>
                                        </p:attrNameLst>
                                      </p:cBhvr>
                                      <p:to>
                                        <p:strVal val="visible"/>
                                      </p:to>
                                    </p:set>
                                    <p:animEffect transition="in" filter="fade">
                                      <p:cBhvr>
                                        <p:cTn id="1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bldLvl="0" animBg="1"/>
      <p:bldP spid="20" grpId="0" bldLvl="0" animBg="1"/>
      <p:bldP spid="21" grpId="0" bldLvl="0" animBg="1"/>
      <p:bldP spid="23" grpId="0" bldLvl="0" animBg="1"/>
      <p:bldP spid="24" grpId="0" bldLvl="0" animBg="1"/>
      <p:bldP spid="26" grpId="0" bldLvl="0" animBg="1"/>
      <p:bldP spid="28" grpId="0"/>
      <p:bldP spid="30" grpId="0"/>
      <p:bldP spid="32" grpId="0"/>
      <p:bldP spid="36" grpId="0"/>
      <p:bldP spid="38" grpId="0"/>
      <p:bldP spid="40" grpId="0"/>
      <p:bldP spid="42" grpId="0"/>
      <p:bldP spid="27" grpId="0" bldLvl="0" animBg="1"/>
      <p:bldP spid="29" grpId="0" bldLvl="0" animBg="1"/>
      <p:bldP spid="31" grpId="0" bldLvl="0" animBg="1"/>
      <p:bldP spid="33" grpId="0" bldLvl="0" animBg="1"/>
      <p:bldP spid="2" grpId="0"/>
      <p:bldP spid="6" grpId="0"/>
      <p:bldP spid="7"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39"/>
          <p:cNvSpPr>
            <a:spLocks noChangeArrowheads="1"/>
          </p:cNvSpPr>
          <p:nvPr/>
        </p:nvSpPr>
        <p:spPr bwMode="auto">
          <a:xfrm>
            <a:off x="1752998" y="1273775"/>
            <a:ext cx="5895331"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2.6</a:t>
            </a:r>
            <a:r>
              <a:rPr lang="zh-CN" altLang="en-US" sz="2000" b="1">
                <a:solidFill>
                  <a:srgbClr val="002060"/>
                </a:solidFill>
                <a:latin typeface="思源黑体 CN Bold" pitchFamily="34" charset="-122"/>
                <a:ea typeface="思源黑体 CN Bold" pitchFamily="34" charset="-122"/>
              </a:rPr>
              <a:t>，</a:t>
            </a:r>
            <a:r>
              <a:rPr lang="en-US" altLang="zh-CN" sz="2000" b="1">
                <a:solidFill>
                  <a:srgbClr val="002060"/>
                </a:solidFill>
                <a:latin typeface="思源黑体 CN Bold" pitchFamily="34" charset="-122"/>
                <a:ea typeface="思源黑体 CN Bold" pitchFamily="34" charset="-122"/>
              </a:rPr>
              <a:t>DAC</a:t>
            </a:r>
            <a:r>
              <a:rPr lang="zh-CN" altLang="en-US" sz="2000" b="1">
                <a:solidFill>
                  <a:srgbClr val="002060"/>
                </a:solidFill>
                <a:latin typeface="思源黑体 CN Bold" pitchFamily="34" charset="-122"/>
                <a:ea typeface="思源黑体 CN Bold" pitchFamily="34" charset="-122"/>
              </a:rPr>
              <a:t>输出电压</a:t>
            </a:r>
            <a:endParaRPr lang="en-US" altLang="zh-CN" sz="2000" b="1" dirty="0">
              <a:solidFill>
                <a:srgbClr val="002060"/>
              </a:solidFill>
              <a:latin typeface="思源黑体 CN Bold" pitchFamily="34" charset="-122"/>
              <a:ea typeface="思源黑体 CN Bold" pitchFamily="34" charset="-122"/>
            </a:endParaRPr>
          </a:p>
        </p:txBody>
      </p:sp>
      <mc:AlternateContent xmlns:mc="http://schemas.openxmlformats.org/markup-compatibility/2006">
        <mc:Choice xmlns:a14="http://schemas.microsoft.com/office/drawing/2010/main" Requires="a14">
          <p:sp>
            <p:nvSpPr>
              <p:cNvPr id="2" name="矩形 1"/>
              <p:cNvSpPr/>
              <p:nvPr>
                <p:custDataLst>
                  <p:tags r:id="rId1"/>
                </p:custDataLst>
              </p:nvPr>
            </p:nvSpPr>
            <p:spPr>
              <a:xfrm>
                <a:off x="3904713" y="2750070"/>
                <a:ext cx="4103174" cy="506870"/>
              </a:xfrm>
              <a:prstGeom prst="rect">
                <a:avLst/>
              </a:prstGeom>
            </p:spPr>
            <p:txBody>
              <a:bodyPr wrap="square">
                <a:spAutoFit/>
              </a:bodyPr>
              <a:lstStyle/>
              <a:p>
                <a:pPr algn="ctr"/>
                <a:r>
                  <a:rPr lang="en-US" altLang="zh-CN" dirty="0">
                    <a:solidFill>
                      <a:srgbClr val="FF0000"/>
                    </a:solidFill>
                    <a:latin typeface="思源黑体 CN Normal" panose="020B0400000000000000" pitchFamily="34" charset="-122"/>
                    <a:ea typeface="思源黑体 CN Normal" panose="020B0400000000000000" pitchFamily="34" charset="-122"/>
                  </a:rPr>
                  <a:t>DAC</a:t>
                </a:r>
                <a:r>
                  <a:rPr lang="zh-CN" altLang="en-US" dirty="0">
                    <a:solidFill>
                      <a:srgbClr val="FF0000"/>
                    </a:solidFill>
                    <a:latin typeface="思源黑体 CN Normal" panose="020B0400000000000000" pitchFamily="34" charset="-122"/>
                    <a:ea typeface="思源黑体 CN Normal" panose="020B0400000000000000" pitchFamily="34" charset="-122"/>
                  </a:rPr>
                  <a:t>输出电压 </a:t>
                </a:r>
                <a:r>
                  <a:rPr lang="en-US" altLang="zh-CN" dirty="0">
                    <a:solidFill>
                      <a:srgbClr val="FF0000"/>
                    </a:solidFill>
                    <a:latin typeface="思源黑体 CN Normal" panose="020B0400000000000000" pitchFamily="34" charset="-122"/>
                    <a:ea typeface="思源黑体 CN Normal" panose="020B0400000000000000" pitchFamily="34" charset="-122"/>
                  </a:rPr>
                  <a:t>= </a:t>
                </a:r>
                <a14:m>
                  <m:oMath xmlns:m="http://schemas.openxmlformats.org/officeDocument/2006/math">
                    <m:d>
                      <m:dPr>
                        <m:ctrlPr>
                          <a:rPr lang="zh-CN" altLang="zh-CN" i="1">
                            <a:solidFill>
                              <a:srgbClr val="FF0000"/>
                            </a:solidFill>
                            <a:latin typeface="Cambria Math" panose="02040503050406030204" pitchFamily="18" charset="0"/>
                          </a:rPr>
                        </m:ctrlPr>
                      </m:dPr>
                      <m:e>
                        <m:f>
                          <m:fPr>
                            <m:ctrlPr>
                              <a:rPr lang="zh-CN" altLang="zh-CN" i="1">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𝐷𝑂𝑅</m:t>
                            </m:r>
                            <m:r>
                              <a:rPr lang="en-US" altLang="zh-CN" b="0" i="1">
                                <a:solidFill>
                                  <a:srgbClr val="FF0000"/>
                                </a:solidFill>
                                <a:latin typeface="Cambria Math" panose="02040503050406030204" pitchFamily="18" charset="0"/>
                              </a:rPr>
                              <m:t>𝑥</m:t>
                            </m:r>
                          </m:num>
                          <m:den>
                            <m:r>
                              <a:rPr lang="en-US" altLang="zh-CN" b="0" i="0" smtClean="0">
                                <a:solidFill>
                                  <a:srgbClr val="FF0000"/>
                                </a:solidFill>
                                <a:latin typeface="Cambria Math" panose="02040503050406030204" pitchFamily="18" charset="0"/>
                              </a:rPr>
                              <m:t>4096</m:t>
                            </m:r>
                          </m:den>
                        </m:f>
                      </m:e>
                    </m:d>
                    <m:r>
                      <a:rPr lang="en-US" altLang="zh-CN" b="0" i="1">
                        <a:solidFill>
                          <a:srgbClr val="FF0000"/>
                        </a:solidFill>
                        <a:latin typeface="Cambria Math" panose="02040503050406030204" pitchFamily="18" charset="0"/>
                      </a:rPr>
                      <m:t>∗</m:t>
                    </m:r>
                    <m:r>
                      <m:rPr>
                        <m:nor/>
                      </m:rPr>
                      <a:rPr lang="en-US" altLang="zh-CN">
                        <a:solidFill>
                          <a:srgbClr val="FF0000"/>
                        </a:solidFill>
                        <a:latin typeface="思源黑体 CN Normal" panose="020B0400000000000000" pitchFamily="34" charset="-122"/>
                        <a:ea typeface="思源黑体 CN Normal" panose="020B0400000000000000" pitchFamily="34" charset="-122"/>
                      </a:rPr>
                      <m:t>V</m:t>
                    </m:r>
                    <m:r>
                      <m:rPr>
                        <m:nor/>
                      </m:rPr>
                      <a:rPr lang="en-US" altLang="zh-CN" baseline="-25000">
                        <a:solidFill>
                          <a:srgbClr val="FF0000"/>
                        </a:solidFill>
                        <a:latin typeface="思源黑体 CN Normal" panose="020B0400000000000000" pitchFamily="34" charset="-122"/>
                        <a:ea typeface="思源黑体 CN Normal" panose="020B0400000000000000" pitchFamily="34" charset="-122"/>
                      </a:rPr>
                      <m:t>REF</m:t>
                    </m:r>
                    <m:r>
                      <m:rPr>
                        <m:nor/>
                      </m:rPr>
                      <a:rPr lang="en-US" altLang="zh-CN" baseline="-25000">
                        <a:solidFill>
                          <a:srgbClr val="FF0000"/>
                        </a:solidFill>
                        <a:latin typeface="思源黑体 CN Normal" panose="020B0400000000000000" pitchFamily="34" charset="-122"/>
                        <a:ea typeface="思源黑体 CN Normal" panose="020B0400000000000000" pitchFamily="34" charset="-122"/>
                      </a:rPr>
                      <m:t>+</m:t>
                    </m:r>
                  </m:oMath>
                </a14:m>
                <a:endParaRPr lang="zh-CN" altLang="en-US" dirty="0">
                  <a:solidFill>
                    <a:srgbClr val="FF0000"/>
                  </a:solidFill>
                  <a:latin typeface="思源黑体 CN Normal" panose="020B0400000000000000" pitchFamily="34" charset="-122"/>
                  <a:ea typeface="思源黑体 CN Normal" panose="020B0400000000000000" pitchFamily="34" charset="-122"/>
                </a:endParaRPr>
              </a:p>
            </p:txBody>
          </p:sp>
        </mc:Choice>
        <mc:Fallback>
          <p:sp>
            <p:nvSpPr>
              <p:cNvPr id="2" name="矩形 1"/>
              <p:cNvSpPr>
                <a:spLocks noRot="1" noChangeAspect="1" noMove="1" noResize="1" noEditPoints="1" noAdjustHandles="1" noChangeArrowheads="1" noChangeShapeType="1" noTextEdit="1"/>
              </p:cNvSpPr>
              <p:nvPr>
                <p:custDataLst>
                  <p:tags r:id="rId2"/>
                </p:custDataLst>
              </p:nvPr>
            </p:nvSpPr>
            <p:spPr>
              <a:xfrm>
                <a:off x="3904713" y="2750070"/>
                <a:ext cx="4103174" cy="506870"/>
              </a:xfrm>
              <a:prstGeom prst="rect">
                <a:avLst/>
              </a:prstGeom>
              <a:blipFill rotWithShape="1">
                <a:blip r:embed="rId3"/>
                <a:stretch>
                  <a:fillRect l="-2" t="-103" r="13" b="5"/>
                </a:stretch>
              </a:blipFill>
            </p:spPr>
            <p:txBody>
              <a:bodyPr/>
              <a:lstStyle/>
              <a:p>
                <a:r>
                  <a:rPr lang="zh-CN" altLang="en-US">
                    <a:noFill/>
                  </a:rPr>
                  <a:t> </a:t>
                </a:r>
              </a:p>
            </p:txBody>
          </p:sp>
        </mc:Fallback>
      </mc:AlternateContent>
      <p:sp>
        <p:nvSpPr>
          <p:cNvPr id="3" name="文本框 2"/>
          <p:cNvSpPr txBox="1"/>
          <p:nvPr>
            <p:custDataLst>
              <p:tags r:id="rId4"/>
            </p:custDataLst>
          </p:nvPr>
        </p:nvSpPr>
        <p:spPr>
          <a:xfrm>
            <a:off x="2280378" y="2169685"/>
            <a:ext cx="4579171" cy="369332"/>
          </a:xfrm>
          <a:prstGeom prst="rect">
            <a:avLst/>
          </a:prstGeom>
          <a:noFill/>
        </p:spPr>
        <p:txBody>
          <a:bodyPr wrap="square">
            <a:spAutoFit/>
          </a:bodyPr>
          <a:lstStyle/>
          <a:p>
            <a:r>
              <a:rPr lang="en-US" altLang="zh-CN" dirty="0">
                <a:solidFill>
                  <a:srgbClr val="002060"/>
                </a:solidFill>
                <a:latin typeface="思源黑体 CN Normal" panose="020B0400000000000000" pitchFamily="34" charset="-122"/>
                <a:ea typeface="思源黑体 CN Normal" panose="020B0400000000000000" pitchFamily="34" charset="-122"/>
              </a:rPr>
              <a:t>12</a:t>
            </a:r>
            <a:r>
              <a:rPr lang="zh-CN" altLang="en-US" dirty="0">
                <a:solidFill>
                  <a:srgbClr val="002060"/>
                </a:solidFill>
                <a:latin typeface="思源黑体 CN Normal" panose="020B0400000000000000" pitchFamily="34" charset="-122"/>
                <a:ea typeface="思源黑体 CN Normal" panose="020B0400000000000000" pitchFamily="34" charset="-122"/>
              </a:rPr>
              <a:t>位模式下，</a:t>
            </a:r>
            <a:r>
              <a:rPr lang="en-US" altLang="zh-CN" dirty="0">
                <a:solidFill>
                  <a:srgbClr val="002060"/>
                </a:solidFill>
                <a:latin typeface="思源黑体 CN Normal" panose="020B0400000000000000" pitchFamily="34" charset="-122"/>
                <a:ea typeface="思源黑体 CN Normal" panose="020B0400000000000000" pitchFamily="34" charset="-122"/>
              </a:rPr>
              <a:t>DAC</a:t>
            </a:r>
            <a:r>
              <a:rPr lang="zh-CN" altLang="en-US" dirty="0">
                <a:solidFill>
                  <a:srgbClr val="002060"/>
                </a:solidFill>
                <a:latin typeface="思源黑体 CN Normal" panose="020B0400000000000000" pitchFamily="34" charset="-122"/>
                <a:ea typeface="思源黑体 CN Normal" panose="020B0400000000000000" pitchFamily="34" charset="-122"/>
              </a:rPr>
              <a:t>输出电压计算方法：</a:t>
            </a:r>
            <a:endParaRPr lang="en-US" altLang="zh-CN" dirty="0">
              <a:solidFill>
                <a:srgbClr val="002060"/>
              </a:solidFill>
              <a:latin typeface="思源黑体 CN Normal" panose="020B0400000000000000" pitchFamily="34" charset="-122"/>
              <a:ea typeface="思源黑体 CN Normal" panose="020B0400000000000000" pitchFamily="34" charset="-122"/>
            </a:endParaRPr>
          </a:p>
        </p:txBody>
      </p:sp>
      <mc:AlternateContent xmlns:mc="http://schemas.openxmlformats.org/markup-compatibility/2006">
        <mc:Choice xmlns:a14="http://schemas.microsoft.com/office/drawing/2010/main" Requires="a14">
          <p:sp>
            <p:nvSpPr>
              <p:cNvPr id="7" name="矩形 6"/>
              <p:cNvSpPr/>
              <p:nvPr>
                <p:custDataLst>
                  <p:tags r:id="rId5"/>
                </p:custDataLst>
              </p:nvPr>
            </p:nvSpPr>
            <p:spPr>
              <a:xfrm>
                <a:off x="3904713" y="4413709"/>
                <a:ext cx="4103174" cy="506870"/>
              </a:xfrm>
              <a:prstGeom prst="rect">
                <a:avLst/>
              </a:prstGeom>
            </p:spPr>
            <p:txBody>
              <a:bodyPr wrap="square">
                <a:spAutoFit/>
              </a:bodyPr>
              <a:lstStyle/>
              <a:p>
                <a:pPr algn="ctr"/>
                <a:r>
                  <a:rPr lang="en-US" altLang="zh-CN">
                    <a:solidFill>
                      <a:srgbClr val="FF0000"/>
                    </a:solidFill>
                    <a:latin typeface="思源黑体 CN Normal" panose="020B0400000000000000" pitchFamily="34" charset="-122"/>
                    <a:ea typeface="思源黑体 CN Normal" panose="020B0400000000000000" pitchFamily="34" charset="-122"/>
                  </a:rPr>
                  <a:t>DAC</a:t>
                </a:r>
                <a:r>
                  <a:rPr lang="zh-CN" altLang="en-US">
                    <a:solidFill>
                      <a:srgbClr val="FF0000"/>
                    </a:solidFill>
                    <a:latin typeface="思源黑体 CN Normal" panose="020B0400000000000000" pitchFamily="34" charset="-122"/>
                    <a:ea typeface="思源黑体 CN Normal" panose="020B0400000000000000" pitchFamily="34" charset="-122"/>
                  </a:rPr>
                  <a:t>输出电压 </a:t>
                </a:r>
                <a:r>
                  <a:rPr lang="en-US" altLang="zh-CN">
                    <a:solidFill>
                      <a:srgbClr val="FF0000"/>
                    </a:solidFill>
                    <a:latin typeface="思源黑体 CN Normal" panose="020B0400000000000000" pitchFamily="34" charset="-122"/>
                    <a:ea typeface="思源黑体 CN Normal" panose="020B0400000000000000" pitchFamily="34" charset="-122"/>
                  </a:rPr>
                  <a:t>= </a:t>
                </a:r>
                <a14:m>
                  <m:oMath xmlns:m="http://schemas.openxmlformats.org/officeDocument/2006/math">
                    <m:d>
                      <m:dPr>
                        <m:ctrlPr>
                          <a:rPr lang="zh-CN" altLang="zh-CN" i="1">
                            <a:solidFill>
                              <a:srgbClr val="FF0000"/>
                            </a:solidFill>
                            <a:latin typeface="Cambria Math" panose="02040503050406030204" pitchFamily="18" charset="0"/>
                          </a:rPr>
                        </m:ctrlPr>
                      </m:dPr>
                      <m:e>
                        <m:f>
                          <m:fPr>
                            <m:ctrlPr>
                              <a:rPr lang="zh-CN" altLang="zh-CN" i="1">
                                <a:solidFill>
                                  <a:srgbClr val="FF0000"/>
                                </a:solidFill>
                                <a:latin typeface="Cambria Math" panose="02040503050406030204" pitchFamily="18" charset="0"/>
                              </a:rPr>
                            </m:ctrlPr>
                          </m:fPr>
                          <m:num>
                            <m:r>
                              <a:rPr lang="en-US" altLang="zh-CN" b="0" i="1" smtClean="0">
                                <a:solidFill>
                                  <a:srgbClr val="FF0000"/>
                                </a:solidFill>
                                <a:latin typeface="Cambria Math" panose="02040503050406030204" pitchFamily="18" charset="0"/>
                              </a:rPr>
                              <m:t>𝐷𝑂𝑅</m:t>
                            </m:r>
                            <m:r>
                              <a:rPr lang="en-US" altLang="zh-CN" b="0" i="1">
                                <a:solidFill>
                                  <a:srgbClr val="FF0000"/>
                                </a:solidFill>
                                <a:latin typeface="Cambria Math" panose="02040503050406030204" pitchFamily="18" charset="0"/>
                              </a:rPr>
                              <m:t>𝑥</m:t>
                            </m:r>
                          </m:num>
                          <m:den>
                            <m:r>
                              <a:rPr lang="en-US" altLang="zh-CN" b="0" i="0" smtClean="0">
                                <a:solidFill>
                                  <a:srgbClr val="FF0000"/>
                                </a:solidFill>
                                <a:latin typeface="Cambria Math" panose="02040503050406030204" pitchFamily="18" charset="0"/>
                              </a:rPr>
                              <m:t>256</m:t>
                            </m:r>
                          </m:den>
                        </m:f>
                      </m:e>
                    </m:d>
                    <m:r>
                      <a:rPr lang="en-US" altLang="zh-CN" b="0" i="1">
                        <a:solidFill>
                          <a:srgbClr val="FF0000"/>
                        </a:solidFill>
                        <a:latin typeface="Cambria Math" panose="02040503050406030204" pitchFamily="18" charset="0"/>
                      </a:rPr>
                      <m:t>∗</m:t>
                    </m:r>
                    <m:r>
                      <m:rPr>
                        <m:nor/>
                      </m:rPr>
                      <a:rPr lang="en-US" altLang="zh-CN">
                        <a:solidFill>
                          <a:srgbClr val="FF0000"/>
                        </a:solidFill>
                        <a:latin typeface="思源黑体 CN Normal" panose="020B0400000000000000" pitchFamily="34" charset="-122"/>
                        <a:ea typeface="思源黑体 CN Normal" panose="020B0400000000000000" pitchFamily="34" charset="-122"/>
                      </a:rPr>
                      <m:t>V</m:t>
                    </m:r>
                    <m:r>
                      <m:rPr>
                        <m:nor/>
                      </m:rPr>
                      <a:rPr lang="en-US" altLang="zh-CN" baseline="-25000">
                        <a:solidFill>
                          <a:srgbClr val="FF0000"/>
                        </a:solidFill>
                        <a:latin typeface="思源黑体 CN Normal" panose="020B0400000000000000" pitchFamily="34" charset="-122"/>
                        <a:ea typeface="思源黑体 CN Normal" panose="020B0400000000000000" pitchFamily="34" charset="-122"/>
                      </a:rPr>
                      <m:t>REF</m:t>
                    </m:r>
                    <m:r>
                      <m:rPr>
                        <m:nor/>
                      </m:rPr>
                      <a:rPr lang="en-US" altLang="zh-CN" baseline="-25000">
                        <a:solidFill>
                          <a:srgbClr val="FF0000"/>
                        </a:solidFill>
                        <a:latin typeface="思源黑体 CN Normal" panose="020B0400000000000000" pitchFamily="34" charset="-122"/>
                        <a:ea typeface="思源黑体 CN Normal" panose="020B0400000000000000" pitchFamily="34" charset="-122"/>
                      </a:rPr>
                      <m:t>+</m:t>
                    </m:r>
                  </m:oMath>
                </a14:m>
                <a:endParaRPr lang="zh-CN" altLang="en-US" dirty="0">
                  <a:solidFill>
                    <a:srgbClr val="FF0000"/>
                  </a:solidFill>
                  <a:latin typeface="思源黑体 CN Normal" panose="020B0400000000000000" pitchFamily="34" charset="-122"/>
                  <a:ea typeface="思源黑体 CN Normal" panose="020B0400000000000000" pitchFamily="34" charset="-122"/>
                </a:endParaRPr>
              </a:p>
            </p:txBody>
          </p:sp>
        </mc:Choice>
        <mc:Fallback>
          <p:sp>
            <p:nvSpPr>
              <p:cNvPr id="7" name="矩形 6"/>
              <p:cNvSpPr>
                <a:spLocks noRot="1" noChangeAspect="1" noMove="1" noResize="1" noEditPoints="1" noAdjustHandles="1" noChangeArrowheads="1" noChangeShapeType="1" noTextEdit="1"/>
              </p:cNvSpPr>
              <p:nvPr>
                <p:custDataLst>
                  <p:tags r:id="rId6"/>
                </p:custDataLst>
              </p:nvPr>
            </p:nvSpPr>
            <p:spPr>
              <a:xfrm>
                <a:off x="3904713" y="4413709"/>
                <a:ext cx="4103174" cy="506870"/>
              </a:xfrm>
              <a:prstGeom prst="rect">
                <a:avLst/>
              </a:prstGeom>
              <a:blipFill rotWithShape="1">
                <a:blip r:embed="rId7"/>
                <a:stretch>
                  <a:fillRect l="-2" t="-91" r="13" b="118"/>
                </a:stretch>
              </a:blipFill>
            </p:spPr>
            <p:txBody>
              <a:bodyPr/>
              <a:lstStyle/>
              <a:p>
                <a:r>
                  <a:rPr lang="zh-CN" altLang="en-US">
                    <a:noFill/>
                  </a:rPr>
                  <a:t> </a:t>
                </a:r>
              </a:p>
            </p:txBody>
          </p:sp>
        </mc:Fallback>
      </mc:AlternateContent>
      <p:sp>
        <p:nvSpPr>
          <p:cNvPr id="8" name="文本框 7"/>
          <p:cNvSpPr txBox="1"/>
          <p:nvPr>
            <p:custDataLst>
              <p:tags r:id="rId8"/>
            </p:custDataLst>
          </p:nvPr>
        </p:nvSpPr>
        <p:spPr>
          <a:xfrm>
            <a:off x="2280378" y="3833324"/>
            <a:ext cx="4579171" cy="369332"/>
          </a:xfrm>
          <a:prstGeom prst="rect">
            <a:avLst/>
          </a:prstGeom>
          <a:noFill/>
        </p:spPr>
        <p:txBody>
          <a:bodyPr wrap="square">
            <a:spAutoFit/>
          </a:bodyPr>
          <a:lstStyle/>
          <a:p>
            <a:r>
              <a:rPr lang="en-US" altLang="zh-CN">
                <a:solidFill>
                  <a:srgbClr val="002060"/>
                </a:solidFill>
                <a:latin typeface="思源黑体 CN Normal" panose="020B0400000000000000" pitchFamily="34" charset="-122"/>
                <a:ea typeface="思源黑体 CN Normal" panose="020B0400000000000000" pitchFamily="34" charset="-122"/>
              </a:rPr>
              <a:t>8</a:t>
            </a:r>
            <a:r>
              <a:rPr lang="zh-CN" altLang="en-US">
                <a:solidFill>
                  <a:srgbClr val="002060"/>
                </a:solidFill>
                <a:latin typeface="思源黑体 CN Normal" panose="020B0400000000000000" pitchFamily="34" charset="-122"/>
                <a:ea typeface="思源黑体 CN Normal" panose="020B0400000000000000" pitchFamily="34" charset="-122"/>
              </a:rPr>
              <a:t>位模式下，</a:t>
            </a:r>
            <a:r>
              <a:rPr lang="en-US" altLang="zh-CN">
                <a:solidFill>
                  <a:srgbClr val="002060"/>
                </a:solidFill>
                <a:latin typeface="思源黑体 CN Normal" panose="020B0400000000000000" pitchFamily="34" charset="-122"/>
                <a:ea typeface="思源黑体 CN Normal" panose="020B0400000000000000" pitchFamily="34" charset="-122"/>
              </a:rPr>
              <a:t>DAC</a:t>
            </a:r>
            <a:r>
              <a:rPr lang="zh-CN" altLang="en-US">
                <a:solidFill>
                  <a:srgbClr val="002060"/>
                </a:solidFill>
                <a:latin typeface="思源黑体 CN Normal" panose="020B0400000000000000" pitchFamily="34" charset="-122"/>
                <a:ea typeface="思源黑体 CN Normal" panose="020B0400000000000000" pitchFamily="34" charset="-122"/>
              </a:rPr>
              <a:t>输出电压计算方法：</a:t>
            </a:r>
            <a:endParaRPr lang="en-US" altLang="zh-CN">
              <a:solidFill>
                <a:srgbClr val="00206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134235" y="221615"/>
            <a:ext cx="9218295" cy="6578600"/>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710180" y="862965"/>
            <a:ext cx="8591550" cy="5219700"/>
          </a:xfrm>
          <a:prstGeom prst="rect">
            <a:avLst/>
          </a:prstGeom>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837565" y="648335"/>
            <a:ext cx="2915920" cy="1080770"/>
          </a:xfrm>
        </p:spPr>
        <p:txBody>
          <a:bodyPr wrap="square">
            <a:normAutofit/>
          </a:bodyPr>
          <a:lstStyle/>
          <a:p>
            <a:r>
              <a:rPr lang="en-US" altLang="zh-CN" spc="300" dirty="0">
                <a:latin typeface="+mj-ea"/>
                <a:sym typeface="+mn-ea"/>
              </a:rPr>
              <a:t>TIMER</a:t>
            </a:r>
            <a:endParaRPr lang="en-US" altLang="zh-CN" spc="300" dirty="0">
              <a:latin typeface="+mj-ea"/>
              <a:sym typeface="+mn-ea"/>
            </a:endParaRPr>
          </a:p>
        </p:txBody>
      </p:sp>
      <p:sp>
        <p:nvSpPr>
          <p:cNvPr id="6" name="序号"/>
          <p:cNvSpPr txBox="1"/>
          <p:nvPr>
            <p:custDataLst>
              <p:tags r:id="rId2"/>
            </p:custDataLst>
          </p:nvPr>
        </p:nvSpPr>
        <p:spPr>
          <a:xfrm>
            <a:off x="5700221" y="2204561"/>
            <a:ext cx="790922" cy="913432"/>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01.</a:t>
            </a:r>
            <a:endParaRPr lang="zh-CN" altLang="en-US" sz="2800">
              <a:solidFill>
                <a:schemeClr val="accent1">
                  <a:lumMod val="60000"/>
                  <a:lumOff val="40000"/>
                </a:schemeClr>
              </a:solidFill>
              <a:latin typeface="+mj-ea"/>
              <a:ea typeface="+mj-ea"/>
            </a:endParaRPr>
          </a:p>
        </p:txBody>
      </p:sp>
      <p:sp>
        <p:nvSpPr>
          <p:cNvPr id="7" name="项标题"/>
          <p:cNvSpPr txBox="1"/>
          <p:nvPr>
            <p:custDataLst>
              <p:tags r:id="rId3"/>
            </p:custDataLst>
          </p:nvPr>
        </p:nvSpPr>
        <p:spPr>
          <a:xfrm>
            <a:off x="6694805" y="2204720"/>
            <a:ext cx="4794250" cy="458470"/>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sym typeface="+mn-ea"/>
              </a:rPr>
              <a:t>定时器基本原理</a:t>
            </a:r>
            <a:endParaRPr lang="zh-CN" altLang="en-US" sz="2400" b="1" spc="300" dirty="0">
              <a:solidFill>
                <a:schemeClr val="accent1"/>
              </a:solidFill>
              <a:latin typeface="+mj-ea"/>
              <a:ea typeface="+mj-ea"/>
              <a:sym typeface="+mn-ea"/>
            </a:endParaRPr>
          </a:p>
        </p:txBody>
      </p:sp>
      <p:sp>
        <p:nvSpPr>
          <p:cNvPr id="9" name="序号"/>
          <p:cNvSpPr txBox="1"/>
          <p:nvPr>
            <p:custDataLst>
              <p:tags r:id="rId4"/>
            </p:custDataLst>
          </p:nvPr>
        </p:nvSpPr>
        <p:spPr>
          <a:xfrm>
            <a:off x="5700221" y="2761726"/>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02.</a:t>
            </a:r>
            <a:endParaRPr lang="en-US" sz="2800">
              <a:solidFill>
                <a:schemeClr val="accent1">
                  <a:lumMod val="60000"/>
                  <a:lumOff val="40000"/>
                </a:schemeClr>
              </a:solidFill>
              <a:latin typeface="+mj-ea"/>
              <a:ea typeface="+mj-ea"/>
            </a:endParaRPr>
          </a:p>
        </p:txBody>
      </p:sp>
      <p:sp>
        <p:nvSpPr>
          <p:cNvPr id="10" name="项标题"/>
          <p:cNvSpPr txBox="1"/>
          <p:nvPr>
            <p:custDataLst>
              <p:tags r:id="rId5"/>
            </p:custDataLst>
          </p:nvPr>
        </p:nvSpPr>
        <p:spPr>
          <a:xfrm>
            <a:off x="6694805" y="2761615"/>
            <a:ext cx="4794250" cy="442595"/>
          </a:xfrm>
          <a:prstGeom prst="rect">
            <a:avLst/>
          </a:prstGeom>
          <a:noFill/>
        </p:spPr>
        <p:txBody>
          <a:bodyPr wrap="square" lIns="0" tIns="0" rIns="0" bIns="0" rtlCol="0" anchor="t" anchorCtr="0">
            <a:normAutofit/>
          </a:bodyPr>
          <a:lstStyle/>
          <a:p>
            <a:pPr>
              <a:lnSpc>
                <a:spcPct val="100000"/>
              </a:lnSpc>
            </a:pPr>
            <a:r>
              <a:rPr lang="zh-CN" altLang="en-US" sz="2400" b="1" spc="300" dirty="0">
                <a:solidFill>
                  <a:schemeClr val="accent1"/>
                </a:solidFill>
                <a:latin typeface="+mj-ea"/>
                <a:ea typeface="+mj-ea"/>
              </a:rPr>
              <a:t>定时器分类</a:t>
            </a:r>
            <a:endParaRPr lang="zh-CN" altLang="en-US" sz="2400" b="1" spc="300" dirty="0">
              <a:solidFill>
                <a:schemeClr val="accent1"/>
              </a:solidFill>
              <a:latin typeface="+mj-ea"/>
              <a:ea typeface="+mj-ea"/>
            </a:endParaRPr>
          </a:p>
        </p:txBody>
      </p:sp>
      <p:sp>
        <p:nvSpPr>
          <p:cNvPr id="12" name="序号"/>
          <p:cNvSpPr txBox="1"/>
          <p:nvPr>
            <p:custDataLst>
              <p:tags r:id="rId6"/>
            </p:custDataLst>
          </p:nvPr>
        </p:nvSpPr>
        <p:spPr>
          <a:xfrm>
            <a:off x="5705936" y="3301114"/>
            <a:ext cx="790922" cy="907084"/>
          </a:xfrm>
          <a:prstGeom prst="rect">
            <a:avLst/>
          </a:prstGeom>
          <a:noFill/>
        </p:spPr>
        <p:txBody>
          <a:bodyPr wrap="square" lIns="0" tIns="0" rIns="0" bIns="0" rtlCol="0" anchor="t" anchorCtr="0">
            <a:normAutofit/>
          </a:bodyPr>
          <a:lstStyle/>
          <a:p>
            <a:pPr algn="r">
              <a:lnSpc>
                <a:spcPct val="100000"/>
              </a:lnSpc>
            </a:pPr>
            <a:r>
              <a:rPr lang="en-US" sz="2800">
                <a:solidFill>
                  <a:schemeClr val="accent1">
                    <a:lumMod val="60000"/>
                    <a:lumOff val="40000"/>
                  </a:schemeClr>
                </a:solidFill>
                <a:latin typeface="+mj-ea"/>
                <a:ea typeface="+mj-ea"/>
              </a:rPr>
              <a:t>03.</a:t>
            </a:r>
            <a:endParaRPr lang="en-US" sz="2800">
              <a:solidFill>
                <a:schemeClr val="accent1">
                  <a:lumMod val="60000"/>
                  <a:lumOff val="40000"/>
                </a:schemeClr>
              </a:solidFill>
              <a:latin typeface="+mj-ea"/>
              <a:ea typeface="+mj-ea"/>
            </a:endParaRPr>
          </a:p>
        </p:txBody>
      </p:sp>
      <p:sp>
        <p:nvSpPr>
          <p:cNvPr id="13" name="项标题"/>
          <p:cNvSpPr txBox="1"/>
          <p:nvPr>
            <p:custDataLst>
              <p:tags r:id="rId7"/>
            </p:custDataLst>
          </p:nvPr>
        </p:nvSpPr>
        <p:spPr>
          <a:xfrm>
            <a:off x="6700520" y="3301365"/>
            <a:ext cx="4794250" cy="812800"/>
          </a:xfrm>
          <a:prstGeom prst="rect">
            <a:avLst/>
          </a:prstGeom>
          <a:noFill/>
        </p:spPr>
        <p:txBody>
          <a:bodyPr wrap="square" lIns="0" tIns="0" rIns="0" bIns="0" rtlCol="0" anchor="t" anchorCtr="0">
            <a:noAutofit/>
          </a:bodyPr>
          <a:lstStyle/>
          <a:p>
            <a:pPr>
              <a:lnSpc>
                <a:spcPct val="100000"/>
              </a:lnSpc>
            </a:pPr>
            <a:r>
              <a:rPr lang="zh-CN" altLang="en-US" sz="2400" b="1" spc="300" dirty="0">
                <a:solidFill>
                  <a:schemeClr val="accent1"/>
                </a:solidFill>
                <a:latin typeface="+mj-ea"/>
                <a:ea typeface="+mj-ea"/>
                <a:sym typeface="+mn-ea"/>
              </a:rPr>
              <a:t>基本、通用、高级定时器的功能整体区别</a:t>
            </a:r>
            <a:endParaRPr lang="zh-CN" altLang="en-US" sz="2400" b="1" spc="300" dirty="0">
              <a:solidFill>
                <a:schemeClr val="accent1"/>
              </a:solidFill>
              <a:latin typeface="+mj-ea"/>
              <a:ea typeface="+mj-ea"/>
              <a:sym typeface="+mn-ea"/>
            </a:endParaRPr>
          </a:p>
        </p:txBody>
      </p:sp>
    </p:spTree>
    <p:custDataLst>
      <p:tags r:id="rId8"/>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77862" y="196894"/>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定时器定时原理</a:t>
            </a:r>
            <a:endParaRPr lang="en-US" altLang="zh-CN" sz="2000" b="1" dirty="0">
              <a:solidFill>
                <a:srgbClr val="002060"/>
              </a:solidFill>
              <a:latin typeface="思源黑体 CN Bold" pitchFamily="34" charset="-122"/>
              <a:ea typeface="思源黑体 CN Bold" pitchFamily="34" charset="-122"/>
            </a:endParaRPr>
          </a:p>
        </p:txBody>
      </p:sp>
      <p:sp>
        <p:nvSpPr>
          <p:cNvPr id="10" name="矩形 39"/>
          <p:cNvSpPr>
            <a:spLocks noChangeArrowheads="1"/>
          </p:cNvSpPr>
          <p:nvPr/>
        </p:nvSpPr>
        <p:spPr bwMode="auto">
          <a:xfrm>
            <a:off x="567040" y="1231723"/>
            <a:ext cx="2964196" cy="37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nchor="ctr">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定时器核心就是计数器</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13" name="矩形 12"/>
          <p:cNvSpPr/>
          <p:nvPr/>
        </p:nvSpPr>
        <p:spPr>
          <a:xfrm>
            <a:off x="4199874" y="2067435"/>
            <a:ext cx="1355259" cy="5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思源黑体 CN Normal" panose="020B0400000000000000" pitchFamily="34" charset="-122"/>
                <a:ea typeface="思源黑体 CN Normal" panose="020B0400000000000000" pitchFamily="34" charset="-122"/>
              </a:rPr>
              <a:t>CNT</a:t>
            </a:r>
            <a:endParaRPr lang="en-US" altLang="zh-CN" sz="1400" b="1" dirty="0">
              <a:latin typeface="思源黑体 CN Normal" panose="020B0400000000000000" pitchFamily="34" charset="-122"/>
              <a:ea typeface="思源黑体 CN Normal" panose="020B0400000000000000" pitchFamily="34" charset="-122"/>
            </a:endParaRPr>
          </a:p>
          <a:p>
            <a:pPr algn="ctr"/>
            <a:r>
              <a:rPr lang="zh-CN" altLang="en-US" sz="1400" b="1" dirty="0">
                <a:latin typeface="思源黑体 CN Normal" panose="020B0400000000000000" pitchFamily="34" charset="-122"/>
                <a:ea typeface="思源黑体 CN Normal" panose="020B0400000000000000" pitchFamily="34" charset="-122"/>
              </a:rPr>
              <a:t>计数器</a:t>
            </a:r>
            <a:endParaRPr lang="zh-CN" altLang="en-US" sz="1400" b="1" dirty="0">
              <a:latin typeface="思源黑体 CN Normal" panose="020B0400000000000000" pitchFamily="34" charset="-122"/>
              <a:ea typeface="思源黑体 CN Normal" panose="020B0400000000000000" pitchFamily="34" charset="-122"/>
            </a:endParaRPr>
          </a:p>
        </p:txBody>
      </p:sp>
      <p:sp>
        <p:nvSpPr>
          <p:cNvPr id="14" name="矩形 13"/>
          <p:cNvSpPr/>
          <p:nvPr/>
        </p:nvSpPr>
        <p:spPr>
          <a:xfrm>
            <a:off x="4199874" y="3058392"/>
            <a:ext cx="1364781" cy="5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思源黑体 CN Normal" panose="020B0400000000000000" pitchFamily="34" charset="-122"/>
                <a:ea typeface="思源黑体 CN Normal" panose="020B0400000000000000" pitchFamily="34" charset="-122"/>
              </a:rPr>
              <a:t>ARR</a:t>
            </a:r>
            <a:endParaRPr lang="en-US" altLang="zh-CN" sz="1400" b="1" dirty="0">
              <a:latin typeface="思源黑体 CN Normal" panose="020B0400000000000000" pitchFamily="34" charset="-122"/>
              <a:ea typeface="思源黑体 CN Normal" panose="020B0400000000000000" pitchFamily="34" charset="-122"/>
            </a:endParaRPr>
          </a:p>
          <a:p>
            <a:pPr algn="ctr"/>
            <a:r>
              <a:rPr lang="zh-CN" altLang="en-US" sz="1400" b="1">
                <a:latin typeface="思源黑体 CN Normal" panose="020B0400000000000000" pitchFamily="34" charset="-122"/>
                <a:ea typeface="思源黑体 CN Normal" panose="020B0400000000000000" pitchFamily="34" charset="-122"/>
              </a:rPr>
              <a:t>自动重</a:t>
            </a:r>
            <a:r>
              <a:rPr lang="zh-CN" altLang="en-US" sz="1400" b="1" dirty="0">
                <a:latin typeface="思源黑体 CN Normal" panose="020B0400000000000000" pitchFamily="34" charset="-122"/>
                <a:ea typeface="思源黑体 CN Normal" panose="020B0400000000000000" pitchFamily="34" charset="-122"/>
              </a:rPr>
              <a:t>装载值</a:t>
            </a:r>
            <a:endParaRPr lang="zh-CN" altLang="en-US" sz="1400" b="1" dirty="0">
              <a:latin typeface="思源黑体 CN Normal" panose="020B0400000000000000" pitchFamily="34" charset="-122"/>
              <a:ea typeface="思源黑体 CN Normal" panose="020B0400000000000000" pitchFamily="34" charset="-122"/>
            </a:endParaRPr>
          </a:p>
        </p:txBody>
      </p:sp>
      <p:cxnSp>
        <p:nvCxnSpPr>
          <p:cNvPr id="15" name="直接箭头连接符 14"/>
          <p:cNvCxnSpPr/>
          <p:nvPr/>
        </p:nvCxnSpPr>
        <p:spPr>
          <a:xfrm flipV="1">
            <a:off x="4918862" y="2599881"/>
            <a:ext cx="0" cy="442822"/>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6664387" y="2067435"/>
            <a:ext cx="1272542" cy="5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思源黑体 CN Normal" panose="020B0400000000000000" pitchFamily="34" charset="-122"/>
                <a:ea typeface="思源黑体 CN Normal" panose="020B0400000000000000" pitchFamily="34" charset="-122"/>
              </a:rPr>
              <a:t>时间到</a:t>
            </a:r>
            <a:endParaRPr lang="zh-CN" altLang="en-US" sz="1400" b="1" dirty="0">
              <a:latin typeface="思源黑体 CN Normal" panose="020B0400000000000000" pitchFamily="34" charset="-122"/>
              <a:ea typeface="思源黑体 CN Normal" panose="020B0400000000000000" pitchFamily="34" charset="-122"/>
            </a:endParaRPr>
          </a:p>
        </p:txBody>
      </p:sp>
      <p:cxnSp>
        <p:nvCxnSpPr>
          <p:cNvPr id="17" name="直接箭头连接符 16"/>
          <p:cNvCxnSpPr/>
          <p:nvPr/>
        </p:nvCxnSpPr>
        <p:spPr>
          <a:xfrm>
            <a:off x="5613746" y="2333658"/>
            <a:ext cx="97191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759717" y="2067434"/>
            <a:ext cx="679967" cy="307777"/>
          </a:xfrm>
          <a:prstGeom prst="rect">
            <a:avLst/>
          </a:prstGeom>
          <a:noFill/>
        </p:spPr>
        <p:txBody>
          <a:bodyPr wrap="square" rtlCol="0">
            <a:spAutoFit/>
          </a:bodyPr>
          <a:lstStyle/>
          <a:p>
            <a:pPr algn="ctr"/>
            <a:r>
              <a:rPr lang="zh-CN" altLang="en-US" sz="1400" dirty="0">
                <a:solidFill>
                  <a:srgbClr val="002060"/>
                </a:solidFill>
                <a:latin typeface="思源黑体 CN Normal" panose="020B0400000000000000" pitchFamily="34" charset="-122"/>
                <a:ea typeface="思源黑体 CN Normal" panose="020B0400000000000000" pitchFamily="34" charset="-122"/>
              </a:rPr>
              <a:t>溢出</a:t>
            </a:r>
            <a:endParaRPr lang="zh-CN" altLang="en-US" sz="1400" dirty="0">
              <a:solidFill>
                <a:srgbClr val="002060"/>
              </a:solidFill>
              <a:latin typeface="思源黑体 CN Normal" panose="020B0400000000000000" pitchFamily="34" charset="-122"/>
              <a:ea typeface="思源黑体 CN Normal" panose="020B0400000000000000" pitchFamily="34" charset="-122"/>
            </a:endParaRPr>
          </a:p>
        </p:txBody>
      </p:sp>
      <p:sp>
        <p:nvSpPr>
          <p:cNvPr id="19" name="矩形 18"/>
          <p:cNvSpPr/>
          <p:nvPr/>
        </p:nvSpPr>
        <p:spPr>
          <a:xfrm>
            <a:off x="1900795" y="2067435"/>
            <a:ext cx="1272542" cy="5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思源黑体 CN Normal" panose="020B0400000000000000" pitchFamily="34" charset="-122"/>
                <a:ea typeface="思源黑体 CN Normal" panose="020B0400000000000000" pitchFamily="34" charset="-122"/>
              </a:rPr>
              <a:t>PSC</a:t>
            </a:r>
            <a:endParaRPr lang="en-US" altLang="zh-CN" sz="1400" b="1" dirty="0">
              <a:latin typeface="思源黑体 CN Normal" panose="020B0400000000000000" pitchFamily="34" charset="-122"/>
              <a:ea typeface="思源黑体 CN Normal" panose="020B0400000000000000" pitchFamily="34" charset="-122"/>
            </a:endParaRPr>
          </a:p>
          <a:p>
            <a:pPr algn="ctr"/>
            <a:r>
              <a:rPr lang="zh-CN" altLang="en-US" sz="1400" b="1">
                <a:latin typeface="思源黑体 CN Normal" panose="020B0400000000000000" pitchFamily="34" charset="-122"/>
                <a:ea typeface="思源黑体 CN Normal" panose="020B0400000000000000" pitchFamily="34" charset="-122"/>
              </a:rPr>
              <a:t>预分频器</a:t>
            </a:r>
            <a:endParaRPr lang="zh-CN" altLang="en-US" sz="1400" b="1" dirty="0">
              <a:latin typeface="思源黑体 CN Normal" panose="020B0400000000000000" pitchFamily="34" charset="-122"/>
              <a:ea typeface="思源黑体 CN Normal" panose="020B0400000000000000" pitchFamily="34" charset="-122"/>
            </a:endParaRPr>
          </a:p>
        </p:txBody>
      </p:sp>
      <p:cxnSp>
        <p:nvCxnSpPr>
          <p:cNvPr id="20" name="直接箭头连接符 19"/>
          <p:cNvCxnSpPr/>
          <p:nvPr/>
        </p:nvCxnSpPr>
        <p:spPr>
          <a:xfrm>
            <a:off x="3208538" y="2353190"/>
            <a:ext cx="94847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289975" y="2025881"/>
            <a:ext cx="962642" cy="307777"/>
          </a:xfrm>
          <a:prstGeom prst="rect">
            <a:avLst/>
          </a:prstGeom>
          <a:noFill/>
        </p:spPr>
        <p:txBody>
          <a:bodyPr wrap="square" rtlCol="0">
            <a:spAutoFit/>
          </a:bodyPr>
          <a:lstStyle/>
          <a:p>
            <a:r>
              <a:rPr lang="en-US" altLang="zh-CN" sz="1400" dirty="0">
                <a:solidFill>
                  <a:srgbClr val="002060"/>
                </a:solidFill>
                <a:latin typeface="思源黑体 CN Normal" panose="020B0400000000000000" pitchFamily="34" charset="-122"/>
                <a:ea typeface="思源黑体 CN Normal" panose="020B0400000000000000" pitchFamily="34" charset="-122"/>
              </a:rPr>
              <a:t>TIM CLK</a:t>
            </a:r>
            <a:endParaRPr lang="zh-CN" altLang="en-US" sz="1400"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22" name="直接箭头连接符 21"/>
          <p:cNvCxnSpPr/>
          <p:nvPr/>
        </p:nvCxnSpPr>
        <p:spPr>
          <a:xfrm>
            <a:off x="884887" y="2317981"/>
            <a:ext cx="97191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094190" y="2054905"/>
            <a:ext cx="525426" cy="307777"/>
          </a:xfrm>
          <a:prstGeom prst="rect">
            <a:avLst/>
          </a:prstGeom>
          <a:noFill/>
        </p:spPr>
        <p:txBody>
          <a:bodyPr wrap="square" rtlCol="0">
            <a:spAutoFit/>
          </a:bodyPr>
          <a:lstStyle/>
          <a:p>
            <a:r>
              <a:rPr lang="en-US" altLang="zh-CN" sz="1400" dirty="0">
                <a:solidFill>
                  <a:srgbClr val="002060"/>
                </a:solidFill>
                <a:latin typeface="思源黑体 CN Normal" panose="020B0400000000000000" pitchFamily="34" charset="-122"/>
                <a:ea typeface="思源黑体 CN Normal" panose="020B0400000000000000" pitchFamily="34" charset="-122"/>
              </a:rPr>
              <a:t>CLK</a:t>
            </a:r>
            <a:endParaRPr lang="zh-CN" altLang="en-US" sz="1400" dirty="0">
              <a:solidFill>
                <a:srgbClr val="002060"/>
              </a:solidFill>
              <a:latin typeface="思源黑体 CN Normal" panose="020B0400000000000000" pitchFamily="34" charset="-122"/>
              <a:ea typeface="思源黑体 CN Normal" panose="020B0400000000000000" pitchFamily="34" charset="-122"/>
            </a:endParaRPr>
          </a:p>
        </p:txBody>
      </p:sp>
      <p:sp>
        <p:nvSpPr>
          <p:cNvPr id="26" name="矩形 39"/>
          <p:cNvSpPr>
            <a:spLocks noChangeArrowheads="1"/>
          </p:cNvSpPr>
          <p:nvPr/>
        </p:nvSpPr>
        <p:spPr bwMode="auto">
          <a:xfrm>
            <a:off x="567040" y="780047"/>
            <a:ext cx="5652375" cy="37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nchor="ctr">
            <a:spAutoFit/>
          </a:bodyPr>
          <a:lstStyle/>
          <a:p>
            <a:pPr>
              <a:lnSpc>
                <a:spcPct val="150000"/>
              </a:lnSpc>
            </a:pPr>
            <a:r>
              <a:rPr lang="zh-CN" altLang="en-US" sz="1600" dirty="0">
                <a:solidFill>
                  <a:srgbClr val="002060"/>
                </a:solidFill>
                <a:latin typeface="思源黑体 CN Normal" panose="020B0400000000000000" pitchFamily="34" charset="-122"/>
                <a:ea typeface="思源黑体 CN Normal" panose="020B0400000000000000" pitchFamily="34" charset="-122"/>
              </a:rPr>
              <a:t>使用精准的时基，通过硬件的方式，实现定时功能</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p:txBody>
      </p:sp>
      <p:sp>
        <p:nvSpPr>
          <p:cNvPr id="32" name="矩形 39"/>
          <p:cNvSpPr>
            <a:spLocks noChangeArrowheads="1"/>
          </p:cNvSpPr>
          <p:nvPr/>
        </p:nvSpPr>
        <p:spPr bwMode="auto">
          <a:xfrm>
            <a:off x="177862" y="4032401"/>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000" b="1">
                <a:solidFill>
                  <a:srgbClr val="002060"/>
                </a:solidFill>
                <a:latin typeface="思源黑体 CN Bold" pitchFamily="34" charset="-122"/>
                <a:ea typeface="思源黑体 CN Bold" pitchFamily="34" charset="-122"/>
              </a:rPr>
              <a:t>STM32</a:t>
            </a:r>
            <a:r>
              <a:rPr lang="zh-CN" altLang="en-US" sz="2000" b="1">
                <a:solidFill>
                  <a:srgbClr val="002060"/>
                </a:solidFill>
                <a:latin typeface="思源黑体 CN Bold" pitchFamily="34" charset="-122"/>
                <a:ea typeface="思源黑体 CN Bold" pitchFamily="34" charset="-122"/>
              </a:rPr>
              <a:t>定时器分类</a:t>
            </a:r>
            <a:endParaRPr lang="en-US" altLang="zh-CN" sz="2000" b="1">
              <a:solidFill>
                <a:srgbClr val="002060"/>
              </a:solidFill>
              <a:latin typeface="思源黑体 CN Bold" pitchFamily="34" charset="-122"/>
              <a:ea typeface="思源黑体 CN Bold" pitchFamily="34" charset="-122"/>
            </a:endParaRPr>
          </a:p>
        </p:txBody>
      </p:sp>
      <p:sp>
        <p:nvSpPr>
          <p:cNvPr id="33" name="矩形: 圆角 23"/>
          <p:cNvSpPr/>
          <p:nvPr/>
        </p:nvSpPr>
        <p:spPr>
          <a:xfrm>
            <a:off x="4507081" y="5017932"/>
            <a:ext cx="1665146" cy="332226"/>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dirty="0">
                <a:solidFill>
                  <a:srgbClr val="002060"/>
                </a:solidFill>
                <a:latin typeface="思源黑体 CN Normal" panose="020B0400000000000000" pitchFamily="34" charset="-122"/>
                <a:ea typeface="思源黑体 CN Normal" panose="020B0400000000000000" pitchFamily="34" charset="-122"/>
              </a:rPr>
              <a:t>STM32</a:t>
            </a:r>
            <a:r>
              <a:rPr lang="zh-CN" altLang="en-US" dirty="0">
                <a:solidFill>
                  <a:srgbClr val="002060"/>
                </a:solidFill>
                <a:latin typeface="思源黑体 CN Normal" panose="020B0400000000000000" pitchFamily="34" charset="-122"/>
                <a:ea typeface="思源黑体 CN Normal" panose="020B0400000000000000" pitchFamily="34" charset="-122"/>
              </a:rPr>
              <a:t>定时器</a:t>
            </a:r>
            <a:endParaRPr lang="zh-CN" altLang="en-US" sz="2000"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34" name="直接箭头连接符 33"/>
          <p:cNvCxnSpPr/>
          <p:nvPr/>
        </p:nvCxnSpPr>
        <p:spPr>
          <a:xfrm>
            <a:off x="6445801" y="4061174"/>
            <a:ext cx="10844" cy="234668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177960" y="5178929"/>
            <a:ext cx="25808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6436048" y="4061174"/>
            <a:ext cx="428124"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8886297" y="5772528"/>
            <a:ext cx="1745504" cy="296562"/>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a:solidFill>
                  <a:srgbClr val="002060"/>
                </a:solidFill>
                <a:latin typeface="思源黑体 CN Normal" panose="020B0400000000000000" pitchFamily="34" charset="-122"/>
                <a:ea typeface="思源黑体 CN Normal" panose="020B0400000000000000" pitchFamily="34" charset="-122"/>
              </a:rPr>
              <a:t>低功耗定时器</a:t>
            </a:r>
            <a:endParaRPr lang="zh-CN" altLang="en-US">
              <a:solidFill>
                <a:srgbClr val="002060"/>
              </a:solidFill>
              <a:latin typeface="思源黑体 CN Normal" panose="020B0400000000000000" pitchFamily="34" charset="-122"/>
              <a:ea typeface="思源黑体 CN Normal" panose="020B0400000000000000" pitchFamily="34" charset="-122"/>
            </a:endParaRPr>
          </a:p>
        </p:txBody>
      </p:sp>
      <p:sp>
        <p:nvSpPr>
          <p:cNvPr id="43" name="矩形 42"/>
          <p:cNvSpPr/>
          <p:nvPr/>
        </p:nvSpPr>
        <p:spPr>
          <a:xfrm>
            <a:off x="6864172" y="3908442"/>
            <a:ext cx="1472535" cy="290793"/>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a:solidFill>
                  <a:srgbClr val="002060"/>
                </a:solidFill>
                <a:latin typeface="思源黑体 CN Normal" panose="020B0400000000000000" pitchFamily="34" charset="-122"/>
                <a:ea typeface="思源黑体 CN Normal" panose="020B0400000000000000" pitchFamily="34" charset="-122"/>
              </a:rPr>
              <a:t>常规定时器</a:t>
            </a:r>
            <a:endParaRPr lang="zh-CN" altLang="en-US">
              <a:solidFill>
                <a:srgbClr val="002060"/>
              </a:solidFill>
              <a:latin typeface="思源黑体 CN Normal" panose="020B0400000000000000" pitchFamily="34" charset="-122"/>
              <a:ea typeface="思源黑体 CN Normal" panose="020B0400000000000000" pitchFamily="34" charset="-122"/>
            </a:endParaRPr>
          </a:p>
        </p:txBody>
      </p:sp>
      <p:sp>
        <p:nvSpPr>
          <p:cNvPr id="44" name="矩形 43"/>
          <p:cNvSpPr/>
          <p:nvPr/>
        </p:nvSpPr>
        <p:spPr>
          <a:xfrm>
            <a:off x="8864830" y="3543472"/>
            <a:ext cx="1751064" cy="285293"/>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C00000"/>
                </a:solidFill>
                <a:latin typeface="思源黑体 CN Normal" panose="020B0400000000000000" pitchFamily="34" charset="-122"/>
                <a:ea typeface="思源黑体 CN Normal" panose="020B0400000000000000" pitchFamily="34" charset="-122"/>
              </a:rPr>
              <a:t>基本定时器</a:t>
            </a:r>
            <a:endParaRPr lang="zh-CN" altLang="en-US" dirty="0">
              <a:solidFill>
                <a:srgbClr val="C00000"/>
              </a:solidFill>
              <a:latin typeface="思源黑体 CN Normal" panose="020B0400000000000000" pitchFamily="34" charset="-122"/>
              <a:ea typeface="思源黑体 CN Normal" panose="020B0400000000000000" pitchFamily="34" charset="-122"/>
            </a:endParaRPr>
          </a:p>
        </p:txBody>
      </p:sp>
      <p:cxnSp>
        <p:nvCxnSpPr>
          <p:cNvPr id="45" name="直接箭头连接符 44"/>
          <p:cNvCxnSpPr/>
          <p:nvPr/>
        </p:nvCxnSpPr>
        <p:spPr>
          <a:xfrm>
            <a:off x="8342566" y="4052024"/>
            <a:ext cx="25808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8865285" y="3902603"/>
            <a:ext cx="1751065" cy="275093"/>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C00000"/>
                </a:solidFill>
                <a:latin typeface="思源黑体 CN Normal" panose="020B0400000000000000" pitchFamily="34" charset="-122"/>
                <a:ea typeface="思源黑体 CN Normal" panose="020B0400000000000000" pitchFamily="34" charset="-122"/>
              </a:rPr>
              <a:t>通用定时器</a:t>
            </a:r>
            <a:endParaRPr lang="zh-CN" altLang="en-US" dirty="0">
              <a:solidFill>
                <a:srgbClr val="C00000"/>
              </a:solidFill>
              <a:latin typeface="思源黑体 CN Normal" panose="020B0400000000000000" pitchFamily="34" charset="-122"/>
              <a:ea typeface="思源黑体 CN Normal" panose="020B0400000000000000" pitchFamily="34" charset="-122"/>
            </a:endParaRPr>
          </a:p>
        </p:txBody>
      </p:sp>
      <p:sp>
        <p:nvSpPr>
          <p:cNvPr id="47" name="矩形 46"/>
          <p:cNvSpPr/>
          <p:nvPr/>
        </p:nvSpPr>
        <p:spPr>
          <a:xfrm>
            <a:off x="8871115" y="4251534"/>
            <a:ext cx="1751066" cy="277805"/>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C00000"/>
                </a:solidFill>
                <a:latin typeface="思源黑体 CN Normal" panose="020B0400000000000000" pitchFamily="34" charset="-122"/>
                <a:ea typeface="思源黑体 CN Normal" panose="020B0400000000000000" pitchFamily="34" charset="-122"/>
              </a:rPr>
              <a:t>高级定时器</a:t>
            </a:r>
            <a:endParaRPr lang="zh-CN" altLang="en-US" dirty="0">
              <a:solidFill>
                <a:srgbClr val="C00000"/>
              </a:solidFill>
              <a:latin typeface="思源黑体 CN Normal" panose="020B0400000000000000" pitchFamily="34" charset="-122"/>
              <a:ea typeface="思源黑体 CN Normal" panose="020B0400000000000000" pitchFamily="34" charset="-122"/>
            </a:endParaRPr>
          </a:p>
        </p:txBody>
      </p:sp>
      <p:cxnSp>
        <p:nvCxnSpPr>
          <p:cNvPr id="48" name="直接箭头连接符 47"/>
          <p:cNvCxnSpPr/>
          <p:nvPr/>
        </p:nvCxnSpPr>
        <p:spPr>
          <a:xfrm>
            <a:off x="8616541" y="3686118"/>
            <a:ext cx="0" cy="70743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8600654" y="3686118"/>
            <a:ext cx="25808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8600654" y="4053827"/>
            <a:ext cx="25808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8607198" y="4387575"/>
            <a:ext cx="25808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8891838" y="6255177"/>
            <a:ext cx="1752045" cy="298162"/>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a:solidFill>
                  <a:srgbClr val="002060"/>
                </a:solidFill>
                <a:latin typeface="思源黑体 CN Normal" panose="020B0400000000000000" pitchFamily="34" charset="-122"/>
                <a:ea typeface="思源黑体 CN Normal" panose="020B0400000000000000" pitchFamily="34" charset="-122"/>
              </a:rPr>
              <a:t>SysTick</a:t>
            </a:r>
            <a:r>
              <a:rPr lang="zh-CN" altLang="en-US">
                <a:solidFill>
                  <a:srgbClr val="002060"/>
                </a:solidFill>
                <a:latin typeface="思源黑体 CN Normal" panose="020B0400000000000000" pitchFamily="34" charset="-122"/>
                <a:ea typeface="思源黑体 CN Normal" panose="020B0400000000000000" pitchFamily="34" charset="-122"/>
              </a:rPr>
              <a:t>定时器</a:t>
            </a:r>
            <a:endParaRPr lang="zh-CN" altLang="en-US">
              <a:solidFill>
                <a:srgbClr val="002060"/>
              </a:solidFill>
              <a:latin typeface="思源黑体 CN Normal" panose="020B0400000000000000" pitchFamily="34" charset="-122"/>
              <a:ea typeface="思源黑体 CN Normal" panose="020B0400000000000000" pitchFamily="34" charset="-122"/>
            </a:endParaRPr>
          </a:p>
        </p:txBody>
      </p:sp>
      <p:sp>
        <p:nvSpPr>
          <p:cNvPr id="58" name="矩形 57"/>
          <p:cNvSpPr/>
          <p:nvPr/>
        </p:nvSpPr>
        <p:spPr>
          <a:xfrm>
            <a:off x="8881958" y="4675946"/>
            <a:ext cx="1754183" cy="273428"/>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02060"/>
                </a:solidFill>
                <a:latin typeface="思源黑体 CN Normal" panose="020B0400000000000000" pitchFamily="34" charset="-122"/>
                <a:ea typeface="思源黑体 CN Normal" panose="020B0400000000000000" pitchFamily="34" charset="-122"/>
              </a:rPr>
              <a:t>独立看门狗</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59" name="矩形 58"/>
          <p:cNvSpPr/>
          <p:nvPr/>
        </p:nvSpPr>
        <p:spPr>
          <a:xfrm>
            <a:off x="8891838" y="5024877"/>
            <a:ext cx="1744305" cy="302646"/>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a:solidFill>
                  <a:srgbClr val="002060"/>
                </a:solidFill>
                <a:latin typeface="思源黑体 CN Normal" panose="020B0400000000000000" pitchFamily="34" charset="-122"/>
                <a:ea typeface="思源黑体 CN Normal" panose="020B0400000000000000" pitchFamily="34" charset="-122"/>
              </a:rPr>
              <a:t>窗口看门狗</a:t>
            </a:r>
            <a:endParaRPr lang="zh-CN" altLang="en-US">
              <a:solidFill>
                <a:srgbClr val="002060"/>
              </a:solidFill>
              <a:latin typeface="思源黑体 CN Normal" panose="020B0400000000000000" pitchFamily="34" charset="-122"/>
              <a:ea typeface="思源黑体 CN Normal" panose="020B0400000000000000" pitchFamily="34" charset="-122"/>
            </a:endParaRPr>
          </a:p>
        </p:txBody>
      </p:sp>
      <p:sp>
        <p:nvSpPr>
          <p:cNvPr id="60" name="矩形 59"/>
          <p:cNvSpPr/>
          <p:nvPr/>
        </p:nvSpPr>
        <p:spPr>
          <a:xfrm>
            <a:off x="8890640" y="5401579"/>
            <a:ext cx="1745504" cy="298161"/>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a:solidFill>
                  <a:srgbClr val="002060"/>
                </a:solidFill>
                <a:latin typeface="思源黑体 CN Normal" panose="020B0400000000000000" pitchFamily="34" charset="-122"/>
                <a:ea typeface="思源黑体 CN Normal" panose="020B0400000000000000" pitchFamily="34" charset="-122"/>
              </a:rPr>
              <a:t>实时时钟</a:t>
            </a:r>
            <a:endParaRPr lang="zh-CN" altLang="en-US">
              <a:solidFill>
                <a:srgbClr val="002060"/>
              </a:solidFill>
              <a:latin typeface="思源黑体 CN Normal" panose="020B0400000000000000" pitchFamily="34" charset="-122"/>
              <a:ea typeface="思源黑体 CN Normal" panose="020B0400000000000000" pitchFamily="34" charset="-122"/>
            </a:endParaRPr>
          </a:p>
        </p:txBody>
      </p:sp>
      <p:sp>
        <p:nvSpPr>
          <p:cNvPr id="61" name="矩形 60"/>
          <p:cNvSpPr/>
          <p:nvPr/>
        </p:nvSpPr>
        <p:spPr>
          <a:xfrm>
            <a:off x="6882989" y="5034210"/>
            <a:ext cx="1472535" cy="290793"/>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02060"/>
                </a:solidFill>
                <a:latin typeface="思源黑体 CN Normal" panose="020B0400000000000000" pitchFamily="34" charset="-122"/>
                <a:ea typeface="思源黑体 CN Normal" panose="020B0400000000000000" pitchFamily="34" charset="-122"/>
              </a:rPr>
              <a:t>专用定时器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62" name="直接箭头连接符 61"/>
          <p:cNvCxnSpPr/>
          <p:nvPr/>
        </p:nvCxnSpPr>
        <p:spPr>
          <a:xfrm>
            <a:off x="8594923" y="4808977"/>
            <a:ext cx="270362" cy="1"/>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8362064" y="5178929"/>
            <a:ext cx="522035"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8616541" y="5550659"/>
            <a:ext cx="26462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8604092" y="4808977"/>
            <a:ext cx="2130" cy="1111832"/>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6449132" y="5184045"/>
            <a:ext cx="428124"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endCxn id="39" idx="1"/>
          </p:cNvCxnSpPr>
          <p:nvPr/>
        </p:nvCxnSpPr>
        <p:spPr>
          <a:xfrm flipV="1">
            <a:off x="6449132" y="6404258"/>
            <a:ext cx="433974" cy="3598"/>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8604092" y="5915853"/>
            <a:ext cx="287868" cy="0"/>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6883106" y="6258861"/>
            <a:ext cx="1472535" cy="290793"/>
          </a:xfrm>
          <a:prstGeom prst="rect">
            <a:avLst/>
          </a:prstGeom>
          <a:ln w="19050">
            <a:solidFill>
              <a:srgbClr val="00206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002060"/>
                </a:solidFill>
                <a:latin typeface="思源黑体 CN Normal" panose="020B0400000000000000" pitchFamily="34" charset="-122"/>
                <a:ea typeface="思源黑体 CN Normal" panose="020B0400000000000000" pitchFamily="34" charset="-122"/>
              </a:rPr>
              <a:t>内核定时器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cxnSp>
        <p:nvCxnSpPr>
          <p:cNvPr id="49" name="直接箭头连接符 48"/>
          <p:cNvCxnSpPr>
            <a:endCxn id="57" idx="1"/>
          </p:cNvCxnSpPr>
          <p:nvPr/>
        </p:nvCxnSpPr>
        <p:spPr>
          <a:xfrm>
            <a:off x="8362064" y="6404257"/>
            <a:ext cx="529774" cy="1"/>
          </a:xfrm>
          <a:prstGeom prst="straightConnector1">
            <a:avLst/>
          </a:prstGeom>
          <a:ln w="28575">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00"/>
                                        <p:tgtEl>
                                          <p:spTgt spid="14"/>
                                        </p:tgtEl>
                                      </p:cBhvr>
                                    </p:animEffect>
                                  </p:childTnLst>
                                </p:cTn>
                              </p:par>
                              <p:par>
                                <p:cTn id="57" presetID="10"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fade">
                                      <p:cBhvr>
                                        <p:cTn id="69" dur="500"/>
                                        <p:tgtEl>
                                          <p:spTgt spid="71"/>
                                        </p:tgtEl>
                                      </p:cBhvr>
                                    </p:animEffect>
                                  </p:childTnLst>
                                </p:cTn>
                              </p:par>
                              <p:par>
                                <p:cTn id="70" presetID="10" presetClass="entr" presetSubtype="0" fill="hold"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500"/>
                                        <p:tgtEl>
                                          <p:spTgt spid="4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animEffect transition="in" filter="fade">
                                      <p:cBhvr>
                                        <p:cTn id="87" dur="500"/>
                                        <p:tgtEl>
                                          <p:spTgt spid="6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par>
                                <p:cTn id="96" presetID="10" presetClass="entr" presetSubtype="0" fill="hold"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500"/>
                                        <p:tgtEl>
                                          <p:spTgt spid="48"/>
                                        </p:tgtEl>
                                      </p:cBhvr>
                                    </p:animEffect>
                                  </p:childTnLst>
                                </p:cTn>
                              </p:par>
                              <p:par>
                                <p:cTn id="99" presetID="10" presetClass="entr" presetSubtype="0"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500"/>
                                        <p:tgtEl>
                                          <p:spTgt spid="51"/>
                                        </p:tgtEl>
                                      </p:cBhvr>
                                    </p:animEffect>
                                  </p:childTnLst>
                                </p:cTn>
                              </p:par>
                              <p:par>
                                <p:cTn id="102" presetID="10" presetClass="entr" presetSubtype="0" fill="hold"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500"/>
                                        <p:tgtEl>
                                          <p:spTgt spid="52"/>
                                        </p:tgtEl>
                                      </p:cBhvr>
                                    </p:animEffect>
                                  </p:childTnLst>
                                </p:cTn>
                              </p:par>
                              <p:par>
                                <p:cTn id="105" presetID="10" presetClass="entr" presetSubtype="0"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5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500"/>
                                        <p:tgtEl>
                                          <p:spTgt spid="4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5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63"/>
                                        </p:tgtEl>
                                        <p:attrNameLst>
                                          <p:attrName>style.visibility</p:attrName>
                                        </p:attrNameLst>
                                      </p:cBhvr>
                                      <p:to>
                                        <p:strVal val="visible"/>
                                      </p:to>
                                    </p:set>
                                    <p:animEffect transition="in" filter="fade">
                                      <p:cBhvr>
                                        <p:cTn id="121" dur="500"/>
                                        <p:tgtEl>
                                          <p:spTgt spid="63"/>
                                        </p:tgtEl>
                                      </p:cBhvr>
                                    </p:animEffect>
                                  </p:childTnLst>
                                </p:cTn>
                              </p:par>
                              <p:par>
                                <p:cTn id="122" presetID="10" presetClass="entr" presetSubtype="0" fill="hold" nodeType="withEffect">
                                  <p:stCondLst>
                                    <p:cond delay="0"/>
                                  </p:stCondLst>
                                  <p:childTnLst>
                                    <p:set>
                                      <p:cBhvr>
                                        <p:cTn id="123" dur="1" fill="hold">
                                          <p:stCondLst>
                                            <p:cond delay="0"/>
                                          </p:stCondLst>
                                        </p:cTn>
                                        <p:tgtEl>
                                          <p:spTgt spid="65"/>
                                        </p:tgtEl>
                                        <p:attrNameLst>
                                          <p:attrName>style.visibility</p:attrName>
                                        </p:attrNameLst>
                                      </p:cBhvr>
                                      <p:to>
                                        <p:strVal val="visible"/>
                                      </p:to>
                                    </p:set>
                                    <p:animEffect transition="in" filter="fade">
                                      <p:cBhvr>
                                        <p:cTn id="124" dur="500"/>
                                        <p:tgtEl>
                                          <p:spTgt spid="65"/>
                                        </p:tgtEl>
                                      </p:cBhvr>
                                    </p:animEffect>
                                  </p:childTnLst>
                                </p:cTn>
                              </p:par>
                              <p:par>
                                <p:cTn id="125" presetID="10" presetClass="entr" presetSubtype="0" fill="hold" nodeType="withEffect">
                                  <p:stCondLst>
                                    <p:cond delay="0"/>
                                  </p:stCondLst>
                                  <p:childTnLst>
                                    <p:set>
                                      <p:cBhvr>
                                        <p:cTn id="126" dur="1" fill="hold">
                                          <p:stCondLst>
                                            <p:cond delay="0"/>
                                          </p:stCondLst>
                                        </p:cTn>
                                        <p:tgtEl>
                                          <p:spTgt spid="62"/>
                                        </p:tgtEl>
                                        <p:attrNameLst>
                                          <p:attrName>style.visibility</p:attrName>
                                        </p:attrNameLst>
                                      </p:cBhvr>
                                      <p:to>
                                        <p:strVal val="visible"/>
                                      </p:to>
                                    </p:set>
                                    <p:animEffect transition="in" filter="fade">
                                      <p:cBhvr>
                                        <p:cTn id="127" dur="500"/>
                                        <p:tgtEl>
                                          <p:spTgt spid="62"/>
                                        </p:tgtEl>
                                      </p:cBhvr>
                                    </p:animEffect>
                                  </p:childTnLst>
                                </p:cTn>
                              </p:par>
                              <p:par>
                                <p:cTn id="128" presetID="10" presetClass="entr" presetSubtype="0" fill="hold" nodeType="withEffect">
                                  <p:stCondLst>
                                    <p:cond delay="0"/>
                                  </p:stCondLst>
                                  <p:childTnLst>
                                    <p:set>
                                      <p:cBhvr>
                                        <p:cTn id="129" dur="1" fill="hold">
                                          <p:stCondLst>
                                            <p:cond delay="0"/>
                                          </p:stCondLst>
                                        </p:cTn>
                                        <p:tgtEl>
                                          <p:spTgt spid="64"/>
                                        </p:tgtEl>
                                        <p:attrNameLst>
                                          <p:attrName>style.visibility</p:attrName>
                                        </p:attrNameLst>
                                      </p:cBhvr>
                                      <p:to>
                                        <p:strVal val="visible"/>
                                      </p:to>
                                    </p:set>
                                    <p:animEffect transition="in" filter="fade">
                                      <p:cBhvr>
                                        <p:cTn id="130" dur="500"/>
                                        <p:tgtEl>
                                          <p:spTgt spid="64"/>
                                        </p:tgtEl>
                                      </p:cBhvr>
                                    </p:animEffect>
                                  </p:childTnLst>
                                </p:cTn>
                              </p:par>
                              <p:par>
                                <p:cTn id="131" presetID="10" presetClass="entr" presetSubtype="0" fill="hold" nodeType="withEffect">
                                  <p:stCondLst>
                                    <p:cond delay="0"/>
                                  </p:stCondLst>
                                  <p:childTnLst>
                                    <p:set>
                                      <p:cBhvr>
                                        <p:cTn id="132" dur="1" fill="hold">
                                          <p:stCondLst>
                                            <p:cond delay="0"/>
                                          </p:stCondLst>
                                        </p:cTn>
                                        <p:tgtEl>
                                          <p:spTgt spid="37"/>
                                        </p:tgtEl>
                                        <p:attrNameLst>
                                          <p:attrName>style.visibility</p:attrName>
                                        </p:attrNameLst>
                                      </p:cBhvr>
                                      <p:to>
                                        <p:strVal val="visible"/>
                                      </p:to>
                                    </p:set>
                                    <p:animEffect transition="in" filter="fade">
                                      <p:cBhvr>
                                        <p:cTn id="133" dur="500"/>
                                        <p:tgtEl>
                                          <p:spTgt spid="3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2"/>
                                        </p:tgtEl>
                                        <p:attrNameLst>
                                          <p:attrName>style.visibility</p:attrName>
                                        </p:attrNameLst>
                                      </p:cBhvr>
                                      <p:to>
                                        <p:strVal val="visible"/>
                                      </p:to>
                                    </p:set>
                                    <p:animEffect transition="in" filter="fade">
                                      <p:cBhvr>
                                        <p:cTn id="136" dur="500"/>
                                        <p:tgtEl>
                                          <p:spTgt spid="42"/>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60"/>
                                        </p:tgtEl>
                                        <p:attrNameLst>
                                          <p:attrName>style.visibility</p:attrName>
                                        </p:attrNameLst>
                                      </p:cBhvr>
                                      <p:to>
                                        <p:strVal val="visible"/>
                                      </p:to>
                                    </p:set>
                                    <p:animEffect transition="in" filter="fade">
                                      <p:cBhvr>
                                        <p:cTn id="139" dur="500"/>
                                        <p:tgtEl>
                                          <p:spTgt spid="6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5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8"/>
                                        </p:tgtEl>
                                        <p:attrNameLst>
                                          <p:attrName>style.visibility</p:attrName>
                                        </p:attrNameLst>
                                      </p:cBhvr>
                                      <p:to>
                                        <p:strVal val="visible"/>
                                      </p:to>
                                    </p:set>
                                    <p:animEffect transition="in" filter="fade">
                                      <p:cBhvr>
                                        <p:cTn id="145" dur="500"/>
                                        <p:tgtEl>
                                          <p:spTgt spid="58"/>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nodeType="click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500"/>
                                        <p:tgtEl>
                                          <p:spTgt spid="49"/>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7"/>
                                        </p:tgtEl>
                                        <p:attrNameLst>
                                          <p:attrName>style.visibility</p:attrName>
                                        </p:attrNameLst>
                                      </p:cBhvr>
                                      <p:to>
                                        <p:strVal val="visible"/>
                                      </p:to>
                                    </p:set>
                                    <p:animEffect transition="in" filter="fade">
                                      <p:cBhvr>
                                        <p:cTn id="15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ldLvl="0" animBg="1"/>
      <p:bldP spid="14" grpId="0" bldLvl="0" animBg="1"/>
      <p:bldP spid="16" grpId="0" bldLvl="0" animBg="1"/>
      <p:bldP spid="18" grpId="0"/>
      <p:bldP spid="19" grpId="0" bldLvl="0" animBg="1"/>
      <p:bldP spid="12" grpId="0"/>
      <p:bldP spid="23" grpId="0"/>
      <p:bldP spid="26" grpId="0"/>
      <p:bldP spid="33" grpId="0" bldLvl="0" animBg="1"/>
      <p:bldP spid="42" grpId="0" bldLvl="0" animBg="1"/>
      <p:bldP spid="43" grpId="0" bldLvl="0" animBg="1"/>
      <p:bldP spid="44" grpId="0" bldLvl="0" animBg="1"/>
      <p:bldP spid="46" grpId="0" bldLvl="0" animBg="1"/>
      <p:bldP spid="47" grpId="0" bldLvl="0" animBg="1"/>
      <p:bldP spid="57" grpId="0" bldLvl="0" animBg="1"/>
      <p:bldP spid="58" grpId="0" bldLvl="0" animBg="1"/>
      <p:bldP spid="59" grpId="0" bldLvl="0" animBg="1"/>
      <p:bldP spid="60" grpId="0" bldLvl="0" animBg="1"/>
      <p:bldP spid="61" grpId="0" bldLvl="0" animBg="1"/>
      <p:bldP spid="39"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39"/>
          <p:cNvSpPr>
            <a:spLocks noChangeArrowheads="1"/>
          </p:cNvSpPr>
          <p:nvPr/>
        </p:nvSpPr>
        <p:spPr bwMode="auto">
          <a:xfrm>
            <a:off x="259776" y="124611"/>
            <a:ext cx="6163602"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2000" b="1">
                <a:solidFill>
                  <a:srgbClr val="002060"/>
                </a:solidFill>
                <a:latin typeface="思源黑体 CN Bold" pitchFamily="34" charset="-122"/>
                <a:ea typeface="思源黑体 CN Bold" pitchFamily="34" charset="-122"/>
              </a:rPr>
              <a:t>STM32</a:t>
            </a:r>
            <a:r>
              <a:rPr lang="zh-CN" altLang="en-US" sz="2000" b="1">
                <a:solidFill>
                  <a:srgbClr val="002060"/>
                </a:solidFill>
                <a:latin typeface="思源黑体 CN Bold" pitchFamily="34" charset="-122"/>
                <a:ea typeface="思源黑体 CN Bold" pitchFamily="34" charset="-122"/>
              </a:rPr>
              <a:t>基本、通用、高级定时器的功能整体区别</a:t>
            </a:r>
            <a:endParaRPr lang="en-US" altLang="zh-CN" sz="2000" b="1">
              <a:solidFill>
                <a:srgbClr val="002060"/>
              </a:solidFill>
              <a:latin typeface="思源黑体 CN Bold" pitchFamily="34" charset="-122"/>
              <a:ea typeface="思源黑体 CN Bold" pitchFamily="34" charset="-122"/>
            </a:endParaRPr>
          </a:p>
        </p:txBody>
      </p:sp>
      <p:graphicFrame>
        <p:nvGraphicFramePr>
          <p:cNvPr id="10" name="表格 9"/>
          <p:cNvGraphicFramePr>
            <a:graphicFrameLocks noGrp="1"/>
          </p:cNvGraphicFramePr>
          <p:nvPr/>
        </p:nvGraphicFramePr>
        <p:xfrm>
          <a:off x="541598" y="942939"/>
          <a:ext cx="8060804" cy="2581326"/>
        </p:xfrm>
        <a:graphic>
          <a:graphicData uri="http://schemas.openxmlformats.org/drawingml/2006/table">
            <a:tbl>
              <a:tblPr firstRow="1" firstCol="1" bandRow="1">
                <a:tableStyleId>{5C22544A-7EE6-4342-B048-85BDC9FD1C3A}</a:tableStyleId>
              </a:tblPr>
              <a:tblGrid>
                <a:gridCol w="1795582"/>
                <a:gridCol w="6265222"/>
              </a:tblGrid>
              <a:tr h="580076">
                <a:tc>
                  <a:txBody>
                    <a:bodyPr/>
                    <a:lstStyle/>
                    <a:p>
                      <a:pPr algn="ctr">
                        <a:lnSpc>
                          <a:spcPct val="150000"/>
                        </a:lnSpc>
                        <a:spcAft>
                          <a:spcPts val="0"/>
                        </a:spcAft>
                      </a:pPr>
                      <a:r>
                        <a:rPr lang="zh-CN" altLang="en-US" sz="1600" b="0" kern="100">
                          <a:effectLst/>
                          <a:latin typeface="思源黑体 CN Normal" panose="020B0400000000000000" pitchFamily="34" charset="-122"/>
                          <a:ea typeface="思源黑体 CN Normal" panose="020B0400000000000000" pitchFamily="34" charset="-122"/>
                        </a:rPr>
                        <a:t>定时器类型</a:t>
                      </a:r>
                      <a:endParaRPr lang="en-US" altLang="zh-CN" sz="1600" b="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sz="1600" b="0" kern="100">
                          <a:effectLst/>
                          <a:latin typeface="思源黑体 CN Normal" panose="020B0400000000000000" pitchFamily="34" charset="-122"/>
                          <a:ea typeface="思源黑体 CN Normal" panose="020B0400000000000000" pitchFamily="34" charset="-122"/>
                        </a:rPr>
                        <a:t>主要功能</a:t>
                      </a:r>
                      <a:endParaRPr lang="zh-CN" altLang="zh-CN" sz="1600" b="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1965">
                <a:tc>
                  <a:txBody>
                    <a:bodyPr/>
                    <a:lstStyle/>
                    <a:p>
                      <a:pPr algn="ctr">
                        <a:lnSpc>
                          <a:spcPct val="150000"/>
                        </a:lnSpc>
                        <a:spcAft>
                          <a:spcPts val="0"/>
                        </a:spcAft>
                      </a:pPr>
                      <a:r>
                        <a:rPr lang="zh-CN" altLang="en-US" sz="1600" b="0" kern="100">
                          <a:effectLst/>
                          <a:latin typeface="思源黑体 CN Normal" panose="020B0400000000000000" pitchFamily="34" charset="-122"/>
                          <a:ea typeface="思源黑体 CN Normal" panose="020B0400000000000000" pitchFamily="34" charset="-122"/>
                        </a:rPr>
                        <a:t>基本定时器</a:t>
                      </a:r>
                      <a:endParaRPr lang="zh-CN" altLang="zh-CN" sz="16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50000"/>
                        </a:lnSpc>
                        <a:spcBef>
                          <a:spcPts val="0"/>
                        </a:spcBef>
                        <a:spcAft>
                          <a:spcPts val="0"/>
                        </a:spcAft>
                        <a:buClrTx/>
                        <a:buSzTx/>
                        <a:buFontTx/>
                        <a:buNone/>
                        <a:defRPr/>
                      </a:pPr>
                      <a:r>
                        <a:rPr lang="zh-CN" altLang="en-US" sz="1600" b="0" kern="100">
                          <a:solidFill>
                            <a:srgbClr val="002060"/>
                          </a:solidFill>
                          <a:effectLst/>
                          <a:latin typeface="思源黑体 CN Normal" panose="020B0400000000000000" pitchFamily="34" charset="-122"/>
                          <a:ea typeface="思源黑体 CN Normal" panose="020B0400000000000000" pitchFamily="34" charset="-122"/>
                          <a:cs typeface="+mn-cs"/>
                        </a:rPr>
                        <a:t>没有输入输出通道，常用作时基，即定时功能</a:t>
                      </a:r>
                      <a:endParaRPr lang="zh-CN" altLang="zh-CN" sz="1600" b="0" kern="10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60818">
                <a:tc>
                  <a:txBody>
                    <a:bodyPr/>
                    <a:lstStyle/>
                    <a:p>
                      <a:pPr algn="ctr">
                        <a:lnSpc>
                          <a:spcPct val="150000"/>
                        </a:lnSpc>
                        <a:spcAft>
                          <a:spcPts val="0"/>
                        </a:spcAft>
                      </a:pPr>
                      <a:r>
                        <a:rPr lang="zh-CN" altLang="en-US" sz="1600" b="0" kern="100">
                          <a:effectLst/>
                          <a:latin typeface="思源黑体 CN Normal" panose="020B0400000000000000" pitchFamily="34" charset="-122"/>
                          <a:ea typeface="思源黑体 CN Normal" panose="020B0400000000000000" pitchFamily="34" charset="-122"/>
                        </a:rPr>
                        <a:t>通用定时器</a:t>
                      </a:r>
                      <a:endParaRPr lang="zh-CN" altLang="zh-CN" sz="16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685800" rtl="0" eaLnBrk="1" latinLnBrk="0" hangingPunct="1">
                        <a:lnSpc>
                          <a:spcPct val="150000"/>
                        </a:lnSpc>
                        <a:spcAft>
                          <a:spcPts val="0"/>
                        </a:spcAft>
                      </a:pPr>
                      <a:r>
                        <a:rPr lang="zh-CN" altLang="en-US" sz="1600" b="0" kern="100">
                          <a:solidFill>
                            <a:srgbClr val="002060"/>
                          </a:solidFill>
                          <a:effectLst/>
                          <a:latin typeface="思源黑体 CN Normal" panose="020B0400000000000000" pitchFamily="34" charset="-122"/>
                          <a:ea typeface="思源黑体 CN Normal" panose="020B0400000000000000" pitchFamily="34" charset="-122"/>
                          <a:cs typeface="+mn-cs"/>
                        </a:rPr>
                        <a:t>具有多路独立通道，可用于输入捕获</a:t>
                      </a:r>
                      <a:r>
                        <a:rPr lang="en-US" altLang="zh-CN" sz="1600" b="0" kern="100">
                          <a:solidFill>
                            <a:srgbClr val="002060"/>
                          </a:solidFill>
                          <a:effectLst/>
                          <a:latin typeface="思源黑体 CN Normal" panose="020B0400000000000000" pitchFamily="34" charset="-122"/>
                          <a:ea typeface="思源黑体 CN Normal" panose="020B0400000000000000" pitchFamily="34" charset="-122"/>
                          <a:cs typeface="+mn-cs"/>
                        </a:rPr>
                        <a:t>/</a:t>
                      </a:r>
                      <a:r>
                        <a:rPr lang="zh-CN" altLang="en-US" sz="1600" b="0" kern="100">
                          <a:solidFill>
                            <a:srgbClr val="002060"/>
                          </a:solidFill>
                          <a:effectLst/>
                          <a:latin typeface="思源黑体 CN Normal" panose="020B0400000000000000" pitchFamily="34" charset="-122"/>
                          <a:ea typeface="思源黑体 CN Normal" panose="020B0400000000000000" pitchFamily="34" charset="-122"/>
                          <a:cs typeface="+mn-cs"/>
                        </a:rPr>
                        <a:t>输出比较，也可用作时基</a:t>
                      </a:r>
                      <a:endParaRPr lang="zh-CN" sz="1600" b="0" kern="100" dirty="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344">
                <a:tc>
                  <a:txBody>
                    <a:bodyPr/>
                    <a:lstStyle/>
                    <a:p>
                      <a:pPr algn="ctr">
                        <a:lnSpc>
                          <a:spcPct val="150000"/>
                        </a:lnSpc>
                        <a:spcAft>
                          <a:spcPts val="0"/>
                        </a:spcAft>
                      </a:pPr>
                      <a:r>
                        <a:rPr lang="zh-CN" altLang="en-US" sz="1600" b="0" kern="100">
                          <a:effectLst/>
                          <a:latin typeface="思源黑体 CN Normal" panose="020B0400000000000000" pitchFamily="34" charset="-122"/>
                          <a:ea typeface="思源黑体 CN Normal" panose="020B0400000000000000" pitchFamily="34" charset="-122"/>
                        </a:rPr>
                        <a:t>高级定时器</a:t>
                      </a:r>
                      <a:endParaRPr lang="zh-CN" altLang="zh-CN" sz="16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50000"/>
                        </a:lnSpc>
                        <a:spcBef>
                          <a:spcPts val="0"/>
                        </a:spcBef>
                        <a:spcAft>
                          <a:spcPts val="0"/>
                        </a:spcAft>
                        <a:buClrTx/>
                        <a:buSzTx/>
                        <a:buFontTx/>
                        <a:buNone/>
                        <a:defRPr/>
                      </a:pPr>
                      <a:r>
                        <a:rPr lang="zh-CN" altLang="en-US" sz="1600" b="0" kern="100">
                          <a:solidFill>
                            <a:srgbClr val="002060"/>
                          </a:solidFill>
                          <a:effectLst/>
                          <a:latin typeface="思源黑体 CN Normal" panose="020B0400000000000000" pitchFamily="34" charset="-122"/>
                          <a:ea typeface="思源黑体 CN Normal" panose="020B0400000000000000" pitchFamily="34" charset="-122"/>
                          <a:cs typeface="+mn-cs"/>
                        </a:rPr>
                        <a:t>除具备通用定时器所有功能外，还具备带死区控制的互补信号输出、刹车输入等功能（可用于电机控制、数字电源设计等）</a:t>
                      </a:r>
                      <a:endParaRPr lang="zh-CN" altLang="zh-CN" sz="1600" b="0" kern="10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288352" y="58464"/>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基本定时器简介</a:t>
            </a:r>
            <a:endParaRPr lang="en-US" altLang="zh-CN" sz="2000" b="1" dirty="0">
              <a:solidFill>
                <a:srgbClr val="002060"/>
              </a:solidFill>
              <a:latin typeface="思源黑体 CN Bold" pitchFamily="34" charset="-122"/>
              <a:ea typeface="思源黑体 CN Bold" pitchFamily="34" charset="-122"/>
            </a:endParaRPr>
          </a:p>
        </p:txBody>
      </p:sp>
      <p:sp>
        <p:nvSpPr>
          <p:cNvPr id="10" name="矩形 9"/>
          <p:cNvSpPr/>
          <p:nvPr/>
        </p:nvSpPr>
        <p:spPr>
          <a:xfrm>
            <a:off x="2568575" y="1017497"/>
            <a:ext cx="2736140" cy="369332"/>
          </a:xfrm>
          <a:prstGeom prst="rect">
            <a:avLst/>
          </a:prstGeom>
        </p:spPr>
        <p:txBody>
          <a:bodyPr wrap="square">
            <a:spAutoFit/>
          </a:bodyPr>
          <a:lstStyle/>
          <a:p>
            <a:r>
              <a:rPr lang="en-US" altLang="zh-CN">
                <a:solidFill>
                  <a:srgbClr val="002060"/>
                </a:solidFill>
                <a:latin typeface="思源黑体 CN Normal" panose="020B0400000000000000" pitchFamily="34" charset="-122"/>
                <a:ea typeface="思源黑体 CN Normal" panose="020B0400000000000000" pitchFamily="34" charset="-122"/>
              </a:rPr>
              <a:t>TIM6/TIM7</a:t>
            </a:r>
            <a:endParaRPr lang="zh-CN" altLang="zh-CN"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p:txBody>
      </p:sp>
      <p:sp>
        <p:nvSpPr>
          <p:cNvPr id="13" name="矩形: 圆角 12"/>
          <p:cNvSpPr/>
          <p:nvPr/>
        </p:nvSpPr>
        <p:spPr>
          <a:xfrm>
            <a:off x="803119" y="963029"/>
            <a:ext cx="1765456" cy="431851"/>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a:solidFill>
                  <a:srgbClr val="002060"/>
                </a:solidFill>
                <a:latin typeface="思源黑体 CN Normal" panose="020B0400000000000000" pitchFamily="34" charset="-122"/>
                <a:ea typeface="思源黑体 CN Normal" panose="020B0400000000000000" pitchFamily="34" charset="-122"/>
              </a:rPr>
              <a:t>1</a:t>
            </a:r>
            <a:r>
              <a:rPr lang="zh-CN" altLang="en-US">
                <a:solidFill>
                  <a:srgbClr val="002060"/>
                </a:solidFill>
                <a:latin typeface="思源黑体 CN Normal" panose="020B0400000000000000" pitchFamily="34" charset="-122"/>
                <a:ea typeface="思源黑体 CN Normal" panose="020B0400000000000000" pitchFamily="34" charset="-122"/>
              </a:rPr>
              <a:t>，基本定时器</a:t>
            </a:r>
            <a:endParaRPr lang="zh-CN" altLang="en-US" sz="2000" dirty="0">
              <a:solidFill>
                <a:srgbClr val="002060"/>
              </a:solidFill>
              <a:latin typeface="思源黑体 CN Normal" panose="020B0400000000000000" pitchFamily="34" charset="-122"/>
              <a:ea typeface="思源黑体 CN Normal" panose="020B0400000000000000" pitchFamily="34" charset="-122"/>
            </a:endParaRPr>
          </a:p>
        </p:txBody>
      </p:sp>
      <p:sp>
        <p:nvSpPr>
          <p:cNvPr id="14" name="矩形: 圆角 13"/>
          <p:cNvSpPr/>
          <p:nvPr/>
        </p:nvSpPr>
        <p:spPr>
          <a:xfrm>
            <a:off x="803120" y="1773971"/>
            <a:ext cx="1765456" cy="431851"/>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a:solidFill>
                  <a:srgbClr val="002060"/>
                </a:solidFill>
                <a:latin typeface="思源黑体 CN Normal" panose="020B0400000000000000" pitchFamily="34" charset="-122"/>
                <a:ea typeface="思源黑体 CN Normal" panose="020B0400000000000000" pitchFamily="34" charset="-122"/>
              </a:rPr>
              <a:t>2</a:t>
            </a:r>
            <a:r>
              <a:rPr lang="zh-CN" altLang="en-US">
                <a:solidFill>
                  <a:srgbClr val="002060"/>
                </a:solidFill>
                <a:latin typeface="思源黑体 CN Normal" panose="020B0400000000000000" pitchFamily="34" charset="-122"/>
                <a:ea typeface="思源黑体 CN Normal" panose="020B0400000000000000" pitchFamily="34" charset="-122"/>
              </a:rPr>
              <a:t>，主要特性</a:t>
            </a:r>
            <a:endParaRPr lang="zh-CN" altLang="en-US" sz="2000" dirty="0">
              <a:solidFill>
                <a:srgbClr val="00206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2568574" y="1773971"/>
            <a:ext cx="5829456" cy="1711302"/>
          </a:xfrm>
          <a:prstGeom prst="rect">
            <a:avLst/>
          </a:prstGeom>
        </p:spPr>
        <p:txBody>
          <a:bodyPr wrap="square">
            <a:spAutoFit/>
          </a:bodyPr>
          <a:lstStyle/>
          <a:p>
            <a:pPr>
              <a:lnSpc>
                <a:spcPct val="150000"/>
              </a:lnSpc>
            </a:pPr>
            <a:r>
              <a:rPr lang="en-US" altLang="zh-CN">
                <a:solidFill>
                  <a:srgbClr val="002060"/>
                </a:solidFill>
                <a:latin typeface="思源黑体 CN Normal" panose="020B0400000000000000" pitchFamily="34" charset="-122"/>
                <a:ea typeface="思源黑体 CN Normal" panose="020B0400000000000000" pitchFamily="34" charset="-122"/>
              </a:rPr>
              <a:t>16</a:t>
            </a:r>
            <a:r>
              <a:rPr lang="zh-CN" altLang="en-US">
                <a:solidFill>
                  <a:srgbClr val="002060"/>
                </a:solidFill>
                <a:latin typeface="思源黑体 CN Normal" panose="020B0400000000000000" pitchFamily="34" charset="-122"/>
                <a:ea typeface="思源黑体 CN Normal" panose="020B0400000000000000" pitchFamily="34" charset="-122"/>
              </a:rPr>
              <a:t>位递增计数器</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（计数值：</a:t>
            </a:r>
            <a:r>
              <a:rPr lang="en-US" altLang="zh-CN" kern="100">
                <a:solidFill>
                  <a:srgbClr val="002060"/>
                </a:solidFill>
                <a:latin typeface="思源黑体 CN Normal" panose="020B0400000000000000" pitchFamily="34" charset="-122"/>
                <a:ea typeface="思源黑体 CN Normal" panose="020B0400000000000000" pitchFamily="34" charset="-122"/>
              </a:rPr>
              <a:t>0</a:t>
            </a:r>
            <a:r>
              <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rPr>
              <a:t>~65535</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rPr>
              <a:t>16</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位预分频器（分频系数：</a:t>
            </a:r>
            <a:r>
              <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rPr>
              <a:t>1~65536</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50000"/>
              </a:lnSpc>
            </a:pPr>
            <a:r>
              <a:rPr lang="zh-CN" altLang="en-US" kern="100">
                <a:solidFill>
                  <a:srgbClr val="002060"/>
                </a:solidFill>
                <a:latin typeface="思源黑体 CN Normal" panose="020B0400000000000000" pitchFamily="34" charset="-122"/>
                <a:ea typeface="思源黑体 CN Normal" panose="020B0400000000000000" pitchFamily="34" charset="-122"/>
              </a:rPr>
              <a:t>可用于</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触发</a:t>
            </a:r>
            <a:r>
              <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rPr>
              <a:t>DAC</a:t>
            </a:r>
            <a:endPar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50000"/>
              </a:lnSpc>
            </a:pP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在更新事件（计数器溢出）时，会产生中断</a:t>
            </a:r>
            <a:r>
              <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rPr>
              <a:t>/DMA</a:t>
            </a:r>
            <a:r>
              <a:rPr lang="zh-CN" altLang="en-US" b="0" kern="100" baseline="0">
                <a:ln>
                  <a:noFill/>
                </a:ln>
                <a:solidFill>
                  <a:srgbClr val="002060"/>
                </a:solidFill>
                <a:effectLst/>
                <a:latin typeface="思源黑体 CN Normal" panose="020B0400000000000000" pitchFamily="34" charset="-122"/>
                <a:ea typeface="思源黑体 CN Normal" panose="020B0400000000000000" pitchFamily="34" charset="-122"/>
              </a:rPr>
              <a:t>请求</a:t>
            </a:r>
            <a:endParaRPr lang="en-US" altLang="zh-CN" b="0" kern="100" baseline="0">
              <a:ln>
                <a:noFill/>
              </a:ln>
              <a:solidFill>
                <a:srgbClr val="002060"/>
              </a:solidFill>
              <a:effectLst/>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5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animEffect transition="in" filter="fade">
                                      <p:cBhvr>
                                        <p:cTn id="27" dur="500"/>
                                        <p:tgtEl>
                                          <p:spTgt spid="1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xEl>
                                              <p:pRg st="2" end="2"/>
                                            </p:txEl>
                                          </p:spTgt>
                                        </p:tgtEl>
                                        <p:attrNameLst>
                                          <p:attrName>style.visibility</p:attrName>
                                        </p:attrNameLst>
                                      </p:cBhvr>
                                      <p:to>
                                        <p:strVal val="visible"/>
                                      </p:to>
                                    </p:set>
                                    <p:animEffect transition="in" filter="fade">
                                      <p:cBhvr>
                                        <p:cTn id="32" dur="500"/>
                                        <p:tgtEl>
                                          <p:spTgt spid="1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xEl>
                                              <p:pRg st="3" end="3"/>
                                            </p:txEl>
                                          </p:spTgt>
                                        </p:tgtEl>
                                        <p:attrNameLst>
                                          <p:attrName>style.visibility</p:attrName>
                                        </p:attrNameLst>
                                      </p:cBhvr>
                                      <p:to>
                                        <p:strVal val="visible"/>
                                      </p:to>
                                    </p:set>
                                    <p:animEffect transition="in" filter="fade">
                                      <p:cBhvr>
                                        <p:cTn id="3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ldLvl="0" animBg="1"/>
      <p:bldP spid="14"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213547" y="1328464"/>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基本定时器框图</a:t>
            </a:r>
            <a:endParaRPr lang="en-US" altLang="zh-CN" sz="2000" b="1" dirty="0">
              <a:solidFill>
                <a:srgbClr val="002060"/>
              </a:solidFill>
              <a:latin typeface="思源黑体 CN Bold" pitchFamily="34" charset="-122"/>
              <a:ea typeface="思源黑体 CN Bold"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0965" y="1746265"/>
            <a:ext cx="6539609" cy="3849557"/>
          </a:xfrm>
          <a:prstGeom prst="rect">
            <a:avLst/>
          </a:prstGeom>
          <a:ln>
            <a:noFill/>
          </a:ln>
          <a:effectLst>
            <a:outerShdw blurRad="190500" algn="tl" rotWithShape="0">
              <a:srgbClr val="000000">
                <a:alpha val="70000"/>
              </a:srgbClr>
            </a:outerShdw>
          </a:effectLst>
        </p:spPr>
      </p:pic>
      <p:sp>
        <p:nvSpPr>
          <p:cNvPr id="10" name="矩形 9"/>
          <p:cNvSpPr/>
          <p:nvPr/>
        </p:nvSpPr>
        <p:spPr>
          <a:xfrm>
            <a:off x="1690370" y="3180707"/>
            <a:ext cx="5734050" cy="1761869"/>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105245" y="1739815"/>
            <a:ext cx="2991497" cy="1350008"/>
          </a:xfrm>
          <a:prstGeom prst="rect">
            <a:avLst/>
          </a:prstGeom>
          <a:solidFill>
            <a:schemeClr val="accent6">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568630" y="1739815"/>
            <a:ext cx="3548112" cy="971327"/>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350865" y="2366410"/>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①</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5541793" y="216635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②</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1665383" y="3470988"/>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③</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19" name="矩形 18"/>
          <p:cNvSpPr/>
          <p:nvPr/>
        </p:nvSpPr>
        <p:spPr>
          <a:xfrm>
            <a:off x="8084792" y="1629229"/>
            <a:ext cx="2012978" cy="1162049"/>
          </a:xfrm>
          <a:prstGeom prst="rect">
            <a:avLst/>
          </a:prstGeom>
        </p:spPr>
        <p:txBody>
          <a:bodyPr wrap="square">
            <a:spAutoFit/>
          </a:bodyPr>
          <a:lstStyle/>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①</a:t>
            </a:r>
            <a:r>
              <a:rPr lang="zh-CN" altLang="en-US" sz="1600">
                <a:solidFill>
                  <a:srgbClr val="C00000"/>
                </a:solidFill>
                <a:latin typeface="思源黑体 CN Normal" panose="020B0400000000000000" pitchFamily="34" charset="-122"/>
                <a:ea typeface="思源黑体 CN Normal" panose="020B0400000000000000" pitchFamily="34" charset="-122"/>
              </a:rPr>
              <a:t>时钟源</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②</a:t>
            </a:r>
            <a:r>
              <a:rPr lang="zh-CN" altLang="en-US" sz="1600">
                <a:solidFill>
                  <a:srgbClr val="C00000"/>
                </a:solidFill>
                <a:latin typeface="思源黑体 CN Normal" panose="020B0400000000000000" pitchFamily="34" charset="-122"/>
                <a:ea typeface="思源黑体 CN Normal" panose="020B0400000000000000" pitchFamily="34" charset="-122"/>
              </a:rPr>
              <a:t>控制器</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③</a:t>
            </a:r>
            <a:r>
              <a:rPr lang="zh-CN" altLang="en-US" sz="1600">
                <a:solidFill>
                  <a:srgbClr val="C00000"/>
                </a:solidFill>
                <a:latin typeface="思源黑体 CN Normal" panose="020B0400000000000000" pitchFamily="34" charset="-122"/>
                <a:ea typeface="思源黑体 CN Normal" panose="020B0400000000000000" pitchFamily="34" charset="-122"/>
              </a:rPr>
              <a:t>计数器</a:t>
            </a:r>
            <a:r>
              <a:rPr lang="en-US" altLang="zh-CN"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C00000"/>
                </a:solidFill>
                <a:latin typeface="思源黑体 CN Normal" panose="020B0400000000000000" pitchFamily="34" charset="-122"/>
                <a:ea typeface="思源黑体 CN Normal" panose="020B0400000000000000" pitchFamily="34" charset="-122"/>
              </a:rPr>
              <a:t>时基单元</a:t>
            </a:r>
            <a:r>
              <a:rPr lang="en-US" altLang="zh-CN" sz="1600">
                <a:solidFill>
                  <a:srgbClr val="C00000"/>
                </a:solidFill>
                <a:latin typeface="思源黑体 CN Normal" panose="020B0400000000000000" pitchFamily="34" charset="-122"/>
                <a:ea typeface="思源黑体 CN Normal" panose="020B0400000000000000" pitchFamily="34" charset="-122"/>
              </a:rPr>
              <a:t>)</a:t>
            </a:r>
            <a:endParaRPr lang="zh-CN" altLang="en-US" sz="1600" dirty="0">
              <a:solidFill>
                <a:srgbClr val="C00000"/>
              </a:solidFill>
              <a:latin typeface="思源黑体 CN Normal" panose="020B0400000000000000" pitchFamily="34" charset="-122"/>
              <a:ea typeface="思源黑体 CN Normal" panose="020B0400000000000000" pitchFamily="34" charset="-122"/>
            </a:endParaRPr>
          </a:p>
        </p:txBody>
      </p:sp>
      <p:sp>
        <p:nvSpPr>
          <p:cNvPr id="20" name="矩形 19"/>
          <p:cNvSpPr/>
          <p:nvPr/>
        </p:nvSpPr>
        <p:spPr>
          <a:xfrm>
            <a:off x="8159197" y="2766520"/>
            <a:ext cx="1864168" cy="1162049"/>
          </a:xfrm>
          <a:prstGeom prst="rect">
            <a:avLst/>
          </a:prstGeom>
          <a:ln w="12700">
            <a:solidFill>
              <a:schemeClr val="tx1"/>
            </a:solidFill>
          </a:ln>
        </p:spPr>
        <p:txBody>
          <a:bodyPr wrap="square">
            <a:spAutoFit/>
          </a:bodyPr>
          <a:lstStyle/>
          <a:p>
            <a:pPr>
              <a:lnSpc>
                <a:spcPct val="150000"/>
              </a:lnSpc>
            </a:pPr>
            <a:r>
              <a:rPr lang="zh-CN" altLang="en-US" sz="1600">
                <a:solidFill>
                  <a:srgbClr val="C00000"/>
                </a:solidFill>
                <a:latin typeface="思源黑体 CN Normal" panose="020B0400000000000000" pitchFamily="34" charset="-122"/>
                <a:ea typeface="思源黑体 CN Normal" panose="020B0400000000000000" pitchFamily="34" charset="-122"/>
              </a:rPr>
              <a:t>影子寄存器是实际起作用的寄存器，不可直接访问</a:t>
            </a:r>
            <a:endParaRPr lang="zh-CN" altLang="en-US" sz="1600" dirty="0">
              <a:solidFill>
                <a:srgbClr val="C00000"/>
              </a:solidFill>
              <a:latin typeface="思源黑体 CN Normal" panose="020B0400000000000000" pitchFamily="34" charset="-122"/>
              <a:ea typeface="思源黑体 CN Normal" panose="020B0400000000000000" pitchFamily="34" charset="-122"/>
            </a:endParaRPr>
          </a:p>
        </p:txBody>
      </p:sp>
      <p:sp>
        <p:nvSpPr>
          <p:cNvPr id="21" name="矩形 20"/>
          <p:cNvSpPr/>
          <p:nvPr/>
        </p:nvSpPr>
        <p:spPr>
          <a:xfrm>
            <a:off x="2084359" y="3609360"/>
            <a:ext cx="2078103" cy="705193"/>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预装载寄存器的值加载到对应影子寄存器</a:t>
            </a:r>
            <a:endParaRPr lang="zh-CN" altLang="en-US" sz="1400" dirty="0">
              <a:solidFill>
                <a:srgbClr val="C00000"/>
              </a:solidFill>
              <a:latin typeface="思源黑体 CN Normal" panose="020B0400000000000000" pitchFamily="34" charset="-122"/>
              <a:ea typeface="思源黑体 CN Normal" panose="020B0400000000000000" pitchFamily="34" charset="-122"/>
            </a:endParaRPr>
          </a:p>
        </p:txBody>
      </p:sp>
      <p:cxnSp>
        <p:nvCxnSpPr>
          <p:cNvPr id="7" name="直接箭头连接符 6"/>
          <p:cNvCxnSpPr/>
          <p:nvPr/>
        </p:nvCxnSpPr>
        <p:spPr>
          <a:xfrm flipH="1">
            <a:off x="4027170" y="3871098"/>
            <a:ext cx="236705"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3407358" y="4259290"/>
            <a:ext cx="1" cy="20915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703321" y="4024221"/>
            <a:ext cx="1015999" cy="8606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4321302" y="3094909"/>
            <a:ext cx="2636576"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ARPE</a:t>
            </a:r>
            <a:r>
              <a:rPr lang="zh-CN" altLang="en-US" sz="1400">
                <a:solidFill>
                  <a:srgbClr val="C00000"/>
                </a:solidFill>
                <a:latin typeface="思源黑体 CN Normal" panose="020B0400000000000000" pitchFamily="34" charset="-122"/>
                <a:ea typeface="思源黑体 CN Normal" panose="020B0400000000000000" pitchFamily="34" charset="-122"/>
              </a:rPr>
              <a:t>位决定</a:t>
            </a:r>
            <a:r>
              <a:rPr lang="en-US" altLang="zh-CN" sz="1400">
                <a:solidFill>
                  <a:srgbClr val="C00000"/>
                </a:solidFill>
                <a:latin typeface="思源黑体 CN Normal" panose="020B0400000000000000" pitchFamily="34" charset="-122"/>
                <a:ea typeface="思源黑体 CN Normal" panose="020B0400000000000000" pitchFamily="34" charset="-122"/>
              </a:rPr>
              <a:t>ARR</a:t>
            </a:r>
            <a:r>
              <a:rPr lang="zh-CN" altLang="en-US" sz="1400">
                <a:solidFill>
                  <a:srgbClr val="C00000"/>
                </a:solidFill>
                <a:latin typeface="思源黑体 CN Normal" panose="020B0400000000000000" pitchFamily="34" charset="-122"/>
                <a:ea typeface="思源黑体 CN Normal" panose="020B0400000000000000" pitchFamily="34" charset="-122"/>
              </a:rPr>
              <a:t>是否具有缓冲</a:t>
            </a:r>
            <a:endParaRPr lang="zh-CN" altLang="en-US" sz="1400" dirty="0">
              <a:solidFill>
                <a:srgbClr val="C00000"/>
              </a:solidFill>
              <a:latin typeface="思源黑体 CN Normal" panose="020B0400000000000000" pitchFamily="34" charset="-122"/>
              <a:ea typeface="思源黑体 CN Normal" panose="020B0400000000000000" pitchFamily="34" charset="-122"/>
            </a:endParaRPr>
          </a:p>
        </p:txBody>
      </p:sp>
      <p:cxnSp>
        <p:nvCxnSpPr>
          <p:cNvPr id="33" name="直接箭头连接符 32"/>
          <p:cNvCxnSpPr/>
          <p:nvPr/>
        </p:nvCxnSpPr>
        <p:spPr>
          <a:xfrm>
            <a:off x="5541793" y="3401695"/>
            <a:ext cx="0" cy="22928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7381976" y="4008355"/>
            <a:ext cx="2749550" cy="423386"/>
          </a:xfrm>
          <a:prstGeom prst="rect">
            <a:avLst/>
          </a:prstGeom>
        </p:spPr>
        <p:txBody>
          <a:bodyPr wrap="square">
            <a:spAutoFit/>
          </a:bodyPr>
          <a:lstStyle/>
          <a:p>
            <a:pPr lvl="0" algn="ctr" defTabSz="685800">
              <a:lnSpc>
                <a:spcPct val="150000"/>
              </a:lnSpc>
              <a:defRPr/>
            </a:pPr>
            <a:r>
              <a:rPr lang="zh-CN" altLang="en-US" sz="1600" kern="100">
                <a:solidFill>
                  <a:srgbClr val="C00000"/>
                </a:solidFill>
                <a:latin typeface="思源黑体 CN Normal" panose="020B0400000000000000" pitchFamily="34" charset="-122"/>
                <a:ea typeface="思源黑体 CN Normal" panose="020B0400000000000000" pitchFamily="34" charset="-122"/>
              </a:rPr>
              <a:t>溢出条件：</a:t>
            </a:r>
            <a:r>
              <a:rPr lang="en-US" altLang="zh-CN" sz="1600" kern="100">
                <a:solidFill>
                  <a:srgbClr val="C00000"/>
                </a:solidFill>
                <a:latin typeface="思源黑体 CN Normal" panose="020B0400000000000000" pitchFamily="34" charset="-122"/>
                <a:ea typeface="思源黑体 CN Normal" panose="020B0400000000000000" pitchFamily="34" charset="-122"/>
              </a:rPr>
              <a:t>CNT==ARR(</a:t>
            </a:r>
            <a:r>
              <a:rPr lang="zh-CN" altLang="en-US" sz="1600" kern="100">
                <a:solidFill>
                  <a:srgbClr val="C00000"/>
                </a:solidFill>
                <a:latin typeface="思源黑体 CN Normal" panose="020B0400000000000000" pitchFamily="34" charset="-122"/>
                <a:ea typeface="思源黑体 CN Normal" panose="020B0400000000000000" pitchFamily="34" charset="-122"/>
              </a:rPr>
              <a:t>影子</a:t>
            </a:r>
            <a:r>
              <a:rPr lang="en-US" altLang="zh-CN" sz="1600" kern="100">
                <a:solidFill>
                  <a:srgbClr val="C00000"/>
                </a:solidFill>
                <a:latin typeface="思源黑体 CN Normal" panose="020B0400000000000000" pitchFamily="34" charset="-122"/>
                <a:ea typeface="思源黑体 CN Normal" panose="020B0400000000000000" pitchFamily="34" charset="-122"/>
              </a:rPr>
              <a:t>)</a:t>
            </a:r>
            <a:endParaRPr lang="zh-CN" altLang="zh-CN" sz="1600" kern="100">
              <a:solidFill>
                <a:srgbClr val="C00000"/>
              </a:solidFill>
              <a:latin typeface="思源黑体 CN Normal" panose="020B0400000000000000" pitchFamily="34" charset="-122"/>
              <a:ea typeface="思源黑体 CN Normal" panose="020B0400000000000000" pitchFamily="34" charset="-122"/>
            </a:endParaRPr>
          </a:p>
        </p:txBody>
      </p:sp>
      <p:sp>
        <p:nvSpPr>
          <p:cNvPr id="38" name="矩形 37"/>
          <p:cNvSpPr/>
          <p:nvPr/>
        </p:nvSpPr>
        <p:spPr>
          <a:xfrm>
            <a:off x="6693423" y="3530953"/>
            <a:ext cx="919011" cy="423386"/>
          </a:xfrm>
          <a:prstGeom prst="rect">
            <a:avLst/>
          </a:prstGeom>
        </p:spPr>
        <p:txBody>
          <a:bodyPr wrap="square">
            <a:spAutoFit/>
          </a:bodyPr>
          <a:lstStyle/>
          <a:p>
            <a:pPr lvl="0" algn="ctr" defTabSz="685800">
              <a:lnSpc>
                <a:spcPct val="150000"/>
              </a:lnSpc>
              <a:defRPr/>
            </a:pPr>
            <a:r>
              <a:rPr lang="zh-CN" altLang="en-US" sz="1600" kern="100">
                <a:solidFill>
                  <a:srgbClr val="C00000"/>
                </a:solidFill>
                <a:latin typeface="思源黑体 CN Normal" panose="020B0400000000000000" pitchFamily="34" charset="-122"/>
                <a:ea typeface="思源黑体 CN Normal" panose="020B0400000000000000" pitchFamily="34" charset="-122"/>
              </a:rPr>
              <a:t>中断</a:t>
            </a:r>
            <a:endParaRPr lang="zh-CN" altLang="zh-CN" sz="1600" kern="100">
              <a:solidFill>
                <a:srgbClr val="C00000"/>
              </a:solidFill>
              <a:latin typeface="思源黑体 CN Normal" panose="020B0400000000000000" pitchFamily="34" charset="-122"/>
              <a:ea typeface="思源黑体 CN Normal" panose="020B0400000000000000" pitchFamily="34" charset="-122"/>
            </a:endParaRPr>
          </a:p>
        </p:txBody>
      </p:sp>
      <p:sp>
        <p:nvSpPr>
          <p:cNvPr id="39" name="矩形 38"/>
          <p:cNvSpPr/>
          <p:nvPr/>
        </p:nvSpPr>
        <p:spPr>
          <a:xfrm>
            <a:off x="6693424" y="4352575"/>
            <a:ext cx="919010" cy="423386"/>
          </a:xfrm>
          <a:prstGeom prst="rect">
            <a:avLst/>
          </a:prstGeom>
        </p:spPr>
        <p:txBody>
          <a:bodyPr wrap="square">
            <a:spAutoFit/>
          </a:bodyPr>
          <a:lstStyle/>
          <a:p>
            <a:pPr lvl="0" algn="ctr" defTabSz="685800">
              <a:lnSpc>
                <a:spcPct val="150000"/>
              </a:lnSpc>
              <a:defRPr/>
            </a:pPr>
            <a:r>
              <a:rPr lang="zh-CN" altLang="en-US" sz="1600" kern="100">
                <a:solidFill>
                  <a:srgbClr val="C00000"/>
                </a:solidFill>
                <a:latin typeface="思源黑体 CN Normal" panose="020B0400000000000000" pitchFamily="34" charset="-122"/>
                <a:ea typeface="思源黑体 CN Normal" panose="020B0400000000000000" pitchFamily="34" charset="-122"/>
              </a:rPr>
              <a:t>事件</a:t>
            </a:r>
            <a:endParaRPr lang="zh-CN" altLang="zh-CN" sz="1600" kern="100">
              <a:solidFill>
                <a:srgbClr val="C00000"/>
              </a:solidFill>
              <a:latin typeface="思源黑体 CN Normal" panose="020B0400000000000000" pitchFamily="34" charset="-122"/>
              <a:ea typeface="思源黑体 CN Normal" panose="020B0400000000000000" pitchFamily="34" charset="-122"/>
            </a:endParaRPr>
          </a:p>
        </p:txBody>
      </p:sp>
      <p:sp>
        <p:nvSpPr>
          <p:cNvPr id="40" name="矩形 39"/>
          <p:cNvSpPr/>
          <p:nvPr/>
        </p:nvSpPr>
        <p:spPr>
          <a:xfrm>
            <a:off x="7347966" y="4334977"/>
            <a:ext cx="2658743" cy="423386"/>
          </a:xfrm>
          <a:prstGeom prst="rect">
            <a:avLst/>
          </a:prstGeom>
        </p:spPr>
        <p:txBody>
          <a:bodyPr wrap="square">
            <a:spAutoFit/>
          </a:bodyPr>
          <a:lstStyle/>
          <a:p>
            <a:pPr lvl="0" algn="ctr" defTabSz="685800">
              <a:lnSpc>
                <a:spcPct val="150000"/>
              </a:lnSpc>
              <a:defRPr/>
            </a:pPr>
            <a:r>
              <a:rPr lang="en-US" altLang="zh-CN" sz="1600" kern="100">
                <a:solidFill>
                  <a:srgbClr val="C00000"/>
                </a:solidFill>
                <a:latin typeface="思源黑体 CN Normal" panose="020B0400000000000000" pitchFamily="34" charset="-122"/>
                <a:ea typeface="思源黑体 CN Normal" panose="020B0400000000000000" pitchFamily="34" charset="-122"/>
              </a:rPr>
              <a:t>UG</a:t>
            </a:r>
            <a:r>
              <a:rPr lang="zh-CN" altLang="en-US" sz="1600" kern="100">
                <a:solidFill>
                  <a:srgbClr val="C00000"/>
                </a:solidFill>
                <a:latin typeface="思源黑体 CN Normal" panose="020B0400000000000000" pitchFamily="34" charset="-122"/>
                <a:ea typeface="思源黑体 CN Normal" panose="020B0400000000000000" pitchFamily="34" charset="-122"/>
              </a:rPr>
              <a:t>位可产生软件更新事件</a:t>
            </a:r>
            <a:endParaRPr lang="zh-CN" altLang="zh-CN" sz="1600" kern="10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fade">
                                      <p:cBhvr>
                                        <p:cTn id="20" dur="500"/>
                                        <p:tgtEl>
                                          <p:spTgt spid="1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xEl>
                                              <p:pRg st="1" end="1"/>
                                            </p:txEl>
                                          </p:spTgt>
                                        </p:tgtEl>
                                        <p:attrNameLst>
                                          <p:attrName>style.visibility</p:attrName>
                                        </p:attrNameLst>
                                      </p:cBhvr>
                                      <p:to>
                                        <p:strVal val="visible"/>
                                      </p:to>
                                    </p:set>
                                    <p:animEffect transition="in" filter="fade">
                                      <p:cBhvr>
                                        <p:cTn id="33" dur="500"/>
                                        <p:tgtEl>
                                          <p:spTgt spid="19">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xEl>
                                              <p:pRg st="2" end="2"/>
                                            </p:txEl>
                                          </p:spTgt>
                                        </p:tgtEl>
                                        <p:attrNameLst>
                                          <p:attrName>style.visibility</p:attrName>
                                        </p:attrNameLst>
                                      </p:cBhvr>
                                      <p:to>
                                        <p:strVal val="visible"/>
                                      </p:to>
                                    </p:set>
                                    <p:animEffect transition="in" filter="fade">
                                      <p:cBhvr>
                                        <p:cTn id="46" dur="500"/>
                                        <p:tgtEl>
                                          <p:spTgt spid="19">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7">
                                            <p:txEl>
                                              <p:pRg st="0" end="0"/>
                                            </p:txEl>
                                          </p:spTgt>
                                        </p:tgtEl>
                                        <p:attrNameLst>
                                          <p:attrName>style.visibility</p:attrName>
                                        </p:attrNameLst>
                                      </p:cBhvr>
                                      <p:to>
                                        <p:strVal val="visible"/>
                                      </p:to>
                                    </p:set>
                                    <p:animEffect transition="in" filter="fade">
                                      <p:cBhvr>
                                        <p:cTn id="51" dur="500"/>
                                        <p:tgtEl>
                                          <p:spTgt spid="3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9">
                                            <p:txEl>
                                              <p:pRg st="0" end="0"/>
                                            </p:txEl>
                                          </p:spTgt>
                                        </p:tgtEl>
                                        <p:attrNameLst>
                                          <p:attrName>style.visibility</p:attrName>
                                        </p:attrNameLst>
                                      </p:cBhvr>
                                      <p:to>
                                        <p:strVal val="visible"/>
                                      </p:to>
                                    </p:set>
                                    <p:animEffect transition="in" filter="fade">
                                      <p:cBhvr>
                                        <p:cTn id="61" dur="500"/>
                                        <p:tgtEl>
                                          <p:spTgt spid="39">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0">
                                            <p:txEl>
                                              <p:pRg st="0" end="0"/>
                                            </p:txEl>
                                          </p:spTgt>
                                        </p:tgtEl>
                                        <p:attrNameLst>
                                          <p:attrName>style.visibility</p:attrName>
                                        </p:attrNameLst>
                                      </p:cBhvr>
                                      <p:to>
                                        <p:strVal val="visible"/>
                                      </p:to>
                                    </p:set>
                                    <p:animEffect transition="in" filter="fade">
                                      <p:cBhvr>
                                        <p:cTn id="71" dur="500"/>
                                        <p:tgtEl>
                                          <p:spTgt spid="40">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fade">
                                      <p:cBhvr>
                                        <p:cTn id="76" dur="500"/>
                                        <p:tgtEl>
                                          <p:spTgt spid="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4" grpId="0" bldLvl="0" animBg="1"/>
      <p:bldP spid="15" grpId="0" bldLvl="0" animBg="1"/>
      <p:bldP spid="16" grpId="0"/>
      <p:bldP spid="17" grpId="0"/>
      <p:bldP spid="18" grpId="0"/>
      <p:bldP spid="20" grpId="0" bldLvl="0" animBg="1"/>
      <p:bldP spid="21" grpId="0"/>
      <p:bldP spid="32" grpId="0"/>
      <p:bldP spid="3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9"/>
          <p:cNvSpPr>
            <a:spLocks noChangeArrowheads="1"/>
          </p:cNvSpPr>
          <p:nvPr/>
        </p:nvSpPr>
        <p:spPr bwMode="auto">
          <a:xfrm>
            <a:off x="2176842" y="1508169"/>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STM32</a:t>
            </a:r>
            <a:r>
              <a:rPr lang="zh-CN" altLang="en-US" sz="2000" b="1">
                <a:solidFill>
                  <a:srgbClr val="002060"/>
                </a:solidFill>
                <a:latin typeface="思源黑体 CN Bold" pitchFamily="34" charset="-122"/>
                <a:ea typeface="思源黑体 CN Bold" pitchFamily="34" charset="-122"/>
              </a:rPr>
              <a:t>定时器计数模式及溢出条件</a:t>
            </a:r>
            <a:endParaRPr lang="en-US" altLang="zh-CN" sz="2000" b="1" dirty="0">
              <a:solidFill>
                <a:srgbClr val="002060"/>
              </a:solidFill>
              <a:latin typeface="思源黑体 CN Bold" pitchFamily="34" charset="-122"/>
              <a:ea typeface="思源黑体 CN Bold" pitchFamily="34" charset="-122"/>
            </a:endParaRPr>
          </a:p>
        </p:txBody>
      </p:sp>
      <p:graphicFrame>
        <p:nvGraphicFramePr>
          <p:cNvPr id="28" name="表格 27"/>
          <p:cNvGraphicFramePr>
            <a:graphicFrameLocks noGrp="1"/>
          </p:cNvGraphicFramePr>
          <p:nvPr/>
        </p:nvGraphicFramePr>
        <p:xfrm>
          <a:off x="3883295" y="2042096"/>
          <a:ext cx="5374078" cy="1331315"/>
        </p:xfrm>
        <a:graphic>
          <a:graphicData uri="http://schemas.openxmlformats.org/drawingml/2006/table">
            <a:tbl>
              <a:tblPr firstRow="1" firstCol="1" bandRow="1">
                <a:tableStyleId>{5C22544A-7EE6-4342-B048-85BDC9FD1C3A}</a:tableStyleId>
              </a:tblPr>
              <a:tblGrid>
                <a:gridCol w="2108925"/>
                <a:gridCol w="3265153"/>
              </a:tblGrid>
              <a:tr h="303062">
                <a:tc>
                  <a:txBody>
                    <a:bodyPr/>
                    <a:lstStyle/>
                    <a:p>
                      <a:pPr algn="ctr">
                        <a:lnSpc>
                          <a:spcPct val="150000"/>
                        </a:lnSpc>
                        <a:spcAft>
                          <a:spcPts val="0"/>
                        </a:spcAft>
                      </a:pPr>
                      <a:r>
                        <a:rPr lang="zh-CN" altLang="en-US" sz="1400" b="0" kern="100">
                          <a:effectLst/>
                          <a:latin typeface="思源黑体 CN Normal" panose="020B0400000000000000" pitchFamily="34" charset="-122"/>
                          <a:ea typeface="思源黑体 CN Normal" panose="020B0400000000000000" pitchFamily="34" charset="-122"/>
                        </a:rPr>
                        <a:t>计数器模式</a:t>
                      </a:r>
                      <a:endParaRPr lang="en-US" altLang="zh-CN" sz="1400" b="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zh-CN" altLang="en-US" sz="1400" b="0" kern="100">
                          <a:effectLst/>
                          <a:latin typeface="思源黑体 CN Normal" panose="020B0400000000000000" pitchFamily="34" charset="-122"/>
                          <a:ea typeface="思源黑体 CN Normal" panose="020B0400000000000000" pitchFamily="34" charset="-122"/>
                        </a:rPr>
                        <a:t>溢出条件</a:t>
                      </a:r>
                      <a:endParaRPr lang="zh-CN" altLang="zh-CN" sz="1400" b="0" kern="10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0621">
                <a:tc>
                  <a:txBody>
                    <a:bodyPr/>
                    <a:lstStyle/>
                    <a:p>
                      <a:pPr algn="ctr">
                        <a:lnSpc>
                          <a:spcPct val="150000"/>
                        </a:lnSpc>
                        <a:spcAft>
                          <a:spcPts val="0"/>
                        </a:spcAft>
                      </a:pPr>
                      <a:r>
                        <a:rPr lang="zh-CN" altLang="en-US" sz="1400" b="0" kern="100">
                          <a:effectLst/>
                          <a:latin typeface="思源黑体 CN Normal" panose="020B0400000000000000" pitchFamily="34" charset="-122"/>
                          <a:ea typeface="思源黑体 CN Normal" panose="020B0400000000000000" pitchFamily="34" charset="-122"/>
                        </a:rPr>
                        <a:t>递增计数模式</a:t>
                      </a:r>
                      <a:endParaRPr lang="zh-CN" altLang="zh-CN" sz="14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en-US" altLang="zh-CN" sz="1400" b="0" kern="100">
                          <a:solidFill>
                            <a:srgbClr val="002060"/>
                          </a:solidFill>
                          <a:effectLst/>
                          <a:latin typeface="思源黑体 CN Normal" panose="020B0400000000000000" pitchFamily="34" charset="-122"/>
                          <a:ea typeface="思源黑体 CN Normal" panose="020B0400000000000000" pitchFamily="34" charset="-122"/>
                          <a:cs typeface="+mn-cs"/>
                        </a:rPr>
                        <a:t>CNT==ARR</a:t>
                      </a:r>
                      <a:endParaRPr lang="zh-CN" altLang="zh-CN" sz="1400" b="0" kern="10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5246">
                <a:tc>
                  <a:txBody>
                    <a:bodyPr/>
                    <a:lstStyle/>
                    <a:p>
                      <a:pPr algn="ctr">
                        <a:lnSpc>
                          <a:spcPct val="150000"/>
                        </a:lnSpc>
                        <a:spcAft>
                          <a:spcPts val="0"/>
                        </a:spcAft>
                      </a:pPr>
                      <a:r>
                        <a:rPr lang="zh-CN" altLang="en-US" sz="1400" b="0" kern="100">
                          <a:effectLst/>
                          <a:latin typeface="思源黑体 CN Normal" panose="020B0400000000000000" pitchFamily="34" charset="-122"/>
                          <a:ea typeface="思源黑体 CN Normal" panose="020B0400000000000000" pitchFamily="34" charset="-122"/>
                        </a:rPr>
                        <a:t>递减计数模式</a:t>
                      </a:r>
                      <a:endParaRPr lang="zh-CN" altLang="zh-CN" sz="14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685800" rtl="0" eaLnBrk="1" latinLnBrk="0" hangingPunct="1">
                        <a:lnSpc>
                          <a:spcPct val="150000"/>
                        </a:lnSpc>
                        <a:spcAft>
                          <a:spcPts val="0"/>
                        </a:spcAft>
                      </a:pPr>
                      <a:r>
                        <a:rPr lang="en-US" altLang="zh-CN" sz="1400" b="0" kern="100">
                          <a:solidFill>
                            <a:srgbClr val="002060"/>
                          </a:solidFill>
                          <a:effectLst/>
                          <a:latin typeface="思源黑体 CN Normal" panose="020B0400000000000000" pitchFamily="34" charset="-122"/>
                          <a:ea typeface="思源黑体 CN Normal" panose="020B0400000000000000" pitchFamily="34" charset="-122"/>
                          <a:cs typeface="+mn-cs"/>
                        </a:rPr>
                        <a:t>CNT==0</a:t>
                      </a:r>
                      <a:endParaRPr lang="zh-CN" sz="1400" b="0" kern="100" dirty="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2386">
                <a:tc>
                  <a:txBody>
                    <a:bodyPr/>
                    <a:lstStyle/>
                    <a:p>
                      <a:pPr algn="ctr">
                        <a:lnSpc>
                          <a:spcPct val="150000"/>
                        </a:lnSpc>
                        <a:spcAft>
                          <a:spcPts val="0"/>
                        </a:spcAft>
                      </a:pPr>
                      <a:r>
                        <a:rPr lang="zh-CN" altLang="en-US" sz="1400" b="0" kern="100">
                          <a:effectLst/>
                          <a:latin typeface="思源黑体 CN Normal" panose="020B0400000000000000" pitchFamily="34" charset="-122"/>
                          <a:ea typeface="思源黑体 CN Normal" panose="020B0400000000000000" pitchFamily="34" charset="-122"/>
                        </a:rPr>
                        <a:t>中心对齐模式</a:t>
                      </a:r>
                      <a:endParaRPr lang="zh-CN" altLang="zh-CN" sz="1400" b="0" kern="100" dirty="0">
                        <a:effectLst/>
                        <a:latin typeface="思源黑体 CN Normal" panose="020B0400000000000000" pitchFamily="34" charset="-122"/>
                        <a:ea typeface="思源黑体 CN Normal" panose="020B0400000000000000"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50000"/>
                        </a:lnSpc>
                        <a:spcBef>
                          <a:spcPts val="0"/>
                        </a:spcBef>
                        <a:spcAft>
                          <a:spcPts val="0"/>
                        </a:spcAft>
                        <a:buClrTx/>
                        <a:buSzTx/>
                        <a:buFontTx/>
                        <a:buNone/>
                        <a:defRPr/>
                      </a:pPr>
                      <a:r>
                        <a:rPr lang="en-US" altLang="zh-CN" sz="1400" b="0" kern="100">
                          <a:solidFill>
                            <a:srgbClr val="002060"/>
                          </a:solidFill>
                          <a:effectLst/>
                          <a:latin typeface="思源黑体 CN Normal" panose="020B0400000000000000" pitchFamily="34" charset="-122"/>
                          <a:ea typeface="思源黑体 CN Normal" panose="020B0400000000000000" pitchFamily="34" charset="-122"/>
                          <a:cs typeface="+mn-cs"/>
                        </a:rPr>
                        <a:t>CNT==ARR-1</a:t>
                      </a:r>
                      <a:r>
                        <a:rPr lang="zh-CN" altLang="en-US" sz="1400" b="0" kern="100">
                          <a:solidFill>
                            <a:srgbClr val="002060"/>
                          </a:solidFill>
                          <a:effectLst/>
                          <a:latin typeface="思源黑体 CN Normal" panose="020B0400000000000000" pitchFamily="34" charset="-122"/>
                          <a:ea typeface="思源黑体 CN Normal" panose="020B0400000000000000" pitchFamily="34" charset="-122"/>
                          <a:cs typeface="+mn-cs"/>
                        </a:rPr>
                        <a:t>、</a:t>
                      </a:r>
                      <a:r>
                        <a:rPr lang="en-US" altLang="zh-CN" sz="1400" b="0" kern="100">
                          <a:solidFill>
                            <a:srgbClr val="002060"/>
                          </a:solidFill>
                          <a:effectLst/>
                          <a:latin typeface="思源黑体 CN Normal" panose="020B0400000000000000" pitchFamily="34" charset="-122"/>
                          <a:ea typeface="思源黑体 CN Normal" panose="020B0400000000000000" pitchFamily="34" charset="-122"/>
                          <a:cs typeface="+mn-cs"/>
                        </a:rPr>
                        <a:t>CNT==1</a:t>
                      </a:r>
                      <a:endParaRPr lang="zh-CN" altLang="zh-CN" sz="1400" b="0" kern="100">
                        <a:solidFill>
                          <a:srgbClr val="002060"/>
                        </a:solidFill>
                        <a:effectLst/>
                        <a:latin typeface="思源黑体 CN Normal" panose="020B0400000000000000" pitchFamily="34" charset="-122"/>
                        <a:ea typeface="思源黑体 CN Normal" panose="020B0400000000000000"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8" name="图片 7"/>
          <p:cNvPicPr>
            <a:picLocks noChangeAspect="1"/>
          </p:cNvPicPr>
          <p:nvPr/>
        </p:nvPicPr>
        <p:blipFill>
          <a:blip r:embed="rId1"/>
          <a:stretch>
            <a:fillRect/>
          </a:stretch>
        </p:blipFill>
        <p:spPr>
          <a:xfrm>
            <a:off x="2552065" y="3476010"/>
            <a:ext cx="7639050" cy="2388681"/>
          </a:xfrm>
          <a:prstGeom prst="rect">
            <a:avLst/>
          </a:prstGeom>
        </p:spPr>
      </p:pic>
      <p:sp>
        <p:nvSpPr>
          <p:cNvPr id="12" name="文本框 11"/>
          <p:cNvSpPr txBox="1"/>
          <p:nvPr/>
        </p:nvSpPr>
        <p:spPr>
          <a:xfrm>
            <a:off x="3859211" y="3959481"/>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30" name="文本框 29"/>
          <p:cNvSpPr txBox="1"/>
          <p:nvPr/>
        </p:nvSpPr>
        <p:spPr>
          <a:xfrm>
            <a:off x="4466589" y="3959481"/>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13" name="文本框 12"/>
          <p:cNvSpPr txBox="1"/>
          <p:nvPr/>
        </p:nvSpPr>
        <p:spPr>
          <a:xfrm>
            <a:off x="5073967" y="3959482"/>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22" name="文本框 21"/>
          <p:cNvSpPr txBox="1"/>
          <p:nvPr/>
        </p:nvSpPr>
        <p:spPr>
          <a:xfrm>
            <a:off x="6117727" y="5382079"/>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34" name="文本框 33"/>
          <p:cNvSpPr txBox="1"/>
          <p:nvPr/>
        </p:nvSpPr>
        <p:spPr>
          <a:xfrm>
            <a:off x="6683053" y="5388603"/>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35" name="文本框 34"/>
          <p:cNvSpPr txBox="1"/>
          <p:nvPr/>
        </p:nvSpPr>
        <p:spPr>
          <a:xfrm>
            <a:off x="7256770" y="5382080"/>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36" name="文本框 35"/>
          <p:cNvSpPr txBox="1"/>
          <p:nvPr/>
        </p:nvSpPr>
        <p:spPr>
          <a:xfrm>
            <a:off x="8079096" y="4059511"/>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23" name="文本框 22"/>
          <p:cNvSpPr txBox="1"/>
          <p:nvPr/>
        </p:nvSpPr>
        <p:spPr>
          <a:xfrm>
            <a:off x="8714096" y="4059510"/>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26" name="文本框 25"/>
          <p:cNvSpPr txBox="1"/>
          <p:nvPr/>
        </p:nvSpPr>
        <p:spPr>
          <a:xfrm>
            <a:off x="9375924" y="4059510"/>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27" name="文本框 26"/>
          <p:cNvSpPr txBox="1"/>
          <p:nvPr/>
        </p:nvSpPr>
        <p:spPr>
          <a:xfrm>
            <a:off x="8360083" y="5251716"/>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41" name="文本框 40"/>
          <p:cNvSpPr txBox="1"/>
          <p:nvPr/>
        </p:nvSpPr>
        <p:spPr>
          <a:xfrm>
            <a:off x="9024010" y="5251716"/>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
        <p:nvSpPr>
          <p:cNvPr id="43" name="文本框 42"/>
          <p:cNvSpPr txBox="1"/>
          <p:nvPr/>
        </p:nvSpPr>
        <p:spPr>
          <a:xfrm>
            <a:off x="9687937" y="5258970"/>
            <a:ext cx="466725" cy="200055"/>
          </a:xfrm>
          <a:prstGeom prst="rect">
            <a:avLst/>
          </a:prstGeom>
          <a:noFill/>
        </p:spPr>
        <p:txBody>
          <a:bodyPr wrap="square">
            <a:spAutoFit/>
          </a:bodyPr>
          <a:lstStyle/>
          <a:p>
            <a:r>
              <a:rPr lang="zh-CN" altLang="en-US" sz="700">
                <a:solidFill>
                  <a:srgbClr val="FF0000"/>
                </a:solidFill>
                <a:latin typeface="思源黑体 CN Normal" panose="020B0400000000000000" pitchFamily="34" charset="-122"/>
                <a:ea typeface="思源黑体 CN Normal" panose="020B0400000000000000" pitchFamily="34" charset="-122"/>
              </a:rPr>
              <a:t>●</a:t>
            </a:r>
            <a:endParaRPr lang="zh-CN" altLang="en-US" sz="70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0" grpId="0"/>
      <p:bldP spid="13" grpId="0"/>
      <p:bldP spid="22" grpId="0"/>
      <p:bldP spid="34" grpId="0"/>
      <p:bldP spid="35" grpId="0"/>
      <p:bldP spid="36" grpId="0"/>
      <p:bldP spid="23" grpId="0"/>
      <p:bldP spid="26" grpId="0"/>
      <p:bldP spid="27" grpId="0"/>
      <p:bldP spid="41" grpId="0"/>
      <p:bldP spid="4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9"/>
          <p:cNvSpPr>
            <a:spLocks noChangeArrowheads="1"/>
          </p:cNvSpPr>
          <p:nvPr/>
        </p:nvSpPr>
        <p:spPr bwMode="auto">
          <a:xfrm>
            <a:off x="1793302" y="1354499"/>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定时器溢出时间计算方法</a:t>
            </a:r>
            <a:endParaRPr lang="en-US" altLang="zh-CN" sz="2000" b="1" dirty="0">
              <a:solidFill>
                <a:srgbClr val="002060"/>
              </a:solidFill>
              <a:latin typeface="思源黑体 CN Bold" pitchFamily="34" charset="-122"/>
              <a:ea typeface="思源黑体 CN Bold" pitchFamily="34" charset="-122"/>
            </a:endParaRPr>
          </a:p>
        </p:txBody>
      </p:sp>
      <p:sp>
        <p:nvSpPr>
          <p:cNvPr id="8" name="矩形: 圆角 14"/>
          <p:cNvSpPr/>
          <p:nvPr/>
        </p:nvSpPr>
        <p:spPr>
          <a:xfrm>
            <a:off x="2605482" y="2428401"/>
            <a:ext cx="2856254" cy="434481"/>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zh-CN" altLang="en-US">
                <a:solidFill>
                  <a:srgbClr val="002060"/>
                </a:solidFill>
                <a:latin typeface="思源黑体 CN Normal" panose="020B0400000000000000" pitchFamily="34" charset="-122"/>
                <a:ea typeface="思源黑体 CN Normal" panose="020B0400000000000000" pitchFamily="34" charset="-122"/>
              </a:rPr>
              <a:t>定时器溢出时间计算公式</a:t>
            </a:r>
            <a:endParaRPr lang="zh-CN" altLang="en-US">
              <a:solidFill>
                <a:srgbClr val="002060"/>
              </a:solidFill>
              <a:ea typeface="思源黑体 CN Normal" panose="020B0400000000000000"/>
            </a:endParaRPr>
          </a:p>
        </p:txBody>
      </p:sp>
      <mc:AlternateContent xmlns:mc="http://schemas.openxmlformats.org/markup-compatibility/2006">
        <mc:Choice xmlns:a14="http://schemas.microsoft.com/office/drawing/2010/main" Requires="a14">
          <p:sp>
            <p:nvSpPr>
              <p:cNvPr id="12" name="文本框 11"/>
              <p:cNvSpPr txBox="1"/>
              <p:nvPr/>
            </p:nvSpPr>
            <p:spPr>
              <a:xfrm>
                <a:off x="5461736" y="2329081"/>
                <a:ext cx="3269045" cy="63312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b="0" i="1" smtClean="0">
                          <a:solidFill>
                            <a:srgbClr val="002060"/>
                          </a:solidFill>
                          <a:latin typeface="Cambria Math" panose="02040503050406030204" pitchFamily="18" charset="0"/>
                          <a:ea typeface="思源黑体 CN Normal" panose="020B0400000000000000" pitchFamily="34" charset="-122"/>
                        </a:rPr>
                        <m:t>𝑇</m:t>
                      </m:r>
                      <m:r>
                        <m:rPr>
                          <m:sty m:val="p"/>
                        </m:rPr>
                        <a:rPr lang="en-US" altLang="zh-CN" i="1" baseline="-25000">
                          <a:solidFill>
                            <a:srgbClr val="002060"/>
                          </a:solidFill>
                          <a:latin typeface="Cambria Math" panose="02040503050406030204" pitchFamily="18" charset="0"/>
                          <a:ea typeface="思源黑体 CN Normal" panose="020B0400000000000000" pitchFamily="34" charset="-122"/>
                        </a:rPr>
                        <m:t>out</m:t>
                      </m:r>
                      <m:r>
                        <a:rPr lang="en-US" altLang="zh-CN" i="1" baseline="-25000" smtClean="0">
                          <a:solidFill>
                            <a:srgbClr val="002060"/>
                          </a:solidFill>
                          <a:latin typeface="Cambria Math" panose="02040503050406030204" pitchFamily="18" charset="0"/>
                          <a:ea typeface="思源黑体 CN Normal" panose="020B0400000000000000" pitchFamily="34" charset="-122"/>
                        </a:rPr>
                        <m:t> </m:t>
                      </m:r>
                      <m:r>
                        <a:rPr lang="zh-CN" altLang="en-US" i="0" smtClean="0">
                          <a:solidFill>
                            <a:srgbClr val="002060"/>
                          </a:solidFill>
                          <a:latin typeface="Cambria Math" panose="02040503050406030204" pitchFamily="18" charset="0"/>
                        </a:rPr>
                        <m:t>=</m:t>
                      </m:r>
                      <m:f>
                        <m:fPr>
                          <m:ctrlPr>
                            <a:rPr lang="zh-CN" altLang="en-US" i="1" smtClean="0">
                              <a:solidFill>
                                <a:srgbClr val="002060"/>
                              </a:solidFill>
                              <a:latin typeface="Cambria Math" panose="02040503050406030204" pitchFamily="18" charset="0"/>
                            </a:rPr>
                          </m:ctrlPr>
                        </m:fPr>
                        <m:num>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𝐴𝑅𝑅</m:t>
                          </m:r>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1</m:t>
                          </m:r>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𝑃𝑆𝐶</m:t>
                          </m:r>
                          <m:r>
                            <a:rPr lang="en-US" altLang="zh-CN" b="0" i="1" smtClean="0">
                              <a:solidFill>
                                <a:srgbClr val="002060"/>
                              </a:solidFill>
                              <a:latin typeface="Cambria Math" panose="02040503050406030204" pitchFamily="18" charset="0"/>
                            </a:rPr>
                            <m:t>+</m:t>
                          </m:r>
                          <m:r>
                            <a:rPr lang="en-US" altLang="zh-CN" b="0" i="1" smtClean="0">
                              <a:solidFill>
                                <a:srgbClr val="002060"/>
                              </a:solidFill>
                              <a:latin typeface="Cambria Math" panose="02040503050406030204" pitchFamily="18" charset="0"/>
                            </a:rPr>
                            <m:t>1</m:t>
                          </m:r>
                          <m:r>
                            <a:rPr lang="en-US" altLang="zh-CN" b="0" i="1" smtClean="0">
                              <a:solidFill>
                                <a:srgbClr val="002060"/>
                              </a:solidFill>
                              <a:latin typeface="Cambria Math" panose="02040503050406030204" pitchFamily="18" charset="0"/>
                            </a:rPr>
                            <m:t>)</m:t>
                          </m:r>
                        </m:num>
                        <m:den>
                          <m:r>
                            <a:rPr lang="en-US" altLang="zh-CN" b="0" i="1" smtClean="0">
                              <a:solidFill>
                                <a:srgbClr val="002060"/>
                              </a:solidFill>
                              <a:latin typeface="Cambria Math" panose="02040503050406030204" pitchFamily="18" charset="0"/>
                              <a:ea typeface="思源黑体 CN Normal" panose="020B0400000000000000" pitchFamily="34" charset="-122"/>
                            </a:rPr>
                            <m:t>𝐹</m:t>
                          </m:r>
                          <m:r>
                            <a:rPr lang="en-US" altLang="zh-CN" b="0" i="1" baseline="-25000" smtClean="0">
                              <a:solidFill>
                                <a:srgbClr val="002060"/>
                              </a:solidFill>
                              <a:latin typeface="Cambria Math" panose="02040503050406030204" pitchFamily="18" charset="0"/>
                              <a:ea typeface="思源黑体 CN Normal" panose="020B0400000000000000" pitchFamily="34" charset="-122"/>
                            </a:rPr>
                            <m:t>𝑡</m:t>
                          </m:r>
                        </m:den>
                      </m:f>
                    </m:oMath>
                  </m:oMathPara>
                </a14:m>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5461736" y="2329081"/>
                <a:ext cx="3269045" cy="633122"/>
              </a:xfrm>
              <a:prstGeom prst="rect">
                <a:avLst/>
              </a:prstGeom>
              <a:blipFill rotWithShape="1">
                <a:blip r:embed="rId1"/>
                <a:stretch>
                  <a:fillRect l="-3" t="-85" r="5"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5568614" y="3362997"/>
                <a:ext cx="3269044" cy="1710596"/>
              </a:xfrm>
              <a:prstGeom prst="rect">
                <a:avLst/>
              </a:prstGeom>
            </p:spPr>
            <p:txBody>
              <a:bodyPr wrap="square">
                <a:spAutoFit/>
              </a:bodyPr>
              <a:lstStyle/>
              <a:p>
                <a:pPr>
                  <a:lnSpc>
                    <a:spcPct val="150000"/>
                  </a:lnSpc>
                </a:pPr>
                <a14:m>
                  <m:oMath xmlns:m="http://schemas.openxmlformats.org/officeDocument/2006/math">
                    <m:r>
                      <a:rPr lang="en-US" altLang="zh-CN" i="1" smtClean="0">
                        <a:solidFill>
                          <a:srgbClr val="002060"/>
                        </a:solidFill>
                        <a:latin typeface="Cambria Math" panose="02040503050406030204" pitchFamily="18" charset="0"/>
                        <a:ea typeface="思源黑体 CN Normal" panose="020B0400000000000000" pitchFamily="34" charset="-122"/>
                      </a:rPr>
                      <m:t>𝑇</m:t>
                    </m:r>
                    <m:r>
                      <m:rPr>
                        <m:sty m:val="p"/>
                      </m:rPr>
                      <a:rPr lang="en-US" altLang="zh-CN" i="1" baseline="-25000">
                        <a:solidFill>
                          <a:srgbClr val="002060"/>
                        </a:solidFill>
                        <a:latin typeface="Cambria Math" panose="02040503050406030204" pitchFamily="18" charset="0"/>
                        <a:ea typeface="思源黑体 CN Normal" panose="020B0400000000000000" pitchFamily="34" charset="-122"/>
                      </a:rPr>
                      <m:t>out</m:t>
                    </m:r>
                  </m:oMath>
                </a14:m>
                <a:r>
                  <a:rPr lang="zh-CN" altLang="en-US">
                    <a:solidFill>
                      <a:srgbClr val="002060"/>
                    </a:solidFill>
                    <a:latin typeface="思源黑体 CN Normal" panose="020B0400000000000000" pitchFamily="34" charset="-122"/>
                    <a:ea typeface="思源黑体 CN Normal" panose="020B0400000000000000" pitchFamily="34" charset="-122"/>
                  </a:rPr>
                  <a:t>是定时器溢出时间</a:t>
                </a:r>
                <a:endParaRPr lang="en-US" altLang="zh-CN">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14:m>
                  <m:oMath xmlns:m="http://schemas.openxmlformats.org/officeDocument/2006/math">
                    <m:r>
                      <a:rPr lang="en-US" altLang="zh-CN" b="0" i="1" smtClean="0">
                        <a:solidFill>
                          <a:srgbClr val="002060"/>
                        </a:solidFill>
                        <a:latin typeface="Cambria Math" panose="02040503050406030204" pitchFamily="18" charset="0"/>
                        <a:ea typeface="思源黑体 CN Normal" panose="020B0400000000000000" pitchFamily="34" charset="-122"/>
                      </a:rPr>
                      <m:t>𝐹</m:t>
                    </m:r>
                    <m:r>
                      <a:rPr lang="en-US" altLang="zh-CN" b="0" i="1" baseline="-25000" smtClean="0">
                        <a:solidFill>
                          <a:srgbClr val="002060"/>
                        </a:solidFill>
                        <a:latin typeface="Cambria Math" panose="02040503050406030204" pitchFamily="18" charset="0"/>
                        <a:ea typeface="思源黑体 CN Normal" panose="020B0400000000000000" pitchFamily="34" charset="-122"/>
                      </a:rPr>
                      <m:t>𝑡</m:t>
                    </m:r>
                  </m:oMath>
                </a14:m>
                <a:r>
                  <a:rPr lang="zh-CN" altLang="en-US">
                    <a:solidFill>
                      <a:srgbClr val="002060"/>
                    </a:solidFill>
                    <a:latin typeface="思源黑体 CN Normal" panose="020B0400000000000000" pitchFamily="34" charset="-122"/>
                    <a:ea typeface="思源黑体 CN Normal" panose="020B0400000000000000" pitchFamily="34" charset="-122"/>
                  </a:rPr>
                  <a:t>是定时器的时钟源频率</a:t>
                </a:r>
                <a:endParaRPr lang="en-US" altLang="zh-CN">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14:m>
                  <m:oMath xmlns:m="http://schemas.openxmlformats.org/officeDocument/2006/math">
                    <m:r>
                      <a:rPr lang="en-US" altLang="zh-CN" i="1">
                        <a:solidFill>
                          <a:srgbClr val="002060"/>
                        </a:solidFill>
                        <a:latin typeface="Cambria Math" panose="02040503050406030204" pitchFamily="18" charset="0"/>
                      </a:rPr>
                      <m:t>𝐴𝑅𝑅</m:t>
                    </m:r>
                  </m:oMath>
                </a14:m>
                <a:r>
                  <a:rPr lang="zh-CN" altLang="en-US">
                    <a:solidFill>
                      <a:srgbClr val="002060"/>
                    </a:solidFill>
                    <a:latin typeface="思源黑体 CN Normal" panose="020B0400000000000000" pitchFamily="34" charset="-122"/>
                    <a:ea typeface="思源黑体 CN Normal" panose="020B0400000000000000" pitchFamily="34" charset="-122"/>
                  </a:rPr>
                  <a:t>是自动重装载寄存器的值</a:t>
                </a:r>
                <a:endParaRPr lang="en-US" altLang="zh-CN">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14:m>
                  <m:oMath xmlns:m="http://schemas.openxmlformats.org/officeDocument/2006/math">
                    <m:r>
                      <a:rPr lang="en-US" altLang="zh-CN" i="1">
                        <a:solidFill>
                          <a:srgbClr val="002060"/>
                        </a:solidFill>
                        <a:latin typeface="Cambria Math" panose="02040503050406030204" pitchFamily="18" charset="0"/>
                      </a:rPr>
                      <m:t>𝑃𝑆𝐶</m:t>
                    </m:r>
                  </m:oMath>
                </a14:m>
                <a:r>
                  <a:rPr lang="zh-CN" altLang="en-US">
                    <a:solidFill>
                      <a:srgbClr val="002060"/>
                    </a:solidFill>
                    <a:latin typeface="思源黑体 CN Normal" panose="020B0400000000000000" pitchFamily="34" charset="-122"/>
                    <a:ea typeface="思源黑体 CN Normal" panose="020B0400000000000000" pitchFamily="34" charset="-122"/>
                  </a:rPr>
                  <a:t>是预分频器寄存器的值</a:t>
                </a:r>
                <a:endParaRPr lang="en-US" altLang="zh-CN">
                  <a:solidFill>
                    <a:srgbClr val="002060"/>
                  </a:solidFill>
                  <a:latin typeface="思源黑体 CN Normal" panose="020B0400000000000000" pitchFamily="34" charset="-122"/>
                  <a:ea typeface="思源黑体 CN Normal" panose="020B0400000000000000" pitchFamily="34" charset="-122"/>
                </a:endParaRPr>
              </a:p>
            </p:txBody>
          </p:sp>
        </mc:Choice>
        <mc:Fallback>
          <p:sp>
            <p:nvSpPr>
              <p:cNvPr id="13" name="矩形 12"/>
              <p:cNvSpPr>
                <a:spLocks noRot="1" noChangeAspect="1" noMove="1" noResize="1" noEditPoints="1" noAdjustHandles="1" noChangeArrowheads="1" noChangeShapeType="1" noTextEdit="1"/>
              </p:cNvSpPr>
              <p:nvPr/>
            </p:nvSpPr>
            <p:spPr>
              <a:xfrm>
                <a:off x="5568614" y="3362997"/>
                <a:ext cx="3269044" cy="1710596"/>
              </a:xfrm>
              <a:prstGeom prst="rect">
                <a:avLst/>
              </a:prstGeom>
              <a:blipFill rotWithShape="1">
                <a:blip r:embed="rId2"/>
                <a:stretch>
                  <a:fillRect l="-9" t="-2" r="11" b="34"/>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fade">
                                      <p:cBhvr>
                                        <p:cTn id="22" dur="500"/>
                                        <p:tgtEl>
                                          <p:spTgt spid="1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fade">
                                      <p:cBhvr>
                                        <p:cTn id="27" dur="500"/>
                                        <p:tgtEl>
                                          <p:spTgt spid="1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3" end="3"/>
                                            </p:txEl>
                                          </p:spTgt>
                                        </p:tgtEl>
                                        <p:attrNameLst>
                                          <p:attrName>style.visibility</p:attrName>
                                        </p:attrNameLst>
                                      </p:cBhvr>
                                      <p:to>
                                        <p:strVal val="visible"/>
                                      </p:to>
                                    </p:set>
                                    <p:animEffect transition="in" filter="fade">
                                      <p:cBhvr>
                                        <p:cTn id="3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564702" y="1425619"/>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通用定时器简介</a:t>
            </a:r>
            <a:endParaRPr lang="en-US" altLang="zh-CN" sz="2000" b="1" dirty="0">
              <a:solidFill>
                <a:srgbClr val="002060"/>
              </a:solidFill>
              <a:latin typeface="思源黑体 CN Bold" pitchFamily="34" charset="-122"/>
              <a:ea typeface="思源黑体 CN Bold" pitchFamily="34" charset="-122"/>
            </a:endParaRPr>
          </a:p>
        </p:txBody>
      </p:sp>
      <p:sp>
        <p:nvSpPr>
          <p:cNvPr id="10" name="矩形 9"/>
          <p:cNvSpPr/>
          <p:nvPr/>
        </p:nvSpPr>
        <p:spPr>
          <a:xfrm>
            <a:off x="3653014" y="2260729"/>
            <a:ext cx="3033324" cy="338554"/>
          </a:xfrm>
          <a:prstGeom prst="rect">
            <a:avLst/>
          </a:prstGeom>
        </p:spPr>
        <p:txBody>
          <a:bodyPr wrap="square">
            <a:spAutoFit/>
          </a:bodyPr>
          <a:lstStyle/>
          <a:p>
            <a:r>
              <a:rPr lang="en-US" altLang="zh-CN" sz="1600">
                <a:solidFill>
                  <a:srgbClr val="002060"/>
                </a:solidFill>
                <a:latin typeface="思源黑体 CN Normal" panose="020B0400000000000000" pitchFamily="34" charset="-122"/>
                <a:ea typeface="思源黑体 CN Normal" panose="020B0400000000000000" pitchFamily="34" charset="-122"/>
              </a:rPr>
              <a:t>TIM2/TIM3 /TIM4 /TIM5</a:t>
            </a:r>
            <a:endParaRPr lang="zh-CN"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p:txBody>
      </p:sp>
      <p:sp>
        <p:nvSpPr>
          <p:cNvPr id="13" name="矩形: 圆角 12"/>
          <p:cNvSpPr/>
          <p:nvPr/>
        </p:nvSpPr>
        <p:spPr>
          <a:xfrm>
            <a:off x="2068181" y="2211673"/>
            <a:ext cx="1584833" cy="338555"/>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sz="1600">
                <a:solidFill>
                  <a:srgbClr val="002060"/>
                </a:solidFill>
                <a:latin typeface="思源黑体 CN Normal" panose="020B0400000000000000" pitchFamily="34" charset="-122"/>
                <a:ea typeface="思源黑体 CN Normal" panose="020B0400000000000000" pitchFamily="34" charset="-122"/>
              </a:rPr>
              <a:t>1</a:t>
            </a:r>
            <a:r>
              <a:rPr lang="zh-CN" altLang="en-US" sz="1600">
                <a:solidFill>
                  <a:srgbClr val="002060"/>
                </a:solidFill>
                <a:latin typeface="思源黑体 CN Normal" panose="020B0400000000000000" pitchFamily="34" charset="-122"/>
                <a:ea typeface="思源黑体 CN Normal" panose="020B0400000000000000" pitchFamily="34" charset="-122"/>
              </a:rPr>
              <a:t>，通用定时器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14" name="矩形: 圆角 13"/>
          <p:cNvSpPr/>
          <p:nvPr/>
        </p:nvSpPr>
        <p:spPr>
          <a:xfrm>
            <a:off x="2068181" y="2801032"/>
            <a:ext cx="1584833" cy="346167"/>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sz="1600">
                <a:solidFill>
                  <a:srgbClr val="002060"/>
                </a:solidFill>
                <a:latin typeface="思源黑体 CN Normal" panose="020B0400000000000000" pitchFamily="34" charset="-122"/>
                <a:ea typeface="思源黑体 CN Normal" panose="020B0400000000000000" pitchFamily="34" charset="-122"/>
              </a:rPr>
              <a:t>2</a:t>
            </a:r>
            <a:r>
              <a:rPr lang="zh-CN" altLang="en-US" sz="1600">
                <a:solidFill>
                  <a:srgbClr val="002060"/>
                </a:solidFill>
                <a:latin typeface="思源黑体 CN Normal" panose="020B0400000000000000" pitchFamily="34" charset="-122"/>
                <a:ea typeface="思源黑体 CN Normal" panose="020B0400000000000000" pitchFamily="34" charset="-122"/>
              </a:rPr>
              <a:t>，主要特性</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3640027" y="2801032"/>
            <a:ext cx="6686977" cy="3046095"/>
          </a:xfrm>
          <a:prstGeom prst="rect">
            <a:avLst/>
          </a:prstGeom>
        </p:spPr>
        <p:txBody>
          <a:bodyPr wrap="square">
            <a:spAutoFit/>
          </a:bodyPr>
          <a:lstStyle/>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16</a:t>
            </a:r>
            <a:r>
              <a:rPr lang="zh-CN" altLang="en-US" sz="1600">
                <a:solidFill>
                  <a:srgbClr val="002060"/>
                </a:solidFill>
                <a:latin typeface="思源黑体 CN Normal" panose="020B0400000000000000" pitchFamily="34" charset="-122"/>
                <a:ea typeface="思源黑体 CN Normal" panose="020B0400000000000000" pitchFamily="34" charset="-122"/>
              </a:rPr>
              <a:t>位递增、</a:t>
            </a:r>
            <a:r>
              <a:rPr lang="zh-CN" altLang="en-US" sz="1600">
                <a:solidFill>
                  <a:srgbClr val="C00000"/>
                </a:solidFill>
                <a:latin typeface="思源黑体 CN Normal" panose="020B0400000000000000" pitchFamily="34" charset="-122"/>
                <a:ea typeface="思源黑体 CN Normal" panose="020B0400000000000000" pitchFamily="34" charset="-122"/>
              </a:rPr>
              <a:t>递减</a:t>
            </a:r>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C00000"/>
                </a:solidFill>
                <a:latin typeface="思源黑体 CN Normal" panose="020B0400000000000000" pitchFamily="34" charset="-122"/>
                <a:ea typeface="思源黑体 CN Normal" panose="020B0400000000000000" pitchFamily="34" charset="-122"/>
              </a:rPr>
              <a:t>中心对齐</a:t>
            </a:r>
            <a:r>
              <a:rPr lang="zh-CN" altLang="en-US" sz="1600">
                <a:solidFill>
                  <a:srgbClr val="002060"/>
                </a:solidFill>
                <a:latin typeface="思源黑体 CN Normal" panose="020B0400000000000000" pitchFamily="34" charset="-122"/>
                <a:ea typeface="思源黑体 CN Normal" panose="020B0400000000000000" pitchFamily="34" charset="-122"/>
              </a:rPr>
              <a:t>计数器</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（计数值：</a:t>
            </a:r>
            <a:r>
              <a:rPr lang="en-US" altLang="zh-CN" sz="1600" kern="100">
                <a:solidFill>
                  <a:srgbClr val="002060"/>
                </a:solidFill>
                <a:latin typeface="思源黑体 CN Normal" panose="020B0400000000000000" pitchFamily="34" charset="-122"/>
                <a:ea typeface="思源黑体 CN Normal" panose="020B0400000000000000" pitchFamily="34" charset="-122"/>
              </a:rPr>
              <a:t>0</a:t>
            </a:r>
            <a:r>
              <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~65535</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16</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位预分频器（分频系数：</a:t>
            </a:r>
            <a:r>
              <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1~65536</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50000"/>
              </a:lnSpc>
            </a:pPr>
            <a:r>
              <a:rPr lang="zh-CN" altLang="en-US" sz="1600" kern="100">
                <a:solidFill>
                  <a:srgbClr val="002060"/>
                </a:solidFill>
                <a:latin typeface="思源黑体 CN Normal" panose="020B0400000000000000" pitchFamily="34" charset="-122"/>
                <a:ea typeface="思源黑体 CN Normal" panose="020B0400000000000000" pitchFamily="34" charset="-122"/>
              </a:rPr>
              <a:t>可用于</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触发</a:t>
            </a:r>
            <a:r>
              <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DAC</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a:t>
            </a:r>
            <a:r>
              <a:rPr lang="en-US" altLang="zh-CN" sz="1600" b="0" kern="100" baseline="0">
                <a:ln>
                  <a:noFill/>
                </a:ln>
                <a:solidFill>
                  <a:srgbClr val="C00000"/>
                </a:solidFill>
                <a:effectLst/>
                <a:latin typeface="思源黑体 CN Normal" panose="020B0400000000000000" pitchFamily="34" charset="-122"/>
                <a:ea typeface="思源黑体 CN Normal" panose="020B0400000000000000" pitchFamily="34" charset="-122"/>
              </a:rPr>
              <a:t>ADC</a:t>
            </a:r>
            <a:endParaRPr lang="en-US" altLang="zh-CN" sz="1600" b="0" kern="100" baseline="0">
              <a:ln>
                <a:noFill/>
              </a:ln>
              <a:solidFill>
                <a:srgbClr val="C00000"/>
              </a:solidFill>
              <a:effectLst/>
              <a:latin typeface="思源黑体 CN Normal" panose="020B0400000000000000" pitchFamily="34" charset="-122"/>
              <a:ea typeface="思源黑体 CN Normal" panose="020B0400000000000000" pitchFamily="34" charset="-122"/>
            </a:endParaRPr>
          </a:p>
          <a:p>
            <a:pPr>
              <a:lnSpc>
                <a:spcPct val="150000"/>
              </a:lnSpc>
            </a:pP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在更新事件、</a:t>
            </a:r>
            <a:r>
              <a:rPr lang="zh-CN" altLang="en-US" sz="1600" b="0" kern="100" baseline="0">
                <a:ln>
                  <a:noFill/>
                </a:ln>
                <a:solidFill>
                  <a:srgbClr val="C00000"/>
                </a:solidFill>
                <a:effectLst/>
                <a:latin typeface="思源黑体 CN Normal" panose="020B0400000000000000" pitchFamily="34" charset="-122"/>
                <a:ea typeface="思源黑体 CN Normal" panose="020B0400000000000000" pitchFamily="34" charset="-122"/>
              </a:rPr>
              <a:t>触发事件、输入捕获、输出比较</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时，会产生中断</a:t>
            </a:r>
            <a:r>
              <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/DMA</a:t>
            </a:r>
            <a:r>
              <a:rPr lang="zh-CN" altLang="en-US" sz="1600" b="0" kern="100" baseline="0">
                <a:ln>
                  <a:noFill/>
                </a:ln>
                <a:solidFill>
                  <a:srgbClr val="002060"/>
                </a:solidFill>
                <a:effectLst/>
                <a:latin typeface="思源黑体 CN Normal" panose="020B0400000000000000" pitchFamily="34" charset="-122"/>
                <a:ea typeface="思源黑体 CN Normal" panose="020B0400000000000000" pitchFamily="34" charset="-122"/>
              </a:rPr>
              <a:t>请求</a:t>
            </a:r>
            <a:endParaRPr lang="en-US" altLang="zh-CN" sz="1600" b="0" kern="100" baseline="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50000"/>
              </a:lnSpc>
            </a:pPr>
            <a:r>
              <a:rPr lang="en-US" altLang="zh-CN" sz="1600" kern="100">
                <a:solidFill>
                  <a:srgbClr val="C00000"/>
                </a:solidFill>
                <a:latin typeface="思源黑体 CN Normal" panose="020B0400000000000000" pitchFamily="34" charset="-122"/>
                <a:ea typeface="思源黑体 CN Normal" panose="020B0400000000000000" pitchFamily="34" charset="-122"/>
              </a:rPr>
              <a:t>4</a:t>
            </a:r>
            <a:r>
              <a:rPr lang="zh-CN" altLang="en-US" sz="1600" kern="100">
                <a:solidFill>
                  <a:srgbClr val="C00000"/>
                </a:solidFill>
                <a:latin typeface="思源黑体 CN Normal" panose="020B0400000000000000" pitchFamily="34" charset="-122"/>
                <a:ea typeface="思源黑体 CN Normal" panose="020B0400000000000000" pitchFamily="34" charset="-122"/>
              </a:rPr>
              <a:t>个独立通道，可用于：输入捕获、输出比较、输出</a:t>
            </a:r>
            <a:r>
              <a:rPr lang="en-US" altLang="zh-CN" sz="1600" kern="100">
                <a:solidFill>
                  <a:srgbClr val="C00000"/>
                </a:solidFill>
                <a:latin typeface="思源黑体 CN Normal" panose="020B0400000000000000" pitchFamily="34" charset="-122"/>
                <a:ea typeface="思源黑体 CN Normal" panose="020B0400000000000000" pitchFamily="34" charset="-122"/>
              </a:rPr>
              <a:t>PWM</a:t>
            </a:r>
            <a:r>
              <a:rPr lang="zh-CN" altLang="en-US" sz="1600" kern="100">
                <a:solidFill>
                  <a:srgbClr val="C00000"/>
                </a:solidFill>
                <a:latin typeface="思源黑体 CN Normal" panose="020B0400000000000000" pitchFamily="34" charset="-122"/>
                <a:ea typeface="思源黑体 CN Normal" panose="020B0400000000000000" pitchFamily="34" charset="-122"/>
              </a:rPr>
              <a:t>、单脉冲模式</a:t>
            </a:r>
            <a:endParaRPr lang="en-US" altLang="zh-CN" sz="1600" kern="1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endParaRPr lang="zh-CN" altLang="en-US" sz="1600" kern="1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kern="100">
                <a:solidFill>
                  <a:srgbClr val="C00000"/>
                </a:solidFill>
                <a:latin typeface="思源黑体 CN Normal" panose="020B0400000000000000" pitchFamily="34" charset="-122"/>
                <a:ea typeface="思源黑体 CN Normal" panose="020B0400000000000000" pitchFamily="34" charset="-122"/>
              </a:rPr>
              <a:t>使用外部信号控制定时器且可实现多个定时器互连的同步电路</a:t>
            </a:r>
            <a:endParaRPr lang="en-US" altLang="zh-CN" sz="1600" kern="1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0" kern="100" baseline="0">
                <a:ln>
                  <a:noFill/>
                </a:ln>
                <a:solidFill>
                  <a:srgbClr val="C00000"/>
                </a:solidFill>
                <a:effectLst/>
                <a:latin typeface="思源黑体 CN Normal" panose="020B0400000000000000" pitchFamily="34" charset="-122"/>
                <a:ea typeface="思源黑体 CN Normal" panose="020B0400000000000000" pitchFamily="34" charset="-122"/>
              </a:rPr>
              <a:t>支持编码器和霍尔传感器电路等</a:t>
            </a:r>
            <a:endParaRPr lang="en-US" altLang="zh-CN" sz="1600" b="0" kern="100" baseline="0">
              <a:ln>
                <a:noFill/>
              </a:ln>
              <a:solidFill>
                <a:srgbClr val="C00000"/>
              </a:solidFill>
              <a:effectLst/>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5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animEffect transition="in" filter="fade">
                                      <p:cBhvr>
                                        <p:cTn id="27" dur="500"/>
                                        <p:tgtEl>
                                          <p:spTgt spid="1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xEl>
                                              <p:pRg st="2" end="2"/>
                                            </p:txEl>
                                          </p:spTgt>
                                        </p:tgtEl>
                                        <p:attrNameLst>
                                          <p:attrName>style.visibility</p:attrName>
                                        </p:attrNameLst>
                                      </p:cBhvr>
                                      <p:to>
                                        <p:strVal val="visible"/>
                                      </p:to>
                                    </p:set>
                                    <p:animEffect transition="in" filter="fade">
                                      <p:cBhvr>
                                        <p:cTn id="32" dur="500"/>
                                        <p:tgtEl>
                                          <p:spTgt spid="1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xEl>
                                              <p:pRg st="3" end="3"/>
                                            </p:txEl>
                                          </p:spTgt>
                                        </p:tgtEl>
                                        <p:attrNameLst>
                                          <p:attrName>style.visibility</p:attrName>
                                        </p:attrNameLst>
                                      </p:cBhvr>
                                      <p:to>
                                        <p:strVal val="visible"/>
                                      </p:to>
                                    </p:set>
                                    <p:animEffect transition="in" filter="fade">
                                      <p:cBhvr>
                                        <p:cTn id="37" dur="500"/>
                                        <p:tgtEl>
                                          <p:spTgt spid="1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xEl>
                                              <p:pRg st="4" end="4"/>
                                            </p:txEl>
                                          </p:spTgt>
                                        </p:tgtEl>
                                        <p:attrNameLst>
                                          <p:attrName>style.visibility</p:attrName>
                                        </p:attrNameLst>
                                      </p:cBhvr>
                                      <p:to>
                                        <p:strVal val="visible"/>
                                      </p:to>
                                    </p:set>
                                    <p:animEffect transition="in" filter="fade">
                                      <p:cBhvr>
                                        <p:cTn id="42" dur="500"/>
                                        <p:tgtEl>
                                          <p:spTgt spid="18">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xEl>
                                              <p:pRg st="6" end="6"/>
                                            </p:txEl>
                                          </p:spTgt>
                                        </p:tgtEl>
                                        <p:attrNameLst>
                                          <p:attrName>style.visibility</p:attrName>
                                        </p:attrNameLst>
                                      </p:cBhvr>
                                      <p:to>
                                        <p:strVal val="visible"/>
                                      </p:to>
                                    </p:set>
                                    <p:animEffect transition="in" filter="fade">
                                      <p:cBhvr>
                                        <p:cTn id="47" dur="500"/>
                                        <p:tgtEl>
                                          <p:spTgt spid="18">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
                                            <p:txEl>
                                              <p:pRg st="7" end="7"/>
                                            </p:txEl>
                                          </p:spTgt>
                                        </p:tgtEl>
                                        <p:attrNameLst>
                                          <p:attrName>style.visibility</p:attrName>
                                        </p:attrNameLst>
                                      </p:cBhvr>
                                      <p:to>
                                        <p:strVal val="visible"/>
                                      </p:to>
                                    </p:set>
                                    <p:animEffect transition="in" filter="fade">
                                      <p:cBhvr>
                                        <p:cTn id="52"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ldLvl="0" animBg="1"/>
      <p:bldP spid="14"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503901" y="1009015"/>
            <a:ext cx="2103117" cy="967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通用定时</a:t>
            </a:r>
            <a:endParaRPr lang="en-US" altLang="zh-CN" sz="2000" b="1">
              <a:solidFill>
                <a:srgbClr val="002060"/>
              </a:solidFill>
              <a:latin typeface="思源黑体 CN Bold" pitchFamily="34" charset="-122"/>
              <a:ea typeface="思源黑体 CN Bold" pitchFamily="34" charset="-122"/>
            </a:endParaRPr>
          </a:p>
          <a:p>
            <a:pPr>
              <a:lnSpc>
                <a:spcPct val="150000"/>
              </a:lnSpc>
              <a:defRPr/>
            </a:pPr>
            <a:r>
              <a:rPr lang="en-US" altLang="zh-CN" sz="2000" b="1">
                <a:solidFill>
                  <a:srgbClr val="002060"/>
                </a:solidFill>
                <a:latin typeface="思源黑体 CN Bold" pitchFamily="34" charset="-122"/>
                <a:ea typeface="思源黑体 CN Bold" pitchFamily="34" charset="-122"/>
              </a:rPr>
              <a:t>         </a:t>
            </a:r>
            <a:r>
              <a:rPr lang="zh-CN" altLang="en-US" sz="2000" b="1">
                <a:solidFill>
                  <a:srgbClr val="002060"/>
                </a:solidFill>
                <a:latin typeface="思源黑体 CN Bold" pitchFamily="34" charset="-122"/>
                <a:ea typeface="思源黑体 CN Bold" pitchFamily="34" charset="-122"/>
              </a:rPr>
              <a:t>器框图</a:t>
            </a:r>
            <a:endParaRPr lang="en-US" altLang="zh-CN" sz="2000" b="1" dirty="0">
              <a:solidFill>
                <a:srgbClr val="002060"/>
              </a:solidFill>
              <a:latin typeface="思源黑体 CN Bold" pitchFamily="34" charset="-122"/>
              <a:ea typeface="思源黑体 CN Bold" pitchFamily="34" charset="-122"/>
            </a:endParaRPr>
          </a:p>
        </p:txBody>
      </p:sp>
      <p:sp>
        <p:nvSpPr>
          <p:cNvPr id="19" name="矩形 18"/>
          <p:cNvSpPr/>
          <p:nvPr/>
        </p:nvSpPr>
        <p:spPr>
          <a:xfrm>
            <a:off x="1695142" y="2191165"/>
            <a:ext cx="1930900" cy="2311467"/>
          </a:xfrm>
          <a:prstGeom prst="rect">
            <a:avLst/>
          </a:prstGeom>
        </p:spPr>
        <p:txBody>
          <a:bodyPr wrap="square">
            <a:spAutoFit/>
          </a:bodyPr>
          <a:lstStyle/>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①</a:t>
            </a:r>
            <a:r>
              <a:rPr lang="zh-CN" altLang="en-US" sz="1600">
                <a:solidFill>
                  <a:srgbClr val="C00000"/>
                </a:solidFill>
                <a:latin typeface="思源黑体 CN Normal" panose="020B0400000000000000" pitchFamily="34" charset="-122"/>
                <a:ea typeface="思源黑体 CN Normal" panose="020B0400000000000000" pitchFamily="34" charset="-122"/>
              </a:rPr>
              <a:t>时钟源</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②</a:t>
            </a:r>
            <a:r>
              <a:rPr lang="zh-CN" altLang="en-US" sz="1600">
                <a:solidFill>
                  <a:srgbClr val="C00000"/>
                </a:solidFill>
                <a:latin typeface="思源黑体 CN Normal" panose="020B0400000000000000" pitchFamily="34" charset="-122"/>
                <a:ea typeface="思源黑体 CN Normal" panose="020B0400000000000000" pitchFamily="34" charset="-122"/>
              </a:rPr>
              <a:t>控制器</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③</a:t>
            </a:r>
            <a:r>
              <a:rPr lang="zh-CN" altLang="en-US" sz="1600">
                <a:solidFill>
                  <a:srgbClr val="C00000"/>
                </a:solidFill>
                <a:latin typeface="思源黑体 CN Normal" panose="020B0400000000000000" pitchFamily="34" charset="-122"/>
                <a:ea typeface="思源黑体 CN Normal" panose="020B0400000000000000" pitchFamily="34" charset="-122"/>
              </a:rPr>
              <a:t>时基单元</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④</a:t>
            </a:r>
            <a:r>
              <a:rPr lang="zh-CN" altLang="en-US" sz="1600">
                <a:solidFill>
                  <a:srgbClr val="C00000"/>
                </a:solidFill>
                <a:latin typeface="思源黑体 CN Normal" panose="020B0400000000000000" pitchFamily="34" charset="-122"/>
                <a:ea typeface="思源黑体 CN Normal" panose="020B0400000000000000" pitchFamily="34" charset="-122"/>
              </a:rPr>
              <a:t>输入捕获</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⑤</a:t>
            </a:r>
            <a:r>
              <a:rPr lang="zh-CN" altLang="en-US" sz="1600">
                <a:solidFill>
                  <a:srgbClr val="C00000"/>
                </a:solidFill>
                <a:latin typeface="思源黑体 CN Normal" panose="020B0400000000000000" pitchFamily="34" charset="-122"/>
                <a:ea typeface="思源黑体 CN Normal" panose="020B0400000000000000" pitchFamily="34" charset="-122"/>
              </a:rPr>
              <a:t>捕获</a:t>
            </a:r>
            <a:r>
              <a:rPr lang="en-US" altLang="zh-CN"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C00000"/>
                </a:solidFill>
                <a:latin typeface="思源黑体 CN Normal" panose="020B0400000000000000" pitchFamily="34" charset="-122"/>
                <a:ea typeface="思源黑体 CN Normal" panose="020B0400000000000000" pitchFamily="34" charset="-122"/>
              </a:rPr>
              <a:t>比较</a:t>
            </a:r>
            <a:r>
              <a:rPr lang="en-US" altLang="zh-CN"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C00000"/>
                </a:solidFill>
                <a:latin typeface="思源黑体 CN Normal" panose="020B0400000000000000" pitchFamily="34" charset="-122"/>
                <a:ea typeface="思源黑体 CN Normal" panose="020B0400000000000000" pitchFamily="34" charset="-122"/>
              </a:rPr>
              <a:t>公共</a:t>
            </a:r>
            <a:r>
              <a:rPr lang="en-US" altLang="zh-CN" sz="1600">
                <a:solidFill>
                  <a:srgbClr val="C00000"/>
                </a:solidFill>
                <a:latin typeface="思源黑体 CN Normal" panose="020B0400000000000000" pitchFamily="34" charset="-122"/>
                <a:ea typeface="思源黑体 CN Normal" panose="020B0400000000000000" pitchFamily="34" charset="-122"/>
              </a:rPr>
              <a:t>)</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⑥</a:t>
            </a:r>
            <a:r>
              <a:rPr lang="zh-CN" altLang="en-US" sz="1600">
                <a:solidFill>
                  <a:srgbClr val="C00000"/>
                </a:solidFill>
                <a:latin typeface="思源黑体 CN Normal" panose="020B0400000000000000" pitchFamily="34" charset="-122"/>
                <a:ea typeface="思源黑体 CN Normal" panose="020B0400000000000000" pitchFamily="34" charset="-122"/>
              </a:rPr>
              <a:t>输出比较</a:t>
            </a:r>
            <a:endParaRPr lang="zh-CN" altLang="en-US" sz="1600" dirty="0">
              <a:solidFill>
                <a:srgbClr val="C00000"/>
              </a:solidFill>
              <a:latin typeface="思源黑体 CN Normal" panose="020B0400000000000000" pitchFamily="34" charset="-122"/>
              <a:ea typeface="思源黑体 CN Normal" panose="020B0400000000000000" pitchFamily="34" charset="-122"/>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07020" y="1009015"/>
            <a:ext cx="6795329" cy="5143500"/>
          </a:xfrm>
          <a:prstGeom prst="rect">
            <a:avLst/>
          </a:prstGeom>
          <a:ln>
            <a:noFill/>
          </a:ln>
          <a:effectLst>
            <a:outerShdw blurRad="190500" algn="tl" rotWithShape="0">
              <a:srgbClr val="000000">
                <a:alpha val="70000"/>
              </a:srgbClr>
            </a:outerShdw>
          </a:effectLst>
        </p:spPr>
      </p:pic>
      <p:sp>
        <p:nvSpPr>
          <p:cNvPr id="22" name="矩形 21"/>
          <p:cNvSpPr/>
          <p:nvPr/>
        </p:nvSpPr>
        <p:spPr>
          <a:xfrm>
            <a:off x="3607019" y="1009015"/>
            <a:ext cx="4449225" cy="2089150"/>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056244" y="1009015"/>
            <a:ext cx="2346104" cy="2089150"/>
          </a:xfrm>
          <a:prstGeom prst="rect">
            <a:avLst/>
          </a:prstGeom>
          <a:solidFill>
            <a:schemeClr val="accent6">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5831631" y="3098165"/>
            <a:ext cx="3401904" cy="825500"/>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7349802" y="3923665"/>
            <a:ext cx="1251274" cy="2228850"/>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607018" y="3923665"/>
            <a:ext cx="3742783" cy="2228850"/>
          </a:xfrm>
          <a:prstGeom prst="rect">
            <a:avLst/>
          </a:prstGeom>
          <a:solidFill>
            <a:schemeClr val="accent2">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8601075" y="3923665"/>
            <a:ext cx="1801273" cy="2228850"/>
          </a:xfrm>
          <a:prstGeom prst="rect">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381470" y="186617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①</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32" name="矩形 31"/>
          <p:cNvSpPr/>
          <p:nvPr/>
        </p:nvSpPr>
        <p:spPr>
          <a:xfrm>
            <a:off x="9169370" y="235512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②</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33" name="矩形 32"/>
          <p:cNvSpPr/>
          <p:nvPr/>
        </p:nvSpPr>
        <p:spPr>
          <a:xfrm>
            <a:off x="6542760" y="3226299"/>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③</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34" name="矩形 33"/>
          <p:cNvSpPr/>
          <p:nvPr/>
        </p:nvSpPr>
        <p:spPr>
          <a:xfrm>
            <a:off x="4237710" y="474656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④</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36" name="矩形 35"/>
          <p:cNvSpPr/>
          <p:nvPr/>
        </p:nvSpPr>
        <p:spPr>
          <a:xfrm>
            <a:off x="7624693" y="474656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⑤</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
        <p:nvSpPr>
          <p:cNvPr id="37" name="矩形 36"/>
          <p:cNvSpPr/>
          <p:nvPr/>
        </p:nvSpPr>
        <p:spPr>
          <a:xfrm>
            <a:off x="9400332" y="4746565"/>
            <a:ext cx="461924" cy="400110"/>
          </a:xfrm>
          <a:prstGeom prst="rect">
            <a:avLst/>
          </a:prstGeom>
        </p:spPr>
        <p:txBody>
          <a:bodyPr wrap="square">
            <a:spAutoFit/>
          </a:bodyPr>
          <a:lstStyle/>
          <a:p>
            <a:r>
              <a:rPr lang="zh-CN" altLang="en-US" sz="2000" b="1">
                <a:solidFill>
                  <a:srgbClr val="C00000"/>
                </a:solidFill>
                <a:latin typeface="思源黑体 CN Normal" panose="020B0400000000000000" pitchFamily="34" charset="-122"/>
                <a:ea typeface="思源黑体 CN Normal" panose="020B0400000000000000" pitchFamily="34" charset="-122"/>
              </a:rPr>
              <a:t>⑥</a:t>
            </a:r>
            <a:endParaRPr lang="zh-CN" altLang="en-US" sz="2000" b="1" dirty="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fade">
                                      <p:cBhvr>
                                        <p:cTn id="20" dur="500"/>
                                        <p:tgtEl>
                                          <p:spTgt spid="1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xEl>
                                              <p:pRg st="1" end="1"/>
                                            </p:txEl>
                                          </p:spTgt>
                                        </p:tgtEl>
                                        <p:attrNameLst>
                                          <p:attrName>style.visibility</p:attrName>
                                        </p:attrNameLst>
                                      </p:cBhvr>
                                      <p:to>
                                        <p:strVal val="visible"/>
                                      </p:to>
                                    </p:set>
                                    <p:animEffect transition="in" filter="fade">
                                      <p:cBhvr>
                                        <p:cTn id="33" dur="500"/>
                                        <p:tgtEl>
                                          <p:spTgt spid="19">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xEl>
                                              <p:pRg st="2" end="2"/>
                                            </p:txEl>
                                          </p:spTgt>
                                        </p:tgtEl>
                                        <p:attrNameLst>
                                          <p:attrName>style.visibility</p:attrName>
                                        </p:attrNameLst>
                                      </p:cBhvr>
                                      <p:to>
                                        <p:strVal val="visible"/>
                                      </p:to>
                                    </p:set>
                                    <p:animEffect transition="in" filter="fade">
                                      <p:cBhvr>
                                        <p:cTn id="46" dur="500"/>
                                        <p:tgtEl>
                                          <p:spTgt spid="19">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9">
                                            <p:txEl>
                                              <p:pRg st="3" end="3"/>
                                            </p:txEl>
                                          </p:spTgt>
                                        </p:tgtEl>
                                        <p:attrNameLst>
                                          <p:attrName>style.visibility</p:attrName>
                                        </p:attrNameLst>
                                      </p:cBhvr>
                                      <p:to>
                                        <p:strVal val="visible"/>
                                      </p:to>
                                    </p:set>
                                    <p:animEffect transition="in" filter="fade">
                                      <p:cBhvr>
                                        <p:cTn id="59" dur="500"/>
                                        <p:tgtEl>
                                          <p:spTgt spid="19">
                                            <p:txEl>
                                              <p:pRg st="3" end="3"/>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9">
                                            <p:txEl>
                                              <p:pRg st="4" end="4"/>
                                            </p:txEl>
                                          </p:spTgt>
                                        </p:tgtEl>
                                        <p:attrNameLst>
                                          <p:attrName>style.visibility</p:attrName>
                                        </p:attrNameLst>
                                      </p:cBhvr>
                                      <p:to>
                                        <p:strVal val="visible"/>
                                      </p:to>
                                    </p:set>
                                    <p:animEffect transition="in" filter="fade">
                                      <p:cBhvr>
                                        <p:cTn id="72" dur="500"/>
                                        <p:tgtEl>
                                          <p:spTgt spid="19">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9">
                                            <p:txEl>
                                              <p:pRg st="5" end="5"/>
                                            </p:txEl>
                                          </p:spTgt>
                                        </p:tgtEl>
                                        <p:attrNameLst>
                                          <p:attrName>style.visibility</p:attrName>
                                        </p:attrNameLst>
                                      </p:cBhvr>
                                      <p:to>
                                        <p:strVal val="visible"/>
                                      </p:to>
                                    </p:set>
                                    <p:animEffect transition="in" filter="fade">
                                      <p:cBhvr>
                                        <p:cTn id="85"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bldLvl="0" animBg="1"/>
      <p:bldP spid="25" grpId="0" bldLvl="0" animBg="1"/>
      <p:bldP spid="26" grpId="0" bldLvl="0" animBg="1"/>
      <p:bldP spid="27" grpId="0" bldLvl="0" animBg="1"/>
      <p:bldP spid="28" grpId="0" bldLvl="0" animBg="1"/>
      <p:bldP spid="29" grpId="0"/>
      <p:bldP spid="32" grpId="0"/>
      <p:bldP spid="33" grpId="0"/>
      <p:bldP spid="34" grpId="0"/>
      <p:bldP spid="36" grpId="0"/>
      <p:bldP spid="3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39"/>
          <p:cNvSpPr>
            <a:spLocks noChangeArrowheads="1"/>
          </p:cNvSpPr>
          <p:nvPr/>
        </p:nvSpPr>
        <p:spPr bwMode="auto">
          <a:xfrm>
            <a:off x="2167317" y="1008380"/>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计数器时钟源</a:t>
            </a:r>
            <a:endParaRPr lang="en-US" altLang="zh-CN" sz="2000" b="1">
              <a:solidFill>
                <a:srgbClr val="002060"/>
              </a:solidFill>
              <a:latin typeface="思源黑体 CN Bold" pitchFamily="34" charset="-122"/>
              <a:ea typeface="思源黑体 CN Bold" pitchFamily="34" charset="-122"/>
            </a:endParaRPr>
          </a:p>
        </p:txBody>
      </p:sp>
      <p:pic>
        <p:nvPicPr>
          <p:cNvPr id="3" name="图片 2"/>
          <p:cNvPicPr>
            <a:picLocks noChangeAspect="1"/>
          </p:cNvPicPr>
          <p:nvPr/>
        </p:nvPicPr>
        <p:blipFill>
          <a:blip r:embed="rId1"/>
          <a:stretch>
            <a:fillRect/>
          </a:stretch>
        </p:blipFill>
        <p:spPr>
          <a:xfrm>
            <a:off x="2607451" y="1467590"/>
            <a:ext cx="7913511" cy="3230767"/>
          </a:xfrm>
          <a:prstGeom prst="rect">
            <a:avLst/>
          </a:prstGeom>
          <a:ln>
            <a:noFill/>
          </a:ln>
          <a:effectLst>
            <a:outerShdw blurRad="190500" algn="tl" rotWithShape="0">
              <a:srgbClr val="000000">
                <a:alpha val="70000"/>
              </a:srgbClr>
            </a:outerShdw>
          </a:effectLst>
        </p:spPr>
      </p:pic>
      <p:sp>
        <p:nvSpPr>
          <p:cNvPr id="16" name="矩形 15"/>
          <p:cNvSpPr/>
          <p:nvPr/>
        </p:nvSpPr>
        <p:spPr>
          <a:xfrm>
            <a:off x="2607451" y="4743296"/>
            <a:ext cx="7808823" cy="1254382"/>
          </a:xfrm>
          <a:prstGeom prst="rect">
            <a:avLst/>
          </a:prstGeom>
        </p:spPr>
        <p:txBody>
          <a:bodyPr wrap="square">
            <a:spAutoFit/>
          </a:bodyPr>
          <a:lstStyle/>
          <a:p>
            <a:pPr>
              <a:lnSpc>
                <a:spcPct val="12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①</a:t>
            </a:r>
            <a:r>
              <a:rPr lang="zh-CN" altLang="en-US" sz="1600">
                <a:solidFill>
                  <a:srgbClr val="C00000"/>
                </a:solidFill>
                <a:latin typeface="思源黑体 CN Normal" panose="020B0400000000000000" pitchFamily="34" charset="-122"/>
                <a:ea typeface="思源黑体 CN Normal" panose="020B0400000000000000" pitchFamily="34" charset="-122"/>
              </a:rPr>
              <a:t>内部时钟</a:t>
            </a:r>
            <a:r>
              <a:rPr lang="en-US" altLang="zh-CN" sz="1600">
                <a:solidFill>
                  <a:srgbClr val="C00000"/>
                </a:solidFill>
                <a:latin typeface="思源黑体 CN Normal" panose="020B0400000000000000" pitchFamily="34" charset="-122"/>
                <a:ea typeface="思源黑体 CN Normal" panose="020B0400000000000000" pitchFamily="34" charset="-122"/>
              </a:rPr>
              <a:t>(CK_INT)</a:t>
            </a:r>
            <a:r>
              <a:rPr lang="zh-CN" altLang="en-US"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来自外设总线</a:t>
            </a:r>
            <a:r>
              <a:rPr lang="en-US" altLang="zh-CN" sz="1600">
                <a:solidFill>
                  <a:srgbClr val="002060"/>
                </a:solidFill>
                <a:latin typeface="思源黑体 CN Normal" panose="020B0400000000000000" pitchFamily="34" charset="-122"/>
                <a:ea typeface="思源黑体 CN Normal" panose="020B0400000000000000" pitchFamily="34" charset="-122"/>
              </a:rPr>
              <a:t>APB</a:t>
            </a:r>
            <a:r>
              <a:rPr lang="zh-CN" altLang="en-US" sz="1600">
                <a:solidFill>
                  <a:srgbClr val="002060"/>
                </a:solidFill>
                <a:latin typeface="思源黑体 CN Normal" panose="020B0400000000000000" pitchFamily="34" charset="-122"/>
                <a:ea typeface="思源黑体 CN Normal" panose="020B0400000000000000" pitchFamily="34" charset="-122"/>
              </a:rPr>
              <a:t>提供的时钟</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2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②</a:t>
            </a:r>
            <a:r>
              <a:rPr lang="zh-CN" altLang="en-US" sz="1600">
                <a:solidFill>
                  <a:srgbClr val="C00000"/>
                </a:solidFill>
                <a:latin typeface="思源黑体 CN Normal" panose="020B0400000000000000" pitchFamily="34" charset="-122"/>
                <a:ea typeface="思源黑体 CN Normal" panose="020B0400000000000000" pitchFamily="34" charset="-122"/>
              </a:rPr>
              <a:t>外部时钟模式</a:t>
            </a:r>
            <a:r>
              <a:rPr lang="en-US" altLang="zh-CN" sz="1600">
                <a:solidFill>
                  <a:srgbClr val="C00000"/>
                </a:solidFill>
                <a:latin typeface="思源黑体 CN Normal" panose="020B0400000000000000" pitchFamily="34" charset="-122"/>
                <a:ea typeface="思源黑体 CN Normal" panose="020B0400000000000000" pitchFamily="34" charset="-122"/>
              </a:rPr>
              <a:t>1</a:t>
            </a:r>
            <a:r>
              <a:rPr lang="zh-CN" altLang="en-US" sz="1600">
                <a:solidFill>
                  <a:srgbClr val="C00000"/>
                </a:solidFill>
                <a:latin typeface="思源黑体 CN Normal" panose="020B0400000000000000" pitchFamily="34" charset="-122"/>
                <a:ea typeface="思源黑体 CN Normal" panose="020B0400000000000000" pitchFamily="34" charset="-122"/>
              </a:rPr>
              <a:t>：外部输入引脚</a:t>
            </a:r>
            <a:r>
              <a:rPr lang="en-US" altLang="zh-CN" sz="1600">
                <a:solidFill>
                  <a:srgbClr val="C00000"/>
                </a:solidFill>
                <a:latin typeface="思源黑体 CN Normal" panose="020B0400000000000000" pitchFamily="34" charset="-122"/>
                <a:ea typeface="思源黑体 CN Normal" panose="020B0400000000000000" pitchFamily="34" charset="-122"/>
              </a:rPr>
              <a:t>(TIx)</a:t>
            </a:r>
            <a:r>
              <a:rPr lang="zh-CN" altLang="en-US"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来自定时器通道</a:t>
            </a:r>
            <a:r>
              <a:rPr lang="en-US" altLang="zh-CN" sz="1600">
                <a:solidFill>
                  <a:srgbClr val="002060"/>
                </a:solidFill>
                <a:latin typeface="思源黑体 CN Normal" panose="020B0400000000000000" pitchFamily="34" charset="-122"/>
                <a:ea typeface="思源黑体 CN Normal" panose="020B0400000000000000" pitchFamily="34" charset="-122"/>
              </a:rPr>
              <a:t>1</a:t>
            </a:r>
            <a:r>
              <a:rPr lang="zh-CN" altLang="en-US" sz="1600">
                <a:solidFill>
                  <a:srgbClr val="002060"/>
                </a:solidFill>
                <a:latin typeface="思源黑体 CN Normal" panose="020B0400000000000000" pitchFamily="34" charset="-122"/>
                <a:ea typeface="思源黑体 CN Normal" panose="020B0400000000000000" pitchFamily="34" charset="-122"/>
              </a:rPr>
              <a:t>或者通道</a:t>
            </a:r>
            <a:r>
              <a:rPr lang="en-US" altLang="zh-CN" sz="1600">
                <a:solidFill>
                  <a:srgbClr val="002060"/>
                </a:solidFill>
                <a:latin typeface="思源黑体 CN Normal" panose="020B0400000000000000" pitchFamily="34" charset="-122"/>
                <a:ea typeface="思源黑体 CN Normal" panose="020B0400000000000000" pitchFamily="34" charset="-122"/>
              </a:rPr>
              <a:t>2</a:t>
            </a:r>
            <a:r>
              <a:rPr lang="zh-CN" altLang="en-US" sz="1600">
                <a:solidFill>
                  <a:srgbClr val="002060"/>
                </a:solidFill>
                <a:latin typeface="思源黑体 CN Normal" panose="020B0400000000000000" pitchFamily="34" charset="-122"/>
                <a:ea typeface="思源黑体 CN Normal" panose="020B0400000000000000" pitchFamily="34" charset="-122"/>
              </a:rPr>
              <a:t>引脚的信号</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2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③</a:t>
            </a:r>
            <a:r>
              <a:rPr lang="zh-CN" altLang="en-US" sz="1600">
                <a:solidFill>
                  <a:srgbClr val="C00000"/>
                </a:solidFill>
                <a:latin typeface="思源黑体 CN Normal" panose="020B0400000000000000" pitchFamily="34" charset="-122"/>
                <a:ea typeface="思源黑体 CN Normal" panose="020B0400000000000000" pitchFamily="34" charset="-122"/>
              </a:rPr>
              <a:t>外部时钟模式</a:t>
            </a:r>
            <a:r>
              <a:rPr lang="en-US" altLang="zh-CN" sz="1600">
                <a:solidFill>
                  <a:srgbClr val="C00000"/>
                </a:solidFill>
                <a:latin typeface="思源黑体 CN Normal" panose="020B0400000000000000" pitchFamily="34" charset="-122"/>
                <a:ea typeface="思源黑体 CN Normal" panose="020B0400000000000000" pitchFamily="34" charset="-122"/>
              </a:rPr>
              <a:t>2</a:t>
            </a:r>
            <a:r>
              <a:rPr lang="zh-CN" altLang="en-US" sz="1600">
                <a:solidFill>
                  <a:srgbClr val="C00000"/>
                </a:solidFill>
                <a:latin typeface="思源黑体 CN Normal" panose="020B0400000000000000" pitchFamily="34" charset="-122"/>
                <a:ea typeface="思源黑体 CN Normal" panose="020B0400000000000000" pitchFamily="34" charset="-122"/>
              </a:rPr>
              <a:t>：外部触发输入</a:t>
            </a:r>
            <a:r>
              <a:rPr lang="en-US" altLang="zh-CN" sz="1600">
                <a:solidFill>
                  <a:srgbClr val="C00000"/>
                </a:solidFill>
                <a:latin typeface="思源黑体 CN Normal" panose="020B0400000000000000" pitchFamily="34" charset="-122"/>
                <a:ea typeface="思源黑体 CN Normal" panose="020B0400000000000000" pitchFamily="34" charset="-122"/>
              </a:rPr>
              <a:t>(ETR)</a:t>
            </a:r>
            <a:r>
              <a:rPr lang="zh-CN" altLang="en-US"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来自可以复用为</a:t>
            </a:r>
            <a:r>
              <a:rPr lang="en-US" altLang="zh-CN" sz="1600">
                <a:solidFill>
                  <a:srgbClr val="002060"/>
                </a:solidFill>
                <a:latin typeface="思源黑体 CN Normal" panose="020B0400000000000000" pitchFamily="34" charset="-122"/>
                <a:ea typeface="思源黑体 CN Normal" panose="020B0400000000000000" pitchFamily="34" charset="-122"/>
              </a:rPr>
              <a:t>TIMx_ETR</a:t>
            </a:r>
            <a:r>
              <a:rPr lang="zh-CN" altLang="en-US" sz="1600">
                <a:solidFill>
                  <a:srgbClr val="002060"/>
                </a:solidFill>
                <a:latin typeface="思源黑体 CN Normal" panose="020B0400000000000000" pitchFamily="34" charset="-122"/>
                <a:ea typeface="思源黑体 CN Normal" panose="020B0400000000000000" pitchFamily="34" charset="-122"/>
              </a:rPr>
              <a:t>的</a:t>
            </a:r>
            <a:r>
              <a:rPr lang="en-US" altLang="zh-CN" sz="1600">
                <a:solidFill>
                  <a:srgbClr val="002060"/>
                </a:solidFill>
                <a:latin typeface="思源黑体 CN Normal" panose="020B0400000000000000" pitchFamily="34" charset="-122"/>
                <a:ea typeface="思源黑体 CN Normal" panose="020B0400000000000000" pitchFamily="34" charset="-122"/>
              </a:rPr>
              <a:t>IO</a:t>
            </a:r>
            <a:r>
              <a:rPr lang="zh-CN" altLang="en-US" sz="1600">
                <a:solidFill>
                  <a:srgbClr val="002060"/>
                </a:solidFill>
                <a:latin typeface="思源黑体 CN Normal" panose="020B0400000000000000" pitchFamily="34" charset="-122"/>
                <a:ea typeface="思源黑体 CN Normal" panose="020B0400000000000000" pitchFamily="34" charset="-122"/>
              </a:rPr>
              <a:t>引脚</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2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④</a:t>
            </a:r>
            <a:r>
              <a:rPr lang="zh-CN" altLang="en-US" sz="1600">
                <a:solidFill>
                  <a:srgbClr val="C00000"/>
                </a:solidFill>
                <a:latin typeface="思源黑体 CN Normal" panose="020B0400000000000000" pitchFamily="34" charset="-122"/>
                <a:ea typeface="思源黑体 CN Normal" panose="020B0400000000000000" pitchFamily="34" charset="-122"/>
              </a:rPr>
              <a:t>内部触发输入</a:t>
            </a:r>
            <a:r>
              <a:rPr lang="en-US" altLang="zh-CN" sz="1600">
                <a:solidFill>
                  <a:srgbClr val="C00000"/>
                </a:solidFill>
                <a:latin typeface="思源黑体 CN Normal" panose="020B0400000000000000" pitchFamily="34" charset="-122"/>
                <a:ea typeface="思源黑体 CN Normal" panose="020B0400000000000000" pitchFamily="34" charset="-122"/>
              </a:rPr>
              <a:t>(ITRx)</a:t>
            </a:r>
            <a:r>
              <a:rPr lang="zh-CN" altLang="en-US" sz="1600">
                <a:solidFill>
                  <a:srgbClr val="C0000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用于与芯片内部其它通用</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高级定时器级联</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4073225" y="1467590"/>
            <a:ext cx="3149266" cy="459210"/>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821236" y="3549342"/>
            <a:ext cx="1582353" cy="1008848"/>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961890" y="2755342"/>
            <a:ext cx="997885" cy="735888"/>
          </a:xfrm>
          <a:prstGeom prst="rect">
            <a:avLst/>
          </a:prstGeom>
          <a:solidFill>
            <a:srgbClr val="0070C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607451" y="2160608"/>
            <a:ext cx="2354439" cy="531194"/>
          </a:xfrm>
          <a:prstGeom prst="rect">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066629" y="1512529"/>
            <a:ext cx="1600527"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①</a:t>
            </a:r>
            <a:endParaRPr lang="zh-CN" altLang="en-US"/>
          </a:p>
        </p:txBody>
      </p:sp>
      <p:sp>
        <p:nvSpPr>
          <p:cNvPr id="25" name="文本框 24"/>
          <p:cNvSpPr txBox="1"/>
          <p:nvPr/>
        </p:nvSpPr>
        <p:spPr>
          <a:xfrm>
            <a:off x="7126037" y="4008552"/>
            <a:ext cx="572703"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②</a:t>
            </a:r>
            <a:endParaRPr lang="zh-CN" altLang="en-US"/>
          </a:p>
        </p:txBody>
      </p:sp>
      <p:sp>
        <p:nvSpPr>
          <p:cNvPr id="26" name="文本框 25"/>
          <p:cNvSpPr txBox="1"/>
          <p:nvPr/>
        </p:nvSpPr>
        <p:spPr>
          <a:xfrm>
            <a:off x="3504242" y="2386010"/>
            <a:ext cx="938463"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③</a:t>
            </a:r>
            <a:endParaRPr lang="zh-CN" altLang="en-US"/>
          </a:p>
        </p:txBody>
      </p:sp>
      <p:sp>
        <p:nvSpPr>
          <p:cNvPr id="28" name="文本框 27"/>
          <p:cNvSpPr txBox="1"/>
          <p:nvPr/>
        </p:nvSpPr>
        <p:spPr>
          <a:xfrm>
            <a:off x="4961890" y="2938620"/>
            <a:ext cx="374650"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④</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xEl>
                                              <p:pRg st="0" end="0"/>
                                            </p:txEl>
                                          </p:spTgt>
                                        </p:tgtEl>
                                        <p:attrNameLst>
                                          <p:attrName>style.visibility</p:attrName>
                                        </p:attrNameLst>
                                      </p:cBhvr>
                                      <p:to>
                                        <p:strVal val="visible"/>
                                      </p:to>
                                    </p:set>
                                    <p:animEffect transition="in" filter="fade">
                                      <p:cBhvr>
                                        <p:cTn id="20" dur="500"/>
                                        <p:tgtEl>
                                          <p:spTgt spid="1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xEl>
                                              <p:pRg st="1" end="1"/>
                                            </p:txEl>
                                          </p:spTgt>
                                        </p:tgtEl>
                                        <p:attrNameLst>
                                          <p:attrName>style.visibility</p:attrName>
                                        </p:attrNameLst>
                                      </p:cBhvr>
                                      <p:to>
                                        <p:strVal val="visible"/>
                                      </p:to>
                                    </p:set>
                                    <p:animEffect transition="in" filter="fade">
                                      <p:cBhvr>
                                        <p:cTn id="33" dur="500"/>
                                        <p:tgtEl>
                                          <p:spTgt spid="16">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
                                            <p:txEl>
                                              <p:pRg st="2" end="2"/>
                                            </p:txEl>
                                          </p:spTgt>
                                        </p:tgtEl>
                                        <p:attrNameLst>
                                          <p:attrName>style.visibility</p:attrName>
                                        </p:attrNameLst>
                                      </p:cBhvr>
                                      <p:to>
                                        <p:strVal val="visible"/>
                                      </p:to>
                                    </p:set>
                                    <p:animEffect transition="in" filter="fade">
                                      <p:cBhvr>
                                        <p:cTn id="46" dur="500"/>
                                        <p:tgtEl>
                                          <p:spTgt spid="16">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6">
                                            <p:txEl>
                                              <p:pRg st="3" end="3"/>
                                            </p:txEl>
                                          </p:spTgt>
                                        </p:tgtEl>
                                        <p:attrNameLst>
                                          <p:attrName>style.visibility</p:attrName>
                                        </p:attrNameLst>
                                      </p:cBhvr>
                                      <p:to>
                                        <p:strVal val="visible"/>
                                      </p:to>
                                    </p:set>
                                    <p:animEffect transition="in" filter="fade">
                                      <p:cBhvr>
                                        <p:cTn id="59"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bldLvl="0" animBg="1"/>
      <p:bldP spid="21" grpId="0" bldLvl="0" animBg="1"/>
      <p:bldP spid="22" grpId="0" bldLvl="0" animBg="1"/>
      <p:bldP spid="23" grpId="0"/>
      <p:bldP spid="25" grpId="0"/>
      <p:bldP spid="26" grpId="0"/>
      <p:bldP spid="2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77624" y="1568393"/>
            <a:ext cx="8116711" cy="3463130"/>
          </a:xfrm>
          <a:prstGeom prst="rect">
            <a:avLst/>
          </a:prstGeom>
          <a:ln>
            <a:noFill/>
          </a:ln>
          <a:effectLst>
            <a:outerShdw blurRad="190500" algn="tl" rotWithShape="0">
              <a:srgbClr val="000000">
                <a:alpha val="70000"/>
              </a:srgbClr>
            </a:outerShdw>
          </a:effectLst>
        </p:spPr>
      </p:pic>
      <p:sp>
        <p:nvSpPr>
          <p:cNvPr id="31" name="矩形 30"/>
          <p:cNvSpPr/>
          <p:nvPr/>
        </p:nvSpPr>
        <p:spPr>
          <a:xfrm>
            <a:off x="1877624" y="1573018"/>
            <a:ext cx="2681112" cy="705193"/>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TIMx_SMCR</a:t>
            </a:r>
            <a:r>
              <a:rPr lang="zh-CN" altLang="en-US" sz="1400">
                <a:solidFill>
                  <a:srgbClr val="C00000"/>
                </a:solidFill>
                <a:latin typeface="思源黑体 CN Normal" panose="020B0400000000000000" pitchFamily="34" charset="-122"/>
                <a:ea typeface="思源黑体 CN Normal" panose="020B0400000000000000" pitchFamily="34" charset="-122"/>
              </a:rPr>
              <a:t>的</a:t>
            </a:r>
            <a:r>
              <a:rPr lang="en-US" altLang="zh-CN" sz="1400">
                <a:solidFill>
                  <a:srgbClr val="C00000"/>
                </a:solidFill>
                <a:latin typeface="思源黑体 CN Normal" panose="020B0400000000000000" pitchFamily="34" charset="-122"/>
                <a:ea typeface="思源黑体 CN Normal" panose="020B0400000000000000" pitchFamily="34" charset="-122"/>
              </a:rPr>
              <a:t>SMS[2:0]</a:t>
            </a:r>
            <a:r>
              <a:rPr lang="zh-CN" altLang="en-US" sz="1400">
                <a:solidFill>
                  <a:srgbClr val="C00000"/>
                </a:solidFill>
                <a:latin typeface="思源黑体 CN Normal" panose="020B0400000000000000" pitchFamily="34" charset="-122"/>
                <a:ea typeface="思源黑体 CN Normal" panose="020B0400000000000000" pitchFamily="34" charset="-122"/>
              </a:rPr>
              <a:t>设置为</a:t>
            </a:r>
            <a:r>
              <a:rPr lang="en-US" altLang="zh-CN" sz="1400">
                <a:solidFill>
                  <a:srgbClr val="C00000"/>
                </a:solidFill>
                <a:latin typeface="思源黑体 CN Normal" panose="020B0400000000000000" pitchFamily="34" charset="-122"/>
                <a:ea typeface="思源黑体 CN Normal" panose="020B0400000000000000" pitchFamily="34" charset="-122"/>
              </a:rPr>
              <a:t>111</a:t>
            </a:r>
            <a:r>
              <a:rPr lang="zh-CN" altLang="en-US" sz="1400">
                <a:solidFill>
                  <a:srgbClr val="C00000"/>
                </a:solidFill>
                <a:latin typeface="思源黑体 CN Normal" panose="020B0400000000000000" pitchFamily="34" charset="-122"/>
                <a:ea typeface="思源黑体 CN Normal" panose="020B0400000000000000" pitchFamily="34" charset="-122"/>
              </a:rPr>
              <a:t>，外部时钟模式</a:t>
            </a:r>
            <a:r>
              <a:rPr lang="en-US" altLang="zh-CN" sz="1400">
                <a:solidFill>
                  <a:srgbClr val="C00000"/>
                </a:solidFill>
                <a:latin typeface="思源黑体 CN Normal" panose="020B0400000000000000" pitchFamily="34" charset="-122"/>
                <a:ea typeface="思源黑体 CN Normal" panose="020B0400000000000000" pitchFamily="34" charset="-122"/>
              </a:rPr>
              <a:t>1 </a:t>
            </a:r>
            <a:r>
              <a:rPr lang="zh-CN" altLang="en-US" sz="1400">
                <a:solidFill>
                  <a:srgbClr val="C00000"/>
                </a:solidFill>
                <a:latin typeface="思源黑体 CN Normal" panose="020B0400000000000000" pitchFamily="34" charset="-122"/>
                <a:ea typeface="思源黑体 CN Normal" panose="020B0400000000000000" pitchFamily="34" charset="-122"/>
              </a:rPr>
              <a:t>被选中</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8" name="矩形 7"/>
          <p:cNvSpPr/>
          <p:nvPr/>
        </p:nvSpPr>
        <p:spPr>
          <a:xfrm>
            <a:off x="2397737" y="4427074"/>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输入捕获滤波</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0" name="矩形 9"/>
          <p:cNvSpPr/>
          <p:nvPr/>
        </p:nvSpPr>
        <p:spPr>
          <a:xfrm>
            <a:off x="1804988" y="2776316"/>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通道</a:t>
            </a:r>
            <a:r>
              <a:rPr lang="en-US" altLang="zh-CN" sz="1400">
                <a:solidFill>
                  <a:srgbClr val="C00000"/>
                </a:solidFill>
                <a:latin typeface="思源黑体 CN Normal" panose="020B0400000000000000" pitchFamily="34" charset="-122"/>
                <a:ea typeface="思源黑体 CN Normal" panose="020B0400000000000000" pitchFamily="34" charset="-122"/>
              </a:rPr>
              <a:t>2</a:t>
            </a:r>
            <a:r>
              <a:rPr lang="zh-CN" altLang="en-US" sz="1400">
                <a:solidFill>
                  <a:srgbClr val="C00000"/>
                </a:solidFill>
                <a:latin typeface="思源黑体 CN Normal" panose="020B0400000000000000" pitchFamily="34" charset="-122"/>
                <a:ea typeface="思源黑体 CN Normal" panose="020B0400000000000000" pitchFamily="34" charset="-122"/>
              </a:rPr>
              <a:t>输入为例</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2" name="矩形 11"/>
          <p:cNvSpPr/>
          <p:nvPr/>
        </p:nvSpPr>
        <p:spPr>
          <a:xfrm>
            <a:off x="3978565" y="4453838"/>
            <a:ext cx="1728082"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边沿检测方式选择</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7" name="矩形 26"/>
          <p:cNvSpPr/>
          <p:nvPr/>
        </p:nvSpPr>
        <p:spPr>
          <a:xfrm>
            <a:off x="4971164" y="1678589"/>
            <a:ext cx="1045028"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触发选择</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5" name="矩形 34"/>
          <p:cNvSpPr/>
          <p:nvPr/>
        </p:nvSpPr>
        <p:spPr>
          <a:xfrm>
            <a:off x="8266330" y="1714362"/>
            <a:ext cx="1113017"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从模式选择</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3" name="矩形 39"/>
          <p:cNvSpPr>
            <a:spLocks noChangeArrowheads="1"/>
          </p:cNvSpPr>
          <p:nvPr/>
        </p:nvSpPr>
        <p:spPr bwMode="auto">
          <a:xfrm>
            <a:off x="1623757" y="1115104"/>
            <a:ext cx="3347407"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外部时钟模式</a:t>
            </a:r>
            <a:r>
              <a:rPr lang="en-US" altLang="zh-CN" sz="2000" b="1">
                <a:solidFill>
                  <a:srgbClr val="002060"/>
                </a:solidFill>
                <a:latin typeface="思源黑体 CN Bold" pitchFamily="34" charset="-122"/>
                <a:ea typeface="思源黑体 CN Bold" pitchFamily="34" charset="-122"/>
              </a:rPr>
              <a:t>1</a:t>
            </a:r>
            <a:endParaRPr lang="en-US" altLang="zh-CN" sz="2000" b="1" dirty="0">
              <a:solidFill>
                <a:srgbClr val="002060"/>
              </a:solidFill>
              <a:latin typeface="思源黑体 CN Bold" pitchFamily="34" charset="-122"/>
              <a:ea typeface="思源黑体 CN Bold" pitchFamily="34" charset="-122"/>
            </a:endParaRPr>
          </a:p>
        </p:txBody>
      </p:sp>
      <p:sp>
        <p:nvSpPr>
          <p:cNvPr id="19" name="矩形 18"/>
          <p:cNvSpPr/>
          <p:nvPr/>
        </p:nvSpPr>
        <p:spPr>
          <a:xfrm>
            <a:off x="1877624" y="3115779"/>
            <a:ext cx="700115" cy="622176"/>
          </a:xfrm>
          <a:prstGeom prst="rect">
            <a:avLst/>
          </a:prstGeom>
          <a:solidFill>
            <a:schemeClr val="accent4">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577739" y="3115779"/>
            <a:ext cx="976991" cy="1413082"/>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554730" y="3121192"/>
            <a:ext cx="2266950" cy="1407668"/>
          </a:xfrm>
          <a:prstGeom prst="rect">
            <a:avLst/>
          </a:prstGeom>
          <a:solidFill>
            <a:schemeClr val="accent4">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819640" y="2495739"/>
            <a:ext cx="1045028" cy="1751459"/>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5819640" y="1568393"/>
            <a:ext cx="1389970" cy="527999"/>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819640" y="2096392"/>
            <a:ext cx="1045028" cy="399346"/>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5819640" y="2811615"/>
            <a:ext cx="56789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819640" y="3529871"/>
            <a:ext cx="56789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5819640" y="2811304"/>
            <a:ext cx="0" cy="71857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6387535" y="2811304"/>
            <a:ext cx="0" cy="71856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8058086" y="2096391"/>
            <a:ext cx="1936248" cy="2935132"/>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6864669" y="2899152"/>
            <a:ext cx="1202530" cy="444791"/>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p:cNvCxnSpPr/>
          <p:nvPr/>
        </p:nvCxnSpPr>
        <p:spPr>
          <a:xfrm>
            <a:off x="8107127" y="3239358"/>
            <a:ext cx="103877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8107127" y="2998518"/>
            <a:ext cx="103877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119033" y="2998518"/>
            <a:ext cx="0" cy="24084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9145905" y="2990267"/>
            <a:ext cx="0" cy="25643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10" presetClass="entr" presetSubtype="0" fill="hold" nodeType="with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par>
                                <p:cTn id="21" presetID="10"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par>
                                <p:cTn id="27" presetID="10"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10" presetClass="entr" presetSubtype="0" fill="hold" nodeType="with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500"/>
                                        <p:tgtEl>
                                          <p:spTgt spid="42"/>
                                        </p:tgtEl>
                                      </p:cBhvr>
                                    </p:animEffect>
                                  </p:childTnLst>
                                </p:cTn>
                              </p:par>
                              <p:par>
                                <p:cTn id="60" presetID="10" presetClass="entr" presetSubtype="0"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500"/>
                                        <p:tgtEl>
                                          <p:spTgt spid="39"/>
                                        </p:tgtEl>
                                      </p:cBhvr>
                                    </p:animEffect>
                                  </p:childTnLst>
                                </p:cTn>
                              </p:par>
                              <p:par>
                                <p:cTn id="63" presetID="10" presetClass="entr" presetSubtype="0" fill="hold"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500"/>
                                        <p:tgtEl>
                                          <p:spTgt spid="1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fade">
                                      <p:cBhvr>
                                        <p:cTn id="8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8" grpId="0"/>
      <p:bldP spid="10" grpId="0"/>
      <p:bldP spid="12" grpId="0"/>
      <p:bldP spid="27" grpId="0"/>
      <p:bldP spid="35" grpId="0"/>
      <p:bldP spid="19" grpId="0" bldLvl="0" animBg="1"/>
      <p:bldP spid="20" grpId="0" bldLvl="0" animBg="1"/>
      <p:bldP spid="29" grpId="0" bldLvl="0" animBg="1"/>
      <p:bldP spid="30" grpId="0" bldLvl="0" animBg="1"/>
      <p:bldP spid="32" grpId="0" bldLvl="0" animBg="1"/>
      <p:bldP spid="33" grpId="0" bldLvl="0" animBg="1"/>
      <p:bldP spid="43" grpId="0" bldLvl="0" animBg="1"/>
      <p:bldP spid="44"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666937" y="1487214"/>
            <a:ext cx="3631186"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外部时钟模式</a:t>
            </a:r>
            <a:r>
              <a:rPr lang="en-US" altLang="zh-CN" sz="2000" b="1">
                <a:solidFill>
                  <a:srgbClr val="002060"/>
                </a:solidFill>
                <a:latin typeface="思源黑体 CN Bold" pitchFamily="34" charset="-122"/>
                <a:ea typeface="思源黑体 CN Bold" pitchFamily="34" charset="-122"/>
              </a:rPr>
              <a:t>2</a:t>
            </a:r>
            <a:endParaRPr lang="en-US" altLang="zh-CN" sz="2000" b="1" dirty="0">
              <a:solidFill>
                <a:srgbClr val="002060"/>
              </a:solidFill>
              <a:latin typeface="思源黑体 CN Bold" pitchFamily="34" charset="-122"/>
              <a:ea typeface="思源黑体 CN Bold" pitchFamily="34" charset="-122"/>
            </a:endParaRPr>
          </a:p>
        </p:txBody>
      </p:sp>
      <p:pic>
        <p:nvPicPr>
          <p:cNvPr id="8" name="图片 7"/>
          <p:cNvPicPr>
            <a:picLocks noChangeAspect="1"/>
          </p:cNvPicPr>
          <p:nvPr/>
        </p:nvPicPr>
        <p:blipFill>
          <a:blip r:embed="rId1"/>
          <a:stretch>
            <a:fillRect/>
          </a:stretch>
        </p:blipFill>
        <p:spPr>
          <a:xfrm>
            <a:off x="1666937" y="2136975"/>
            <a:ext cx="8629736" cy="3045789"/>
          </a:xfrm>
          <a:prstGeom prst="rect">
            <a:avLst/>
          </a:prstGeom>
          <a:ln>
            <a:noFill/>
          </a:ln>
          <a:effectLst>
            <a:outerShdw blurRad="190500" algn="tl" rotWithShape="0">
              <a:srgbClr val="000000">
                <a:alpha val="70000"/>
              </a:srgbClr>
            </a:outerShdw>
          </a:effectLst>
        </p:spPr>
      </p:pic>
      <p:sp>
        <p:nvSpPr>
          <p:cNvPr id="15" name="矩形 14"/>
          <p:cNvSpPr/>
          <p:nvPr/>
        </p:nvSpPr>
        <p:spPr>
          <a:xfrm>
            <a:off x="1661647" y="3133408"/>
            <a:ext cx="983763" cy="583030"/>
          </a:xfrm>
          <a:prstGeom prst="rect">
            <a:avLst/>
          </a:prstGeom>
          <a:solidFill>
            <a:schemeClr val="accent4">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645410" y="3133408"/>
            <a:ext cx="1485900" cy="1441798"/>
          </a:xfrm>
          <a:prstGeom prst="rect">
            <a:avLst/>
          </a:prstGeom>
          <a:solidFill>
            <a:schemeClr val="accent4">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298123" y="3133408"/>
            <a:ext cx="1733550" cy="1441798"/>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131310" y="3137314"/>
            <a:ext cx="1166813" cy="1437892"/>
          </a:xfrm>
          <a:prstGeom prst="rect">
            <a:avLst/>
          </a:prstGeom>
          <a:solidFill>
            <a:schemeClr val="accent2">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236585" y="2136974"/>
            <a:ext cx="2065378" cy="3045789"/>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031673" y="3412750"/>
            <a:ext cx="1204912" cy="380555"/>
          </a:xfrm>
          <a:prstGeom prst="rect">
            <a:avLst/>
          </a:prstGeom>
          <a:solidFill>
            <a:srgbClr val="7030A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8258017" y="3709094"/>
            <a:ext cx="111021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258017" y="3468254"/>
            <a:ext cx="111021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8269923" y="3468254"/>
            <a:ext cx="0" cy="24084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368232" y="3460003"/>
            <a:ext cx="0" cy="25643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589633" y="2761782"/>
            <a:ext cx="1465795"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ETR</a:t>
            </a:r>
            <a:r>
              <a:rPr lang="zh-CN" altLang="en-US" sz="1400">
                <a:solidFill>
                  <a:srgbClr val="C00000"/>
                </a:solidFill>
                <a:latin typeface="思源黑体 CN Normal" panose="020B0400000000000000" pitchFamily="34" charset="-122"/>
                <a:ea typeface="思源黑体 CN Normal" panose="020B0400000000000000" pitchFamily="34" charset="-122"/>
              </a:rPr>
              <a:t>引脚输入</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8" name="矩形 27"/>
          <p:cNvSpPr/>
          <p:nvPr/>
        </p:nvSpPr>
        <p:spPr>
          <a:xfrm>
            <a:off x="2706082" y="4574743"/>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外部触发极性</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9" name="矩形 28"/>
          <p:cNvSpPr/>
          <p:nvPr/>
        </p:nvSpPr>
        <p:spPr>
          <a:xfrm>
            <a:off x="4005538" y="4574743"/>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外部触发预分频</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0" name="矩形 29"/>
          <p:cNvSpPr/>
          <p:nvPr/>
        </p:nvSpPr>
        <p:spPr>
          <a:xfrm>
            <a:off x="5471333" y="2716401"/>
            <a:ext cx="1689370"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TIMx_CR1</a:t>
            </a:r>
            <a:r>
              <a:rPr lang="zh-CN" altLang="en-US" sz="1400">
                <a:solidFill>
                  <a:srgbClr val="C00000"/>
                </a:solidFill>
                <a:latin typeface="思源黑体 CN Normal" panose="020B0400000000000000" pitchFamily="34" charset="-122"/>
                <a:ea typeface="思源黑体 CN Normal" panose="020B0400000000000000" pitchFamily="34" charset="-122"/>
              </a:rPr>
              <a:t>的</a:t>
            </a:r>
            <a:r>
              <a:rPr lang="en-US" altLang="zh-CN" sz="1400">
                <a:solidFill>
                  <a:srgbClr val="C00000"/>
                </a:solidFill>
                <a:latin typeface="思源黑体 CN Normal" panose="020B0400000000000000" pitchFamily="34" charset="-122"/>
                <a:ea typeface="思源黑体 CN Normal" panose="020B0400000000000000" pitchFamily="34" charset="-122"/>
              </a:rPr>
              <a:t>CKD</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1" name="矩形 30"/>
          <p:cNvSpPr/>
          <p:nvPr/>
        </p:nvSpPr>
        <p:spPr>
          <a:xfrm>
            <a:off x="1666937" y="2128650"/>
            <a:ext cx="5038763"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TIMx_SMCR</a:t>
            </a:r>
            <a:r>
              <a:rPr lang="zh-CN" altLang="en-US" sz="1400">
                <a:solidFill>
                  <a:srgbClr val="C00000"/>
                </a:solidFill>
                <a:latin typeface="思源黑体 CN Normal" panose="020B0400000000000000" pitchFamily="34" charset="-122"/>
                <a:ea typeface="思源黑体 CN Normal" panose="020B0400000000000000" pitchFamily="34" charset="-122"/>
              </a:rPr>
              <a:t>的</a:t>
            </a:r>
            <a:r>
              <a:rPr lang="en-US" altLang="zh-CN" sz="1400">
                <a:solidFill>
                  <a:srgbClr val="C00000"/>
                </a:solidFill>
                <a:latin typeface="思源黑体 CN Normal" panose="020B0400000000000000" pitchFamily="34" charset="-122"/>
                <a:ea typeface="思源黑体 CN Normal" panose="020B0400000000000000" pitchFamily="34" charset="-122"/>
              </a:rPr>
              <a:t>ECE</a:t>
            </a:r>
            <a:r>
              <a:rPr lang="zh-CN" altLang="en-US" sz="1400">
                <a:solidFill>
                  <a:srgbClr val="C00000"/>
                </a:solidFill>
                <a:latin typeface="思源黑体 CN Normal" panose="020B0400000000000000" pitchFamily="34" charset="-122"/>
                <a:ea typeface="思源黑体 CN Normal" panose="020B0400000000000000" pitchFamily="34" charset="-122"/>
              </a:rPr>
              <a:t>设置为</a:t>
            </a:r>
            <a:r>
              <a:rPr lang="en-US" altLang="zh-CN" sz="1400">
                <a:solidFill>
                  <a:srgbClr val="C00000"/>
                </a:solidFill>
                <a:latin typeface="思源黑体 CN Normal" panose="020B0400000000000000" pitchFamily="34" charset="-122"/>
                <a:ea typeface="思源黑体 CN Normal" panose="020B0400000000000000" pitchFamily="34" charset="-122"/>
              </a:rPr>
              <a:t>1</a:t>
            </a:r>
            <a:r>
              <a:rPr lang="zh-CN" altLang="en-US" sz="1400">
                <a:solidFill>
                  <a:srgbClr val="C00000"/>
                </a:solidFill>
                <a:latin typeface="思源黑体 CN Normal" panose="020B0400000000000000" pitchFamily="34" charset="-122"/>
                <a:ea typeface="思源黑体 CN Normal" panose="020B0400000000000000" pitchFamily="34" charset="-122"/>
              </a:rPr>
              <a:t>，外部时钟模式</a:t>
            </a:r>
            <a:r>
              <a:rPr lang="en-US" altLang="zh-CN" sz="1400">
                <a:solidFill>
                  <a:srgbClr val="C00000"/>
                </a:solidFill>
                <a:latin typeface="思源黑体 CN Normal" panose="020B0400000000000000" pitchFamily="34" charset="-122"/>
                <a:ea typeface="思源黑体 CN Normal" panose="020B0400000000000000" pitchFamily="34" charset="-122"/>
              </a:rPr>
              <a:t>2 </a:t>
            </a:r>
            <a:r>
              <a:rPr lang="zh-CN" altLang="en-US" sz="1400">
                <a:solidFill>
                  <a:srgbClr val="C00000"/>
                </a:solidFill>
                <a:latin typeface="思源黑体 CN Normal" panose="020B0400000000000000" pitchFamily="34" charset="-122"/>
                <a:ea typeface="思源黑体 CN Normal" panose="020B0400000000000000" pitchFamily="34" charset="-122"/>
              </a:rPr>
              <a:t>被选中</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2" name="矩形 31"/>
          <p:cNvSpPr/>
          <p:nvPr/>
        </p:nvSpPr>
        <p:spPr>
          <a:xfrm>
            <a:off x="9123346" y="2075945"/>
            <a:ext cx="1085054"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从模式选择</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cxnSp>
        <p:nvCxnSpPr>
          <p:cNvPr id="34" name="直接箭头连接符 33"/>
          <p:cNvCxnSpPr/>
          <p:nvPr/>
        </p:nvCxnSpPr>
        <p:spPr>
          <a:xfrm flipH="1">
            <a:off x="5779134" y="3052362"/>
            <a:ext cx="594871" cy="61787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5383848" y="3638233"/>
            <a:ext cx="0" cy="2624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5723573" y="3638233"/>
            <a:ext cx="0" cy="2624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5383848" y="3886673"/>
            <a:ext cx="3397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5383847" y="3655310"/>
            <a:ext cx="33972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5816168" y="4574743"/>
            <a:ext cx="821978"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滤波器</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0"/>
                                        <p:tgtEl>
                                          <p:spTgt spid="2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6" presetID="10" presetClass="entr" presetSubtype="0" fill="hold"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500"/>
                                        <p:tgtEl>
                                          <p:spTgt spid="42"/>
                                        </p:tgtEl>
                                      </p:cBhvr>
                                    </p:animEffect>
                                  </p:childTnLst>
                                </p:cTn>
                              </p:par>
                              <p:par>
                                <p:cTn id="79" presetID="10" presetClass="entr" presetSubtype="0" fill="hold" nodeType="with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500"/>
                                        <p:tgtEl>
                                          <p:spTgt spid="37"/>
                                        </p:tgtEl>
                                      </p:cBhvr>
                                    </p:animEffect>
                                  </p:childTnLst>
                                </p:cTn>
                              </p:par>
                              <p:par>
                                <p:cTn id="82" presetID="10" presetClass="entr" presetSubtype="0" fill="hold"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5" presetID="10" presetClass="entr" presetSubtype="0" fill="hold"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7" grpId="0" bldLvl="0" animBg="1"/>
      <p:bldP spid="18" grpId="0" bldLvl="0" animBg="1"/>
      <p:bldP spid="19" grpId="0" bldLvl="0" animBg="1"/>
      <p:bldP spid="20" grpId="0" bldLvl="0" animBg="1"/>
      <p:bldP spid="27" grpId="0"/>
      <p:bldP spid="28" grpId="0"/>
      <p:bldP spid="29" grpId="0"/>
      <p:bldP spid="30" grpId="0"/>
      <p:bldP spid="31" grpId="0"/>
      <p:bldP spid="32" grpId="0"/>
      <p:bldP spid="3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781871" y="1393234"/>
            <a:ext cx="6675279"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使用一个定时器作为另一个定时器的预分频器（</a:t>
            </a:r>
            <a:r>
              <a:rPr lang="en-US" altLang="zh-CN" sz="2000" b="1">
                <a:solidFill>
                  <a:srgbClr val="002060"/>
                </a:solidFill>
                <a:latin typeface="思源黑体 CN Bold" pitchFamily="34" charset="-122"/>
                <a:ea typeface="思源黑体 CN Bold" pitchFamily="34" charset="-122"/>
              </a:rPr>
              <a:t>F1</a:t>
            </a:r>
            <a:r>
              <a:rPr lang="zh-CN" altLang="en-US" sz="2000" b="1">
                <a:solidFill>
                  <a:srgbClr val="002060"/>
                </a:solidFill>
                <a:latin typeface="思源黑体 CN Bold" pitchFamily="34" charset="-122"/>
                <a:ea typeface="思源黑体 CN Bold" pitchFamily="34" charset="-122"/>
              </a:rPr>
              <a:t>为例）</a:t>
            </a:r>
            <a:endParaRPr lang="en-US" altLang="zh-CN" sz="2000" b="1" dirty="0">
              <a:solidFill>
                <a:srgbClr val="002060"/>
              </a:solidFill>
              <a:latin typeface="思源黑体 CN Bold" pitchFamily="34" charset="-122"/>
              <a:ea typeface="思源黑体 CN Bold" pitchFamily="34" charset="-122"/>
            </a:endParaRPr>
          </a:p>
        </p:txBody>
      </p:sp>
      <p:pic>
        <p:nvPicPr>
          <p:cNvPr id="3" name="图片 2"/>
          <p:cNvPicPr>
            <a:picLocks noChangeAspect="1"/>
          </p:cNvPicPr>
          <p:nvPr/>
        </p:nvPicPr>
        <p:blipFill>
          <a:blip r:embed="rId1"/>
          <a:stretch>
            <a:fillRect/>
          </a:stretch>
        </p:blipFill>
        <p:spPr>
          <a:xfrm>
            <a:off x="1919660" y="2247906"/>
            <a:ext cx="8348870" cy="2587350"/>
          </a:xfrm>
          <a:prstGeom prst="rect">
            <a:avLst/>
          </a:prstGeom>
          <a:ln>
            <a:noFill/>
          </a:ln>
          <a:effectLst>
            <a:outerShdw blurRad="190500" algn="tl" rotWithShape="0">
              <a:srgbClr val="000000">
                <a:alpha val="70000"/>
              </a:srgbClr>
            </a:outerShdw>
          </a:effectLst>
        </p:spPr>
      </p:pic>
      <p:sp>
        <p:nvSpPr>
          <p:cNvPr id="15" name="矩形 14"/>
          <p:cNvSpPr/>
          <p:nvPr/>
        </p:nvSpPr>
        <p:spPr>
          <a:xfrm>
            <a:off x="4916240" y="2556905"/>
            <a:ext cx="1465795"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=010</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6" name="矩形 15"/>
          <p:cNvSpPr/>
          <p:nvPr/>
        </p:nvSpPr>
        <p:spPr>
          <a:xfrm>
            <a:off x="6382035" y="2556905"/>
            <a:ext cx="1465795"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=000</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7325010" y="2556905"/>
            <a:ext cx="1465795"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=111</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7417426" y="4246706"/>
            <a:ext cx="1924694"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CEN=1</a:t>
            </a:r>
            <a:r>
              <a:rPr lang="zh-CN" altLang="en-US" sz="1400">
                <a:solidFill>
                  <a:srgbClr val="C00000"/>
                </a:solidFill>
                <a:latin typeface="思源黑体 CN Normal" panose="020B0400000000000000" pitchFamily="34" charset="-122"/>
                <a:ea typeface="思源黑体 CN Normal" panose="020B0400000000000000" pitchFamily="34" charset="-122"/>
              </a:rPr>
              <a:t>，启动计数器</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19" name="矩形 18"/>
          <p:cNvSpPr/>
          <p:nvPr/>
        </p:nvSpPr>
        <p:spPr>
          <a:xfrm>
            <a:off x="2775661" y="4246706"/>
            <a:ext cx="1924694" cy="382028"/>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CEN=1</a:t>
            </a:r>
            <a:r>
              <a:rPr lang="zh-CN" altLang="en-US" sz="1400">
                <a:solidFill>
                  <a:srgbClr val="C00000"/>
                </a:solidFill>
                <a:latin typeface="思源黑体 CN Normal" panose="020B0400000000000000" pitchFamily="34" charset="-122"/>
                <a:ea typeface="思源黑体 CN Normal" panose="020B0400000000000000" pitchFamily="34" charset="-122"/>
              </a:rPr>
              <a:t>，启动计数器</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0" name="矩形 19"/>
          <p:cNvSpPr/>
          <p:nvPr/>
        </p:nvSpPr>
        <p:spPr>
          <a:xfrm>
            <a:off x="2984109" y="2556905"/>
            <a:ext cx="1689370"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主模式选择：更新</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2" name="矩形 21"/>
          <p:cNvSpPr/>
          <p:nvPr/>
        </p:nvSpPr>
        <p:spPr>
          <a:xfrm>
            <a:off x="5768321" y="2174877"/>
            <a:ext cx="2688829"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定时器</a:t>
            </a:r>
            <a:r>
              <a:rPr lang="en-US" altLang="zh-CN" sz="1400">
                <a:solidFill>
                  <a:srgbClr val="C00000"/>
                </a:solidFill>
                <a:latin typeface="思源黑体 CN Normal" panose="020B0400000000000000" pitchFamily="34" charset="-122"/>
                <a:ea typeface="思源黑体 CN Normal" panose="020B0400000000000000" pitchFamily="34" charset="-122"/>
              </a:rPr>
              <a:t>1</a:t>
            </a:r>
            <a:r>
              <a:rPr lang="zh-CN" altLang="en-US" sz="1400">
                <a:solidFill>
                  <a:srgbClr val="C00000"/>
                </a:solidFill>
                <a:latin typeface="思源黑体 CN Normal" panose="020B0400000000000000" pitchFamily="34" charset="-122"/>
                <a:ea typeface="思源黑体 CN Normal" panose="020B0400000000000000" pitchFamily="34" charset="-122"/>
              </a:rPr>
              <a:t>连接到定时器</a:t>
            </a:r>
            <a:r>
              <a:rPr lang="en-US" altLang="zh-CN" sz="1400">
                <a:solidFill>
                  <a:srgbClr val="C00000"/>
                </a:solidFill>
                <a:latin typeface="思源黑体 CN Normal" panose="020B0400000000000000" pitchFamily="34" charset="-122"/>
                <a:ea typeface="思源黑体 CN Normal" panose="020B0400000000000000" pitchFamily="34" charset="-122"/>
              </a:rPr>
              <a:t>2</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cxnSp>
        <p:nvCxnSpPr>
          <p:cNvPr id="23" name="直接箭头连接符 22"/>
          <p:cNvCxnSpPr/>
          <p:nvPr/>
        </p:nvCxnSpPr>
        <p:spPr>
          <a:xfrm flipV="1">
            <a:off x="6624796" y="2490195"/>
            <a:ext cx="1" cy="18758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488502" y="1365929"/>
            <a:ext cx="4790170"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3.4.2</a:t>
            </a:r>
            <a:r>
              <a:rPr lang="zh-CN" altLang="en-US" sz="2000" b="1">
                <a:solidFill>
                  <a:srgbClr val="002060"/>
                </a:solidFill>
                <a:latin typeface="思源黑体 CN Bold" pitchFamily="34" charset="-122"/>
                <a:ea typeface="思源黑体 CN Bold" pitchFamily="34" charset="-122"/>
              </a:rPr>
              <a:t>，通用定时器输出</a:t>
            </a:r>
            <a:r>
              <a:rPr lang="en-US" altLang="zh-CN" sz="2000" b="1">
                <a:solidFill>
                  <a:srgbClr val="002060"/>
                </a:solidFill>
                <a:latin typeface="思源黑体 CN Bold" pitchFamily="34" charset="-122"/>
                <a:ea typeface="思源黑体 CN Bold" pitchFamily="34" charset="-122"/>
              </a:rPr>
              <a:t>PWM</a:t>
            </a:r>
            <a:r>
              <a:rPr lang="zh-CN" altLang="en-US" sz="2000" b="1">
                <a:solidFill>
                  <a:srgbClr val="002060"/>
                </a:solidFill>
                <a:latin typeface="思源黑体 CN Bold" pitchFamily="34" charset="-122"/>
                <a:ea typeface="思源黑体 CN Bold" pitchFamily="34" charset="-122"/>
              </a:rPr>
              <a:t>原理</a:t>
            </a:r>
            <a:endParaRPr lang="en-US" altLang="zh-CN" sz="2000" b="1" dirty="0">
              <a:solidFill>
                <a:srgbClr val="002060"/>
              </a:solidFill>
              <a:latin typeface="思源黑体 CN Bold" pitchFamily="34" charset="-122"/>
              <a:ea typeface="思源黑体 CN Bold" pitchFamily="34" charset="-122"/>
            </a:endParaRPr>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23853" y="1984047"/>
            <a:ext cx="5485659" cy="3159482"/>
          </a:xfrm>
          <a:prstGeom prst="rect">
            <a:avLst/>
          </a:prstGeom>
          <a:ln>
            <a:noFill/>
          </a:ln>
          <a:effectLst>
            <a:outerShdw blurRad="190500" algn="tl" rotWithShape="0">
              <a:srgbClr val="000000">
                <a:alpha val="70000"/>
              </a:srgbClr>
            </a:outerShdw>
          </a:effectLst>
        </p:spPr>
      </p:pic>
      <p:sp>
        <p:nvSpPr>
          <p:cNvPr id="15" name="矩形 14"/>
          <p:cNvSpPr/>
          <p:nvPr/>
        </p:nvSpPr>
        <p:spPr>
          <a:xfrm>
            <a:off x="1529424" y="2178450"/>
            <a:ext cx="2905345" cy="1162049"/>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假设：递增计数模式</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ARR</a:t>
            </a:r>
            <a:r>
              <a:rPr lang="zh-CN" altLang="en-US" sz="1600">
                <a:solidFill>
                  <a:srgbClr val="002060"/>
                </a:solidFill>
                <a:latin typeface="思源黑体 CN Normal" panose="020B0400000000000000" pitchFamily="34" charset="-122"/>
                <a:ea typeface="思源黑体 CN Normal" panose="020B0400000000000000" pitchFamily="34" charset="-122"/>
              </a:rPr>
              <a:t>：自动重装载寄存器的值</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CCRx</a:t>
            </a:r>
            <a:r>
              <a:rPr lang="zh-CN" altLang="en-US" sz="1600">
                <a:solidFill>
                  <a:srgbClr val="002060"/>
                </a:solidFill>
                <a:latin typeface="思源黑体 CN Normal" panose="020B0400000000000000" pitchFamily="34" charset="-122"/>
                <a:ea typeface="思源黑体 CN Normal" panose="020B0400000000000000" pitchFamily="34" charset="-122"/>
              </a:rPr>
              <a:t>：捕获</a:t>
            </a:r>
            <a:r>
              <a:rPr lang="en-US" altLang="zh-CN" sz="1600">
                <a:solidFill>
                  <a:srgbClr val="002060"/>
                </a:solidFill>
                <a:latin typeface="思源黑体 CN Normal" panose="020B0400000000000000" pitchFamily="34" charset="-122"/>
                <a:ea typeface="思源黑体 CN Normal" panose="020B0400000000000000" pitchFamily="34" charset="-122"/>
              </a:rPr>
              <a:t>/</a:t>
            </a:r>
            <a:r>
              <a:rPr lang="zh-CN" altLang="en-US" sz="1600">
                <a:solidFill>
                  <a:srgbClr val="002060"/>
                </a:solidFill>
                <a:latin typeface="思源黑体 CN Normal" panose="020B0400000000000000" pitchFamily="34" charset="-122"/>
                <a:ea typeface="思源黑体 CN Normal" panose="020B0400000000000000" pitchFamily="34" charset="-122"/>
              </a:rPr>
              <a:t>比较寄存器</a:t>
            </a:r>
            <a:r>
              <a:rPr lang="en-US" altLang="zh-CN" sz="1600">
                <a:solidFill>
                  <a:srgbClr val="002060"/>
                </a:solidFill>
                <a:latin typeface="思源黑体 CN Normal" panose="020B0400000000000000" pitchFamily="34" charset="-122"/>
                <a:ea typeface="思源黑体 CN Normal" panose="020B0400000000000000" pitchFamily="34" charset="-122"/>
              </a:rPr>
              <a:t>x</a:t>
            </a:r>
            <a:r>
              <a:rPr lang="zh-CN" altLang="en-US" sz="1600">
                <a:solidFill>
                  <a:srgbClr val="002060"/>
                </a:solidFill>
                <a:latin typeface="思源黑体 CN Normal" panose="020B0400000000000000" pitchFamily="34" charset="-122"/>
                <a:ea typeface="思源黑体 CN Normal" panose="020B0400000000000000" pitchFamily="34" charset="-122"/>
              </a:rPr>
              <a:t>的值</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16" name="矩形 15"/>
          <p:cNvSpPr/>
          <p:nvPr/>
        </p:nvSpPr>
        <p:spPr>
          <a:xfrm>
            <a:off x="1488502" y="3610244"/>
            <a:ext cx="2618889" cy="792718"/>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当</a:t>
            </a:r>
            <a:r>
              <a:rPr lang="en-US" altLang="zh-CN" sz="1600">
                <a:solidFill>
                  <a:srgbClr val="002060"/>
                </a:solidFill>
                <a:latin typeface="思源黑体 CN Normal" panose="020B0400000000000000" pitchFamily="34" charset="-122"/>
                <a:ea typeface="思源黑体 CN Normal" panose="020B0400000000000000" pitchFamily="34" charset="-122"/>
              </a:rPr>
              <a:t>CNT &lt; CCRx</a:t>
            </a:r>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en-US" altLang="zh-CN" sz="1600">
                <a:solidFill>
                  <a:srgbClr val="002060"/>
                </a:solidFill>
                <a:latin typeface="思源黑体 CN Normal" panose="020B0400000000000000" pitchFamily="34" charset="-122"/>
                <a:ea typeface="思源黑体 CN Normal" panose="020B0400000000000000" pitchFamily="34" charset="-122"/>
              </a:rPr>
              <a:t>IO</a:t>
            </a:r>
            <a:r>
              <a:rPr lang="zh-CN" altLang="en-US" sz="1600">
                <a:solidFill>
                  <a:srgbClr val="002060"/>
                </a:solidFill>
                <a:latin typeface="思源黑体 CN Normal" panose="020B0400000000000000" pitchFamily="34" charset="-122"/>
                <a:ea typeface="思源黑体 CN Normal" panose="020B0400000000000000" pitchFamily="34" charset="-122"/>
              </a:rPr>
              <a:t>输出</a:t>
            </a:r>
            <a:r>
              <a:rPr lang="en-US" altLang="zh-CN" sz="1600">
                <a:solidFill>
                  <a:srgbClr val="002060"/>
                </a:solidFill>
                <a:latin typeface="思源黑体 CN Normal" panose="020B0400000000000000" pitchFamily="34" charset="-122"/>
                <a:ea typeface="思源黑体 CN Normal" panose="020B0400000000000000" pitchFamily="34" charset="-122"/>
              </a:rPr>
              <a:t>0</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当</a:t>
            </a:r>
            <a:r>
              <a:rPr lang="en-US" altLang="zh-CN" sz="1600">
                <a:solidFill>
                  <a:srgbClr val="002060"/>
                </a:solidFill>
                <a:latin typeface="思源黑体 CN Normal" panose="020B0400000000000000" pitchFamily="34" charset="-122"/>
                <a:ea typeface="思源黑体 CN Normal" panose="020B0400000000000000" pitchFamily="34" charset="-122"/>
              </a:rPr>
              <a:t>CNT &gt;= CCRx</a:t>
            </a:r>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en-US" altLang="zh-CN" sz="1600">
                <a:solidFill>
                  <a:srgbClr val="002060"/>
                </a:solidFill>
                <a:latin typeface="思源黑体 CN Normal" panose="020B0400000000000000" pitchFamily="34" charset="-122"/>
                <a:ea typeface="思源黑体 CN Normal" panose="020B0400000000000000" pitchFamily="34" charset="-122"/>
              </a:rPr>
              <a:t>IO</a:t>
            </a:r>
            <a:r>
              <a:rPr lang="zh-CN" altLang="en-US" sz="1600">
                <a:solidFill>
                  <a:srgbClr val="002060"/>
                </a:solidFill>
                <a:latin typeface="思源黑体 CN Normal" panose="020B0400000000000000" pitchFamily="34" charset="-122"/>
                <a:ea typeface="思源黑体 CN Normal" panose="020B0400000000000000" pitchFamily="34" charset="-122"/>
              </a:rPr>
              <a:t>输出</a:t>
            </a:r>
            <a:r>
              <a:rPr lang="en-US" altLang="zh-CN" sz="1600">
                <a:solidFill>
                  <a:srgbClr val="002060"/>
                </a:solidFill>
                <a:latin typeface="思源黑体 CN Normal" panose="020B0400000000000000" pitchFamily="34" charset="-122"/>
                <a:ea typeface="思源黑体 CN Normal" panose="020B0400000000000000" pitchFamily="34" charset="-122"/>
              </a:rPr>
              <a:t>1</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2489040" y="5125604"/>
            <a:ext cx="7233689" cy="464807"/>
          </a:xfrm>
          <a:prstGeom prst="rect">
            <a:avLst/>
          </a:prstGeom>
        </p:spPr>
        <p:txBody>
          <a:bodyPr wrap="square">
            <a:spAutoFit/>
          </a:bodyPr>
          <a:lstStyle/>
          <a:p>
            <a:pPr>
              <a:lnSpc>
                <a:spcPct val="150000"/>
              </a:lnSpc>
            </a:pPr>
            <a:r>
              <a:rPr lang="zh-CN" altLang="en-US">
                <a:solidFill>
                  <a:srgbClr val="C00000"/>
                </a:solidFill>
                <a:latin typeface="思源黑体 CN Normal" panose="020B0400000000000000" pitchFamily="34" charset="-122"/>
                <a:ea typeface="思源黑体 CN Normal" panose="020B0400000000000000" pitchFamily="34" charset="-122"/>
              </a:rPr>
              <a:t>总结：</a:t>
            </a:r>
            <a:r>
              <a:rPr lang="en-US" altLang="zh-CN">
                <a:solidFill>
                  <a:srgbClr val="C00000"/>
                </a:solidFill>
                <a:latin typeface="思源黑体 CN Normal" panose="020B0400000000000000" pitchFamily="34" charset="-122"/>
                <a:ea typeface="思源黑体 CN Normal" panose="020B0400000000000000" pitchFamily="34" charset="-122"/>
              </a:rPr>
              <a:t>PWM</a:t>
            </a:r>
            <a:r>
              <a:rPr lang="zh-CN" altLang="en-US">
                <a:solidFill>
                  <a:srgbClr val="C00000"/>
                </a:solidFill>
                <a:latin typeface="思源黑体 CN Normal" panose="020B0400000000000000" pitchFamily="34" charset="-122"/>
                <a:ea typeface="思源黑体 CN Normal" panose="020B0400000000000000" pitchFamily="34" charset="-122"/>
              </a:rPr>
              <a:t>波周期或频率由</a:t>
            </a:r>
            <a:r>
              <a:rPr lang="en-US" altLang="zh-CN">
                <a:solidFill>
                  <a:srgbClr val="C00000"/>
                </a:solidFill>
                <a:latin typeface="思源黑体 CN Normal" panose="020B0400000000000000" pitchFamily="34" charset="-122"/>
                <a:ea typeface="思源黑体 CN Normal" panose="020B0400000000000000" pitchFamily="34" charset="-122"/>
              </a:rPr>
              <a:t>ARR</a:t>
            </a:r>
            <a:r>
              <a:rPr lang="zh-CN" altLang="en-US">
                <a:solidFill>
                  <a:srgbClr val="C00000"/>
                </a:solidFill>
                <a:latin typeface="思源黑体 CN Normal" panose="020B0400000000000000" pitchFamily="34" charset="-122"/>
                <a:ea typeface="思源黑体 CN Normal" panose="020B0400000000000000" pitchFamily="34" charset="-122"/>
              </a:rPr>
              <a:t>决定，</a:t>
            </a:r>
            <a:r>
              <a:rPr lang="en-US" altLang="zh-CN">
                <a:solidFill>
                  <a:srgbClr val="C00000"/>
                </a:solidFill>
                <a:latin typeface="思源黑体 CN Normal" panose="020B0400000000000000" pitchFamily="34" charset="-122"/>
                <a:ea typeface="思源黑体 CN Normal" panose="020B0400000000000000" pitchFamily="34" charset="-122"/>
              </a:rPr>
              <a:t>PWM</a:t>
            </a:r>
            <a:r>
              <a:rPr lang="zh-CN" altLang="en-US">
                <a:solidFill>
                  <a:srgbClr val="C00000"/>
                </a:solidFill>
                <a:latin typeface="思源黑体 CN Normal" panose="020B0400000000000000" pitchFamily="34" charset="-122"/>
                <a:ea typeface="思源黑体 CN Normal" panose="020B0400000000000000" pitchFamily="34" charset="-122"/>
              </a:rPr>
              <a:t>波占空比由</a:t>
            </a:r>
            <a:r>
              <a:rPr lang="en-US" altLang="zh-CN">
                <a:solidFill>
                  <a:srgbClr val="C00000"/>
                </a:solidFill>
                <a:latin typeface="思源黑体 CN Normal" panose="020B0400000000000000" pitchFamily="34" charset="-122"/>
                <a:ea typeface="思源黑体 CN Normal" panose="020B0400000000000000" pitchFamily="34" charset="-122"/>
              </a:rPr>
              <a:t>CCRx</a:t>
            </a:r>
            <a:r>
              <a:rPr lang="zh-CN" altLang="en-US">
                <a:solidFill>
                  <a:srgbClr val="C00000"/>
                </a:solidFill>
                <a:latin typeface="思源黑体 CN Normal" panose="020B0400000000000000" pitchFamily="34" charset="-122"/>
                <a:ea typeface="思源黑体 CN Normal" panose="020B0400000000000000" pitchFamily="34" charset="-122"/>
              </a:rPr>
              <a:t>决定</a:t>
            </a:r>
            <a:endParaRPr lang="en-US" altLang="zh-CN">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531188" y="533845"/>
            <a:ext cx="3188132"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en-US" altLang="zh-CN" sz="2000" b="1">
                <a:solidFill>
                  <a:srgbClr val="002060"/>
                </a:solidFill>
                <a:latin typeface="思源黑体 CN Bold" pitchFamily="34" charset="-122"/>
                <a:ea typeface="思源黑体 CN Bold" pitchFamily="34" charset="-122"/>
              </a:rPr>
              <a:t>PWM</a:t>
            </a:r>
            <a:r>
              <a:rPr lang="zh-CN" altLang="en-US" sz="2000" b="1">
                <a:solidFill>
                  <a:srgbClr val="002060"/>
                </a:solidFill>
                <a:latin typeface="思源黑体 CN Bold" pitchFamily="34" charset="-122"/>
                <a:ea typeface="思源黑体 CN Bold" pitchFamily="34" charset="-122"/>
              </a:rPr>
              <a:t>模式</a:t>
            </a:r>
            <a:endParaRPr lang="en-US" altLang="zh-CN" sz="2000" b="1" dirty="0">
              <a:solidFill>
                <a:srgbClr val="002060"/>
              </a:solidFill>
              <a:latin typeface="思源黑体 CN Bold" pitchFamily="34" charset="-122"/>
              <a:ea typeface="思源黑体 CN Bold" pitchFamily="34" charset="-122"/>
            </a:endParaRPr>
          </a:p>
        </p:txBody>
      </p:sp>
      <p:sp>
        <p:nvSpPr>
          <p:cNvPr id="15" name="矩形 14"/>
          <p:cNvSpPr/>
          <p:nvPr/>
        </p:nvSpPr>
        <p:spPr>
          <a:xfrm>
            <a:off x="1282700" y="1058995"/>
            <a:ext cx="3036873" cy="4398512"/>
          </a:xfrm>
          <a:prstGeom prst="rect">
            <a:avLst/>
          </a:prstGeom>
        </p:spPr>
        <p:txBody>
          <a:bodyPr wrap="square">
            <a:spAutoFit/>
          </a:bodyPr>
          <a:lstStyle/>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PWM</a:t>
            </a:r>
            <a:r>
              <a:rPr lang="zh-CN" altLang="en-US" sz="1400">
                <a:solidFill>
                  <a:srgbClr val="C00000"/>
                </a:solidFill>
                <a:latin typeface="思源黑体 CN Normal" panose="020B0400000000000000" pitchFamily="34" charset="-122"/>
                <a:ea typeface="思源黑体 CN Normal" panose="020B0400000000000000" pitchFamily="34" charset="-122"/>
              </a:rPr>
              <a:t>模式</a:t>
            </a:r>
            <a:r>
              <a:rPr lang="en-US" altLang="zh-CN" sz="1400">
                <a:solidFill>
                  <a:srgbClr val="C00000"/>
                </a:solidFill>
                <a:latin typeface="思源黑体 CN Normal" panose="020B0400000000000000" pitchFamily="34" charset="-122"/>
                <a:ea typeface="思源黑体 CN Normal" panose="020B0400000000000000" pitchFamily="34" charset="-122"/>
              </a:rPr>
              <a:t>1</a:t>
            </a:r>
            <a:r>
              <a:rPr lang="zh-CN" altLang="en-US" sz="1400">
                <a:solidFill>
                  <a:srgbClr val="C00000"/>
                </a:solidFill>
                <a:latin typeface="思源黑体 CN Normal" panose="020B0400000000000000" pitchFamily="34" charset="-122"/>
                <a:ea typeface="思源黑体 CN Normal" panose="020B0400000000000000" pitchFamily="34" charset="-122"/>
              </a:rPr>
              <a:t>：</a:t>
            </a:r>
            <a:endParaRPr lang="en-US" altLang="zh-CN" sz="14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400">
                <a:solidFill>
                  <a:srgbClr val="002060"/>
                </a:solidFill>
                <a:latin typeface="思源黑体 CN Normal" panose="020B0400000000000000" pitchFamily="34" charset="-122"/>
                <a:ea typeface="思源黑体 CN Normal" panose="020B0400000000000000" pitchFamily="34" charset="-122"/>
              </a:rPr>
              <a:t>递增：</a:t>
            </a:r>
            <a:r>
              <a:rPr lang="en-US" altLang="zh-CN" sz="1400">
                <a:solidFill>
                  <a:srgbClr val="002060"/>
                </a:solidFill>
                <a:latin typeface="思源黑体 CN Normal" panose="020B0400000000000000" pitchFamily="34" charset="-122"/>
                <a:ea typeface="思源黑体 CN Normal" panose="020B0400000000000000" pitchFamily="34" charset="-122"/>
              </a:rPr>
              <a:t>CNT &lt;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，输出有效电平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             CNT &gt;=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，输出无效电平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400">
                <a:solidFill>
                  <a:srgbClr val="002060"/>
                </a:solidFill>
                <a:latin typeface="思源黑体 CN Normal" panose="020B0400000000000000" pitchFamily="34" charset="-122"/>
                <a:ea typeface="思源黑体 CN Normal" panose="020B0400000000000000" pitchFamily="34" charset="-122"/>
              </a:rPr>
              <a:t>递减：</a:t>
            </a:r>
            <a:r>
              <a:rPr lang="en-US" altLang="zh-CN" sz="1400">
                <a:solidFill>
                  <a:srgbClr val="002060"/>
                </a:solidFill>
                <a:latin typeface="思源黑体 CN Normal" panose="020B0400000000000000" pitchFamily="34" charset="-122"/>
                <a:ea typeface="思源黑体 CN Normal" panose="020B0400000000000000" pitchFamily="34" charset="-122"/>
              </a:rPr>
              <a:t>CNT &gt;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，输出无效电平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             CNT &lt;=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，输出有效电平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PWM</a:t>
            </a:r>
            <a:r>
              <a:rPr lang="zh-CN" altLang="en-US" sz="1400">
                <a:solidFill>
                  <a:srgbClr val="C00000"/>
                </a:solidFill>
                <a:latin typeface="思源黑体 CN Normal" panose="020B0400000000000000" pitchFamily="34" charset="-122"/>
                <a:ea typeface="思源黑体 CN Normal" panose="020B0400000000000000" pitchFamily="34" charset="-122"/>
              </a:rPr>
              <a:t>模式</a:t>
            </a:r>
            <a:r>
              <a:rPr lang="en-US" altLang="zh-CN" sz="1400">
                <a:solidFill>
                  <a:srgbClr val="C00000"/>
                </a:solidFill>
                <a:latin typeface="思源黑体 CN Normal" panose="020B0400000000000000" pitchFamily="34" charset="-122"/>
                <a:ea typeface="思源黑体 CN Normal" panose="020B0400000000000000" pitchFamily="34" charset="-122"/>
              </a:rPr>
              <a:t>2</a:t>
            </a:r>
            <a:r>
              <a:rPr lang="zh-CN" altLang="en-US" sz="1400">
                <a:solidFill>
                  <a:srgbClr val="C00000"/>
                </a:solidFill>
                <a:latin typeface="思源黑体 CN Normal" panose="020B0400000000000000" pitchFamily="34" charset="-122"/>
                <a:ea typeface="思源黑体 CN Normal" panose="020B0400000000000000" pitchFamily="34" charset="-122"/>
              </a:rPr>
              <a:t>：</a:t>
            </a:r>
            <a:endParaRPr lang="en-US" altLang="zh-CN" sz="14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400">
                <a:solidFill>
                  <a:srgbClr val="002060"/>
                </a:solidFill>
                <a:latin typeface="思源黑体 CN Normal" panose="020B0400000000000000" pitchFamily="34" charset="-122"/>
                <a:ea typeface="思源黑体 CN Normal" panose="020B0400000000000000" pitchFamily="34" charset="-122"/>
              </a:rPr>
              <a:t>递增：</a:t>
            </a:r>
            <a:r>
              <a:rPr lang="en-US" altLang="zh-CN" sz="1400">
                <a:solidFill>
                  <a:srgbClr val="002060"/>
                </a:solidFill>
                <a:latin typeface="思源黑体 CN Normal" panose="020B0400000000000000" pitchFamily="34" charset="-122"/>
                <a:ea typeface="思源黑体 CN Normal" panose="020B0400000000000000" pitchFamily="34" charset="-122"/>
              </a:rPr>
              <a:t>CNT &lt;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，输出无效电平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             CNT &gt;=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，输出有效电平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400">
                <a:solidFill>
                  <a:srgbClr val="002060"/>
                </a:solidFill>
                <a:latin typeface="思源黑体 CN Normal" panose="020B0400000000000000" pitchFamily="34" charset="-122"/>
                <a:ea typeface="思源黑体 CN Normal" panose="020B0400000000000000" pitchFamily="34" charset="-122"/>
              </a:rPr>
              <a:t>递减：</a:t>
            </a:r>
            <a:r>
              <a:rPr lang="en-US" altLang="zh-CN" sz="1400">
                <a:solidFill>
                  <a:srgbClr val="002060"/>
                </a:solidFill>
                <a:latin typeface="思源黑体 CN Normal" panose="020B0400000000000000" pitchFamily="34" charset="-122"/>
                <a:ea typeface="思源黑体 CN Normal" panose="020B0400000000000000" pitchFamily="34" charset="-122"/>
              </a:rPr>
              <a:t>CNT &gt;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，输出有效电平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             CNT &lt;= CCRx</a:t>
            </a:r>
            <a:r>
              <a:rPr lang="zh-CN" altLang="en-US" sz="1400">
                <a:solidFill>
                  <a:srgbClr val="002060"/>
                </a:solidFill>
                <a:latin typeface="思源黑体 CN Normal" panose="020B0400000000000000" pitchFamily="34" charset="-122"/>
                <a:ea typeface="思源黑体 CN Normal" panose="020B0400000000000000" pitchFamily="34" charset="-122"/>
              </a:rPr>
              <a:t>，输出无效电平</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endParaRPr lang="en-US" altLang="zh-CN" sz="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400">
                <a:solidFill>
                  <a:srgbClr val="002060"/>
                </a:solidFill>
                <a:latin typeface="思源黑体 CN Normal" panose="020B0400000000000000" pitchFamily="34" charset="-122"/>
                <a:ea typeface="思源黑体 CN Normal" panose="020B0400000000000000" pitchFamily="34" charset="-122"/>
              </a:rPr>
              <a:t>有</a:t>
            </a:r>
            <a:r>
              <a:rPr lang="en-US" altLang="zh-CN" sz="1400">
                <a:solidFill>
                  <a:srgbClr val="002060"/>
                </a:solidFill>
                <a:latin typeface="思源黑体 CN Normal" panose="020B0400000000000000" pitchFamily="34" charset="-122"/>
                <a:ea typeface="思源黑体 CN Normal" panose="020B0400000000000000" pitchFamily="34" charset="-122"/>
              </a:rPr>
              <a:t>/</a:t>
            </a:r>
            <a:r>
              <a:rPr lang="zh-CN" altLang="en-US" sz="1400">
                <a:solidFill>
                  <a:srgbClr val="002060"/>
                </a:solidFill>
                <a:latin typeface="思源黑体 CN Normal" panose="020B0400000000000000" pitchFamily="34" charset="-122"/>
                <a:ea typeface="思源黑体 CN Normal" panose="020B0400000000000000" pitchFamily="34" charset="-122"/>
              </a:rPr>
              <a:t>无效状态由</a:t>
            </a:r>
            <a:r>
              <a:rPr lang="en-US" altLang="zh-CN" sz="1400">
                <a:solidFill>
                  <a:srgbClr val="002060"/>
                </a:solidFill>
                <a:latin typeface="思源黑体 CN Normal" panose="020B0400000000000000" pitchFamily="34" charset="-122"/>
                <a:ea typeface="思源黑体 CN Normal" panose="020B0400000000000000" pitchFamily="34" charset="-122"/>
              </a:rPr>
              <a:t>TIMx_CCER</a:t>
            </a:r>
            <a:r>
              <a:rPr lang="zh-CN" altLang="en-US" sz="1400">
                <a:solidFill>
                  <a:srgbClr val="002060"/>
                </a:solidFill>
                <a:latin typeface="思源黑体 CN Normal" panose="020B0400000000000000" pitchFamily="34" charset="-122"/>
                <a:ea typeface="思源黑体 CN Normal" panose="020B0400000000000000" pitchFamily="34" charset="-122"/>
              </a:rPr>
              <a:t>决定</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CCxP=0</a:t>
            </a:r>
            <a:r>
              <a:rPr lang="zh-CN" altLang="en-US" sz="1400">
                <a:solidFill>
                  <a:srgbClr val="002060"/>
                </a:solidFill>
                <a:latin typeface="思源黑体 CN Normal" panose="020B0400000000000000" pitchFamily="34" charset="-122"/>
                <a:ea typeface="思源黑体 CN Normal" panose="020B0400000000000000" pitchFamily="34" charset="-122"/>
              </a:rPr>
              <a:t>：</a:t>
            </a:r>
            <a:r>
              <a:rPr lang="en-US" altLang="zh-CN" sz="1400">
                <a:solidFill>
                  <a:srgbClr val="002060"/>
                </a:solidFill>
                <a:latin typeface="思源黑体 CN Normal" panose="020B0400000000000000" pitchFamily="34" charset="-122"/>
                <a:ea typeface="思源黑体 CN Normal" panose="020B0400000000000000" pitchFamily="34" charset="-122"/>
              </a:rPr>
              <a:t>OCx</a:t>
            </a:r>
            <a:r>
              <a:rPr lang="zh-CN" altLang="en-US" sz="1400">
                <a:solidFill>
                  <a:srgbClr val="002060"/>
                </a:solidFill>
                <a:latin typeface="思源黑体 CN Normal" panose="020B0400000000000000" pitchFamily="34" charset="-122"/>
                <a:ea typeface="思源黑体 CN Normal" panose="020B0400000000000000" pitchFamily="34" charset="-122"/>
              </a:rPr>
              <a:t>高电平有效</a:t>
            </a:r>
            <a:endParaRPr lang="en-US" altLang="zh-CN" sz="14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002060"/>
                </a:solidFill>
                <a:latin typeface="思源黑体 CN Normal" panose="020B0400000000000000" pitchFamily="34" charset="-122"/>
                <a:ea typeface="思源黑体 CN Normal" panose="020B0400000000000000" pitchFamily="34" charset="-122"/>
              </a:rPr>
              <a:t>CCxP=1</a:t>
            </a:r>
            <a:r>
              <a:rPr lang="zh-CN" altLang="en-US" sz="1400">
                <a:solidFill>
                  <a:srgbClr val="002060"/>
                </a:solidFill>
                <a:latin typeface="思源黑体 CN Normal" panose="020B0400000000000000" pitchFamily="34" charset="-122"/>
                <a:ea typeface="思源黑体 CN Normal" panose="020B0400000000000000" pitchFamily="34" charset="-122"/>
              </a:rPr>
              <a:t>：</a:t>
            </a:r>
            <a:r>
              <a:rPr lang="en-US" altLang="zh-CN" sz="1400">
                <a:solidFill>
                  <a:srgbClr val="002060"/>
                </a:solidFill>
                <a:latin typeface="思源黑体 CN Normal" panose="020B0400000000000000" pitchFamily="34" charset="-122"/>
                <a:ea typeface="思源黑体 CN Normal" panose="020B0400000000000000" pitchFamily="34" charset="-122"/>
              </a:rPr>
              <a:t>Ocx</a:t>
            </a:r>
            <a:r>
              <a:rPr lang="zh-CN" altLang="en-US" sz="1400">
                <a:solidFill>
                  <a:srgbClr val="002060"/>
                </a:solidFill>
                <a:latin typeface="思源黑体 CN Normal" panose="020B0400000000000000" pitchFamily="34" charset="-122"/>
                <a:ea typeface="思源黑体 CN Normal" panose="020B0400000000000000" pitchFamily="34" charset="-122"/>
              </a:rPr>
              <a:t>低电平有效</a:t>
            </a:r>
            <a:endParaRPr lang="en-US" altLang="zh-CN" sz="1400">
              <a:solidFill>
                <a:srgbClr val="002060"/>
              </a:solidFill>
              <a:latin typeface="思源黑体 CN Normal" panose="020B0400000000000000" pitchFamily="34" charset="-122"/>
              <a:ea typeface="思源黑体 CN Normal" panose="020B0400000000000000" pitchFamily="34" charset="-122"/>
            </a:endParaRPr>
          </a:p>
        </p:txBody>
      </p:sp>
      <p:graphicFrame>
        <p:nvGraphicFramePr>
          <p:cNvPr id="16" name="对象 15"/>
          <p:cNvGraphicFramePr>
            <a:graphicFrameLocks noChangeAspect="1"/>
          </p:cNvGraphicFramePr>
          <p:nvPr/>
        </p:nvGraphicFramePr>
        <p:xfrm>
          <a:off x="4191513" y="878853"/>
          <a:ext cx="6235187" cy="4726292"/>
        </p:xfrm>
        <a:graphic>
          <a:graphicData uri="http://schemas.openxmlformats.org/presentationml/2006/ole">
            <mc:AlternateContent xmlns:mc="http://schemas.openxmlformats.org/markup-compatibility/2006">
              <mc:Choice xmlns:v="urn:schemas-microsoft-com:vml" Requires="v">
                <p:oleObj spid="_x0000_s2" name="Visio" r:id="rId1" imgW="7790180" imgH="6768465" progId="Visio.Drawing.15">
                  <p:embed/>
                </p:oleObj>
              </mc:Choice>
              <mc:Fallback>
                <p:oleObj name="Visio" r:id="rId1" imgW="7790180" imgH="6768465" progId="Visio.Drawing.15">
                  <p:embed/>
                  <p:pic>
                    <p:nvPicPr>
                      <p:cNvPr id="0" name="对象 2"/>
                      <p:cNvPicPr>
                        <a:picLocks noChangeAspect="1" noChangeArrowheads="1"/>
                      </p:cNvPicPr>
                      <p:nvPr/>
                    </p:nvPicPr>
                    <p:blipFill>
                      <a:blip r:embed="rId2"/>
                      <a:srcRect/>
                      <a:stretch>
                        <a:fillRect/>
                      </a:stretch>
                    </p:blipFill>
                    <p:spPr bwMode="auto">
                      <a:xfrm>
                        <a:off x="4191513" y="878853"/>
                        <a:ext cx="6235187" cy="4726292"/>
                      </a:xfrm>
                      <a:prstGeom prst="rect">
                        <a:avLst/>
                      </a:prstGeom>
                      <a:noFill/>
                    </p:spPr>
                  </p:pic>
                </p:oleObj>
              </mc:Fallback>
            </mc:AlternateContent>
          </a:graphicData>
        </a:graphic>
      </p:graphicFrame>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643442" y="1533569"/>
            <a:ext cx="4445788" cy="45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捕获</a:t>
            </a:r>
            <a:r>
              <a:rPr lang="en-US" altLang="zh-CN" sz="2000" b="1">
                <a:solidFill>
                  <a:srgbClr val="002060"/>
                </a:solidFill>
                <a:latin typeface="思源黑体 CN Bold" pitchFamily="34" charset="-122"/>
                <a:ea typeface="思源黑体 CN Bold" pitchFamily="34" charset="-122"/>
              </a:rPr>
              <a:t>/</a:t>
            </a:r>
            <a:r>
              <a:rPr lang="zh-CN" altLang="en-US" sz="2000" b="1">
                <a:solidFill>
                  <a:srgbClr val="002060"/>
                </a:solidFill>
                <a:latin typeface="思源黑体 CN Bold" pitchFamily="34" charset="-122"/>
                <a:ea typeface="思源黑体 CN Bold" pitchFamily="34" charset="-122"/>
              </a:rPr>
              <a:t>比较通道的输入部分（通道</a:t>
            </a:r>
            <a:r>
              <a:rPr lang="en-US" altLang="zh-CN" sz="2000" b="1">
                <a:solidFill>
                  <a:srgbClr val="002060"/>
                </a:solidFill>
                <a:latin typeface="思源黑体 CN Bold" pitchFamily="34" charset="-122"/>
                <a:ea typeface="思源黑体 CN Bold" pitchFamily="34" charset="-122"/>
              </a:rPr>
              <a:t>1</a:t>
            </a:r>
            <a:r>
              <a:rPr lang="zh-CN" altLang="en-US" sz="2000" b="1">
                <a:solidFill>
                  <a:srgbClr val="002060"/>
                </a:solidFill>
                <a:latin typeface="思源黑体 CN Bold" pitchFamily="34" charset="-122"/>
                <a:ea typeface="思源黑体 CN Bold" pitchFamily="34" charset="-122"/>
              </a:rPr>
              <a:t>）</a:t>
            </a:r>
            <a:endParaRPr lang="en-US" altLang="zh-CN" sz="2000" b="1" dirty="0">
              <a:solidFill>
                <a:srgbClr val="002060"/>
              </a:solidFill>
              <a:latin typeface="思源黑体 CN Bold" pitchFamily="34" charset="-122"/>
              <a:ea typeface="思源黑体 CN Bold" pitchFamily="34" charset="-122"/>
            </a:endParaRPr>
          </a:p>
        </p:txBody>
      </p:sp>
      <p:pic>
        <p:nvPicPr>
          <p:cNvPr id="8" name="图片 7"/>
          <p:cNvPicPr>
            <a:picLocks noChangeAspect="1"/>
          </p:cNvPicPr>
          <p:nvPr/>
        </p:nvPicPr>
        <p:blipFill>
          <a:blip r:embed="rId1"/>
          <a:stretch>
            <a:fillRect/>
          </a:stretch>
        </p:blipFill>
        <p:spPr>
          <a:xfrm>
            <a:off x="1549362" y="2101624"/>
            <a:ext cx="8812606" cy="3256505"/>
          </a:xfrm>
          <a:prstGeom prst="rect">
            <a:avLst/>
          </a:prstGeom>
          <a:ln>
            <a:noFill/>
          </a:ln>
          <a:effectLst>
            <a:outerShdw blurRad="190500" algn="tl" rotWithShape="0">
              <a:srgbClr val="000000">
                <a:alpha val="70000"/>
              </a:srgbClr>
            </a:outerShdw>
          </a:effectLst>
        </p:spPr>
      </p:pic>
      <p:sp>
        <p:nvSpPr>
          <p:cNvPr id="28" name="矩形 27"/>
          <p:cNvSpPr/>
          <p:nvPr/>
        </p:nvSpPr>
        <p:spPr>
          <a:xfrm>
            <a:off x="1643441" y="3295465"/>
            <a:ext cx="1465795" cy="705193"/>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采样频率</a:t>
            </a:r>
            <a:endParaRPr lang="en-US" altLang="zh-CN" sz="14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400">
                <a:solidFill>
                  <a:srgbClr val="C00000"/>
                </a:solidFill>
                <a:latin typeface="思源黑体 CN Normal" panose="020B0400000000000000" pitchFamily="34" charset="-122"/>
                <a:ea typeface="思源黑体 CN Normal" panose="020B0400000000000000" pitchFamily="34" charset="-122"/>
              </a:rPr>
              <a:t>CKD[1:0]</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29" name="矩形 28"/>
          <p:cNvSpPr/>
          <p:nvPr/>
        </p:nvSpPr>
        <p:spPr>
          <a:xfrm>
            <a:off x="1722330" y="2537873"/>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通道</a:t>
            </a:r>
            <a:r>
              <a:rPr lang="en-US" altLang="zh-CN" sz="1400">
                <a:solidFill>
                  <a:srgbClr val="C00000"/>
                </a:solidFill>
                <a:latin typeface="思源黑体 CN Normal" panose="020B0400000000000000" pitchFamily="34" charset="-122"/>
                <a:ea typeface="思源黑体 CN Normal" panose="020B0400000000000000" pitchFamily="34" charset="-122"/>
              </a:rPr>
              <a:t>1</a:t>
            </a:r>
            <a:r>
              <a:rPr lang="zh-CN" altLang="en-US" sz="1400">
                <a:solidFill>
                  <a:srgbClr val="C00000"/>
                </a:solidFill>
                <a:latin typeface="思源黑体 CN Normal" panose="020B0400000000000000" pitchFamily="34" charset="-122"/>
                <a:ea typeface="思源黑体 CN Normal" panose="020B0400000000000000" pitchFamily="34" charset="-122"/>
              </a:rPr>
              <a:t>输入</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1" name="矩形 30"/>
          <p:cNvSpPr/>
          <p:nvPr/>
        </p:nvSpPr>
        <p:spPr>
          <a:xfrm>
            <a:off x="2455227" y="4340985"/>
            <a:ext cx="1465795"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滤波方式选择</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3" name="矩形 32"/>
          <p:cNvSpPr/>
          <p:nvPr/>
        </p:nvSpPr>
        <p:spPr>
          <a:xfrm>
            <a:off x="4645271" y="3457047"/>
            <a:ext cx="1728082"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选择边沿检测方式</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4" name="矩形 33"/>
          <p:cNvSpPr/>
          <p:nvPr/>
        </p:nvSpPr>
        <p:spPr>
          <a:xfrm>
            <a:off x="7354547" y="4337881"/>
            <a:ext cx="1738018"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输入通道映射</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6" name="矩形 35"/>
          <p:cNvSpPr/>
          <p:nvPr/>
        </p:nvSpPr>
        <p:spPr>
          <a:xfrm>
            <a:off x="8594605" y="4337881"/>
            <a:ext cx="976047"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捕获分频</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8" name="矩形 37"/>
          <p:cNvSpPr/>
          <p:nvPr/>
        </p:nvSpPr>
        <p:spPr>
          <a:xfrm>
            <a:off x="9551618" y="4354178"/>
            <a:ext cx="976047"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使能捕获</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
        <p:nvSpPr>
          <p:cNvPr id="39" name="矩形 38"/>
          <p:cNvSpPr/>
          <p:nvPr/>
        </p:nvSpPr>
        <p:spPr>
          <a:xfrm>
            <a:off x="8842524" y="2919901"/>
            <a:ext cx="1728081" cy="382028"/>
          </a:xfrm>
          <a:prstGeom prst="rect">
            <a:avLst/>
          </a:prstGeom>
        </p:spPr>
        <p:txBody>
          <a:bodyPr wrap="square">
            <a:spAutoFit/>
          </a:bodyPr>
          <a:lstStyle/>
          <a:p>
            <a:pPr>
              <a:lnSpc>
                <a:spcPct val="150000"/>
              </a:lnSpc>
            </a:pPr>
            <a:r>
              <a:rPr lang="zh-CN" altLang="en-US" sz="1400">
                <a:solidFill>
                  <a:srgbClr val="C00000"/>
                </a:solidFill>
                <a:latin typeface="思源黑体 CN Normal" panose="020B0400000000000000" pitchFamily="34" charset="-122"/>
                <a:ea typeface="思源黑体 CN Normal" panose="020B0400000000000000" pitchFamily="34" charset="-122"/>
              </a:rPr>
              <a:t>分频后的捕获信号</a:t>
            </a:r>
            <a:endParaRPr lang="en-US" altLang="zh-CN" sz="140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1" grpId="0"/>
      <p:bldP spid="33" grpId="0"/>
      <p:bldP spid="34" grpId="0"/>
      <p:bldP spid="36" grpId="0"/>
      <p:bldP spid="38" grpId="0"/>
      <p:bldP spid="3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669476" y="1195114"/>
            <a:ext cx="5000845"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通用定时器输入捕获脉宽测量原理</a:t>
            </a:r>
            <a:endParaRPr lang="en-US" altLang="zh-CN" sz="2000" b="1" dirty="0">
              <a:solidFill>
                <a:srgbClr val="002060"/>
              </a:solidFill>
              <a:latin typeface="思源黑体 CN Bold" pitchFamily="34" charset="-122"/>
              <a:ea typeface="思源黑体 CN Bold" pitchFamily="34" charset="-122"/>
            </a:endParaRPr>
          </a:p>
        </p:txBody>
      </p:sp>
      <p:sp>
        <p:nvSpPr>
          <p:cNvPr id="15" name="矩形 14"/>
          <p:cNvSpPr/>
          <p:nvPr/>
        </p:nvSpPr>
        <p:spPr>
          <a:xfrm>
            <a:off x="1951699" y="2231823"/>
            <a:ext cx="3047867" cy="1900713"/>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以捕获测量</a:t>
            </a:r>
            <a:r>
              <a:rPr lang="zh-CN" altLang="en-US" sz="1600">
                <a:solidFill>
                  <a:srgbClr val="C00000"/>
                </a:solidFill>
                <a:latin typeface="思源黑体 CN Normal" panose="020B0400000000000000" pitchFamily="34" charset="-122"/>
                <a:ea typeface="思源黑体 CN Normal" panose="020B0400000000000000" pitchFamily="34" charset="-122"/>
              </a:rPr>
              <a:t>高电平脉宽</a:t>
            </a:r>
            <a:r>
              <a:rPr lang="zh-CN" altLang="en-US" sz="1600">
                <a:solidFill>
                  <a:srgbClr val="002060"/>
                </a:solidFill>
                <a:latin typeface="思源黑体 CN Normal" panose="020B0400000000000000" pitchFamily="34" charset="-122"/>
                <a:ea typeface="思源黑体 CN Normal" panose="020B0400000000000000" pitchFamily="34" charset="-122"/>
              </a:rPr>
              <a:t>为例</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假设：递增计数模式</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ARR</a:t>
            </a:r>
            <a:r>
              <a:rPr lang="zh-CN" altLang="en-US" sz="1600">
                <a:solidFill>
                  <a:srgbClr val="002060"/>
                </a:solidFill>
                <a:latin typeface="思源黑体 CN Normal" panose="020B0400000000000000" pitchFamily="34" charset="-122"/>
                <a:ea typeface="思源黑体 CN Normal" panose="020B0400000000000000" pitchFamily="34" charset="-122"/>
              </a:rPr>
              <a:t>：自动重装载寄存器的值</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CCRx1</a:t>
            </a:r>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en-US" altLang="zh-CN" sz="1600">
                <a:solidFill>
                  <a:srgbClr val="002060"/>
                </a:solidFill>
                <a:latin typeface="思源黑体 CN Normal" panose="020B0400000000000000" pitchFamily="34" charset="-122"/>
                <a:ea typeface="思源黑体 CN Normal" panose="020B0400000000000000" pitchFamily="34" charset="-122"/>
              </a:rPr>
              <a:t>t1</a:t>
            </a:r>
            <a:r>
              <a:rPr lang="zh-CN" altLang="en-US" sz="1600">
                <a:solidFill>
                  <a:srgbClr val="002060"/>
                </a:solidFill>
                <a:latin typeface="思源黑体 CN Normal" panose="020B0400000000000000" pitchFamily="34" charset="-122"/>
                <a:ea typeface="思源黑体 CN Normal" panose="020B0400000000000000" pitchFamily="34" charset="-122"/>
              </a:rPr>
              <a:t>时间点</a:t>
            </a:r>
            <a:r>
              <a:rPr lang="en-US" altLang="zh-CN" sz="1600">
                <a:solidFill>
                  <a:srgbClr val="002060"/>
                </a:solidFill>
                <a:latin typeface="思源黑体 CN Normal" panose="020B0400000000000000" pitchFamily="34" charset="-122"/>
                <a:ea typeface="思源黑体 CN Normal" panose="020B0400000000000000" pitchFamily="34" charset="-122"/>
              </a:rPr>
              <a:t>CCRx</a:t>
            </a:r>
            <a:r>
              <a:rPr lang="zh-CN" altLang="en-US" sz="1600">
                <a:solidFill>
                  <a:srgbClr val="002060"/>
                </a:solidFill>
                <a:latin typeface="思源黑体 CN Normal" panose="020B0400000000000000" pitchFamily="34" charset="-122"/>
                <a:ea typeface="思源黑体 CN Normal" panose="020B0400000000000000" pitchFamily="34" charset="-122"/>
              </a:rPr>
              <a:t>的值</a:t>
            </a:r>
            <a:endParaRPr lang="en-US" altLang="zh-CN" sz="1600">
              <a:solidFill>
                <a:srgbClr val="002060"/>
              </a:solidFill>
              <a:latin typeface="思源黑体 CN Normal" panose="020B0400000000000000" pitchFamily="34" charset="-122"/>
              <a:ea typeface="思源黑体 CN Normal" panose="020B0400000000000000" pitchFamily="34" charset="-122"/>
            </a:endParaRPr>
          </a:p>
          <a:p>
            <a:pPr>
              <a:lnSpc>
                <a:spcPct val="150000"/>
              </a:lnSpc>
            </a:pPr>
            <a:r>
              <a:rPr lang="en-US" altLang="zh-CN" sz="1600">
                <a:solidFill>
                  <a:srgbClr val="002060"/>
                </a:solidFill>
                <a:latin typeface="思源黑体 CN Normal" panose="020B0400000000000000" pitchFamily="34" charset="-122"/>
                <a:ea typeface="思源黑体 CN Normal" panose="020B0400000000000000" pitchFamily="34" charset="-122"/>
              </a:rPr>
              <a:t>CCRx2</a:t>
            </a:r>
            <a:r>
              <a:rPr lang="zh-CN" altLang="en-US" sz="1600">
                <a:solidFill>
                  <a:srgbClr val="002060"/>
                </a:solidFill>
                <a:latin typeface="思源黑体 CN Normal" panose="020B0400000000000000" pitchFamily="34" charset="-122"/>
                <a:ea typeface="思源黑体 CN Normal" panose="020B0400000000000000" pitchFamily="34" charset="-122"/>
              </a:rPr>
              <a:t>：</a:t>
            </a:r>
            <a:r>
              <a:rPr lang="en-US" altLang="zh-CN" sz="1600">
                <a:solidFill>
                  <a:srgbClr val="002060"/>
                </a:solidFill>
                <a:latin typeface="思源黑体 CN Normal" panose="020B0400000000000000" pitchFamily="34" charset="-122"/>
                <a:ea typeface="思源黑体 CN Normal" panose="020B0400000000000000" pitchFamily="34" charset="-122"/>
              </a:rPr>
              <a:t>t2</a:t>
            </a:r>
            <a:r>
              <a:rPr lang="zh-CN" altLang="en-US" sz="1600">
                <a:solidFill>
                  <a:srgbClr val="002060"/>
                </a:solidFill>
                <a:latin typeface="思源黑体 CN Normal" panose="020B0400000000000000" pitchFamily="34" charset="-122"/>
                <a:ea typeface="思源黑体 CN Normal" panose="020B0400000000000000" pitchFamily="34" charset="-122"/>
              </a:rPr>
              <a:t>时间点</a:t>
            </a:r>
            <a:r>
              <a:rPr lang="en-US" altLang="zh-CN" sz="1600">
                <a:solidFill>
                  <a:srgbClr val="002060"/>
                </a:solidFill>
                <a:latin typeface="思源黑体 CN Normal" panose="020B0400000000000000" pitchFamily="34" charset="-122"/>
                <a:ea typeface="思源黑体 CN Normal" panose="020B0400000000000000" pitchFamily="34" charset="-122"/>
              </a:rPr>
              <a:t>CCRx</a:t>
            </a:r>
            <a:r>
              <a:rPr lang="zh-CN" altLang="en-US" sz="1600">
                <a:solidFill>
                  <a:srgbClr val="002060"/>
                </a:solidFill>
                <a:latin typeface="思源黑体 CN Normal" panose="020B0400000000000000" pitchFamily="34" charset="-122"/>
                <a:ea typeface="思源黑体 CN Normal" panose="020B0400000000000000" pitchFamily="34" charset="-122"/>
              </a:rPr>
              <a:t>的值</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3501664" y="4975154"/>
            <a:ext cx="5607000" cy="423386"/>
          </a:xfrm>
          <a:prstGeom prst="rect">
            <a:avLst/>
          </a:prstGeom>
        </p:spPr>
        <p:txBody>
          <a:bodyPr wrap="square">
            <a:spAutoFit/>
          </a:bodyPr>
          <a:lstStyle/>
          <a:p>
            <a:pPr>
              <a:lnSpc>
                <a:spcPct val="150000"/>
              </a:lnSpc>
            </a:pPr>
            <a:r>
              <a:rPr lang="zh-CN" altLang="en-US" sz="1600" dirty="0">
                <a:solidFill>
                  <a:srgbClr val="C00000"/>
                </a:solidFill>
                <a:latin typeface="思源黑体 CN Normal" panose="020B0400000000000000" pitchFamily="34" charset="-122"/>
                <a:ea typeface="思源黑体 CN Normal" panose="020B0400000000000000" pitchFamily="34" charset="-122"/>
              </a:rPr>
              <a:t>高电平期间，计时器计数的个数：</a:t>
            </a:r>
            <a:r>
              <a:rPr lang="en-US" altLang="zh-CN" sz="1600" dirty="0">
                <a:solidFill>
                  <a:srgbClr val="C00000"/>
                </a:solidFill>
                <a:latin typeface="思源黑体 CN Normal" panose="020B0400000000000000" pitchFamily="34" charset="-122"/>
                <a:ea typeface="思源黑体 CN Normal" panose="020B0400000000000000" pitchFamily="34" charset="-122"/>
              </a:rPr>
              <a:t>N </a:t>
            </a:r>
            <a:r>
              <a:rPr lang="zh-CN" altLang="en-US" sz="1600" dirty="0">
                <a:solidFill>
                  <a:srgbClr val="C00000"/>
                </a:solidFill>
                <a:latin typeface="思源黑体 CN Normal" panose="020B0400000000000000" pitchFamily="34" charset="-122"/>
                <a:ea typeface="思源黑体 CN Normal" panose="020B0400000000000000" pitchFamily="34" charset="-122"/>
              </a:rPr>
              <a:t>* </a:t>
            </a:r>
            <a:r>
              <a:rPr lang="en-US" altLang="zh-CN" sz="1600" dirty="0">
                <a:solidFill>
                  <a:srgbClr val="C00000"/>
                </a:solidFill>
                <a:latin typeface="思源黑体 CN Normal" panose="020B0400000000000000" pitchFamily="34" charset="-122"/>
                <a:ea typeface="思源黑体 CN Normal" panose="020B0400000000000000" pitchFamily="34" charset="-122"/>
              </a:rPr>
              <a:t>(ARR+1) + CCRx2</a:t>
            </a:r>
            <a:endParaRPr lang="en-US" altLang="zh-CN" sz="1600" dirty="0">
              <a:solidFill>
                <a:srgbClr val="C00000"/>
              </a:solidFill>
              <a:latin typeface="思源黑体 CN Normal" panose="020B0400000000000000" pitchFamily="34" charset="-122"/>
              <a:ea typeface="思源黑体 CN Normal" panose="020B0400000000000000" pitchFamily="34" charset="-122"/>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999566" y="1840644"/>
            <a:ext cx="4860908" cy="2994766"/>
          </a:xfrm>
          <a:prstGeom prst="rect">
            <a:avLst/>
          </a:prstGeom>
          <a:ln>
            <a:noFill/>
          </a:ln>
          <a:effectLst>
            <a:outerShdw blurRad="190500" algn="tl" rotWithShape="0">
              <a:srgbClr val="000000">
                <a:alpha val="70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402777" y="1292269"/>
            <a:ext cx="479017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高级定时器简介</a:t>
            </a:r>
            <a:endParaRPr lang="en-US" altLang="zh-CN" sz="2000" b="1" dirty="0">
              <a:solidFill>
                <a:srgbClr val="002060"/>
              </a:solidFill>
              <a:latin typeface="思源黑体 CN Bold" pitchFamily="34" charset="-122"/>
              <a:ea typeface="思源黑体 CN Bold" pitchFamily="34" charset="-122"/>
            </a:endParaRPr>
          </a:p>
        </p:txBody>
      </p:sp>
      <p:sp>
        <p:nvSpPr>
          <p:cNvPr id="10" name="矩形 9"/>
          <p:cNvSpPr/>
          <p:nvPr/>
        </p:nvSpPr>
        <p:spPr>
          <a:xfrm>
            <a:off x="3491090" y="1913133"/>
            <a:ext cx="3033324" cy="338554"/>
          </a:xfrm>
          <a:prstGeom prst="rect">
            <a:avLst/>
          </a:prstGeom>
        </p:spPr>
        <p:txBody>
          <a:bodyPr wrap="square">
            <a:spAutoFit/>
          </a:bodyPr>
          <a:lstStyle/>
          <a:p>
            <a:r>
              <a:rPr lang="en-US" altLang="zh-CN" sz="1600">
                <a:solidFill>
                  <a:srgbClr val="002060"/>
                </a:solidFill>
                <a:latin typeface="思源黑体 CN Normal" panose="020B0400000000000000" pitchFamily="34" charset="-122"/>
                <a:ea typeface="思源黑体 CN Normal" panose="020B0400000000000000" pitchFamily="34" charset="-122"/>
              </a:rPr>
              <a:t>TIM1/TIM8 </a:t>
            </a:r>
            <a:endParaRPr lang="zh-CN"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p:txBody>
      </p:sp>
      <p:sp>
        <p:nvSpPr>
          <p:cNvPr id="13" name="矩形: 圆角 12"/>
          <p:cNvSpPr/>
          <p:nvPr/>
        </p:nvSpPr>
        <p:spPr>
          <a:xfrm>
            <a:off x="1906257" y="1864077"/>
            <a:ext cx="1584833" cy="338555"/>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sz="1600">
                <a:solidFill>
                  <a:srgbClr val="002060"/>
                </a:solidFill>
                <a:latin typeface="思源黑体 CN Normal" panose="020B0400000000000000" pitchFamily="34" charset="-122"/>
                <a:ea typeface="思源黑体 CN Normal" panose="020B0400000000000000" pitchFamily="34" charset="-122"/>
              </a:rPr>
              <a:t>1</a:t>
            </a:r>
            <a:r>
              <a:rPr lang="zh-CN" altLang="en-US" sz="1600">
                <a:solidFill>
                  <a:srgbClr val="002060"/>
                </a:solidFill>
                <a:latin typeface="思源黑体 CN Normal" panose="020B0400000000000000" pitchFamily="34" charset="-122"/>
                <a:ea typeface="思源黑体 CN Normal" panose="020B0400000000000000" pitchFamily="34" charset="-122"/>
              </a:rPr>
              <a:t>，高级定时器</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14" name="矩形: 圆角 13"/>
          <p:cNvSpPr/>
          <p:nvPr/>
        </p:nvSpPr>
        <p:spPr>
          <a:xfrm>
            <a:off x="1906257" y="2348442"/>
            <a:ext cx="1584833" cy="346167"/>
          </a:xfrm>
          <a:prstGeom prst="roundRect">
            <a:avLst/>
          </a:prstGeom>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r>
              <a:rPr lang="en-US" altLang="zh-CN" sz="1600">
                <a:solidFill>
                  <a:srgbClr val="002060"/>
                </a:solidFill>
                <a:latin typeface="思源黑体 CN Normal" panose="020B0400000000000000" pitchFamily="34" charset="-122"/>
                <a:ea typeface="思源黑体 CN Normal" panose="020B0400000000000000" pitchFamily="34" charset="-122"/>
              </a:rPr>
              <a:t>2</a:t>
            </a:r>
            <a:r>
              <a:rPr lang="zh-CN" altLang="en-US" sz="1600">
                <a:solidFill>
                  <a:srgbClr val="002060"/>
                </a:solidFill>
                <a:latin typeface="思源黑体 CN Normal" panose="020B0400000000000000" pitchFamily="34" charset="-122"/>
                <a:ea typeface="思源黑体 CN Normal" panose="020B0400000000000000" pitchFamily="34" charset="-122"/>
              </a:rPr>
              <a:t>，主要特性</a:t>
            </a:r>
            <a:endParaRPr lang="zh-CN" altLang="en-US" dirty="0">
              <a:solidFill>
                <a:srgbClr val="00206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3491090" y="2300743"/>
            <a:ext cx="6686977" cy="3267241"/>
          </a:xfrm>
          <a:prstGeom prst="rect">
            <a:avLst/>
          </a:prstGeom>
        </p:spPr>
        <p:txBody>
          <a:bodyPr wrap="square">
            <a:spAutoFit/>
          </a:bodyPr>
          <a:lstStyle/>
          <a:p>
            <a:pPr>
              <a:lnSpc>
                <a:spcPct val="130000"/>
              </a:lnSpc>
            </a:pPr>
            <a:r>
              <a:rPr lang="en-US" altLang="zh-CN" sz="1600" dirty="0">
                <a:solidFill>
                  <a:srgbClr val="002060"/>
                </a:solidFill>
                <a:latin typeface="思源黑体 CN Normal" panose="020B0400000000000000" pitchFamily="34" charset="-122"/>
                <a:ea typeface="思源黑体 CN Normal" panose="020B0400000000000000" pitchFamily="34" charset="-122"/>
              </a:rPr>
              <a:t>16</a:t>
            </a:r>
            <a:r>
              <a:rPr lang="zh-CN" altLang="en-US" sz="1600" dirty="0">
                <a:solidFill>
                  <a:srgbClr val="002060"/>
                </a:solidFill>
                <a:latin typeface="思源黑体 CN Normal" panose="020B0400000000000000" pitchFamily="34" charset="-122"/>
                <a:ea typeface="思源黑体 CN Normal" panose="020B0400000000000000" pitchFamily="34" charset="-122"/>
              </a:rPr>
              <a:t>位递增、递减、中心对齐计数器</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（计数值：</a:t>
            </a:r>
            <a:r>
              <a:rPr lang="en-US" altLang="zh-CN" sz="1600" kern="100" dirty="0">
                <a:solidFill>
                  <a:srgbClr val="002060"/>
                </a:solidFill>
                <a:latin typeface="思源黑体 CN Normal" panose="020B0400000000000000" pitchFamily="34" charset="-122"/>
                <a:ea typeface="思源黑体 CN Normal" panose="020B0400000000000000" pitchFamily="34" charset="-122"/>
              </a:rPr>
              <a:t>0</a:t>
            </a: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~65535</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sz="1600" dirty="0">
              <a:solidFill>
                <a:srgbClr val="002060"/>
              </a:solidFill>
              <a:latin typeface="思源黑体 CN Normal" panose="020B0400000000000000" pitchFamily="34" charset="-122"/>
              <a:ea typeface="思源黑体 CN Normal" panose="020B0400000000000000" pitchFamily="34" charset="-122"/>
            </a:endParaRPr>
          </a:p>
          <a:p>
            <a:pPr>
              <a:lnSpc>
                <a:spcPct val="130000"/>
              </a:lnSpc>
            </a:pP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16</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位预分频器（分频系数：</a:t>
            </a: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1~65536</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a:t>
            </a:r>
            <a:endPar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30000"/>
              </a:lnSpc>
            </a:pPr>
            <a:r>
              <a:rPr lang="zh-CN" altLang="en-US" sz="1600" kern="100" dirty="0">
                <a:solidFill>
                  <a:srgbClr val="002060"/>
                </a:solidFill>
                <a:latin typeface="思源黑体 CN Normal" panose="020B0400000000000000" pitchFamily="34" charset="-122"/>
                <a:ea typeface="思源黑体 CN Normal" panose="020B0400000000000000" pitchFamily="34" charset="-122"/>
              </a:rPr>
              <a:t>可用于</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触发</a:t>
            </a: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DAC</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a:t>
            </a: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ADC</a:t>
            </a:r>
            <a:endPar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30000"/>
              </a:lnSpc>
            </a:pP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在更新事件、触发事件、输入捕获、输出比较时，会产生中断</a:t>
            </a:r>
            <a:r>
              <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/DMA</a:t>
            </a: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请求</a:t>
            </a:r>
            <a:endPar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30000"/>
              </a:lnSpc>
            </a:pPr>
            <a:r>
              <a:rPr lang="en-US" altLang="zh-CN" sz="1600" kern="100" dirty="0">
                <a:solidFill>
                  <a:srgbClr val="002060"/>
                </a:solidFill>
                <a:latin typeface="思源黑体 CN Normal" panose="020B0400000000000000" pitchFamily="34" charset="-122"/>
                <a:ea typeface="思源黑体 CN Normal" panose="020B0400000000000000" pitchFamily="34" charset="-122"/>
              </a:rPr>
              <a:t>4</a:t>
            </a:r>
            <a:r>
              <a:rPr lang="zh-CN" altLang="en-US" sz="1600" kern="100" dirty="0">
                <a:solidFill>
                  <a:srgbClr val="002060"/>
                </a:solidFill>
                <a:latin typeface="思源黑体 CN Normal" panose="020B0400000000000000" pitchFamily="34" charset="-122"/>
                <a:ea typeface="思源黑体 CN Normal" panose="020B0400000000000000" pitchFamily="34" charset="-122"/>
              </a:rPr>
              <a:t>个独立通道，可用于：输入捕获、输出比较、输出</a:t>
            </a:r>
            <a:r>
              <a:rPr lang="en-US" altLang="zh-CN" sz="1600" kern="100" dirty="0">
                <a:solidFill>
                  <a:srgbClr val="002060"/>
                </a:solidFill>
                <a:latin typeface="思源黑体 CN Normal" panose="020B0400000000000000" pitchFamily="34" charset="-122"/>
                <a:ea typeface="思源黑体 CN Normal" panose="020B0400000000000000" pitchFamily="34" charset="-122"/>
              </a:rPr>
              <a:t>PWM</a:t>
            </a:r>
            <a:r>
              <a:rPr lang="zh-CN" altLang="en-US" sz="1600" kern="100" dirty="0">
                <a:solidFill>
                  <a:srgbClr val="002060"/>
                </a:solidFill>
                <a:latin typeface="思源黑体 CN Normal" panose="020B0400000000000000" pitchFamily="34" charset="-122"/>
                <a:ea typeface="思源黑体 CN Normal" panose="020B0400000000000000" pitchFamily="34" charset="-122"/>
              </a:rPr>
              <a:t>、单脉冲模式</a:t>
            </a:r>
            <a:endParaRPr lang="en-US" altLang="zh-CN" sz="1600" kern="100" dirty="0">
              <a:solidFill>
                <a:srgbClr val="002060"/>
              </a:solidFill>
              <a:latin typeface="思源黑体 CN Normal" panose="020B0400000000000000" pitchFamily="34" charset="-122"/>
              <a:ea typeface="思源黑体 CN Normal" panose="020B0400000000000000" pitchFamily="34" charset="-122"/>
            </a:endParaRPr>
          </a:p>
          <a:p>
            <a:pPr>
              <a:lnSpc>
                <a:spcPct val="130000"/>
              </a:lnSpc>
            </a:pPr>
            <a:r>
              <a:rPr lang="zh-CN" altLang="en-US" sz="1600" kern="100" dirty="0">
                <a:solidFill>
                  <a:srgbClr val="002060"/>
                </a:solidFill>
                <a:latin typeface="思源黑体 CN Normal" panose="020B0400000000000000" pitchFamily="34" charset="-122"/>
                <a:ea typeface="思源黑体 CN Normal" panose="020B0400000000000000" pitchFamily="34" charset="-122"/>
              </a:rPr>
              <a:t>使用外部信号控制定时器且可实现多个定时器互连的同步电路</a:t>
            </a:r>
            <a:endParaRPr lang="en-US" altLang="zh-CN" sz="1600" kern="100" dirty="0">
              <a:solidFill>
                <a:srgbClr val="002060"/>
              </a:solidFill>
              <a:latin typeface="思源黑体 CN Normal" panose="020B0400000000000000" pitchFamily="34" charset="-122"/>
              <a:ea typeface="思源黑体 CN Normal" panose="020B0400000000000000" pitchFamily="34" charset="-122"/>
            </a:endParaRPr>
          </a:p>
          <a:p>
            <a:pPr>
              <a:lnSpc>
                <a:spcPct val="130000"/>
              </a:lnSpc>
            </a:pPr>
            <a:r>
              <a:rPr lang="zh-CN" altLang="en-US"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rPr>
              <a:t>支持编码器和霍尔传感器电路等</a:t>
            </a:r>
            <a:endPar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30000"/>
              </a:lnSpc>
            </a:pPr>
            <a:r>
              <a:rPr lang="zh-CN" altLang="en-US" sz="1600" kern="100" dirty="0">
                <a:solidFill>
                  <a:srgbClr val="C00000"/>
                </a:solidFill>
                <a:latin typeface="思源黑体 CN Normal" panose="020B0400000000000000" pitchFamily="34" charset="-122"/>
                <a:ea typeface="思源黑体 CN Normal" panose="020B0400000000000000" pitchFamily="34" charset="-122"/>
              </a:rPr>
              <a:t>重复计数器</a:t>
            </a:r>
            <a:endParaRPr lang="en-US" altLang="zh-CN" sz="1600" b="0" kern="100" baseline="0" dirty="0">
              <a:ln>
                <a:noFill/>
              </a:ln>
              <a:solidFill>
                <a:srgbClr val="002060"/>
              </a:solidFill>
              <a:effectLst/>
              <a:latin typeface="思源黑体 CN Normal" panose="020B0400000000000000" pitchFamily="34" charset="-122"/>
              <a:ea typeface="思源黑体 CN Normal" panose="020B0400000000000000" pitchFamily="34" charset="-122"/>
            </a:endParaRPr>
          </a:p>
          <a:p>
            <a:pPr>
              <a:lnSpc>
                <a:spcPct val="130000"/>
              </a:lnSpc>
            </a:pPr>
            <a:r>
              <a:rPr lang="zh-CN" altLang="en-US" sz="1600" kern="100" dirty="0">
                <a:solidFill>
                  <a:srgbClr val="C00000"/>
                </a:solidFill>
                <a:latin typeface="思源黑体 CN Normal" panose="020B0400000000000000" pitchFamily="34" charset="-122"/>
                <a:ea typeface="思源黑体 CN Normal" panose="020B0400000000000000" pitchFamily="34" charset="-122"/>
              </a:rPr>
              <a:t>死区时间带可编程的互补输出</a:t>
            </a:r>
            <a:endParaRPr lang="en-US" altLang="zh-CN" sz="1600" kern="100" dirty="0">
              <a:solidFill>
                <a:srgbClr val="C00000"/>
              </a:solidFill>
              <a:latin typeface="思源黑体 CN Normal" panose="020B0400000000000000" pitchFamily="34" charset="-122"/>
              <a:ea typeface="思源黑体 CN Normal" panose="020B0400000000000000" pitchFamily="34" charset="-122"/>
            </a:endParaRPr>
          </a:p>
          <a:p>
            <a:pPr>
              <a:lnSpc>
                <a:spcPct val="130000"/>
              </a:lnSpc>
            </a:pPr>
            <a:r>
              <a:rPr lang="zh-CN" altLang="en-US" sz="1600" kern="100" dirty="0">
                <a:solidFill>
                  <a:srgbClr val="C00000"/>
                </a:solidFill>
                <a:latin typeface="思源黑体 CN Normal" panose="020B0400000000000000" pitchFamily="34" charset="-122"/>
                <a:ea typeface="思源黑体 CN Normal" panose="020B0400000000000000" pitchFamily="34" charset="-122"/>
              </a:rPr>
              <a:t>断路输入，用于将定时器的输出信号置于用户可选的安全配置中</a:t>
            </a:r>
            <a:endParaRPr lang="en-US" altLang="zh-CN" sz="1600" kern="100" dirty="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500"/>
                                        <p:tgtEl>
                                          <p:spTgt spid="18">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xEl>
                                              <p:pRg st="1" end="1"/>
                                            </p:txEl>
                                          </p:spTgt>
                                        </p:tgtEl>
                                        <p:attrNameLst>
                                          <p:attrName>style.visibility</p:attrName>
                                        </p:attrNameLst>
                                      </p:cBhvr>
                                      <p:to>
                                        <p:strVal val="visible"/>
                                      </p:to>
                                    </p:set>
                                    <p:animEffect transition="in" filter="fade">
                                      <p:cBhvr>
                                        <p:cTn id="25" dur="500"/>
                                        <p:tgtEl>
                                          <p:spTgt spid="18">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xEl>
                                              <p:pRg st="2" end="2"/>
                                            </p:txEl>
                                          </p:spTgt>
                                        </p:tgtEl>
                                        <p:attrNameLst>
                                          <p:attrName>style.visibility</p:attrName>
                                        </p:attrNameLst>
                                      </p:cBhvr>
                                      <p:to>
                                        <p:strVal val="visible"/>
                                      </p:to>
                                    </p:set>
                                    <p:animEffect transition="in" filter="fade">
                                      <p:cBhvr>
                                        <p:cTn id="28" dur="500"/>
                                        <p:tgtEl>
                                          <p:spTgt spid="18">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xEl>
                                              <p:pRg st="3" end="3"/>
                                            </p:txEl>
                                          </p:spTgt>
                                        </p:tgtEl>
                                        <p:attrNameLst>
                                          <p:attrName>style.visibility</p:attrName>
                                        </p:attrNameLst>
                                      </p:cBhvr>
                                      <p:to>
                                        <p:strVal val="visible"/>
                                      </p:to>
                                    </p:set>
                                    <p:animEffect transition="in" filter="fade">
                                      <p:cBhvr>
                                        <p:cTn id="31" dur="500"/>
                                        <p:tgtEl>
                                          <p:spTgt spid="18">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8">
                                            <p:txEl>
                                              <p:pRg st="4" end="4"/>
                                            </p:txEl>
                                          </p:spTgt>
                                        </p:tgtEl>
                                        <p:attrNameLst>
                                          <p:attrName>style.visibility</p:attrName>
                                        </p:attrNameLst>
                                      </p:cBhvr>
                                      <p:to>
                                        <p:strVal val="visible"/>
                                      </p:to>
                                    </p:set>
                                    <p:animEffect transition="in" filter="fade">
                                      <p:cBhvr>
                                        <p:cTn id="34" dur="500"/>
                                        <p:tgtEl>
                                          <p:spTgt spid="18">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xEl>
                                              <p:pRg st="5" end="5"/>
                                            </p:txEl>
                                          </p:spTgt>
                                        </p:tgtEl>
                                        <p:attrNameLst>
                                          <p:attrName>style.visibility</p:attrName>
                                        </p:attrNameLst>
                                      </p:cBhvr>
                                      <p:to>
                                        <p:strVal val="visible"/>
                                      </p:to>
                                    </p:set>
                                    <p:animEffect transition="in" filter="fade">
                                      <p:cBhvr>
                                        <p:cTn id="37" dur="500"/>
                                        <p:tgtEl>
                                          <p:spTgt spid="18">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xEl>
                                              <p:pRg st="6" end="6"/>
                                            </p:txEl>
                                          </p:spTgt>
                                        </p:tgtEl>
                                        <p:attrNameLst>
                                          <p:attrName>style.visibility</p:attrName>
                                        </p:attrNameLst>
                                      </p:cBhvr>
                                      <p:to>
                                        <p:strVal val="visible"/>
                                      </p:to>
                                    </p:set>
                                    <p:animEffect transition="in" filter="fade">
                                      <p:cBhvr>
                                        <p:cTn id="40" dur="500"/>
                                        <p:tgtEl>
                                          <p:spTgt spid="18">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xEl>
                                              <p:pRg st="7" end="7"/>
                                            </p:txEl>
                                          </p:spTgt>
                                        </p:tgtEl>
                                        <p:attrNameLst>
                                          <p:attrName>style.visibility</p:attrName>
                                        </p:attrNameLst>
                                      </p:cBhvr>
                                      <p:to>
                                        <p:strVal val="visible"/>
                                      </p:to>
                                    </p:set>
                                    <p:animEffect transition="in" filter="fade">
                                      <p:cBhvr>
                                        <p:cTn id="45" dur="500"/>
                                        <p:tgtEl>
                                          <p:spTgt spid="18">
                                            <p:txEl>
                                              <p:pRg st="7" end="7"/>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xEl>
                                              <p:pRg st="8" end="8"/>
                                            </p:txEl>
                                          </p:spTgt>
                                        </p:tgtEl>
                                        <p:attrNameLst>
                                          <p:attrName>style.visibility</p:attrName>
                                        </p:attrNameLst>
                                      </p:cBhvr>
                                      <p:to>
                                        <p:strVal val="visible"/>
                                      </p:to>
                                    </p:set>
                                    <p:animEffect transition="in" filter="fade">
                                      <p:cBhvr>
                                        <p:cTn id="48" dur="500"/>
                                        <p:tgtEl>
                                          <p:spTgt spid="18">
                                            <p:txEl>
                                              <p:pRg st="8" end="8"/>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xEl>
                                              <p:pRg st="9" end="9"/>
                                            </p:txEl>
                                          </p:spTgt>
                                        </p:tgtEl>
                                        <p:attrNameLst>
                                          <p:attrName>style.visibility</p:attrName>
                                        </p:attrNameLst>
                                      </p:cBhvr>
                                      <p:to>
                                        <p:strVal val="visible"/>
                                      </p:to>
                                    </p:set>
                                    <p:animEffect transition="in" filter="fade">
                                      <p:cBhvr>
                                        <p:cTn id="51" dur="500"/>
                                        <p:tgtEl>
                                          <p:spTgt spid="1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bldLvl="0" animBg="1"/>
      <p:bldP spid="14" grpId="0" bldLvl="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70417" y="995829"/>
            <a:ext cx="9045901" cy="4787735"/>
          </a:xfrm>
          <a:prstGeom prst="rect">
            <a:avLst/>
          </a:prstGeom>
          <a:ln>
            <a:noFill/>
          </a:ln>
          <a:effectLst>
            <a:outerShdw blurRad="190500" algn="tl" rotWithShape="0">
              <a:srgbClr val="000000">
                <a:alpha val="70000"/>
              </a:srgbClr>
            </a:outerShdw>
          </a:effectLst>
        </p:spPr>
      </p:pic>
      <p:sp>
        <p:nvSpPr>
          <p:cNvPr id="24" name="矩形 39"/>
          <p:cNvSpPr>
            <a:spLocks noChangeArrowheads="1"/>
          </p:cNvSpPr>
          <p:nvPr/>
        </p:nvSpPr>
        <p:spPr bwMode="auto">
          <a:xfrm>
            <a:off x="1570417" y="536619"/>
            <a:ext cx="2839024"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高级定时器框图</a:t>
            </a:r>
            <a:endParaRPr lang="en-US" altLang="zh-CN" sz="2000" b="1" dirty="0">
              <a:solidFill>
                <a:srgbClr val="002060"/>
              </a:solidFill>
              <a:latin typeface="思源黑体 CN Bold" pitchFamily="34" charset="-122"/>
              <a:ea typeface="思源黑体 CN Bold" pitchFamily="34" charset="-122"/>
            </a:endParaRPr>
          </a:p>
        </p:txBody>
      </p:sp>
      <p:sp>
        <p:nvSpPr>
          <p:cNvPr id="33" name="矩形 32"/>
          <p:cNvSpPr/>
          <p:nvPr/>
        </p:nvSpPr>
        <p:spPr>
          <a:xfrm>
            <a:off x="8124190" y="995829"/>
            <a:ext cx="1701800" cy="858371"/>
          </a:xfrm>
          <a:prstGeom prst="rect">
            <a:avLst/>
          </a:prstGeom>
          <a:solidFill>
            <a:schemeClr val="accent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1572167" y="4885764"/>
            <a:ext cx="4521200" cy="897800"/>
          </a:xfrm>
          <a:prstGeom prst="rect">
            <a:avLst/>
          </a:prstGeom>
          <a:solidFill>
            <a:schemeClr val="accent2">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8124190" y="1854200"/>
            <a:ext cx="2492128" cy="3083485"/>
          </a:xfrm>
          <a:prstGeom prst="rect">
            <a:avLst/>
          </a:prstGeom>
          <a:solidFill>
            <a:schemeClr val="accent4">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728806" y="995829"/>
            <a:ext cx="2207921" cy="1203471"/>
          </a:xfrm>
          <a:prstGeom prst="rect">
            <a:avLst/>
          </a:prstGeom>
        </p:spPr>
        <p:txBody>
          <a:bodyPr wrap="square">
            <a:spAutoFit/>
          </a:bodyPr>
          <a:lstStyle/>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①</a:t>
            </a:r>
            <a:r>
              <a:rPr lang="zh-CN" altLang="en-US" sz="1600">
                <a:solidFill>
                  <a:srgbClr val="C00000"/>
                </a:solidFill>
                <a:latin typeface="思源黑体 CN Normal" panose="020B0400000000000000" pitchFamily="34" charset="-122"/>
                <a:ea typeface="思源黑体 CN Normal" panose="020B0400000000000000" pitchFamily="34" charset="-122"/>
              </a:rPr>
              <a:t>重复计数器</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②</a:t>
            </a:r>
            <a:r>
              <a:rPr lang="zh-CN" altLang="en-US" sz="1600">
                <a:solidFill>
                  <a:srgbClr val="C00000"/>
                </a:solidFill>
                <a:latin typeface="思源黑体 CN Normal" panose="020B0400000000000000" pitchFamily="34" charset="-122"/>
                <a:ea typeface="思源黑体 CN Normal" panose="020B0400000000000000" pitchFamily="34" charset="-122"/>
              </a:rPr>
              <a:t>输出比较</a:t>
            </a:r>
            <a:endParaRPr lang="en-US" altLang="zh-CN" sz="1600">
              <a:solidFill>
                <a:srgbClr val="C00000"/>
              </a:solidFill>
              <a:latin typeface="思源黑体 CN Normal" panose="020B0400000000000000" pitchFamily="34" charset="-122"/>
              <a:ea typeface="思源黑体 CN Normal" panose="020B0400000000000000" pitchFamily="34" charset="-122"/>
            </a:endParaRPr>
          </a:p>
          <a:p>
            <a:pPr>
              <a:lnSpc>
                <a:spcPct val="150000"/>
              </a:lnSpc>
            </a:pPr>
            <a:r>
              <a:rPr lang="zh-CN" altLang="en-US" sz="1600" b="1">
                <a:solidFill>
                  <a:srgbClr val="C00000"/>
                </a:solidFill>
                <a:latin typeface="思源黑体 CN Normal" panose="020B0400000000000000" pitchFamily="34" charset="-122"/>
                <a:ea typeface="思源黑体 CN Normal" panose="020B0400000000000000" pitchFamily="34" charset="-122"/>
              </a:rPr>
              <a:t>③</a:t>
            </a:r>
            <a:r>
              <a:rPr lang="zh-CN" altLang="en-US" sz="1600">
                <a:solidFill>
                  <a:srgbClr val="C00000"/>
                </a:solidFill>
                <a:latin typeface="思源黑体 CN Normal" panose="020B0400000000000000" pitchFamily="34" charset="-122"/>
                <a:ea typeface="思源黑体 CN Normal" panose="020B0400000000000000" pitchFamily="34" charset="-122"/>
              </a:rPr>
              <a:t>断路功能</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38" name="文本框 37"/>
          <p:cNvSpPr txBox="1"/>
          <p:nvPr/>
        </p:nvSpPr>
        <p:spPr>
          <a:xfrm>
            <a:off x="8168640" y="1074910"/>
            <a:ext cx="672653"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①</a:t>
            </a:r>
            <a:endParaRPr lang="zh-CN" altLang="en-US"/>
          </a:p>
        </p:txBody>
      </p:sp>
      <p:sp>
        <p:nvSpPr>
          <p:cNvPr id="39" name="文本框 38"/>
          <p:cNvSpPr txBox="1"/>
          <p:nvPr/>
        </p:nvSpPr>
        <p:spPr>
          <a:xfrm>
            <a:off x="8346440" y="4485654"/>
            <a:ext cx="806450" cy="369332"/>
          </a:xfrm>
          <a:prstGeom prst="rect">
            <a:avLst/>
          </a:prstGeom>
          <a:noFill/>
        </p:spPr>
        <p:txBody>
          <a:bodyPr wrap="square">
            <a:spAutoFit/>
          </a:bodyPr>
          <a:lstStyle/>
          <a:p>
            <a:r>
              <a:rPr lang="zh-CN" altLang="en-US" b="1">
                <a:solidFill>
                  <a:srgbClr val="C00000"/>
                </a:solidFill>
                <a:latin typeface="思源黑体 CN Normal" panose="020B0400000000000000" pitchFamily="34" charset="-122"/>
                <a:ea typeface="思源黑体 CN Normal" panose="020B0400000000000000" pitchFamily="34" charset="-122"/>
              </a:rPr>
              <a:t>②</a:t>
            </a:r>
            <a:endParaRPr lang="zh-CN" altLang="en-US"/>
          </a:p>
        </p:txBody>
      </p:sp>
      <p:sp>
        <p:nvSpPr>
          <p:cNvPr id="42" name="文本框 41"/>
          <p:cNvSpPr txBox="1"/>
          <p:nvPr/>
        </p:nvSpPr>
        <p:spPr>
          <a:xfrm>
            <a:off x="2529840" y="5334664"/>
            <a:ext cx="781050" cy="369332"/>
          </a:xfrm>
          <a:prstGeom prst="rect">
            <a:avLst/>
          </a:prstGeom>
          <a:noFill/>
        </p:spPr>
        <p:txBody>
          <a:bodyPr wrap="square">
            <a:spAutoFit/>
          </a:bodyPr>
          <a:lstStyle/>
          <a:p>
            <a:r>
              <a:rPr lang="zh-CN" altLang="en-US" sz="1800" b="1">
                <a:solidFill>
                  <a:srgbClr val="C00000"/>
                </a:solidFill>
                <a:latin typeface="思源黑体 CN Normal" panose="020B0400000000000000" pitchFamily="34" charset="-122"/>
                <a:ea typeface="思源黑体 CN Normal" panose="020B0400000000000000" pitchFamily="34" charset="-122"/>
              </a:rPr>
              <a:t>③</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7">
                                            <p:txEl>
                                              <p:pRg st="0" end="0"/>
                                            </p:txEl>
                                          </p:spTgt>
                                        </p:tgtEl>
                                        <p:attrNameLst>
                                          <p:attrName>style.visibility</p:attrName>
                                        </p:attrNameLst>
                                      </p:cBhvr>
                                      <p:to>
                                        <p:strVal val="visible"/>
                                      </p:to>
                                    </p:set>
                                    <p:animEffect transition="in" filter="fade">
                                      <p:cBhvr>
                                        <p:cTn id="20" dur="500"/>
                                        <p:tgtEl>
                                          <p:spTgt spid="3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7">
                                            <p:txEl>
                                              <p:pRg st="1" end="1"/>
                                            </p:txEl>
                                          </p:spTgt>
                                        </p:tgtEl>
                                        <p:attrNameLst>
                                          <p:attrName>style.visibility</p:attrName>
                                        </p:attrNameLst>
                                      </p:cBhvr>
                                      <p:to>
                                        <p:strVal val="visible"/>
                                      </p:to>
                                    </p:set>
                                    <p:animEffect transition="in" filter="fade">
                                      <p:cBhvr>
                                        <p:cTn id="33" dur="500"/>
                                        <p:tgtEl>
                                          <p:spTgt spid="3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7">
                                            <p:txEl>
                                              <p:pRg st="2" end="2"/>
                                            </p:txEl>
                                          </p:spTgt>
                                        </p:tgtEl>
                                        <p:attrNameLst>
                                          <p:attrName>style.visibility</p:attrName>
                                        </p:attrNameLst>
                                      </p:cBhvr>
                                      <p:to>
                                        <p:strVal val="visible"/>
                                      </p:to>
                                    </p:set>
                                    <p:animEffect transition="in" filter="fade">
                                      <p:cBhvr>
                                        <p:cTn id="46" dur="500"/>
                                        <p:tgtEl>
                                          <p:spTgt spid="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5" grpId="0" bldLvl="0" animBg="1"/>
      <p:bldP spid="36" grpId="0" bldLvl="0" animBg="1"/>
      <p:bldP spid="38" grpId="0"/>
      <p:bldP spid="39" grpId="0"/>
      <p:bldP spid="4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39"/>
          <p:cNvSpPr>
            <a:spLocks noChangeArrowheads="1"/>
          </p:cNvSpPr>
          <p:nvPr/>
        </p:nvSpPr>
        <p:spPr bwMode="auto">
          <a:xfrm>
            <a:off x="1717736" y="1471974"/>
            <a:ext cx="5895331"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互补输出，还带死区控制，什么意思？</a:t>
            </a:r>
            <a:endParaRPr lang="en-US" altLang="zh-CN" sz="2000" b="1" dirty="0">
              <a:solidFill>
                <a:srgbClr val="002060"/>
              </a:solidFill>
              <a:latin typeface="思源黑体 CN Bold" pitchFamily="34" charset="-122"/>
              <a:ea typeface="思源黑体 CN Bold" pitchFamily="34" charset="-122"/>
            </a:endParaRPr>
          </a:p>
        </p:txBody>
      </p:sp>
      <p:sp>
        <p:nvSpPr>
          <p:cNvPr id="15" name="矩形 14"/>
          <p:cNvSpPr/>
          <p:nvPr/>
        </p:nvSpPr>
        <p:spPr>
          <a:xfrm>
            <a:off x="3496038" y="4835229"/>
            <a:ext cx="1135395" cy="423386"/>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互补输出</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83221" y="2263479"/>
            <a:ext cx="3971925" cy="2571750"/>
          </a:xfrm>
          <a:prstGeom prst="rect">
            <a:avLst/>
          </a:prstGeom>
          <a:ln>
            <a:noFill/>
          </a:ln>
          <a:effectLst>
            <a:outerShdw blurRad="190500" algn="tl" rotWithShape="0">
              <a:srgbClr val="000000">
                <a:alpha val="70000"/>
              </a:srgbClr>
            </a:outerShdw>
          </a:effectLst>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1760" y="2263479"/>
            <a:ext cx="3897086" cy="2566831"/>
          </a:xfrm>
          <a:prstGeom prst="rect">
            <a:avLst/>
          </a:prstGeom>
          <a:ln>
            <a:noFill/>
          </a:ln>
          <a:effectLst>
            <a:outerShdw blurRad="190500" algn="tl" rotWithShape="0">
              <a:srgbClr val="000000">
                <a:alpha val="70000"/>
              </a:srgbClr>
            </a:outerShdw>
          </a:effectLst>
        </p:spPr>
      </p:pic>
      <p:sp>
        <p:nvSpPr>
          <p:cNvPr id="18" name="矩形 17"/>
          <p:cNvSpPr/>
          <p:nvPr/>
        </p:nvSpPr>
        <p:spPr>
          <a:xfrm>
            <a:off x="7074255" y="4854279"/>
            <a:ext cx="2365482" cy="423386"/>
          </a:xfrm>
          <a:prstGeom prst="rect">
            <a:avLst/>
          </a:prstGeom>
        </p:spPr>
        <p:txBody>
          <a:bodyPr wrap="square">
            <a:spAutoFit/>
          </a:bodyPr>
          <a:lstStyle/>
          <a:p>
            <a:pPr>
              <a:lnSpc>
                <a:spcPct val="150000"/>
              </a:lnSpc>
            </a:pPr>
            <a:r>
              <a:rPr lang="zh-CN" altLang="en-US" sz="1600">
                <a:solidFill>
                  <a:srgbClr val="002060"/>
                </a:solidFill>
                <a:latin typeface="思源黑体 CN Normal" panose="020B0400000000000000" pitchFamily="34" charset="-122"/>
                <a:ea typeface="思源黑体 CN Normal" panose="020B0400000000000000" pitchFamily="34" charset="-122"/>
              </a:rPr>
              <a:t>带死区控制的互补输出</a:t>
            </a:r>
            <a:endParaRPr lang="en-US" altLang="zh-CN" sz="1600">
              <a:solidFill>
                <a:srgbClr val="002060"/>
              </a:solidFill>
              <a:latin typeface="思源黑体 CN Normal" panose="020B0400000000000000" pitchFamily="34" charset="-122"/>
              <a:ea typeface="思源黑体 CN Normal" panose="020B0400000000000000" pitchFamily="34" charset="-122"/>
            </a:endParaRPr>
          </a:p>
        </p:txBody>
      </p:sp>
      <p:sp>
        <p:nvSpPr>
          <p:cNvPr id="21" name="矩形 20"/>
          <p:cNvSpPr/>
          <p:nvPr/>
        </p:nvSpPr>
        <p:spPr>
          <a:xfrm>
            <a:off x="1509676" y="3200179"/>
            <a:ext cx="673545" cy="423386"/>
          </a:xfrm>
          <a:prstGeom prst="rect">
            <a:avLst/>
          </a:prstGeom>
        </p:spPr>
        <p:txBody>
          <a:bodyPr wrap="square">
            <a:spAutoFit/>
          </a:bodyPr>
          <a:lstStyle/>
          <a:p>
            <a:pPr>
              <a:lnSpc>
                <a:spcPct val="150000"/>
              </a:lnSpc>
            </a:pPr>
            <a:r>
              <a:rPr lang="en-US" altLang="zh-CN" sz="1600">
                <a:solidFill>
                  <a:srgbClr val="C00000"/>
                </a:solidFill>
                <a:latin typeface="思源黑体 CN Normal" panose="020B0400000000000000" pitchFamily="34" charset="-122"/>
                <a:ea typeface="思源黑体 CN Normal" panose="020B0400000000000000" pitchFamily="34" charset="-122"/>
              </a:rPr>
              <a:t>OCx</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22" name="矩形 21"/>
          <p:cNvSpPr/>
          <p:nvPr/>
        </p:nvSpPr>
        <p:spPr>
          <a:xfrm>
            <a:off x="1509676" y="3806011"/>
            <a:ext cx="742034" cy="423386"/>
          </a:xfrm>
          <a:prstGeom prst="rect">
            <a:avLst/>
          </a:prstGeom>
        </p:spPr>
        <p:txBody>
          <a:bodyPr wrap="square">
            <a:spAutoFit/>
          </a:bodyPr>
          <a:lstStyle/>
          <a:p>
            <a:pPr>
              <a:lnSpc>
                <a:spcPct val="150000"/>
              </a:lnSpc>
            </a:pPr>
            <a:r>
              <a:rPr lang="en-US" altLang="zh-CN" sz="1600">
                <a:solidFill>
                  <a:srgbClr val="C00000"/>
                </a:solidFill>
                <a:latin typeface="思源黑体 CN Normal" panose="020B0400000000000000" pitchFamily="34" charset="-122"/>
                <a:ea typeface="思源黑体 CN Normal" panose="020B0400000000000000" pitchFamily="34" charset="-122"/>
              </a:rPr>
              <a:t>OCxN</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1" grpId="0"/>
      <p:bldP spid="2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1">
            <a:extLst>
              <a:ext uri="{28A0092B-C50C-407E-A947-70E740481C1C}">
                <a14:useLocalDpi xmlns:a14="http://schemas.microsoft.com/office/drawing/2010/main" val="0"/>
              </a:ext>
            </a:extLst>
          </a:blip>
          <a:srcRect l="968"/>
          <a:stretch>
            <a:fillRect/>
          </a:stretch>
        </p:blipFill>
        <p:spPr>
          <a:xfrm>
            <a:off x="4769427" y="2058443"/>
            <a:ext cx="3877580" cy="3171289"/>
          </a:xfrm>
          <a:prstGeom prst="rect">
            <a:avLst/>
          </a:prstGeom>
          <a:ln>
            <a:noFill/>
          </a:ln>
          <a:effectLst>
            <a:outerShdw blurRad="190500" algn="tl" rotWithShape="0">
              <a:srgbClr val="000000">
                <a:alpha val="70000"/>
              </a:srgbClr>
            </a:outerShdw>
          </a:effectLst>
        </p:spPr>
      </p:pic>
      <p:sp>
        <p:nvSpPr>
          <p:cNvPr id="24" name="矩形 39"/>
          <p:cNvSpPr>
            <a:spLocks noChangeArrowheads="1"/>
          </p:cNvSpPr>
          <p:nvPr/>
        </p:nvSpPr>
        <p:spPr bwMode="auto">
          <a:xfrm>
            <a:off x="2202876" y="1497374"/>
            <a:ext cx="5895331"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02" tIns="22851" rIns="45702" bIns="2285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2000" b="1">
                <a:solidFill>
                  <a:srgbClr val="002060"/>
                </a:solidFill>
                <a:latin typeface="思源黑体 CN Bold" pitchFamily="34" charset="-122"/>
                <a:ea typeface="思源黑体 CN Bold" pitchFamily="34" charset="-122"/>
              </a:rPr>
              <a:t>带死区控制的互补输出应用之</a:t>
            </a:r>
            <a:r>
              <a:rPr lang="en-US" altLang="zh-CN" sz="2000" b="1">
                <a:solidFill>
                  <a:srgbClr val="002060"/>
                </a:solidFill>
                <a:latin typeface="思源黑体 CN Bold" pitchFamily="34" charset="-122"/>
                <a:ea typeface="思源黑体 CN Bold" pitchFamily="34" charset="-122"/>
              </a:rPr>
              <a:t>H</a:t>
            </a:r>
            <a:r>
              <a:rPr lang="zh-CN" altLang="en-US" sz="2000" b="1">
                <a:solidFill>
                  <a:srgbClr val="002060"/>
                </a:solidFill>
                <a:latin typeface="思源黑体 CN Bold" pitchFamily="34" charset="-122"/>
                <a:ea typeface="思源黑体 CN Bold" pitchFamily="34" charset="-122"/>
              </a:rPr>
              <a:t>桥</a:t>
            </a:r>
            <a:endParaRPr lang="en-US" altLang="zh-CN" sz="2000" b="1" dirty="0">
              <a:solidFill>
                <a:srgbClr val="002060"/>
              </a:solidFill>
              <a:latin typeface="思源黑体 CN Bold" pitchFamily="34" charset="-122"/>
              <a:ea typeface="思源黑体 CN Bold" pitchFamily="34" charset="-122"/>
            </a:endParaRPr>
          </a:p>
        </p:txBody>
      </p:sp>
      <p:sp>
        <p:nvSpPr>
          <p:cNvPr id="13" name="矩形 12"/>
          <p:cNvSpPr/>
          <p:nvPr/>
        </p:nvSpPr>
        <p:spPr>
          <a:xfrm>
            <a:off x="5845394" y="3830327"/>
            <a:ext cx="1687754" cy="423386"/>
          </a:xfrm>
          <a:prstGeom prst="rect">
            <a:avLst/>
          </a:prstGeom>
        </p:spPr>
        <p:txBody>
          <a:bodyPr wrap="square">
            <a:spAutoFit/>
          </a:bodyPr>
          <a:lstStyle/>
          <a:p>
            <a:pPr>
              <a:lnSpc>
                <a:spcPct val="150000"/>
              </a:lnSpc>
            </a:pPr>
            <a:r>
              <a:rPr lang="zh-CN" altLang="en-US" sz="1600">
                <a:solidFill>
                  <a:srgbClr val="C00000"/>
                </a:solidFill>
                <a:latin typeface="思源黑体 CN Normal" panose="020B0400000000000000" pitchFamily="34" charset="-122"/>
                <a:ea typeface="思源黑体 CN Normal" panose="020B0400000000000000" pitchFamily="34" charset="-122"/>
              </a:rPr>
              <a:t>控制电机正反转</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16" name="矩形 15"/>
          <p:cNvSpPr/>
          <p:nvPr/>
        </p:nvSpPr>
        <p:spPr>
          <a:xfrm>
            <a:off x="4006869" y="2564185"/>
            <a:ext cx="673545" cy="423386"/>
          </a:xfrm>
          <a:prstGeom prst="rect">
            <a:avLst/>
          </a:prstGeom>
        </p:spPr>
        <p:txBody>
          <a:bodyPr wrap="square">
            <a:spAutoFit/>
          </a:bodyPr>
          <a:lstStyle/>
          <a:p>
            <a:pPr>
              <a:lnSpc>
                <a:spcPct val="150000"/>
              </a:lnSpc>
            </a:pPr>
            <a:r>
              <a:rPr lang="en-US" altLang="zh-CN" sz="1600" dirty="0">
                <a:solidFill>
                  <a:srgbClr val="C00000"/>
                </a:solidFill>
                <a:latin typeface="思源黑体 CN Normal" panose="020B0400000000000000" pitchFamily="34" charset="-122"/>
                <a:ea typeface="思源黑体 CN Normal" panose="020B0400000000000000" pitchFamily="34" charset="-122"/>
              </a:rPr>
              <a:t>OC1</a:t>
            </a:r>
            <a:endParaRPr lang="en-US" altLang="zh-CN" sz="1600" dirty="0">
              <a:solidFill>
                <a:srgbClr val="C00000"/>
              </a:solidFill>
              <a:latin typeface="思源黑体 CN Normal" panose="020B0400000000000000" pitchFamily="34" charset="-122"/>
              <a:ea typeface="思源黑体 CN Normal" panose="020B0400000000000000" pitchFamily="34" charset="-122"/>
            </a:endParaRPr>
          </a:p>
        </p:txBody>
      </p:sp>
      <p:sp>
        <p:nvSpPr>
          <p:cNvPr id="17" name="矩形 16"/>
          <p:cNvSpPr/>
          <p:nvPr/>
        </p:nvSpPr>
        <p:spPr>
          <a:xfrm>
            <a:off x="3893908" y="4010441"/>
            <a:ext cx="777739" cy="423386"/>
          </a:xfrm>
          <a:prstGeom prst="rect">
            <a:avLst/>
          </a:prstGeom>
        </p:spPr>
        <p:txBody>
          <a:bodyPr wrap="square">
            <a:spAutoFit/>
          </a:bodyPr>
          <a:lstStyle/>
          <a:p>
            <a:pPr>
              <a:lnSpc>
                <a:spcPct val="150000"/>
              </a:lnSpc>
            </a:pPr>
            <a:r>
              <a:rPr lang="en-US" altLang="zh-CN" sz="1600" dirty="0">
                <a:solidFill>
                  <a:srgbClr val="C00000"/>
                </a:solidFill>
                <a:latin typeface="思源黑体 CN Normal" panose="020B0400000000000000" pitchFamily="34" charset="-122"/>
                <a:ea typeface="思源黑体 CN Normal" panose="020B0400000000000000" pitchFamily="34" charset="-122"/>
              </a:rPr>
              <a:t>OC1N</a:t>
            </a:r>
            <a:endParaRPr lang="en-US" altLang="zh-CN" sz="1600" dirty="0">
              <a:solidFill>
                <a:srgbClr val="C00000"/>
              </a:solidFill>
              <a:latin typeface="思源黑体 CN Normal" panose="020B0400000000000000" pitchFamily="34" charset="-122"/>
              <a:ea typeface="思源黑体 CN Normal" panose="020B0400000000000000" pitchFamily="34" charset="-122"/>
            </a:endParaRPr>
          </a:p>
        </p:txBody>
      </p:sp>
      <p:sp>
        <p:nvSpPr>
          <p:cNvPr id="18" name="矩形 17"/>
          <p:cNvSpPr/>
          <p:nvPr/>
        </p:nvSpPr>
        <p:spPr>
          <a:xfrm>
            <a:off x="8698128" y="4012773"/>
            <a:ext cx="777739" cy="423386"/>
          </a:xfrm>
          <a:prstGeom prst="rect">
            <a:avLst/>
          </a:prstGeom>
        </p:spPr>
        <p:txBody>
          <a:bodyPr wrap="square">
            <a:spAutoFit/>
          </a:bodyPr>
          <a:lstStyle/>
          <a:p>
            <a:pPr>
              <a:lnSpc>
                <a:spcPct val="150000"/>
              </a:lnSpc>
            </a:pPr>
            <a:r>
              <a:rPr lang="en-US" altLang="zh-CN" sz="1600">
                <a:solidFill>
                  <a:srgbClr val="C00000"/>
                </a:solidFill>
                <a:latin typeface="思源黑体 CN Normal" panose="020B0400000000000000" pitchFamily="34" charset="-122"/>
                <a:ea typeface="思源黑体 CN Normal" panose="020B0400000000000000" pitchFamily="34" charset="-122"/>
              </a:rPr>
              <a:t>OC1</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20" name="矩形 19"/>
          <p:cNvSpPr/>
          <p:nvPr/>
        </p:nvSpPr>
        <p:spPr>
          <a:xfrm>
            <a:off x="8647007" y="2564185"/>
            <a:ext cx="879983" cy="423386"/>
          </a:xfrm>
          <a:prstGeom prst="rect">
            <a:avLst/>
          </a:prstGeom>
        </p:spPr>
        <p:txBody>
          <a:bodyPr wrap="square">
            <a:spAutoFit/>
          </a:bodyPr>
          <a:lstStyle/>
          <a:p>
            <a:pPr>
              <a:lnSpc>
                <a:spcPct val="150000"/>
              </a:lnSpc>
            </a:pPr>
            <a:r>
              <a:rPr lang="en-US" altLang="zh-CN" sz="1600">
                <a:solidFill>
                  <a:srgbClr val="C00000"/>
                </a:solidFill>
                <a:latin typeface="思源黑体 CN Normal" panose="020B0400000000000000" pitchFamily="34" charset="-122"/>
                <a:ea typeface="思源黑体 CN Normal" panose="020B0400000000000000" pitchFamily="34" charset="-122"/>
              </a:rPr>
              <a:t>OC1N</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
        <p:nvSpPr>
          <p:cNvPr id="22" name="矩形 21"/>
          <p:cNvSpPr/>
          <p:nvPr/>
        </p:nvSpPr>
        <p:spPr>
          <a:xfrm>
            <a:off x="4142014" y="5229732"/>
            <a:ext cx="5094515" cy="423386"/>
          </a:xfrm>
          <a:prstGeom prst="rect">
            <a:avLst/>
          </a:prstGeom>
        </p:spPr>
        <p:txBody>
          <a:bodyPr wrap="square">
            <a:spAutoFit/>
          </a:bodyPr>
          <a:lstStyle/>
          <a:p>
            <a:pPr>
              <a:lnSpc>
                <a:spcPct val="150000"/>
              </a:lnSpc>
            </a:pPr>
            <a:r>
              <a:rPr lang="zh-CN" altLang="en-US" sz="1600">
                <a:solidFill>
                  <a:srgbClr val="C00000"/>
                </a:solidFill>
                <a:latin typeface="思源黑体 CN Normal" panose="020B0400000000000000" pitchFamily="34" charset="-122"/>
                <a:ea typeface="思源黑体 CN Normal" panose="020B0400000000000000" pitchFamily="34" charset="-122"/>
              </a:rPr>
              <a:t>由于元器件是有延迟特性，所以需要加上死区时间控制</a:t>
            </a:r>
            <a:endParaRPr lang="en-US" altLang="zh-CN" sz="1600">
              <a:solidFill>
                <a:srgbClr val="C00000"/>
              </a:solidFill>
              <a:latin typeface="思源黑体 CN Normal" panose="020B0400000000000000" pitchFamily="34" charset="-122"/>
              <a:ea typeface="思源黑体 CN Normal" panose="020B0400000000000000"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20" grpId="0"/>
      <p:bldP spid="2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438275" y="786765"/>
            <a:ext cx="7790815" cy="5639435"/>
          </a:xfrm>
          <a:prstGeom prst="rect">
            <a:avLst/>
          </a:prstGeom>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75155" y="437515"/>
            <a:ext cx="8437880" cy="6584315"/>
          </a:xfrm>
          <a:prstGeom prst="rect">
            <a:avLst/>
          </a:prstGeom>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854960" y="354965"/>
            <a:ext cx="7518400" cy="6613525"/>
          </a:xfrm>
          <a:prstGeom prst="rect">
            <a:avLst/>
          </a:prstGeom>
        </p:spPr>
      </p:pic>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UNIT_TYPE" val="i"/>
  <p:tag name="KSO_WM_UNIT_INDEX" val="2"/>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30.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2"/>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9"/>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CATEGORY" val="custom"/>
  <p:tag name="KSO_WM_TEMPLATE_INDEX" val="2023098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340"/>
  <p:tag name="KSO_WM_UNIT_TYPE" val="f"/>
  <p:tag name="KSO_WM_UNIT_INDEX" val="1"/>
  <p:tag name="KSO_WM_TEMPLATE_CATEGORY" val="custom"/>
  <p:tag name="KSO_WM_TEMPLATE_INDEX" val="2023098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6.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0"/>
  <p:tag name="KSO_WM_TEMPLATE_THUMBS_INDEX" val="1、9"/>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92.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93.xml><?xml version="1.0" encoding="utf-8"?>
<p:tagLst xmlns:p="http://schemas.openxmlformats.org/presentationml/2006/main">
  <p:tag name="TABLE_ENDDRAG_ORIGIN_RECT" val="856*243"/>
  <p:tag name="TABLE_ENDDRAG_RECT" val="59*73*856*243"/>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9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9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0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0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05.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17.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18.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19.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20.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21.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22.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23.xml><?xml version="1.0" encoding="utf-8"?>
<p:tagLst xmlns:p="http://schemas.openxmlformats.org/presentationml/2006/main">
  <p:tag name="KSO_WM_DIAGRAM_VIRTUALLY_FRAME" val="{&quot;height&quot;:342.42496062992126,&quot;left&quot;:38.525039370078744,&quot;top&quot;:105.23755905511811,&quot;width&quot;:854.824960629921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35.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4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4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47.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5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55.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63.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164.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65.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66.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67.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68.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69.xml><?xml version="1.0" encoding="utf-8"?>
<p:tagLst xmlns:p="http://schemas.openxmlformats.org/presentationml/2006/main">
  <p:tag name="KSO_WM_DIAGRAM_VIRTUALLY_FRAME" val="{&quot;height&quot;:275.7558267716536,&quot;left&quot;:70.55732283464566,&quot;top&quot;:111.69133858267716,&quot;width&quot;:559.9849606299213}"/>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1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177.xml><?xml version="1.0" encoding="utf-8"?>
<p:tagLst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heme/theme1.xml><?xml version="1.0" encoding="utf-8"?>
<a:theme xmlns:a="http://schemas.openxmlformats.org/drawingml/2006/main" name="Default Design">
  <a:themeElements>
    <a:clrScheme name="WSU Brand HEX">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C0C0C0"/>
        </a:lt2>
        <a:accent1>
          <a:srgbClr val="CC0033"/>
        </a:accent1>
        <a:accent2>
          <a:srgbClr val="333399"/>
        </a:accent2>
        <a:accent3>
          <a:srgbClr val="FFFFFF"/>
        </a:accent3>
        <a:accent4>
          <a:srgbClr val="000000"/>
        </a:accent4>
        <a:accent5>
          <a:srgbClr val="E2AAA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C0C0C0"/>
        </a:lt2>
        <a:accent1>
          <a:srgbClr val="CC0033"/>
        </a:accent1>
        <a:accent2>
          <a:srgbClr val="000099"/>
        </a:accent2>
        <a:accent3>
          <a:srgbClr val="FFFFFF"/>
        </a:accent3>
        <a:accent4>
          <a:srgbClr val="000000"/>
        </a:accent4>
        <a:accent5>
          <a:srgbClr val="E2AAAD"/>
        </a:accent5>
        <a:accent6>
          <a:srgbClr val="00008A"/>
        </a:accent6>
        <a:hlink>
          <a:srgbClr val="009999"/>
        </a:hlink>
        <a:folHlink>
          <a:srgbClr val="33CC33"/>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00099"/>
        </a:dk2>
        <a:lt2>
          <a:srgbClr val="FFFFFF"/>
        </a:lt2>
        <a:accent1>
          <a:srgbClr val="CC0033"/>
        </a:accent1>
        <a:accent2>
          <a:srgbClr val="000099"/>
        </a:accent2>
        <a:accent3>
          <a:srgbClr val="AAA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
      <a:clrScheme name="Default Design 16">
        <a:dk1>
          <a:srgbClr val="000000"/>
        </a:dk1>
        <a:lt1>
          <a:srgbClr val="FFFFFF"/>
        </a:lt1>
        <a:dk2>
          <a:srgbClr val="009999"/>
        </a:dk2>
        <a:lt2>
          <a:srgbClr val="FFFFFF"/>
        </a:lt2>
        <a:accent1>
          <a:srgbClr val="CC0033"/>
        </a:accent1>
        <a:accent2>
          <a:srgbClr val="000099"/>
        </a:accent2>
        <a:accent3>
          <a:srgbClr val="AAC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WSU Brand HEX">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C0C0C0"/>
        </a:lt2>
        <a:accent1>
          <a:srgbClr val="CC0033"/>
        </a:accent1>
        <a:accent2>
          <a:srgbClr val="333399"/>
        </a:accent2>
        <a:accent3>
          <a:srgbClr val="FFFFFF"/>
        </a:accent3>
        <a:accent4>
          <a:srgbClr val="000000"/>
        </a:accent4>
        <a:accent5>
          <a:srgbClr val="E2AAA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C0C0C0"/>
        </a:lt2>
        <a:accent1>
          <a:srgbClr val="CC0033"/>
        </a:accent1>
        <a:accent2>
          <a:srgbClr val="000099"/>
        </a:accent2>
        <a:accent3>
          <a:srgbClr val="FFFFFF"/>
        </a:accent3>
        <a:accent4>
          <a:srgbClr val="000000"/>
        </a:accent4>
        <a:accent5>
          <a:srgbClr val="E2AAAD"/>
        </a:accent5>
        <a:accent6>
          <a:srgbClr val="00008A"/>
        </a:accent6>
        <a:hlink>
          <a:srgbClr val="009999"/>
        </a:hlink>
        <a:folHlink>
          <a:srgbClr val="33CC33"/>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00099"/>
        </a:dk2>
        <a:lt2>
          <a:srgbClr val="FFFFFF"/>
        </a:lt2>
        <a:accent1>
          <a:srgbClr val="CC0033"/>
        </a:accent1>
        <a:accent2>
          <a:srgbClr val="000099"/>
        </a:accent2>
        <a:accent3>
          <a:srgbClr val="AAA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
      <a:clrScheme name="Default Design 16">
        <a:dk1>
          <a:srgbClr val="000000"/>
        </a:dk1>
        <a:lt1>
          <a:srgbClr val="FFFFFF"/>
        </a:lt1>
        <a:dk2>
          <a:srgbClr val="009999"/>
        </a:dk2>
        <a:lt2>
          <a:srgbClr val="FFFFFF"/>
        </a:lt2>
        <a:accent1>
          <a:srgbClr val="CC0033"/>
        </a:accent1>
        <a:accent2>
          <a:srgbClr val="000099"/>
        </a:accent2>
        <a:accent3>
          <a:srgbClr val="AAC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主题字体">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lumMod val="75000"/>
          </a:schemeClr>
        </a:lnRef>
        <a:fillRef idx="1">
          <a:schemeClr val="accent1"/>
        </a:fillRef>
        <a:effectRef idx="0">
          <a:srgbClr val="FFFFFF"/>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accent1"/>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16034</Words>
  <Application>WPS 演示</Application>
  <PresentationFormat>自定义</PresentationFormat>
  <Paragraphs>1730</Paragraphs>
  <Slides>97</Slides>
  <Notes>0</Notes>
  <HiddenSlides>0</HiddenSlides>
  <MMClips>0</MMClips>
  <ScaleCrop>false</ScaleCrop>
  <HeadingPairs>
    <vt:vector size="8" baseType="variant">
      <vt:variant>
        <vt:lpstr>已用的字体</vt:lpstr>
      </vt:variant>
      <vt:variant>
        <vt:i4>25</vt:i4>
      </vt:variant>
      <vt:variant>
        <vt:lpstr>主题</vt:lpstr>
      </vt:variant>
      <vt:variant>
        <vt:i4>4</vt:i4>
      </vt:variant>
      <vt:variant>
        <vt:lpstr>嵌入 OLE 服务器</vt:lpstr>
      </vt:variant>
      <vt:variant>
        <vt:i4>1</vt:i4>
      </vt:variant>
      <vt:variant>
        <vt:lpstr>幻灯片标题</vt:lpstr>
      </vt:variant>
      <vt:variant>
        <vt:i4>97</vt:i4>
      </vt:variant>
    </vt:vector>
  </HeadingPairs>
  <TitlesOfParts>
    <vt:vector size="127" baseType="lpstr">
      <vt:lpstr>Arial</vt:lpstr>
      <vt:lpstr>宋体</vt:lpstr>
      <vt:lpstr>Wingdings</vt:lpstr>
      <vt:lpstr>Lucida Sans</vt:lpstr>
      <vt:lpstr>Lucida Sans Unicode</vt:lpstr>
      <vt:lpstr>Calibri</vt:lpstr>
      <vt:lpstr>微软雅黑</vt:lpstr>
      <vt:lpstr>Times New Roman</vt:lpstr>
      <vt:lpstr>冬青黑体简体中文 W6</vt:lpstr>
      <vt:lpstr>黑体</vt:lpstr>
      <vt:lpstr>仿宋</vt:lpstr>
      <vt:lpstr>Calibri</vt:lpstr>
      <vt:lpstr>Arial</vt:lpstr>
      <vt:lpstr>Arial Unicode MS</vt:lpstr>
      <vt:lpstr>思源黑体 CN Normal</vt:lpstr>
      <vt:lpstr>思源黑体 CN Bold</vt:lpstr>
      <vt:lpstr>Cambria Math</vt:lpstr>
      <vt:lpstr>思源黑体 CN Normal</vt:lpstr>
      <vt:lpstr>冬青黑体简体中文 W6</vt:lpstr>
      <vt:lpstr>思源黑体 CN Bold</vt:lpstr>
      <vt:lpstr>思源黑体 CN Normal</vt:lpstr>
      <vt:lpstr>Lucida Casual Regular</vt:lpstr>
      <vt:lpstr>华康黑体W12</vt:lpstr>
      <vt:lpstr>方正大黑体_GBK</vt:lpstr>
      <vt:lpstr>兰米黑体</vt:lpstr>
      <vt:lpstr>Default Design</vt:lpstr>
      <vt:lpstr>自定义设计方案</vt:lpstr>
      <vt:lpstr>1_Default Design</vt:lpstr>
      <vt:lpstr>Office 主题​​</vt:lpstr>
      <vt:lpstr>Visio.Drawing.15</vt:lpstr>
      <vt:lpstr>PowerPoint 演示文稿</vt:lpstr>
      <vt:lpstr>目录</vt:lpstr>
      <vt:lpstr>PowerPoint 演示文稿</vt:lpstr>
      <vt:lpstr>UART通讯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SPI通讯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I2C通讯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CAN通讯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ADC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DAC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TIMER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Washington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Marketing</dc:creator>
  <cp:lastModifiedBy>赵峰</cp:lastModifiedBy>
  <cp:revision>640</cp:revision>
  <cp:lastPrinted>2014-04-21T18:27:00Z</cp:lastPrinted>
  <dcterms:created xsi:type="dcterms:W3CDTF">2001-10-04T20:08:00Z</dcterms:created>
  <dcterms:modified xsi:type="dcterms:W3CDTF">2026-05-30T14:04:10Z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C3CCAF5F06344E72BC95475314ED453F_12</vt:lpwstr>
  </property>
  <property fmtid="{D5CDD505-2E9C-101B-9397-08002B2CF9AE}" pid="3" name="KSOProductBuildVer">
    <vt:lpwstr>2052-12.1.0.25225</vt:lpwstr>
  </property>
</Properties>
</file>