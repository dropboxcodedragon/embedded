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3.xml" ContentType="application/vnd.openxmlformats-officedocument.theme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theme/theme4.xml" ContentType="application/vnd.openxmlformats-officedocument.theme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heme/theme5.xml" ContentType="application/vnd.openxmlformats-officedocument.theme+xml"/>
  <Override PartName="/ppt/theme/theme6.xml" ContentType="application/vnd.openxmlformats-officedocument.theme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3" r:id="rId2"/>
    <p:sldMasterId id="2147483675" r:id="rId3"/>
    <p:sldMasterId id="2147483690" r:id="rId4"/>
  </p:sldMasterIdLst>
  <p:notesMasterIdLst>
    <p:notesMasterId r:id="rId143"/>
  </p:notesMasterIdLst>
  <p:handoutMasterIdLst>
    <p:handoutMasterId r:id="rId144"/>
  </p:handoutMasterIdLst>
  <p:sldIdLst>
    <p:sldId id="316" r:id="rId5"/>
    <p:sldId id="310" r:id="rId6"/>
    <p:sldId id="321" r:id="rId7"/>
    <p:sldId id="374" r:id="rId8"/>
    <p:sldId id="318" r:id="rId9"/>
    <p:sldId id="371" r:id="rId10"/>
    <p:sldId id="372" r:id="rId11"/>
    <p:sldId id="373" r:id="rId12"/>
    <p:sldId id="375" r:id="rId13"/>
    <p:sldId id="377" r:id="rId14"/>
    <p:sldId id="378" r:id="rId15"/>
    <p:sldId id="380" r:id="rId16"/>
    <p:sldId id="382" r:id="rId17"/>
    <p:sldId id="379" r:id="rId18"/>
    <p:sldId id="394" r:id="rId19"/>
    <p:sldId id="395" r:id="rId20"/>
    <p:sldId id="383" r:id="rId21"/>
    <p:sldId id="376" r:id="rId22"/>
    <p:sldId id="407" r:id="rId23"/>
    <p:sldId id="411" r:id="rId24"/>
    <p:sldId id="412" r:id="rId25"/>
    <p:sldId id="413" r:id="rId26"/>
    <p:sldId id="414" r:id="rId27"/>
    <p:sldId id="415" r:id="rId28"/>
    <p:sldId id="416" r:id="rId29"/>
    <p:sldId id="417" r:id="rId30"/>
    <p:sldId id="418" r:id="rId31"/>
    <p:sldId id="419" r:id="rId32"/>
    <p:sldId id="420" r:id="rId33"/>
    <p:sldId id="423" r:id="rId34"/>
    <p:sldId id="424" r:id="rId35"/>
    <p:sldId id="402" r:id="rId36"/>
    <p:sldId id="403" r:id="rId37"/>
    <p:sldId id="396" r:id="rId38"/>
    <p:sldId id="398" r:id="rId39"/>
    <p:sldId id="399" r:id="rId40"/>
    <p:sldId id="400" r:id="rId41"/>
    <p:sldId id="401" r:id="rId42"/>
    <p:sldId id="404" r:id="rId43"/>
    <p:sldId id="405" r:id="rId44"/>
    <p:sldId id="429" r:id="rId45"/>
    <p:sldId id="430" r:id="rId46"/>
    <p:sldId id="433" r:id="rId47"/>
    <p:sldId id="434" r:id="rId48"/>
    <p:sldId id="435" r:id="rId49"/>
    <p:sldId id="436" r:id="rId50"/>
    <p:sldId id="437" r:id="rId51"/>
    <p:sldId id="438" r:id="rId52"/>
    <p:sldId id="384" r:id="rId53"/>
    <p:sldId id="385" r:id="rId54"/>
    <p:sldId id="445" r:id="rId55"/>
    <p:sldId id="444" r:id="rId56"/>
    <p:sldId id="446" r:id="rId57"/>
    <p:sldId id="455" r:id="rId58"/>
    <p:sldId id="388" r:id="rId59"/>
    <p:sldId id="389" r:id="rId60"/>
    <p:sldId id="450" r:id="rId61"/>
    <p:sldId id="447" r:id="rId62"/>
    <p:sldId id="461" r:id="rId63"/>
    <p:sldId id="452" r:id="rId64"/>
    <p:sldId id="451" r:id="rId65"/>
    <p:sldId id="454" r:id="rId66"/>
    <p:sldId id="448" r:id="rId67"/>
    <p:sldId id="449" r:id="rId68"/>
    <p:sldId id="458" r:id="rId69"/>
    <p:sldId id="390" r:id="rId70"/>
    <p:sldId id="391" r:id="rId71"/>
    <p:sldId id="462" r:id="rId72"/>
    <p:sldId id="463" r:id="rId73"/>
    <p:sldId id="464" r:id="rId74"/>
    <p:sldId id="465" r:id="rId75"/>
    <p:sldId id="466" r:id="rId76"/>
    <p:sldId id="467" r:id="rId77"/>
    <p:sldId id="468" r:id="rId78"/>
    <p:sldId id="469" r:id="rId79"/>
    <p:sldId id="470" r:id="rId80"/>
    <p:sldId id="471" r:id="rId81"/>
    <p:sldId id="386" r:id="rId82"/>
    <p:sldId id="387" r:id="rId83"/>
    <p:sldId id="472" r:id="rId84"/>
    <p:sldId id="473" r:id="rId85"/>
    <p:sldId id="474" r:id="rId86"/>
    <p:sldId id="475" r:id="rId87"/>
    <p:sldId id="476" r:id="rId88"/>
    <p:sldId id="477" r:id="rId89"/>
    <p:sldId id="478" r:id="rId90"/>
    <p:sldId id="479" r:id="rId91"/>
    <p:sldId id="481" r:id="rId92"/>
    <p:sldId id="482" r:id="rId93"/>
    <p:sldId id="483" r:id="rId94"/>
    <p:sldId id="484" r:id="rId95"/>
    <p:sldId id="546" r:id="rId96"/>
    <p:sldId id="493" r:id="rId97"/>
    <p:sldId id="494" r:id="rId98"/>
    <p:sldId id="495" r:id="rId99"/>
    <p:sldId id="496" r:id="rId100"/>
    <p:sldId id="497" r:id="rId101"/>
    <p:sldId id="498" r:id="rId102"/>
    <p:sldId id="499" r:id="rId103"/>
    <p:sldId id="500" r:id="rId104"/>
    <p:sldId id="501" r:id="rId105"/>
    <p:sldId id="502" r:id="rId106"/>
    <p:sldId id="503" r:id="rId107"/>
    <p:sldId id="504" r:id="rId108"/>
    <p:sldId id="512" r:id="rId109"/>
    <p:sldId id="513" r:id="rId110"/>
    <p:sldId id="514" r:id="rId111"/>
    <p:sldId id="515" r:id="rId112"/>
    <p:sldId id="516" r:id="rId113"/>
    <p:sldId id="517" r:id="rId114"/>
    <p:sldId id="518" r:id="rId115"/>
    <p:sldId id="519" r:id="rId116"/>
    <p:sldId id="520" r:id="rId117"/>
    <p:sldId id="521" r:id="rId118"/>
    <p:sldId id="522" r:id="rId119"/>
    <p:sldId id="523" r:id="rId120"/>
    <p:sldId id="524" r:id="rId121"/>
    <p:sldId id="525" r:id="rId122"/>
    <p:sldId id="526" r:id="rId123"/>
    <p:sldId id="527" r:id="rId124"/>
    <p:sldId id="528" r:id="rId125"/>
    <p:sldId id="529" r:id="rId126"/>
    <p:sldId id="530" r:id="rId127"/>
    <p:sldId id="531" r:id="rId128"/>
    <p:sldId id="532" r:id="rId129"/>
    <p:sldId id="533" r:id="rId130"/>
    <p:sldId id="534" r:id="rId131"/>
    <p:sldId id="536" r:id="rId132"/>
    <p:sldId id="537" r:id="rId133"/>
    <p:sldId id="535" r:id="rId134"/>
    <p:sldId id="538" r:id="rId135"/>
    <p:sldId id="539" r:id="rId136"/>
    <p:sldId id="540" r:id="rId137"/>
    <p:sldId id="541" r:id="rId138"/>
    <p:sldId id="542" r:id="rId139"/>
    <p:sldId id="543" r:id="rId140"/>
    <p:sldId id="544" r:id="rId141"/>
    <p:sldId id="545" r:id="rId142"/>
  </p:sldIdLst>
  <p:sldSz cx="12187238" cy="7021513"/>
  <p:notesSz cx="9296400" cy="7010400"/>
  <p:defaultTextStyle>
    <a:defPPr>
      <a:defRPr lang="en-US"/>
    </a:defPPr>
    <a:lvl1pPr marL="0" lvl="0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614680" lvl="1" indent="-15748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1228725" lvl="2" indent="-314325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843405" lvl="3" indent="-471805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2457450" lvl="4" indent="-62865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lvl="5" indent="-62865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lvl="6" indent="-62865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lvl="7" indent="-62865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lvl="8" indent="-62865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61" userDrawn="1">
          <p15:clr>
            <a:srgbClr val="A4A3A4"/>
          </p15:clr>
        </p15:guide>
        <p15:guide id="2" orient="horz" pos="685" userDrawn="1">
          <p15:clr>
            <a:srgbClr val="A4A3A4"/>
          </p15:clr>
        </p15:guide>
        <p15:guide id="3" pos="2632" userDrawn="1">
          <p15:clr>
            <a:srgbClr val="A4A3A4"/>
          </p15:clr>
        </p15:guide>
        <p15:guide id="4" pos="5159" userDrawn="1">
          <p15:clr>
            <a:srgbClr val="A4A3A4"/>
          </p15:clr>
        </p15:guide>
        <p15:guide id="5" pos="343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作者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A4A6A"/>
    <a:srgbClr val="7A8287"/>
    <a:srgbClr val="717171"/>
    <a:srgbClr val="B30000"/>
    <a:srgbClr val="7E0000"/>
    <a:srgbClr val="9E0A26"/>
    <a:srgbClr val="0D9342"/>
    <a:srgbClr val="747474"/>
    <a:srgbClr val="7C7C7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807" autoAdjust="0"/>
    <p:restoredTop sz="97673"/>
  </p:normalViewPr>
  <p:slideViewPr>
    <p:cSldViewPr snapToGrid="0" showGuides="1">
      <p:cViewPr varScale="1">
        <p:scale>
          <a:sx n="90" d="100"/>
          <a:sy n="90" d="100"/>
        </p:scale>
        <p:origin x="567" y="51"/>
      </p:cViewPr>
      <p:guideLst>
        <p:guide orient="horz" pos="1561"/>
        <p:guide orient="horz" pos="685"/>
        <p:guide pos="2632"/>
        <p:guide pos="5159"/>
        <p:guide pos="343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 showFormatting="0">
    <p:cViewPr>
      <p:scale>
        <a:sx n="50" d="100"/>
        <a:sy n="50" d="100"/>
      </p:scale>
      <p:origin x="0" y="0"/>
    </p:cViewPr>
  </p:sorterViewPr>
  <p:gridSpacing cx="76198" cy="7619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63" Type="http://schemas.openxmlformats.org/officeDocument/2006/relationships/slide" Target="slides/slide59.xml"/><Relationship Id="rId84" Type="http://schemas.openxmlformats.org/officeDocument/2006/relationships/slide" Target="slides/slide80.xml"/><Relationship Id="rId138" Type="http://schemas.openxmlformats.org/officeDocument/2006/relationships/slide" Target="slides/slide134.xml"/><Relationship Id="rId107" Type="http://schemas.openxmlformats.org/officeDocument/2006/relationships/slide" Target="slides/slide103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53" Type="http://schemas.openxmlformats.org/officeDocument/2006/relationships/slide" Target="slides/slide49.xml"/><Relationship Id="rId74" Type="http://schemas.openxmlformats.org/officeDocument/2006/relationships/slide" Target="slides/slide70.xml"/><Relationship Id="rId128" Type="http://schemas.openxmlformats.org/officeDocument/2006/relationships/slide" Target="slides/slide124.xml"/><Relationship Id="rId149" Type="http://schemas.openxmlformats.org/officeDocument/2006/relationships/tableStyles" Target="tableStyles.xml"/><Relationship Id="rId5" Type="http://schemas.openxmlformats.org/officeDocument/2006/relationships/slide" Target="slides/slide1.xml"/><Relationship Id="rId95" Type="http://schemas.openxmlformats.org/officeDocument/2006/relationships/slide" Target="slides/slide91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18" Type="http://schemas.openxmlformats.org/officeDocument/2006/relationships/slide" Target="slides/slide114.xml"/><Relationship Id="rId134" Type="http://schemas.openxmlformats.org/officeDocument/2006/relationships/slide" Target="slides/slide130.xml"/><Relationship Id="rId139" Type="http://schemas.openxmlformats.org/officeDocument/2006/relationships/slide" Target="slides/slide135.xml"/><Relationship Id="rId80" Type="http://schemas.openxmlformats.org/officeDocument/2006/relationships/slide" Target="slides/slide76.xml"/><Relationship Id="rId85" Type="http://schemas.openxmlformats.org/officeDocument/2006/relationships/slide" Target="slides/slide81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08" Type="http://schemas.openxmlformats.org/officeDocument/2006/relationships/slide" Target="slides/slide104.xml"/><Relationship Id="rId124" Type="http://schemas.openxmlformats.org/officeDocument/2006/relationships/slide" Target="slides/slide120.xml"/><Relationship Id="rId129" Type="http://schemas.openxmlformats.org/officeDocument/2006/relationships/slide" Target="slides/slide125.xml"/><Relationship Id="rId54" Type="http://schemas.openxmlformats.org/officeDocument/2006/relationships/slide" Target="slides/slide50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91" Type="http://schemas.openxmlformats.org/officeDocument/2006/relationships/slide" Target="slides/slide87.xml"/><Relationship Id="rId96" Type="http://schemas.openxmlformats.org/officeDocument/2006/relationships/slide" Target="slides/slide92.xml"/><Relationship Id="rId140" Type="http://schemas.openxmlformats.org/officeDocument/2006/relationships/slide" Target="slides/slide136.xml"/><Relationship Id="rId145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119" Type="http://schemas.openxmlformats.org/officeDocument/2006/relationships/slide" Target="slides/slide115.xml"/><Relationship Id="rId44" Type="http://schemas.openxmlformats.org/officeDocument/2006/relationships/slide" Target="slides/slide40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81" Type="http://schemas.openxmlformats.org/officeDocument/2006/relationships/slide" Target="slides/slide77.xml"/><Relationship Id="rId86" Type="http://schemas.openxmlformats.org/officeDocument/2006/relationships/slide" Target="slides/slide82.xml"/><Relationship Id="rId130" Type="http://schemas.openxmlformats.org/officeDocument/2006/relationships/slide" Target="slides/slide126.xml"/><Relationship Id="rId135" Type="http://schemas.openxmlformats.org/officeDocument/2006/relationships/slide" Target="slides/slide131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109" Type="http://schemas.openxmlformats.org/officeDocument/2006/relationships/slide" Target="slides/slide10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97" Type="http://schemas.openxmlformats.org/officeDocument/2006/relationships/slide" Target="slides/slide93.xml"/><Relationship Id="rId104" Type="http://schemas.openxmlformats.org/officeDocument/2006/relationships/slide" Target="slides/slide100.xml"/><Relationship Id="rId120" Type="http://schemas.openxmlformats.org/officeDocument/2006/relationships/slide" Target="slides/slide116.xml"/><Relationship Id="rId125" Type="http://schemas.openxmlformats.org/officeDocument/2006/relationships/slide" Target="slides/slide121.xml"/><Relationship Id="rId141" Type="http://schemas.openxmlformats.org/officeDocument/2006/relationships/slide" Target="slides/slide137.xml"/><Relationship Id="rId146" Type="http://schemas.openxmlformats.org/officeDocument/2006/relationships/presProps" Target="presProps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115" Type="http://schemas.openxmlformats.org/officeDocument/2006/relationships/slide" Target="slides/slide111.xml"/><Relationship Id="rId131" Type="http://schemas.openxmlformats.org/officeDocument/2006/relationships/slide" Target="slides/slide127.xml"/><Relationship Id="rId136" Type="http://schemas.openxmlformats.org/officeDocument/2006/relationships/slide" Target="slides/slide132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56" Type="http://schemas.openxmlformats.org/officeDocument/2006/relationships/slide" Target="slides/slide52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147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142" Type="http://schemas.openxmlformats.org/officeDocument/2006/relationships/slide" Target="slides/slide138.xml"/><Relationship Id="rId3" Type="http://schemas.openxmlformats.org/officeDocument/2006/relationships/slideMaster" Target="slideMasters/slideMaster3.xml"/><Relationship Id="rId25" Type="http://schemas.openxmlformats.org/officeDocument/2006/relationships/slide" Target="slides/slide21.xml"/><Relationship Id="rId46" Type="http://schemas.openxmlformats.org/officeDocument/2006/relationships/slide" Target="slides/slide42.xml"/><Relationship Id="rId67" Type="http://schemas.openxmlformats.org/officeDocument/2006/relationships/slide" Target="slides/slide63.xml"/><Relationship Id="rId116" Type="http://schemas.openxmlformats.org/officeDocument/2006/relationships/slide" Target="slides/slide112.xml"/><Relationship Id="rId137" Type="http://schemas.openxmlformats.org/officeDocument/2006/relationships/slide" Target="slides/slide13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32" Type="http://schemas.openxmlformats.org/officeDocument/2006/relationships/slide" Target="slides/slide128.xml"/><Relationship Id="rId15" Type="http://schemas.openxmlformats.org/officeDocument/2006/relationships/slide" Target="slides/slide11.xml"/><Relationship Id="rId36" Type="http://schemas.openxmlformats.org/officeDocument/2006/relationships/slide" Target="slides/slide32.xml"/><Relationship Id="rId57" Type="http://schemas.openxmlformats.org/officeDocument/2006/relationships/slide" Target="slides/slide53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94" Type="http://schemas.openxmlformats.org/officeDocument/2006/relationships/slide" Target="slides/slide90.xml"/><Relationship Id="rId99" Type="http://schemas.openxmlformats.org/officeDocument/2006/relationships/slide" Target="slides/slide95.xml"/><Relationship Id="rId101" Type="http://schemas.openxmlformats.org/officeDocument/2006/relationships/slide" Target="slides/slide97.xml"/><Relationship Id="rId122" Type="http://schemas.openxmlformats.org/officeDocument/2006/relationships/slide" Target="slides/slide118.xml"/><Relationship Id="rId143" Type="http://schemas.openxmlformats.org/officeDocument/2006/relationships/notesMaster" Target="notesMasters/notesMaster1.xml"/><Relationship Id="rId148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47" Type="http://schemas.openxmlformats.org/officeDocument/2006/relationships/slide" Target="slides/slide43.xml"/><Relationship Id="rId68" Type="http://schemas.openxmlformats.org/officeDocument/2006/relationships/slide" Target="slides/slide64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33" Type="http://schemas.openxmlformats.org/officeDocument/2006/relationships/slide" Target="slides/slide129.xml"/><Relationship Id="rId16" Type="http://schemas.openxmlformats.org/officeDocument/2006/relationships/slide" Target="slides/slide12.xml"/><Relationship Id="rId37" Type="http://schemas.openxmlformats.org/officeDocument/2006/relationships/slide" Target="slides/slide33.xml"/><Relationship Id="rId58" Type="http://schemas.openxmlformats.org/officeDocument/2006/relationships/slide" Target="slides/slide54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slide" Target="slides/slide119.xml"/><Relationship Id="rId144" Type="http://schemas.openxmlformats.org/officeDocument/2006/relationships/handoutMaster" Target="handoutMasters/handoutMaster1.xml"/><Relationship Id="rId90" Type="http://schemas.openxmlformats.org/officeDocument/2006/relationships/slide" Target="slides/slide8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3886200" y="0"/>
            <a:ext cx="4376738" cy="34925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292" tIns="46146" rIns="92292" bIns="46146" numCol="1" anchor="t" anchorCtr="0" compatLnSpc="1"/>
          <a:lstStyle>
            <a:lvl1pPr defTabSz="922655" eaLnBrk="1" hangingPunct="1">
              <a:defRPr sz="1200">
                <a:latin typeface="Arial" panose="020B0604020202020204" pitchFamily="34" charset="0"/>
              </a:defRPr>
            </a:lvl1pPr>
          </a:lstStyle>
          <a:p>
            <a:pPr marL="0" marR="0" lvl="0" indent="0" algn="l" defTabSz="9226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529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8277225" y="0"/>
            <a:ext cx="1017588" cy="34925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292" tIns="46146" rIns="92292" bIns="46146" numCol="1" anchor="t" anchorCtr="0" compatLnSpc="1"/>
          <a:lstStyle>
            <a:lvl1pPr algn="r" defTabSz="922655" eaLnBrk="1" hangingPunct="1">
              <a:defRPr sz="1200">
                <a:latin typeface="Arial" panose="020B0604020202020204" pitchFamily="34" charset="0"/>
              </a:defRPr>
            </a:lvl1pPr>
          </a:lstStyle>
          <a:p>
            <a:pPr marL="0" marR="0" lvl="0" indent="0" algn="r" defTabSz="9226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F236681-7156-4480-AE64-29C68A5EE95B}" type="datetime1"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1/11/2026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530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6657975"/>
            <a:ext cx="4027488" cy="350838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292" tIns="46146" rIns="92292" bIns="46146" numCol="1" anchor="b" anchorCtr="0" compatLnSpc="1"/>
          <a:lstStyle>
            <a:lvl1pPr defTabSz="923925" eaLnBrk="1" hangingPunct="1">
              <a:defRPr sz="1200">
                <a:latin typeface="Arial" panose="020B0604020202020204" pitchFamily="34" charset="0"/>
              </a:defRPr>
            </a:lvl1pPr>
          </a:lstStyle>
          <a:p>
            <a:pPr marL="0" marR="0" lvl="0" indent="0" algn="l" defTabSz="92392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Template-WSU Hrz 201.ppt</a:t>
            </a:r>
          </a:p>
        </p:txBody>
      </p:sp>
      <p:sp>
        <p:nvSpPr>
          <p:cNvPr id="5530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265738" y="6657975"/>
            <a:ext cx="4029075" cy="350838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292" tIns="46146" rIns="92292" bIns="46146" numCol="1" anchor="b" anchorCtr="0" compatLnSpc="1"/>
          <a:lstStyle>
            <a:lvl1pPr algn="r" defTabSz="922655" eaLnBrk="1" hangingPunct="1">
              <a:defRPr sz="1200"/>
            </a:lvl1pPr>
          </a:lstStyle>
          <a:p>
            <a:pPr marL="0" marR="0" lvl="0" indent="0" algn="r" defTabSz="9226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CCA73A3-3EE7-4293-867F-9B8FBD0D7801}" type="slidenum"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‹#›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0" y="7938"/>
            <a:ext cx="3757613" cy="275590"/>
          </a:xfrm>
          <a:prstGeom prst="rect">
            <a:avLst/>
          </a:prstGeom>
          <a:noFill/>
        </p:spPr>
        <p:txBody>
          <a:bodyPr lIns="91650" tIns="45825" rIns="91650" bIns="45825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301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WASHINGTON STATE UNIVERSITY</a:t>
            </a:r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027488" cy="34925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292" tIns="46146" rIns="92292" bIns="46146" numCol="1" anchor="t" anchorCtr="0" compatLnSpc="1"/>
          <a:lstStyle>
            <a:lvl1pPr defTabSz="922655" eaLnBrk="1" hangingPunct="1">
              <a:defRPr sz="1200">
                <a:latin typeface="Arial" panose="020B0604020202020204" pitchFamily="34" charset="0"/>
              </a:defRPr>
            </a:lvl1pPr>
          </a:lstStyle>
          <a:p>
            <a:pPr marL="0" marR="0" lvl="0" indent="0" algn="l" defTabSz="9226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229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265738" y="0"/>
            <a:ext cx="4029075" cy="34925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292" tIns="46146" rIns="92292" bIns="46146" numCol="1" anchor="t" anchorCtr="0" compatLnSpc="1"/>
          <a:lstStyle>
            <a:lvl1pPr algn="r" defTabSz="922655" eaLnBrk="1" hangingPunct="1">
              <a:defRPr sz="1200">
                <a:latin typeface="Arial" panose="020B0604020202020204" pitchFamily="34" charset="0"/>
              </a:defRPr>
            </a:lvl1pPr>
          </a:lstStyle>
          <a:p>
            <a:pPr marL="0" marR="0" lvl="0" indent="0" algn="r" defTabSz="9226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8555C18-098B-43F1-AC78-45EDEB57A733}" type="datetime1"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1/11/2026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412" name="Rectangle 4"/>
          <p:cNvSpPr>
            <a:spLocks noGrp="1" noRot="1" noChangeAspect="1" noTextEdit="1"/>
          </p:cNvSpPr>
          <p:nvPr>
            <p:ph type="sldImg"/>
          </p:nvPr>
        </p:nvSpPr>
        <p:spPr>
          <a:xfrm>
            <a:off x="2370138" y="527050"/>
            <a:ext cx="4562475" cy="26289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1229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30275" y="3330575"/>
            <a:ext cx="7435850" cy="31527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292" tIns="46146" rIns="92292" bIns="46146" numCol="1" anchor="t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Click to edit Master text styles</a:t>
            </a:r>
          </a:p>
          <a:p>
            <a:pPr marL="61468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Second level</a:t>
            </a:r>
          </a:p>
          <a:p>
            <a:pPr marL="1228725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Third level</a:t>
            </a:r>
          </a:p>
          <a:p>
            <a:pPr marL="1843405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Fourth level</a:t>
            </a:r>
          </a:p>
          <a:p>
            <a:pPr marL="245745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Fifth level</a:t>
            </a:r>
          </a:p>
        </p:txBody>
      </p:sp>
      <p:sp>
        <p:nvSpPr>
          <p:cNvPr id="1229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657975"/>
            <a:ext cx="4027488" cy="350838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292" tIns="46146" rIns="92292" bIns="46146" numCol="1" anchor="b" anchorCtr="0" compatLnSpc="1"/>
          <a:lstStyle>
            <a:lvl1pPr defTabSz="923925" eaLnBrk="1" hangingPunct="1">
              <a:defRPr sz="1200">
                <a:latin typeface="Arial" panose="020B0604020202020204" pitchFamily="34" charset="0"/>
              </a:defRPr>
            </a:lvl1pPr>
          </a:lstStyle>
          <a:p>
            <a:pPr marL="0" marR="0" lvl="0" indent="0" algn="l" defTabSz="92392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Template-WSU Hrz 201.ppt</a:t>
            </a:r>
          </a:p>
        </p:txBody>
      </p:sp>
      <p:sp>
        <p:nvSpPr>
          <p:cNvPr id="1229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265738" y="6657975"/>
            <a:ext cx="4029075" cy="350838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292" tIns="46146" rIns="92292" bIns="46146" numCol="1" anchor="b" anchorCtr="0" compatLnSpc="1"/>
          <a:lstStyle>
            <a:lvl1pPr algn="r" defTabSz="922655" eaLnBrk="1" hangingPunct="1">
              <a:defRPr sz="1200"/>
            </a:lvl1pPr>
          </a:lstStyle>
          <a:p>
            <a:pPr marL="0" marR="0" lvl="0" indent="0" algn="r" defTabSz="9226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32BAE9E6-DFE7-48C6-84B7-49545C10A24D}" type="slidenum"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‹#›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/>
  <p:notesStyle>
    <a:lvl1pPr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614680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1228725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843405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2457450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3073400" algn="l" defTabSz="122936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88080" algn="l" defTabSz="122936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302760" algn="l" defTabSz="122936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917440" algn="l" defTabSz="122936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操作系统的本身是一个比较复杂的东西，任务的管理和调度实现的底层是很复杂和困难的。但是呢，我们一般都是把操作系统本身作为一个工具一个平台，我们的目的是使用它的功能而不是开发一个操作系统。</a:t>
            </a:r>
            <a:endParaRPr lang="en-US" altLang="zh-CN"/>
          </a:p>
          <a:p>
            <a:r>
              <a:rPr lang="zh-CN" altLang="zh-CN"/>
              <a:t>实际上真正能使用操作系统的人并不多，反而是跑裸机的占大多数，这也和产品的具体要求有关，很多简单的系统只需要裸机即可满足。</a:t>
            </a:r>
            <a:endParaRPr lang="en-US" altLang="zh-CN"/>
          </a:p>
          <a:p>
            <a:endParaRPr lang="en-US" altLang="zh-CN"/>
          </a:p>
        </p:txBody>
      </p:sp>
      <p:sp>
        <p:nvSpPr>
          <p:cNvPr id="4" name="日期占位符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226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8555C18-098B-43F1-AC78-45EDEB57A733}" type="datetime1"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1/11/2026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>
                <a:sym typeface="+mn-ea"/>
              </a:rPr>
              <a:t>FreeRTOS 的优点：小巧、支持多平台、功能模块化。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226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8555C18-098B-43F1-AC78-45EDEB57A733}" type="datetime1"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1/11/2026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>
                <a:sym typeface="+mn-ea"/>
              </a:rPr>
              <a:t>FreeRTOS 是开源的，下载后可以自由修改和使用。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226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8555C18-098B-43F1-AC78-45EDEB57A733}" type="datetime1"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1/11/2026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226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8555C18-098B-43F1-AC78-45EDEB57A733}" type="datetime1"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1/11/2026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226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8555C18-098B-43F1-AC78-45EDEB57A733}" type="datetime1">
              <a:rPr kumimoji="0" lang="en-US" altLang="zh-CN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1/11/2026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4.xml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7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tags" Target="../tags/tag13.xml"/><Relationship Id="rId2" Type="http://schemas.openxmlformats.org/officeDocument/2006/relationships/tags" Target="../tags/tag12.xml"/><Relationship Id="rId1" Type="http://schemas.openxmlformats.org/officeDocument/2006/relationships/tags" Target="../tags/tag11.xml"/><Relationship Id="rId5" Type="http://schemas.openxmlformats.org/officeDocument/2006/relationships/slideMaster" Target="../slideMasters/slideMaster3.xml"/><Relationship Id="rId4" Type="http://schemas.openxmlformats.org/officeDocument/2006/relationships/tags" Target="../tags/tag14.xml"/></Relationships>
</file>

<file path=ppt/slideLayouts/_rels/slideLayout41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4.xml"/><Relationship Id="rId3" Type="http://schemas.openxmlformats.org/officeDocument/2006/relationships/tags" Target="../tags/tag23.xml"/><Relationship Id="rId7" Type="http://schemas.openxmlformats.org/officeDocument/2006/relationships/tags" Target="../tags/tag27.xml"/><Relationship Id="rId2" Type="http://schemas.openxmlformats.org/officeDocument/2006/relationships/tags" Target="../tags/tag22.xml"/><Relationship Id="rId1" Type="http://schemas.openxmlformats.org/officeDocument/2006/relationships/tags" Target="../tags/tag21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9" Type="http://schemas.openxmlformats.org/officeDocument/2006/relationships/image" Target="../media/image7.png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tags" Target="../tags/tag30.xml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slideMaster" Target="../slideMasters/slideMaster4.xml"/><Relationship Id="rId5" Type="http://schemas.openxmlformats.org/officeDocument/2006/relationships/tags" Target="../tags/tag32.xml"/><Relationship Id="rId4" Type="http://schemas.openxmlformats.org/officeDocument/2006/relationships/tags" Target="../tags/tag31.xml"/></Relationships>
</file>

<file path=ppt/slideLayouts/_rels/slideLayout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35.xml"/><Relationship Id="rId7" Type="http://schemas.openxmlformats.org/officeDocument/2006/relationships/slideMaster" Target="../slideMasters/slideMaster4.xml"/><Relationship Id="rId2" Type="http://schemas.openxmlformats.org/officeDocument/2006/relationships/tags" Target="../tags/tag34.xml"/><Relationship Id="rId1" Type="http://schemas.openxmlformats.org/officeDocument/2006/relationships/tags" Target="../tags/tag33.xml"/><Relationship Id="rId6" Type="http://schemas.openxmlformats.org/officeDocument/2006/relationships/tags" Target="../tags/tag38.xml"/><Relationship Id="rId5" Type="http://schemas.openxmlformats.org/officeDocument/2006/relationships/tags" Target="../tags/tag37.xml"/><Relationship Id="rId4" Type="http://schemas.openxmlformats.org/officeDocument/2006/relationships/tags" Target="../tags/tag36.xml"/></Relationships>
</file>

<file path=ppt/slideLayouts/_rels/slideLayout44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4.xml"/><Relationship Id="rId3" Type="http://schemas.openxmlformats.org/officeDocument/2006/relationships/tags" Target="../tags/tag41.xml"/><Relationship Id="rId7" Type="http://schemas.openxmlformats.org/officeDocument/2006/relationships/tags" Target="../tags/tag45.xml"/><Relationship Id="rId2" Type="http://schemas.openxmlformats.org/officeDocument/2006/relationships/tags" Target="../tags/tag40.xml"/><Relationship Id="rId1" Type="http://schemas.openxmlformats.org/officeDocument/2006/relationships/tags" Target="../tags/tag39.xml"/><Relationship Id="rId6" Type="http://schemas.openxmlformats.org/officeDocument/2006/relationships/tags" Target="../tags/tag44.xml"/><Relationship Id="rId5" Type="http://schemas.openxmlformats.org/officeDocument/2006/relationships/tags" Target="../tags/tag43.xml"/><Relationship Id="rId4" Type="http://schemas.openxmlformats.org/officeDocument/2006/relationships/tags" Target="../tags/tag42.xml"/><Relationship Id="rId9" Type="http://schemas.openxmlformats.org/officeDocument/2006/relationships/image" Target="../media/image8.png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tags" Target="../tags/tag48.xml"/><Relationship Id="rId7" Type="http://schemas.openxmlformats.org/officeDocument/2006/relationships/slideMaster" Target="../slideMasters/slideMaster4.xml"/><Relationship Id="rId2" Type="http://schemas.openxmlformats.org/officeDocument/2006/relationships/tags" Target="../tags/tag47.xml"/><Relationship Id="rId1" Type="http://schemas.openxmlformats.org/officeDocument/2006/relationships/tags" Target="../tags/tag46.xml"/><Relationship Id="rId6" Type="http://schemas.openxmlformats.org/officeDocument/2006/relationships/tags" Target="../tags/tag51.xml"/><Relationship Id="rId5" Type="http://schemas.openxmlformats.org/officeDocument/2006/relationships/tags" Target="../tags/tag50.xml"/><Relationship Id="rId4" Type="http://schemas.openxmlformats.org/officeDocument/2006/relationships/tags" Target="../tags/tag49.xml"/></Relationships>
</file>

<file path=ppt/slideLayouts/_rels/slideLayout46.xml.rels><?xml version="1.0" encoding="UTF-8" standalone="yes"?>
<Relationships xmlns="http://schemas.openxmlformats.org/package/2006/relationships"><Relationship Id="rId8" Type="http://schemas.openxmlformats.org/officeDocument/2006/relationships/tags" Target="../tags/tag59.xml"/><Relationship Id="rId3" Type="http://schemas.openxmlformats.org/officeDocument/2006/relationships/tags" Target="../tags/tag54.xml"/><Relationship Id="rId7" Type="http://schemas.openxmlformats.org/officeDocument/2006/relationships/tags" Target="../tags/tag58.xml"/><Relationship Id="rId2" Type="http://schemas.openxmlformats.org/officeDocument/2006/relationships/tags" Target="../tags/tag53.xml"/><Relationship Id="rId1" Type="http://schemas.openxmlformats.org/officeDocument/2006/relationships/tags" Target="../tags/tag52.xml"/><Relationship Id="rId6" Type="http://schemas.openxmlformats.org/officeDocument/2006/relationships/tags" Target="../tags/tag57.xml"/><Relationship Id="rId5" Type="http://schemas.openxmlformats.org/officeDocument/2006/relationships/tags" Target="../tags/tag56.xml"/><Relationship Id="rId4" Type="http://schemas.openxmlformats.org/officeDocument/2006/relationships/tags" Target="../tags/tag55.xml"/><Relationship Id="rId9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tags" Target="../tags/tag62.xml"/><Relationship Id="rId2" Type="http://schemas.openxmlformats.org/officeDocument/2006/relationships/tags" Target="../tags/tag61.xml"/><Relationship Id="rId1" Type="http://schemas.openxmlformats.org/officeDocument/2006/relationships/tags" Target="../tags/tag60.xml"/><Relationship Id="rId5" Type="http://schemas.openxmlformats.org/officeDocument/2006/relationships/slideMaster" Target="../slideMasters/slideMaster4.xml"/><Relationship Id="rId4" Type="http://schemas.openxmlformats.org/officeDocument/2006/relationships/tags" Target="../tags/tag63.xml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tags" Target="../tags/tag64.xml"/><Relationship Id="rId4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tags" Target="../tags/tag69.xml"/><Relationship Id="rId2" Type="http://schemas.openxmlformats.org/officeDocument/2006/relationships/tags" Target="../tags/tag68.xml"/><Relationship Id="rId1" Type="http://schemas.openxmlformats.org/officeDocument/2006/relationships/tags" Target="../tags/tag67.xml"/><Relationship Id="rId5" Type="http://schemas.openxmlformats.org/officeDocument/2006/relationships/slideMaster" Target="../slideMasters/slideMaster4.xml"/><Relationship Id="rId4" Type="http://schemas.openxmlformats.org/officeDocument/2006/relationships/tags" Target="../tags/tag70.xml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tags" Target="../tags/tag73.xml"/><Relationship Id="rId2" Type="http://schemas.openxmlformats.org/officeDocument/2006/relationships/tags" Target="../tags/tag72.xml"/><Relationship Id="rId1" Type="http://schemas.openxmlformats.org/officeDocument/2006/relationships/tags" Target="../tags/tag71.xml"/><Relationship Id="rId6" Type="http://schemas.openxmlformats.org/officeDocument/2006/relationships/slideMaster" Target="../slideMasters/slideMaster4.xml"/><Relationship Id="rId5" Type="http://schemas.openxmlformats.org/officeDocument/2006/relationships/tags" Target="../tags/tag75.xml"/><Relationship Id="rId4" Type="http://schemas.openxmlformats.org/officeDocument/2006/relationships/tags" Target="../tags/tag74.xml"/></Relationships>
</file>

<file path=ppt/slideLayouts/_rels/slideLayout51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4.xml"/><Relationship Id="rId3" Type="http://schemas.openxmlformats.org/officeDocument/2006/relationships/tags" Target="../tags/tag78.xml"/><Relationship Id="rId7" Type="http://schemas.openxmlformats.org/officeDocument/2006/relationships/tags" Target="../tags/tag82.xml"/><Relationship Id="rId2" Type="http://schemas.openxmlformats.org/officeDocument/2006/relationships/tags" Target="../tags/tag77.xml"/><Relationship Id="rId1" Type="http://schemas.openxmlformats.org/officeDocument/2006/relationships/tags" Target="../tags/tag76.xml"/><Relationship Id="rId6" Type="http://schemas.openxmlformats.org/officeDocument/2006/relationships/tags" Target="../tags/tag81.xml"/><Relationship Id="rId5" Type="http://schemas.openxmlformats.org/officeDocument/2006/relationships/tags" Target="../tags/tag80.xml"/><Relationship Id="rId4" Type="http://schemas.openxmlformats.org/officeDocument/2006/relationships/tags" Target="../tags/tag79.xml"/><Relationship Id="rId9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 bwMode="gray">
          <a:xfrm flipH="1">
            <a:off x="0" y="0"/>
            <a:ext cx="646113" cy="7021513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tx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3079" name="Picture 11"/>
          <p:cNvPicPr>
            <a:picLocks noChangeAspect="1"/>
          </p:cNvPicPr>
          <p:nvPr userDrawn="1"/>
        </p:nvPicPr>
        <p:blipFill>
          <a:blip r:embed="rId2"/>
          <a:srcRect r="36736"/>
          <a:stretch>
            <a:fillRect/>
          </a:stretch>
        </p:blipFill>
        <p:spPr>
          <a:xfrm>
            <a:off x="-9525" y="0"/>
            <a:ext cx="12196763" cy="693738"/>
          </a:xfrm>
          <a:prstGeom prst="rect">
            <a:avLst/>
          </a:prstGeom>
          <a:solidFill>
            <a:srgbClr val="FF0000"/>
          </a:solidFill>
          <a:ln w="9525">
            <a:noFill/>
          </a:ln>
        </p:spPr>
      </p:pic>
      <p:sp>
        <p:nvSpPr>
          <p:cNvPr id="13" name="Rectangle 13"/>
          <p:cNvSpPr/>
          <p:nvPr/>
        </p:nvSpPr>
        <p:spPr bwMode="gray">
          <a:xfrm flipH="1">
            <a:off x="-9525" y="0"/>
            <a:ext cx="644525" cy="693738"/>
          </a:xfrm>
          <a:prstGeom prst="rect">
            <a:avLst/>
          </a:prstGeom>
          <a:gradFill>
            <a:gsLst>
              <a:gs pos="0">
                <a:schemeClr val="tx1">
                  <a:lumMod val="85000"/>
                </a:schemeClr>
              </a:gs>
              <a:gs pos="100000">
                <a:schemeClr val="tx1"/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3081" name="图片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8575" y="61913"/>
            <a:ext cx="568325" cy="569912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076" name="Rectangle 4"/>
          <p:cNvSpPr>
            <a:spLocks noGrp="1" noChangeArrowheads="1"/>
          </p:cNvSpPr>
          <p:nvPr>
            <p:ph type="ctrTitle"/>
          </p:nvPr>
        </p:nvSpPr>
        <p:spPr bwMode="invGray">
          <a:xfrm>
            <a:off x="645207" y="2304521"/>
            <a:ext cx="11542027" cy="579812"/>
          </a:xfrm>
        </p:spPr>
        <p:txBody>
          <a:bodyPr anchorCtr="0"/>
          <a:lstStyle>
            <a:lvl1pPr algn="ctr">
              <a:defRPr sz="3200">
                <a:solidFill>
                  <a:schemeClr val="bg2"/>
                </a:solidFill>
                <a:effectLst/>
              </a:defRPr>
            </a:lvl1pPr>
          </a:lstStyle>
          <a:p>
            <a:pPr fontAlgn="base"/>
            <a:r>
              <a:rPr lang="en-US" strike="noStrike" noProof="1"/>
              <a:t>Click to edit Master title style</a:t>
            </a:r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ubTitle" idx="1"/>
          </p:nvPr>
        </p:nvSpPr>
        <p:spPr bwMode="invGray">
          <a:xfrm>
            <a:off x="645205" y="3097375"/>
            <a:ext cx="11542029" cy="588214"/>
          </a:xfrm>
        </p:spPr>
        <p:txBody>
          <a:bodyPr rIns="0" anchorCtr="0"/>
          <a:lstStyle>
            <a:lvl1pPr marL="0" indent="0" algn="ctr">
              <a:buFont typeface="Arial" panose="020B0604020202020204" pitchFamily="34" charset="0"/>
              <a:buNone/>
              <a:defRPr sz="3000" b="0">
                <a:solidFill>
                  <a:schemeClr val="accent1"/>
                </a:solidFill>
                <a:effectLst/>
                <a:latin typeface="Lucida Sans" pitchFamily="34" charset="0"/>
              </a:defRPr>
            </a:lvl1pPr>
          </a:lstStyle>
          <a:p>
            <a:pPr fontAlgn="base"/>
            <a:r>
              <a:rPr lang="en-US" strike="noStrike" noProof="1"/>
              <a:t>Click to edit Master subtitle style</a:t>
            </a:r>
          </a:p>
        </p:txBody>
      </p:sp>
      <p:sp>
        <p:nvSpPr>
          <p:cNvPr id="15" name="Rectangle 6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34150"/>
            <a:ext cx="20669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6" name="Rectangle 7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754313" y="6534150"/>
            <a:ext cx="81311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1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7" name="Rectangle 8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888663" y="6534150"/>
            <a:ext cx="12985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1C31438-4DFE-43A2-9E78-3724DF25393C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 bwMode="gray">
          <a:xfrm rot="5400000" flipH="1">
            <a:off x="5771356" y="-5772944"/>
            <a:ext cx="644525" cy="12187238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tx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2" name="Rectangle 10"/>
          <p:cNvSpPr/>
          <p:nvPr/>
        </p:nvSpPr>
        <p:spPr bwMode="gray">
          <a:xfrm rot="5400000" flipH="1">
            <a:off x="6042025" y="-5399087"/>
            <a:ext cx="103188" cy="1218723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ctrTitle"/>
          </p:nvPr>
        </p:nvSpPr>
        <p:spPr bwMode="invGray">
          <a:xfrm>
            <a:off x="645207" y="2304521"/>
            <a:ext cx="11542027" cy="579812"/>
          </a:xfrm>
        </p:spPr>
        <p:txBody>
          <a:bodyPr anchorCtr="0"/>
          <a:lstStyle>
            <a:lvl1pPr algn="ctr">
              <a:defRPr sz="3200">
                <a:solidFill>
                  <a:schemeClr val="bg2"/>
                </a:solidFill>
                <a:effectLst/>
              </a:defRPr>
            </a:lvl1pPr>
          </a:lstStyle>
          <a:p>
            <a:pPr fontAlgn="base"/>
            <a:r>
              <a:rPr lang="en-US" strike="noStrike" noProof="1"/>
              <a:t>Click to edit Master title style</a:t>
            </a:r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ubTitle" idx="1"/>
          </p:nvPr>
        </p:nvSpPr>
        <p:spPr bwMode="invGray">
          <a:xfrm>
            <a:off x="645205" y="3097375"/>
            <a:ext cx="11542029" cy="588214"/>
          </a:xfrm>
        </p:spPr>
        <p:txBody>
          <a:bodyPr rIns="0" anchorCtr="0"/>
          <a:lstStyle>
            <a:lvl1pPr marL="0" indent="0" algn="ctr">
              <a:buFont typeface="Arial" panose="020B0604020202020204" pitchFamily="34" charset="0"/>
              <a:buNone/>
              <a:defRPr sz="3000" b="0">
                <a:solidFill>
                  <a:schemeClr val="accent1"/>
                </a:solidFill>
                <a:effectLst/>
                <a:latin typeface="Lucida Sans" pitchFamily="34" charset="0"/>
              </a:defRPr>
            </a:lvl1pPr>
          </a:lstStyle>
          <a:p>
            <a:pPr fontAlgn="base"/>
            <a:r>
              <a:rPr lang="en-US" strike="noStrike" noProof="1"/>
              <a:t>Click to edit Master subtitle style</a:t>
            </a:r>
          </a:p>
        </p:txBody>
      </p:sp>
      <p:sp>
        <p:nvSpPr>
          <p:cNvPr id="13" name="Rectangle 6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34150"/>
            <a:ext cx="20669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7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754313" y="6534150"/>
            <a:ext cx="81311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1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5" name="Rectangle 8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888663" y="6534150"/>
            <a:ext cx="12985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D388FB5-9160-4F34-A476-BD340846AC9E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 bwMode="gray">
          <a:xfrm rot="5400000" flipH="1">
            <a:off x="5107781" y="-5107781"/>
            <a:ext cx="1971675" cy="12187238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tx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2" name="Rectangle 10"/>
          <p:cNvSpPr/>
          <p:nvPr/>
        </p:nvSpPr>
        <p:spPr bwMode="gray">
          <a:xfrm rot="5400000" flipH="1">
            <a:off x="6042025" y="-4070350"/>
            <a:ext cx="103188" cy="1218723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5128" name="图片 1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223625" y="257175"/>
            <a:ext cx="728663" cy="728663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4" name="Rectangle 6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34150"/>
            <a:ext cx="20669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5" name="Rectangle 8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888663" y="6534150"/>
            <a:ext cx="12985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2B26C6D9-AAF1-4BF0-937E-892E43D18C84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" name="页脚占位符 1"/>
          <p:cNvSpPr>
            <a:spLocks noGrp="1"/>
          </p:cNvSpPr>
          <p:nvPr>
            <p:ph type="ftr" sz="quarter" idx="10"/>
          </p:nvPr>
        </p:nvSpPr>
        <p:spPr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 bwMode="gray">
          <a:xfrm rot="5400000" flipH="1">
            <a:off x="4691063" y="-3157537"/>
            <a:ext cx="2805113" cy="12187238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tx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2" name="Rectangle 10"/>
          <p:cNvSpPr/>
          <p:nvPr/>
        </p:nvSpPr>
        <p:spPr bwMode="gray">
          <a:xfrm rot="5400000" flipH="1">
            <a:off x="6042025" y="-1703387"/>
            <a:ext cx="103188" cy="1218723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6152" name="图片 1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223625" y="257175"/>
            <a:ext cx="728663" cy="728663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5FD804A-F784-4013-AD92-560D09364ABB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Title Slide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 bwMode="gray">
          <a:xfrm rot="5400000" flipH="1">
            <a:off x="5145088" y="-20637"/>
            <a:ext cx="1897063" cy="12187238"/>
          </a:xfrm>
          <a:prstGeom prst="rect">
            <a:avLst/>
          </a:prstGeom>
          <a:gradFill flip="none" rotWithShape="1">
            <a:gsLst>
              <a:gs pos="0">
                <a:srgbClr val="C00000"/>
              </a:gs>
              <a:gs pos="100000">
                <a:srgbClr val="9E0A26"/>
              </a:gs>
            </a:gsLst>
            <a:lin ang="10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2" name="Rectangle 10"/>
          <p:cNvSpPr/>
          <p:nvPr/>
        </p:nvSpPr>
        <p:spPr bwMode="gray">
          <a:xfrm rot="5400000" flipH="1">
            <a:off x="5991225" y="-1066800"/>
            <a:ext cx="204788" cy="1218723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ctrTitle"/>
          </p:nvPr>
        </p:nvSpPr>
        <p:spPr bwMode="invGray">
          <a:xfrm>
            <a:off x="645207" y="2304521"/>
            <a:ext cx="11542027" cy="579812"/>
          </a:xfrm>
        </p:spPr>
        <p:txBody>
          <a:bodyPr anchorCtr="0"/>
          <a:lstStyle>
            <a:lvl1pPr algn="ctr">
              <a:defRPr sz="3200">
                <a:solidFill>
                  <a:schemeClr val="bg2"/>
                </a:solidFill>
                <a:effectLst/>
              </a:defRPr>
            </a:lvl1pPr>
          </a:lstStyle>
          <a:p>
            <a:pPr fontAlgn="base"/>
            <a:r>
              <a:rPr lang="en-US" strike="noStrike" noProof="1"/>
              <a:t>Click to edit Master title style</a:t>
            </a:r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ubTitle" idx="1"/>
          </p:nvPr>
        </p:nvSpPr>
        <p:spPr bwMode="invGray">
          <a:xfrm>
            <a:off x="645205" y="3097375"/>
            <a:ext cx="11542029" cy="588214"/>
          </a:xfrm>
        </p:spPr>
        <p:txBody>
          <a:bodyPr rIns="0" anchorCtr="0"/>
          <a:lstStyle>
            <a:lvl1pPr marL="0" indent="0" algn="ctr">
              <a:buFont typeface="Arial" panose="020B0604020202020204" pitchFamily="34" charset="0"/>
              <a:buNone/>
              <a:defRPr sz="3000" b="0">
                <a:solidFill>
                  <a:schemeClr val="accent1"/>
                </a:solidFill>
                <a:effectLst/>
                <a:latin typeface="Lucida Sans" pitchFamily="34" charset="0"/>
              </a:defRPr>
            </a:lvl1pPr>
          </a:lstStyle>
          <a:p>
            <a:pPr fontAlgn="base"/>
            <a:r>
              <a:rPr lang="en-US" strike="noStrike" noProof="1"/>
              <a:t>Click to edit Master subtitle style</a:t>
            </a:r>
          </a:p>
        </p:txBody>
      </p:sp>
      <p:sp>
        <p:nvSpPr>
          <p:cNvPr id="13" name="Rectangle 6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34150"/>
            <a:ext cx="20669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7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754313" y="6534150"/>
            <a:ext cx="81311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1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5" name="Rectangle 8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888663" y="6534150"/>
            <a:ext cx="12985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CF970104-7198-4BD1-AC36-68873D2D364E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8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5448" y="1404676"/>
            <a:ext cx="11531790" cy="579812"/>
          </a:xfrm>
        </p:spPr>
        <p:txBody>
          <a:bodyPr/>
          <a:lstStyle>
            <a:lvl1pPr>
              <a:defRPr sz="3200">
                <a:latin typeface="Lucida Sans" pitchFamily="34" charset="0"/>
              </a:defRPr>
            </a:lvl1pPr>
          </a:lstStyle>
          <a:p>
            <a:pPr fontAlgn="base"/>
            <a:r>
              <a:rPr lang="en-US" strike="noStrike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41767" y="2341682"/>
            <a:ext cx="10359152" cy="2155714"/>
          </a:xfrm>
        </p:spPr>
        <p:txBody>
          <a:bodyPr lIns="614660" rIns="614660"/>
          <a:lstStyle>
            <a:lvl1pPr marL="462915" indent="-241300">
              <a:spcBef>
                <a:spcPts val="1615"/>
              </a:spcBef>
              <a:buSzPct val="100000"/>
              <a:buFont typeface="Arial" panose="020B0604020202020204" pitchFamily="34" charset="0"/>
              <a:buChar char="•"/>
              <a:defRPr sz="2700" b="0"/>
            </a:lvl1pPr>
            <a:lvl2pPr marL="685165" indent="-222250">
              <a:spcBef>
                <a:spcPts val="540"/>
              </a:spcBef>
              <a:buSzPct val="75000"/>
              <a:buFont typeface="Lucida Sans" pitchFamily="34" charset="0"/>
              <a:buChar char="–"/>
              <a:defRPr sz="2700"/>
            </a:lvl2pPr>
            <a:lvl3pPr marL="1069340" indent="-295275">
              <a:spcBef>
                <a:spcPts val="540"/>
              </a:spcBef>
              <a:buSzPct val="100000"/>
              <a:buFont typeface="Arial" panose="020B0604020202020204" pitchFamily="34" charset="0"/>
              <a:buChar char="•"/>
              <a:defRPr sz="2200"/>
            </a:lvl3pPr>
            <a:lvl4pPr marL="1229360" indent="-222250">
              <a:spcBef>
                <a:spcPts val="540"/>
              </a:spcBef>
              <a:buSzPct val="100000"/>
              <a:buFont typeface="Lucida Sans" pitchFamily="34" charset="0"/>
              <a:buChar char="–"/>
              <a:defRPr sz="2200"/>
            </a:lvl4pPr>
            <a:lvl5pPr marL="1450975" indent="-222250">
              <a:spcBef>
                <a:spcPts val="540"/>
              </a:spcBef>
              <a:buSzPct val="100000"/>
              <a:buFont typeface="Arial" panose="020B0604020202020204" pitchFamily="34" charset="0"/>
              <a:buChar char="•"/>
              <a:defRPr sz="2200"/>
            </a:lvl5pPr>
          </a:lstStyle>
          <a:p>
            <a:pPr lvl="0" fontAlgn="base"/>
            <a:r>
              <a:rPr lang="en-US" strike="noStrike" noProof="1"/>
              <a:t>Click to edit Master text styles</a:t>
            </a:r>
          </a:p>
          <a:p>
            <a:pPr lvl="1" fontAlgn="base"/>
            <a:r>
              <a:rPr lang="en-US" strike="noStrike" noProof="1"/>
              <a:t>Second level</a:t>
            </a:r>
          </a:p>
          <a:p>
            <a:pPr lvl="2" fontAlgn="base"/>
            <a:r>
              <a:rPr lang="en-US" strike="noStrike" noProof="1"/>
              <a:t>Third level</a:t>
            </a:r>
          </a:p>
          <a:p>
            <a:pPr lvl="3" fontAlgn="base"/>
            <a:r>
              <a:rPr lang="en-US" strike="noStrike" noProof="1"/>
              <a:t>Fourth level</a:t>
            </a:r>
          </a:p>
          <a:p>
            <a:pPr lvl="4" fontAlgn="base"/>
            <a:r>
              <a:rPr lang="en-US" strike="noStrike" noProof="1"/>
              <a:t>Fifth level</a:t>
            </a:r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81250" y="7516813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9ADA95E-ED9E-482F-ABFD-6CE64A2D4A2B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22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7" name="Rectangle 4"/>
          <p:cNvSpPr>
            <a:spLocks noGrp="1" noChangeArrowheads="1"/>
          </p:cNvSpPr>
          <p:nvPr>
            <p:ph type="ctrTitle"/>
          </p:nvPr>
        </p:nvSpPr>
        <p:spPr>
          <a:xfrm>
            <a:off x="655448" y="864757"/>
            <a:ext cx="11531790" cy="630230"/>
          </a:xfrm>
        </p:spPr>
        <p:txBody>
          <a:bodyPr/>
          <a:lstStyle>
            <a:lvl1pPr algn="ctr">
              <a:lnSpc>
                <a:spcPct val="100000"/>
              </a:lnSpc>
              <a:defRPr sz="3200">
                <a:solidFill>
                  <a:schemeClr val="bg2"/>
                </a:solidFill>
                <a:effectLst/>
              </a:defRPr>
            </a:lvl1pPr>
          </a:lstStyle>
          <a:p>
            <a:pPr fontAlgn="base"/>
            <a:r>
              <a:rPr lang="en-US" strike="noStrike" noProof="1"/>
              <a:t>Click to edit Master title style</a:t>
            </a:r>
          </a:p>
        </p:txBody>
      </p:sp>
      <p:sp>
        <p:nvSpPr>
          <p:cNvPr id="8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655448" y="1532366"/>
            <a:ext cx="11531790" cy="588214"/>
          </a:xfrm>
        </p:spPr>
        <p:txBody>
          <a:bodyPr rIns="0"/>
          <a:lstStyle>
            <a:lvl1pPr marL="0" indent="0" algn="ctr">
              <a:buFontTx/>
              <a:buNone/>
              <a:defRPr sz="3000" b="0">
                <a:solidFill>
                  <a:schemeClr val="accent1"/>
                </a:solidFill>
                <a:effectLst/>
                <a:latin typeface="Lucida Sans" pitchFamily="34" charset="0"/>
              </a:defRPr>
            </a:lvl1pPr>
          </a:lstStyle>
          <a:p>
            <a:pPr fontAlgn="base"/>
            <a:r>
              <a:rPr lang="en-US" strike="noStrike" noProof="1"/>
              <a:t>Click to edit Master subtitle style</a:t>
            </a:r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E4A2AC8-C6EE-4E10-A998-D15131537773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" name="页脚占位符 1"/>
          <p:cNvSpPr>
            <a:spLocks noGrp="1"/>
          </p:cNvSpPr>
          <p:nvPr>
            <p:ph type="ftr" sz="quarter" idx="10"/>
          </p:nvPr>
        </p:nvSpPr>
        <p:spPr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6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5208" y="1476597"/>
            <a:ext cx="11542033" cy="579812"/>
          </a:xfrm>
        </p:spPr>
        <p:txBody>
          <a:bodyPr/>
          <a:lstStyle/>
          <a:p>
            <a:pPr fontAlgn="base"/>
            <a:r>
              <a:rPr lang="en-US" strike="noStrike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67057" y="2330051"/>
            <a:ext cx="5334344" cy="2815025"/>
          </a:xfrm>
        </p:spPr>
        <p:txBody>
          <a:bodyPr anchorCtr="0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700" b="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200" dirty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</a:p>
          <a:p>
            <a:pPr lvl="1" fontAlgn="base"/>
            <a:r>
              <a:rPr lang="en-US" strike="noStrike" noProof="1"/>
              <a:t>Second level</a:t>
            </a:r>
          </a:p>
          <a:p>
            <a:pPr lvl="2" fontAlgn="base"/>
            <a:r>
              <a:rPr lang="en-US" strike="noStrike" noProof="1"/>
              <a:t>Third level</a:t>
            </a:r>
          </a:p>
          <a:p>
            <a:pPr lvl="3" fontAlgn="base"/>
            <a:r>
              <a:rPr lang="en-US" strike="noStrike" noProof="1"/>
              <a:t>Fourth level</a:t>
            </a:r>
          </a:p>
          <a:p>
            <a:pPr lvl="4" fontAlgn="base"/>
            <a:r>
              <a:rPr lang="en-US" strike="noStrike" noProof="1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4518" y="2330051"/>
            <a:ext cx="5291197" cy="2815025"/>
          </a:xfrm>
        </p:spPr>
        <p:txBody>
          <a:bodyPr anchorCtr="0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700" b="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200" dirty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</a:p>
          <a:p>
            <a:pPr lvl="1" fontAlgn="base"/>
            <a:r>
              <a:rPr lang="en-US" strike="noStrike" noProof="1"/>
              <a:t>Second level</a:t>
            </a:r>
          </a:p>
          <a:p>
            <a:pPr lvl="2" fontAlgn="base"/>
            <a:r>
              <a:rPr lang="en-US" strike="noStrike" noProof="1"/>
              <a:t>Third level</a:t>
            </a:r>
          </a:p>
          <a:p>
            <a:pPr lvl="3" fontAlgn="base"/>
            <a:r>
              <a:rPr lang="en-US" strike="noStrike" noProof="1"/>
              <a:t>Fourth level</a:t>
            </a:r>
          </a:p>
          <a:p>
            <a:pPr lvl="4" fontAlgn="base"/>
            <a:r>
              <a:rPr lang="en-US" strike="noStrike" noProof="1"/>
              <a:t>Fifth level</a:t>
            </a:r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1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67A510D-99EA-450F-A733-49970FAE03E3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70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362" y="1245917"/>
            <a:ext cx="11577876" cy="579812"/>
          </a:xfrm>
        </p:spPr>
        <p:txBody>
          <a:bodyPr/>
          <a:lstStyle>
            <a:lvl1pPr>
              <a:defRPr/>
            </a:lvl1pPr>
          </a:lstStyle>
          <a:p>
            <a:pPr fontAlgn="base"/>
            <a:r>
              <a:rPr lang="en-US" strike="noStrike" noProof="1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6605" y="2092378"/>
            <a:ext cx="5384813" cy="504184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614680" indent="0">
              <a:buNone/>
              <a:defRPr sz="2700" b="1"/>
            </a:lvl2pPr>
            <a:lvl3pPr marL="1229360" indent="0">
              <a:buNone/>
              <a:defRPr sz="2400" b="1"/>
            </a:lvl3pPr>
            <a:lvl4pPr marL="1844040" indent="0">
              <a:buNone/>
              <a:defRPr sz="2200" b="1"/>
            </a:lvl4pPr>
            <a:lvl5pPr marL="2458720" indent="0">
              <a:buNone/>
              <a:defRPr sz="2200" b="1"/>
            </a:lvl5pPr>
            <a:lvl6pPr marL="3073400" indent="0">
              <a:buNone/>
              <a:defRPr sz="2200" b="1"/>
            </a:lvl6pPr>
            <a:lvl7pPr marL="3688080" indent="0">
              <a:buNone/>
              <a:defRPr sz="2200" b="1"/>
            </a:lvl7pPr>
            <a:lvl8pPr marL="4302760" indent="0">
              <a:buNone/>
              <a:defRPr sz="2200" b="1"/>
            </a:lvl8pPr>
            <a:lvl9pPr marL="4917440" indent="0">
              <a:buNone/>
              <a:defRPr sz="2200" b="1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6603" y="2683987"/>
            <a:ext cx="5384813" cy="1827666"/>
          </a:xfrm>
        </p:spPr>
        <p:txBody>
          <a:bodyPr/>
          <a:lstStyle>
            <a:lvl1pPr>
              <a:defRPr lang="en-US" sz="2400" b="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1pPr>
            <a:lvl2pPr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2pPr>
            <a:lvl3pPr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3pPr>
            <a:lvl4pPr>
              <a:defRPr lang="en-US" sz="19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4pPr>
            <a:lvl5pPr>
              <a:defRPr lang="en-US" sz="1900" dirty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</a:p>
          <a:p>
            <a:pPr lvl="1" fontAlgn="base"/>
            <a:r>
              <a:rPr lang="en-US" strike="noStrike" noProof="1"/>
              <a:t>Second level</a:t>
            </a:r>
          </a:p>
          <a:p>
            <a:pPr lvl="2" fontAlgn="base"/>
            <a:r>
              <a:rPr lang="en-US" strike="noStrike" noProof="1"/>
              <a:t>Third level</a:t>
            </a:r>
          </a:p>
          <a:p>
            <a:pPr lvl="3" fontAlgn="base"/>
            <a:r>
              <a:rPr lang="en-US" strike="noStrike" noProof="1"/>
              <a:t>Fourth level</a:t>
            </a:r>
          </a:p>
          <a:p>
            <a:pPr lvl="4" fontAlgn="base"/>
            <a:r>
              <a:rPr lang="en-US" strike="noStrike" noProof="1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98192" y="2092378"/>
            <a:ext cx="5386928" cy="504184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614680" indent="0">
              <a:buNone/>
              <a:defRPr sz="2700" b="1"/>
            </a:lvl2pPr>
            <a:lvl3pPr marL="1229360" indent="0">
              <a:buNone/>
              <a:defRPr sz="2400" b="1"/>
            </a:lvl3pPr>
            <a:lvl4pPr marL="1844040" indent="0">
              <a:buNone/>
              <a:defRPr sz="2200" b="1"/>
            </a:lvl4pPr>
            <a:lvl5pPr marL="2458720" indent="0">
              <a:buNone/>
              <a:defRPr sz="2200" b="1"/>
            </a:lvl5pPr>
            <a:lvl6pPr marL="3073400" indent="0">
              <a:buNone/>
              <a:defRPr sz="2200" b="1"/>
            </a:lvl6pPr>
            <a:lvl7pPr marL="3688080" indent="0">
              <a:buNone/>
              <a:defRPr sz="2200" b="1"/>
            </a:lvl7pPr>
            <a:lvl8pPr marL="4302760" indent="0">
              <a:buNone/>
              <a:defRPr sz="2200" b="1"/>
            </a:lvl8pPr>
            <a:lvl9pPr marL="4917440" indent="0">
              <a:buNone/>
              <a:defRPr sz="2200" b="1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98191" y="2683987"/>
            <a:ext cx="5386928" cy="1827666"/>
          </a:xfrm>
        </p:spPr>
        <p:txBody>
          <a:bodyPr/>
          <a:lstStyle>
            <a:lvl1pPr>
              <a:defRPr lang="en-US" sz="2400" b="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1pPr>
            <a:lvl2pPr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2pPr>
            <a:lvl3pPr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3pPr>
            <a:lvl4pPr>
              <a:defRPr lang="en-US" sz="19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4pPr>
            <a:lvl5pPr>
              <a:defRPr lang="en-US" sz="1900" dirty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</a:p>
          <a:p>
            <a:pPr lvl="1" fontAlgn="base"/>
            <a:r>
              <a:rPr lang="en-US" strike="noStrike" noProof="1"/>
              <a:t>Second level</a:t>
            </a:r>
          </a:p>
          <a:p>
            <a:pPr lvl="2" fontAlgn="base"/>
            <a:r>
              <a:rPr lang="en-US" strike="noStrike" noProof="1"/>
              <a:t>Third level</a:t>
            </a:r>
          </a:p>
          <a:p>
            <a:pPr lvl="3" fontAlgn="base"/>
            <a:r>
              <a:rPr lang="en-US" strike="noStrike" noProof="1"/>
              <a:t>Fourth level</a:t>
            </a:r>
          </a:p>
          <a:p>
            <a:pPr lvl="4" fontAlgn="base"/>
            <a:r>
              <a:rPr lang="en-US" strike="noStrike" noProof="1"/>
              <a:t>Fifth level</a:t>
            </a:r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1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1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1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1436D3D-CAEA-4384-88C1-9AC1E84A4E98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4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4724" y="2042479"/>
            <a:ext cx="11562514" cy="579812"/>
          </a:xfrm>
        </p:spPr>
        <p:txBody>
          <a:bodyPr/>
          <a:lstStyle/>
          <a:p>
            <a:pPr fontAlgn="base"/>
            <a:r>
              <a:rPr lang="en-US" strike="noStrike" noProof="1"/>
              <a:t>Click to edit Master title style</a:t>
            </a:r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70F4618-6A8D-4B87-BA21-9E1344F61FFC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8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2" name="Rectangle 4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625664E-C931-454D-B62B-E550BCDD2E89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42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365" y="804272"/>
            <a:ext cx="4009517" cy="1260460"/>
          </a:xfrm>
        </p:spPr>
        <p:txBody>
          <a:bodyPr/>
          <a:lstStyle>
            <a:lvl1pPr algn="l">
              <a:defRPr sz="2700" b="1"/>
            </a:lvl1pPr>
          </a:lstStyle>
          <a:p>
            <a:pPr fontAlgn="base"/>
            <a:r>
              <a:rPr lang="en-US" strike="noStrike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4873" y="1402991"/>
            <a:ext cx="6813006" cy="2483104"/>
          </a:xfrm>
        </p:spPr>
        <p:txBody>
          <a:bodyPr/>
          <a:lstStyle>
            <a:lvl1pPr marL="222250" indent="-222250">
              <a:buSzPct val="125000"/>
              <a:buFont typeface="Arial" panose="020B0604020202020204" pitchFamily="34" charset="0"/>
              <a:buChar char="•"/>
              <a:defRPr lang="en-US" sz="3200" b="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1pPr>
            <a:lvl2pPr marL="614680" indent="-222250" defTabSz="1229360">
              <a:buSzPct val="125000"/>
              <a:buFont typeface="Arial" panose="020B0604020202020204" pitchFamily="34" charset="0"/>
              <a:buChar char="•"/>
              <a:defRPr lang="en-US" sz="30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2pPr>
            <a:lvl3pPr>
              <a:buSzPct val="125000"/>
              <a:buFont typeface="Arial" panose="020B0604020202020204" pitchFamily="34" charset="0"/>
              <a:buChar char="•"/>
              <a:defRPr lang="en-US" sz="30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3pPr>
            <a:lvl4pPr marL="1310640" indent="-243205">
              <a:buSzPct val="125000"/>
              <a:buFont typeface="Arial" panose="020B0604020202020204" pitchFamily="34" charset="0"/>
              <a:buChar char="•"/>
              <a:defRPr lang="en-US" sz="27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4pPr>
            <a:lvl5pPr>
              <a:buSzPct val="125000"/>
              <a:buFont typeface="Arial" panose="020B0604020202020204" pitchFamily="34" charset="0"/>
              <a:buChar char="•"/>
              <a:defRPr lang="en-US" sz="2700" dirty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5pPr>
            <a:lvl6pPr>
              <a:defRPr sz="2700"/>
            </a:lvl6pPr>
            <a:lvl7pPr>
              <a:defRPr sz="2700"/>
            </a:lvl7pPr>
            <a:lvl8pPr>
              <a:defRPr sz="2700"/>
            </a:lvl8pPr>
            <a:lvl9pPr>
              <a:defRPr sz="2700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</a:p>
          <a:p>
            <a:pPr lvl="1" fontAlgn="base"/>
            <a:r>
              <a:rPr lang="en-US" strike="noStrike" noProof="1"/>
              <a:t>Second level</a:t>
            </a:r>
          </a:p>
          <a:p>
            <a:pPr lvl="2" fontAlgn="base"/>
            <a:r>
              <a:rPr lang="en-US" strike="noStrike" noProof="1"/>
              <a:t>Third level</a:t>
            </a:r>
          </a:p>
          <a:p>
            <a:pPr lvl="3" fontAlgn="base"/>
            <a:r>
              <a:rPr lang="en-US" strike="noStrike" noProof="1"/>
              <a:t>Fourth level</a:t>
            </a:r>
          </a:p>
          <a:p>
            <a:pPr lvl="4" fontAlgn="base"/>
            <a:r>
              <a:rPr lang="en-US" strike="noStrike" noProof="1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365" y="2592747"/>
            <a:ext cx="4009517" cy="420154"/>
          </a:xfrm>
        </p:spPr>
        <p:txBody>
          <a:bodyPr/>
          <a:lstStyle>
            <a:lvl1pPr marL="0" indent="0">
              <a:buNone/>
              <a:defRPr sz="1900"/>
            </a:lvl1pPr>
            <a:lvl2pPr marL="614680" indent="0">
              <a:buNone/>
              <a:defRPr sz="1600"/>
            </a:lvl2pPr>
            <a:lvl3pPr marL="1229360" indent="0">
              <a:buNone/>
              <a:defRPr sz="1300"/>
            </a:lvl3pPr>
            <a:lvl4pPr marL="1844040" indent="0">
              <a:buNone/>
              <a:defRPr sz="1200"/>
            </a:lvl4pPr>
            <a:lvl5pPr marL="2458720" indent="0">
              <a:buNone/>
              <a:defRPr sz="1200"/>
            </a:lvl5pPr>
            <a:lvl6pPr marL="3073400" indent="0">
              <a:buNone/>
              <a:defRPr sz="1200"/>
            </a:lvl6pPr>
            <a:lvl7pPr marL="3688080" indent="0">
              <a:buNone/>
              <a:defRPr sz="1200"/>
            </a:lvl7pPr>
            <a:lvl8pPr marL="4302760" indent="0">
              <a:buNone/>
              <a:defRPr sz="1200"/>
            </a:lvl8pPr>
            <a:lvl9pPr marL="4917440" indent="0">
              <a:buNone/>
              <a:defRPr sz="1200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1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D201577E-4725-42A5-AEB8-A6992A795B0C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66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8784" y="5426260"/>
            <a:ext cx="7312343" cy="504184"/>
          </a:xfrm>
        </p:spPr>
        <p:txBody>
          <a:bodyPr/>
          <a:lstStyle>
            <a:lvl1pPr algn="l">
              <a:defRPr sz="2700" b="1"/>
            </a:lvl1pPr>
          </a:lstStyle>
          <a:p>
            <a:pPr fontAlgn="base"/>
            <a:r>
              <a:rPr lang="en-US" strike="noStrike" noProof="1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8784" y="1221672"/>
            <a:ext cx="7312343" cy="798290"/>
          </a:xfrm>
        </p:spPr>
        <p:txBody>
          <a:bodyPr vert="horz" wrap="square" lIns="122932" tIns="61466" rIns="122932" bIns="61466" numCol="1" anchor="t" anchorCtr="1" compatLnSpc="1">
            <a:spAutoFit/>
          </a:bodyPr>
          <a:lstStyle>
            <a:lvl1pPr marL="0" indent="0">
              <a:buNone/>
              <a:defRPr sz="4300"/>
            </a:lvl1pPr>
            <a:lvl2pPr marL="614680" indent="0">
              <a:buNone/>
              <a:defRPr sz="3800"/>
            </a:lvl2pPr>
            <a:lvl3pPr marL="1229360" indent="0">
              <a:buNone/>
              <a:defRPr sz="3200"/>
            </a:lvl3pPr>
            <a:lvl4pPr marL="1844040" indent="0">
              <a:buNone/>
              <a:defRPr sz="2700"/>
            </a:lvl4pPr>
            <a:lvl5pPr marL="2458720" indent="0">
              <a:buNone/>
              <a:defRPr sz="2700"/>
            </a:lvl5pPr>
            <a:lvl6pPr marL="3073400" indent="0">
              <a:buNone/>
              <a:defRPr sz="2700"/>
            </a:lvl6pPr>
            <a:lvl7pPr marL="3688080" indent="0">
              <a:buNone/>
              <a:defRPr sz="2700"/>
            </a:lvl7pPr>
            <a:lvl8pPr marL="4302760" indent="0">
              <a:buNone/>
              <a:defRPr sz="2700"/>
            </a:lvl8pPr>
            <a:lvl9pPr marL="4917440" indent="0">
              <a:buNone/>
              <a:defRPr sz="27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5000"/>
              </a:spcBef>
              <a:spcAft>
                <a:spcPct val="0"/>
              </a:spcAft>
              <a:buClr>
                <a:srgbClr val="C60C30"/>
              </a:buClr>
              <a:buSzPct val="100000"/>
              <a:buFont typeface="Arial" panose="020B0604020202020204" pitchFamily="34" charset="0"/>
              <a:buNone/>
              <a:defRPr/>
            </a:pPr>
            <a:endParaRPr kumimoji="0" lang="en-US" sz="4300" b="0" i="0" u="none" strike="noStrike" kern="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Lucida Sans" pitchFamily="34" charset="0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8784" y="6006682"/>
            <a:ext cx="7312343" cy="420154"/>
          </a:xfrm>
        </p:spPr>
        <p:txBody>
          <a:bodyPr/>
          <a:lstStyle>
            <a:lvl1pPr marL="0" indent="0">
              <a:buNone/>
              <a:defRPr sz="1900"/>
            </a:lvl1pPr>
            <a:lvl2pPr marL="614680" indent="0">
              <a:buNone/>
              <a:defRPr sz="1600"/>
            </a:lvl2pPr>
            <a:lvl3pPr marL="1229360" indent="0">
              <a:buNone/>
              <a:defRPr sz="1300"/>
            </a:lvl3pPr>
            <a:lvl4pPr marL="1844040" indent="0">
              <a:buNone/>
              <a:defRPr sz="1200"/>
            </a:lvl4pPr>
            <a:lvl5pPr marL="2458720" indent="0">
              <a:buNone/>
              <a:defRPr sz="1200"/>
            </a:lvl5pPr>
            <a:lvl6pPr marL="3073400" indent="0">
              <a:buNone/>
              <a:defRPr sz="1200"/>
            </a:lvl6pPr>
            <a:lvl7pPr marL="3688080" indent="0">
              <a:buNone/>
              <a:defRPr sz="1200"/>
            </a:lvl7pPr>
            <a:lvl8pPr marL="4302760" indent="0">
              <a:buNone/>
              <a:defRPr sz="1200"/>
            </a:lvl8pPr>
            <a:lvl9pPr marL="4917440" indent="0">
              <a:buNone/>
              <a:defRPr sz="1200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1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A44C1F32-AE4F-4177-AF49-BDA05C8112D2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2026/1/11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  <p:sp>
        <p:nvSpPr>
          <p:cNvPr id="6" name="标题 5"/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  <p:transition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 6"/>
          <p:cNvSpPr/>
          <p:nvPr>
            <p:custDataLst>
              <p:tags r:id="rId1"/>
            </p:custDataLst>
          </p:nvPr>
        </p:nvSpPr>
        <p:spPr bwMode="auto">
          <a:xfrm>
            <a:off x="837260" y="3395387"/>
            <a:ext cx="3970477" cy="3522330"/>
          </a:xfrm>
          <a:custGeom>
            <a:avLst/>
            <a:gdLst>
              <a:gd name="T0" fmla="*/ 1557 w 2458"/>
              <a:gd name="T1" fmla="*/ 0 h 2180"/>
              <a:gd name="T2" fmla="*/ 1529 w 2458"/>
              <a:gd name="T3" fmla="*/ 0 h 2180"/>
              <a:gd name="T4" fmla="*/ 618 w 2458"/>
              <a:gd name="T5" fmla="*/ 140 h 2180"/>
              <a:gd name="T6" fmla="*/ 233 w 2458"/>
              <a:gd name="T7" fmla="*/ 281 h 2180"/>
              <a:gd name="T8" fmla="*/ 13 w 2458"/>
              <a:gd name="T9" fmla="*/ 831 h 2180"/>
              <a:gd name="T10" fmla="*/ 81 w 2458"/>
              <a:gd name="T11" fmla="*/ 1775 h 2180"/>
              <a:gd name="T12" fmla="*/ 215 w 2458"/>
              <a:gd name="T13" fmla="*/ 2066 h 2180"/>
              <a:gd name="T14" fmla="*/ 645 w 2458"/>
              <a:gd name="T15" fmla="*/ 2180 h 2180"/>
              <a:gd name="T16" fmla="*/ 1805 w 2458"/>
              <a:gd name="T17" fmla="*/ 2180 h 2180"/>
              <a:gd name="T18" fmla="*/ 2036 w 2458"/>
              <a:gd name="T19" fmla="*/ 2135 h 2180"/>
              <a:gd name="T20" fmla="*/ 2235 w 2458"/>
              <a:gd name="T21" fmla="*/ 1964 h 2180"/>
              <a:gd name="T22" fmla="*/ 2251 w 2458"/>
              <a:gd name="T23" fmla="*/ 1448 h 2180"/>
              <a:gd name="T24" fmla="*/ 2343 w 2458"/>
              <a:gd name="T25" fmla="*/ 1155 h 2180"/>
              <a:gd name="T26" fmla="*/ 2419 w 2458"/>
              <a:gd name="T27" fmla="*/ 820 h 2180"/>
              <a:gd name="T28" fmla="*/ 1896 w 2458"/>
              <a:gd name="T29" fmla="*/ 61 h 2180"/>
              <a:gd name="T30" fmla="*/ 1557 w 2458"/>
              <a:gd name="T31" fmla="*/ 0 h 218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458" h="2180">
                <a:moveTo>
                  <a:pt x="1557" y="0"/>
                </a:moveTo>
                <a:cubicBezTo>
                  <a:pt x="1548" y="0"/>
                  <a:pt x="1539" y="0"/>
                  <a:pt x="1529" y="0"/>
                </a:cubicBezTo>
                <a:cubicBezTo>
                  <a:pt x="1222" y="9"/>
                  <a:pt x="917" y="75"/>
                  <a:pt x="618" y="140"/>
                </a:cubicBezTo>
                <a:cubicBezTo>
                  <a:pt x="482" y="170"/>
                  <a:pt x="340" y="202"/>
                  <a:pt x="233" y="281"/>
                </a:cubicBezTo>
                <a:cubicBezTo>
                  <a:pt x="56" y="411"/>
                  <a:pt x="21" y="631"/>
                  <a:pt x="13" y="831"/>
                </a:cubicBezTo>
                <a:cubicBezTo>
                  <a:pt x="0" y="1146"/>
                  <a:pt x="23" y="1463"/>
                  <a:pt x="81" y="1775"/>
                </a:cubicBezTo>
                <a:cubicBezTo>
                  <a:pt x="100" y="1880"/>
                  <a:pt x="128" y="1991"/>
                  <a:pt x="215" y="2066"/>
                </a:cubicBezTo>
                <a:cubicBezTo>
                  <a:pt x="323" y="2159"/>
                  <a:pt x="491" y="2172"/>
                  <a:pt x="645" y="2180"/>
                </a:cubicBezTo>
                <a:cubicBezTo>
                  <a:pt x="1805" y="2180"/>
                  <a:pt x="1805" y="2180"/>
                  <a:pt x="1805" y="2180"/>
                </a:cubicBezTo>
                <a:cubicBezTo>
                  <a:pt x="1884" y="2180"/>
                  <a:pt x="1963" y="2165"/>
                  <a:pt x="2036" y="2135"/>
                </a:cubicBezTo>
                <a:cubicBezTo>
                  <a:pt x="2124" y="2098"/>
                  <a:pt x="2197" y="2043"/>
                  <a:pt x="2235" y="1964"/>
                </a:cubicBezTo>
                <a:cubicBezTo>
                  <a:pt x="2313" y="1804"/>
                  <a:pt x="2230" y="1621"/>
                  <a:pt x="2251" y="1448"/>
                </a:cubicBezTo>
                <a:cubicBezTo>
                  <a:pt x="2262" y="1347"/>
                  <a:pt x="2309" y="1252"/>
                  <a:pt x="2343" y="1155"/>
                </a:cubicBezTo>
                <a:cubicBezTo>
                  <a:pt x="2382" y="1045"/>
                  <a:pt x="2405" y="934"/>
                  <a:pt x="2419" y="820"/>
                </a:cubicBezTo>
                <a:cubicBezTo>
                  <a:pt x="2458" y="497"/>
                  <a:pt x="2247" y="189"/>
                  <a:pt x="1896" y="61"/>
                </a:cubicBezTo>
                <a:cubicBezTo>
                  <a:pt x="1789" y="21"/>
                  <a:pt x="1674" y="0"/>
                  <a:pt x="1557" y="0"/>
                </a:cubicBezTo>
              </a:path>
            </a:pathLst>
          </a:custGeom>
          <a:solidFill>
            <a:schemeClr val="accent1">
              <a:alpha val="17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06" tIns="45703" rIns="91406" bIns="45703" numCol="1" anchor="t" anchorCtr="0" compatLnSpc="1"/>
          <a:lstStyle/>
          <a:p>
            <a:endParaRPr lang="zh-CN" altLang="en-US" sz="1800">
              <a:cs typeface="微软雅黑" panose="020B0503020204020204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837260" y="648109"/>
            <a:ext cx="2129014" cy="1081011"/>
          </a:xfrm>
        </p:spPr>
        <p:txBody>
          <a:bodyPr wrap="square" anchor="ctr" anchorCtr="0">
            <a:normAutofit/>
          </a:bodyPr>
          <a:lstStyle>
            <a:lvl1pPr algn="l">
              <a:defRPr sz="4915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标题</a:t>
            </a:r>
          </a:p>
        </p:txBody>
      </p:sp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50" r="27352"/>
          <a:stretch>
            <a:fillRect/>
          </a:stretch>
        </p:blipFill>
        <p:spPr>
          <a:xfrm>
            <a:off x="1197808" y="2099825"/>
            <a:ext cx="3554704" cy="4829953"/>
          </a:xfrm>
          <a:prstGeom prst="rect">
            <a:avLst/>
          </a:prstGeom>
        </p:spPr>
      </p:pic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  <a:t>2026/1/11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275091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81225"/>
            <a:ext cx="10358438" cy="1504950"/>
          </a:xfrm>
          <a:prstGeom prst="rect">
            <a:avLst/>
          </a:prstGeo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978275"/>
            <a:ext cx="8529638" cy="179546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2026/1/11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80988"/>
            <a:ext cx="10968038" cy="1169987"/>
          </a:xfrm>
          <a:prstGeom prst="rect">
            <a:avLst/>
          </a:prstGeo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2026/1/11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2025" y="4511675"/>
            <a:ext cx="10360025" cy="1395413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2025" y="2976563"/>
            <a:ext cx="10360025" cy="1535112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2026/1/11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80988"/>
            <a:ext cx="10968038" cy="1169987"/>
          </a:xfrm>
          <a:prstGeom prst="rect">
            <a:avLst/>
          </a:prstGeo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38300"/>
            <a:ext cx="5407025" cy="463391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69025" y="1638300"/>
            <a:ext cx="5408613" cy="463391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2026/1/11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80988"/>
            <a:ext cx="10968038" cy="1169987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571625"/>
            <a:ext cx="5384800" cy="65563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227263"/>
            <a:ext cx="5384800" cy="40449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1250" y="1571625"/>
            <a:ext cx="5386388" cy="65563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1250" y="2227263"/>
            <a:ext cx="5386388" cy="404495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2026/1/11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80988"/>
            <a:ext cx="10968038" cy="1169987"/>
          </a:xfrm>
          <a:prstGeom prst="rect">
            <a:avLst/>
          </a:prstGeo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2026/1/11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2026/1/11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9400"/>
            <a:ext cx="4010025" cy="1190625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4088" y="279400"/>
            <a:ext cx="6813550" cy="59928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0" y="1470025"/>
            <a:ext cx="4010025" cy="480218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2026/1/11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188" y="4914900"/>
            <a:ext cx="7312025" cy="581025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188" y="627063"/>
            <a:ext cx="7312025" cy="4213225"/>
          </a:xfrm>
        </p:spPr>
        <p:txBody>
          <a:bodyPr vert="horz" wrap="square" lIns="91440" tIns="45720" rIns="91440" bIns="45720" numCol="1" rtlCol="0" anchor="t" anchorCtr="0" compatLnSpc="1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188" y="5495925"/>
            <a:ext cx="7312025" cy="82391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2026/1/11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80988"/>
            <a:ext cx="10968038" cy="1169987"/>
          </a:xfrm>
          <a:prstGeom prst="rect">
            <a:avLst/>
          </a:prstGeo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2026/1/11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36025" y="280988"/>
            <a:ext cx="2741613" cy="5991225"/>
          </a:xfrm>
          <a:prstGeom prst="rect">
            <a:avLst/>
          </a:prstGeo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280988"/>
            <a:ext cx="8074025" cy="5991225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2026/1/11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 bwMode="gray">
          <a:xfrm flipH="1">
            <a:off x="0" y="0"/>
            <a:ext cx="646113" cy="7021513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tx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3079" name="Picture 11"/>
          <p:cNvPicPr>
            <a:picLocks noChangeAspect="1"/>
          </p:cNvPicPr>
          <p:nvPr userDrawn="1"/>
        </p:nvPicPr>
        <p:blipFill>
          <a:blip r:embed="rId2"/>
          <a:srcRect r="36736"/>
          <a:stretch>
            <a:fillRect/>
          </a:stretch>
        </p:blipFill>
        <p:spPr>
          <a:xfrm>
            <a:off x="-9525" y="0"/>
            <a:ext cx="12196763" cy="693738"/>
          </a:xfrm>
          <a:prstGeom prst="rect">
            <a:avLst/>
          </a:prstGeom>
          <a:solidFill>
            <a:srgbClr val="FF0000"/>
          </a:solidFill>
          <a:ln w="9525">
            <a:noFill/>
          </a:ln>
        </p:spPr>
      </p:pic>
      <p:sp>
        <p:nvSpPr>
          <p:cNvPr id="13" name="Rectangle 13"/>
          <p:cNvSpPr/>
          <p:nvPr/>
        </p:nvSpPr>
        <p:spPr bwMode="gray">
          <a:xfrm flipH="1">
            <a:off x="-9525" y="0"/>
            <a:ext cx="644525" cy="693738"/>
          </a:xfrm>
          <a:prstGeom prst="rect">
            <a:avLst/>
          </a:prstGeom>
          <a:gradFill>
            <a:gsLst>
              <a:gs pos="0">
                <a:schemeClr val="tx1">
                  <a:lumMod val="85000"/>
                </a:schemeClr>
              </a:gs>
              <a:gs pos="100000">
                <a:schemeClr val="tx1"/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3081" name="图片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8575" y="61913"/>
            <a:ext cx="568325" cy="569912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076" name="Rectangle 4"/>
          <p:cNvSpPr>
            <a:spLocks noGrp="1" noChangeArrowheads="1"/>
          </p:cNvSpPr>
          <p:nvPr>
            <p:ph type="ctrTitle"/>
          </p:nvPr>
        </p:nvSpPr>
        <p:spPr bwMode="invGray">
          <a:xfrm>
            <a:off x="645207" y="2304521"/>
            <a:ext cx="11542027" cy="579812"/>
          </a:xfrm>
        </p:spPr>
        <p:txBody>
          <a:bodyPr anchorCtr="0"/>
          <a:lstStyle>
            <a:lvl1pPr algn="ctr">
              <a:defRPr sz="3200">
                <a:solidFill>
                  <a:schemeClr val="bg2"/>
                </a:solidFill>
                <a:effectLst/>
              </a:defRPr>
            </a:lvl1pPr>
          </a:lstStyle>
          <a:p>
            <a:pPr fontAlgn="base"/>
            <a:r>
              <a:rPr lang="en-US" strike="noStrike" noProof="1"/>
              <a:t>Click to edit Master title style</a:t>
            </a:r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ubTitle" idx="1"/>
          </p:nvPr>
        </p:nvSpPr>
        <p:spPr bwMode="invGray">
          <a:xfrm>
            <a:off x="645205" y="3097375"/>
            <a:ext cx="11542029" cy="588214"/>
          </a:xfrm>
        </p:spPr>
        <p:txBody>
          <a:bodyPr rIns="0" anchorCtr="0"/>
          <a:lstStyle>
            <a:lvl1pPr marL="0" indent="0" algn="ctr">
              <a:buFont typeface="Arial" panose="020B0604020202020204" pitchFamily="34" charset="0"/>
              <a:buNone/>
              <a:defRPr sz="3000" b="0">
                <a:solidFill>
                  <a:schemeClr val="accent1"/>
                </a:solidFill>
                <a:effectLst/>
                <a:latin typeface="Lucida Sans" pitchFamily="34" charset="0"/>
              </a:defRPr>
            </a:lvl1pPr>
          </a:lstStyle>
          <a:p>
            <a:pPr fontAlgn="base"/>
            <a:r>
              <a:rPr lang="en-US" strike="noStrike" noProof="1"/>
              <a:t>Click to edit Master subtitle style</a:t>
            </a:r>
          </a:p>
        </p:txBody>
      </p:sp>
      <p:sp>
        <p:nvSpPr>
          <p:cNvPr id="15" name="Rectangle 6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34150"/>
            <a:ext cx="20669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6" name="Rectangle 7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754313" y="6534150"/>
            <a:ext cx="81311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1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7" name="Rectangle 8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888663" y="6534150"/>
            <a:ext cx="12985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1C31438-4DFE-43A2-9E78-3724DF25393C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 bwMode="gray">
          <a:xfrm rot="5400000" flipH="1">
            <a:off x="5771356" y="-5772944"/>
            <a:ext cx="644525" cy="12187238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tx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2" name="Rectangle 10"/>
          <p:cNvSpPr/>
          <p:nvPr/>
        </p:nvSpPr>
        <p:spPr bwMode="gray">
          <a:xfrm rot="5400000" flipH="1">
            <a:off x="6042025" y="-5399087"/>
            <a:ext cx="103188" cy="1218723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ctrTitle"/>
          </p:nvPr>
        </p:nvSpPr>
        <p:spPr bwMode="invGray">
          <a:xfrm>
            <a:off x="645207" y="2304521"/>
            <a:ext cx="11542027" cy="579812"/>
          </a:xfrm>
        </p:spPr>
        <p:txBody>
          <a:bodyPr anchorCtr="0"/>
          <a:lstStyle>
            <a:lvl1pPr algn="ctr">
              <a:defRPr sz="3200">
                <a:solidFill>
                  <a:schemeClr val="bg2"/>
                </a:solidFill>
                <a:effectLst/>
              </a:defRPr>
            </a:lvl1pPr>
          </a:lstStyle>
          <a:p>
            <a:pPr fontAlgn="base"/>
            <a:r>
              <a:rPr lang="en-US" strike="noStrike" noProof="1"/>
              <a:t>Click to edit Master title style</a:t>
            </a:r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ubTitle" idx="1"/>
          </p:nvPr>
        </p:nvSpPr>
        <p:spPr bwMode="invGray">
          <a:xfrm>
            <a:off x="645205" y="3097375"/>
            <a:ext cx="11542029" cy="588214"/>
          </a:xfrm>
        </p:spPr>
        <p:txBody>
          <a:bodyPr rIns="0" anchorCtr="0"/>
          <a:lstStyle>
            <a:lvl1pPr marL="0" indent="0" algn="ctr">
              <a:buFont typeface="Arial" panose="020B0604020202020204" pitchFamily="34" charset="0"/>
              <a:buNone/>
              <a:defRPr sz="3000" b="0">
                <a:solidFill>
                  <a:schemeClr val="accent1"/>
                </a:solidFill>
                <a:effectLst/>
                <a:latin typeface="Lucida Sans" pitchFamily="34" charset="0"/>
              </a:defRPr>
            </a:lvl1pPr>
          </a:lstStyle>
          <a:p>
            <a:pPr fontAlgn="base"/>
            <a:r>
              <a:rPr lang="en-US" strike="noStrike" noProof="1"/>
              <a:t>Click to edit Master subtitle style</a:t>
            </a:r>
          </a:p>
        </p:txBody>
      </p:sp>
      <p:sp>
        <p:nvSpPr>
          <p:cNvPr id="13" name="Rectangle 6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34150"/>
            <a:ext cx="20669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7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754313" y="6534150"/>
            <a:ext cx="81311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1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5" name="Rectangle 8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888663" y="6534150"/>
            <a:ext cx="12985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D388FB5-9160-4F34-A476-BD340846AC9E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 bwMode="gray">
          <a:xfrm rot="5400000" flipH="1">
            <a:off x="5107781" y="-5107781"/>
            <a:ext cx="1971675" cy="12187238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tx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2" name="Rectangle 10"/>
          <p:cNvSpPr/>
          <p:nvPr/>
        </p:nvSpPr>
        <p:spPr bwMode="gray">
          <a:xfrm rot="5400000" flipH="1">
            <a:off x="6042025" y="-4070350"/>
            <a:ext cx="103188" cy="1218723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5128" name="图片 1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223625" y="257175"/>
            <a:ext cx="728663" cy="728663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4" name="Rectangle 6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34150"/>
            <a:ext cx="20669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5" name="Rectangle 8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888663" y="6534150"/>
            <a:ext cx="12985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2B26C6D9-AAF1-4BF0-937E-892E43D18C84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" name="页脚占位符 1"/>
          <p:cNvSpPr>
            <a:spLocks noGrp="1"/>
          </p:cNvSpPr>
          <p:nvPr>
            <p:ph type="ftr" sz="quarter" idx="10"/>
          </p:nvPr>
        </p:nvSpPr>
        <p:spPr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 bwMode="gray">
          <a:xfrm rot="5400000" flipH="1">
            <a:off x="4691063" y="-3157537"/>
            <a:ext cx="2805113" cy="12187238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tx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2" name="Rectangle 10"/>
          <p:cNvSpPr/>
          <p:nvPr/>
        </p:nvSpPr>
        <p:spPr bwMode="gray">
          <a:xfrm rot="5400000" flipH="1">
            <a:off x="6042025" y="-1703387"/>
            <a:ext cx="103188" cy="1218723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6152" name="图片 1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223625" y="257175"/>
            <a:ext cx="728663" cy="728663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5FD804A-F784-4013-AD92-560D09364ABB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Title Slide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 bwMode="gray">
          <a:xfrm rot="5400000" flipH="1">
            <a:off x="5145088" y="-20637"/>
            <a:ext cx="1897063" cy="12187238"/>
          </a:xfrm>
          <a:prstGeom prst="rect">
            <a:avLst/>
          </a:prstGeom>
          <a:gradFill flip="none" rotWithShape="1">
            <a:gsLst>
              <a:gs pos="0">
                <a:srgbClr val="C00000"/>
              </a:gs>
              <a:gs pos="100000">
                <a:srgbClr val="9E0A26"/>
              </a:gs>
            </a:gsLst>
            <a:lin ang="10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2" name="Rectangle 10"/>
          <p:cNvSpPr/>
          <p:nvPr/>
        </p:nvSpPr>
        <p:spPr bwMode="gray">
          <a:xfrm rot="5400000" flipH="1">
            <a:off x="5991225" y="-1066800"/>
            <a:ext cx="204788" cy="1218723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ctrTitle"/>
          </p:nvPr>
        </p:nvSpPr>
        <p:spPr bwMode="invGray">
          <a:xfrm>
            <a:off x="645207" y="2304521"/>
            <a:ext cx="11542027" cy="579812"/>
          </a:xfrm>
        </p:spPr>
        <p:txBody>
          <a:bodyPr anchorCtr="0"/>
          <a:lstStyle>
            <a:lvl1pPr algn="ctr">
              <a:defRPr sz="3200">
                <a:solidFill>
                  <a:schemeClr val="bg2"/>
                </a:solidFill>
                <a:effectLst/>
              </a:defRPr>
            </a:lvl1pPr>
          </a:lstStyle>
          <a:p>
            <a:pPr fontAlgn="base"/>
            <a:r>
              <a:rPr lang="en-US" strike="noStrike" noProof="1"/>
              <a:t>Click to edit Master title style</a:t>
            </a:r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ubTitle" idx="1"/>
          </p:nvPr>
        </p:nvSpPr>
        <p:spPr bwMode="invGray">
          <a:xfrm>
            <a:off x="645205" y="3097375"/>
            <a:ext cx="11542029" cy="588214"/>
          </a:xfrm>
        </p:spPr>
        <p:txBody>
          <a:bodyPr rIns="0" anchorCtr="0"/>
          <a:lstStyle>
            <a:lvl1pPr marL="0" indent="0" algn="ctr">
              <a:buFont typeface="Arial" panose="020B0604020202020204" pitchFamily="34" charset="0"/>
              <a:buNone/>
              <a:defRPr sz="3000" b="0">
                <a:solidFill>
                  <a:schemeClr val="accent1"/>
                </a:solidFill>
                <a:effectLst/>
                <a:latin typeface="Lucida Sans" pitchFamily="34" charset="0"/>
              </a:defRPr>
            </a:lvl1pPr>
          </a:lstStyle>
          <a:p>
            <a:pPr fontAlgn="base"/>
            <a:r>
              <a:rPr lang="en-US" strike="noStrike" noProof="1"/>
              <a:t>Click to edit Master subtitle style</a:t>
            </a:r>
          </a:p>
        </p:txBody>
      </p:sp>
      <p:sp>
        <p:nvSpPr>
          <p:cNvPr id="13" name="Rectangle 6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34150"/>
            <a:ext cx="20669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7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754313" y="6534150"/>
            <a:ext cx="81311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1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5" name="Rectangle 8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888663" y="6534150"/>
            <a:ext cx="129857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CF970104-7198-4BD1-AC36-68873D2D364E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8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5448" y="1404676"/>
            <a:ext cx="11531790" cy="579812"/>
          </a:xfrm>
        </p:spPr>
        <p:txBody>
          <a:bodyPr/>
          <a:lstStyle>
            <a:lvl1pPr>
              <a:defRPr sz="3200">
                <a:latin typeface="Lucida Sans" pitchFamily="34" charset="0"/>
              </a:defRPr>
            </a:lvl1pPr>
          </a:lstStyle>
          <a:p>
            <a:pPr fontAlgn="base"/>
            <a:r>
              <a:rPr lang="en-US" strike="noStrike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41767" y="2341682"/>
            <a:ext cx="10359152" cy="2155714"/>
          </a:xfrm>
        </p:spPr>
        <p:txBody>
          <a:bodyPr lIns="614660" rIns="614660"/>
          <a:lstStyle>
            <a:lvl1pPr marL="462915" indent="-241300">
              <a:spcBef>
                <a:spcPts val="1615"/>
              </a:spcBef>
              <a:buSzPct val="100000"/>
              <a:buFont typeface="Arial" panose="020B0604020202020204" pitchFamily="34" charset="0"/>
              <a:buChar char="•"/>
              <a:defRPr sz="2700" b="0"/>
            </a:lvl1pPr>
            <a:lvl2pPr marL="685165" indent="-222250">
              <a:spcBef>
                <a:spcPts val="540"/>
              </a:spcBef>
              <a:buSzPct val="75000"/>
              <a:buFont typeface="Lucida Sans" pitchFamily="34" charset="0"/>
              <a:buChar char="–"/>
              <a:defRPr sz="2700"/>
            </a:lvl2pPr>
            <a:lvl3pPr marL="1069340" indent="-295275">
              <a:spcBef>
                <a:spcPts val="540"/>
              </a:spcBef>
              <a:buSzPct val="100000"/>
              <a:buFont typeface="Arial" panose="020B0604020202020204" pitchFamily="34" charset="0"/>
              <a:buChar char="•"/>
              <a:defRPr sz="2200"/>
            </a:lvl3pPr>
            <a:lvl4pPr marL="1229360" indent="-222250">
              <a:spcBef>
                <a:spcPts val="540"/>
              </a:spcBef>
              <a:buSzPct val="100000"/>
              <a:buFont typeface="Lucida Sans" pitchFamily="34" charset="0"/>
              <a:buChar char="–"/>
              <a:defRPr sz="2200"/>
            </a:lvl4pPr>
            <a:lvl5pPr marL="1450975" indent="-222250">
              <a:spcBef>
                <a:spcPts val="540"/>
              </a:spcBef>
              <a:buSzPct val="100000"/>
              <a:buFont typeface="Arial" panose="020B0604020202020204" pitchFamily="34" charset="0"/>
              <a:buChar char="•"/>
              <a:defRPr sz="2200"/>
            </a:lvl5pPr>
          </a:lstStyle>
          <a:p>
            <a:pPr lvl="0" fontAlgn="base"/>
            <a:r>
              <a:rPr lang="en-US" strike="noStrike" noProof="1"/>
              <a:t>Click to edit Master text styles</a:t>
            </a:r>
          </a:p>
          <a:p>
            <a:pPr lvl="1" fontAlgn="base"/>
            <a:r>
              <a:rPr lang="en-US" strike="noStrike" noProof="1"/>
              <a:t>Second level</a:t>
            </a:r>
          </a:p>
          <a:p>
            <a:pPr lvl="2" fontAlgn="base"/>
            <a:r>
              <a:rPr lang="en-US" strike="noStrike" noProof="1"/>
              <a:t>Third level</a:t>
            </a:r>
          </a:p>
          <a:p>
            <a:pPr lvl="3" fontAlgn="base"/>
            <a:r>
              <a:rPr lang="en-US" strike="noStrike" noProof="1"/>
              <a:t>Fourth level</a:t>
            </a:r>
          </a:p>
          <a:p>
            <a:pPr lvl="4" fontAlgn="base"/>
            <a:r>
              <a:rPr lang="en-US" strike="noStrike" noProof="1"/>
              <a:t>Fifth level</a:t>
            </a:r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81250" y="7516813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9ADA95E-ED9E-482F-ABFD-6CE64A2D4A2B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22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7" name="Rectangle 4"/>
          <p:cNvSpPr>
            <a:spLocks noGrp="1" noChangeArrowheads="1"/>
          </p:cNvSpPr>
          <p:nvPr>
            <p:ph type="ctrTitle"/>
          </p:nvPr>
        </p:nvSpPr>
        <p:spPr>
          <a:xfrm>
            <a:off x="655448" y="864757"/>
            <a:ext cx="11531790" cy="630230"/>
          </a:xfrm>
        </p:spPr>
        <p:txBody>
          <a:bodyPr/>
          <a:lstStyle>
            <a:lvl1pPr algn="ctr">
              <a:lnSpc>
                <a:spcPct val="100000"/>
              </a:lnSpc>
              <a:defRPr sz="3200">
                <a:solidFill>
                  <a:schemeClr val="bg2"/>
                </a:solidFill>
                <a:effectLst/>
              </a:defRPr>
            </a:lvl1pPr>
          </a:lstStyle>
          <a:p>
            <a:pPr fontAlgn="base"/>
            <a:r>
              <a:rPr lang="en-US" strike="noStrike" noProof="1"/>
              <a:t>Click to edit Master title style</a:t>
            </a:r>
          </a:p>
        </p:txBody>
      </p:sp>
      <p:sp>
        <p:nvSpPr>
          <p:cNvPr id="8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655448" y="1532366"/>
            <a:ext cx="11531790" cy="588214"/>
          </a:xfrm>
        </p:spPr>
        <p:txBody>
          <a:bodyPr rIns="0"/>
          <a:lstStyle>
            <a:lvl1pPr marL="0" indent="0" algn="ctr">
              <a:buFontTx/>
              <a:buNone/>
              <a:defRPr sz="3000" b="0">
                <a:solidFill>
                  <a:schemeClr val="accent1"/>
                </a:solidFill>
                <a:effectLst/>
                <a:latin typeface="Lucida Sans" pitchFamily="34" charset="0"/>
              </a:defRPr>
            </a:lvl1pPr>
          </a:lstStyle>
          <a:p>
            <a:pPr fontAlgn="base"/>
            <a:r>
              <a:rPr lang="en-US" strike="noStrike" noProof="1"/>
              <a:t>Click to edit Master subtitle style</a:t>
            </a:r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E4A2AC8-C6EE-4E10-A998-D15131537773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" name="页脚占位符 1"/>
          <p:cNvSpPr>
            <a:spLocks noGrp="1"/>
          </p:cNvSpPr>
          <p:nvPr>
            <p:ph type="ftr" sz="quarter" idx="10"/>
          </p:nvPr>
        </p:nvSpPr>
        <p:spPr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6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5208" y="1476597"/>
            <a:ext cx="11542033" cy="579812"/>
          </a:xfrm>
        </p:spPr>
        <p:txBody>
          <a:bodyPr/>
          <a:lstStyle/>
          <a:p>
            <a:pPr fontAlgn="base"/>
            <a:r>
              <a:rPr lang="en-US" strike="noStrike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67057" y="2330051"/>
            <a:ext cx="5334344" cy="2815025"/>
          </a:xfrm>
        </p:spPr>
        <p:txBody>
          <a:bodyPr anchorCtr="0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700" b="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200" dirty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</a:p>
          <a:p>
            <a:pPr lvl="1" fontAlgn="base"/>
            <a:r>
              <a:rPr lang="en-US" strike="noStrike" noProof="1"/>
              <a:t>Second level</a:t>
            </a:r>
          </a:p>
          <a:p>
            <a:pPr lvl="2" fontAlgn="base"/>
            <a:r>
              <a:rPr lang="en-US" strike="noStrike" noProof="1"/>
              <a:t>Third level</a:t>
            </a:r>
          </a:p>
          <a:p>
            <a:pPr lvl="3" fontAlgn="base"/>
            <a:r>
              <a:rPr lang="en-US" strike="noStrike" noProof="1"/>
              <a:t>Fourth level</a:t>
            </a:r>
          </a:p>
          <a:p>
            <a:pPr lvl="4" fontAlgn="base"/>
            <a:r>
              <a:rPr lang="en-US" strike="noStrike" noProof="1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4518" y="2330051"/>
            <a:ext cx="5291197" cy="2815025"/>
          </a:xfrm>
        </p:spPr>
        <p:txBody>
          <a:bodyPr anchorCtr="0"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700" b="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4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805"/>
              </a:spcAft>
              <a:buSzPct val="125000"/>
              <a:buFont typeface="Arial" panose="020B0604020202020204" pitchFamily="34" charset="0"/>
              <a:buChar char="•"/>
              <a:defRPr lang="en-US" sz="2200" dirty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</a:p>
          <a:p>
            <a:pPr lvl="1" fontAlgn="base"/>
            <a:r>
              <a:rPr lang="en-US" strike="noStrike" noProof="1"/>
              <a:t>Second level</a:t>
            </a:r>
          </a:p>
          <a:p>
            <a:pPr lvl="2" fontAlgn="base"/>
            <a:r>
              <a:rPr lang="en-US" strike="noStrike" noProof="1"/>
              <a:t>Third level</a:t>
            </a:r>
          </a:p>
          <a:p>
            <a:pPr lvl="3" fontAlgn="base"/>
            <a:r>
              <a:rPr lang="en-US" strike="noStrike" noProof="1"/>
              <a:t>Fourth level</a:t>
            </a:r>
          </a:p>
          <a:p>
            <a:pPr lvl="4" fontAlgn="base"/>
            <a:r>
              <a:rPr lang="en-US" strike="noStrike" noProof="1"/>
              <a:t>Fifth level</a:t>
            </a:r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1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67A510D-99EA-450F-A733-49970FAE03E3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70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362" y="1245917"/>
            <a:ext cx="11577876" cy="579812"/>
          </a:xfrm>
        </p:spPr>
        <p:txBody>
          <a:bodyPr/>
          <a:lstStyle>
            <a:lvl1pPr>
              <a:defRPr/>
            </a:lvl1pPr>
          </a:lstStyle>
          <a:p>
            <a:pPr fontAlgn="base"/>
            <a:r>
              <a:rPr lang="en-US" strike="noStrike" noProof="1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6605" y="2092378"/>
            <a:ext cx="5384813" cy="504184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614680" indent="0">
              <a:buNone/>
              <a:defRPr sz="2700" b="1"/>
            </a:lvl2pPr>
            <a:lvl3pPr marL="1229360" indent="0">
              <a:buNone/>
              <a:defRPr sz="2400" b="1"/>
            </a:lvl3pPr>
            <a:lvl4pPr marL="1844040" indent="0">
              <a:buNone/>
              <a:defRPr sz="2200" b="1"/>
            </a:lvl4pPr>
            <a:lvl5pPr marL="2458720" indent="0">
              <a:buNone/>
              <a:defRPr sz="2200" b="1"/>
            </a:lvl5pPr>
            <a:lvl6pPr marL="3073400" indent="0">
              <a:buNone/>
              <a:defRPr sz="2200" b="1"/>
            </a:lvl6pPr>
            <a:lvl7pPr marL="3688080" indent="0">
              <a:buNone/>
              <a:defRPr sz="2200" b="1"/>
            </a:lvl7pPr>
            <a:lvl8pPr marL="4302760" indent="0">
              <a:buNone/>
              <a:defRPr sz="2200" b="1"/>
            </a:lvl8pPr>
            <a:lvl9pPr marL="4917440" indent="0">
              <a:buNone/>
              <a:defRPr sz="2200" b="1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6603" y="2683987"/>
            <a:ext cx="5384813" cy="1827666"/>
          </a:xfrm>
        </p:spPr>
        <p:txBody>
          <a:bodyPr/>
          <a:lstStyle>
            <a:lvl1pPr>
              <a:defRPr lang="en-US" sz="2400" b="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1pPr>
            <a:lvl2pPr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2pPr>
            <a:lvl3pPr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3pPr>
            <a:lvl4pPr>
              <a:defRPr lang="en-US" sz="19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4pPr>
            <a:lvl5pPr>
              <a:defRPr lang="en-US" sz="1900" dirty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</a:p>
          <a:p>
            <a:pPr lvl="1" fontAlgn="base"/>
            <a:r>
              <a:rPr lang="en-US" strike="noStrike" noProof="1"/>
              <a:t>Second level</a:t>
            </a:r>
          </a:p>
          <a:p>
            <a:pPr lvl="2" fontAlgn="base"/>
            <a:r>
              <a:rPr lang="en-US" strike="noStrike" noProof="1"/>
              <a:t>Third level</a:t>
            </a:r>
          </a:p>
          <a:p>
            <a:pPr lvl="3" fontAlgn="base"/>
            <a:r>
              <a:rPr lang="en-US" strike="noStrike" noProof="1"/>
              <a:t>Fourth level</a:t>
            </a:r>
          </a:p>
          <a:p>
            <a:pPr lvl="4" fontAlgn="base"/>
            <a:r>
              <a:rPr lang="en-US" strike="noStrike" noProof="1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98192" y="2092378"/>
            <a:ext cx="5386928" cy="504184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1"/>
                </a:solidFill>
              </a:defRPr>
            </a:lvl1pPr>
            <a:lvl2pPr marL="614680" indent="0">
              <a:buNone/>
              <a:defRPr sz="2700" b="1"/>
            </a:lvl2pPr>
            <a:lvl3pPr marL="1229360" indent="0">
              <a:buNone/>
              <a:defRPr sz="2400" b="1"/>
            </a:lvl3pPr>
            <a:lvl4pPr marL="1844040" indent="0">
              <a:buNone/>
              <a:defRPr sz="2200" b="1"/>
            </a:lvl4pPr>
            <a:lvl5pPr marL="2458720" indent="0">
              <a:buNone/>
              <a:defRPr sz="2200" b="1"/>
            </a:lvl5pPr>
            <a:lvl6pPr marL="3073400" indent="0">
              <a:buNone/>
              <a:defRPr sz="2200" b="1"/>
            </a:lvl6pPr>
            <a:lvl7pPr marL="3688080" indent="0">
              <a:buNone/>
              <a:defRPr sz="2200" b="1"/>
            </a:lvl7pPr>
            <a:lvl8pPr marL="4302760" indent="0">
              <a:buNone/>
              <a:defRPr sz="2200" b="1"/>
            </a:lvl8pPr>
            <a:lvl9pPr marL="4917440" indent="0">
              <a:buNone/>
              <a:defRPr sz="2200" b="1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98191" y="2683987"/>
            <a:ext cx="5386928" cy="1827666"/>
          </a:xfrm>
        </p:spPr>
        <p:txBody>
          <a:bodyPr/>
          <a:lstStyle>
            <a:lvl1pPr>
              <a:defRPr lang="en-US" sz="2400" b="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1pPr>
            <a:lvl2pPr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2pPr>
            <a:lvl3pPr>
              <a:defRPr lang="en-US" sz="22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3pPr>
            <a:lvl4pPr>
              <a:defRPr lang="en-US" sz="19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4pPr>
            <a:lvl5pPr>
              <a:defRPr lang="en-US" sz="1900" dirty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</a:p>
          <a:p>
            <a:pPr lvl="1" fontAlgn="base"/>
            <a:r>
              <a:rPr lang="en-US" strike="noStrike" noProof="1"/>
              <a:t>Second level</a:t>
            </a:r>
          </a:p>
          <a:p>
            <a:pPr lvl="2" fontAlgn="base"/>
            <a:r>
              <a:rPr lang="en-US" strike="noStrike" noProof="1"/>
              <a:t>Third level</a:t>
            </a:r>
          </a:p>
          <a:p>
            <a:pPr lvl="3" fontAlgn="base"/>
            <a:r>
              <a:rPr lang="en-US" strike="noStrike" noProof="1"/>
              <a:t>Fourth level</a:t>
            </a:r>
          </a:p>
          <a:p>
            <a:pPr lvl="4" fontAlgn="base"/>
            <a:r>
              <a:rPr lang="en-US" strike="noStrike" noProof="1"/>
              <a:t>Fifth level</a:t>
            </a:r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1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1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1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1436D3D-CAEA-4384-88C1-9AC1E84A4E98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4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4724" y="2042479"/>
            <a:ext cx="11562514" cy="579812"/>
          </a:xfrm>
        </p:spPr>
        <p:txBody>
          <a:bodyPr/>
          <a:lstStyle/>
          <a:p>
            <a:pPr fontAlgn="base"/>
            <a:r>
              <a:rPr lang="en-US" strike="noStrike" noProof="1"/>
              <a:t>Click to edit Master title style</a:t>
            </a:r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70F4618-6A8D-4B87-BA21-9E1344F61FFC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8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2" name="Rectangle 4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625664E-C931-454D-B62B-E550BCDD2E89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42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365" y="804272"/>
            <a:ext cx="4009517" cy="1260460"/>
          </a:xfrm>
        </p:spPr>
        <p:txBody>
          <a:bodyPr/>
          <a:lstStyle>
            <a:lvl1pPr algn="l">
              <a:defRPr sz="2700" b="1"/>
            </a:lvl1pPr>
          </a:lstStyle>
          <a:p>
            <a:pPr fontAlgn="base"/>
            <a:r>
              <a:rPr lang="en-US" strike="noStrike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4873" y="1402991"/>
            <a:ext cx="6813006" cy="2483104"/>
          </a:xfrm>
        </p:spPr>
        <p:txBody>
          <a:bodyPr/>
          <a:lstStyle>
            <a:lvl1pPr marL="222250" indent="-222250">
              <a:buSzPct val="125000"/>
              <a:buFont typeface="Arial" panose="020B0604020202020204" pitchFamily="34" charset="0"/>
              <a:buChar char="•"/>
              <a:defRPr lang="en-US" sz="3200" b="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1pPr>
            <a:lvl2pPr marL="614680" indent="-222250" defTabSz="1229360">
              <a:buSzPct val="125000"/>
              <a:buFont typeface="Arial" panose="020B0604020202020204" pitchFamily="34" charset="0"/>
              <a:buChar char="•"/>
              <a:defRPr lang="en-US" sz="30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2pPr>
            <a:lvl3pPr>
              <a:buSzPct val="125000"/>
              <a:buFont typeface="Arial" panose="020B0604020202020204" pitchFamily="34" charset="0"/>
              <a:buChar char="•"/>
              <a:defRPr lang="en-US" sz="30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3pPr>
            <a:lvl4pPr marL="1310640" indent="-243205">
              <a:buSzPct val="125000"/>
              <a:buFont typeface="Arial" panose="020B0604020202020204" pitchFamily="34" charset="0"/>
              <a:buChar char="•"/>
              <a:defRPr lang="en-US" sz="2700" dirty="0" smtClean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4pPr>
            <a:lvl5pPr>
              <a:buSzPct val="125000"/>
              <a:buFont typeface="Arial" panose="020B0604020202020204" pitchFamily="34" charset="0"/>
              <a:buChar char="•"/>
              <a:defRPr lang="en-US" sz="2700" dirty="0">
                <a:solidFill>
                  <a:schemeClr val="bg2"/>
                </a:solidFill>
                <a:latin typeface="Lucida Sans" pitchFamily="34" charset="0"/>
                <a:ea typeface="+mn-ea"/>
                <a:cs typeface="+mn-cs"/>
              </a:defRPr>
            </a:lvl5pPr>
            <a:lvl6pPr>
              <a:defRPr sz="2700"/>
            </a:lvl6pPr>
            <a:lvl7pPr>
              <a:defRPr sz="2700"/>
            </a:lvl7pPr>
            <a:lvl8pPr>
              <a:defRPr sz="2700"/>
            </a:lvl8pPr>
            <a:lvl9pPr>
              <a:defRPr sz="2700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</a:p>
          <a:p>
            <a:pPr lvl="1" fontAlgn="base"/>
            <a:r>
              <a:rPr lang="en-US" strike="noStrike" noProof="1"/>
              <a:t>Second level</a:t>
            </a:r>
          </a:p>
          <a:p>
            <a:pPr lvl="2" fontAlgn="base"/>
            <a:r>
              <a:rPr lang="en-US" strike="noStrike" noProof="1"/>
              <a:t>Third level</a:t>
            </a:r>
          </a:p>
          <a:p>
            <a:pPr lvl="3" fontAlgn="base"/>
            <a:r>
              <a:rPr lang="en-US" strike="noStrike" noProof="1"/>
              <a:t>Fourth level</a:t>
            </a:r>
          </a:p>
          <a:p>
            <a:pPr lvl="4" fontAlgn="base"/>
            <a:r>
              <a:rPr lang="en-US" strike="noStrike" noProof="1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365" y="2592747"/>
            <a:ext cx="4009517" cy="420154"/>
          </a:xfrm>
        </p:spPr>
        <p:txBody>
          <a:bodyPr/>
          <a:lstStyle>
            <a:lvl1pPr marL="0" indent="0">
              <a:buNone/>
              <a:defRPr sz="1900"/>
            </a:lvl1pPr>
            <a:lvl2pPr marL="614680" indent="0">
              <a:buNone/>
              <a:defRPr sz="1600"/>
            </a:lvl2pPr>
            <a:lvl3pPr marL="1229360" indent="0">
              <a:buNone/>
              <a:defRPr sz="1300"/>
            </a:lvl3pPr>
            <a:lvl4pPr marL="1844040" indent="0">
              <a:buNone/>
              <a:defRPr sz="1200"/>
            </a:lvl4pPr>
            <a:lvl5pPr marL="2458720" indent="0">
              <a:buNone/>
              <a:defRPr sz="1200"/>
            </a:lvl5pPr>
            <a:lvl6pPr marL="3073400" indent="0">
              <a:buNone/>
              <a:defRPr sz="1200"/>
            </a:lvl6pPr>
            <a:lvl7pPr marL="3688080" indent="0">
              <a:buNone/>
              <a:defRPr sz="1200"/>
            </a:lvl7pPr>
            <a:lvl8pPr marL="4302760" indent="0">
              <a:buNone/>
              <a:defRPr sz="1200"/>
            </a:lvl8pPr>
            <a:lvl9pPr marL="4917440" indent="0">
              <a:buNone/>
              <a:defRPr sz="1200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1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D201577E-4725-42A5-AEB8-A6992A795B0C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66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5575" y="227013"/>
            <a:ext cx="1568450" cy="217487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8784" y="5426260"/>
            <a:ext cx="7312343" cy="504184"/>
          </a:xfrm>
        </p:spPr>
        <p:txBody>
          <a:bodyPr/>
          <a:lstStyle>
            <a:lvl1pPr algn="l">
              <a:defRPr sz="2700" b="1"/>
            </a:lvl1pPr>
          </a:lstStyle>
          <a:p>
            <a:pPr fontAlgn="base"/>
            <a:r>
              <a:rPr lang="en-US" strike="noStrike" noProof="1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8784" y="1221672"/>
            <a:ext cx="7312343" cy="798290"/>
          </a:xfrm>
        </p:spPr>
        <p:txBody>
          <a:bodyPr vert="horz" wrap="square" lIns="122932" tIns="61466" rIns="122932" bIns="61466" numCol="1" anchor="t" anchorCtr="1" compatLnSpc="1">
            <a:spAutoFit/>
          </a:bodyPr>
          <a:lstStyle>
            <a:lvl1pPr marL="0" indent="0">
              <a:buNone/>
              <a:defRPr sz="4300"/>
            </a:lvl1pPr>
            <a:lvl2pPr marL="614680" indent="0">
              <a:buNone/>
              <a:defRPr sz="3800"/>
            </a:lvl2pPr>
            <a:lvl3pPr marL="1229360" indent="0">
              <a:buNone/>
              <a:defRPr sz="3200"/>
            </a:lvl3pPr>
            <a:lvl4pPr marL="1844040" indent="0">
              <a:buNone/>
              <a:defRPr sz="2700"/>
            </a:lvl4pPr>
            <a:lvl5pPr marL="2458720" indent="0">
              <a:buNone/>
              <a:defRPr sz="2700"/>
            </a:lvl5pPr>
            <a:lvl6pPr marL="3073400" indent="0">
              <a:buNone/>
              <a:defRPr sz="2700"/>
            </a:lvl6pPr>
            <a:lvl7pPr marL="3688080" indent="0">
              <a:buNone/>
              <a:defRPr sz="2700"/>
            </a:lvl7pPr>
            <a:lvl8pPr marL="4302760" indent="0">
              <a:buNone/>
              <a:defRPr sz="2700"/>
            </a:lvl8pPr>
            <a:lvl9pPr marL="4917440" indent="0">
              <a:buNone/>
              <a:defRPr sz="27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5000"/>
              </a:spcBef>
              <a:spcAft>
                <a:spcPct val="0"/>
              </a:spcAft>
              <a:buClr>
                <a:srgbClr val="C60C30"/>
              </a:buClr>
              <a:buSzPct val="100000"/>
              <a:buFont typeface="Arial" panose="020B0604020202020204" pitchFamily="34" charset="0"/>
              <a:buNone/>
              <a:defRPr/>
            </a:pPr>
            <a:endParaRPr kumimoji="0" lang="en-US" sz="4300" b="0" i="0" u="none" strike="noStrike" kern="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Lucida Sans" pitchFamily="34" charset="0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8784" y="6006682"/>
            <a:ext cx="7312343" cy="420154"/>
          </a:xfrm>
        </p:spPr>
        <p:txBody>
          <a:bodyPr/>
          <a:lstStyle>
            <a:lvl1pPr marL="0" indent="0">
              <a:buNone/>
              <a:defRPr sz="1900"/>
            </a:lvl1pPr>
            <a:lvl2pPr marL="614680" indent="0">
              <a:buNone/>
              <a:defRPr sz="1600"/>
            </a:lvl2pPr>
            <a:lvl3pPr marL="1229360" indent="0">
              <a:buNone/>
              <a:defRPr sz="1300"/>
            </a:lvl3pPr>
            <a:lvl4pPr marL="1844040" indent="0">
              <a:buNone/>
              <a:defRPr sz="1200"/>
            </a:lvl4pPr>
            <a:lvl5pPr marL="2458720" indent="0">
              <a:buNone/>
              <a:defRPr sz="1200"/>
            </a:lvl5pPr>
            <a:lvl6pPr marL="3073400" indent="0">
              <a:buNone/>
              <a:defRPr sz="1200"/>
            </a:lvl6pPr>
            <a:lvl7pPr marL="3688080" indent="0">
              <a:buNone/>
              <a:defRPr sz="1200"/>
            </a:lvl7pPr>
            <a:lvl8pPr marL="4302760" indent="0">
              <a:buNone/>
              <a:defRPr sz="1200"/>
            </a:lvl8pPr>
            <a:lvl9pPr marL="4917440" indent="0">
              <a:buNone/>
              <a:defRPr sz="1200"/>
            </a:lvl9pPr>
          </a:lstStyle>
          <a:p>
            <a:pPr lvl="0" fontAlgn="base"/>
            <a:r>
              <a:rPr lang="en-US" strike="noStrike" noProof="1"/>
              <a:t>Click to edit Master text styles</a:t>
            </a:r>
          </a:p>
        </p:txBody>
      </p:sp>
      <p:sp>
        <p:nvSpPr>
          <p:cNvPr id="12" name="Rectangle 4"/>
          <p:cNvSpPr>
            <a:spLocks noGrp="1" noChangeArrowheads="1"/>
          </p:cNvSpPr>
          <p:nvPr>
            <p:ph type="dt" sz="half" idx="1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4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A44C1F32-AE4F-4177-AF49-BDA05C8112D2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  <p:transition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2026/1/11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  <p:sp>
        <p:nvSpPr>
          <p:cNvPr id="6" name="标题 5"/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  <p:transition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任意多边形: 形状 7"/>
          <p:cNvSpPr/>
          <p:nvPr userDrawn="1">
            <p:custDataLst>
              <p:tags r:id="rId1"/>
            </p:custDataLst>
          </p:nvPr>
        </p:nvSpPr>
        <p:spPr>
          <a:xfrm>
            <a:off x="6053753" y="909138"/>
            <a:ext cx="5907139" cy="5791822"/>
          </a:xfrm>
          <a:custGeom>
            <a:avLst/>
            <a:gdLst>
              <a:gd name="connsiteX0" fmla="*/ 3879682 w 5909293"/>
              <a:gd name="connsiteY0" fmla="*/ 175 h 5793934"/>
              <a:gd name="connsiteX1" fmla="*/ 4334567 w 5909293"/>
              <a:gd name="connsiteY1" fmla="*/ 60453 h 5793934"/>
              <a:gd name="connsiteX2" fmla="*/ 5246308 w 5909293"/>
              <a:gd name="connsiteY2" fmla="*/ 1122598 h 5793934"/>
              <a:gd name="connsiteX3" fmla="*/ 5872742 w 5909293"/>
              <a:gd name="connsiteY3" fmla="*/ 3288868 h 5793934"/>
              <a:gd name="connsiteX4" fmla="*/ 5819651 w 5909293"/>
              <a:gd name="connsiteY4" fmla="*/ 4125030 h 5793934"/>
              <a:gd name="connsiteX5" fmla="*/ 5157837 w 5909293"/>
              <a:gd name="connsiteY5" fmla="*/ 4912778 h 5793934"/>
              <a:gd name="connsiteX6" fmla="*/ 3379536 w 5909293"/>
              <a:gd name="connsiteY6" fmla="*/ 5735681 h 5793934"/>
              <a:gd name="connsiteX7" fmla="*/ 2078353 w 5909293"/>
              <a:gd name="connsiteY7" fmla="*/ 5726438 h 5793934"/>
              <a:gd name="connsiteX8" fmla="*/ 1489530 w 5909293"/>
              <a:gd name="connsiteY8" fmla="*/ 5363600 h 5793934"/>
              <a:gd name="connsiteX9" fmla="*/ 1035251 w 5909293"/>
              <a:gd name="connsiteY9" fmla="*/ 4220617 h 5793934"/>
              <a:gd name="connsiteX10" fmla="*/ 602247 w 5909293"/>
              <a:gd name="connsiteY10" fmla="*/ 3634929 h 5793934"/>
              <a:gd name="connsiteX11" fmla="*/ 169546 w 5909293"/>
              <a:gd name="connsiteY11" fmla="*/ 2942699 h 5793934"/>
              <a:gd name="connsiteX12" fmla="*/ 652478 w 5909293"/>
              <a:gd name="connsiteY12" fmla="*/ 842508 h 5793934"/>
              <a:gd name="connsiteX13" fmla="*/ 1316613 w 5909293"/>
              <a:gd name="connsiteY13" fmla="*/ 445895 h 5793934"/>
              <a:gd name="connsiteX14" fmla="*/ 1375567 w 5909293"/>
              <a:gd name="connsiteY14" fmla="*/ 424437 h 5793934"/>
              <a:gd name="connsiteX15" fmla="*/ 3408460 w 5909293"/>
              <a:gd name="connsiteY15" fmla="*/ 39296 h 5793934"/>
              <a:gd name="connsiteX16" fmla="*/ 3879682 w 5909293"/>
              <a:gd name="connsiteY16" fmla="*/ 175 h 5793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5909293" h="5793934">
                <a:moveTo>
                  <a:pt x="3879682" y="175"/>
                </a:moveTo>
                <a:cubicBezTo>
                  <a:pt x="4036099" y="-1809"/>
                  <a:pt x="4189792" y="12773"/>
                  <a:pt x="4334567" y="60453"/>
                </a:cubicBezTo>
                <a:cubicBezTo>
                  <a:pt x="4813657" y="215756"/>
                  <a:pt x="5066087" y="681130"/>
                  <a:pt x="5246308" y="1122598"/>
                </a:cubicBezTo>
                <a:cubicBezTo>
                  <a:pt x="5530593" y="1818660"/>
                  <a:pt x="5740779" y="2546018"/>
                  <a:pt x="5872742" y="3288868"/>
                </a:cubicBezTo>
                <a:cubicBezTo>
                  <a:pt x="5918136" y="3538857"/>
                  <a:pt x="5941127" y="3794404"/>
                  <a:pt x="5819651" y="4125030"/>
                </a:cubicBezTo>
                <a:cubicBezTo>
                  <a:pt x="5698175" y="4455657"/>
                  <a:pt x="5555500" y="4602769"/>
                  <a:pt x="5157837" y="4912778"/>
                </a:cubicBezTo>
                <a:cubicBezTo>
                  <a:pt x="4760174" y="5222787"/>
                  <a:pt x="3749504" y="5653807"/>
                  <a:pt x="3379536" y="5735681"/>
                </a:cubicBezTo>
                <a:cubicBezTo>
                  <a:pt x="3009569" y="5817556"/>
                  <a:pt x="2330918" y="5811898"/>
                  <a:pt x="2078353" y="5726438"/>
                </a:cubicBezTo>
                <a:cubicBezTo>
                  <a:pt x="1825789" y="5640979"/>
                  <a:pt x="1633575" y="5511056"/>
                  <a:pt x="1489530" y="5363600"/>
                </a:cubicBezTo>
                <a:cubicBezTo>
                  <a:pt x="1194462" y="5065173"/>
                  <a:pt x="1220104" y="4592041"/>
                  <a:pt x="1035251" y="4220617"/>
                </a:cubicBezTo>
                <a:cubicBezTo>
                  <a:pt x="929927" y="4002824"/>
                  <a:pt x="753122" y="3825759"/>
                  <a:pt x="602247" y="3634929"/>
                </a:cubicBezTo>
                <a:cubicBezTo>
                  <a:pt x="430739" y="3418728"/>
                  <a:pt x="291908" y="3187171"/>
                  <a:pt x="169546" y="2942699"/>
                </a:cubicBezTo>
                <a:cubicBezTo>
                  <a:pt x="-176217" y="2249976"/>
                  <a:pt x="17688" y="1398039"/>
                  <a:pt x="652478" y="842508"/>
                </a:cubicBezTo>
                <a:cubicBezTo>
                  <a:pt x="844971" y="671207"/>
                  <a:pt x="1070014" y="535650"/>
                  <a:pt x="1316613" y="445895"/>
                </a:cubicBezTo>
                <a:cubicBezTo>
                  <a:pt x="1336025" y="438830"/>
                  <a:pt x="1354717" y="432026"/>
                  <a:pt x="1375567" y="424437"/>
                </a:cubicBezTo>
                <a:cubicBezTo>
                  <a:pt x="2029851" y="208795"/>
                  <a:pt x="2725822" y="123350"/>
                  <a:pt x="3408460" y="39296"/>
                </a:cubicBezTo>
                <a:cubicBezTo>
                  <a:pt x="3564127" y="20711"/>
                  <a:pt x="3723266" y="2160"/>
                  <a:pt x="3879682" y="175"/>
                </a:cubicBez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txBody>
          <a:bodyPr vert="horz" wrap="square" lIns="91406" tIns="45703" rIns="91406" bIns="45703" numCol="1" anchor="t" anchorCtr="0" compatLnSpc="1"/>
          <a:lstStyle/>
          <a:p>
            <a:pPr lvl="0"/>
            <a:endParaRPr lang="zh-CN" altLang="en-US" sz="1800">
              <a:solidFill>
                <a:schemeClr val="tx1"/>
              </a:solidFill>
            </a:endParaRPr>
          </a:p>
        </p:txBody>
      </p:sp>
      <p:pic>
        <p:nvPicPr>
          <p:cNvPr id="27" name="图片 26" descr="无人机5资源 1@600x-8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5432349" y="1760224"/>
            <a:ext cx="6640948" cy="5178441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3"/>
            </p:custDataLst>
          </p:nvPr>
        </p:nvSpPr>
        <p:spPr>
          <a:xfrm>
            <a:off x="702689" y="1387615"/>
            <a:ext cx="5391089" cy="2151865"/>
          </a:xfrm>
        </p:spPr>
        <p:txBody>
          <a:bodyPr wrap="square" anchor="b" anchorCtr="0">
            <a:normAutofit/>
          </a:bodyPr>
          <a:lstStyle>
            <a:lvl1pPr algn="l">
              <a:lnSpc>
                <a:spcPct val="100000"/>
              </a:lnSpc>
              <a:defRPr sz="5530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编辑母版标题</a:t>
            </a:r>
          </a:p>
        </p:txBody>
      </p:sp>
      <p:sp>
        <p:nvSpPr>
          <p:cNvPr id="24" name="文本占位符 23"/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01419" y="3821952"/>
            <a:ext cx="2879945" cy="58017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845" b="0">
                <a:solidFill>
                  <a:schemeClr val="lt1">
                    <a:lumMod val="100000"/>
                  </a:schemeClr>
                </a:solidFill>
              </a:defRPr>
            </a:lvl1pPr>
          </a:lstStyle>
          <a:p>
            <a:r>
              <a:rPr lang="zh-CN" altLang="en-US" dirty="0"/>
              <a:t>汇报人：</a:t>
            </a:r>
            <a:r>
              <a:rPr lang="en-US" altLang="zh-CN" dirty="0"/>
              <a:t>WPS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8"/>
            <p:custDataLst>
              <p:tags r:id="rId5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  <a:t>2026/1/11</a:t>
            </a:fld>
            <a:endParaRPr lang="zh-CN" altLang="en-US" dirty="0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9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20"/>
            <p:custDataLst>
              <p:tags r:id="rId7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  <p:custDataLst>
              <p:tags r:id="rId1"/>
            </p:custDataLst>
          </p:nvPr>
        </p:nvSpPr>
        <p:spPr>
          <a:xfrm>
            <a:off x="695071" y="1359050"/>
            <a:ext cx="10795538" cy="4899778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7" name="标题 6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 wrap="square" lIns="0" tIns="0" rIns="0" bIns="0" rtlCol="0" anchor="b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3275" b="1" i="0" u="none" strike="noStrike" kern="1200" cap="none" spc="0" normalizeH="0" baseline="0" noProof="1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</a:p>
        </p:txBody>
      </p:sp>
      <p:sp>
        <p:nvSpPr>
          <p:cNvPr id="11" name="日期占位符 10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  <a:t>2026/1/11</a:t>
            </a:fld>
            <a:endParaRPr lang="zh-CN" altLang="en-US" dirty="0"/>
          </a:p>
        </p:txBody>
      </p:sp>
      <p:sp>
        <p:nvSpPr>
          <p:cNvPr id="12" name="页脚占位符 11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3" name="灯片编号占位符 12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 6"/>
          <p:cNvSpPr/>
          <p:nvPr>
            <p:custDataLst>
              <p:tags r:id="rId1"/>
            </p:custDataLst>
          </p:nvPr>
        </p:nvSpPr>
        <p:spPr bwMode="auto">
          <a:xfrm>
            <a:off x="837260" y="3395387"/>
            <a:ext cx="3970477" cy="3522330"/>
          </a:xfrm>
          <a:custGeom>
            <a:avLst/>
            <a:gdLst>
              <a:gd name="T0" fmla="*/ 1557 w 2458"/>
              <a:gd name="T1" fmla="*/ 0 h 2180"/>
              <a:gd name="T2" fmla="*/ 1529 w 2458"/>
              <a:gd name="T3" fmla="*/ 0 h 2180"/>
              <a:gd name="T4" fmla="*/ 618 w 2458"/>
              <a:gd name="T5" fmla="*/ 140 h 2180"/>
              <a:gd name="T6" fmla="*/ 233 w 2458"/>
              <a:gd name="T7" fmla="*/ 281 h 2180"/>
              <a:gd name="T8" fmla="*/ 13 w 2458"/>
              <a:gd name="T9" fmla="*/ 831 h 2180"/>
              <a:gd name="T10" fmla="*/ 81 w 2458"/>
              <a:gd name="T11" fmla="*/ 1775 h 2180"/>
              <a:gd name="T12" fmla="*/ 215 w 2458"/>
              <a:gd name="T13" fmla="*/ 2066 h 2180"/>
              <a:gd name="T14" fmla="*/ 645 w 2458"/>
              <a:gd name="T15" fmla="*/ 2180 h 2180"/>
              <a:gd name="T16" fmla="*/ 1805 w 2458"/>
              <a:gd name="T17" fmla="*/ 2180 h 2180"/>
              <a:gd name="T18" fmla="*/ 2036 w 2458"/>
              <a:gd name="T19" fmla="*/ 2135 h 2180"/>
              <a:gd name="T20" fmla="*/ 2235 w 2458"/>
              <a:gd name="T21" fmla="*/ 1964 h 2180"/>
              <a:gd name="T22" fmla="*/ 2251 w 2458"/>
              <a:gd name="T23" fmla="*/ 1448 h 2180"/>
              <a:gd name="T24" fmla="*/ 2343 w 2458"/>
              <a:gd name="T25" fmla="*/ 1155 h 2180"/>
              <a:gd name="T26" fmla="*/ 2419 w 2458"/>
              <a:gd name="T27" fmla="*/ 820 h 2180"/>
              <a:gd name="T28" fmla="*/ 1896 w 2458"/>
              <a:gd name="T29" fmla="*/ 61 h 2180"/>
              <a:gd name="T30" fmla="*/ 1557 w 2458"/>
              <a:gd name="T31" fmla="*/ 0 h 218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458" h="2180">
                <a:moveTo>
                  <a:pt x="1557" y="0"/>
                </a:moveTo>
                <a:cubicBezTo>
                  <a:pt x="1548" y="0"/>
                  <a:pt x="1539" y="0"/>
                  <a:pt x="1529" y="0"/>
                </a:cubicBezTo>
                <a:cubicBezTo>
                  <a:pt x="1222" y="9"/>
                  <a:pt x="917" y="75"/>
                  <a:pt x="618" y="140"/>
                </a:cubicBezTo>
                <a:cubicBezTo>
                  <a:pt x="482" y="170"/>
                  <a:pt x="340" y="202"/>
                  <a:pt x="233" y="281"/>
                </a:cubicBezTo>
                <a:cubicBezTo>
                  <a:pt x="56" y="411"/>
                  <a:pt x="21" y="631"/>
                  <a:pt x="13" y="831"/>
                </a:cubicBezTo>
                <a:cubicBezTo>
                  <a:pt x="0" y="1146"/>
                  <a:pt x="23" y="1463"/>
                  <a:pt x="81" y="1775"/>
                </a:cubicBezTo>
                <a:cubicBezTo>
                  <a:pt x="100" y="1880"/>
                  <a:pt x="128" y="1991"/>
                  <a:pt x="215" y="2066"/>
                </a:cubicBezTo>
                <a:cubicBezTo>
                  <a:pt x="323" y="2159"/>
                  <a:pt x="491" y="2172"/>
                  <a:pt x="645" y="2180"/>
                </a:cubicBezTo>
                <a:cubicBezTo>
                  <a:pt x="1805" y="2180"/>
                  <a:pt x="1805" y="2180"/>
                  <a:pt x="1805" y="2180"/>
                </a:cubicBezTo>
                <a:cubicBezTo>
                  <a:pt x="1884" y="2180"/>
                  <a:pt x="1963" y="2165"/>
                  <a:pt x="2036" y="2135"/>
                </a:cubicBezTo>
                <a:cubicBezTo>
                  <a:pt x="2124" y="2098"/>
                  <a:pt x="2197" y="2043"/>
                  <a:pt x="2235" y="1964"/>
                </a:cubicBezTo>
                <a:cubicBezTo>
                  <a:pt x="2313" y="1804"/>
                  <a:pt x="2230" y="1621"/>
                  <a:pt x="2251" y="1448"/>
                </a:cubicBezTo>
                <a:cubicBezTo>
                  <a:pt x="2262" y="1347"/>
                  <a:pt x="2309" y="1252"/>
                  <a:pt x="2343" y="1155"/>
                </a:cubicBezTo>
                <a:cubicBezTo>
                  <a:pt x="2382" y="1045"/>
                  <a:pt x="2405" y="934"/>
                  <a:pt x="2419" y="820"/>
                </a:cubicBezTo>
                <a:cubicBezTo>
                  <a:pt x="2458" y="497"/>
                  <a:pt x="2247" y="189"/>
                  <a:pt x="1896" y="61"/>
                </a:cubicBezTo>
                <a:cubicBezTo>
                  <a:pt x="1789" y="21"/>
                  <a:pt x="1674" y="0"/>
                  <a:pt x="1557" y="0"/>
                </a:cubicBezTo>
              </a:path>
            </a:pathLst>
          </a:custGeom>
          <a:solidFill>
            <a:schemeClr val="accent1">
              <a:alpha val="17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06" tIns="45703" rIns="91406" bIns="45703" numCol="1" anchor="t" anchorCtr="0" compatLnSpc="1"/>
          <a:lstStyle/>
          <a:p>
            <a:endParaRPr lang="zh-CN" altLang="en-US" sz="1800">
              <a:cs typeface="微软雅黑" panose="020B0503020204020204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837260" y="648109"/>
            <a:ext cx="2129014" cy="1081011"/>
          </a:xfrm>
        </p:spPr>
        <p:txBody>
          <a:bodyPr wrap="square" anchor="ctr" anchorCtr="0">
            <a:normAutofit/>
          </a:bodyPr>
          <a:lstStyle>
            <a:lvl1pPr algn="l">
              <a:defRPr sz="4915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标题</a:t>
            </a:r>
          </a:p>
        </p:txBody>
      </p:sp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50" r="27352"/>
          <a:stretch>
            <a:fillRect/>
          </a:stretch>
        </p:blipFill>
        <p:spPr>
          <a:xfrm>
            <a:off x="1197808" y="2099825"/>
            <a:ext cx="3554704" cy="4829953"/>
          </a:xfrm>
          <a:prstGeom prst="rect">
            <a:avLst/>
          </a:prstGeom>
        </p:spPr>
      </p:pic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  <a:t>2026/1/11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6"/>
          <p:cNvSpPr/>
          <p:nvPr userDrawn="1">
            <p:custDataLst>
              <p:tags r:id="rId1"/>
            </p:custDataLst>
          </p:nvPr>
        </p:nvSpPr>
        <p:spPr bwMode="auto">
          <a:xfrm rot="6240000" flipH="1">
            <a:off x="1155279" y="2458469"/>
            <a:ext cx="2942152" cy="3513444"/>
          </a:xfrm>
          <a:custGeom>
            <a:avLst/>
            <a:gdLst>
              <a:gd name="connsiteX0" fmla="*/ 4417 w 6611"/>
              <a:gd name="connsiteY0" fmla="*/ 31 h 6706"/>
              <a:gd name="connsiteX1" fmla="*/ 3525 w 6611"/>
              <a:gd name="connsiteY1" fmla="*/ 35 h 6706"/>
              <a:gd name="connsiteX2" fmla="*/ 1943 w 6611"/>
              <a:gd name="connsiteY2" fmla="*/ 444 h 6706"/>
              <a:gd name="connsiteX3" fmla="*/ 850 w 6611"/>
              <a:gd name="connsiteY3" fmla="*/ 1131 h 6706"/>
              <a:gd name="connsiteX4" fmla="*/ 7 w 6611"/>
              <a:gd name="connsiteY4" fmla="*/ 2491 h 6706"/>
              <a:gd name="connsiteX5" fmla="*/ 211 w 6611"/>
              <a:gd name="connsiteY5" fmla="*/ 4826 h 6706"/>
              <a:gd name="connsiteX6" fmla="*/ 752 w 6611"/>
              <a:gd name="connsiteY6" fmla="*/ 5937 h 6706"/>
              <a:gd name="connsiteX7" fmla="*/ 1926 w 6611"/>
              <a:gd name="connsiteY7" fmla="*/ 6575 h 6706"/>
              <a:gd name="connsiteX8" fmla="*/ 4060 w 6611"/>
              <a:gd name="connsiteY8" fmla="*/ 6611 h 6706"/>
              <a:gd name="connsiteX9" fmla="*/ 5547 w 6611"/>
              <a:gd name="connsiteY9" fmla="*/ 5965 h 6706"/>
              <a:gd name="connsiteX10" fmla="*/ 6120 w 6611"/>
              <a:gd name="connsiteY10" fmla="*/ 5119 h 6706"/>
              <a:gd name="connsiteX11" fmla="*/ 6193 w 6611"/>
              <a:gd name="connsiteY11" fmla="*/ 4057 h 6706"/>
              <a:gd name="connsiteX12" fmla="*/ 6398 w 6611"/>
              <a:gd name="connsiteY12" fmla="*/ 3222 h 6706"/>
              <a:gd name="connsiteX13" fmla="*/ 6599 w 6611"/>
              <a:gd name="connsiteY13" fmla="*/ 2281 h 6706"/>
              <a:gd name="connsiteX14" fmla="*/ 5278 w 6611"/>
              <a:gd name="connsiteY14" fmla="*/ 246 h 6706"/>
              <a:gd name="connsiteX15" fmla="*/ 4417 w 6611"/>
              <a:gd name="connsiteY15" fmla="*/ 31 h 67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0" t="0" r="r" b="b"/>
            <a:pathLst>
              <a:path w="6612" h="6706">
                <a:moveTo>
                  <a:pt x="4417" y="31"/>
                </a:moveTo>
                <a:cubicBezTo>
                  <a:pt x="4275" y="12"/>
                  <a:pt x="4045" y="-31"/>
                  <a:pt x="3525" y="35"/>
                </a:cubicBezTo>
                <a:cubicBezTo>
                  <a:pt x="3006" y="101"/>
                  <a:pt x="2368" y="252"/>
                  <a:pt x="1943" y="444"/>
                </a:cubicBezTo>
                <a:cubicBezTo>
                  <a:pt x="1518" y="636"/>
                  <a:pt x="1206" y="810"/>
                  <a:pt x="850" y="1131"/>
                </a:cubicBezTo>
                <a:cubicBezTo>
                  <a:pt x="494" y="1452"/>
                  <a:pt x="28" y="1938"/>
                  <a:pt x="7" y="2491"/>
                </a:cubicBezTo>
                <a:cubicBezTo>
                  <a:pt x="-27" y="3362"/>
                  <a:pt x="58" y="4271"/>
                  <a:pt x="211" y="4826"/>
                </a:cubicBezTo>
                <a:cubicBezTo>
                  <a:pt x="364" y="5381"/>
                  <a:pt x="482" y="5677"/>
                  <a:pt x="752" y="5937"/>
                </a:cubicBezTo>
                <a:cubicBezTo>
                  <a:pt x="1022" y="6197"/>
                  <a:pt x="1328" y="6417"/>
                  <a:pt x="1926" y="6575"/>
                </a:cubicBezTo>
                <a:cubicBezTo>
                  <a:pt x="2524" y="6733"/>
                  <a:pt x="3366" y="6751"/>
                  <a:pt x="4060" y="6611"/>
                </a:cubicBezTo>
                <a:cubicBezTo>
                  <a:pt x="4755" y="6471"/>
                  <a:pt x="5352" y="6115"/>
                  <a:pt x="5547" y="5965"/>
                </a:cubicBezTo>
                <a:cubicBezTo>
                  <a:pt x="5742" y="5815"/>
                  <a:pt x="6019" y="5562"/>
                  <a:pt x="6120" y="5119"/>
                </a:cubicBezTo>
                <a:cubicBezTo>
                  <a:pt x="6221" y="4677"/>
                  <a:pt x="6140" y="4535"/>
                  <a:pt x="6193" y="4057"/>
                </a:cubicBezTo>
                <a:cubicBezTo>
                  <a:pt x="6221" y="3778"/>
                  <a:pt x="6310" y="3490"/>
                  <a:pt x="6398" y="3222"/>
                </a:cubicBezTo>
                <a:cubicBezTo>
                  <a:pt x="6538" y="2812"/>
                  <a:pt x="6563" y="2596"/>
                  <a:pt x="6599" y="2281"/>
                </a:cubicBezTo>
                <a:cubicBezTo>
                  <a:pt x="6700" y="1390"/>
                  <a:pt x="6184" y="599"/>
                  <a:pt x="5278" y="246"/>
                </a:cubicBezTo>
                <a:cubicBezTo>
                  <a:pt x="5003" y="136"/>
                  <a:pt x="4559" y="50"/>
                  <a:pt x="4417" y="31"/>
                </a:cubicBezTo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txBody>
          <a:bodyPr vert="horz" wrap="square" lIns="91406" tIns="45703" rIns="91406" bIns="45703" numCol="1" anchor="t" anchorCtr="0" compatLnSpc="1"/>
          <a:lstStyle/>
          <a:p>
            <a:endParaRPr lang="zh-CN" altLang="en-US" sz="1800">
              <a:cs typeface="微软雅黑" panose="020B0503020204020204" charset="-122"/>
            </a:endParaRPr>
          </a:p>
        </p:txBody>
      </p:sp>
      <p:pic>
        <p:nvPicPr>
          <p:cNvPr id="7" name="图片 6" descr="D:\工作文件\临时素材\无人机5资源-1@600x-8.png无人机5资源-1@600x-8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9"/>
          <a:srcRect l="150" r="150"/>
          <a:stretch>
            <a:fillRect/>
          </a:stretch>
        </p:blipFill>
        <p:spPr>
          <a:xfrm>
            <a:off x="869633" y="1632635"/>
            <a:ext cx="3756560" cy="326144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5459009" y="3489968"/>
            <a:ext cx="5890652" cy="1760848"/>
          </a:xfrm>
        </p:spPr>
        <p:txBody>
          <a:bodyPr wrap="square" lIns="0" tIns="0" rIns="0" bIns="0" anchor="t" anchorCtr="0">
            <a:normAutofit/>
          </a:bodyPr>
          <a:lstStyle>
            <a:lvl1pPr algn="l">
              <a:defRPr sz="4505">
                <a:solidFill>
                  <a:schemeClr val="accent1"/>
                </a:solidFill>
              </a:defRPr>
            </a:lvl1pPr>
          </a:lstStyle>
          <a:p>
            <a:r>
              <a:rPr lang="zh-CN" altLang="en-US" dirty="0"/>
              <a:t>单击编辑母版标题</a:t>
            </a:r>
          </a:p>
        </p:txBody>
      </p:sp>
      <p:sp>
        <p:nvSpPr>
          <p:cNvPr id="8" name="文本占位符 7"/>
          <p:cNvSpPr>
            <a:spLocks noGrp="1"/>
          </p:cNvSpPr>
          <p:nvPr>
            <p:ph type="body" sz="quarter" idx="13" hasCustomPrompt="1"/>
            <p:custDataLst>
              <p:tags r:id="rId4"/>
            </p:custDataLst>
          </p:nvPr>
        </p:nvSpPr>
        <p:spPr>
          <a:xfrm>
            <a:off x="5459009" y="2447043"/>
            <a:ext cx="5890652" cy="959770"/>
          </a:xfrm>
          <a:prstGeom prst="roundRect">
            <a:avLst>
              <a:gd name="adj" fmla="val 0"/>
            </a:avLst>
          </a:prstGeom>
          <a:noFill/>
        </p:spPr>
        <p:txBody>
          <a:bodyPr wrap="square" anchor="b" anchorCtr="0">
            <a:noAutofit/>
          </a:bodyPr>
          <a:lstStyle>
            <a:lvl1pPr marL="0" indent="0" algn="l" eaLnBrk="1" fontAlgn="auto" latinLnBrk="0" hangingPunct="1">
              <a:lnSpc>
                <a:spcPct val="100000"/>
              </a:lnSpc>
              <a:spcBef>
                <a:spcPts val="0"/>
              </a:spcBef>
              <a:buNone/>
              <a:defRPr sz="4915" b="1" u="none" strike="noStrike" kern="1200" cap="none" spc="100" normalizeH="0">
                <a:solidFill>
                  <a:schemeClr val="accent1"/>
                </a:solidFill>
                <a:uFillTx/>
                <a:latin typeface="+mj-ea"/>
                <a:ea typeface="+mj-ea"/>
              </a:defRPr>
            </a:lvl1pPr>
          </a:lstStyle>
          <a:p>
            <a:pPr lvl="0"/>
            <a:r>
              <a:rPr lang="zh-CN" altLang="en-US" dirty="0"/>
              <a:t>编号</a:t>
            </a:r>
          </a:p>
        </p:txBody>
      </p:sp>
      <p:sp>
        <p:nvSpPr>
          <p:cNvPr id="12" name="日期占位符 11"/>
          <p:cNvSpPr>
            <a:spLocks noGrp="1"/>
          </p:cNvSpPr>
          <p:nvPr>
            <p:ph type="dt" sz="half" idx="14"/>
            <p:custDataLst>
              <p:tags r:id="rId5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  <a:t>2026/1/11</a:t>
            </a:fld>
            <a:endParaRPr lang="zh-CN" altLang="en-US" dirty="0"/>
          </a:p>
        </p:txBody>
      </p:sp>
      <p:sp>
        <p:nvSpPr>
          <p:cNvPr id="13" name="页脚占位符 12"/>
          <p:cNvSpPr>
            <a:spLocks noGrp="1"/>
          </p:cNvSpPr>
          <p:nvPr>
            <p:ph type="ftr" sz="quarter" idx="15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4" name="灯片编号占位符 13"/>
          <p:cNvSpPr>
            <a:spLocks noGrp="1"/>
          </p:cNvSpPr>
          <p:nvPr>
            <p:ph type="sldNum" sz="quarter" idx="16"/>
            <p:custDataLst>
              <p:tags r:id="rId7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 vert="horz" wrap="square" lIns="0" tIns="0" rIns="0" bIns="0" rtlCol="0" anchor="b" anchorCtr="0">
            <a:normAutofit/>
          </a:bodyPr>
          <a:lstStyle>
            <a:lvl1pPr>
              <a:defRPr lang="zh-CN" altLang="en-US" dirty="0"/>
            </a:lvl1pPr>
          </a:lstStyle>
          <a:p>
            <a:pPr lvl="0"/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695071" y="1359050"/>
            <a:ext cx="5322534" cy="4899463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169950" y="1359050"/>
            <a:ext cx="5320659" cy="4899463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  <a:t>2026/1/11</a:t>
            </a:fld>
            <a:endParaRPr lang="zh-CN" altLang="en-US" dirty="0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"/>
            </p:custDataLst>
          </p:nvPr>
        </p:nvSpPr>
        <p:spPr>
          <a:xfrm>
            <a:off x="695072" y="1359050"/>
            <a:ext cx="5300317" cy="463216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55" b="1"/>
            </a:lvl1pPr>
            <a:lvl2pPr marL="467995" indent="0">
              <a:buNone/>
              <a:defRPr sz="2050" b="1"/>
            </a:lvl2pPr>
            <a:lvl3pPr marL="935990" indent="0">
              <a:buNone/>
              <a:defRPr sz="1845" b="1"/>
            </a:lvl3pPr>
            <a:lvl4pPr marL="1404620" indent="0">
              <a:buNone/>
              <a:defRPr sz="1640" b="1"/>
            </a:lvl4pPr>
            <a:lvl5pPr marL="1872615" indent="0">
              <a:buNone/>
              <a:defRPr sz="1640" b="1"/>
            </a:lvl5pPr>
            <a:lvl6pPr marL="2340610" indent="0">
              <a:buNone/>
              <a:defRPr sz="1640" b="1"/>
            </a:lvl6pPr>
            <a:lvl7pPr marL="2808605" indent="0">
              <a:buNone/>
              <a:defRPr sz="1640" b="1"/>
            </a:lvl7pPr>
            <a:lvl8pPr marL="3276600" indent="0">
              <a:buNone/>
              <a:defRPr sz="1640" b="1"/>
            </a:lvl8pPr>
            <a:lvl9pPr marL="3745230" indent="0">
              <a:buNone/>
              <a:defRPr sz="164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2"/>
            </p:custDataLst>
          </p:nvPr>
        </p:nvSpPr>
        <p:spPr>
          <a:xfrm>
            <a:off x="695072" y="2143689"/>
            <a:ext cx="5300317" cy="4126883"/>
          </a:xfrm>
        </p:spPr>
        <p:txBody>
          <a:bodyPr wrap="square">
            <a:normAutofit/>
          </a:bodyPr>
          <a:lstStyle>
            <a:lvl1pPr>
              <a:defRPr sz="2255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  <p:custDataLst>
              <p:tags r:id="rId3"/>
            </p:custDataLst>
          </p:nvPr>
        </p:nvSpPr>
        <p:spPr>
          <a:xfrm>
            <a:off x="6169950" y="1359050"/>
            <a:ext cx="5327295" cy="463216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55" b="1"/>
            </a:lvl1pPr>
            <a:lvl2pPr marL="467995" indent="0">
              <a:buNone/>
              <a:defRPr sz="2050" b="1"/>
            </a:lvl2pPr>
            <a:lvl3pPr marL="935990" indent="0">
              <a:buNone/>
              <a:defRPr sz="1845" b="1"/>
            </a:lvl3pPr>
            <a:lvl4pPr marL="1404620" indent="0">
              <a:buNone/>
              <a:defRPr sz="1640" b="1"/>
            </a:lvl4pPr>
            <a:lvl5pPr marL="1872615" indent="0">
              <a:buNone/>
              <a:defRPr sz="1640" b="1"/>
            </a:lvl5pPr>
            <a:lvl6pPr marL="2340610" indent="0">
              <a:buNone/>
              <a:defRPr sz="1640" b="1"/>
            </a:lvl6pPr>
            <a:lvl7pPr marL="2808605" indent="0">
              <a:buNone/>
              <a:defRPr sz="1640" b="1"/>
            </a:lvl7pPr>
            <a:lvl8pPr marL="3276600" indent="0">
              <a:buNone/>
              <a:defRPr sz="1640" b="1"/>
            </a:lvl8pPr>
            <a:lvl9pPr marL="3745230" indent="0">
              <a:buNone/>
              <a:defRPr sz="164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4"/>
            </p:custDataLst>
          </p:nvPr>
        </p:nvSpPr>
        <p:spPr>
          <a:xfrm>
            <a:off x="6169950" y="2143689"/>
            <a:ext cx="5327295" cy="4126883"/>
          </a:xfrm>
        </p:spPr>
        <p:txBody>
          <a:bodyPr wrap="square">
            <a:normAutofit/>
          </a:bodyPr>
          <a:lstStyle>
            <a:lvl1pPr>
              <a:defRPr sz="2255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5592522B-0F24-4480-B9DD-A9474A6880D6}" type="datetimeFigureOut">
              <a:rPr lang="zh-CN" altLang="en-US" smtClean="0"/>
              <a:t>2026/1/11</a:t>
            </a:fld>
            <a:endParaRPr lang="zh-CN" altLang="en-US" dirty="0"/>
          </a:p>
        </p:txBody>
      </p:sp>
      <p:sp>
        <p:nvSpPr>
          <p:cNvPr id="11" name="页脚占位符 10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2" name="灯片编号占位符 11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 dirty="0"/>
          </a:p>
        </p:txBody>
      </p:sp>
      <p:sp>
        <p:nvSpPr>
          <p:cNvPr id="13" name="标题 12"/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2026/1/11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2026/1/11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  <p:custDataLst>
              <p:tags r:id="rId1"/>
            </p:custDataLst>
          </p:nvPr>
        </p:nvSpPr>
        <p:spPr>
          <a:xfrm>
            <a:off x="695071" y="443034"/>
            <a:ext cx="10802173" cy="5815479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2026/1/11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1"/>
            </p:custDataLst>
          </p:nvPr>
        </p:nvSpPr>
        <p:spPr>
          <a:xfrm>
            <a:off x="695071" y="1378693"/>
            <a:ext cx="10802173" cy="575790"/>
          </a:xfrm>
        </p:spPr>
        <p:txBody>
          <a:bodyPr wrap="square" anchor="t">
            <a:normAutofit/>
          </a:bodyPr>
          <a:lstStyle>
            <a:lvl1pPr marL="0" indent="0">
              <a:buNone/>
              <a:defRPr sz="2455" b="0"/>
            </a:lvl1pPr>
            <a:lvl2pPr marL="467995" indent="0">
              <a:buNone/>
              <a:defRPr sz="2050" b="1"/>
            </a:lvl2pPr>
            <a:lvl3pPr marL="935990" indent="0">
              <a:buNone/>
              <a:defRPr sz="1845" b="1"/>
            </a:lvl3pPr>
            <a:lvl4pPr marL="1404620" indent="0">
              <a:buNone/>
              <a:defRPr sz="1640" b="1"/>
            </a:lvl4pPr>
            <a:lvl5pPr marL="1872615" indent="0">
              <a:buNone/>
              <a:defRPr sz="1640" b="1"/>
            </a:lvl5pPr>
            <a:lvl6pPr marL="2340610" indent="0">
              <a:buNone/>
              <a:defRPr sz="1640" b="1"/>
            </a:lvl6pPr>
            <a:lvl7pPr marL="2808605" indent="0">
              <a:buNone/>
              <a:defRPr sz="1640" b="1"/>
            </a:lvl7pPr>
            <a:lvl8pPr marL="3276600" indent="0">
              <a:buNone/>
              <a:defRPr sz="1640" b="1"/>
            </a:lvl8pPr>
            <a:lvl9pPr marL="3745230" indent="0">
              <a:buNone/>
              <a:defRPr sz="1640" b="1"/>
            </a:lvl9pPr>
          </a:lstStyle>
          <a:p>
            <a:r>
              <a:rPr lang="zh-CN" altLang="en-US" dirty="0"/>
              <a:t>单击此处编辑母版副标题样式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2026/1/11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任意多边形: 形状 6"/>
          <p:cNvSpPr/>
          <p:nvPr userDrawn="1">
            <p:custDataLst>
              <p:tags r:id="rId1"/>
            </p:custDataLst>
          </p:nvPr>
        </p:nvSpPr>
        <p:spPr>
          <a:xfrm>
            <a:off x="6214960" y="937752"/>
            <a:ext cx="5595525" cy="5915283"/>
          </a:xfrm>
          <a:custGeom>
            <a:avLst/>
            <a:gdLst>
              <a:gd name="connsiteX0" fmla="*/ 3604196 w 5597566"/>
              <a:gd name="connsiteY0" fmla="*/ 127 h 5917440"/>
              <a:gd name="connsiteX1" fmla="*/ 5020674 w 5597566"/>
              <a:gd name="connsiteY1" fmla="*/ 776538 h 5917440"/>
              <a:gd name="connsiteX2" fmla="*/ 5376373 w 5597566"/>
              <a:gd name="connsiteY2" fmla="*/ 1444944 h 5917440"/>
              <a:gd name="connsiteX3" fmla="*/ 5557177 w 5597566"/>
              <a:gd name="connsiteY3" fmla="*/ 2184215 h 5917440"/>
              <a:gd name="connsiteX4" fmla="*/ 5545132 w 5597566"/>
              <a:gd name="connsiteY4" fmla="*/ 3578297 h 5917440"/>
              <a:gd name="connsiteX5" fmla="*/ 5202018 w 5597566"/>
              <a:gd name="connsiteY5" fmla="*/ 4624938 h 5917440"/>
              <a:gd name="connsiteX6" fmla="*/ 4250176 w 5597566"/>
              <a:gd name="connsiteY6" fmla="*/ 5603523 h 5917440"/>
              <a:gd name="connsiteX7" fmla="*/ 2275095 w 5597566"/>
              <a:gd name="connsiteY7" fmla="*/ 5916586 h 5917440"/>
              <a:gd name="connsiteX8" fmla="*/ 1243715 w 5597566"/>
              <a:gd name="connsiteY8" fmla="*/ 5698027 h 5917440"/>
              <a:gd name="connsiteX9" fmla="*/ 473239 w 5597566"/>
              <a:gd name="connsiteY9" fmla="*/ 4857811 h 5917440"/>
              <a:gd name="connsiteX10" fmla="*/ 2965 w 5597566"/>
              <a:gd name="connsiteY10" fmla="*/ 3098601 h 5917440"/>
              <a:gd name="connsiteX11" fmla="*/ 230813 w 5597566"/>
              <a:gd name="connsiteY11" fmla="*/ 1734249 h 5917440"/>
              <a:gd name="connsiteX12" fmla="*/ 812883 w 5597566"/>
              <a:gd name="connsiteY12" fmla="*/ 1085274 h 5917440"/>
              <a:gd name="connsiteX13" fmla="*/ 1676967 w 5597566"/>
              <a:gd name="connsiteY13" fmla="*/ 805643 h 5917440"/>
              <a:gd name="connsiteX14" fmla="*/ 2325887 w 5597566"/>
              <a:gd name="connsiteY14" fmla="*/ 463589 h 5917440"/>
              <a:gd name="connsiteX15" fmla="*/ 3063384 w 5597566"/>
              <a:gd name="connsiteY15" fmla="*/ 102968 h 5917440"/>
              <a:gd name="connsiteX16" fmla="*/ 3604196 w 5597566"/>
              <a:gd name="connsiteY16" fmla="*/ 127 h 59174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5597566" h="5917440">
                <a:moveTo>
                  <a:pt x="3604196" y="127"/>
                </a:moveTo>
                <a:cubicBezTo>
                  <a:pt x="4143157" y="-6764"/>
                  <a:pt x="4661253" y="268656"/>
                  <a:pt x="5020674" y="776538"/>
                </a:cubicBezTo>
                <a:cubicBezTo>
                  <a:pt x="5168497" y="981494"/>
                  <a:pt x="5331334" y="1331311"/>
                  <a:pt x="5376373" y="1444944"/>
                </a:cubicBezTo>
                <a:cubicBezTo>
                  <a:pt x="5421411" y="1558578"/>
                  <a:pt x="5504481" y="1740109"/>
                  <a:pt x="5557177" y="2184215"/>
                </a:cubicBezTo>
                <a:cubicBezTo>
                  <a:pt x="5609665" y="2627494"/>
                  <a:pt x="5616351" y="3186831"/>
                  <a:pt x="5545132" y="3578297"/>
                </a:cubicBezTo>
                <a:cubicBezTo>
                  <a:pt x="5473912" y="3969764"/>
                  <a:pt x="5394269" y="4263968"/>
                  <a:pt x="5202018" y="4624938"/>
                </a:cubicBezTo>
                <a:cubicBezTo>
                  <a:pt x="5009767" y="4985909"/>
                  <a:pt x="4703629" y="5471999"/>
                  <a:pt x="4250176" y="5603523"/>
                </a:cubicBezTo>
                <a:cubicBezTo>
                  <a:pt x="3536157" y="5811445"/>
                  <a:pt x="2766119" y="5928695"/>
                  <a:pt x="2275095" y="5916586"/>
                </a:cubicBezTo>
                <a:cubicBezTo>
                  <a:pt x="1784072" y="5904476"/>
                  <a:pt x="1514679" y="5867884"/>
                  <a:pt x="1243715" y="5698027"/>
                </a:cubicBezTo>
                <a:cubicBezTo>
                  <a:pt x="972750" y="5528171"/>
                  <a:pt x="727468" y="5320256"/>
                  <a:pt x="473239" y="4857811"/>
                </a:cubicBezTo>
                <a:cubicBezTo>
                  <a:pt x="219012" y="4395366"/>
                  <a:pt x="30316" y="3702028"/>
                  <a:pt x="2965" y="3098601"/>
                </a:cubicBezTo>
                <a:cubicBezTo>
                  <a:pt x="-24592" y="2494347"/>
                  <a:pt x="146889" y="1926640"/>
                  <a:pt x="230813" y="1734249"/>
                </a:cubicBezTo>
                <a:cubicBezTo>
                  <a:pt x="314738" y="1541857"/>
                  <a:pt x="467003" y="1260322"/>
                  <a:pt x="812883" y="1085274"/>
                </a:cubicBezTo>
                <a:cubicBezTo>
                  <a:pt x="1157935" y="910432"/>
                  <a:pt x="1292205" y="948179"/>
                  <a:pt x="1676967" y="805643"/>
                </a:cubicBezTo>
                <a:cubicBezTo>
                  <a:pt x="1902150" y="724878"/>
                  <a:pt x="2122194" y="591756"/>
                  <a:pt x="2325887" y="463589"/>
                </a:cubicBezTo>
                <a:cubicBezTo>
                  <a:pt x="2636399" y="263066"/>
                  <a:pt x="2810049" y="197787"/>
                  <a:pt x="3063384" y="102968"/>
                </a:cubicBezTo>
                <a:cubicBezTo>
                  <a:pt x="3242571" y="36089"/>
                  <a:pt x="3424543" y="2424"/>
                  <a:pt x="3604196" y="127"/>
                </a:cubicBez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txBody>
          <a:bodyPr vert="horz" wrap="square" lIns="91406" tIns="45703" rIns="91406" bIns="45703" numCol="1" anchor="t" anchorCtr="0" compatLnSpc="1"/>
          <a:lstStyle/>
          <a:p>
            <a:pPr lvl="0"/>
            <a:endParaRPr lang="zh-CN" altLang="en-US" sz="1800">
              <a:solidFill>
                <a:schemeClr val="tx1"/>
              </a:solidFill>
            </a:endParaRPr>
          </a:p>
        </p:txBody>
      </p:sp>
      <p:pic>
        <p:nvPicPr>
          <p:cNvPr id="9" name="图片 8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56" t="-1" r="15418" b="631"/>
          <a:stretch>
            <a:fillRect/>
          </a:stretch>
        </p:blipFill>
        <p:spPr>
          <a:xfrm>
            <a:off x="5988406" y="2504807"/>
            <a:ext cx="5415210" cy="4430684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3"/>
            </p:custDataLst>
          </p:nvPr>
        </p:nvSpPr>
        <p:spPr>
          <a:xfrm>
            <a:off x="695071" y="1387615"/>
            <a:ext cx="5398706" cy="2151865"/>
          </a:xfrm>
        </p:spPr>
        <p:txBody>
          <a:bodyPr wrap="square" anchor="b" anchorCtr="0">
            <a:normAutofit/>
          </a:bodyPr>
          <a:lstStyle>
            <a:lvl1pPr algn="l">
              <a:lnSpc>
                <a:spcPct val="100000"/>
              </a:lnSpc>
              <a:defRPr sz="5530"/>
            </a:lvl1pPr>
          </a:lstStyle>
          <a:p>
            <a:r>
              <a:rPr lang="zh-CN" altLang="en-US" dirty="0"/>
              <a:t>编辑母版标题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2026/1/11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607461" y="6437198"/>
            <a:ext cx="2742200" cy="364992"/>
          </a:xfr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4" name="文本占位符 23"/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01744" y="3822586"/>
            <a:ext cx="2878950" cy="57938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845">
                <a:solidFill>
                  <a:schemeClr val="lt1">
                    <a:lumMod val="100000"/>
                  </a:schemeClr>
                </a:solidFill>
              </a:defRPr>
            </a:lvl1pPr>
          </a:lstStyle>
          <a:p>
            <a:r>
              <a:rPr lang="zh-CN" altLang="en-US" dirty="0"/>
              <a:t>署名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3.xml"/><Relationship Id="rId3" Type="http://schemas.openxmlformats.org/officeDocument/2006/relationships/slideLayout" Target="../slideLayouts/slideLayout18.xml"/><Relationship Id="rId7" Type="http://schemas.openxmlformats.org/officeDocument/2006/relationships/slideLayout" Target="../slideLayouts/slideLayout22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7.xml"/><Relationship Id="rId1" Type="http://schemas.openxmlformats.org/officeDocument/2006/relationships/slideLayout" Target="../slideLayouts/slideLayout16.xml"/><Relationship Id="rId6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5.xml"/><Relationship Id="rId4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4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4.xml"/><Relationship Id="rId13" Type="http://schemas.openxmlformats.org/officeDocument/2006/relationships/slideLayout" Target="../slideLayouts/slideLayout39.xml"/><Relationship Id="rId3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8.xml"/><Relationship Id="rId2" Type="http://schemas.openxmlformats.org/officeDocument/2006/relationships/slideLayout" Target="../slideLayouts/slideLayout28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27.xml"/><Relationship Id="rId6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1.xml"/><Relationship Id="rId15" Type="http://schemas.openxmlformats.org/officeDocument/2006/relationships/theme" Target="../theme/theme3.xml"/><Relationship Id="rId10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5.xml"/><Relationship Id="rId14" Type="http://schemas.openxmlformats.org/officeDocument/2006/relationships/slideLayout" Target="../slideLayouts/slideLayout40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8.xml"/><Relationship Id="rId13" Type="http://schemas.openxmlformats.org/officeDocument/2006/relationships/tags" Target="../tags/tag15.xml"/><Relationship Id="rId18" Type="http://schemas.openxmlformats.org/officeDocument/2006/relationships/tags" Target="../tags/tag20.xml"/><Relationship Id="rId3" Type="http://schemas.openxmlformats.org/officeDocument/2006/relationships/slideLayout" Target="../slideLayouts/slideLayout43.xml"/><Relationship Id="rId7" Type="http://schemas.openxmlformats.org/officeDocument/2006/relationships/slideLayout" Target="../slideLayouts/slideLayout47.xml"/><Relationship Id="rId12" Type="http://schemas.openxmlformats.org/officeDocument/2006/relationships/theme" Target="../theme/theme4.xml"/><Relationship Id="rId17" Type="http://schemas.openxmlformats.org/officeDocument/2006/relationships/tags" Target="../tags/tag19.xml"/><Relationship Id="rId2" Type="http://schemas.openxmlformats.org/officeDocument/2006/relationships/slideLayout" Target="../slideLayouts/slideLayout42.xml"/><Relationship Id="rId16" Type="http://schemas.openxmlformats.org/officeDocument/2006/relationships/tags" Target="../tags/tag18.xml"/><Relationship Id="rId1" Type="http://schemas.openxmlformats.org/officeDocument/2006/relationships/slideLayout" Target="../slideLayouts/slideLayout41.xml"/><Relationship Id="rId6" Type="http://schemas.openxmlformats.org/officeDocument/2006/relationships/slideLayout" Target="../slideLayouts/slideLayout46.xml"/><Relationship Id="rId11" Type="http://schemas.openxmlformats.org/officeDocument/2006/relationships/slideLayout" Target="../slideLayouts/slideLayout51.xml"/><Relationship Id="rId5" Type="http://schemas.openxmlformats.org/officeDocument/2006/relationships/slideLayout" Target="../slideLayouts/slideLayout45.xml"/><Relationship Id="rId15" Type="http://schemas.openxmlformats.org/officeDocument/2006/relationships/tags" Target="../tags/tag17.xml"/><Relationship Id="rId10" Type="http://schemas.openxmlformats.org/officeDocument/2006/relationships/slideLayout" Target="../slideLayouts/slideLayout50.xml"/><Relationship Id="rId4" Type="http://schemas.openxmlformats.org/officeDocument/2006/relationships/slideLayout" Target="../slideLayouts/slideLayout44.xml"/><Relationship Id="rId9" Type="http://schemas.openxmlformats.org/officeDocument/2006/relationships/slideLayout" Target="../slideLayouts/slideLayout49.xml"/><Relationship Id="rId14" Type="http://schemas.openxmlformats.org/officeDocument/2006/relationships/tags" Target="../tags/tag1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 bwMode="gray">
          <a:xfrm rot="5400000" flipH="1">
            <a:off x="5882481" y="716756"/>
            <a:ext cx="422275" cy="12187238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tx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0" name="Rectangle 29"/>
          <p:cNvSpPr/>
          <p:nvPr/>
        </p:nvSpPr>
        <p:spPr bwMode="gray">
          <a:xfrm flipH="1">
            <a:off x="0" y="0"/>
            <a:ext cx="12187238" cy="69373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8" name="Rectangle 27"/>
          <p:cNvSpPr/>
          <p:nvPr/>
        </p:nvSpPr>
        <p:spPr bwMode="gray">
          <a:xfrm flipH="1">
            <a:off x="0" y="0"/>
            <a:ext cx="646113" cy="693738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50000"/>
                </a:schemeClr>
              </a:gs>
              <a:gs pos="100000">
                <a:schemeClr val="bg2">
                  <a:alpha val="2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029" name="Rectangle 3"/>
          <p:cNvSpPr>
            <a:spLocks noGrp="1"/>
          </p:cNvSpPr>
          <p:nvPr>
            <p:ph type="body"/>
          </p:nvPr>
        </p:nvSpPr>
        <p:spPr>
          <a:xfrm>
            <a:off x="1543050" y="2354263"/>
            <a:ext cx="9748838" cy="2182812"/>
          </a:xfrm>
          <a:prstGeom prst="rect">
            <a:avLst/>
          </a:prstGeom>
          <a:noFill/>
          <a:ln w="9525">
            <a:noFill/>
          </a:ln>
        </p:spPr>
        <p:txBody>
          <a:bodyPr lIns="122932" tIns="61466" rIns="122932" bIns="61466" anchor="t" anchorCtr="1">
            <a:spAutoFit/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1030" name="Rectangle 2"/>
          <p:cNvSpPr>
            <a:spLocks noGrp="1"/>
          </p:cNvSpPr>
          <p:nvPr>
            <p:ph type="title"/>
          </p:nvPr>
        </p:nvSpPr>
        <p:spPr>
          <a:xfrm>
            <a:off x="646113" y="1404938"/>
            <a:ext cx="11541125" cy="579437"/>
          </a:xfrm>
          <a:prstGeom prst="rect">
            <a:avLst/>
          </a:prstGeom>
          <a:noFill/>
          <a:ln w="9525">
            <a:noFill/>
          </a:ln>
        </p:spPr>
        <p:txBody>
          <a:bodyPr lIns="614660" tIns="61466" rIns="614660" bIns="61466" anchor="b" anchorCtr="1">
            <a:spAutoFit/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 eaLnBrk="1" hangingPunct="1">
              <a:defRPr sz="1300">
                <a:solidFill>
                  <a:schemeClr val="bg2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 algn="ctr" eaLnBrk="1" hangingPunct="1">
              <a:defRPr sz="1300">
                <a:solidFill>
                  <a:schemeClr val="bg2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 algn="r" eaLnBrk="1" hangingPunct="1">
              <a:defRPr sz="1300">
                <a:solidFill>
                  <a:schemeClr val="bg2"/>
                </a:solidFill>
                <a:ea typeface="宋体" panose="02010600030101010101" pitchFamily="2" charset="-122"/>
              </a:defRPr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5FD804A-F784-4013-AD92-560D09364ABB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1034" name="图片 11"/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165100" y="122238"/>
            <a:ext cx="328613" cy="373062"/>
          </a:xfrm>
          <a:prstGeom prst="rect">
            <a:avLst/>
          </a:prstGeom>
          <a:noFill/>
          <a:ln w="9525">
            <a:noFill/>
          </a:ln>
        </p:spPr>
      </p:pic>
    </p:spTree>
  </p:cSld>
  <p:clrMap bg1="dk2" tx1="lt1" bg2="dk1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702" r:id="rId15"/>
  </p:sldLayoutIdLst>
  <p:transition/>
  <p:hf sldNum="0"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bg2"/>
          </a:solidFill>
          <a:latin typeface="Lucida Sans" pitchFamily="34" charset="0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bg2"/>
          </a:solidFill>
          <a:latin typeface="Lucida Sans" pitchFamily="34" charset="0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bg2"/>
          </a:solidFill>
          <a:latin typeface="Lucida Sans" pitchFamily="34" charset="0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bg2"/>
          </a:solidFill>
          <a:latin typeface="Lucida Sans" pitchFamily="34" charset="0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bg2"/>
          </a:solidFill>
          <a:latin typeface="Lucida Sans" pitchFamily="34" charset="0"/>
        </a:defRPr>
      </a:lvl5pPr>
      <a:lvl6pPr marL="614680" algn="l" rtl="0" fontAlgn="base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accent2"/>
          </a:solidFill>
          <a:latin typeface="Arial" panose="020B0604020202020204" pitchFamily="34" charset="0"/>
        </a:defRPr>
      </a:lvl6pPr>
      <a:lvl7pPr marL="1229360" algn="l" rtl="0" fontAlgn="base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accent2"/>
          </a:solidFill>
          <a:latin typeface="Arial" panose="020B0604020202020204" pitchFamily="34" charset="0"/>
        </a:defRPr>
      </a:lvl7pPr>
      <a:lvl8pPr marL="1844040" algn="l" rtl="0" fontAlgn="base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accent2"/>
          </a:solidFill>
          <a:latin typeface="Arial" panose="020B0604020202020204" pitchFamily="34" charset="0"/>
        </a:defRPr>
      </a:lvl8pPr>
      <a:lvl9pPr marL="2458720" algn="l" rtl="0" fontAlgn="base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accent2"/>
          </a:solidFill>
          <a:latin typeface="Arial" panose="020B0604020202020204" pitchFamily="34" charset="0"/>
        </a:defRPr>
      </a:lvl9pPr>
    </p:titleStyle>
    <p:bodyStyle>
      <a:lvl1pPr marL="220980" indent="-220980" algn="l" rtl="0" eaLnBrk="0" fontAlgn="base" hangingPunct="0">
        <a:spcBef>
          <a:spcPct val="25000"/>
        </a:spcBef>
        <a:spcAft>
          <a:spcPct val="0"/>
        </a:spcAft>
        <a:buClr>
          <a:srgbClr val="C60C30"/>
        </a:buClr>
        <a:buSzPct val="100000"/>
        <a:buFont typeface="Arial" panose="020B0604020202020204" pitchFamily="34" charset="0"/>
        <a:buChar char="•"/>
        <a:defRPr lang="en-US" sz="3200" dirty="0">
          <a:solidFill>
            <a:schemeClr val="bg2"/>
          </a:solidFill>
          <a:latin typeface="Lucida Sans" pitchFamily="34" charset="0"/>
          <a:ea typeface="+mn-ea"/>
          <a:cs typeface="+mn-cs"/>
        </a:defRPr>
      </a:lvl1pPr>
      <a:lvl2pPr marL="462280" indent="-240030" algn="l" rtl="0" eaLnBrk="0" fontAlgn="base" hangingPunct="0">
        <a:lnSpc>
          <a:spcPct val="95000"/>
        </a:lnSpc>
        <a:spcBef>
          <a:spcPct val="10000"/>
        </a:spcBef>
        <a:spcAft>
          <a:spcPct val="0"/>
        </a:spcAft>
        <a:buClr>
          <a:srgbClr val="C60C30"/>
        </a:buClr>
        <a:buSzPct val="100000"/>
        <a:buFont typeface="Lucida Sans" pitchFamily="34" charset="0"/>
        <a:buChar char="–"/>
        <a:defRPr lang="en-US" sz="3000" dirty="0">
          <a:solidFill>
            <a:schemeClr val="bg2"/>
          </a:solidFill>
          <a:latin typeface="Lucida Sans" pitchFamily="34" charset="0"/>
          <a:ea typeface="+mn-ea"/>
          <a:cs typeface="+mn-cs"/>
        </a:defRPr>
      </a:lvl2pPr>
      <a:lvl3pPr marL="684530" indent="-220980" algn="l" rtl="0" eaLnBrk="0" fontAlgn="base" hangingPunct="0">
        <a:lnSpc>
          <a:spcPct val="95000"/>
        </a:lnSpc>
        <a:spcBef>
          <a:spcPct val="10000"/>
        </a:spcBef>
        <a:spcAft>
          <a:spcPct val="0"/>
        </a:spcAft>
        <a:buClr>
          <a:srgbClr val="C60C30"/>
        </a:buClr>
        <a:buSzPct val="100000"/>
        <a:buFont typeface="Arial" panose="020B0604020202020204" pitchFamily="34" charset="0"/>
        <a:buChar char="•"/>
        <a:defRPr lang="en-US" sz="2700" dirty="0">
          <a:solidFill>
            <a:schemeClr val="bg2"/>
          </a:solidFill>
          <a:latin typeface="Lucida Sans" pitchFamily="34" charset="0"/>
          <a:ea typeface="+mn-ea"/>
          <a:cs typeface="+mn-cs"/>
        </a:defRPr>
      </a:lvl3pPr>
      <a:lvl4pPr marL="925830" indent="-240030" algn="l" rtl="0" eaLnBrk="0" fontAlgn="base" hangingPunct="0">
        <a:lnSpc>
          <a:spcPct val="95000"/>
        </a:lnSpc>
        <a:spcBef>
          <a:spcPct val="10000"/>
        </a:spcBef>
        <a:spcAft>
          <a:spcPct val="0"/>
        </a:spcAft>
        <a:buClr>
          <a:srgbClr val="C60C30"/>
        </a:buClr>
        <a:buSzPct val="100000"/>
        <a:buFont typeface="Lucida Sans" pitchFamily="34" charset="0"/>
        <a:buChar char="–"/>
        <a:defRPr lang="en-US" dirty="0">
          <a:solidFill>
            <a:schemeClr val="bg2"/>
          </a:solidFill>
          <a:latin typeface="Lucida Sans" pitchFamily="34" charset="0"/>
          <a:ea typeface="+mn-ea"/>
          <a:cs typeface="+mn-cs"/>
        </a:defRPr>
      </a:lvl4pPr>
      <a:lvl5pPr marL="1148080" indent="-220980" algn="l" rtl="0" eaLnBrk="0" fontAlgn="base" hangingPunct="0">
        <a:lnSpc>
          <a:spcPct val="95000"/>
        </a:lnSpc>
        <a:spcBef>
          <a:spcPct val="10000"/>
        </a:spcBef>
        <a:spcAft>
          <a:spcPct val="0"/>
        </a:spcAft>
        <a:buClr>
          <a:srgbClr val="C60C30"/>
        </a:buClr>
        <a:buSzPct val="100000"/>
        <a:buFont typeface="Arial" panose="020B0604020202020204" pitchFamily="34" charset="0"/>
        <a:buChar char="•"/>
        <a:defRPr lang="en-US" sz="2200" dirty="0">
          <a:solidFill>
            <a:schemeClr val="bg2"/>
          </a:solidFill>
          <a:latin typeface="Lucida Sans" pitchFamily="34" charset="0"/>
          <a:ea typeface="+mn-ea"/>
          <a:cs typeface="+mn-cs"/>
        </a:defRPr>
      </a:lvl5pPr>
      <a:lvl6pPr marL="1534795" indent="299085" algn="l" rtl="0" fontAlgn="base">
        <a:lnSpc>
          <a:spcPct val="95000"/>
        </a:lnSpc>
        <a:spcBef>
          <a:spcPct val="10000"/>
        </a:spcBef>
        <a:spcAft>
          <a:spcPct val="0"/>
        </a:spcAft>
        <a:buClr>
          <a:schemeClr val="accent1"/>
        </a:buClr>
        <a:buChar char="•"/>
        <a:defRPr sz="2700">
          <a:solidFill>
            <a:schemeClr val="tx1"/>
          </a:solidFill>
          <a:latin typeface="+mn-lt"/>
        </a:defRPr>
      </a:lvl6pPr>
      <a:lvl7pPr marL="2149475" indent="299085" algn="l" rtl="0" fontAlgn="base">
        <a:lnSpc>
          <a:spcPct val="95000"/>
        </a:lnSpc>
        <a:spcBef>
          <a:spcPct val="10000"/>
        </a:spcBef>
        <a:spcAft>
          <a:spcPct val="0"/>
        </a:spcAft>
        <a:buClr>
          <a:schemeClr val="accent1"/>
        </a:buClr>
        <a:buChar char="•"/>
        <a:defRPr sz="2700">
          <a:solidFill>
            <a:schemeClr val="tx1"/>
          </a:solidFill>
          <a:latin typeface="+mn-lt"/>
        </a:defRPr>
      </a:lvl7pPr>
      <a:lvl8pPr marL="2763520" indent="299085" algn="l" rtl="0" fontAlgn="base">
        <a:lnSpc>
          <a:spcPct val="95000"/>
        </a:lnSpc>
        <a:spcBef>
          <a:spcPct val="10000"/>
        </a:spcBef>
        <a:spcAft>
          <a:spcPct val="0"/>
        </a:spcAft>
        <a:buClr>
          <a:schemeClr val="accent1"/>
        </a:buClr>
        <a:buChar char="•"/>
        <a:defRPr sz="2700">
          <a:solidFill>
            <a:schemeClr val="tx1"/>
          </a:solidFill>
          <a:latin typeface="+mn-lt"/>
        </a:defRPr>
      </a:lvl8pPr>
      <a:lvl9pPr marL="3378200" indent="299085" algn="l" rtl="0" fontAlgn="base">
        <a:lnSpc>
          <a:spcPct val="95000"/>
        </a:lnSpc>
        <a:spcBef>
          <a:spcPct val="10000"/>
        </a:spcBef>
        <a:spcAft>
          <a:spcPct val="0"/>
        </a:spcAft>
        <a:buClr>
          <a:schemeClr val="accent1"/>
        </a:buClr>
        <a:buChar char="•"/>
        <a:defRPr sz="27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1468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2936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4404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5872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7340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8808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30276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91744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文本占位符 2"/>
          <p:cNvSpPr>
            <a:spLocks noGrp="1"/>
          </p:cNvSpPr>
          <p:nvPr>
            <p:ph type="body"/>
          </p:nvPr>
        </p:nvSpPr>
        <p:spPr>
          <a:xfrm>
            <a:off x="609600" y="1638300"/>
            <a:ext cx="10968038" cy="4633913"/>
          </a:xfrm>
          <a:prstGeom prst="rect">
            <a:avLst/>
          </a:prstGeom>
          <a:noFill/>
          <a:ln w="9525">
            <a:noFill/>
          </a:ln>
        </p:spPr>
        <p:txBody>
          <a:bodyPr anchor="t" anchorCtr="0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09600" y="6507163"/>
            <a:ext cx="2843213" cy="374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hangingPunct="1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57C6C03-2BC5-427E-B5AB-96290FD05743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2026/1/11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64013" y="6507163"/>
            <a:ext cx="3859213" cy="374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hangingPunct="1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734425" y="6507163"/>
            <a:ext cx="2843213" cy="37465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 algn="r" eaLnBrk="1" hangingPunct="1">
              <a:defRPr sz="1200">
                <a:solidFill>
                  <a:srgbClr val="898989"/>
                </a:solidFill>
              </a:defRPr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04918E90-849A-469C-BD9D-B33C00DEC69F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</p:sldLayoutIdLst>
  <p:hf sldNum="0"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rotWithShape="0">
          <a:gsLst>
            <a:gs pos="0">
              <a:srgbClr val="EAEAEA"/>
            </a:gs>
            <a:gs pos="100000">
              <a:schemeClr val="tx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 bwMode="gray">
          <a:xfrm rot="5400000" flipH="1">
            <a:off x="5882481" y="716756"/>
            <a:ext cx="422275" cy="12187238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100000">
                <a:schemeClr val="tx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0" name="Rectangle 29"/>
          <p:cNvSpPr/>
          <p:nvPr/>
        </p:nvSpPr>
        <p:spPr bwMode="gray">
          <a:xfrm flipH="1">
            <a:off x="0" y="0"/>
            <a:ext cx="12187238" cy="69373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8" name="Rectangle 27"/>
          <p:cNvSpPr/>
          <p:nvPr/>
        </p:nvSpPr>
        <p:spPr bwMode="gray">
          <a:xfrm flipH="1">
            <a:off x="0" y="0"/>
            <a:ext cx="646113" cy="693738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50000"/>
                </a:schemeClr>
              </a:gs>
              <a:gs pos="100000">
                <a:schemeClr val="bg2">
                  <a:alpha val="2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2932" tIns="61466" rIns="122932" bIns="61466"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+mn-lt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029" name="Rectangle 3"/>
          <p:cNvSpPr>
            <a:spLocks noGrp="1"/>
          </p:cNvSpPr>
          <p:nvPr>
            <p:ph type="body"/>
          </p:nvPr>
        </p:nvSpPr>
        <p:spPr>
          <a:xfrm>
            <a:off x="1543050" y="2354263"/>
            <a:ext cx="9748838" cy="2182812"/>
          </a:xfrm>
          <a:prstGeom prst="rect">
            <a:avLst/>
          </a:prstGeom>
          <a:noFill/>
          <a:ln w="9525">
            <a:noFill/>
          </a:ln>
        </p:spPr>
        <p:txBody>
          <a:bodyPr lIns="122932" tIns="61466" rIns="122932" bIns="61466" anchor="t" anchorCtr="1">
            <a:spAutoFit/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1030" name="Rectangle 2"/>
          <p:cNvSpPr>
            <a:spLocks noGrp="1"/>
          </p:cNvSpPr>
          <p:nvPr>
            <p:ph type="title"/>
          </p:nvPr>
        </p:nvSpPr>
        <p:spPr>
          <a:xfrm>
            <a:off x="646113" y="1404938"/>
            <a:ext cx="11541125" cy="579437"/>
          </a:xfrm>
          <a:prstGeom prst="rect">
            <a:avLst/>
          </a:prstGeom>
          <a:noFill/>
          <a:ln w="9525">
            <a:noFill/>
          </a:ln>
        </p:spPr>
        <p:txBody>
          <a:bodyPr lIns="614660" tIns="61466" rIns="614660" bIns="61466" anchor="b" anchorCtr="1">
            <a:spAutoFit/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2"/>
          </p:nvPr>
        </p:nvSpPr>
        <p:spPr bwMode="black">
          <a:xfrm>
            <a:off x="646113" y="6592888"/>
            <a:ext cx="1668463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 eaLnBrk="1" hangingPunct="1">
              <a:defRPr sz="1300">
                <a:solidFill>
                  <a:schemeClr val="bg2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3"/>
          </p:nvPr>
        </p:nvSpPr>
        <p:spPr bwMode="black">
          <a:xfrm>
            <a:off x="2314575" y="6592888"/>
            <a:ext cx="8201025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 algn="ctr" eaLnBrk="1" hangingPunct="1">
              <a:defRPr sz="1300">
                <a:solidFill>
                  <a:schemeClr val="bg2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" name="Rectangle 6"/>
          <p:cNvSpPr>
            <a:spLocks noGrp="1" noChangeArrowheads="1"/>
          </p:cNvSpPr>
          <p:nvPr>
            <p:ph type="sldNum" sz="quarter" idx="4"/>
          </p:nvPr>
        </p:nvSpPr>
        <p:spPr bwMode="black">
          <a:xfrm>
            <a:off x="10528300" y="6592888"/>
            <a:ext cx="1658938" cy="487363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122932" tIns="61466" rIns="122932" bIns="61466" numCol="1" anchor="b" anchorCtr="0" compatLnSpc="1"/>
          <a:lstStyle>
            <a:lvl1pPr algn="r" eaLnBrk="1" hangingPunct="1">
              <a:defRPr sz="1300">
                <a:solidFill>
                  <a:schemeClr val="bg2"/>
                </a:solidFill>
                <a:ea typeface="宋体" panose="02010600030101010101" pitchFamily="2" charset="-122"/>
              </a:defRPr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65FD804A-F784-4013-AD92-560D09364ABB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‹#›</a:t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pic>
        <p:nvPicPr>
          <p:cNvPr id="1034" name="图片 11"/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165100" y="122238"/>
            <a:ext cx="328613" cy="373062"/>
          </a:xfrm>
          <a:prstGeom prst="rect">
            <a:avLst/>
          </a:prstGeom>
          <a:noFill/>
          <a:ln w="9525">
            <a:noFill/>
          </a:ln>
        </p:spPr>
      </p:pic>
    </p:spTree>
  </p:cSld>
  <p:clrMap bg1="dk2" tx1="lt1" bg2="dk1" tx2="lt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</p:sldLayoutIdLst>
  <p:transition/>
  <p:hf sldNum="0"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bg2"/>
          </a:solidFill>
          <a:latin typeface="Lucida Sans" pitchFamily="34" charset="0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bg2"/>
          </a:solidFill>
          <a:latin typeface="Lucida Sans" pitchFamily="34" charset="0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bg2"/>
          </a:solidFill>
          <a:latin typeface="Lucida Sans" pitchFamily="34" charset="0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bg2"/>
          </a:solidFill>
          <a:latin typeface="Lucida Sans" pitchFamily="34" charset="0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200" b="1">
          <a:solidFill>
            <a:schemeClr val="bg2"/>
          </a:solidFill>
          <a:latin typeface="Lucida Sans" pitchFamily="34" charset="0"/>
        </a:defRPr>
      </a:lvl5pPr>
      <a:lvl6pPr marL="614680" algn="l" rtl="0" fontAlgn="base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accent2"/>
          </a:solidFill>
          <a:latin typeface="Arial" panose="020B0604020202020204" pitchFamily="34" charset="0"/>
        </a:defRPr>
      </a:lvl6pPr>
      <a:lvl7pPr marL="1229360" algn="l" rtl="0" fontAlgn="base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accent2"/>
          </a:solidFill>
          <a:latin typeface="Arial" panose="020B0604020202020204" pitchFamily="34" charset="0"/>
        </a:defRPr>
      </a:lvl7pPr>
      <a:lvl8pPr marL="1844040" algn="l" rtl="0" fontAlgn="base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accent2"/>
          </a:solidFill>
          <a:latin typeface="Arial" panose="020B0604020202020204" pitchFamily="34" charset="0"/>
        </a:defRPr>
      </a:lvl8pPr>
      <a:lvl9pPr marL="2458720" algn="l" rtl="0" fontAlgn="base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accent2"/>
          </a:solidFill>
          <a:latin typeface="Arial" panose="020B0604020202020204" pitchFamily="34" charset="0"/>
        </a:defRPr>
      </a:lvl9pPr>
    </p:titleStyle>
    <p:bodyStyle>
      <a:lvl1pPr marL="220980" indent="-220980" algn="l" rtl="0" eaLnBrk="0" fontAlgn="base" hangingPunct="0">
        <a:spcBef>
          <a:spcPct val="25000"/>
        </a:spcBef>
        <a:spcAft>
          <a:spcPct val="0"/>
        </a:spcAft>
        <a:buClr>
          <a:srgbClr val="C60C30"/>
        </a:buClr>
        <a:buSzPct val="100000"/>
        <a:buFont typeface="Arial" panose="020B0604020202020204" pitchFamily="34" charset="0"/>
        <a:buChar char="•"/>
        <a:defRPr lang="en-US" sz="3200" dirty="0">
          <a:solidFill>
            <a:schemeClr val="bg2"/>
          </a:solidFill>
          <a:latin typeface="Lucida Sans" pitchFamily="34" charset="0"/>
          <a:ea typeface="+mn-ea"/>
          <a:cs typeface="+mn-cs"/>
        </a:defRPr>
      </a:lvl1pPr>
      <a:lvl2pPr marL="462280" indent="-240030" algn="l" rtl="0" eaLnBrk="0" fontAlgn="base" hangingPunct="0">
        <a:lnSpc>
          <a:spcPct val="95000"/>
        </a:lnSpc>
        <a:spcBef>
          <a:spcPct val="10000"/>
        </a:spcBef>
        <a:spcAft>
          <a:spcPct val="0"/>
        </a:spcAft>
        <a:buClr>
          <a:srgbClr val="C60C30"/>
        </a:buClr>
        <a:buSzPct val="100000"/>
        <a:buFont typeface="Lucida Sans" pitchFamily="34" charset="0"/>
        <a:buChar char="–"/>
        <a:defRPr lang="en-US" sz="3000" dirty="0">
          <a:solidFill>
            <a:schemeClr val="bg2"/>
          </a:solidFill>
          <a:latin typeface="Lucida Sans" pitchFamily="34" charset="0"/>
          <a:ea typeface="+mn-ea"/>
          <a:cs typeface="+mn-cs"/>
        </a:defRPr>
      </a:lvl2pPr>
      <a:lvl3pPr marL="684530" indent="-220980" algn="l" rtl="0" eaLnBrk="0" fontAlgn="base" hangingPunct="0">
        <a:lnSpc>
          <a:spcPct val="95000"/>
        </a:lnSpc>
        <a:spcBef>
          <a:spcPct val="10000"/>
        </a:spcBef>
        <a:spcAft>
          <a:spcPct val="0"/>
        </a:spcAft>
        <a:buClr>
          <a:srgbClr val="C60C30"/>
        </a:buClr>
        <a:buSzPct val="100000"/>
        <a:buFont typeface="Arial" panose="020B0604020202020204" pitchFamily="34" charset="0"/>
        <a:buChar char="•"/>
        <a:defRPr lang="en-US" sz="2700" dirty="0">
          <a:solidFill>
            <a:schemeClr val="bg2"/>
          </a:solidFill>
          <a:latin typeface="Lucida Sans" pitchFamily="34" charset="0"/>
          <a:ea typeface="+mn-ea"/>
          <a:cs typeface="+mn-cs"/>
        </a:defRPr>
      </a:lvl3pPr>
      <a:lvl4pPr marL="925830" indent="-240030" algn="l" rtl="0" eaLnBrk="0" fontAlgn="base" hangingPunct="0">
        <a:lnSpc>
          <a:spcPct val="95000"/>
        </a:lnSpc>
        <a:spcBef>
          <a:spcPct val="10000"/>
        </a:spcBef>
        <a:spcAft>
          <a:spcPct val="0"/>
        </a:spcAft>
        <a:buClr>
          <a:srgbClr val="C60C30"/>
        </a:buClr>
        <a:buSzPct val="100000"/>
        <a:buFont typeface="Lucida Sans" pitchFamily="34" charset="0"/>
        <a:buChar char="–"/>
        <a:defRPr lang="en-US" dirty="0">
          <a:solidFill>
            <a:schemeClr val="bg2"/>
          </a:solidFill>
          <a:latin typeface="Lucida Sans" pitchFamily="34" charset="0"/>
          <a:ea typeface="+mn-ea"/>
          <a:cs typeface="+mn-cs"/>
        </a:defRPr>
      </a:lvl4pPr>
      <a:lvl5pPr marL="1148080" indent="-220980" algn="l" rtl="0" eaLnBrk="0" fontAlgn="base" hangingPunct="0">
        <a:lnSpc>
          <a:spcPct val="95000"/>
        </a:lnSpc>
        <a:spcBef>
          <a:spcPct val="10000"/>
        </a:spcBef>
        <a:spcAft>
          <a:spcPct val="0"/>
        </a:spcAft>
        <a:buClr>
          <a:srgbClr val="C60C30"/>
        </a:buClr>
        <a:buSzPct val="100000"/>
        <a:buFont typeface="Arial" panose="020B0604020202020204" pitchFamily="34" charset="0"/>
        <a:buChar char="•"/>
        <a:defRPr lang="en-US" sz="2200" dirty="0">
          <a:solidFill>
            <a:schemeClr val="bg2"/>
          </a:solidFill>
          <a:latin typeface="Lucida Sans" pitchFamily="34" charset="0"/>
          <a:ea typeface="+mn-ea"/>
          <a:cs typeface="+mn-cs"/>
        </a:defRPr>
      </a:lvl5pPr>
      <a:lvl6pPr marL="1534795" indent="299085" algn="l" rtl="0" fontAlgn="base">
        <a:lnSpc>
          <a:spcPct val="95000"/>
        </a:lnSpc>
        <a:spcBef>
          <a:spcPct val="10000"/>
        </a:spcBef>
        <a:spcAft>
          <a:spcPct val="0"/>
        </a:spcAft>
        <a:buClr>
          <a:schemeClr val="accent1"/>
        </a:buClr>
        <a:buChar char="•"/>
        <a:defRPr sz="2700">
          <a:solidFill>
            <a:schemeClr val="tx1"/>
          </a:solidFill>
          <a:latin typeface="+mn-lt"/>
        </a:defRPr>
      </a:lvl6pPr>
      <a:lvl7pPr marL="2149475" indent="299085" algn="l" rtl="0" fontAlgn="base">
        <a:lnSpc>
          <a:spcPct val="95000"/>
        </a:lnSpc>
        <a:spcBef>
          <a:spcPct val="10000"/>
        </a:spcBef>
        <a:spcAft>
          <a:spcPct val="0"/>
        </a:spcAft>
        <a:buClr>
          <a:schemeClr val="accent1"/>
        </a:buClr>
        <a:buChar char="•"/>
        <a:defRPr sz="2700">
          <a:solidFill>
            <a:schemeClr val="tx1"/>
          </a:solidFill>
          <a:latin typeface="+mn-lt"/>
        </a:defRPr>
      </a:lvl7pPr>
      <a:lvl8pPr marL="2763520" indent="299085" algn="l" rtl="0" fontAlgn="base">
        <a:lnSpc>
          <a:spcPct val="95000"/>
        </a:lnSpc>
        <a:spcBef>
          <a:spcPct val="10000"/>
        </a:spcBef>
        <a:spcAft>
          <a:spcPct val="0"/>
        </a:spcAft>
        <a:buClr>
          <a:schemeClr val="accent1"/>
        </a:buClr>
        <a:buChar char="•"/>
        <a:defRPr sz="2700">
          <a:solidFill>
            <a:schemeClr val="tx1"/>
          </a:solidFill>
          <a:latin typeface="+mn-lt"/>
        </a:defRPr>
      </a:lvl8pPr>
      <a:lvl9pPr marL="3378200" indent="299085" algn="l" rtl="0" fontAlgn="base">
        <a:lnSpc>
          <a:spcPct val="95000"/>
        </a:lnSpc>
        <a:spcBef>
          <a:spcPct val="10000"/>
        </a:spcBef>
        <a:spcAft>
          <a:spcPct val="0"/>
        </a:spcAft>
        <a:buClr>
          <a:schemeClr val="accent1"/>
        </a:buClr>
        <a:buChar char="•"/>
        <a:defRPr sz="27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1468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2936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4404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5872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7340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8808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30276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917440" algn="l" defTabSz="122936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3"/>
            </p:custDataLst>
          </p:nvPr>
        </p:nvSpPr>
        <p:spPr>
          <a:xfrm>
            <a:off x="694547" y="443034"/>
            <a:ext cx="10796063" cy="719738"/>
          </a:xfrm>
          <a:prstGeom prst="rect">
            <a:avLst/>
          </a:prstGeom>
        </p:spPr>
        <p:txBody>
          <a:bodyPr vert="horz" wrap="square" lIns="0" tIns="0" rIns="0" bIns="0" rtlCol="0" anchor="b" anchorCtr="0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4"/>
            </p:custDataLst>
          </p:nvPr>
        </p:nvSpPr>
        <p:spPr>
          <a:xfrm>
            <a:off x="695071" y="1366032"/>
            <a:ext cx="10797412" cy="4892796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5"/>
            </p:custDataLst>
          </p:nvPr>
        </p:nvSpPr>
        <p:spPr>
          <a:xfrm>
            <a:off x="695071" y="6437198"/>
            <a:ext cx="2885023" cy="364992"/>
          </a:xfrm>
          <a:prstGeom prst="rect">
            <a:avLst/>
          </a:prstGeom>
        </p:spPr>
        <p:txBody>
          <a:bodyPr vert="horz" wrap="square" lIns="0" tIns="0" rIns="0" bIns="0" rtlCol="0" anchor="ctr">
            <a:normAutofit/>
          </a:bodyPr>
          <a:lstStyle>
            <a:lvl1pPr algn="l">
              <a:defRPr sz="123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2522B-0F24-4480-B9DD-A9474A6880D6}" type="datetimeFigureOut">
              <a:rPr lang="zh-CN" altLang="en-US" smtClean="0"/>
              <a:t>2026/1/11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6"/>
            </p:custDataLst>
          </p:nvPr>
        </p:nvSpPr>
        <p:spPr>
          <a:xfrm>
            <a:off x="4037128" y="6437198"/>
            <a:ext cx="4113300" cy="36499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23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7"/>
            </p:custDataLst>
          </p:nvPr>
        </p:nvSpPr>
        <p:spPr>
          <a:xfrm>
            <a:off x="8607461" y="6437198"/>
            <a:ext cx="2883148" cy="364992"/>
          </a:xfrm>
          <a:prstGeom prst="rect">
            <a:avLst/>
          </a:prstGeom>
        </p:spPr>
        <p:txBody>
          <a:bodyPr vert="horz" wrap="square" lIns="0" tIns="0" rIns="0" bIns="0" rtlCol="0" anchor="ctr">
            <a:normAutofit/>
          </a:bodyPr>
          <a:lstStyle>
            <a:lvl1pPr algn="r">
              <a:defRPr sz="123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5F26B5-172A-4DC2-B0B7-181CFC56B87C}" type="slidenum">
              <a:rPr lang="zh-CN" altLang="en-US" smtClean="0"/>
              <a:t>‹#›</a:t>
            </a:fld>
            <a:endParaRPr lang="zh-CN" altLang="en-US" dirty="0"/>
          </a:p>
        </p:txBody>
      </p:sp>
      <p:sp>
        <p:nvSpPr>
          <p:cNvPr id="8" name="KSO_TEMPLATE" hidden="1"/>
          <p:cNvSpPr/>
          <p:nvPr userDrawn="1">
            <p:custDataLst>
              <p:tags r:id="rId18"/>
            </p:custDataLst>
          </p:nvPr>
        </p:nvSpPr>
        <p:spPr>
          <a:xfrm>
            <a:off x="0" y="83165"/>
            <a:ext cx="0" cy="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</p:sldLayoutIdLst>
  <p:txStyles>
    <p:titleStyle>
      <a:lvl1pPr algn="l" defTabSz="935990" rtl="0" eaLnBrk="1" latinLnBrk="0" hangingPunct="1">
        <a:lnSpc>
          <a:spcPct val="100000"/>
        </a:lnSpc>
        <a:spcBef>
          <a:spcPct val="0"/>
        </a:spcBef>
        <a:buNone/>
        <a:defRPr sz="3275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34315" indent="-234315" algn="l" defTabSz="935990" rtl="0" eaLnBrk="1" latinLnBrk="0" hangingPunct="1">
        <a:lnSpc>
          <a:spcPct val="130000"/>
        </a:lnSpc>
        <a:spcBef>
          <a:spcPct val="205000"/>
        </a:spcBef>
        <a:buFont typeface="Arial" panose="020B0604020202020204" pitchFamily="34" charset="0"/>
        <a:buChar char="•"/>
        <a:defRPr sz="2455" kern="1200">
          <a:solidFill>
            <a:schemeClr val="tx1"/>
          </a:solidFill>
          <a:latin typeface="+mn-lt"/>
          <a:ea typeface="+mn-ea"/>
          <a:cs typeface="+mn-cs"/>
        </a:defRPr>
      </a:lvl1pPr>
      <a:lvl2pPr marL="551180" indent="-211455" algn="l" defTabSz="93599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205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817880" indent="-165735" algn="l" defTabSz="93599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845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055370" indent="-153035" algn="l" defTabSz="93599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64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264285" indent="-130175" algn="l" defTabSz="93599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435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74925" indent="-234315" algn="l" defTabSz="935990" rtl="0" eaLnBrk="1" latinLnBrk="0" hangingPunct="1">
        <a:lnSpc>
          <a:spcPct val="90000"/>
        </a:lnSpc>
        <a:spcBef>
          <a:spcPct val="103000"/>
        </a:spcBef>
        <a:buFont typeface="Arial" panose="020B0604020202020204" pitchFamily="34" charset="0"/>
        <a:buChar char="•"/>
        <a:defRPr sz="1845" kern="1200">
          <a:solidFill>
            <a:schemeClr val="tx1"/>
          </a:solidFill>
          <a:latin typeface="+mn-lt"/>
          <a:ea typeface="+mn-ea"/>
          <a:cs typeface="+mn-cs"/>
        </a:defRPr>
      </a:lvl6pPr>
      <a:lvl7pPr marL="3042920" indent="-234315" algn="l" defTabSz="935990" rtl="0" eaLnBrk="1" latinLnBrk="0" hangingPunct="1">
        <a:lnSpc>
          <a:spcPct val="90000"/>
        </a:lnSpc>
        <a:spcBef>
          <a:spcPct val="103000"/>
        </a:spcBef>
        <a:buFont typeface="Arial" panose="020B0604020202020204" pitchFamily="34" charset="0"/>
        <a:buChar char="•"/>
        <a:defRPr sz="1845" kern="1200">
          <a:solidFill>
            <a:schemeClr val="tx1"/>
          </a:solidFill>
          <a:latin typeface="+mn-lt"/>
          <a:ea typeface="+mn-ea"/>
          <a:cs typeface="+mn-cs"/>
        </a:defRPr>
      </a:lvl7pPr>
      <a:lvl8pPr marL="3510915" indent="-234315" algn="l" defTabSz="935990" rtl="0" eaLnBrk="1" latinLnBrk="0" hangingPunct="1">
        <a:lnSpc>
          <a:spcPct val="90000"/>
        </a:lnSpc>
        <a:spcBef>
          <a:spcPct val="103000"/>
        </a:spcBef>
        <a:buFont typeface="Arial" panose="020B0604020202020204" pitchFamily="34" charset="0"/>
        <a:buChar char="•"/>
        <a:defRPr sz="1845" kern="1200">
          <a:solidFill>
            <a:schemeClr val="tx1"/>
          </a:solidFill>
          <a:latin typeface="+mn-lt"/>
          <a:ea typeface="+mn-ea"/>
          <a:cs typeface="+mn-cs"/>
        </a:defRPr>
      </a:lvl8pPr>
      <a:lvl9pPr marL="3978910" indent="-234315" algn="l" defTabSz="935990" rtl="0" eaLnBrk="1" latinLnBrk="0" hangingPunct="1">
        <a:lnSpc>
          <a:spcPct val="90000"/>
        </a:lnSpc>
        <a:spcBef>
          <a:spcPct val="103000"/>
        </a:spcBef>
        <a:buFont typeface="Arial" panose="020B0604020202020204" pitchFamily="34" charset="0"/>
        <a:buChar char="•"/>
        <a:defRPr sz="184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35990" rtl="0" eaLnBrk="1" latinLnBrk="0" hangingPunct="1">
        <a:defRPr sz="1845" kern="1200">
          <a:solidFill>
            <a:schemeClr val="tx1"/>
          </a:solidFill>
          <a:latin typeface="+mn-lt"/>
          <a:ea typeface="+mn-ea"/>
          <a:cs typeface="+mn-cs"/>
        </a:defRPr>
      </a:lvl1pPr>
      <a:lvl2pPr marL="467995" algn="l" defTabSz="935990" rtl="0" eaLnBrk="1" latinLnBrk="0" hangingPunct="1">
        <a:defRPr sz="1845" kern="1200">
          <a:solidFill>
            <a:schemeClr val="tx1"/>
          </a:solidFill>
          <a:latin typeface="+mn-lt"/>
          <a:ea typeface="+mn-ea"/>
          <a:cs typeface="+mn-cs"/>
        </a:defRPr>
      </a:lvl2pPr>
      <a:lvl3pPr marL="935990" algn="l" defTabSz="935990" rtl="0" eaLnBrk="1" latinLnBrk="0" hangingPunct="1">
        <a:defRPr sz="1845" kern="1200">
          <a:solidFill>
            <a:schemeClr val="tx1"/>
          </a:solidFill>
          <a:latin typeface="+mn-lt"/>
          <a:ea typeface="+mn-ea"/>
          <a:cs typeface="+mn-cs"/>
        </a:defRPr>
      </a:lvl3pPr>
      <a:lvl4pPr marL="1404620" algn="l" defTabSz="935990" rtl="0" eaLnBrk="1" latinLnBrk="0" hangingPunct="1">
        <a:defRPr sz="1845" kern="1200">
          <a:solidFill>
            <a:schemeClr val="tx1"/>
          </a:solidFill>
          <a:latin typeface="+mn-lt"/>
          <a:ea typeface="+mn-ea"/>
          <a:cs typeface="+mn-cs"/>
        </a:defRPr>
      </a:lvl4pPr>
      <a:lvl5pPr marL="1872615" algn="l" defTabSz="935990" rtl="0" eaLnBrk="1" latinLnBrk="0" hangingPunct="1">
        <a:defRPr sz="1845" kern="1200">
          <a:solidFill>
            <a:schemeClr val="tx1"/>
          </a:solidFill>
          <a:latin typeface="+mn-lt"/>
          <a:ea typeface="+mn-ea"/>
          <a:cs typeface="+mn-cs"/>
        </a:defRPr>
      </a:lvl5pPr>
      <a:lvl6pPr marL="2340610" algn="l" defTabSz="935990" rtl="0" eaLnBrk="1" latinLnBrk="0" hangingPunct="1">
        <a:defRPr sz="1845" kern="1200">
          <a:solidFill>
            <a:schemeClr val="tx1"/>
          </a:solidFill>
          <a:latin typeface="+mn-lt"/>
          <a:ea typeface="+mn-ea"/>
          <a:cs typeface="+mn-cs"/>
        </a:defRPr>
      </a:lvl6pPr>
      <a:lvl7pPr marL="2808605" algn="l" defTabSz="935990" rtl="0" eaLnBrk="1" latinLnBrk="0" hangingPunct="1">
        <a:defRPr sz="1845" kern="1200">
          <a:solidFill>
            <a:schemeClr val="tx1"/>
          </a:solidFill>
          <a:latin typeface="+mn-lt"/>
          <a:ea typeface="+mn-ea"/>
          <a:cs typeface="+mn-cs"/>
        </a:defRPr>
      </a:lvl7pPr>
      <a:lvl8pPr marL="3276600" algn="l" defTabSz="935990" rtl="0" eaLnBrk="1" latinLnBrk="0" hangingPunct="1">
        <a:defRPr sz="1845" kern="1200">
          <a:solidFill>
            <a:schemeClr val="tx1"/>
          </a:solidFill>
          <a:latin typeface="+mn-lt"/>
          <a:ea typeface="+mn-ea"/>
          <a:cs typeface="+mn-cs"/>
        </a:defRPr>
      </a:lvl8pPr>
      <a:lvl9pPr marL="3745230" algn="l" defTabSz="935990" rtl="0" eaLnBrk="1" latinLnBrk="0" hangingPunct="1">
        <a:defRPr sz="184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tags" Target="../tags/tag90.xml"/><Relationship Id="rId13" Type="http://schemas.openxmlformats.org/officeDocument/2006/relationships/tags" Target="../tags/tag95.xml"/><Relationship Id="rId18" Type="http://schemas.openxmlformats.org/officeDocument/2006/relationships/slideLayout" Target="../slideLayouts/slideLayout43.xml"/><Relationship Id="rId3" Type="http://schemas.openxmlformats.org/officeDocument/2006/relationships/tags" Target="../tags/tag85.xml"/><Relationship Id="rId7" Type="http://schemas.openxmlformats.org/officeDocument/2006/relationships/tags" Target="../tags/tag89.xml"/><Relationship Id="rId12" Type="http://schemas.openxmlformats.org/officeDocument/2006/relationships/tags" Target="../tags/tag94.xml"/><Relationship Id="rId17" Type="http://schemas.openxmlformats.org/officeDocument/2006/relationships/tags" Target="../tags/tag99.xml"/><Relationship Id="rId2" Type="http://schemas.openxmlformats.org/officeDocument/2006/relationships/tags" Target="../tags/tag84.xml"/><Relationship Id="rId16" Type="http://schemas.openxmlformats.org/officeDocument/2006/relationships/tags" Target="../tags/tag98.xml"/><Relationship Id="rId1" Type="http://schemas.openxmlformats.org/officeDocument/2006/relationships/tags" Target="../tags/tag83.xml"/><Relationship Id="rId6" Type="http://schemas.openxmlformats.org/officeDocument/2006/relationships/tags" Target="../tags/tag88.xml"/><Relationship Id="rId11" Type="http://schemas.openxmlformats.org/officeDocument/2006/relationships/tags" Target="../tags/tag93.xml"/><Relationship Id="rId5" Type="http://schemas.openxmlformats.org/officeDocument/2006/relationships/tags" Target="../tags/tag87.xml"/><Relationship Id="rId15" Type="http://schemas.openxmlformats.org/officeDocument/2006/relationships/tags" Target="../tags/tag97.xml"/><Relationship Id="rId10" Type="http://schemas.openxmlformats.org/officeDocument/2006/relationships/tags" Target="../tags/tag92.xml"/><Relationship Id="rId4" Type="http://schemas.openxmlformats.org/officeDocument/2006/relationships/tags" Target="../tags/tag86.xml"/><Relationship Id="rId9" Type="http://schemas.openxmlformats.org/officeDocument/2006/relationships/tags" Target="../tags/tag91.xml"/><Relationship Id="rId14" Type="http://schemas.openxmlformats.org/officeDocument/2006/relationships/tags" Target="../tags/tag9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3.xml"/><Relationship Id="rId2" Type="http://schemas.openxmlformats.org/officeDocument/2006/relationships/tags" Target="../tags/tag101.xml"/><Relationship Id="rId1" Type="http://schemas.openxmlformats.org/officeDocument/2006/relationships/tags" Target="../tags/tag10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3.xml"/><Relationship Id="rId2" Type="http://schemas.openxmlformats.org/officeDocument/2006/relationships/tags" Target="../tags/tag103.xml"/><Relationship Id="rId1" Type="http://schemas.openxmlformats.org/officeDocument/2006/relationships/tags" Target="../tags/tag10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tags" Target="../tags/tag111.xml"/><Relationship Id="rId3" Type="http://schemas.openxmlformats.org/officeDocument/2006/relationships/tags" Target="../tags/tag106.xml"/><Relationship Id="rId7" Type="http://schemas.openxmlformats.org/officeDocument/2006/relationships/tags" Target="../tags/tag110.xml"/><Relationship Id="rId2" Type="http://schemas.openxmlformats.org/officeDocument/2006/relationships/tags" Target="../tags/tag105.xml"/><Relationship Id="rId1" Type="http://schemas.openxmlformats.org/officeDocument/2006/relationships/tags" Target="../tags/tag104.xml"/><Relationship Id="rId6" Type="http://schemas.openxmlformats.org/officeDocument/2006/relationships/tags" Target="../tags/tag109.xml"/><Relationship Id="rId11" Type="http://schemas.openxmlformats.org/officeDocument/2006/relationships/slideLayout" Target="../slideLayouts/slideLayout2.xml"/><Relationship Id="rId5" Type="http://schemas.openxmlformats.org/officeDocument/2006/relationships/tags" Target="../tags/tag108.xml"/><Relationship Id="rId10" Type="http://schemas.openxmlformats.org/officeDocument/2006/relationships/tags" Target="../tags/tag113.xml"/><Relationship Id="rId4" Type="http://schemas.openxmlformats.org/officeDocument/2006/relationships/tags" Target="../tags/tag107.xml"/><Relationship Id="rId9" Type="http://schemas.openxmlformats.org/officeDocument/2006/relationships/tags" Target="../tags/tag11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tags" Target="../tags/tag116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115.xml"/><Relationship Id="rId1" Type="http://schemas.openxmlformats.org/officeDocument/2006/relationships/tags" Target="../tags/tag114.xml"/><Relationship Id="rId6" Type="http://schemas.openxmlformats.org/officeDocument/2006/relationships/tags" Target="../tags/tag119.xml"/><Relationship Id="rId5" Type="http://schemas.openxmlformats.org/officeDocument/2006/relationships/tags" Target="../tags/tag118.xml"/><Relationship Id="rId4" Type="http://schemas.openxmlformats.org/officeDocument/2006/relationships/tags" Target="../tags/tag11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tags" Target="../tags/tag122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121.xml"/><Relationship Id="rId1" Type="http://schemas.openxmlformats.org/officeDocument/2006/relationships/tags" Target="../tags/tag120.xml"/><Relationship Id="rId6" Type="http://schemas.openxmlformats.org/officeDocument/2006/relationships/tags" Target="../tags/tag125.xml"/><Relationship Id="rId5" Type="http://schemas.openxmlformats.org/officeDocument/2006/relationships/tags" Target="../tags/tag124.xml"/><Relationship Id="rId4" Type="http://schemas.openxmlformats.org/officeDocument/2006/relationships/tags" Target="../tags/tag12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3.xml"/><Relationship Id="rId2" Type="http://schemas.openxmlformats.org/officeDocument/2006/relationships/tags" Target="../tags/tag127.xml"/><Relationship Id="rId1" Type="http://schemas.openxmlformats.org/officeDocument/2006/relationships/tags" Target="../tags/tag12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3.xml"/><Relationship Id="rId2" Type="http://schemas.openxmlformats.org/officeDocument/2006/relationships/tags" Target="../tags/tag129.xml"/><Relationship Id="rId1" Type="http://schemas.openxmlformats.org/officeDocument/2006/relationships/tags" Target="../tags/tag128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3.xml"/><Relationship Id="rId2" Type="http://schemas.openxmlformats.org/officeDocument/2006/relationships/tags" Target="../tags/tag131.xml"/><Relationship Id="rId1" Type="http://schemas.openxmlformats.org/officeDocument/2006/relationships/tags" Target="../tags/tag130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2" Type="http://schemas.openxmlformats.org/officeDocument/2006/relationships/tags" Target="../tags/tag133.xml"/><Relationship Id="rId1" Type="http://schemas.openxmlformats.org/officeDocument/2006/relationships/tags" Target="../tags/tag13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jpeg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>
            <a:off x="0" y="2941638"/>
            <a:ext cx="12187238" cy="1476375"/>
            <a:chOff x="-59690" y="3590200"/>
            <a:chExt cx="12246928" cy="1476406"/>
          </a:xfrm>
        </p:grpSpPr>
        <p:sp>
          <p:nvSpPr>
            <p:cNvPr id="6" name="TextBox 5"/>
            <p:cNvSpPr txBox="1"/>
            <p:nvPr/>
          </p:nvSpPr>
          <p:spPr>
            <a:xfrm>
              <a:off x="-59690" y="3590200"/>
              <a:ext cx="12187238" cy="614058"/>
            </a:xfrm>
            <a:prstGeom prst="rect">
              <a:avLst/>
            </a:prstGeom>
            <a:noFill/>
          </p:spPr>
          <p:txBody>
            <a:bodyPr lIns="122932" tIns="61466" rIns="122932" bIns="61466">
              <a:spAutoFit/>
            </a:bodyPr>
            <a:lstStyle/>
            <a:p>
              <a:pPr marR="0" algn="ctr" defTabSz="914400">
                <a:buClrTx/>
                <a:buSzTx/>
                <a:buFontTx/>
                <a:buNone/>
                <a:defRPr/>
              </a:pPr>
              <a:r>
                <a:rPr kumimoji="0" lang="en-US" altLang="zh-CN" sz="3200" kern="1200" cap="none" spc="134" normalizeH="0" baseline="0" noProof="0" dirty="0">
                  <a:solidFill>
                    <a:schemeClr val="bg2">
                      <a:lumMod val="65000"/>
                      <a:lumOff val="35000"/>
                    </a:schemeClr>
                  </a:solidFill>
                  <a:latin typeface="冬青黑体简体中文 W6" pitchFamily="34" charset="-122"/>
                  <a:ea typeface="冬青黑体简体中文 W6" pitchFamily="34" charset="-122"/>
                  <a:cs typeface="+mn-cs"/>
                </a:rPr>
                <a:t>FreeRTOS</a:t>
              </a:r>
              <a:r>
                <a:rPr kumimoji="0" lang="zh-CN" altLang="en-US" sz="3200" kern="1200" cap="none" spc="134" normalizeH="0" baseline="0" noProof="0" dirty="0">
                  <a:solidFill>
                    <a:schemeClr val="bg2">
                      <a:lumMod val="65000"/>
                      <a:lumOff val="35000"/>
                    </a:schemeClr>
                  </a:solidFill>
                  <a:latin typeface="冬青黑体简体中文 W6" pitchFamily="34" charset="-122"/>
                  <a:ea typeface="冬青黑体简体中文 W6" pitchFamily="34" charset="-122"/>
                  <a:cs typeface="+mn-cs"/>
                </a:rPr>
                <a:t>核心机制</a:t>
              </a:r>
            </a:p>
          </p:txBody>
        </p:sp>
        <p:sp>
          <p:nvSpPr>
            <p:cNvPr id="18437" name="TextBox 6"/>
            <p:cNvSpPr txBox="1">
              <a:spLocks noChangeArrowheads="1"/>
            </p:cNvSpPr>
            <p:nvPr/>
          </p:nvSpPr>
          <p:spPr bwMode="auto">
            <a:xfrm>
              <a:off x="0" y="4421987"/>
              <a:ext cx="12187238" cy="6446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800" b="0" i="0" u="none" strike="noStrike" kern="1200" cap="none" spc="134" normalizeH="0" baseline="0" noProof="0" dirty="0">
                  <a:ln>
                    <a:noFill/>
                  </a:ln>
                  <a:solidFill>
                    <a:schemeClr val="bg2">
                      <a:lumMod val="65000"/>
                      <a:lumOff val="35000"/>
                    </a:schemeClr>
                  </a:solidFill>
                  <a:effectLst/>
                  <a:uLnTx/>
                  <a:uFillTx/>
                  <a:latin typeface="仿宋" panose="02010609060101010101" pitchFamily="49" charset="-122"/>
                  <a:ea typeface="仿宋" panose="02010609060101010101" pitchFamily="49" charset="-122"/>
                  <a:cs typeface="+mn-cs"/>
                </a:rPr>
                <a:t>姓名：丰无界</a:t>
              </a:r>
              <a:endParaRPr kumimoji="0" lang="en-US" altLang="zh-CN" sz="1800" b="0" i="0" u="none" strike="noStrike" kern="1200" cap="none" spc="134" normalizeH="0" baseline="0" noProof="0" dirty="0">
                <a:ln>
                  <a:noFill/>
                </a:ln>
                <a:solidFill>
                  <a:schemeClr val="bg2">
                    <a:lumMod val="65000"/>
                    <a:lumOff val="35000"/>
                  </a:schemeClr>
                </a:solidFill>
                <a:effectLst/>
                <a:uLnTx/>
                <a:uFillTx/>
                <a:latin typeface="仿宋" panose="02010609060101010101" pitchFamily="49" charset="-122"/>
                <a:ea typeface="仿宋" panose="02010609060101010101" pitchFamily="49" charset="-122"/>
                <a:cs typeface="+mn-cs"/>
              </a:endParaRPr>
            </a:p>
            <a:p>
              <a:pPr marL="0" marR="0" lvl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7F7F7F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endParaRPr>
            </a:p>
          </p:txBody>
        </p:sp>
      </p:grp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338138" y="171450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>
                <a:latin typeface="Arial" panose="020B0604020202020204" pitchFamily="34" charset="0"/>
              </a:rPr>
              <a:t>课程目标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593090" y="860425"/>
            <a:ext cx="40627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593090" y="944245"/>
            <a:ext cx="10509885" cy="315404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2000">
                <a:solidFill>
                  <a:schemeClr val="bg2"/>
                </a:solidFill>
                <a:latin typeface="+mn-lt"/>
                <a:sym typeface="+mn-ea"/>
              </a:rPr>
              <a:t>理解 FreeRTOS 核心机制与底层原理</a:t>
            </a:r>
          </a:p>
          <a:p>
            <a:pPr marL="342900" indent="-342900">
              <a:buFont typeface="Arial" panose="020B0604020202020204" pitchFamily="34" charset="0"/>
              <a:buChar char="•"/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2000">
                <a:solidFill>
                  <a:schemeClr val="bg2"/>
                </a:solidFill>
                <a:latin typeface="+mn-lt"/>
                <a:sym typeface="+mn-ea"/>
              </a:rPr>
              <a:t>掌握任务调度、时间管理、同步通信等关键技术</a:t>
            </a:r>
          </a:p>
          <a:p>
            <a:pPr marL="342900" indent="-342900">
              <a:buFont typeface="Arial" panose="020B0604020202020204" pitchFamily="34" charset="0"/>
              <a:buChar char="•"/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2000">
                <a:solidFill>
                  <a:schemeClr val="bg2"/>
                </a:solidFill>
                <a:latin typeface="+mn-lt"/>
                <a:sym typeface="+mn-ea"/>
              </a:rPr>
              <a:t>避免常见 RTOS 开发陷阱</a:t>
            </a:r>
          </a:p>
          <a:p>
            <a:pPr marL="342900" indent="-342900">
              <a:buFont typeface="Arial" panose="020B0604020202020204" pitchFamily="34" charset="0"/>
              <a:buChar char="•"/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2000">
                <a:solidFill>
                  <a:schemeClr val="bg2"/>
                </a:solidFill>
                <a:latin typeface="+mn-lt"/>
                <a:sym typeface="+mn-ea"/>
              </a:rPr>
              <a:t>结合实际案例加深理解</a:t>
            </a:r>
          </a:p>
        </p:txBody>
      </p:sp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837565" y="648335"/>
            <a:ext cx="3763010" cy="1080770"/>
          </a:xfrm>
        </p:spPr>
        <p:txBody>
          <a:bodyPr wrap="square">
            <a:normAutofit/>
          </a:bodyPr>
          <a:lstStyle/>
          <a:p>
            <a:r>
              <a:rPr lang="en-US" spc="300" dirty="0">
                <a:latin typeface="+mj-ea"/>
                <a:sym typeface="+mn-ea"/>
              </a:rPr>
              <a:t>FreeRTOS</a:t>
            </a:r>
            <a:endParaRPr lang="en-US"/>
          </a:p>
        </p:txBody>
      </p:sp>
      <p:sp>
        <p:nvSpPr>
          <p:cNvPr id="6" name="序号"/>
          <p:cNvSpPr txBox="1"/>
          <p:nvPr>
            <p:custDataLst>
              <p:tags r:id="rId3"/>
            </p:custDataLst>
          </p:nvPr>
        </p:nvSpPr>
        <p:spPr>
          <a:xfrm>
            <a:off x="5614496" y="2315845"/>
            <a:ext cx="791210" cy="48958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80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</a:rPr>
              <a:t>01.</a:t>
            </a:r>
            <a:endParaRPr lang="zh-CN" altLang="en-US" sz="280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7" name="项标题"/>
          <p:cNvSpPr txBox="1"/>
          <p:nvPr>
            <p:custDataLst>
              <p:tags r:id="rId4"/>
            </p:custDataLst>
          </p:nvPr>
        </p:nvSpPr>
        <p:spPr>
          <a:xfrm>
            <a:off x="6523355" y="2315845"/>
            <a:ext cx="4794250" cy="37147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 fontScale="90000" lnSpcReduction="10000"/>
          </a:bodyPr>
          <a:lstStyle/>
          <a:p>
            <a:pPr>
              <a:lnSpc>
                <a:spcPct val="100000"/>
              </a:lnSpc>
            </a:pPr>
            <a:r>
              <a:rPr lang="en-US" sz="28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sym typeface="+mn-ea"/>
              </a:rPr>
              <a:t>RTOS </a:t>
            </a:r>
            <a:r>
              <a:rPr lang="en-US" sz="2800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sym typeface="+mn-ea"/>
              </a:rPr>
              <a:t>基本概念</a:t>
            </a:r>
            <a:endParaRPr lang="en-US" sz="2800" dirty="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  <a:sym typeface="+mn-ea"/>
            </a:endParaRPr>
          </a:p>
        </p:txBody>
      </p:sp>
      <p:sp>
        <p:nvSpPr>
          <p:cNvPr id="9" name="序号"/>
          <p:cNvSpPr txBox="1"/>
          <p:nvPr>
            <p:custDataLst>
              <p:tags r:id="rId5"/>
            </p:custDataLst>
          </p:nvPr>
        </p:nvSpPr>
        <p:spPr>
          <a:xfrm>
            <a:off x="5614496" y="2780030"/>
            <a:ext cx="791210" cy="45974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80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</a:rPr>
              <a:t>02.</a:t>
            </a:r>
          </a:p>
        </p:txBody>
      </p:sp>
      <p:sp>
        <p:nvSpPr>
          <p:cNvPr id="10" name="项标题"/>
          <p:cNvSpPr txBox="1"/>
          <p:nvPr>
            <p:custDataLst>
              <p:tags r:id="rId6"/>
            </p:custDataLst>
          </p:nvPr>
        </p:nvSpPr>
        <p:spPr>
          <a:xfrm>
            <a:off x="6523355" y="2806065"/>
            <a:ext cx="4794250" cy="44259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2800" b="1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sym typeface="+mn-ea"/>
              </a:rPr>
              <a:t>任务</a:t>
            </a:r>
            <a:r>
              <a:rPr lang="en-US" sz="2800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sym typeface="+mn-ea"/>
              </a:rPr>
              <a:t>与</a:t>
            </a:r>
            <a:r>
              <a:rPr lang="en-US" sz="2800" b="1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sym typeface="+mn-ea"/>
              </a:rPr>
              <a:t>调度机制</a:t>
            </a:r>
            <a:endParaRPr lang="en-US" sz="2800" b="1" dirty="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  <a:sym typeface="+mn-ea"/>
            </a:endParaRPr>
          </a:p>
        </p:txBody>
      </p:sp>
      <p:sp>
        <p:nvSpPr>
          <p:cNvPr id="12" name="序号"/>
          <p:cNvSpPr txBox="1"/>
          <p:nvPr>
            <p:custDataLst>
              <p:tags r:id="rId7"/>
            </p:custDataLst>
          </p:nvPr>
        </p:nvSpPr>
        <p:spPr>
          <a:xfrm>
            <a:off x="5614496" y="3325495"/>
            <a:ext cx="791210" cy="45974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80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</a:rPr>
              <a:t>03.</a:t>
            </a:r>
          </a:p>
        </p:txBody>
      </p:sp>
      <p:sp>
        <p:nvSpPr>
          <p:cNvPr id="13" name="项标题"/>
          <p:cNvSpPr txBox="1"/>
          <p:nvPr>
            <p:custDataLst>
              <p:tags r:id="rId8"/>
            </p:custDataLst>
          </p:nvPr>
        </p:nvSpPr>
        <p:spPr>
          <a:xfrm>
            <a:off x="6523355" y="3337560"/>
            <a:ext cx="4794250" cy="44767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2800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sym typeface="+mn-ea"/>
              </a:rPr>
              <a:t>时间管理</a:t>
            </a:r>
            <a:endParaRPr lang="en-US" sz="2800" dirty="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5" name="序号"/>
          <p:cNvSpPr txBox="1"/>
          <p:nvPr>
            <p:custDataLst>
              <p:tags r:id="rId9"/>
            </p:custDataLst>
          </p:nvPr>
        </p:nvSpPr>
        <p:spPr>
          <a:xfrm>
            <a:off x="5614496" y="3870960"/>
            <a:ext cx="791210" cy="45656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80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</a:rPr>
              <a:t>04.</a:t>
            </a:r>
          </a:p>
        </p:txBody>
      </p:sp>
      <p:sp>
        <p:nvSpPr>
          <p:cNvPr id="16" name="项标题"/>
          <p:cNvSpPr txBox="1"/>
          <p:nvPr>
            <p:custDataLst>
              <p:tags r:id="rId10"/>
            </p:custDataLst>
          </p:nvPr>
        </p:nvSpPr>
        <p:spPr>
          <a:xfrm>
            <a:off x="6523355" y="3874135"/>
            <a:ext cx="4794250" cy="45720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2800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sym typeface="+mn-ea"/>
              </a:rPr>
              <a:t>任务间通信与同步</a:t>
            </a:r>
            <a:endParaRPr lang="zh-CN" altLang="en-US" sz="2400" b="1" spc="3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2" name="序号"/>
          <p:cNvSpPr txBox="1"/>
          <p:nvPr>
            <p:custDataLst>
              <p:tags r:id="rId11"/>
            </p:custDataLst>
          </p:nvPr>
        </p:nvSpPr>
        <p:spPr>
          <a:xfrm>
            <a:off x="5614496" y="4413250"/>
            <a:ext cx="791210" cy="45656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80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</a:rPr>
              <a:t>05.</a:t>
            </a:r>
          </a:p>
        </p:txBody>
      </p:sp>
      <p:sp>
        <p:nvSpPr>
          <p:cNvPr id="3" name="项标题"/>
          <p:cNvSpPr txBox="1"/>
          <p:nvPr>
            <p:custDataLst>
              <p:tags r:id="rId12"/>
            </p:custDataLst>
          </p:nvPr>
        </p:nvSpPr>
        <p:spPr>
          <a:xfrm>
            <a:off x="6523355" y="4415155"/>
            <a:ext cx="4794250" cy="45720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2800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sym typeface="+mn-ea"/>
              </a:rPr>
              <a:t>内存管理</a:t>
            </a:r>
            <a:endParaRPr lang="en-US" sz="2800" dirty="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6405880" y="5821680"/>
            <a:ext cx="3955415" cy="521970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pPr algn="l">
              <a:buClrTx/>
              <a:buSzTx/>
              <a:buFontTx/>
            </a:pPr>
            <a:r>
              <a:rPr lang="en-US" sz="2800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sym typeface="+mn-ea"/>
              </a:rPr>
              <a:t>常见陷阱与调试技巧</a:t>
            </a:r>
            <a:endParaRPr lang="en-US" sz="2800" dirty="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j-ea"/>
              <a:sym typeface="+mn-ea"/>
            </a:endParaRPr>
          </a:p>
        </p:txBody>
      </p:sp>
      <p:sp>
        <p:nvSpPr>
          <p:cNvPr id="8" name="序号"/>
          <p:cNvSpPr txBox="1"/>
          <p:nvPr>
            <p:custDataLst>
              <p:tags r:id="rId13"/>
            </p:custDataLst>
          </p:nvPr>
        </p:nvSpPr>
        <p:spPr>
          <a:xfrm>
            <a:off x="5614496" y="5887085"/>
            <a:ext cx="791210" cy="45656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80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</a:rPr>
              <a:t>08.</a:t>
            </a:r>
          </a:p>
        </p:txBody>
      </p:sp>
      <p:sp>
        <p:nvSpPr>
          <p:cNvPr id="18" name="序号"/>
          <p:cNvSpPr txBox="1"/>
          <p:nvPr>
            <p:custDataLst>
              <p:tags r:id="rId14"/>
            </p:custDataLst>
          </p:nvPr>
        </p:nvSpPr>
        <p:spPr>
          <a:xfrm>
            <a:off x="5614496" y="5386070"/>
            <a:ext cx="791210" cy="45656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80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</a:rPr>
              <a:t>07.</a:t>
            </a:r>
          </a:p>
        </p:txBody>
      </p:sp>
      <p:sp>
        <p:nvSpPr>
          <p:cNvPr id="19" name="项标题"/>
          <p:cNvSpPr txBox="1"/>
          <p:nvPr>
            <p:custDataLst>
              <p:tags r:id="rId15"/>
            </p:custDataLst>
          </p:nvPr>
        </p:nvSpPr>
        <p:spPr>
          <a:xfrm>
            <a:off x="6523355" y="5387975"/>
            <a:ext cx="4794250" cy="45720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/>
          <a:p>
            <a:pPr>
              <a:lnSpc>
                <a:spcPct val="100000"/>
              </a:lnSpc>
            </a:pPr>
            <a:r>
              <a:rPr lang="zh-CN" altLang="en-US" sz="280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sym typeface="+mn-ea"/>
              </a:rPr>
              <a:t>钩子函数</a:t>
            </a:r>
          </a:p>
        </p:txBody>
      </p:sp>
      <p:sp>
        <p:nvSpPr>
          <p:cNvPr id="20" name="序号"/>
          <p:cNvSpPr txBox="1"/>
          <p:nvPr>
            <p:custDataLst>
              <p:tags r:id="rId16"/>
            </p:custDataLst>
          </p:nvPr>
        </p:nvSpPr>
        <p:spPr>
          <a:xfrm>
            <a:off x="5614496" y="4899660"/>
            <a:ext cx="791210" cy="45656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/>
          <a:p>
            <a:pPr algn="r">
              <a:lnSpc>
                <a:spcPct val="100000"/>
              </a:lnSpc>
            </a:pPr>
            <a:r>
              <a:rPr lang="en-US" sz="280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</a:rPr>
              <a:t>06.</a:t>
            </a:r>
          </a:p>
        </p:txBody>
      </p:sp>
      <p:sp>
        <p:nvSpPr>
          <p:cNvPr id="21" name="项标题"/>
          <p:cNvSpPr txBox="1"/>
          <p:nvPr>
            <p:custDataLst>
              <p:tags r:id="rId17"/>
            </p:custDataLst>
          </p:nvPr>
        </p:nvSpPr>
        <p:spPr>
          <a:xfrm>
            <a:off x="6523355" y="4901565"/>
            <a:ext cx="4794250" cy="45720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/>
          <a:p>
            <a:pPr>
              <a:lnSpc>
                <a:spcPct val="100000"/>
              </a:lnSpc>
            </a:pPr>
            <a:r>
              <a:rPr lang="zh-CN" altLang="en-US" sz="280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j-ea"/>
                <a:sym typeface="+mn-ea"/>
              </a:rPr>
              <a:t>中断管理</a:t>
            </a:r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313045" y="2517775"/>
            <a:ext cx="5351780" cy="1080770"/>
          </a:xfrm>
        </p:spPr>
        <p:txBody>
          <a:bodyPr wrap="square">
            <a:normAutofit/>
          </a:bodyPr>
          <a:lstStyle/>
          <a:p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sym typeface="+mn-ea"/>
              </a:rPr>
              <a:t>RTOS 基本概念</a:t>
            </a:r>
            <a:endParaRPr lang="en-US"/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450215" y="964565"/>
            <a:ext cx="8953500" cy="13220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buAutoNum type="arabicPeriod"/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RTOS vs </a:t>
            </a:r>
            <a:r>
              <a:rPr 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其它</a:t>
            </a:r>
            <a:endParaRPr sz="200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ea"/>
            </a:endParaRPr>
          </a:p>
          <a:p>
            <a:pPr marL="342900" indent="-342900">
              <a:buAutoNum type="arabicPeriod"/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实时性的定义：硬实时 vs 软实时</a:t>
            </a:r>
          </a:p>
          <a:p>
            <a:pPr marL="342900" indent="-342900">
              <a:buAutoNum type="arabicPeriod"/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FreeRTOS 架构概览</a:t>
            </a:r>
          </a:p>
          <a:p>
            <a:pPr marL="342900" indent="-342900">
              <a:buAutoNum type="arabicPeriod"/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freertos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使用</a:t>
            </a:r>
            <a:endParaRPr sz="200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ea"/>
            </a:endParaRPr>
          </a:p>
        </p:txBody>
      </p:sp>
    </p:spTree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lang="zh-CN" altLang="en-US" sz="1600" i="0">
                <a:solidFill>
                  <a:srgbClr val="D92142"/>
                </a:solidFill>
                <a:latin typeface="PingFang SC"/>
                <a:ea typeface="PingFang SC"/>
              </a:rPr>
              <a:t>顺序执行的前后台系统</a:t>
            </a:r>
          </a:p>
        </p:txBody>
      </p:sp>
      <p:pic>
        <p:nvPicPr>
          <p:cNvPr id="3" name="图片 2"/>
          <p:cNvPicPr/>
          <p:nvPr/>
        </p:nvPicPr>
        <p:blipFill>
          <a:blip r:embed="rId2"/>
          <a:stretch>
            <a:fillRect/>
          </a:stretch>
        </p:blipFill>
        <p:spPr>
          <a:xfrm>
            <a:off x="755650" y="1348105"/>
            <a:ext cx="3550920" cy="3723640"/>
          </a:xfrm>
          <a:prstGeom prst="rect">
            <a:avLst/>
          </a:prstGeom>
        </p:spPr>
      </p:pic>
      <p:pic>
        <p:nvPicPr>
          <p:cNvPr id="5" name="图片 4"/>
          <p:cNvPicPr/>
          <p:nvPr/>
        </p:nvPicPr>
        <p:blipFill>
          <a:blip r:embed="rId3"/>
          <a:srcRect l="734" b="606"/>
          <a:stretch>
            <a:fillRect/>
          </a:stretch>
        </p:blipFill>
        <p:spPr>
          <a:xfrm>
            <a:off x="4745990" y="1146175"/>
            <a:ext cx="5493385" cy="270764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938848" y="5377498"/>
            <a:ext cx="5080000" cy="82994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 algn="just"/>
            <a:r>
              <a:rPr lang="zh-CN" altLang="en-US" sz="1600" b="0" i="0">
                <a:solidFill>
                  <a:schemeClr val="bg2"/>
                </a:solidFill>
                <a:latin typeface="PingFang SC"/>
                <a:ea typeface="PingFang SC"/>
              </a:rPr>
              <a:t>这种架构的优点是使用简单易于理解，而缺点是每个任务所占的</a:t>
            </a:r>
            <a:r>
              <a:rPr lang="en-US" altLang="zh-CN" sz="1600" b="0" i="0">
                <a:solidFill>
                  <a:schemeClr val="bg2"/>
                </a:solidFill>
                <a:latin typeface="PingFang SC"/>
                <a:ea typeface="PingFang SC"/>
              </a:rPr>
              <a:t>CPU</a:t>
            </a:r>
            <a:r>
              <a:rPr lang="zh-CN" altLang="en-US" sz="1600" b="0" i="0">
                <a:solidFill>
                  <a:schemeClr val="bg2"/>
                </a:solidFill>
                <a:latin typeface="PingFang SC"/>
                <a:ea typeface="PingFang SC"/>
              </a:rPr>
              <a:t>时间过长的话，会导致程序的实时性能差，就比如按键的检测等。</a:t>
            </a:r>
          </a:p>
        </p:txBody>
      </p:sp>
    </p:spTree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lang="zh-CN" altLang="en-US" sz="1600" i="0">
                <a:solidFill>
                  <a:srgbClr val="D92142"/>
                </a:solidFill>
                <a:latin typeface="PingFang SC"/>
                <a:ea typeface="PingFang SC"/>
              </a:rPr>
              <a:t>时间片轮询系统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1013460" y="5670550"/>
            <a:ext cx="9574530" cy="3371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just"/>
            <a:r>
              <a:rPr lang="zh-CN" altLang="en-US" sz="1600" b="0" i="0" dirty="0">
                <a:solidFill>
                  <a:schemeClr val="bg2"/>
                </a:solidFill>
                <a:latin typeface="PingFang SC"/>
                <a:ea typeface="PingFang SC"/>
              </a:rPr>
              <a:t>时间片轮询法相比顺序执行还是有很大优势的，既有顺序执行法的优点，也有操作系统的部分优点。</a:t>
            </a:r>
          </a:p>
        </p:txBody>
      </p:sp>
      <p:pic>
        <p:nvPicPr>
          <p:cNvPr id="4" name="图片 3"/>
          <p:cNvPicPr/>
          <p:nvPr/>
        </p:nvPicPr>
        <p:blipFill>
          <a:blip r:embed="rId3"/>
          <a:stretch>
            <a:fillRect/>
          </a:stretch>
        </p:blipFill>
        <p:spPr>
          <a:xfrm>
            <a:off x="939165" y="1326515"/>
            <a:ext cx="3748405" cy="4119880"/>
          </a:xfrm>
          <a:prstGeom prst="rect">
            <a:avLst/>
          </a:prstGeom>
        </p:spPr>
      </p:pic>
      <p:pic>
        <p:nvPicPr>
          <p:cNvPr id="7" name="图片 6"/>
          <p:cNvPicPr/>
          <p:nvPr/>
        </p:nvPicPr>
        <p:blipFill>
          <a:blip r:embed="rId4"/>
          <a:stretch>
            <a:fillRect/>
          </a:stretch>
        </p:blipFill>
        <p:spPr>
          <a:xfrm>
            <a:off x="5092700" y="2091055"/>
            <a:ext cx="6458585" cy="194437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lang="zh-CN" altLang="en-US" sz="1600" i="0">
                <a:solidFill>
                  <a:srgbClr val="D92142"/>
                </a:solidFill>
                <a:latin typeface="PingFang SC"/>
                <a:ea typeface="PingFang SC"/>
              </a:rPr>
              <a:t>多任务操作系统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457835" y="5523865"/>
            <a:ext cx="11092815" cy="3371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just"/>
            <a:r>
              <a:rPr lang="zh-CN" altLang="en-US" sz="1600" b="0" i="0">
                <a:solidFill>
                  <a:schemeClr val="bg2"/>
                </a:solidFill>
                <a:latin typeface="PingFang SC"/>
                <a:ea typeface="PingFang SC"/>
              </a:rPr>
              <a:t>在一些功能复杂，逻辑控制较为困难的系统中就适合选择多任务操作系统，比如视频监控系统、无人机等等应用场景。</a:t>
            </a:r>
          </a:p>
        </p:txBody>
      </p:sp>
      <p:pic>
        <p:nvPicPr>
          <p:cNvPr id="3" name="图片 2"/>
          <p:cNvPicPr/>
          <p:nvPr/>
        </p:nvPicPr>
        <p:blipFill>
          <a:blip r:embed="rId2"/>
          <a:stretch>
            <a:fillRect/>
          </a:stretch>
        </p:blipFill>
        <p:spPr>
          <a:xfrm>
            <a:off x="129540" y="1338580"/>
            <a:ext cx="5728970" cy="3941445"/>
          </a:xfrm>
          <a:prstGeom prst="rect">
            <a:avLst/>
          </a:prstGeom>
        </p:spPr>
      </p:pic>
      <p:pic>
        <p:nvPicPr>
          <p:cNvPr id="5" name="图片 4"/>
          <p:cNvPicPr/>
          <p:nvPr/>
        </p:nvPicPr>
        <p:blipFill>
          <a:blip r:embed="rId3"/>
          <a:stretch>
            <a:fillRect/>
          </a:stretch>
        </p:blipFill>
        <p:spPr>
          <a:xfrm>
            <a:off x="5858510" y="1310005"/>
            <a:ext cx="6329045" cy="3914775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457835" y="5996305"/>
            <a:ext cx="10925810" cy="52197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0" indent="0" algn="just"/>
            <a:r>
              <a:rPr lang="zh-CN" altLang="en-US" sz="1600" b="0" i="0" dirty="0">
                <a:solidFill>
                  <a:srgbClr val="FF0000"/>
                </a:solidFill>
                <a:latin typeface="PingFang SC"/>
                <a:ea typeface="PingFang SC"/>
              </a:rPr>
              <a:t>没有最好的软件架构</a:t>
            </a:r>
            <a:r>
              <a:rPr lang="en-US" altLang="zh-CN" sz="1600" b="0" i="0" dirty="0">
                <a:solidFill>
                  <a:srgbClr val="FF0000"/>
                </a:solidFill>
                <a:latin typeface="PingFang SC"/>
                <a:ea typeface="PingFang SC"/>
              </a:rPr>
              <a:t>(</a:t>
            </a:r>
            <a:r>
              <a:rPr lang="zh-CN" altLang="en-US" sz="1600" b="0" i="0" dirty="0">
                <a:solidFill>
                  <a:srgbClr val="FF0000"/>
                </a:solidFill>
                <a:latin typeface="PingFang SC"/>
                <a:ea typeface="PingFang SC"/>
              </a:rPr>
              <a:t>程序架构</a:t>
            </a:r>
            <a:r>
              <a:rPr lang="en-US" altLang="zh-CN" sz="1600" b="0" i="0" dirty="0">
                <a:solidFill>
                  <a:srgbClr val="FF0000"/>
                </a:solidFill>
                <a:latin typeface="PingFang SC"/>
                <a:ea typeface="PingFang SC"/>
              </a:rPr>
              <a:t>)</a:t>
            </a:r>
            <a:r>
              <a:rPr lang="zh-CN" altLang="en-US" sz="1600" b="0" i="0" dirty="0">
                <a:solidFill>
                  <a:srgbClr val="FF0000"/>
                </a:solidFill>
                <a:latin typeface="PingFang SC"/>
                <a:ea typeface="PingFang SC"/>
              </a:rPr>
              <a:t>，而是只有最合适的。因为在不同的应用场景中适合采用不同的程序设计，而单纯的去比较哪种程序架构是最好的没有什么实际的意义。</a:t>
            </a:r>
          </a:p>
        </p:txBody>
      </p:sp>
    </p:spTree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lang="en-US" altLang="zh-CN" sz="1600" i="0">
                <a:solidFill>
                  <a:srgbClr val="D92142"/>
                </a:solidFill>
                <a:latin typeface="PingFang SC"/>
                <a:ea typeface="PingFang SC"/>
              </a:rPr>
              <a:t>RTOS vs </a:t>
            </a:r>
            <a:r>
              <a:rPr lang="zh-CN" altLang="en-US" sz="1600" i="0">
                <a:solidFill>
                  <a:srgbClr val="D92142"/>
                </a:solidFill>
                <a:latin typeface="PingFang SC"/>
                <a:ea typeface="PingFang SC"/>
              </a:rPr>
              <a:t>其它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603885" y="1712595"/>
            <a:ext cx="10947400" cy="169672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>
                <a:solidFill>
                  <a:schemeClr val="bg2"/>
                </a:solidFill>
                <a:sym typeface="+mn-ea"/>
              </a:rPr>
              <a:t>RTOS：</a:t>
            </a:r>
            <a:r>
              <a:rPr>
                <a:solidFill>
                  <a:srgbClr val="FF0000"/>
                </a:solidFill>
                <a:sym typeface="+mn-ea"/>
              </a:rPr>
              <a:t>多任务、实时调度、可预测性</a:t>
            </a:r>
            <a:r>
              <a:rPr lang="zh-CN">
                <a:solidFill>
                  <a:schemeClr val="bg2"/>
                </a:solidFill>
                <a:ea typeface="宋体" panose="02010600030101010101" pitchFamily="2" charset="-122"/>
                <a:sym typeface="+mn-ea"/>
              </a:rPr>
              <a:t>（任务执行有规律，与及时性的区别）</a:t>
            </a:r>
            <a:endParaRPr>
              <a:solidFill>
                <a:schemeClr val="bg2"/>
              </a:solidFill>
              <a:sym typeface="+mn-ea"/>
            </a:endParaRPr>
          </a:p>
          <a:p>
            <a:r>
              <a:rPr>
                <a:solidFill>
                  <a:schemeClr val="bg2"/>
                </a:solidFill>
                <a:sym typeface="+mn-ea"/>
              </a:rPr>
              <a:t>裸机：简单控制，单任务，</a:t>
            </a:r>
            <a:r>
              <a:rPr>
                <a:solidFill>
                  <a:srgbClr val="FF0000"/>
                </a:solidFill>
                <a:sym typeface="+mn-ea"/>
              </a:rPr>
              <a:t>实时性</a:t>
            </a:r>
            <a:r>
              <a:rPr>
                <a:solidFill>
                  <a:schemeClr val="bg2"/>
                </a:solidFill>
                <a:sym typeface="+mn-ea"/>
              </a:rPr>
              <a:t>差</a:t>
            </a:r>
          </a:p>
          <a:p>
            <a:r>
              <a:rPr>
                <a:solidFill>
                  <a:schemeClr val="bg2"/>
                </a:solidFill>
                <a:sym typeface="+mn-ea"/>
              </a:rPr>
              <a:t>RTOS 是为复杂系统设计，支持硬件抽象层、任务切换与中断管理</a:t>
            </a:r>
            <a:endParaRPr lang="zh-CN" altLang="en-US">
              <a:solidFill>
                <a:schemeClr val="bg2"/>
              </a:solidFill>
              <a:sym typeface="+mn-ea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03885" y="3510915"/>
            <a:ext cx="972820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>
                <a:solidFill>
                  <a:schemeClr val="bg2"/>
                </a:solidFill>
                <a:sym typeface="+mn-ea"/>
              </a:rPr>
              <a:t>RTOS vs 裸机的对比：</a:t>
            </a:r>
          </a:p>
          <a:p>
            <a:r>
              <a:rPr>
                <a:solidFill>
                  <a:schemeClr val="bg2"/>
                </a:solidFill>
                <a:sym typeface="+mn-ea"/>
              </a:rPr>
              <a:t>裸机程序需要自己管理所有任务，RTOS 提供调度器和任务管理。</a:t>
            </a:r>
            <a:endParaRPr lang="zh-CN" altLang="en-US">
              <a:solidFill>
                <a:schemeClr val="bg2"/>
              </a:solidFill>
              <a:sym typeface="+mn-ea"/>
            </a:endParaRPr>
          </a:p>
        </p:txBody>
      </p:sp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lang="zh-CN" altLang="en-US" sz="1600" i="0">
                <a:solidFill>
                  <a:srgbClr val="D92142"/>
                </a:solidFill>
                <a:latin typeface="PingFang SC"/>
                <a:ea typeface="PingFang SC"/>
              </a:rPr>
              <a:t>硬实时</a:t>
            </a:r>
            <a:r>
              <a:rPr lang="en-US" altLang="zh-CN" sz="1600" i="0">
                <a:solidFill>
                  <a:srgbClr val="D92142"/>
                </a:solidFill>
                <a:latin typeface="PingFang SC"/>
                <a:ea typeface="PingFang SC"/>
              </a:rPr>
              <a:t> vs </a:t>
            </a:r>
            <a:r>
              <a:rPr lang="zh-CN" altLang="en-US" sz="1600" i="0">
                <a:solidFill>
                  <a:srgbClr val="D92142"/>
                </a:solidFill>
                <a:latin typeface="PingFang SC"/>
                <a:ea typeface="PingFang SC"/>
              </a:rPr>
              <a:t>软实时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603885" y="1712595"/>
            <a:ext cx="10947400" cy="169672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>
                <a:solidFill>
                  <a:schemeClr val="bg2"/>
                </a:solidFill>
                <a:sym typeface="+mn-ea"/>
              </a:rPr>
              <a:t>硬实时：任务必须在规定时间内完成，否则系统不可用</a:t>
            </a:r>
            <a:r>
              <a:rPr lang="en-US">
                <a:solidFill>
                  <a:schemeClr val="bg2"/>
                </a:solidFill>
                <a:sym typeface="+mn-ea"/>
              </a:rPr>
              <a:t>    ---</a:t>
            </a:r>
            <a:r>
              <a:rPr>
                <a:solidFill>
                  <a:schemeClr val="bg2"/>
                </a:solidFill>
                <a:sym typeface="+mn-ea"/>
              </a:rPr>
              <a:t>工业控制、汽车刹车系统；</a:t>
            </a:r>
          </a:p>
          <a:p>
            <a:endParaRPr>
              <a:solidFill>
                <a:schemeClr val="bg2"/>
              </a:solidFill>
              <a:sym typeface="+mn-ea"/>
            </a:endParaRPr>
          </a:p>
          <a:p>
            <a:r>
              <a:rPr>
                <a:solidFill>
                  <a:schemeClr val="bg2"/>
                </a:solidFill>
                <a:sym typeface="+mn-ea"/>
              </a:rPr>
              <a:t>软实时：任务完成的时间要求较宽松，尽量在规定时间内完成</a:t>
            </a:r>
            <a:r>
              <a:rPr lang="en-US">
                <a:solidFill>
                  <a:schemeClr val="bg2"/>
                </a:solidFill>
                <a:sym typeface="+mn-ea"/>
              </a:rPr>
              <a:t> ---</a:t>
            </a:r>
            <a:r>
              <a:rPr>
                <a:solidFill>
                  <a:schemeClr val="bg2"/>
                </a:solidFill>
                <a:sym typeface="+mn-ea"/>
              </a:rPr>
              <a:t>视频播放、音频处理。</a:t>
            </a:r>
            <a:endParaRPr lang="en-US">
              <a:solidFill>
                <a:schemeClr val="bg2"/>
              </a:solidFill>
              <a:sym typeface="+mn-ea"/>
            </a:endParaRPr>
          </a:p>
        </p:txBody>
      </p:sp>
    </p:spTree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lang="en-US" altLang="zh-CN" sz="1600" i="0">
                <a:solidFill>
                  <a:srgbClr val="D92142"/>
                </a:solidFill>
                <a:latin typeface="PingFang SC"/>
                <a:ea typeface="PingFang SC"/>
              </a:rPr>
              <a:t>FreeRTOS </a:t>
            </a:r>
            <a:r>
              <a:rPr lang="zh-CN" altLang="en-US" sz="1600" i="0">
                <a:solidFill>
                  <a:srgbClr val="D92142"/>
                </a:solidFill>
                <a:latin typeface="PingFang SC"/>
                <a:ea typeface="PingFang SC"/>
              </a:rPr>
              <a:t>架构概览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603885" y="1712595"/>
            <a:ext cx="10947400" cy="169672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>
                <a:solidFill>
                  <a:schemeClr val="bg2"/>
                </a:solidFill>
                <a:sym typeface="+mn-ea"/>
              </a:rPr>
              <a:t>FreeRTOS：开源、轻量、广泛应用于嵌入式系统</a:t>
            </a:r>
          </a:p>
          <a:p>
            <a:endParaRPr>
              <a:solidFill>
                <a:schemeClr val="bg2"/>
              </a:solidFill>
              <a:sym typeface="+mn-ea"/>
            </a:endParaRPr>
          </a:p>
          <a:p>
            <a:r>
              <a:rPr>
                <a:solidFill>
                  <a:schemeClr val="bg2"/>
                </a:solidFill>
                <a:sym typeface="+mn-ea"/>
              </a:rPr>
              <a:t>核心：任务管理、时间管理、同步通信、内存管理、调度器</a:t>
            </a:r>
          </a:p>
          <a:p>
            <a:endParaRPr>
              <a:solidFill>
                <a:schemeClr val="bg2"/>
              </a:solidFill>
              <a:sym typeface="+mn-ea"/>
            </a:endParaRPr>
          </a:p>
          <a:p>
            <a:r>
              <a:rPr>
                <a:solidFill>
                  <a:schemeClr val="bg2"/>
                </a:solidFill>
                <a:sym typeface="+mn-ea"/>
              </a:rPr>
              <a:t>可移植层：支持多种硬件架构（STM32、AVR、ARM、PIC）</a:t>
            </a:r>
            <a:endParaRPr lang="en-US">
              <a:solidFill>
                <a:schemeClr val="bg2"/>
              </a:solidFill>
              <a:sym typeface="+mn-ea"/>
            </a:endParaRPr>
          </a:p>
        </p:txBody>
      </p:sp>
    </p:spTree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lang="en-US" altLang="zh-CN" sz="1600" i="0">
                <a:solidFill>
                  <a:srgbClr val="D92142"/>
                </a:solidFill>
                <a:latin typeface="PingFang SC"/>
                <a:ea typeface="PingFang SC"/>
              </a:rPr>
              <a:t>FreeRTOS </a:t>
            </a:r>
            <a:r>
              <a:rPr lang="zh-CN" altLang="en-US" sz="1600" i="0">
                <a:solidFill>
                  <a:srgbClr val="D92142"/>
                </a:solidFill>
                <a:latin typeface="PingFang SC"/>
                <a:ea typeface="PingFang SC"/>
              </a:rPr>
              <a:t>使用</a:t>
            </a:r>
            <a:r>
              <a:rPr lang="en-US" altLang="zh-CN" sz="1600" i="0">
                <a:solidFill>
                  <a:srgbClr val="D92142"/>
                </a:solidFill>
                <a:latin typeface="PingFang SC"/>
                <a:ea typeface="PingFang SC"/>
              </a:rPr>
              <a:t> - </a:t>
            </a:r>
            <a:r>
              <a:rPr lang="zh-CN" altLang="en-US" sz="1600" i="0">
                <a:solidFill>
                  <a:srgbClr val="D92142"/>
                </a:solidFill>
                <a:latin typeface="PingFang SC"/>
                <a:ea typeface="PingFang SC"/>
              </a:rPr>
              <a:t>下载代码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544830" y="1712595"/>
            <a:ext cx="10947400" cy="169672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>
                <a:solidFill>
                  <a:schemeClr val="bg2"/>
                </a:solidFill>
                <a:sym typeface="+mn-ea"/>
              </a:rPr>
              <a:t>访问 FreeRTOS 官方网站（https://www.freertos.org）</a:t>
            </a:r>
          </a:p>
          <a:p>
            <a:endParaRPr>
              <a:solidFill>
                <a:schemeClr val="bg2"/>
              </a:solidFill>
              <a:sym typeface="+mn-ea"/>
            </a:endParaRPr>
          </a:p>
          <a:p>
            <a:r>
              <a:rPr>
                <a:solidFill>
                  <a:schemeClr val="bg2"/>
                </a:solidFill>
                <a:sym typeface="+mn-ea"/>
              </a:rPr>
              <a:t>或者从 GitHub 下载源代码：https://github.com/FreeRTOS</a:t>
            </a:r>
          </a:p>
          <a:p>
            <a:endParaRPr>
              <a:solidFill>
                <a:schemeClr val="bg2"/>
              </a:solidFill>
              <a:sym typeface="+mn-ea"/>
            </a:endParaRPr>
          </a:p>
          <a:p>
            <a:r>
              <a:rPr>
                <a:solidFill>
                  <a:schemeClr val="bg2"/>
                </a:solidFill>
                <a:sym typeface="+mn-ea"/>
              </a:rPr>
              <a:t>FreeRTOS 中的</a:t>
            </a:r>
            <a:r>
              <a:rPr lang="zh-CN">
                <a:solidFill>
                  <a:schemeClr val="bg2"/>
                </a:solidFill>
                <a:sym typeface="+mn-ea"/>
              </a:rPr>
              <a:t>部分</a:t>
            </a:r>
            <a:r>
              <a:rPr>
                <a:solidFill>
                  <a:schemeClr val="bg2"/>
                </a:solidFill>
                <a:sym typeface="+mn-ea"/>
              </a:rPr>
              <a:t>功能模块（任务管理、内存管理、通信机制）</a:t>
            </a:r>
            <a:endParaRPr lang="en-US">
              <a:solidFill>
                <a:schemeClr val="bg2"/>
              </a:solidFill>
              <a:sym typeface="+mn-ea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632200"/>
            <a:ext cx="6242685" cy="338963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9920" y="3785870"/>
            <a:ext cx="6419215" cy="323596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3809365" y="116840"/>
            <a:ext cx="5125085" cy="42100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>
                <a:solidFill>
                  <a:schemeClr val="bg2"/>
                </a:solidFill>
                <a:sym typeface="+mn-ea"/>
              </a:rPr>
              <a:t>FreeRTOS 中的各个功能模块</a:t>
            </a:r>
            <a:endParaRPr lang="en-US">
              <a:solidFill>
                <a:schemeClr val="bg2"/>
              </a:solidFill>
              <a:sym typeface="+mn-ea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0" y="836295"/>
            <a:ext cx="12103100" cy="61855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>
                <a:solidFill>
                  <a:schemeClr val="bg2"/>
                </a:solidFill>
                <a:sym typeface="+mn-ea"/>
              </a:rPr>
              <a:t>这些功能模块是设计成可选的，你可以根据实际需求选择性地使用其中的一部分，而不必强制引入所有功能。</a:t>
            </a:r>
          </a:p>
          <a:p>
            <a:pPr marL="0" lvl="1" indent="0"/>
            <a:r>
              <a:rPr lang="en-US" altLang="zh-CN" b="1">
                <a:solidFill>
                  <a:schemeClr val="bg2"/>
                </a:solidFill>
                <a:sym typeface="+mn-ea"/>
              </a:rPr>
              <a:t>1. </a:t>
            </a:r>
            <a:r>
              <a:rPr lang="zh-CN" altLang="en-US" b="1">
                <a:solidFill>
                  <a:schemeClr val="bg2"/>
                </a:solidFill>
                <a:sym typeface="+mn-ea"/>
              </a:rPr>
              <a:t>任务管理</a:t>
            </a:r>
            <a:r>
              <a:rPr lang="zh-CN" altLang="en-US">
                <a:solidFill>
                  <a:schemeClr val="bg2"/>
                </a:solidFill>
                <a:sym typeface="+mn-ea"/>
              </a:rPr>
              <a:t>：</a:t>
            </a:r>
            <a:r>
              <a:rPr lang="en-US" altLang="zh-CN">
                <a:solidFill>
                  <a:schemeClr val="bg2"/>
                </a:solidFill>
                <a:sym typeface="+mn-ea"/>
              </a:rPr>
              <a:t>FreeRTOS </a:t>
            </a:r>
            <a:r>
              <a:rPr lang="zh-CN" altLang="en-US">
                <a:solidFill>
                  <a:schemeClr val="bg2"/>
                </a:solidFill>
                <a:sym typeface="+mn-ea"/>
              </a:rPr>
              <a:t>提供了任务（</a:t>
            </a:r>
            <a:r>
              <a:rPr lang="en-US" altLang="zh-CN">
                <a:solidFill>
                  <a:schemeClr val="bg2"/>
                </a:solidFill>
                <a:sym typeface="+mn-ea"/>
              </a:rPr>
              <a:t>Task</a:t>
            </a:r>
            <a:r>
              <a:rPr lang="zh-CN" altLang="en-US">
                <a:solidFill>
                  <a:schemeClr val="bg2"/>
                </a:solidFill>
                <a:sym typeface="+mn-ea"/>
              </a:rPr>
              <a:t>）创建、调度、删除、挂起等功能。你可以仅使用任务管理模块来实现基于任务的调度，无需使用其他模块。</a:t>
            </a:r>
            <a:endParaRPr lang="en-US" altLang="zh-CN">
              <a:solidFill>
                <a:schemeClr val="bg2"/>
              </a:solidFill>
              <a:sym typeface="+mn-ea"/>
            </a:endParaRPr>
          </a:p>
          <a:p>
            <a:pPr marL="0" lvl="1" indent="0"/>
            <a:r>
              <a:rPr lang="en-US" altLang="zh-CN" b="1">
                <a:solidFill>
                  <a:schemeClr val="bg2"/>
                </a:solidFill>
                <a:sym typeface="+mn-ea"/>
              </a:rPr>
              <a:t>2. </a:t>
            </a:r>
            <a:r>
              <a:rPr lang="zh-CN" altLang="en-US" b="1">
                <a:solidFill>
                  <a:schemeClr val="bg2"/>
                </a:solidFill>
                <a:sym typeface="+mn-ea"/>
              </a:rPr>
              <a:t>内存管理</a:t>
            </a:r>
            <a:r>
              <a:rPr lang="zh-CN" altLang="en-US">
                <a:solidFill>
                  <a:schemeClr val="bg2"/>
                </a:solidFill>
                <a:sym typeface="+mn-ea"/>
              </a:rPr>
              <a:t>：</a:t>
            </a:r>
            <a:r>
              <a:rPr lang="en-US" altLang="zh-CN">
                <a:solidFill>
                  <a:schemeClr val="bg2"/>
                </a:solidFill>
                <a:sym typeface="+mn-ea"/>
              </a:rPr>
              <a:t>FreeRTOS </a:t>
            </a:r>
            <a:r>
              <a:rPr lang="zh-CN" altLang="en-US">
                <a:solidFill>
                  <a:schemeClr val="bg2"/>
                </a:solidFill>
                <a:sym typeface="+mn-ea"/>
              </a:rPr>
              <a:t>支持多种内存管理方案（如堆、栈管理）。你可以选择是否使用它的内存分配功能，比如你可以选择自己编写内存管理代码，或者直接使用</a:t>
            </a:r>
            <a:r>
              <a:rPr lang="en-US" altLang="zh-CN">
                <a:solidFill>
                  <a:schemeClr val="bg2"/>
                </a:solidFill>
                <a:sym typeface="+mn-ea"/>
              </a:rPr>
              <a:t> FreeRTOS </a:t>
            </a:r>
            <a:r>
              <a:rPr lang="zh-CN" altLang="en-US">
                <a:solidFill>
                  <a:schemeClr val="bg2"/>
                </a:solidFill>
                <a:sym typeface="+mn-ea"/>
              </a:rPr>
              <a:t>提供的堆内存分配器。</a:t>
            </a:r>
          </a:p>
          <a:p>
            <a:pPr marL="0" lvl="1" indent="0"/>
            <a:r>
              <a:rPr lang="en-US" altLang="zh-CN" b="1">
                <a:solidFill>
                  <a:schemeClr val="bg2"/>
                </a:solidFill>
                <a:sym typeface="+mn-ea"/>
              </a:rPr>
              <a:t>3. </a:t>
            </a:r>
            <a:r>
              <a:rPr lang="zh-CN" altLang="en-US" b="1">
                <a:solidFill>
                  <a:schemeClr val="bg2"/>
                </a:solidFill>
                <a:sym typeface="+mn-ea"/>
              </a:rPr>
              <a:t>时间管理</a:t>
            </a:r>
            <a:r>
              <a:rPr lang="zh-CN" altLang="en-US">
                <a:solidFill>
                  <a:schemeClr val="bg2"/>
                </a:solidFill>
                <a:sym typeface="+mn-ea"/>
              </a:rPr>
              <a:t>：提供系统节拍计数、支持任务延时、软件定时机制，让任务可以基于时间进行调度或周期性执行，满足实时性需求。</a:t>
            </a:r>
          </a:p>
          <a:p>
            <a:pPr marL="0" lvl="1" indent="0"/>
            <a:r>
              <a:rPr lang="en-US" altLang="zh-CN" b="1">
                <a:solidFill>
                  <a:schemeClr val="bg2"/>
                </a:solidFill>
                <a:sym typeface="+mn-ea"/>
              </a:rPr>
              <a:t>4.</a:t>
            </a:r>
            <a:r>
              <a:rPr lang="zh-CN" altLang="en-US" b="1">
                <a:solidFill>
                  <a:schemeClr val="bg2"/>
                </a:solidFill>
                <a:sym typeface="+mn-ea"/>
              </a:rPr>
              <a:t>调度器</a:t>
            </a:r>
            <a:r>
              <a:rPr lang="zh-CN" altLang="en-US">
                <a:solidFill>
                  <a:schemeClr val="bg2"/>
                </a:solidFill>
                <a:sym typeface="+mn-ea"/>
              </a:rPr>
              <a:t>：根据任务优先级选择下一个运行的任务、支持</a:t>
            </a:r>
            <a:r>
              <a:rPr lang="en-US" altLang="zh-CN">
                <a:solidFill>
                  <a:schemeClr val="bg2"/>
                </a:solidFill>
                <a:sym typeface="+mn-ea"/>
              </a:rPr>
              <a:t> </a:t>
            </a:r>
            <a:r>
              <a:rPr lang="zh-CN" altLang="en-US">
                <a:solidFill>
                  <a:schemeClr val="bg2"/>
                </a:solidFill>
                <a:sym typeface="+mn-ea"/>
              </a:rPr>
              <a:t>抢占式调度</a:t>
            </a:r>
            <a:r>
              <a:rPr lang="en-US" altLang="zh-CN">
                <a:solidFill>
                  <a:schemeClr val="bg2"/>
                </a:solidFill>
                <a:sym typeface="+mn-ea"/>
              </a:rPr>
              <a:t> </a:t>
            </a:r>
            <a:r>
              <a:rPr lang="zh-CN" altLang="en-US">
                <a:solidFill>
                  <a:schemeClr val="bg2"/>
                </a:solidFill>
                <a:sym typeface="+mn-ea"/>
              </a:rPr>
              <a:t>和</a:t>
            </a:r>
            <a:r>
              <a:rPr lang="en-US" altLang="zh-CN">
                <a:solidFill>
                  <a:schemeClr val="bg2"/>
                </a:solidFill>
                <a:sym typeface="+mn-ea"/>
              </a:rPr>
              <a:t> </a:t>
            </a:r>
            <a:r>
              <a:rPr lang="zh-CN" altLang="en-US">
                <a:solidFill>
                  <a:schemeClr val="bg2"/>
                </a:solidFill>
                <a:sym typeface="+mn-ea"/>
              </a:rPr>
              <a:t>时间片轮转调度、提供任务切换机制（上下文切换）</a:t>
            </a:r>
          </a:p>
          <a:p>
            <a:pPr marL="0" lvl="1" indent="0"/>
            <a:r>
              <a:rPr lang="en-US" altLang="zh-CN" b="1">
                <a:solidFill>
                  <a:schemeClr val="bg2"/>
                </a:solidFill>
                <a:sym typeface="+mn-ea"/>
              </a:rPr>
              <a:t>5.</a:t>
            </a:r>
            <a:r>
              <a:rPr lang="zh-CN" altLang="en-US" b="1">
                <a:solidFill>
                  <a:schemeClr val="bg2"/>
                </a:solidFill>
                <a:sym typeface="+mn-ea"/>
              </a:rPr>
              <a:t>任务间通信机制</a:t>
            </a:r>
            <a:r>
              <a:rPr lang="zh-CN" altLang="en-US">
                <a:solidFill>
                  <a:schemeClr val="bg2"/>
                </a:solidFill>
                <a:sym typeface="+mn-ea"/>
              </a:rPr>
              <a:t>：</a:t>
            </a:r>
            <a:r>
              <a:rPr lang="en-US" altLang="zh-CN">
                <a:solidFill>
                  <a:schemeClr val="bg2"/>
                </a:solidFill>
                <a:sym typeface="+mn-ea"/>
              </a:rPr>
              <a:t>FreeRTOS </a:t>
            </a:r>
            <a:r>
              <a:rPr lang="zh-CN" altLang="en-US">
                <a:solidFill>
                  <a:schemeClr val="bg2"/>
                </a:solidFill>
                <a:sym typeface="+mn-ea"/>
              </a:rPr>
              <a:t>提供了多个通信机制，如消息队列、信号量、互斥量、事件组、消息流缓冲区等。这些模块可以独立于任务管理使用。你可以在任务间使用这些通信机制，但如果你的系统中不需要任务间通信，你完全可以选择不使用这些功能</a:t>
            </a:r>
          </a:p>
          <a:p>
            <a:pPr marL="0" lvl="1" indent="0"/>
            <a:r>
              <a:rPr lang="en-US" altLang="zh-CN" b="1">
                <a:solidFill>
                  <a:schemeClr val="bg2"/>
                </a:solidFill>
                <a:sym typeface="+mn-ea"/>
              </a:rPr>
              <a:t>6.</a:t>
            </a:r>
            <a:r>
              <a:rPr lang="zh-CN" altLang="en-US" b="1">
                <a:solidFill>
                  <a:schemeClr val="bg2"/>
                </a:solidFill>
                <a:sym typeface="+mn-ea"/>
              </a:rPr>
              <a:t>中断管理</a:t>
            </a:r>
            <a:r>
              <a:rPr lang="zh-CN" altLang="en-US">
                <a:solidFill>
                  <a:schemeClr val="bg2"/>
                </a:solidFill>
                <a:sym typeface="+mn-ea"/>
              </a:rPr>
              <a:t>：提供与</a:t>
            </a:r>
            <a:r>
              <a:rPr lang="en-US" altLang="zh-CN">
                <a:solidFill>
                  <a:schemeClr val="bg2"/>
                </a:solidFill>
                <a:sym typeface="+mn-ea"/>
              </a:rPr>
              <a:t> ISR</a:t>
            </a:r>
            <a:r>
              <a:rPr lang="zh-CN" altLang="en-US">
                <a:solidFill>
                  <a:schemeClr val="bg2"/>
                </a:solidFill>
                <a:sym typeface="+mn-ea"/>
              </a:rPr>
              <a:t>（中断服务例程）的交互接口（带</a:t>
            </a:r>
            <a:r>
              <a:rPr lang="en-US" altLang="zh-CN">
                <a:solidFill>
                  <a:schemeClr val="bg2"/>
                </a:solidFill>
                <a:sym typeface="+mn-ea"/>
              </a:rPr>
              <a:t> FromISR </a:t>
            </a:r>
            <a:r>
              <a:rPr lang="zh-CN" altLang="en-US">
                <a:solidFill>
                  <a:schemeClr val="bg2"/>
                </a:solidFill>
                <a:sym typeface="+mn-ea"/>
              </a:rPr>
              <a:t>后缀的</a:t>
            </a:r>
            <a:r>
              <a:rPr lang="en-US" altLang="zh-CN">
                <a:solidFill>
                  <a:schemeClr val="bg2"/>
                </a:solidFill>
                <a:sym typeface="+mn-ea"/>
              </a:rPr>
              <a:t> API</a:t>
            </a:r>
            <a:r>
              <a:rPr lang="zh-CN" altLang="en-US">
                <a:solidFill>
                  <a:schemeClr val="bg2"/>
                </a:solidFill>
                <a:sym typeface="+mn-ea"/>
              </a:rPr>
              <a:t>）支持中断触发任务切换临界区管理（</a:t>
            </a:r>
            <a:r>
              <a:rPr lang="en-US" altLang="zh-CN">
                <a:solidFill>
                  <a:schemeClr val="bg2"/>
                </a:solidFill>
                <a:sym typeface="+mn-ea"/>
              </a:rPr>
              <a:t>taskENTER_CRITICAL / taskEXIT_CRITICAL</a:t>
            </a:r>
            <a:r>
              <a:rPr lang="zh-CN" altLang="en-US">
                <a:solidFill>
                  <a:schemeClr val="bg2"/>
                </a:solidFill>
                <a:sym typeface="+mn-ea"/>
              </a:rPr>
              <a:t>）防止竞态条件，</a:t>
            </a:r>
            <a:r>
              <a:rPr lang="zh-CN" altLang="en-US" b="1">
                <a:solidFill>
                  <a:schemeClr val="bg2"/>
                </a:solidFill>
                <a:sym typeface="+mn-ea"/>
              </a:rPr>
              <a:t>将硬件中断与实时任务系统无缝结合，保证响应实时性</a:t>
            </a:r>
          </a:p>
          <a:p>
            <a:pPr marL="0" lvl="1" indent="0"/>
            <a:r>
              <a:rPr lang="en-US" altLang="zh-CN" b="1">
                <a:solidFill>
                  <a:schemeClr val="bg2"/>
                </a:solidFill>
                <a:sym typeface="+mn-ea"/>
              </a:rPr>
              <a:t>7.</a:t>
            </a:r>
            <a:r>
              <a:rPr lang="zh-CN" altLang="en-US" b="1">
                <a:solidFill>
                  <a:schemeClr val="bg2"/>
                </a:solidFill>
                <a:sym typeface="+mn-ea"/>
              </a:rPr>
              <a:t>钩子函数：</a:t>
            </a:r>
            <a:r>
              <a:rPr lang="zh-CN" altLang="en-US" sz="1800">
                <a:solidFill>
                  <a:schemeClr val="bg2"/>
                </a:solidFill>
                <a:sym typeface="+mn-ea"/>
              </a:rPr>
              <a:t>Idle Hook：在系统空闲时执行用户代码（如省电操作）、Tick Hook：在每个系统节拍中执行用户代码</a:t>
            </a:r>
          </a:p>
          <a:p>
            <a:pPr marL="0" lvl="1" indent="0"/>
            <a:r>
              <a:rPr lang="zh-CN" altLang="en-US" sz="1800">
                <a:solidFill>
                  <a:schemeClr val="bg2"/>
                </a:solidFill>
                <a:sym typeface="+mn-ea"/>
              </a:rPr>
              <a:t>Malloc Failed Hook：内存分配失败时触发、Stack Overflow Hook：任务栈溢出时触发，提供用户自定义扩展机制，增强系统健壮性和可调试性。</a:t>
            </a:r>
          </a:p>
          <a:p>
            <a:pPr marL="0" lvl="1" indent="0"/>
            <a:endParaRPr lang="zh-CN" altLang="en-US" sz="1800">
              <a:solidFill>
                <a:schemeClr val="bg2"/>
              </a:solidFill>
              <a:sym typeface="+mn-ea"/>
            </a:endParaRPr>
          </a:p>
          <a:p>
            <a:r>
              <a:rPr lang="zh-CN" altLang="en-US">
                <a:solidFill>
                  <a:schemeClr val="bg2"/>
                </a:solidFill>
                <a:sym typeface="+mn-ea"/>
              </a:rPr>
              <a:t>假设你只需要使用任务调度功能来并行执行一些任务，那么你可以只开启任务管理相关的功能，而不需要使用</a:t>
            </a:r>
            <a:r>
              <a:rPr lang="en-US" altLang="zh-CN">
                <a:solidFill>
                  <a:schemeClr val="bg2"/>
                </a:solidFill>
                <a:sym typeface="+mn-ea"/>
              </a:rPr>
              <a:t> FreeRTOS </a:t>
            </a:r>
            <a:r>
              <a:rPr lang="zh-CN" altLang="en-US">
                <a:solidFill>
                  <a:schemeClr val="bg2"/>
                </a:solidFill>
                <a:sym typeface="+mn-ea"/>
              </a:rPr>
              <a:t>的内存管理和通信机制。相反，如果你的应用程序中不需要多个任务并发，只需要通信机制来同步不同硬件或组件的状态，也可以仅引入信号量或消息队列模块。</a:t>
            </a:r>
          </a:p>
        </p:txBody>
      </p:sp>
    </p:spTree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sz="1600">
                <a:solidFill>
                  <a:schemeClr val="bg2"/>
                </a:solidFill>
                <a:sym typeface="+mn-ea"/>
              </a:rPr>
              <a:t>FreeRTOS 使用 - STM32 生成代码</a:t>
            </a:r>
            <a:endParaRPr lang="zh-CN" altLang="en-US" sz="1600" i="0">
              <a:solidFill>
                <a:schemeClr val="bg2"/>
              </a:solidFill>
              <a:latin typeface="PingFang SC"/>
              <a:ea typeface="PingFang SC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44830" y="1455420"/>
            <a:ext cx="10947400" cy="169672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>
                <a:solidFill>
                  <a:schemeClr val="bg2"/>
                </a:solidFill>
                <a:sym typeface="+mn-ea"/>
              </a:rPr>
              <a:t>使用 STM32CubeMX 配置 FreeRTOS</a:t>
            </a:r>
          </a:p>
          <a:p>
            <a:endParaRPr>
              <a:solidFill>
                <a:schemeClr val="bg2"/>
              </a:solidFill>
              <a:sym typeface="+mn-ea"/>
            </a:endParaRPr>
          </a:p>
          <a:p>
            <a:r>
              <a:rPr>
                <a:solidFill>
                  <a:schemeClr val="bg2"/>
                </a:solidFill>
                <a:sym typeface="+mn-ea"/>
              </a:rPr>
              <a:t>在 STM32CubeMX 中启用 FreeRTOS，配置任务、堆栈大小、优先级等</a:t>
            </a:r>
          </a:p>
          <a:p>
            <a:endParaRPr>
              <a:solidFill>
                <a:schemeClr val="bg2"/>
              </a:solidFill>
              <a:sym typeface="+mn-ea"/>
            </a:endParaRPr>
          </a:p>
          <a:p>
            <a:r>
              <a:rPr>
                <a:solidFill>
                  <a:schemeClr val="bg2"/>
                </a:solidFill>
                <a:sym typeface="+mn-ea"/>
              </a:rPr>
              <a:t>生成代码后，使用 Keil 或 STM32CubeIDE 编译和调试</a:t>
            </a:r>
            <a:endParaRPr lang="en-US">
              <a:solidFill>
                <a:schemeClr val="bg2"/>
              </a:solidFill>
              <a:sym typeface="+mn-ea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24530"/>
            <a:ext cx="6735445" cy="324421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0195" y="3224530"/>
            <a:ext cx="5639435" cy="351155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/>
          <p:nvPr/>
        </p:nvPicPr>
        <p:blipFill>
          <a:blip r:embed="rId2"/>
          <a:stretch>
            <a:fillRect/>
          </a:stretch>
        </p:blipFill>
        <p:spPr>
          <a:xfrm>
            <a:off x="228283" y="786765"/>
            <a:ext cx="5657850" cy="54483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/>
          <p:nvPr/>
        </p:nvPicPr>
        <p:blipFill>
          <a:blip r:embed="rId2"/>
          <a:stretch>
            <a:fillRect/>
          </a:stretch>
        </p:blipFill>
        <p:spPr>
          <a:xfrm>
            <a:off x="1108075" y="636905"/>
            <a:ext cx="9021445" cy="6166485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313045" y="2517775"/>
            <a:ext cx="5351780" cy="1080770"/>
          </a:xfrm>
        </p:spPr>
        <p:txBody>
          <a:bodyPr wrap="square">
            <a:normAutofit/>
          </a:bodyPr>
          <a:lstStyle/>
          <a:p>
            <a:r>
              <a:rPr lang="zh-CN" altLang="en-US">
                <a:solidFill>
                  <a:srgbClr val="D92142"/>
                </a:solidFill>
                <a:latin typeface="PingFang SC"/>
                <a:ea typeface="PingFang SC"/>
                <a:sym typeface="+mn-ea"/>
              </a:rPr>
              <a:t>任务与调度机制</a:t>
            </a:r>
            <a:endParaRPr lang="en-US"/>
          </a:p>
        </p:txBody>
      </p:sp>
    </p:spTree>
    <p:custDataLst>
      <p:tags r:id="rId1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lang="zh-CN" altLang="en-US" sz="1600" i="0">
                <a:solidFill>
                  <a:srgbClr val="D92142"/>
                </a:solidFill>
                <a:latin typeface="PingFang SC"/>
                <a:ea typeface="PingFang SC"/>
              </a:rPr>
              <a:t>任务与调度机制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544830" y="1506855"/>
            <a:ext cx="10096500" cy="41014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ym typeface="+mn-ea"/>
              </a:rPr>
              <a:t>任务</a:t>
            </a:r>
            <a:r>
              <a:rPr b="1">
                <a:sym typeface="+mn-ea"/>
              </a:rPr>
              <a:t>创建</a:t>
            </a:r>
            <a:r>
              <a:rPr>
                <a:sym typeface="+mn-ea"/>
              </a:rPr>
              <a:t>与</a:t>
            </a:r>
            <a:r>
              <a:rPr b="1">
                <a:sym typeface="+mn-ea"/>
              </a:rPr>
              <a:t>删除</a:t>
            </a:r>
            <a:endParaRPr>
              <a:sym typeface="+mn-ea"/>
            </a:endParaRPr>
          </a:p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ym typeface="+mn-ea"/>
              </a:rPr>
              <a:t>优先级与调度</a:t>
            </a:r>
          </a:p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ym typeface="+mn-ea"/>
              </a:rPr>
              <a:t>任务状态转换</a:t>
            </a:r>
            <a:r>
              <a:rPr b="1">
                <a:sym typeface="+mn-ea"/>
              </a:rPr>
              <a:t>（就绪、运行、阻塞、挂起）</a:t>
            </a:r>
            <a:endParaRPr>
              <a:sym typeface="+mn-ea"/>
            </a:endParaRPr>
          </a:p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endParaRPr lang="zh-CN" altLang="en-US">
              <a:sym typeface="+mn-ea"/>
            </a:endParaRPr>
          </a:p>
        </p:txBody>
      </p:sp>
    </p:spTree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4" name="文本框 9"/>
          <p:cNvSpPr txBox="1"/>
          <p:nvPr/>
        </p:nvSpPr>
        <p:spPr>
          <a:xfrm>
            <a:off x="1693228" y="1498600"/>
            <a:ext cx="4619625" cy="4603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1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，任务创建和删除的</a:t>
            </a: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函数（熟悉）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graphicFrame>
        <p:nvGraphicFramePr>
          <p:cNvPr id="7" name="表格 6"/>
          <p:cNvGraphicFramePr>
            <a:graphicFrameLocks noGrp="1"/>
          </p:cNvGraphicFramePr>
          <p:nvPr/>
        </p:nvGraphicFramePr>
        <p:xfrm>
          <a:off x="2088515" y="2617788"/>
          <a:ext cx="5208588" cy="14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42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04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2744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API</a:t>
                      </a:r>
                      <a:r>
                        <a:rPr lang="zh-CN" altLang="en-US" sz="1400" dirty="0"/>
                        <a:t>函数</a:t>
                      </a:r>
                    </a:p>
                  </a:txBody>
                  <a:tcPr marL="91428" marR="91428" marT="45722" marB="4572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/>
                        <a:t>描述</a:t>
                      </a:r>
                    </a:p>
                  </a:txBody>
                  <a:tcPr marL="91428" marR="91428" marT="45722" marB="45722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2744">
                <a:tc>
                  <a:txBody>
                    <a:bodyPr/>
                    <a:lstStyle/>
                    <a:p>
                      <a:pPr algn="l"/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xTaskCreate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8" marR="91428" marT="45722" marB="45722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动态方式创建任务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8" marR="91428" marT="45722" marB="45722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2744">
                <a:tc>
                  <a:txBody>
                    <a:bodyPr/>
                    <a:lstStyle/>
                    <a:p>
                      <a:pPr algn="l"/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xTaskCreateStatic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8" marR="91428" marT="45722" marB="45722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静态方式创建任务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8" marR="91428" marT="45722" marB="45722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2744">
                <a:tc>
                  <a:txBody>
                    <a:bodyPr/>
                    <a:lstStyle/>
                    <a:p>
                      <a:pPr algn="l"/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vTaskDelete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8" marR="91428" marT="45722" marB="45722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删除任务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28" marR="91428" marT="45722" marB="45722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122" name="文本框 6"/>
          <p:cNvSpPr txBox="1"/>
          <p:nvPr/>
        </p:nvSpPr>
        <p:spPr>
          <a:xfrm>
            <a:off x="2078990" y="2119313"/>
            <a:ext cx="4313238" cy="306387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任务的创建和删除本质就是调用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的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API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</a:t>
            </a:r>
          </a:p>
        </p:txBody>
      </p:sp>
      <p:sp>
        <p:nvSpPr>
          <p:cNvPr id="9" name="矩形: 圆角 8"/>
          <p:cNvSpPr/>
          <p:nvPr/>
        </p:nvSpPr>
        <p:spPr>
          <a:xfrm>
            <a:off x="2078990" y="4478338"/>
            <a:ext cx="1450975" cy="306388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动态创建任务</a:t>
            </a:r>
          </a:p>
        </p:txBody>
      </p:sp>
      <p:sp>
        <p:nvSpPr>
          <p:cNvPr id="27" name="矩形: 圆角 26"/>
          <p:cNvSpPr/>
          <p:nvPr/>
        </p:nvSpPr>
        <p:spPr>
          <a:xfrm>
            <a:off x="2088515" y="5062538"/>
            <a:ext cx="14509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静态创建任务</a:t>
            </a:r>
          </a:p>
        </p:txBody>
      </p:sp>
      <p:sp>
        <p:nvSpPr>
          <p:cNvPr id="4125" name="文本框 27"/>
          <p:cNvSpPr txBox="1"/>
          <p:nvPr/>
        </p:nvSpPr>
        <p:spPr>
          <a:xfrm>
            <a:off x="3539490" y="4295775"/>
            <a:ext cx="5705475" cy="63023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任务的任务控制块以及任务的栈空间所需的内存，均由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从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管理的堆中分配 </a:t>
            </a:r>
            <a:endParaRPr lang="zh-CN" altLang="en-US" sz="1400" dirty="0"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4126" name="文本框 28"/>
          <p:cNvSpPr txBox="1"/>
          <p:nvPr/>
        </p:nvSpPr>
        <p:spPr>
          <a:xfrm>
            <a:off x="3539490" y="5021263"/>
            <a:ext cx="5705475" cy="3492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任务的任务控制块以及任务的栈空间所需的内存，需用户分配提供</a:t>
            </a:r>
            <a:endParaRPr lang="zh-CN" altLang="en-US" sz="1400" dirty="0"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22" grpId="0"/>
      <p:bldP spid="9" grpId="0" bldLvl="0" animBg="1"/>
      <p:bldP spid="27" grpId="0" bldLvl="0" animBg="1"/>
      <p:bldP spid="4125" grpId="0"/>
      <p:bldP spid="412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8" name="文本框 9"/>
          <p:cNvSpPr txBox="1"/>
          <p:nvPr/>
        </p:nvSpPr>
        <p:spPr>
          <a:xfrm>
            <a:off x="1542098" y="1200150"/>
            <a:ext cx="4619625" cy="4603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动态创建任务函数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5129" name="文本框 15"/>
          <p:cNvSpPr txBox="1"/>
          <p:nvPr/>
        </p:nvSpPr>
        <p:spPr>
          <a:xfrm>
            <a:off x="462280" y="1865630"/>
            <a:ext cx="11603990" cy="310324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noAutofit/>
          </a:bodyPr>
          <a:lstStyle/>
          <a:p>
            <a:pPr>
              <a:lnSpc>
                <a:spcPct val="130000"/>
              </a:lnSpc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BaseType_t xTaskCreate</a:t>
            </a:r>
          </a:p>
          <a:p>
            <a:pPr>
              <a:lnSpc>
                <a:spcPct val="130000"/>
              </a:lnSpc>
            </a:pP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(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</a:t>
            </a:r>
            <a:b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</a:b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	TaskFunction_t 				pxTaskCode</a:t>
            </a: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,	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指向任务函数的指针 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*/		</a:t>
            </a: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		</a:t>
            </a:r>
            <a:b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</a:b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	</a:t>
            </a:r>
            <a:r>
              <a:rPr lang="en-US" altLang="zh-CN" sz="1200" dirty="0">
                <a:solidFill>
                  <a:srgbClr val="0000FF"/>
                </a:solidFill>
                <a:latin typeface="Candara" panose="020E0502030303020204" pitchFamily="34" charset="0"/>
                <a:ea typeface="思源黑体 CN Normal" pitchFamily="34" charset="-122"/>
              </a:rPr>
              <a:t>const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</a:t>
            </a:r>
            <a:r>
              <a:rPr lang="en-US" altLang="zh-CN" sz="1200" dirty="0">
                <a:solidFill>
                  <a:srgbClr val="0000FF"/>
                </a:solidFill>
                <a:latin typeface="Candara" panose="020E0502030303020204" pitchFamily="34" charset="0"/>
                <a:ea typeface="思源黑体 CN Normal" pitchFamily="34" charset="-122"/>
              </a:rPr>
              <a:t>char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</a:t>
            </a: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*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</a:t>
            </a:r>
            <a:r>
              <a:rPr lang="en-US" altLang="zh-CN" sz="1200" dirty="0">
                <a:solidFill>
                  <a:srgbClr val="0000FF"/>
                </a:solidFill>
                <a:latin typeface="Candara" panose="020E0502030303020204" pitchFamily="34" charset="0"/>
                <a:ea typeface="思源黑体 CN Normal" pitchFamily="34" charset="-122"/>
              </a:rPr>
              <a:t>const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				pcName</a:t>
            </a: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,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	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任务名字，最大长度</a:t>
            </a:r>
            <a:r>
              <a:rPr lang="en-US" altLang="zh-CN" sz="1200" dirty="0">
                <a:solidFill>
                  <a:srgbClr val="FF0000"/>
                </a:solidFill>
                <a:latin typeface="Candara" panose="020E0502030303020204" pitchFamily="34" charset="0"/>
                <a:ea typeface="思源黑体 CN Normal" pitchFamily="34" charset="-122"/>
              </a:rPr>
              <a:t>configMAX_TASK_NAME_LEN 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*/</a:t>
            </a:r>
          </a:p>
          <a:p>
            <a:pPr>
              <a:lnSpc>
                <a:spcPct val="130000"/>
              </a:lnSpc>
            </a:pPr>
            <a:r>
              <a:rPr lang="en-US" altLang="zh-CN" sz="1200" dirty="0">
                <a:solidFill>
                  <a:srgbClr val="0000FF"/>
                </a:solidFill>
                <a:latin typeface="Candara" panose="020E0502030303020204" pitchFamily="34" charset="0"/>
                <a:ea typeface="思源黑体 CN Normal" pitchFamily="34" charset="-122"/>
              </a:rPr>
              <a:t>	const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	configSTACK_DEPTH_TYPE 		usStackDepth</a:t>
            </a: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,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任务堆栈大小，</a:t>
            </a:r>
            <a:r>
              <a:rPr lang="zh-CN" altLang="en-US" sz="1200" dirty="0">
                <a:solidFill>
                  <a:srgbClr val="FF0000"/>
                </a:solidFill>
                <a:latin typeface="Candara" panose="020E0502030303020204" pitchFamily="34" charset="0"/>
                <a:ea typeface="思源黑体 CN Normal" pitchFamily="34" charset="-122"/>
              </a:rPr>
              <a:t>注意字为单位</a:t>
            </a:r>
            <a:r>
              <a:rPr lang="en-US" altLang="zh-CN" sz="1200" dirty="0">
                <a:solidFill>
                  <a:srgbClr val="FF0000"/>
                </a:solidFill>
                <a:latin typeface="Candara" panose="020E0502030303020204" pitchFamily="34" charset="0"/>
                <a:ea typeface="思源黑体 CN Normal" pitchFamily="34" charset="-122"/>
              </a:rPr>
              <a:t> 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*/</a:t>
            </a:r>
          </a:p>
          <a:p>
            <a:pPr>
              <a:lnSpc>
                <a:spcPct val="130000"/>
              </a:lnSpc>
            </a:pPr>
            <a:r>
              <a:rPr lang="en-US" altLang="zh-CN" sz="1200" dirty="0">
                <a:solidFill>
                  <a:srgbClr val="0000FF"/>
                </a:solidFill>
                <a:latin typeface="Candara" panose="020E0502030303020204" pitchFamily="34" charset="0"/>
                <a:ea typeface="思源黑体 CN Normal" pitchFamily="34" charset="-122"/>
              </a:rPr>
              <a:t>	void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</a:t>
            </a: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*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</a:t>
            </a:r>
            <a:r>
              <a:rPr lang="en-US" altLang="zh-CN" sz="1200" dirty="0">
                <a:solidFill>
                  <a:srgbClr val="0000FF"/>
                </a:solidFill>
                <a:latin typeface="Candara" panose="020E0502030303020204" pitchFamily="34" charset="0"/>
                <a:ea typeface="思源黑体 CN Normal" pitchFamily="34" charset="-122"/>
              </a:rPr>
              <a:t>const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					pvParameters</a:t>
            </a: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,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传递给任务函数的参数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 */</a:t>
            </a:r>
          </a:p>
          <a:p>
            <a:pPr>
              <a:lnSpc>
                <a:spcPct val="130000"/>
              </a:lnSpc>
            </a:pP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	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UBaseType_t 					uxPriority</a:t>
            </a: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,	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任务优先级，范围：</a:t>
            </a:r>
            <a:r>
              <a:rPr lang="en-US" altLang="zh-CN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0 </a:t>
            </a:r>
            <a:r>
              <a:rPr lang="en-US" altLang="zh-CN" sz="1200" dirty="0">
                <a:solidFill>
                  <a:srgbClr val="FF0000"/>
                </a:solidFill>
                <a:latin typeface="Candara" panose="020E0502030303020204" pitchFamily="34" charset="0"/>
                <a:ea typeface="思源黑体 CN Normal" pitchFamily="34" charset="-122"/>
              </a:rPr>
              <a:t>~ configMAX_PRIORITIES </a:t>
            </a:r>
            <a:r>
              <a:rPr lang="en-US" altLang="zh-CN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- 1 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*/</a:t>
            </a:r>
          </a:p>
          <a:p>
            <a:pPr>
              <a:lnSpc>
                <a:spcPct val="130000"/>
              </a:lnSpc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	TaskHandle_t </a:t>
            </a: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*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</a:t>
            </a:r>
            <a:r>
              <a:rPr lang="en-US" altLang="zh-CN" sz="1200" dirty="0">
                <a:solidFill>
                  <a:srgbClr val="0000FF"/>
                </a:solidFill>
                <a:latin typeface="Candara" panose="020E0502030303020204" pitchFamily="34" charset="0"/>
                <a:ea typeface="思源黑体 CN Normal" pitchFamily="34" charset="-122"/>
              </a:rPr>
              <a:t>const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			pxCreatedTask 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任务句柄，</a:t>
            </a:r>
            <a:r>
              <a:rPr lang="zh-CN" altLang="en-US" sz="1200" dirty="0">
                <a:solidFill>
                  <a:srgbClr val="FF0000"/>
                </a:solidFill>
                <a:latin typeface="Candara" panose="020E0502030303020204" pitchFamily="34" charset="0"/>
                <a:ea typeface="思源黑体 CN Normal" pitchFamily="34" charset="-122"/>
              </a:rPr>
              <a:t>就是任务的任务控制块 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*/</a:t>
            </a:r>
          </a:p>
          <a:p>
            <a:pPr>
              <a:lnSpc>
                <a:spcPct val="130000"/>
              </a:lnSpc>
            </a:pPr>
            <a:r>
              <a:rPr lang="en-US" altLang="zh-CN" sz="1200" dirty="0">
                <a:solidFill>
                  <a:srgbClr val="000080"/>
                </a:solidFill>
                <a:latin typeface="Candara" panose="020E0502030303020204" pitchFamily="34" charset="0"/>
                <a:ea typeface="思源黑体 CN Normal" pitchFamily="34" charset="-122"/>
              </a:rPr>
              <a:t>)</a:t>
            </a:r>
            <a:endParaRPr lang="en-US" altLang="zh-CN" sz="1200" dirty="0">
              <a:solidFill>
                <a:srgbClr val="000000"/>
              </a:solidFill>
              <a:latin typeface="Candara" panose="020E0502030303020204" pitchFamily="34" charset="0"/>
              <a:ea typeface="思源黑体 CN Normal" pitchFamily="34" charset="-122"/>
            </a:endParaRPr>
          </a:p>
        </p:txBody>
      </p:sp>
      <p:graphicFrame>
        <p:nvGraphicFramePr>
          <p:cNvPr id="8" name="表格 9"/>
          <p:cNvGraphicFramePr>
            <a:graphicFrameLocks noGrp="1"/>
          </p:cNvGraphicFramePr>
          <p:nvPr/>
        </p:nvGraphicFramePr>
        <p:xfrm>
          <a:off x="1627823" y="5104130"/>
          <a:ext cx="6742113" cy="920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71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710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496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/>
                        <a:t>返回值</a:t>
                      </a:r>
                    </a:p>
                  </a:txBody>
                  <a:tcPr marL="91426" marR="91426" marT="45755" marB="4575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/>
                        <a:t>描述</a:t>
                      </a:r>
                    </a:p>
                  </a:txBody>
                  <a:tcPr marL="91426" marR="91426" marT="45755" marB="4575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53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 err="1">
                          <a:solidFill>
                            <a:srgbClr val="002060"/>
                          </a:solidFill>
                        </a:rPr>
                        <a:t>pdPASS</a:t>
                      </a:r>
                      <a:endParaRPr lang="zh-CN" altLang="en-US" sz="1200" dirty="0">
                        <a:solidFill>
                          <a:srgbClr val="002060"/>
                        </a:solidFill>
                      </a:endParaRPr>
                    </a:p>
                  </a:txBody>
                  <a:tcPr marL="91426" marR="91426" marT="45755" marB="4575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>
                          <a:solidFill>
                            <a:srgbClr val="002060"/>
                          </a:solidFill>
                        </a:rPr>
                        <a:t>任务创建成功</a:t>
                      </a:r>
                    </a:p>
                  </a:txBody>
                  <a:tcPr marL="91426" marR="91426" marT="45755" marB="4575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1259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 err="1">
                          <a:solidFill>
                            <a:srgbClr val="002060"/>
                          </a:solidFill>
                        </a:rPr>
                        <a:t>errCOULD_NOT_ALLOCATE_REQUIRED_MEMORY</a:t>
                      </a:r>
                      <a:endParaRPr lang="zh-CN" altLang="en-US" sz="1200" dirty="0">
                        <a:solidFill>
                          <a:srgbClr val="002060"/>
                        </a:solidFill>
                      </a:endParaRPr>
                    </a:p>
                  </a:txBody>
                  <a:tcPr marL="91426" marR="91426" marT="45755" marB="4575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>
                          <a:solidFill>
                            <a:srgbClr val="002060"/>
                          </a:solidFill>
                        </a:rPr>
                        <a:t>任务创建失败</a:t>
                      </a:r>
                    </a:p>
                  </a:txBody>
                  <a:tcPr marL="91426" marR="91426" marT="45755" marB="4575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矩形 1"/>
          <p:cNvSpPr/>
          <p:nvPr/>
        </p:nvSpPr>
        <p:spPr>
          <a:xfrm>
            <a:off x="178435" y="1865630"/>
            <a:ext cx="11379200" cy="3103245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29" grpId="0"/>
      <p:bldP spid="2" grpId="0" bldLvl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2" name="文本框 9"/>
          <p:cNvSpPr txBox="1"/>
          <p:nvPr/>
        </p:nvSpPr>
        <p:spPr>
          <a:xfrm>
            <a:off x="1792605" y="1386840"/>
            <a:ext cx="4619625" cy="36830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实现动态创建任务流程</a:t>
            </a:r>
          </a:p>
        </p:txBody>
      </p:sp>
      <p:sp>
        <p:nvSpPr>
          <p:cNvPr id="2" name="矩形: 圆角 1"/>
          <p:cNvSpPr/>
          <p:nvPr/>
        </p:nvSpPr>
        <p:spPr>
          <a:xfrm>
            <a:off x="1854518" y="3958590"/>
            <a:ext cx="2755900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、申请堆栈内存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&amp;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任务控制块内存</a:t>
            </a:r>
          </a:p>
        </p:txBody>
      </p:sp>
      <p:sp>
        <p:nvSpPr>
          <p:cNvPr id="13" name="矩形: 圆角 12"/>
          <p:cNvSpPr/>
          <p:nvPr/>
        </p:nvSpPr>
        <p:spPr>
          <a:xfrm>
            <a:off x="1854518" y="4422140"/>
            <a:ext cx="2755900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2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TCB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结构体成员赋值</a:t>
            </a:r>
          </a:p>
        </p:txBody>
      </p:sp>
      <p:sp>
        <p:nvSpPr>
          <p:cNvPr id="14" name="矩形: 圆角 13"/>
          <p:cNvSpPr/>
          <p:nvPr/>
        </p:nvSpPr>
        <p:spPr>
          <a:xfrm>
            <a:off x="1854518" y="4896803"/>
            <a:ext cx="2755900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3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、添加新任务到就绪列表中</a:t>
            </a:r>
          </a:p>
        </p:txBody>
      </p:sp>
      <p:sp>
        <p:nvSpPr>
          <p:cNvPr id="19" name="矩形: 圆角 18"/>
          <p:cNvSpPr/>
          <p:nvPr/>
        </p:nvSpPr>
        <p:spPr>
          <a:xfrm>
            <a:off x="1854518" y="2567940"/>
            <a:ext cx="2755900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2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、定义函数入口参数</a:t>
            </a:r>
          </a:p>
        </p:txBody>
      </p:sp>
      <p:sp>
        <p:nvSpPr>
          <p:cNvPr id="16" name="矩形: 圆角 15"/>
          <p:cNvSpPr/>
          <p:nvPr/>
        </p:nvSpPr>
        <p:spPr>
          <a:xfrm>
            <a:off x="1854518" y="2985453"/>
            <a:ext cx="2755900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3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、编写任务函数</a:t>
            </a:r>
          </a:p>
        </p:txBody>
      </p:sp>
      <p:sp>
        <p:nvSpPr>
          <p:cNvPr id="3" name="右大括号 2"/>
          <p:cNvSpPr/>
          <p:nvPr/>
        </p:nvSpPr>
        <p:spPr>
          <a:xfrm>
            <a:off x="6083618" y="2048828"/>
            <a:ext cx="257175" cy="130968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159" name="文本框 6"/>
          <p:cNvSpPr txBox="1"/>
          <p:nvPr/>
        </p:nvSpPr>
        <p:spPr>
          <a:xfrm>
            <a:off x="6412230" y="2566353"/>
            <a:ext cx="1416050" cy="277812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用起来只需这三步</a:t>
            </a:r>
          </a:p>
        </p:txBody>
      </p:sp>
      <p:sp>
        <p:nvSpPr>
          <p:cNvPr id="20" name="右大括号 19"/>
          <p:cNvSpPr/>
          <p:nvPr/>
        </p:nvSpPr>
        <p:spPr>
          <a:xfrm>
            <a:off x="6062980" y="3945890"/>
            <a:ext cx="298450" cy="131603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cxnSp>
        <p:nvCxnSpPr>
          <p:cNvPr id="9" name="直接连接符 8"/>
          <p:cNvCxnSpPr/>
          <p:nvPr/>
        </p:nvCxnSpPr>
        <p:spPr>
          <a:xfrm flipH="1">
            <a:off x="1792605" y="2050415"/>
            <a:ext cx="4291013" cy="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" name="直接连接符 21"/>
          <p:cNvCxnSpPr/>
          <p:nvPr/>
        </p:nvCxnSpPr>
        <p:spPr>
          <a:xfrm flipH="1">
            <a:off x="1854518" y="3358515"/>
            <a:ext cx="4291013" cy="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直接连接符 22"/>
          <p:cNvCxnSpPr/>
          <p:nvPr/>
        </p:nvCxnSpPr>
        <p:spPr>
          <a:xfrm flipH="1">
            <a:off x="1771968" y="3945890"/>
            <a:ext cx="4291013" cy="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直接连接符 23"/>
          <p:cNvCxnSpPr/>
          <p:nvPr/>
        </p:nvCxnSpPr>
        <p:spPr>
          <a:xfrm flipH="1">
            <a:off x="1792605" y="5261928"/>
            <a:ext cx="4291013" cy="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165" name="文本框 24"/>
          <p:cNvSpPr txBox="1"/>
          <p:nvPr/>
        </p:nvSpPr>
        <p:spPr>
          <a:xfrm>
            <a:off x="6370955" y="4465003"/>
            <a:ext cx="2032000" cy="277812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动态创建任务函数内部实现</a:t>
            </a:r>
          </a:p>
        </p:txBody>
      </p:sp>
      <p:sp>
        <p:nvSpPr>
          <p:cNvPr id="26" name="文本框 25"/>
          <p:cNvSpPr txBox="1"/>
          <p:nvPr/>
        </p:nvSpPr>
        <p:spPr>
          <a:xfrm>
            <a:off x="1771968" y="3523615"/>
            <a:ext cx="4919663" cy="2762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zh-CN" altLang="zh-CN" sz="1200" kern="1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Times New Roman" panose="02020603050405020304" pitchFamily="18" charset="0"/>
              </a:rPr>
              <a:t>此函数创建的任务会立刻进入就绪态，由任务调度器调度运行</a:t>
            </a:r>
            <a:endParaRPr kumimoji="0" lang="zh-CN" altLang="en-US" sz="1200" kern="1200" cap="none" spc="0" normalizeH="0" baseline="0" noProof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7" name="矩形: 圆角 26"/>
          <p:cNvSpPr/>
          <p:nvPr/>
        </p:nvSpPr>
        <p:spPr>
          <a:xfrm>
            <a:off x="1854518" y="2150428"/>
            <a:ext cx="4229100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、将宏</a:t>
            </a:r>
            <a:r>
              <a:rPr kumimoji="0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configSUPPORT_DYNAMIC_ALLOCATION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 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配置为 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 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ldLvl="0" animBg="1"/>
      <p:bldP spid="13" grpId="0" bldLvl="0" animBg="1"/>
      <p:bldP spid="14" grpId="0" bldLvl="0" animBg="1"/>
      <p:bldP spid="19" grpId="0" bldLvl="0" animBg="1"/>
      <p:bldP spid="16" grpId="0" bldLvl="0" animBg="1"/>
      <p:bldP spid="3" grpId="0" bldLvl="0" animBg="1"/>
      <p:bldP spid="6159" grpId="0"/>
      <p:bldP spid="20" grpId="0" bldLvl="0" animBg="1"/>
      <p:bldP spid="6165" grpId="0"/>
      <p:bldP spid="26" grpId="0"/>
      <p:bldP spid="27" grpId="0" bldLvl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6" name="文本框 9"/>
          <p:cNvSpPr txBox="1"/>
          <p:nvPr/>
        </p:nvSpPr>
        <p:spPr>
          <a:xfrm>
            <a:off x="1808163" y="645795"/>
            <a:ext cx="4619625" cy="4603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任务控制块结构体成员介绍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7177" name="文本框 15"/>
          <p:cNvSpPr txBox="1"/>
          <p:nvPr/>
        </p:nvSpPr>
        <p:spPr>
          <a:xfrm>
            <a:off x="417830" y="1105535"/>
            <a:ext cx="11677015" cy="3233420"/>
          </a:xfrm>
          <a:prstGeom prst="rect">
            <a:avLst/>
          </a:prstGeom>
          <a:noFill/>
          <a:ln w="9525">
            <a:noFill/>
          </a:ln>
        </p:spPr>
        <p:txBody>
          <a:bodyPr>
            <a:noAutofit/>
          </a:bodyPr>
          <a:lstStyle/>
          <a:p>
            <a:pPr>
              <a:buNone/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typedef </a:t>
            </a:r>
            <a:r>
              <a:rPr lang="en-US" altLang="zh-CN" sz="1200" dirty="0">
                <a:solidFill>
                  <a:srgbClr val="0000FF"/>
                </a:solidFill>
                <a:latin typeface="CourierNewPSMT"/>
                <a:ea typeface="等线" panose="02010600030101010101" pitchFamily="2" charset="-122"/>
              </a:rPr>
              <a:t>struct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tskTaskControlBlock       </a:t>
            </a:r>
          </a:p>
          <a:p>
            <a:pPr>
              <a:buNone/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{</a:t>
            </a:r>
          </a:p>
          <a:p>
            <a:pPr>
              <a:lnSpc>
                <a:spcPct val="13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   	volatile StackType_t 		* pxTopOfStack; 				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任务栈栈顶，必须为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TCB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的第一个成员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 */</a:t>
            </a:r>
          </a:p>
          <a:p>
            <a:pPr>
              <a:lnSpc>
                <a:spcPct val="13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  	ListItem_t 			xStateListItem;           				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任务状态列表项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 */      </a:t>
            </a:r>
          </a:p>
          <a:p>
            <a:pPr>
              <a:lnSpc>
                <a:spcPct val="13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	ListItem_t 			xEventListItem;				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任务事件列表项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 */     </a:t>
            </a:r>
          </a:p>
          <a:p>
            <a:pPr>
              <a:lnSpc>
                <a:spcPct val="13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   	UBaseType_t 			uxPriority;                				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任务优先级，数值越大，优先级越大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 */</a:t>
            </a:r>
          </a:p>
          <a:p>
            <a:pPr>
              <a:lnSpc>
                <a:spcPct val="13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   	StackType_t 			* pxStack;					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任务栈起始地址 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*/</a:t>
            </a:r>
          </a:p>
          <a:p>
            <a:pPr>
              <a:lnSpc>
                <a:spcPct val="13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    	char 				pcTaskName[ configMAX_TASK_NAME_LEN ]; 	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/* 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任务名字</a:t>
            </a: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 */	</a:t>
            </a: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	</a:t>
            </a:r>
            <a:endParaRPr lang="en-US" altLang="zh-CN" sz="1200" dirty="0">
              <a:solidFill>
                <a:srgbClr val="002060"/>
              </a:solidFill>
              <a:latin typeface="Candara" panose="020E0502030303020204" pitchFamily="34" charset="0"/>
              <a:ea typeface="思源黑体 CN Normal" pitchFamily="34" charset="-122"/>
            </a:endParaRPr>
          </a:p>
          <a:p>
            <a:pPr>
              <a:buNone/>
            </a:pPr>
            <a:r>
              <a:rPr lang="en-US" altLang="zh-CN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	…</a:t>
            </a:r>
          </a:p>
          <a:p>
            <a:pPr>
              <a:buNone/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	</a:t>
            </a:r>
            <a:r>
              <a:rPr lang="zh-CN" altLang="en-US" sz="12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省略很多条件编译的成员</a:t>
            </a:r>
            <a:endParaRPr lang="en-US" altLang="zh-CN" sz="1200" dirty="0">
              <a:solidFill>
                <a:srgbClr val="002060"/>
              </a:solidFill>
              <a:latin typeface="Candara" panose="020E0502030303020204" pitchFamily="34" charset="0"/>
              <a:ea typeface="思源黑体 CN Normal" pitchFamily="34" charset="-122"/>
            </a:endParaRPr>
          </a:p>
          <a:p>
            <a:pPr>
              <a:buNone/>
            </a:pPr>
            <a:r>
              <a:rPr lang="en-US" altLang="zh-CN" sz="1200" dirty="0">
                <a:solidFill>
                  <a:srgbClr val="000000"/>
                </a:solidFill>
                <a:latin typeface="Candara" panose="020E0502030303020204" pitchFamily="34" charset="0"/>
                <a:ea typeface="思源黑体 CN Normal" pitchFamily="34" charset="-122"/>
              </a:rPr>
              <a:t>} tskTCB;</a:t>
            </a:r>
          </a:p>
        </p:txBody>
      </p:sp>
      <p:sp>
        <p:nvSpPr>
          <p:cNvPr id="7178" name="文本框 1"/>
          <p:cNvSpPr txBox="1"/>
          <p:nvPr/>
        </p:nvSpPr>
        <p:spPr>
          <a:xfrm>
            <a:off x="1808163" y="5892165"/>
            <a:ext cx="4673600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注意：每个任务都有属于自己的任务控制块，类似身份证</a:t>
            </a:r>
          </a:p>
        </p:txBody>
      </p:sp>
      <p:sp>
        <p:nvSpPr>
          <p:cNvPr id="7179" name="文本框 2"/>
          <p:cNvSpPr txBox="1"/>
          <p:nvPr/>
        </p:nvSpPr>
        <p:spPr>
          <a:xfrm>
            <a:off x="1808163" y="5474653"/>
            <a:ext cx="5391150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pPr>
              <a:buNone/>
            </a:pPr>
            <a:r>
              <a:rPr lang="zh-CN" altLang="en-US" sz="1400" dirty="0">
                <a:solidFill>
                  <a:srgbClr val="002060"/>
                </a:solidFill>
                <a:latin typeface="Candara" panose="020E0502030303020204" pitchFamily="34" charset="0"/>
                <a:ea typeface="思源黑体 CN Normal" pitchFamily="34" charset="-122"/>
              </a:rPr>
              <a:t>任务栈栈顶，在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任务切换时的任务上下文保存、任务恢复息息相关</a:t>
            </a:r>
          </a:p>
        </p:txBody>
      </p:sp>
      <p:sp>
        <p:nvSpPr>
          <p:cNvPr id="2" name="矩形 1"/>
          <p:cNvSpPr/>
          <p:nvPr/>
        </p:nvSpPr>
        <p:spPr>
          <a:xfrm>
            <a:off x="227330" y="1104900"/>
            <a:ext cx="11754485" cy="4002405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77" grpId="0"/>
      <p:bldP spid="7178" grpId="0"/>
      <p:bldP spid="7179" grpId="0"/>
      <p:bldP spid="2" grpId="0" bldLvl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0" name="文本框 9"/>
          <p:cNvSpPr txBox="1"/>
          <p:nvPr/>
        </p:nvSpPr>
        <p:spPr>
          <a:xfrm>
            <a:off x="1784033" y="752475"/>
            <a:ext cx="4619625" cy="4603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静态创建任务函数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1603058" y="1289050"/>
            <a:ext cx="8359775" cy="247015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indent="255905" defTabSz="457200">
              <a:lnSpc>
                <a:spcPct val="13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TaskHandle_t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xTaskCreateStatic</a:t>
            </a:r>
            <a:endParaRPr kumimoji="0" lang="en-US" altLang="zh-CN" sz="1200" kern="0" cap="none" spc="0" normalizeH="0" baseline="0" noProof="0" dirty="0">
              <a:solidFill>
                <a:srgbClr val="000000"/>
              </a:solidFill>
              <a:latin typeface="Candara" panose="020E0502030303020204" pitchFamily="34" charset="0"/>
              <a:ea typeface="宋体" panose="02010600030101010101" pitchFamily="2" charset="-122"/>
              <a:cs typeface="+mn-cs"/>
            </a:endParaRPr>
          </a:p>
          <a:p>
            <a:pPr marR="0" indent="255905" defTabSz="457200">
              <a:lnSpc>
                <a:spcPct val="13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(</a:t>
            </a:r>
            <a:endParaRPr kumimoji="0" lang="zh-CN" altLang="zh-CN" sz="1200" kern="100" cap="none" spc="0" normalizeH="0" baseline="0" noProof="0" dirty="0">
              <a:latin typeface="Candara" panose="020E0502030303020204" pitchFamily="34" charset="0"/>
              <a:ea typeface="宋体" panose="02010600030101010101" pitchFamily="2" charset="-122"/>
              <a:cs typeface="+mn-cs"/>
            </a:endParaRPr>
          </a:p>
          <a:p>
            <a:pPr marR="0" indent="255905" defTabSz="457200">
              <a:lnSpc>
                <a:spcPct val="13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   	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TaskFunction_t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		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pxTaskCode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,				/* </a:t>
            </a:r>
            <a:r>
              <a:rPr kumimoji="0" lang="zh-CN" altLang="en-US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指向任务函数的指针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*/</a:t>
            </a:r>
            <a:endParaRPr kumimoji="0" lang="zh-CN" altLang="zh-CN" sz="1200" kern="100" cap="none" spc="0" normalizeH="0" baseline="0" noProof="0" dirty="0">
              <a:latin typeface="Candara" panose="020E0502030303020204" pitchFamily="34" charset="0"/>
              <a:ea typeface="宋体" panose="02010600030101010101" pitchFamily="2" charset="-122"/>
              <a:cs typeface="+mn-cs"/>
            </a:endParaRPr>
          </a:p>
          <a:p>
            <a:pPr marR="0" indent="255905" defTabSz="457200">
              <a:lnSpc>
                <a:spcPct val="13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   	</a:t>
            </a:r>
            <a:r>
              <a:rPr kumimoji="0" lang="en-US" altLang="zh-CN" sz="1200" kern="0" cap="none" spc="0" normalizeH="0" baseline="0" noProof="0" dirty="0">
                <a:solidFill>
                  <a:srgbClr val="0000FF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const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200" kern="0" cap="none" spc="0" normalizeH="0" baseline="0" noProof="0" dirty="0">
                <a:solidFill>
                  <a:srgbClr val="0000FF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char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*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200" kern="0" cap="none" spc="0" normalizeH="0" baseline="0" noProof="0" dirty="0">
                <a:solidFill>
                  <a:srgbClr val="0000FF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const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		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pcName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,				/* </a:t>
            </a:r>
            <a:r>
              <a:rPr kumimoji="0" lang="zh-CN" altLang="en-US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任务函数名 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*/</a:t>
            </a:r>
            <a:endParaRPr kumimoji="0" lang="zh-CN" altLang="zh-CN" sz="1200" kern="100" cap="none" spc="0" normalizeH="0" baseline="0" noProof="0" dirty="0">
              <a:latin typeface="Candara" panose="020E0502030303020204" pitchFamily="34" charset="0"/>
              <a:ea typeface="宋体" panose="02010600030101010101" pitchFamily="2" charset="-122"/>
              <a:cs typeface="+mn-cs"/>
            </a:endParaRPr>
          </a:p>
          <a:p>
            <a:pPr marR="0" indent="255905" defTabSz="457200">
              <a:lnSpc>
                <a:spcPct val="13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   	</a:t>
            </a:r>
            <a:r>
              <a:rPr kumimoji="0" lang="en-US" altLang="zh-CN" sz="1200" kern="0" cap="none" spc="0" normalizeH="0" baseline="0" noProof="0" dirty="0">
                <a:solidFill>
                  <a:srgbClr val="0000FF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const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200" kern="0" cap="none" spc="0" normalizeH="0" baseline="0" noProof="0" dirty="0">
                <a:solidFill>
                  <a:srgbClr val="0000FF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uint32_t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			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ulStackDepth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, 			/* </a:t>
            </a:r>
            <a:r>
              <a:rPr kumimoji="0" lang="zh-CN" altLang="en-US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任务堆栈大小</a:t>
            </a:r>
            <a:r>
              <a:rPr kumimoji="0" lang="zh-CN" altLang="en-US" sz="1200" kern="1200" cap="none" spc="0" normalizeH="0" baseline="0" noProof="0" dirty="0">
                <a:solidFill>
                  <a:srgbClr val="FF0000"/>
                </a:solidFill>
                <a:latin typeface="Candara" panose="020E0502030303020204" pitchFamily="34" charset="0"/>
                <a:ea typeface="思源黑体 CN Normal" pitchFamily="34" charset="-122"/>
                <a:cs typeface="+mn-cs"/>
              </a:rPr>
              <a:t>注意字为单位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*/</a:t>
            </a:r>
            <a:endParaRPr kumimoji="0" lang="zh-CN" altLang="zh-CN" sz="1200" kern="100" cap="none" spc="0" normalizeH="0" baseline="0" noProof="0" dirty="0">
              <a:latin typeface="Candara" panose="020E0502030303020204" pitchFamily="34" charset="0"/>
              <a:ea typeface="宋体" panose="02010600030101010101" pitchFamily="2" charset="-122"/>
              <a:cs typeface="+mn-cs"/>
            </a:endParaRPr>
          </a:p>
          <a:p>
            <a:pPr marR="0" indent="255905" defTabSz="457200">
              <a:lnSpc>
                <a:spcPct val="13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   	</a:t>
            </a:r>
            <a:r>
              <a:rPr kumimoji="0" lang="en-US" altLang="zh-CN" sz="1200" kern="0" cap="none" spc="0" normalizeH="0" baseline="0" noProof="0" dirty="0">
                <a:solidFill>
                  <a:srgbClr val="0000FF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void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*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200" kern="0" cap="none" spc="0" normalizeH="0" baseline="0" noProof="0" dirty="0">
                <a:solidFill>
                  <a:srgbClr val="0000FF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const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			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pvParameters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, 			/* </a:t>
            </a:r>
            <a:r>
              <a:rPr kumimoji="0" lang="zh-CN" altLang="en-US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传递的任务函数参数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*/</a:t>
            </a:r>
            <a:endParaRPr kumimoji="0" lang="zh-CN" altLang="zh-CN" sz="1200" kern="100" cap="none" spc="0" normalizeH="0" baseline="0" noProof="0" dirty="0">
              <a:latin typeface="Candara" panose="020E0502030303020204" pitchFamily="34" charset="0"/>
              <a:ea typeface="宋体" panose="02010600030101010101" pitchFamily="2" charset="-122"/>
              <a:cs typeface="+mn-cs"/>
            </a:endParaRPr>
          </a:p>
          <a:p>
            <a:pPr marR="0" indent="255905" defTabSz="457200">
              <a:lnSpc>
                <a:spcPct val="13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   	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UBaseType_t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			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uxPriority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, 				/* </a:t>
            </a:r>
            <a:r>
              <a:rPr kumimoji="0" lang="zh-CN" altLang="en-US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任务优先级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*/</a:t>
            </a:r>
            <a:endParaRPr kumimoji="0" lang="zh-CN" altLang="zh-CN" sz="1200" kern="100" cap="none" spc="0" normalizeH="0" baseline="0" noProof="0" dirty="0">
              <a:latin typeface="Candara" panose="020E0502030303020204" pitchFamily="34" charset="0"/>
              <a:ea typeface="宋体" panose="02010600030101010101" pitchFamily="2" charset="-122"/>
              <a:cs typeface="+mn-cs"/>
            </a:endParaRPr>
          </a:p>
          <a:p>
            <a:pPr marR="0" indent="255905" defTabSz="457200">
              <a:lnSpc>
                <a:spcPct val="13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   	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StackType_t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*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200" kern="0" cap="none" spc="0" normalizeH="0" baseline="0" noProof="0" dirty="0">
                <a:solidFill>
                  <a:srgbClr val="0000FF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const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		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puxStackBuffer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, 			/* </a:t>
            </a:r>
            <a:r>
              <a:rPr kumimoji="0" lang="zh-CN" altLang="en-US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任务堆栈，一般为数组，由用户分配 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*/</a:t>
            </a:r>
            <a:endParaRPr kumimoji="0" lang="zh-CN" altLang="zh-CN" sz="1200" kern="100" cap="none" spc="0" normalizeH="0" baseline="0" noProof="0" dirty="0">
              <a:latin typeface="Candara" panose="020E0502030303020204" pitchFamily="34" charset="0"/>
              <a:ea typeface="宋体" panose="02010600030101010101" pitchFamily="2" charset="-122"/>
              <a:cs typeface="+mn-cs"/>
            </a:endParaRPr>
          </a:p>
          <a:p>
            <a:pPr marR="0" indent="255905" defTabSz="457200">
              <a:lnSpc>
                <a:spcPct val="13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   	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StaticTask_t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*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200" kern="0" cap="none" spc="0" normalizeH="0" baseline="0" noProof="0" dirty="0">
                <a:solidFill>
                  <a:srgbClr val="0000FF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const	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	</a:t>
            </a:r>
            <a:r>
              <a:rPr kumimoji="0" lang="en-US" altLang="zh-CN" sz="1200" kern="0" cap="none" spc="0" normalizeH="0" baseline="0" noProof="0" dirty="0" err="1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pxTaskBuffer</a:t>
            </a:r>
            <a:r>
              <a:rPr kumimoji="0" lang="en-US" altLang="zh-CN" sz="1200" kern="0" cap="none" spc="0" normalizeH="0" baseline="0" noProof="0" dirty="0">
                <a:solidFill>
                  <a:srgbClr val="00000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				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/* </a:t>
            </a:r>
            <a:r>
              <a:rPr kumimoji="0" lang="zh-CN" altLang="en-US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任务控制块指针，由用户分配 </a:t>
            </a: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*/</a:t>
            </a:r>
            <a:endParaRPr kumimoji="0" lang="en-US" altLang="zh-CN" sz="1200" kern="0" cap="none" spc="0" normalizeH="0" baseline="0" noProof="0" dirty="0">
              <a:solidFill>
                <a:srgbClr val="000000"/>
              </a:solidFill>
              <a:latin typeface="Candara" panose="020E0502030303020204" pitchFamily="34" charset="0"/>
              <a:ea typeface="宋体" panose="02010600030101010101" pitchFamily="2" charset="-122"/>
              <a:cs typeface="+mn-cs"/>
            </a:endParaRPr>
          </a:p>
          <a:p>
            <a:pPr marR="0" indent="255905" defTabSz="457200">
              <a:lnSpc>
                <a:spcPct val="13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0" cap="none" spc="0" normalizeH="0" baseline="0" noProof="0" dirty="0">
                <a:solidFill>
                  <a:srgbClr val="000080"/>
                </a:solidFill>
                <a:latin typeface="Candara" panose="020E0502030303020204" pitchFamily="34" charset="0"/>
                <a:ea typeface="宋体" panose="02010600030101010101" pitchFamily="2" charset="-122"/>
                <a:cs typeface="+mn-cs"/>
              </a:rPr>
              <a:t>); 		</a:t>
            </a:r>
            <a:endParaRPr kumimoji="0" lang="zh-CN" altLang="zh-CN" sz="1200" kern="100" cap="none" spc="0" normalizeH="0" baseline="0" noProof="0" dirty="0">
              <a:latin typeface="Candara" panose="020E0502030303020204" pitchFamily="34" charset="0"/>
              <a:ea typeface="宋体" panose="02010600030101010101" pitchFamily="2" charset="-122"/>
              <a:cs typeface="+mn-cs"/>
            </a:endParaRPr>
          </a:p>
        </p:txBody>
      </p:sp>
      <p:graphicFrame>
        <p:nvGraphicFramePr>
          <p:cNvPr id="15" name="表格 9"/>
          <p:cNvGraphicFramePr>
            <a:graphicFrameLocks noGrp="1"/>
          </p:cNvGraphicFramePr>
          <p:nvPr/>
        </p:nvGraphicFramePr>
        <p:xfrm>
          <a:off x="1922145" y="3910013"/>
          <a:ext cx="6742114" cy="920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710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710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496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/>
                        <a:t>返回值</a:t>
                      </a:r>
                    </a:p>
                  </a:txBody>
                  <a:tcPr marL="91426" marR="91426" marT="45755" marB="4575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/>
                        <a:t>描述</a:t>
                      </a:r>
                    </a:p>
                  </a:txBody>
                  <a:tcPr marL="91426" marR="91426" marT="45755" marB="4575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530">
                <a:tc>
                  <a:txBody>
                    <a:bodyPr/>
                    <a:lstStyle/>
                    <a:p>
                      <a:pPr indent="255905" algn="l"/>
                      <a:r>
                        <a:rPr lang="en-US" sz="1100" kern="10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NULL</a:t>
                      </a:r>
                      <a:endParaRPr lang="zh-CN" sz="1100" kern="1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255905" algn="l"/>
                      <a:r>
                        <a:rPr lang="zh-CN" sz="1100" kern="10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用户没有提供相应的内存，任务创建失败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1259">
                <a:tc>
                  <a:txBody>
                    <a:bodyPr/>
                    <a:lstStyle/>
                    <a:p>
                      <a:pPr indent="255905" algn="l"/>
                      <a:r>
                        <a:rPr lang="zh-CN" sz="1100" kern="10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其他值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255905" algn="l"/>
                      <a:r>
                        <a:rPr lang="zh-CN" sz="1100" kern="1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任务句柄，任务创建成功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矩形 2"/>
          <p:cNvSpPr/>
          <p:nvPr/>
        </p:nvSpPr>
        <p:spPr>
          <a:xfrm>
            <a:off x="1784033" y="1358900"/>
            <a:ext cx="7583488" cy="2400300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3" grpId="0" bldLvl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4" name="文本框 9"/>
          <p:cNvSpPr txBox="1"/>
          <p:nvPr/>
        </p:nvSpPr>
        <p:spPr>
          <a:xfrm>
            <a:off x="1818005" y="1395095"/>
            <a:ext cx="4619625" cy="46513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静态创建任务使用流程</a:t>
            </a:r>
          </a:p>
        </p:txBody>
      </p:sp>
      <p:sp>
        <p:nvSpPr>
          <p:cNvPr id="20" name="矩形: 圆角 19"/>
          <p:cNvSpPr/>
          <p:nvPr/>
        </p:nvSpPr>
        <p:spPr>
          <a:xfrm>
            <a:off x="1922780" y="2912745"/>
            <a:ext cx="34448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3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、实现两个接口函数</a:t>
            </a:r>
          </a:p>
        </p:txBody>
      </p:sp>
      <p:sp>
        <p:nvSpPr>
          <p:cNvPr id="24" name="矩形: 圆角 23"/>
          <p:cNvSpPr/>
          <p:nvPr/>
        </p:nvSpPr>
        <p:spPr>
          <a:xfrm>
            <a:off x="1913255" y="2482533"/>
            <a:ext cx="34448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2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、定义空闲任务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&amp;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定时器任务的任务堆栈及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TCB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" name="左大括号 1"/>
          <p:cNvSpPr/>
          <p:nvPr/>
        </p:nvSpPr>
        <p:spPr>
          <a:xfrm>
            <a:off x="5423218" y="2776220"/>
            <a:ext cx="204788" cy="50641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228" name="文本框 24"/>
          <p:cNvSpPr txBox="1"/>
          <p:nvPr/>
        </p:nvSpPr>
        <p:spPr>
          <a:xfrm>
            <a:off x="5724843" y="2665095"/>
            <a:ext cx="2951162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vApplicationGetIdleTaskMemory( ) 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9229" name="文本框 25"/>
          <p:cNvSpPr txBox="1"/>
          <p:nvPr/>
        </p:nvSpPr>
        <p:spPr>
          <a:xfrm>
            <a:off x="5723255" y="3047683"/>
            <a:ext cx="2959100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vApplicationGetTimerTaskMemory ( )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1867218" y="4233545"/>
            <a:ext cx="5978525" cy="277813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zh-CN" altLang="zh-CN" sz="1200" kern="1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Times New Roman" panose="02020603050405020304" pitchFamily="18" charset="0"/>
              </a:rPr>
              <a:t>此函数创建的任务会立刻进入就绪态，由任务调度器调度运行</a:t>
            </a:r>
            <a:endParaRPr kumimoji="0" lang="zh-CN" altLang="en-US" sz="1200" kern="1200" cap="none" spc="0" normalizeH="0" baseline="0" noProof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3" name="矩形: 圆角 22"/>
          <p:cNvSpPr/>
          <p:nvPr/>
        </p:nvSpPr>
        <p:spPr>
          <a:xfrm>
            <a:off x="1930718" y="3774758"/>
            <a:ext cx="34448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5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、编写任务函数</a:t>
            </a:r>
          </a:p>
        </p:txBody>
      </p:sp>
      <p:sp>
        <p:nvSpPr>
          <p:cNvPr id="25" name="矩形: 圆角 24"/>
          <p:cNvSpPr/>
          <p:nvPr/>
        </p:nvSpPr>
        <p:spPr>
          <a:xfrm>
            <a:off x="1930718" y="4643120"/>
            <a:ext cx="34448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TCB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结构体成员赋值</a:t>
            </a:r>
          </a:p>
        </p:txBody>
      </p:sp>
      <p:sp>
        <p:nvSpPr>
          <p:cNvPr id="26" name="矩形: 圆角 25"/>
          <p:cNvSpPr/>
          <p:nvPr/>
        </p:nvSpPr>
        <p:spPr>
          <a:xfrm>
            <a:off x="1930718" y="5143183"/>
            <a:ext cx="34448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2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、添加新任务到就绪列表中</a:t>
            </a:r>
          </a:p>
        </p:txBody>
      </p:sp>
      <p:sp>
        <p:nvSpPr>
          <p:cNvPr id="27" name="矩形: 圆角 26"/>
          <p:cNvSpPr/>
          <p:nvPr/>
        </p:nvSpPr>
        <p:spPr>
          <a:xfrm>
            <a:off x="1913255" y="3344545"/>
            <a:ext cx="34448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4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、定义函数入口参数</a:t>
            </a:r>
          </a:p>
        </p:txBody>
      </p:sp>
      <p:sp>
        <p:nvSpPr>
          <p:cNvPr id="7" name="右大括号 6"/>
          <p:cNvSpPr/>
          <p:nvPr/>
        </p:nvSpPr>
        <p:spPr>
          <a:xfrm>
            <a:off x="8533130" y="2025333"/>
            <a:ext cx="373063" cy="2111375"/>
          </a:xfrm>
          <a:prstGeom prst="rightBrace">
            <a:avLst>
              <a:gd name="adj1" fmla="val 12934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cxnSp>
        <p:nvCxnSpPr>
          <p:cNvPr id="28" name="直接连接符 27"/>
          <p:cNvCxnSpPr/>
          <p:nvPr/>
        </p:nvCxnSpPr>
        <p:spPr>
          <a:xfrm flipH="1">
            <a:off x="1913255" y="2025333"/>
            <a:ext cx="6610350" cy="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9" name="直接连接符 28"/>
          <p:cNvCxnSpPr/>
          <p:nvPr/>
        </p:nvCxnSpPr>
        <p:spPr>
          <a:xfrm flipH="1">
            <a:off x="1965643" y="4136708"/>
            <a:ext cx="6610350" cy="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238" name="文本框 29"/>
          <p:cNvSpPr txBox="1"/>
          <p:nvPr/>
        </p:nvSpPr>
        <p:spPr>
          <a:xfrm>
            <a:off x="8871268" y="2942908"/>
            <a:ext cx="1416050" cy="277812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用起来只需这五步</a:t>
            </a:r>
          </a:p>
        </p:txBody>
      </p:sp>
      <p:sp>
        <p:nvSpPr>
          <p:cNvPr id="31" name="右大括号 30"/>
          <p:cNvSpPr/>
          <p:nvPr/>
        </p:nvSpPr>
        <p:spPr>
          <a:xfrm>
            <a:off x="8533130" y="4581208"/>
            <a:ext cx="395288" cy="893763"/>
          </a:xfrm>
          <a:prstGeom prst="rightBrace">
            <a:avLst>
              <a:gd name="adj1" fmla="val 12934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cxnSp>
        <p:nvCxnSpPr>
          <p:cNvPr id="32" name="直接连接符 31"/>
          <p:cNvCxnSpPr/>
          <p:nvPr/>
        </p:nvCxnSpPr>
        <p:spPr>
          <a:xfrm flipH="1">
            <a:off x="1913255" y="4585970"/>
            <a:ext cx="6610350" cy="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直接连接符 32"/>
          <p:cNvCxnSpPr/>
          <p:nvPr/>
        </p:nvCxnSpPr>
        <p:spPr>
          <a:xfrm flipH="1">
            <a:off x="1913255" y="5474970"/>
            <a:ext cx="6610350" cy="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242" name="文本框 33"/>
          <p:cNvSpPr txBox="1"/>
          <p:nvPr/>
        </p:nvSpPr>
        <p:spPr>
          <a:xfrm>
            <a:off x="8871268" y="4882833"/>
            <a:ext cx="1416050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静态创建内部实现</a:t>
            </a:r>
          </a:p>
        </p:txBody>
      </p:sp>
      <p:sp>
        <p:nvSpPr>
          <p:cNvPr id="35" name="矩形: 圆角 34"/>
          <p:cNvSpPr/>
          <p:nvPr/>
        </p:nvSpPr>
        <p:spPr>
          <a:xfrm>
            <a:off x="1908493" y="2052320"/>
            <a:ext cx="4240213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、需将宏</a:t>
            </a:r>
            <a:r>
              <a:rPr kumimoji="0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configSUPPORT_STATIC_ALLOCATION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 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配置为 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 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9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92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ldLvl="0" animBg="1"/>
      <p:bldP spid="24" grpId="0" bldLvl="0" animBg="1"/>
      <p:bldP spid="2" grpId="0" bldLvl="0" animBg="1"/>
      <p:bldP spid="9228" grpId="0"/>
      <p:bldP spid="9229" grpId="0"/>
      <p:bldP spid="19" grpId="0"/>
      <p:bldP spid="23" grpId="0" bldLvl="0" animBg="1"/>
      <p:bldP spid="25" grpId="0" bldLvl="0" animBg="1"/>
      <p:bldP spid="26" grpId="0" bldLvl="0" animBg="1"/>
      <p:bldP spid="27" grpId="0" bldLvl="0" animBg="1"/>
      <p:bldP spid="7" grpId="0" bldLvl="0" animBg="1"/>
      <p:bldP spid="9238" grpId="0"/>
      <p:bldP spid="31" grpId="0" bldLvl="0" animBg="1"/>
      <p:bldP spid="9242" grpId="0"/>
      <p:bldP spid="35" grpId="0" bldLvl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8" name="文本框 9"/>
          <p:cNvSpPr txBox="1"/>
          <p:nvPr/>
        </p:nvSpPr>
        <p:spPr>
          <a:xfrm>
            <a:off x="1892618" y="1403985"/>
            <a:ext cx="4619625" cy="46513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任务删除函数</a:t>
            </a:r>
          </a:p>
        </p:txBody>
      </p:sp>
      <p:sp>
        <p:nvSpPr>
          <p:cNvPr id="9225" name="文本框 13"/>
          <p:cNvSpPr txBox="1">
            <a:spLocks noChangeArrowheads="1"/>
          </p:cNvSpPr>
          <p:nvPr/>
        </p:nvSpPr>
        <p:spPr bwMode="auto">
          <a:xfrm>
            <a:off x="1556068" y="2015173"/>
            <a:ext cx="6873875" cy="30797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255905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宋体" panose="02010600030101010101" pitchFamily="2" charset="-122"/>
                <a:cs typeface="+mn-cs"/>
              </a:rPr>
              <a:t>void</a:t>
            </a:r>
            <a:r>
              <a:rPr kumimoji="0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宋体" panose="02010600030101010101" pitchFamily="2" charset="-122"/>
                <a:cs typeface="+mn-cs"/>
              </a:rPr>
              <a:t>vTaskDelete</a:t>
            </a:r>
            <a:r>
              <a:rPr kumimoji="0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宋体" panose="02010600030101010101" pitchFamily="2" charset="-122"/>
                <a:cs typeface="+mn-cs"/>
              </a:rPr>
              <a:t>(</a:t>
            </a:r>
            <a:r>
              <a:rPr kumimoji="0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宋体" panose="02010600030101010101" pitchFamily="2" charset="-122"/>
                <a:cs typeface="+mn-cs"/>
              </a:rPr>
              <a:t>TaskHandle_t</a:t>
            </a:r>
            <a:r>
              <a:rPr kumimoji="0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宋体" panose="02010600030101010101" pitchFamily="2" charset="-122"/>
                <a:cs typeface="+mn-cs"/>
              </a:rPr>
              <a:t> </a:t>
            </a:r>
            <a:r>
              <a:rPr kumimoji="0" lang="en-US" altLang="zh-CN" sz="14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宋体" panose="02010600030101010101" pitchFamily="2" charset="-122"/>
                <a:cs typeface="+mn-cs"/>
              </a:rPr>
              <a:t>xTaskToDelete</a:t>
            </a:r>
            <a:r>
              <a:rPr kumimoji="0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宋体" panose="02010600030101010101" pitchFamily="2" charset="-122"/>
                <a:cs typeface="+mn-cs"/>
              </a:rPr>
              <a:t>);</a:t>
            </a:r>
            <a:endParaRPr kumimoji="0" lang="zh-CN" altLang="zh-CN" sz="1400" b="0" i="0" u="none" strike="noStrike" kern="1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graphicFrame>
        <p:nvGraphicFramePr>
          <p:cNvPr id="3" name="表格 6"/>
          <p:cNvGraphicFramePr>
            <a:graphicFrameLocks noGrp="1"/>
          </p:cNvGraphicFramePr>
          <p:nvPr/>
        </p:nvGraphicFramePr>
        <p:xfrm>
          <a:off x="1892618" y="2491423"/>
          <a:ext cx="6096000" cy="7413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681">
                <a:tc>
                  <a:txBody>
                    <a:bodyPr/>
                    <a:lstStyle/>
                    <a:p>
                      <a:pPr indent="255905" algn="ctr"/>
                      <a:r>
                        <a:rPr lang="zh-CN" altLang="en-US" sz="1100" kern="100" dirty="0">
                          <a:solidFill>
                            <a:schemeClr val="bg1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形参</a:t>
                      </a:r>
                      <a:endParaRPr lang="zh-CN" sz="1100" kern="100" dirty="0">
                        <a:solidFill>
                          <a:schemeClr val="bg1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255905" algn="ctr"/>
                      <a:r>
                        <a:rPr lang="zh-CN" sz="1100" kern="100" dirty="0">
                          <a:solidFill>
                            <a:schemeClr val="bg1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描述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681">
                <a:tc>
                  <a:txBody>
                    <a:bodyPr/>
                    <a:lstStyle/>
                    <a:p>
                      <a:pPr indent="255905" algn="ctr"/>
                      <a:r>
                        <a:rPr lang="en-US" sz="1200" kern="10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xTaskToDelete</a:t>
                      </a:r>
                      <a:endParaRPr lang="zh-CN" sz="1200" kern="10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255905" algn="ctr"/>
                      <a:r>
                        <a:rPr lang="zh-CN" sz="1200" kern="1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待删除任务的任务句柄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文本框 18"/>
          <p:cNvSpPr txBox="1"/>
          <p:nvPr/>
        </p:nvSpPr>
        <p:spPr>
          <a:xfrm>
            <a:off x="1892618" y="3693160"/>
            <a:ext cx="7413625" cy="38258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lnSpc>
                <a:spcPct val="150000"/>
              </a:lnSpc>
              <a:buClrTx/>
              <a:buSzTx/>
              <a:buFontTx/>
              <a:buNone/>
              <a:defRPr/>
            </a:pPr>
            <a:r>
              <a:rPr kumimoji="0" lang="zh-CN" altLang="zh-CN" sz="1400" kern="1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Times New Roman" panose="02020603050405020304" pitchFamily="18" charset="0"/>
              </a:rPr>
              <a:t>被删除的任务将从就绪态任务列表、阻塞态任务列表、挂起态任务列表和事件列表中移除</a:t>
            </a:r>
            <a:endParaRPr kumimoji="0" lang="zh-CN" altLang="en-US" sz="1400" kern="1200" cap="none" spc="0" normalizeH="0" baseline="0" noProof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1892618" y="3315335"/>
            <a:ext cx="2749550" cy="38258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lnSpc>
                <a:spcPct val="150000"/>
              </a:lnSpc>
              <a:buClrTx/>
              <a:buSzTx/>
              <a:buFontTx/>
              <a:buNone/>
              <a:defRPr/>
            </a:pPr>
            <a:r>
              <a:rPr kumimoji="0" lang="zh-CN" altLang="zh-CN" sz="1400" kern="1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Times New Roman" panose="02020603050405020304" pitchFamily="18" charset="0"/>
              </a:rPr>
              <a:t>用于删除已被创建的任务</a:t>
            </a:r>
            <a:endParaRPr kumimoji="0" lang="en-US" altLang="zh-CN" sz="1400" kern="100" cap="none" spc="0" normalizeH="0" baseline="0" noProof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263" name="文本框 8"/>
          <p:cNvSpPr txBox="1"/>
          <p:nvPr/>
        </p:nvSpPr>
        <p:spPr>
          <a:xfrm>
            <a:off x="1892618" y="4109085"/>
            <a:ext cx="544512" cy="306388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注意</a:t>
            </a:r>
          </a:p>
        </p:txBody>
      </p:sp>
      <p:sp>
        <p:nvSpPr>
          <p:cNvPr id="25" name="文本框 24"/>
          <p:cNvSpPr txBox="1"/>
          <p:nvPr/>
        </p:nvSpPr>
        <p:spPr>
          <a:xfrm>
            <a:off x="1892618" y="4340860"/>
            <a:ext cx="5915025" cy="38100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lnSpc>
                <a:spcPct val="150000"/>
              </a:lnSpc>
              <a:buClrTx/>
              <a:buSzTx/>
              <a:buFontTx/>
              <a:buNone/>
              <a:defRPr/>
            </a:pPr>
            <a:r>
              <a:rPr kumimoji="0" lang="en-US" altLang="zh-CN" sz="1400" kern="1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Times New Roman" panose="02020603050405020304" pitchFamily="18" charset="0"/>
              </a:rPr>
              <a:t>1</a:t>
            </a:r>
            <a:r>
              <a:rPr kumimoji="0" lang="zh-CN" altLang="en-US" sz="1400" kern="1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Times New Roman" panose="02020603050405020304" pitchFamily="18" charset="0"/>
              </a:rPr>
              <a:t>、当传入的参数为</a:t>
            </a:r>
            <a:r>
              <a:rPr kumimoji="0" lang="en-US" altLang="zh-CN" sz="1400" kern="1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Times New Roman" panose="02020603050405020304" pitchFamily="18" charset="0"/>
              </a:rPr>
              <a:t>NULL</a:t>
            </a:r>
            <a:r>
              <a:rPr kumimoji="0" lang="zh-CN" altLang="en-US" sz="1400" kern="1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Times New Roman" panose="02020603050405020304" pitchFamily="18" charset="0"/>
              </a:rPr>
              <a:t>，则代表删除任务自身（当前正在运行的任务）</a:t>
            </a:r>
            <a:endParaRPr kumimoji="0" lang="en-US" altLang="zh-CN" sz="1400" kern="100" cap="none" spc="0" normalizeH="0" baseline="0" noProof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265" name="文本框 25"/>
          <p:cNvSpPr txBox="1"/>
          <p:nvPr/>
        </p:nvSpPr>
        <p:spPr>
          <a:xfrm>
            <a:off x="1892618" y="4742498"/>
            <a:ext cx="8428037" cy="7048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、空闲任务会负责释放被删除任务中由系统分配的内存，但是由用户在任务删除前申请的内存， 则需要由用户在任务被删除前提前释放，否则将导致内存泄露 </a:t>
            </a:r>
            <a:endParaRPr lang="en-US" altLang="zh-CN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2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2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2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25" grpId="0"/>
      <p:bldP spid="19" grpId="0"/>
      <p:bldP spid="23" grpId="0"/>
      <p:bldP spid="10263" grpId="0"/>
      <p:bldP spid="25" grpId="0"/>
      <p:bldP spid="1026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2" name="文本框 9"/>
          <p:cNvSpPr txBox="1"/>
          <p:nvPr/>
        </p:nvSpPr>
        <p:spPr>
          <a:xfrm>
            <a:off x="1619885" y="1473200"/>
            <a:ext cx="4619625" cy="46513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删除任务流程</a:t>
            </a:r>
          </a:p>
        </p:txBody>
      </p:sp>
      <p:sp>
        <p:nvSpPr>
          <p:cNvPr id="11273" name="文本框 13"/>
          <p:cNvSpPr txBox="1"/>
          <p:nvPr/>
        </p:nvSpPr>
        <p:spPr>
          <a:xfrm>
            <a:off x="1619885" y="2149475"/>
            <a:ext cx="4794250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、使用删除任务函数，需将宏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INCLUDE_vTaskDelete 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配置为 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</a:p>
        </p:txBody>
      </p:sp>
      <p:sp>
        <p:nvSpPr>
          <p:cNvPr id="20" name="矩形: 圆角 19"/>
          <p:cNvSpPr/>
          <p:nvPr/>
        </p:nvSpPr>
        <p:spPr>
          <a:xfrm>
            <a:off x="1637348" y="3851275"/>
            <a:ext cx="2503488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2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、将被删除任务，移除所在列表</a:t>
            </a:r>
          </a:p>
        </p:txBody>
      </p:sp>
      <p:sp>
        <p:nvSpPr>
          <p:cNvPr id="21" name="矩形: 圆角 20"/>
          <p:cNvSpPr/>
          <p:nvPr/>
        </p:nvSpPr>
        <p:spPr>
          <a:xfrm>
            <a:off x="1637348" y="4443413"/>
            <a:ext cx="2503488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3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、判断所需要删除的任务</a:t>
            </a:r>
          </a:p>
        </p:txBody>
      </p:sp>
      <p:sp>
        <p:nvSpPr>
          <p:cNvPr id="22" name="矩形: 圆角 21"/>
          <p:cNvSpPr/>
          <p:nvPr/>
        </p:nvSpPr>
        <p:spPr>
          <a:xfrm>
            <a:off x="1627823" y="5035550"/>
            <a:ext cx="25050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4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、更新下个任务的阻塞时间</a:t>
            </a:r>
          </a:p>
        </p:txBody>
      </p:sp>
      <p:sp>
        <p:nvSpPr>
          <p:cNvPr id="24" name="矩形: 圆角 23"/>
          <p:cNvSpPr/>
          <p:nvPr/>
        </p:nvSpPr>
        <p:spPr>
          <a:xfrm>
            <a:off x="1637348" y="3259138"/>
            <a:ext cx="2503488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、获取所要删除任务的控制块</a:t>
            </a:r>
          </a:p>
        </p:txBody>
      </p:sp>
      <p:sp>
        <p:nvSpPr>
          <p:cNvPr id="11278" name="文本框 24"/>
          <p:cNvSpPr txBox="1"/>
          <p:nvPr/>
        </p:nvSpPr>
        <p:spPr>
          <a:xfrm>
            <a:off x="4140835" y="3286125"/>
            <a:ext cx="5095875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通过传入的任务句柄，判断所需要删除哪个任务，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NULL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代表删除自身</a:t>
            </a:r>
          </a:p>
        </p:txBody>
      </p:sp>
      <p:sp>
        <p:nvSpPr>
          <p:cNvPr id="11279" name="文本框 25"/>
          <p:cNvSpPr txBox="1"/>
          <p:nvPr/>
        </p:nvSpPr>
        <p:spPr>
          <a:xfrm>
            <a:off x="4140835" y="3868738"/>
            <a:ext cx="4965700" cy="27781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将该任务在所在列表中移除，包括：就绪、阻塞、挂起、事件等列表</a:t>
            </a:r>
          </a:p>
        </p:txBody>
      </p:sp>
      <p:sp>
        <p:nvSpPr>
          <p:cNvPr id="11280" name="文本框 25"/>
          <p:cNvSpPr txBox="1"/>
          <p:nvPr/>
        </p:nvSpPr>
        <p:spPr>
          <a:xfrm>
            <a:off x="4299585" y="4314825"/>
            <a:ext cx="4964113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删除任务自身，需先添加到等待删除列表，内存释放将在空闲任务执行</a:t>
            </a:r>
          </a:p>
        </p:txBody>
      </p:sp>
      <p:sp>
        <p:nvSpPr>
          <p:cNvPr id="11281" name="文本框 22"/>
          <p:cNvSpPr txBox="1"/>
          <p:nvPr/>
        </p:nvSpPr>
        <p:spPr>
          <a:xfrm>
            <a:off x="4299585" y="4656138"/>
            <a:ext cx="4618038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删除其他任务，释放内存，任务数量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--</a:t>
            </a:r>
            <a:endParaRPr lang="zh-CN" altLang="en-US" sz="1200" dirty="0"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7" name="左大括号 6"/>
          <p:cNvSpPr/>
          <p:nvPr/>
        </p:nvSpPr>
        <p:spPr>
          <a:xfrm>
            <a:off x="4140835" y="4400550"/>
            <a:ext cx="158750" cy="419100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1283" name="文本框 25"/>
          <p:cNvSpPr txBox="1"/>
          <p:nvPr/>
        </p:nvSpPr>
        <p:spPr>
          <a:xfrm>
            <a:off x="4129723" y="5011738"/>
            <a:ext cx="5562600" cy="34131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更新下一个任务的阻塞超时时间，以防被删除的任务就是下一个阻塞超时的任务 </a:t>
            </a:r>
          </a:p>
        </p:txBody>
      </p:sp>
      <p:sp>
        <p:nvSpPr>
          <p:cNvPr id="8" name="右大括号 7"/>
          <p:cNvSpPr/>
          <p:nvPr/>
        </p:nvSpPr>
        <p:spPr>
          <a:xfrm>
            <a:off x="6102985" y="2116138"/>
            <a:ext cx="220663" cy="66833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1285" name="文本框 13"/>
          <p:cNvSpPr txBox="1"/>
          <p:nvPr/>
        </p:nvSpPr>
        <p:spPr>
          <a:xfrm>
            <a:off x="1627823" y="2547938"/>
            <a:ext cx="4535487" cy="27781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、入口参数输入需要删除的任务句柄（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NULL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代表删除本身）</a:t>
            </a:r>
          </a:p>
        </p:txBody>
      </p:sp>
      <p:cxnSp>
        <p:nvCxnSpPr>
          <p:cNvPr id="10" name="直接连接符 9"/>
          <p:cNvCxnSpPr/>
          <p:nvPr/>
        </p:nvCxnSpPr>
        <p:spPr>
          <a:xfrm flipH="1" flipV="1">
            <a:off x="1619885" y="2116138"/>
            <a:ext cx="4533900" cy="9525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H="1" flipV="1">
            <a:off x="1627823" y="2782888"/>
            <a:ext cx="4535488" cy="9525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9" name="右大括号 28"/>
          <p:cNvSpPr/>
          <p:nvPr/>
        </p:nvSpPr>
        <p:spPr>
          <a:xfrm>
            <a:off x="9582785" y="3168650"/>
            <a:ext cx="220663" cy="227330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cxnSp>
        <p:nvCxnSpPr>
          <p:cNvPr id="32" name="直接连接符 31"/>
          <p:cNvCxnSpPr/>
          <p:nvPr/>
        </p:nvCxnSpPr>
        <p:spPr>
          <a:xfrm flipH="1" flipV="1">
            <a:off x="1619885" y="3136900"/>
            <a:ext cx="7962900" cy="3175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 flipH="1" flipV="1">
            <a:off x="1619885" y="5410200"/>
            <a:ext cx="7962900" cy="3175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291" name="文本框 16"/>
          <p:cNvSpPr txBox="1"/>
          <p:nvPr/>
        </p:nvSpPr>
        <p:spPr>
          <a:xfrm>
            <a:off x="6299835" y="2327275"/>
            <a:ext cx="1416050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用起来只要这两步</a:t>
            </a:r>
          </a:p>
        </p:txBody>
      </p:sp>
      <p:sp>
        <p:nvSpPr>
          <p:cNvPr id="11292" name="文本框 35"/>
          <p:cNvSpPr txBox="1"/>
          <p:nvPr/>
        </p:nvSpPr>
        <p:spPr>
          <a:xfrm>
            <a:off x="9814560" y="3808413"/>
            <a:ext cx="368300" cy="1014412"/>
          </a:xfrm>
          <a:prstGeom prst="rect">
            <a:avLst/>
          </a:prstGeom>
          <a:noFill/>
          <a:ln w="9525">
            <a:noFill/>
          </a:ln>
        </p:spPr>
        <p:txBody>
          <a:bodyPr vert="eaVert" wrap="none"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内部实现过程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2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2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12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12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12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12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12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1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73" grpId="0"/>
      <p:bldP spid="20" grpId="0" bldLvl="0" animBg="1"/>
      <p:bldP spid="21" grpId="0" bldLvl="0" animBg="1"/>
      <p:bldP spid="22" grpId="0" bldLvl="0" animBg="1"/>
      <p:bldP spid="24" grpId="0" bldLvl="0" animBg="1"/>
      <p:bldP spid="11278" grpId="0"/>
      <p:bldP spid="11279" grpId="0"/>
      <p:bldP spid="11280" grpId="0"/>
      <p:bldP spid="11281" grpId="0"/>
      <p:bldP spid="7" grpId="0" bldLvl="0" animBg="1"/>
      <p:bldP spid="11283" grpId="0"/>
      <p:bldP spid="8" grpId="0" bldLvl="0" animBg="1"/>
      <p:bldP spid="11285" grpId="0"/>
      <p:bldP spid="29" grpId="0" bldLvl="0" animBg="1"/>
      <p:bldP spid="11291" grpId="0"/>
      <p:bldP spid="1129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20" name="文本框 9"/>
          <p:cNvSpPr txBox="1"/>
          <p:nvPr/>
        </p:nvSpPr>
        <p:spPr>
          <a:xfrm>
            <a:off x="1367473" y="1522730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任务创建和删除（动态方法）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702435" y="2256155"/>
            <a:ext cx="4246880" cy="3371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en-US" altLang="zh-CN" sz="1600" kern="1200" cap="none" spc="0" normalizeH="0" baseline="0" noProof="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xTaskCreate</a:t>
            </a:r>
            <a:r>
              <a:rPr kumimoji="0" lang="en-US" altLang="zh-CN" sz="16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( )</a:t>
            </a:r>
            <a:r>
              <a:rPr kumimoji="0" lang="zh-CN" altLang="en-US" sz="16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  和 </a:t>
            </a:r>
            <a:r>
              <a:rPr kumimoji="0" lang="en-US" altLang="zh-CN" sz="1600" kern="0" cap="none" spc="0" normalizeH="0" baseline="0" noProof="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vTaskDelete</a:t>
            </a:r>
            <a:r>
              <a:rPr kumimoji="0" lang="en-US" altLang="zh-CN" sz="1600" kern="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( ) </a:t>
            </a:r>
            <a:r>
              <a:rPr kumimoji="0" lang="zh-CN" altLang="en-US" sz="1600" kern="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的使用</a:t>
            </a:r>
            <a:endParaRPr kumimoji="0" lang="zh-CN" altLang="en-US" sz="1600" kern="1200" cap="none" spc="0" normalizeH="0" baseline="0" noProof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3322" name="文本框 6"/>
          <p:cNvSpPr txBox="1"/>
          <p:nvPr/>
        </p:nvSpPr>
        <p:spPr>
          <a:xfrm>
            <a:off x="1702435" y="2883218"/>
            <a:ext cx="6894513" cy="33718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设计四个任务：</a:t>
            </a:r>
            <a:r>
              <a:rPr lang="en-US" altLang="zh-CN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start_task</a:t>
            </a:r>
            <a:r>
              <a:rPr lang="zh-CN" altLang="en-US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task1</a:t>
            </a:r>
            <a:r>
              <a:rPr lang="zh-CN" altLang="en-US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endParaRPr lang="zh-CN" altLang="en-US" sz="16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8" name="矩形: 圆角 7"/>
          <p:cNvSpPr/>
          <p:nvPr/>
        </p:nvSpPr>
        <p:spPr>
          <a:xfrm>
            <a:off x="2023110" y="3715068"/>
            <a:ext cx="1417638" cy="33972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start_task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8" name="矩形: 圆角 17"/>
          <p:cNvSpPr/>
          <p:nvPr/>
        </p:nvSpPr>
        <p:spPr>
          <a:xfrm>
            <a:off x="2023110" y="4248468"/>
            <a:ext cx="1417638" cy="33972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task1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9" name="矩形: 圆角 18"/>
          <p:cNvSpPr/>
          <p:nvPr/>
        </p:nvSpPr>
        <p:spPr>
          <a:xfrm>
            <a:off x="2023110" y="4812030"/>
            <a:ext cx="1417638" cy="338138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task2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3326" name="文本框 12"/>
          <p:cNvSpPr txBox="1"/>
          <p:nvPr/>
        </p:nvSpPr>
        <p:spPr>
          <a:xfrm>
            <a:off x="1989773" y="3326130"/>
            <a:ext cx="2236787" cy="338138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四个任务的功能如下：</a:t>
            </a:r>
          </a:p>
        </p:txBody>
      </p:sp>
      <p:sp>
        <p:nvSpPr>
          <p:cNvPr id="13327" name="文本框 13"/>
          <p:cNvSpPr txBox="1"/>
          <p:nvPr/>
        </p:nvSpPr>
        <p:spPr>
          <a:xfrm>
            <a:off x="3447098" y="3734118"/>
            <a:ext cx="2159000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用来创建其他的三个任务</a:t>
            </a:r>
          </a:p>
        </p:txBody>
      </p:sp>
      <p:sp>
        <p:nvSpPr>
          <p:cNvPr id="13328" name="文本框 22"/>
          <p:cNvSpPr txBox="1"/>
          <p:nvPr/>
        </p:nvSpPr>
        <p:spPr>
          <a:xfrm>
            <a:off x="3447098" y="4264343"/>
            <a:ext cx="2403475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实现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LED0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每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500ms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闪烁一次</a:t>
            </a:r>
          </a:p>
        </p:txBody>
      </p:sp>
      <p:sp>
        <p:nvSpPr>
          <p:cNvPr id="13329" name="文本框 23"/>
          <p:cNvSpPr txBox="1"/>
          <p:nvPr/>
        </p:nvSpPr>
        <p:spPr>
          <a:xfrm>
            <a:off x="3447098" y="4827905"/>
            <a:ext cx="2403475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实现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LED1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每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500ms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闪烁一次</a:t>
            </a:r>
          </a:p>
        </p:txBody>
      </p:sp>
      <p:sp>
        <p:nvSpPr>
          <p:cNvPr id="26" name="矩形: 圆角 25"/>
          <p:cNvSpPr/>
          <p:nvPr/>
        </p:nvSpPr>
        <p:spPr>
          <a:xfrm>
            <a:off x="2029460" y="5324793"/>
            <a:ext cx="1417638" cy="33972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task3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3331" name="文本框 27"/>
          <p:cNvSpPr txBox="1"/>
          <p:nvPr/>
        </p:nvSpPr>
        <p:spPr>
          <a:xfrm>
            <a:off x="3447098" y="5340668"/>
            <a:ext cx="3551237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判断按键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KEY0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是否按下，按下则删掉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task1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3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3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3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3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33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33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3322" grpId="0"/>
      <p:bldP spid="8" grpId="0" bldLvl="0" animBg="1"/>
      <p:bldP spid="18" grpId="0" bldLvl="0" animBg="1"/>
      <p:bldP spid="19" grpId="0" bldLvl="0" animBg="1"/>
      <p:bldP spid="13326" grpId="0"/>
      <p:bldP spid="13327" grpId="0"/>
      <p:bldP spid="13328" grpId="0"/>
      <p:bldP spid="13329" grpId="0"/>
      <p:bldP spid="26" grpId="0" bldLvl="0" animBg="1"/>
      <p:bldP spid="1333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文本框 9"/>
          <p:cNvSpPr txBox="1"/>
          <p:nvPr/>
        </p:nvSpPr>
        <p:spPr>
          <a:xfrm>
            <a:off x="1991043" y="1335405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任务创建和删除（动态方法）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14" name="左大括号 13"/>
          <p:cNvSpPr/>
          <p:nvPr/>
        </p:nvSpPr>
        <p:spPr>
          <a:xfrm>
            <a:off x="4134168" y="2208530"/>
            <a:ext cx="223838" cy="1911350"/>
          </a:xfrm>
          <a:prstGeom prst="leftBrace">
            <a:avLst>
              <a:gd name="adj1" fmla="val 8333"/>
              <a:gd name="adj2" fmla="val 4744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5" name="矩形: 圆角 33"/>
          <p:cNvSpPr/>
          <p:nvPr/>
        </p:nvSpPr>
        <p:spPr>
          <a:xfrm>
            <a:off x="4791393" y="2157730"/>
            <a:ext cx="1274763" cy="207963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pxReadyTasksLists</a:t>
            </a: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[31]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6" name="矩形: 圆角 34"/>
          <p:cNvSpPr/>
          <p:nvPr/>
        </p:nvSpPr>
        <p:spPr>
          <a:xfrm>
            <a:off x="4791393" y="2510155"/>
            <a:ext cx="1274763" cy="207963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pxReadyTasksLists</a:t>
            </a: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[30]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7" name="矩形: 圆角 35"/>
          <p:cNvSpPr/>
          <p:nvPr/>
        </p:nvSpPr>
        <p:spPr>
          <a:xfrm>
            <a:off x="4791393" y="3569018"/>
            <a:ext cx="1274763" cy="207963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pxReadyTasksLists</a:t>
            </a: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[1]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8" name="矩形: 圆角 36"/>
          <p:cNvSpPr/>
          <p:nvPr/>
        </p:nvSpPr>
        <p:spPr>
          <a:xfrm>
            <a:off x="4791393" y="2864168"/>
            <a:ext cx="1274763" cy="207963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pxReadyTasksLists</a:t>
            </a: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[29]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9" name="矩形: 圆角 37"/>
          <p:cNvSpPr/>
          <p:nvPr/>
        </p:nvSpPr>
        <p:spPr>
          <a:xfrm>
            <a:off x="4791393" y="3916680"/>
            <a:ext cx="1274763" cy="207963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pxReadyTasksLists</a:t>
            </a: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[0]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0" name="矩形: 圆角 38"/>
          <p:cNvSpPr/>
          <p:nvPr/>
        </p:nvSpPr>
        <p:spPr>
          <a:xfrm>
            <a:off x="4791393" y="3208655"/>
            <a:ext cx="1274763" cy="207963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… …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4411980" y="2159318"/>
            <a:ext cx="307975" cy="1984375"/>
          </a:xfrm>
          <a:prstGeom prst="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dk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cxnSp>
        <p:nvCxnSpPr>
          <p:cNvPr id="22" name="直接连接符 21"/>
          <p:cNvCxnSpPr/>
          <p:nvPr/>
        </p:nvCxnSpPr>
        <p:spPr>
          <a:xfrm>
            <a:off x="4411980" y="2424430"/>
            <a:ext cx="3079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/>
          <p:cNvCxnSpPr/>
          <p:nvPr/>
        </p:nvCxnSpPr>
        <p:spPr>
          <a:xfrm>
            <a:off x="4411980" y="2721293"/>
            <a:ext cx="3079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/>
          <p:cNvCxnSpPr/>
          <p:nvPr/>
        </p:nvCxnSpPr>
        <p:spPr>
          <a:xfrm>
            <a:off x="4411980" y="3081655"/>
            <a:ext cx="3079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/>
          <p:cNvCxnSpPr/>
          <p:nvPr/>
        </p:nvCxnSpPr>
        <p:spPr>
          <a:xfrm>
            <a:off x="4411980" y="3461068"/>
            <a:ext cx="3079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/>
          <p:cNvCxnSpPr/>
          <p:nvPr/>
        </p:nvCxnSpPr>
        <p:spPr>
          <a:xfrm>
            <a:off x="4411980" y="3845243"/>
            <a:ext cx="3079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/>
          <p:cNvSpPr txBox="1"/>
          <p:nvPr/>
        </p:nvSpPr>
        <p:spPr>
          <a:xfrm>
            <a:off x="4351655" y="2179955"/>
            <a:ext cx="427038" cy="231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bit31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4351655" y="2478405"/>
            <a:ext cx="427038" cy="230188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bit30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4351655" y="2807018"/>
            <a:ext cx="427038" cy="230187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bit29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4377055" y="3168968"/>
            <a:ext cx="377825" cy="231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… …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4381818" y="3561080"/>
            <a:ext cx="368300" cy="231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bit1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4381818" y="3897630"/>
            <a:ext cx="368300" cy="230188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bit0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52" name="文本框 1"/>
          <p:cNvSpPr txBox="1"/>
          <p:nvPr/>
        </p:nvSpPr>
        <p:spPr>
          <a:xfrm>
            <a:off x="2430780" y="2967355"/>
            <a:ext cx="1620838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就绪列表的初始化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bldLvl="0" animBg="1"/>
      <p:bldP spid="15" grpId="0" bldLvl="0" animBg="1"/>
      <p:bldP spid="16" grpId="0" bldLvl="0" animBg="1"/>
      <p:bldP spid="17" grpId="0" bldLvl="0" animBg="1"/>
      <p:bldP spid="18" grpId="0" bldLvl="0" animBg="1"/>
      <p:bldP spid="19" grpId="0" bldLvl="0" animBg="1"/>
      <p:bldP spid="20" grpId="0" bldLvl="0" animBg="1"/>
      <p:bldP spid="21" grpId="0" bldLvl="0" animBg="1"/>
      <p:bldP spid="27" grpId="0"/>
      <p:bldP spid="28" grpId="0"/>
      <p:bldP spid="29" grpId="0"/>
      <p:bldP spid="30" grpId="0"/>
      <p:bldP spid="31" grpId="0"/>
      <p:bldP spid="32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92" name="文本框 9"/>
          <p:cNvSpPr txBox="1"/>
          <p:nvPr/>
        </p:nvSpPr>
        <p:spPr>
          <a:xfrm>
            <a:off x="1665923" y="1254760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任务创建和删除（静态方法）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000885" y="1988185"/>
            <a:ext cx="5364480" cy="3371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zh-CN" altLang="en-US" sz="16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学会 </a:t>
            </a:r>
            <a:r>
              <a:rPr kumimoji="0" lang="en-US" altLang="zh-CN" sz="1600" kern="1200" cap="none" spc="0" normalizeH="0" baseline="0" noProof="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xTaskCreateStatic</a:t>
            </a:r>
            <a:r>
              <a:rPr kumimoji="0" lang="en-US" altLang="zh-CN" sz="16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( )</a:t>
            </a:r>
            <a:r>
              <a:rPr kumimoji="0" lang="zh-CN" altLang="en-US" sz="16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  和 </a:t>
            </a:r>
            <a:r>
              <a:rPr kumimoji="0" lang="en-US" altLang="zh-CN" sz="1600" kern="0" cap="none" spc="0" normalizeH="0" baseline="0" noProof="0" dirty="0" err="1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vTaskDelete</a:t>
            </a:r>
            <a:r>
              <a:rPr kumimoji="0" lang="en-US" altLang="zh-CN" sz="1600" kern="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( ) </a:t>
            </a:r>
            <a:r>
              <a:rPr kumimoji="0" lang="zh-CN" altLang="en-US" sz="1600" kern="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的使用</a:t>
            </a:r>
            <a:endParaRPr kumimoji="0" lang="zh-CN" altLang="en-US" sz="1600" kern="1200" cap="none" spc="0" normalizeH="0" baseline="0" noProof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5370" name="文本框 6"/>
          <p:cNvSpPr txBox="1"/>
          <p:nvPr/>
        </p:nvSpPr>
        <p:spPr>
          <a:xfrm>
            <a:off x="2000885" y="2615248"/>
            <a:ext cx="6894513" cy="33718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设计四个任务：</a:t>
            </a:r>
            <a:r>
              <a:rPr lang="en-US" altLang="zh-CN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start_task</a:t>
            </a:r>
            <a:r>
              <a:rPr lang="zh-CN" altLang="en-US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task1</a:t>
            </a:r>
            <a:r>
              <a:rPr lang="zh-CN" altLang="en-US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endParaRPr lang="zh-CN" altLang="en-US" sz="16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8" name="矩形: 圆角 7"/>
          <p:cNvSpPr/>
          <p:nvPr/>
        </p:nvSpPr>
        <p:spPr>
          <a:xfrm>
            <a:off x="2321560" y="3447098"/>
            <a:ext cx="1417638" cy="33972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start_task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8" name="矩形: 圆角 17"/>
          <p:cNvSpPr/>
          <p:nvPr/>
        </p:nvSpPr>
        <p:spPr>
          <a:xfrm>
            <a:off x="2321560" y="3980498"/>
            <a:ext cx="1417638" cy="33972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task1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9" name="矩形: 圆角 18"/>
          <p:cNvSpPr/>
          <p:nvPr/>
        </p:nvSpPr>
        <p:spPr>
          <a:xfrm>
            <a:off x="2321560" y="4544060"/>
            <a:ext cx="1417638" cy="338138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task2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5374" name="文本框 12"/>
          <p:cNvSpPr txBox="1"/>
          <p:nvPr/>
        </p:nvSpPr>
        <p:spPr>
          <a:xfrm>
            <a:off x="2288223" y="3058160"/>
            <a:ext cx="2236787" cy="338138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6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四个任务的功能如下：</a:t>
            </a:r>
          </a:p>
        </p:txBody>
      </p:sp>
      <p:sp>
        <p:nvSpPr>
          <p:cNvPr id="15375" name="文本框 13"/>
          <p:cNvSpPr txBox="1"/>
          <p:nvPr/>
        </p:nvSpPr>
        <p:spPr>
          <a:xfrm>
            <a:off x="3745548" y="3466148"/>
            <a:ext cx="2159000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用来创建其他的三个任务</a:t>
            </a:r>
          </a:p>
        </p:txBody>
      </p:sp>
      <p:sp>
        <p:nvSpPr>
          <p:cNvPr id="15376" name="文本框 22"/>
          <p:cNvSpPr txBox="1"/>
          <p:nvPr/>
        </p:nvSpPr>
        <p:spPr>
          <a:xfrm>
            <a:off x="3745548" y="3996373"/>
            <a:ext cx="2403475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实现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LED0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每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500ms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闪烁一次</a:t>
            </a:r>
          </a:p>
        </p:txBody>
      </p:sp>
      <p:sp>
        <p:nvSpPr>
          <p:cNvPr id="15377" name="文本框 23"/>
          <p:cNvSpPr txBox="1"/>
          <p:nvPr/>
        </p:nvSpPr>
        <p:spPr>
          <a:xfrm>
            <a:off x="3745548" y="4559935"/>
            <a:ext cx="2403475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实现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LED1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每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500ms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闪烁一次</a:t>
            </a:r>
          </a:p>
        </p:txBody>
      </p:sp>
      <p:sp>
        <p:nvSpPr>
          <p:cNvPr id="26" name="矩形: 圆角 25"/>
          <p:cNvSpPr/>
          <p:nvPr/>
        </p:nvSpPr>
        <p:spPr>
          <a:xfrm>
            <a:off x="2327910" y="5056823"/>
            <a:ext cx="1417638" cy="33972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>
            <a:defPPr>
              <a:defRPr lang="en-US"/>
            </a:defPPr>
            <a:lvl1pPr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task3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5379" name="文本框 27"/>
          <p:cNvSpPr txBox="1"/>
          <p:nvPr/>
        </p:nvSpPr>
        <p:spPr>
          <a:xfrm>
            <a:off x="3745548" y="5072698"/>
            <a:ext cx="3551237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判断按键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KEY0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是否按下，按下则删掉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task1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3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3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53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3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53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3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5370" grpId="0"/>
      <p:bldP spid="8" grpId="0" bldLvl="0" animBg="1"/>
      <p:bldP spid="18" grpId="0" bldLvl="0" animBg="1"/>
      <p:bldP spid="19" grpId="0" bldLvl="0" animBg="1"/>
      <p:bldP spid="15374" grpId="0"/>
      <p:bldP spid="15375" grpId="0"/>
      <p:bldP spid="15376" grpId="0"/>
      <p:bldP spid="15377" grpId="0"/>
      <p:bldP spid="26" grpId="0" bldLvl="0" animBg="1"/>
      <p:bldP spid="15379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6" name="文本框 9"/>
          <p:cNvSpPr txBox="1"/>
          <p:nvPr/>
        </p:nvSpPr>
        <p:spPr>
          <a:xfrm>
            <a:off x="1501775" y="1689100"/>
            <a:ext cx="4619625" cy="46513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任务挂起函数内部实现</a:t>
            </a:r>
          </a:p>
        </p:txBody>
      </p:sp>
      <p:sp>
        <p:nvSpPr>
          <p:cNvPr id="20" name="矩形: 圆角 19"/>
          <p:cNvSpPr/>
          <p:nvPr>
            <p:custDataLst>
              <p:tags r:id="rId1"/>
            </p:custDataLst>
          </p:nvPr>
        </p:nvSpPr>
        <p:spPr>
          <a:xfrm>
            <a:off x="1663700" y="2998788"/>
            <a:ext cx="26320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2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、移除所在列表</a:t>
            </a:r>
          </a:p>
        </p:txBody>
      </p:sp>
      <p:sp>
        <p:nvSpPr>
          <p:cNvPr id="24" name="矩形: 圆角 23"/>
          <p:cNvSpPr/>
          <p:nvPr>
            <p:custDataLst>
              <p:tags r:id="rId2"/>
            </p:custDataLst>
          </p:nvPr>
        </p:nvSpPr>
        <p:spPr>
          <a:xfrm>
            <a:off x="1654175" y="2470150"/>
            <a:ext cx="2641600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、获取所要挂起任务的控制块</a:t>
            </a:r>
          </a:p>
        </p:txBody>
      </p:sp>
      <p:sp>
        <p:nvSpPr>
          <p:cNvPr id="23" name="矩形: 圆角 22"/>
          <p:cNvSpPr/>
          <p:nvPr>
            <p:custDataLst>
              <p:tags r:id="rId3"/>
            </p:custDataLst>
          </p:nvPr>
        </p:nvSpPr>
        <p:spPr>
          <a:xfrm>
            <a:off x="1668463" y="4057650"/>
            <a:ext cx="2622550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4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、判断任务调度器是否运行</a:t>
            </a:r>
          </a:p>
        </p:txBody>
      </p:sp>
      <p:sp>
        <p:nvSpPr>
          <p:cNvPr id="27" name="矩形: 圆角 26"/>
          <p:cNvSpPr/>
          <p:nvPr>
            <p:custDataLst>
              <p:tags r:id="rId4"/>
            </p:custDataLst>
          </p:nvPr>
        </p:nvSpPr>
        <p:spPr>
          <a:xfrm>
            <a:off x="1654175" y="3529013"/>
            <a:ext cx="26320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3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、插入挂起任务列表</a:t>
            </a:r>
          </a:p>
        </p:txBody>
      </p:sp>
      <p:sp>
        <p:nvSpPr>
          <p:cNvPr id="12301" name="文本框 29"/>
          <p:cNvSpPr txBox="1"/>
          <p:nvPr>
            <p:custDataLst>
              <p:tags r:id="rId5"/>
            </p:custDataLst>
          </p:nvPr>
        </p:nvSpPr>
        <p:spPr>
          <a:xfrm>
            <a:off x="4286250" y="2478088"/>
            <a:ext cx="5741988" cy="27559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通过传入的任务句柄，判断所需要挂起哪个任务，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NULL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代表挂起自身</a:t>
            </a:r>
          </a:p>
        </p:txBody>
      </p:sp>
      <p:sp>
        <p:nvSpPr>
          <p:cNvPr id="12302" name="文本框 33"/>
          <p:cNvSpPr txBox="1"/>
          <p:nvPr>
            <p:custDataLst>
              <p:tags r:id="rId6"/>
            </p:custDataLst>
          </p:nvPr>
        </p:nvSpPr>
        <p:spPr>
          <a:xfrm>
            <a:off x="4260850" y="3000375"/>
            <a:ext cx="6069013" cy="27559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将要挂起的任务从相应的状态列表和事件列表中移除（就绪或阻塞列表）</a:t>
            </a:r>
          </a:p>
        </p:txBody>
      </p:sp>
      <p:sp>
        <p:nvSpPr>
          <p:cNvPr id="12303" name="文本框 35"/>
          <p:cNvSpPr txBox="1"/>
          <p:nvPr>
            <p:custDataLst>
              <p:tags r:id="rId7"/>
            </p:custDataLst>
          </p:nvPr>
        </p:nvSpPr>
        <p:spPr>
          <a:xfrm>
            <a:off x="4260850" y="3524250"/>
            <a:ext cx="5248275" cy="27559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将待挂起任务的任务状态列表向插入到挂起态任务列表末尾 </a:t>
            </a:r>
          </a:p>
        </p:txBody>
      </p:sp>
      <p:sp>
        <p:nvSpPr>
          <p:cNvPr id="12304" name="文本框 36"/>
          <p:cNvSpPr txBox="1"/>
          <p:nvPr>
            <p:custDataLst>
              <p:tags r:id="rId8"/>
            </p:custDataLst>
          </p:nvPr>
        </p:nvSpPr>
        <p:spPr>
          <a:xfrm>
            <a:off x="4260850" y="4046538"/>
            <a:ext cx="5900738" cy="33083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在运行，更新下一次阻塞时间，防止被挂起任务为下一次阻塞超时任务</a:t>
            </a:r>
          </a:p>
        </p:txBody>
      </p:sp>
      <p:sp>
        <p:nvSpPr>
          <p:cNvPr id="38" name="矩形: 圆角 37"/>
          <p:cNvSpPr/>
          <p:nvPr>
            <p:custDataLst>
              <p:tags r:id="rId9"/>
            </p:custDataLst>
          </p:nvPr>
        </p:nvSpPr>
        <p:spPr>
          <a:xfrm>
            <a:off x="1674813" y="4608513"/>
            <a:ext cx="2624138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5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、判断待挂起任务是否为当前任务</a:t>
            </a:r>
          </a:p>
        </p:txBody>
      </p:sp>
      <p:sp>
        <p:nvSpPr>
          <p:cNvPr id="12306" name="文本框 38"/>
          <p:cNvSpPr txBox="1"/>
          <p:nvPr>
            <p:custDataLst>
              <p:tags r:id="rId10"/>
            </p:custDataLst>
          </p:nvPr>
        </p:nvSpPr>
        <p:spPr>
          <a:xfrm>
            <a:off x="4310063" y="4557713"/>
            <a:ext cx="5532437" cy="27559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如果挂起的是任务自身，且调度器正在运行，需要进行一次任务切换</a:t>
            </a:r>
          </a:p>
        </p:txBody>
      </p:sp>
      <p:sp>
        <p:nvSpPr>
          <p:cNvPr id="12307" name="文本框 39"/>
          <p:cNvSpPr txBox="1"/>
          <p:nvPr/>
        </p:nvSpPr>
        <p:spPr>
          <a:xfrm>
            <a:off x="4286250" y="4795838"/>
            <a:ext cx="5908675" cy="55403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调度器没有运行，判断挂起任务数是否等于任务总数，是：当前控制块赋值为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NULL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，否：寻找下一个最高优先级任务</a:t>
            </a:r>
          </a:p>
        </p:txBody>
      </p:sp>
    </p:spTree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20" name="文本框 9"/>
          <p:cNvSpPr txBox="1"/>
          <p:nvPr/>
        </p:nvSpPr>
        <p:spPr>
          <a:xfrm>
            <a:off x="2053590" y="1304290"/>
            <a:ext cx="4619625" cy="46513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任务恢复函数内部实现</a:t>
            </a:r>
          </a:p>
        </p:txBody>
      </p:sp>
      <p:sp>
        <p:nvSpPr>
          <p:cNvPr id="20" name="矩形: 圆角 19"/>
          <p:cNvSpPr/>
          <p:nvPr/>
        </p:nvSpPr>
        <p:spPr>
          <a:xfrm>
            <a:off x="2163128" y="2660015"/>
            <a:ext cx="2717800" cy="3206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2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、判断任务是否在挂起列表中</a:t>
            </a:r>
          </a:p>
        </p:txBody>
      </p:sp>
      <p:sp>
        <p:nvSpPr>
          <p:cNvPr id="24" name="矩形: 圆角 23"/>
          <p:cNvSpPr/>
          <p:nvPr/>
        </p:nvSpPr>
        <p:spPr>
          <a:xfrm>
            <a:off x="2153603" y="2131378"/>
            <a:ext cx="2727325" cy="3206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、恢复任务不能是正在运行任务</a:t>
            </a:r>
          </a:p>
        </p:txBody>
      </p:sp>
      <p:sp>
        <p:nvSpPr>
          <p:cNvPr id="27" name="矩形: 圆角 26"/>
          <p:cNvSpPr/>
          <p:nvPr/>
        </p:nvSpPr>
        <p:spPr>
          <a:xfrm>
            <a:off x="2153603" y="3188653"/>
            <a:ext cx="2717800" cy="3206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3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、判断恢复任务优先级</a:t>
            </a:r>
          </a:p>
        </p:txBody>
      </p:sp>
      <p:sp>
        <p:nvSpPr>
          <p:cNvPr id="13324" name="文本框 33"/>
          <p:cNvSpPr txBox="1"/>
          <p:nvPr/>
        </p:nvSpPr>
        <p:spPr>
          <a:xfrm>
            <a:off x="4876165" y="2675890"/>
            <a:ext cx="4899025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是：就会将该任务在挂起列表中移除， 将该任务添加到就绪列表中</a:t>
            </a:r>
          </a:p>
        </p:txBody>
      </p:sp>
      <p:sp>
        <p:nvSpPr>
          <p:cNvPr id="13325" name="文本框 35"/>
          <p:cNvSpPr txBox="1"/>
          <p:nvPr/>
        </p:nvSpPr>
        <p:spPr>
          <a:xfrm>
            <a:off x="4868228" y="3233103"/>
            <a:ext cx="4906962" cy="27781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判断恢复的任务优先级是否大于当前正在运行的 是的话执行任务切换</a:t>
            </a:r>
          </a:p>
        </p:txBody>
      </p:sp>
    </p:spTree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标题 2"/>
          <p:cNvSpPr>
            <a:spLocks noGrp="1" noChangeArrowheads="1"/>
          </p:cNvSpPr>
          <p:nvPr>
            <p:ph type="subTitle" idx="1"/>
          </p:nvPr>
        </p:nvSpPr>
        <p:spPr>
          <a:xfrm>
            <a:off x="455340" y="711045"/>
            <a:ext cx="11542029" cy="6743065"/>
          </a:xfrm>
        </p:spPr>
        <p:txBody>
          <a:bodyPr/>
          <a:lstStyle/>
          <a:p>
            <a:pPr algn="l"/>
            <a:r>
              <a:rPr lang="zh-CN" altLang="en-US" sz="1400" b="1"/>
              <a:t>最高优先级</a:t>
            </a:r>
            <a:r>
              <a:rPr lang="en-US" altLang="zh-CN" sz="1400" b="1"/>
              <a:t> (Highest Priority - </a:t>
            </a:r>
            <a:r>
              <a:rPr lang="zh-CN" altLang="en-US" sz="1400" b="1"/>
              <a:t>时间关键</a:t>
            </a:r>
            <a:r>
              <a:rPr lang="en-US" altLang="zh-CN" sz="1400" b="1"/>
              <a:t>/</a:t>
            </a:r>
            <a:r>
              <a:rPr lang="zh-CN" altLang="en-US" sz="1400" b="1"/>
              <a:t>实时响应</a:t>
            </a:r>
            <a:r>
              <a:rPr lang="en-US" altLang="zh-CN" sz="1400" b="1"/>
              <a:t>)</a:t>
            </a:r>
            <a:r>
              <a:rPr lang="zh-CN" altLang="en-US" sz="1400" b="1"/>
              <a:t>：</a:t>
            </a:r>
            <a:endParaRPr lang="zh-CN" altLang="en-US" sz="1400"/>
          </a:p>
          <a:p>
            <a:pPr algn="l"/>
            <a:r>
              <a:rPr lang="zh-CN" altLang="en-US" sz="1400"/>
              <a:t>优先级数值：</a:t>
            </a:r>
            <a:r>
              <a:rPr lang="en-US" altLang="zh-CN" sz="1400"/>
              <a:t> </a:t>
            </a:r>
            <a:r>
              <a:rPr lang="zh-CN" altLang="en-US" sz="1400"/>
              <a:t>通常是配置允许的最高值</a:t>
            </a:r>
            <a:r>
              <a:rPr lang="en-US" altLang="zh-CN" sz="1400"/>
              <a:t> (</a:t>
            </a:r>
            <a:r>
              <a:rPr lang="zh-CN" altLang="en-US" sz="1400"/>
              <a:t>例如</a:t>
            </a:r>
            <a:r>
              <a:rPr lang="en-US" altLang="zh-CN" sz="1400"/>
              <a:t> configMAX_PRIORITIES - 1)</a:t>
            </a:r>
            <a:r>
              <a:rPr lang="zh-CN" altLang="en-US" sz="1400"/>
              <a:t>。</a:t>
            </a:r>
          </a:p>
          <a:p>
            <a:pPr algn="l"/>
            <a:r>
              <a:rPr lang="zh-CN" altLang="en-US" sz="1400"/>
              <a:t>功能角色：</a:t>
            </a:r>
          </a:p>
          <a:p>
            <a:pPr lvl="1" algn="l"/>
            <a:r>
              <a:rPr lang="zh-CN" altLang="en-US" sz="1400"/>
              <a:t>硬实时任务：</a:t>
            </a:r>
            <a:r>
              <a:rPr lang="en-US" altLang="zh-CN" sz="1400"/>
              <a:t> </a:t>
            </a:r>
            <a:r>
              <a:rPr lang="zh-CN" altLang="en-US" sz="1400"/>
              <a:t>对截止时间有严格要求，错过会导致系统失败的任务（如电机控制、安全关键状态监测）。</a:t>
            </a:r>
          </a:p>
          <a:p>
            <a:pPr lvl="1" algn="l"/>
            <a:r>
              <a:rPr lang="zh-CN" altLang="en-US" sz="1400"/>
              <a:t>中断延迟任务</a:t>
            </a:r>
            <a:r>
              <a:rPr lang="en-US" altLang="zh-CN" sz="1400"/>
              <a:t> (Deferred Interrupt Processing)</a:t>
            </a:r>
            <a:r>
              <a:rPr lang="zh-CN" altLang="en-US" sz="1400"/>
              <a:t>：</a:t>
            </a:r>
            <a:r>
              <a:rPr lang="en-US" altLang="zh-CN" sz="1400"/>
              <a:t> </a:t>
            </a:r>
            <a:r>
              <a:rPr lang="zh-CN" altLang="en-US" sz="1400"/>
              <a:t>由中断服务程序</a:t>
            </a:r>
            <a:r>
              <a:rPr lang="en-US" altLang="zh-CN" sz="1400"/>
              <a:t> (ISR) </a:t>
            </a:r>
            <a:r>
              <a:rPr lang="zh-CN" altLang="en-US" sz="1400"/>
              <a:t>唤醒，用于处理耗时较长或需要调用非</a:t>
            </a:r>
            <a:r>
              <a:rPr lang="en-US" altLang="zh-CN" sz="1400"/>
              <a:t> ISR </a:t>
            </a:r>
            <a:r>
              <a:rPr lang="zh-CN" altLang="en-US" sz="1400"/>
              <a:t>安全</a:t>
            </a:r>
            <a:r>
              <a:rPr lang="en-US" altLang="zh-CN" sz="1400"/>
              <a:t> API </a:t>
            </a:r>
            <a:r>
              <a:rPr lang="zh-CN" altLang="en-US" sz="1400"/>
              <a:t>的中断后续工作。它们必须能抢占几乎所有其他任务，以确保快速响应中断事件。</a:t>
            </a:r>
          </a:p>
          <a:p>
            <a:pPr lvl="1" algn="l"/>
            <a:r>
              <a:rPr lang="zh-CN" altLang="en-US" sz="1400"/>
              <a:t>系统关键任务：</a:t>
            </a:r>
            <a:r>
              <a:rPr lang="en-US" altLang="zh-CN" sz="1400"/>
              <a:t> </a:t>
            </a:r>
            <a:r>
              <a:rPr lang="zh-CN" altLang="en-US" sz="1400"/>
              <a:t>如某些通信协议栈的实时处理层、高优先级事件分发任务。</a:t>
            </a:r>
          </a:p>
          <a:p>
            <a:pPr algn="l"/>
            <a:r>
              <a:rPr lang="zh-CN" altLang="en-US" sz="1400"/>
              <a:t>特点：</a:t>
            </a:r>
            <a:r>
              <a:rPr lang="en-US" altLang="zh-CN" sz="1400"/>
              <a:t> </a:t>
            </a:r>
            <a:r>
              <a:rPr lang="zh-CN" altLang="en-US" sz="1400"/>
              <a:t>数量通常很少。一旦就绪，会立即抢占所有低优先级任务运行。执行时间应尽可能短。</a:t>
            </a:r>
          </a:p>
          <a:p>
            <a:pPr algn="l"/>
            <a:endParaRPr lang="en-US" altLang="zh-CN" sz="1400"/>
          </a:p>
          <a:p>
            <a:pPr algn="l"/>
            <a:r>
              <a:rPr lang="zh-CN" altLang="en-US" sz="1400" b="1"/>
              <a:t>高</a:t>
            </a:r>
            <a:r>
              <a:rPr lang="en-US" altLang="zh-CN" sz="1400" b="1"/>
              <a:t>/</a:t>
            </a:r>
            <a:r>
              <a:rPr lang="zh-CN" altLang="en-US" sz="1400" b="1"/>
              <a:t>中高优先级</a:t>
            </a:r>
            <a:r>
              <a:rPr lang="en-US" altLang="zh-CN" sz="1400" b="1"/>
              <a:t> (High/Medium-High Priority - </a:t>
            </a:r>
            <a:r>
              <a:rPr lang="zh-CN" altLang="en-US" sz="1400" b="1"/>
              <a:t>重要功能</a:t>
            </a:r>
            <a:r>
              <a:rPr lang="en-US" altLang="zh-CN" sz="1400" b="1"/>
              <a:t>/</a:t>
            </a:r>
            <a:r>
              <a:rPr lang="zh-CN" altLang="en-US" sz="1400" b="1"/>
              <a:t>及时响应</a:t>
            </a:r>
            <a:r>
              <a:rPr lang="en-US" altLang="zh-CN" sz="1400" b="1"/>
              <a:t>)</a:t>
            </a:r>
            <a:r>
              <a:rPr lang="zh-CN" altLang="en-US" sz="1400" b="1"/>
              <a:t>：</a:t>
            </a:r>
          </a:p>
          <a:p>
            <a:pPr algn="l"/>
            <a:r>
              <a:rPr lang="zh-CN" altLang="en-US" sz="1400"/>
              <a:t>优先级数值：</a:t>
            </a:r>
            <a:r>
              <a:rPr lang="en-US" altLang="zh-CN" sz="1400"/>
              <a:t> </a:t>
            </a:r>
            <a:r>
              <a:rPr lang="zh-CN" altLang="en-US" sz="1400"/>
              <a:t>介于最高优先级和普通优先级之间，数值相对较高。</a:t>
            </a:r>
          </a:p>
          <a:p>
            <a:pPr algn="l"/>
            <a:r>
              <a:rPr lang="zh-CN" altLang="en-US" sz="1400"/>
              <a:t>功能角色：</a:t>
            </a:r>
          </a:p>
          <a:p>
            <a:pPr lvl="1" algn="l"/>
            <a:r>
              <a:rPr lang="zh-CN" altLang="en-US" sz="1400"/>
              <a:t>软实时任务：</a:t>
            </a:r>
            <a:r>
              <a:rPr lang="en-US" altLang="zh-CN" sz="1400"/>
              <a:t> </a:t>
            </a:r>
            <a:r>
              <a:rPr lang="zh-CN" altLang="en-US" sz="1400"/>
              <a:t>有响应时间要求，但偶尔错过截止时间不会导致灾难性后果的任务（如用户界面刷新、非关键传感器数据处理、中等速度的通信协议处理）。</a:t>
            </a:r>
          </a:p>
          <a:p>
            <a:pPr lvl="1" algn="l"/>
            <a:r>
              <a:rPr lang="zh-CN" altLang="en-US" sz="1400"/>
              <a:t>重要的业务流程任务：</a:t>
            </a:r>
            <a:r>
              <a:rPr lang="en-US" altLang="zh-CN" sz="1400"/>
              <a:t> </a:t>
            </a:r>
            <a:r>
              <a:rPr lang="zh-CN" altLang="en-US" sz="1400"/>
              <a:t>执行系统核心功能链中较关键环节的任务。</a:t>
            </a:r>
          </a:p>
          <a:p>
            <a:pPr lvl="1" algn="l"/>
            <a:r>
              <a:rPr lang="zh-CN" altLang="en-US" sz="1400"/>
              <a:t>事件驱动任务：</a:t>
            </a:r>
            <a:r>
              <a:rPr lang="en-US" altLang="zh-CN" sz="1400"/>
              <a:t> </a:t>
            </a:r>
            <a:r>
              <a:rPr lang="zh-CN" altLang="en-US" sz="1400"/>
              <a:t>等待高优先级事件（如按键、重要消息）并需要较快响应的任务。</a:t>
            </a:r>
          </a:p>
          <a:p>
            <a:pPr algn="l"/>
            <a:r>
              <a:rPr lang="zh-CN" altLang="en-US" sz="1400"/>
              <a:t>特点：</a:t>
            </a:r>
            <a:r>
              <a:rPr lang="en-US" altLang="zh-CN" sz="1400"/>
              <a:t> </a:t>
            </a:r>
            <a:r>
              <a:rPr lang="zh-CN" altLang="en-US" sz="1400"/>
              <a:t>数量适中。能及时响应事件，抢占低优先级任务，但会被最高优先级任务抢占。执行时间需合理控制。</a:t>
            </a:r>
          </a:p>
          <a:p>
            <a:pPr algn="l"/>
            <a:endParaRPr lang="en-US" altLang="zh-CN" sz="1400"/>
          </a:p>
          <a:p>
            <a:pPr algn="l"/>
            <a:r>
              <a:rPr lang="zh-CN" altLang="en-US" sz="1400" b="1"/>
              <a:t>普通</a:t>
            </a:r>
            <a:r>
              <a:rPr lang="en-US" altLang="zh-CN" sz="1400" b="1"/>
              <a:t>/</a:t>
            </a:r>
            <a:r>
              <a:rPr lang="zh-CN" altLang="en-US" sz="1400" b="1"/>
              <a:t>中优先级</a:t>
            </a:r>
            <a:r>
              <a:rPr lang="en-US" altLang="zh-CN" sz="1400" b="1"/>
              <a:t> (Medium/Normal Priority - </a:t>
            </a:r>
            <a:r>
              <a:rPr lang="zh-CN" altLang="en-US" sz="1400" b="1"/>
              <a:t>常规业务逻辑</a:t>
            </a:r>
            <a:r>
              <a:rPr lang="en-US" altLang="zh-CN" sz="1400" b="1"/>
              <a:t>)</a:t>
            </a:r>
            <a:r>
              <a:rPr lang="zh-CN" altLang="en-US" sz="1400" b="1"/>
              <a:t>：</a:t>
            </a:r>
          </a:p>
          <a:p>
            <a:pPr algn="l"/>
            <a:r>
              <a:rPr lang="zh-CN" altLang="en-US" sz="1400"/>
              <a:t>优先级数值：</a:t>
            </a:r>
            <a:r>
              <a:rPr lang="en-US" altLang="zh-CN" sz="1400"/>
              <a:t> </a:t>
            </a:r>
            <a:r>
              <a:rPr lang="zh-CN" altLang="en-US" sz="1400"/>
              <a:t>在配置的优先级范围中间区域。</a:t>
            </a:r>
          </a:p>
          <a:p>
            <a:pPr lvl="1" algn="l"/>
            <a:r>
              <a:rPr lang="zh-CN" altLang="en-US" sz="1400"/>
              <a:t>功能角色：</a:t>
            </a:r>
          </a:p>
          <a:p>
            <a:pPr lvl="1" algn="l"/>
            <a:r>
              <a:rPr lang="zh-CN" altLang="en-US" sz="1400"/>
              <a:t>主要的应用程序逻辑：</a:t>
            </a:r>
            <a:r>
              <a:rPr lang="en-US" altLang="zh-CN" sz="1400"/>
              <a:t> </a:t>
            </a:r>
            <a:r>
              <a:rPr lang="zh-CN" altLang="en-US" sz="1400"/>
              <a:t>执行系统大部分常规业务处理的任务。</a:t>
            </a:r>
          </a:p>
          <a:p>
            <a:pPr lvl="1" algn="l"/>
            <a:r>
              <a:rPr lang="zh-CN" altLang="en-US" sz="1400"/>
              <a:t>后台计算</a:t>
            </a:r>
            <a:r>
              <a:rPr lang="en-US" altLang="zh-CN" sz="1400"/>
              <a:t>/</a:t>
            </a:r>
            <a:r>
              <a:rPr lang="zh-CN" altLang="en-US" sz="1400"/>
              <a:t>处理：</a:t>
            </a:r>
            <a:r>
              <a:rPr lang="en-US" altLang="zh-CN" sz="1400"/>
              <a:t> </a:t>
            </a:r>
            <a:r>
              <a:rPr lang="zh-CN" altLang="en-US" sz="1400"/>
              <a:t>不需要严格实时性，但需要持续运行的任务。</a:t>
            </a:r>
          </a:p>
          <a:p>
            <a:pPr lvl="1" algn="l"/>
            <a:r>
              <a:rPr lang="zh-CN" altLang="en-US" sz="1400"/>
              <a:t>较低速的通信处理。</a:t>
            </a:r>
          </a:p>
          <a:p>
            <a:pPr algn="l"/>
            <a:r>
              <a:rPr lang="zh-CN" altLang="en-US" sz="1400"/>
              <a:t>特点：</a:t>
            </a:r>
            <a:r>
              <a:rPr lang="en-US" altLang="zh-CN" sz="1400"/>
              <a:t> </a:t>
            </a:r>
            <a:r>
              <a:rPr lang="zh-CN" altLang="en-US" sz="1400"/>
              <a:t>通常是系统中数量最多的任务。按照调度策略（通常是时间片轮转）共享</a:t>
            </a:r>
            <a:r>
              <a:rPr lang="en-US" altLang="zh-CN" sz="1400"/>
              <a:t> CPU </a:t>
            </a:r>
            <a:r>
              <a:rPr lang="zh-CN" altLang="en-US" sz="1400"/>
              <a:t>时间。会被更高优先级的任务抢占。</a:t>
            </a:r>
          </a:p>
          <a:p>
            <a:pPr algn="l"/>
            <a:endParaRPr lang="en-US" altLang="zh-CN" sz="1400"/>
          </a:p>
          <a:p>
            <a:pPr algn="l"/>
            <a:endParaRPr lang="zh-CN" altLang="en-US" sz="1400"/>
          </a:p>
        </p:txBody>
      </p:sp>
    </p:spTree>
  </p:cSld>
  <p:clrMapOvr>
    <a:masterClrMapping/>
  </p:clrMapOvr>
  <p:transition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标题 2"/>
          <p:cNvSpPr>
            <a:spLocks noGrp="1" noChangeArrowheads="1"/>
          </p:cNvSpPr>
          <p:nvPr>
            <p:ph type="subTitle" idx="1"/>
          </p:nvPr>
        </p:nvSpPr>
        <p:spPr>
          <a:xfrm>
            <a:off x="500425" y="846935"/>
            <a:ext cx="11542029" cy="4332605"/>
          </a:xfrm>
        </p:spPr>
        <p:txBody>
          <a:bodyPr/>
          <a:lstStyle/>
          <a:p>
            <a:pPr algn="l"/>
            <a:r>
              <a:rPr lang="zh-CN" altLang="en-US" sz="1400" b="1">
                <a:sym typeface="+mn-ea"/>
              </a:rPr>
              <a:t>低优先级</a:t>
            </a:r>
            <a:r>
              <a:rPr altLang="zh-CN" sz="1400" b="1">
                <a:sym typeface="+mn-ea"/>
              </a:rPr>
              <a:t> (Low Priority - </a:t>
            </a:r>
            <a:r>
              <a:rPr lang="zh-CN" altLang="en-US" sz="1400" b="1">
                <a:sym typeface="+mn-ea"/>
              </a:rPr>
              <a:t>非实时</a:t>
            </a:r>
            <a:r>
              <a:rPr altLang="zh-CN" sz="1400" b="1">
                <a:sym typeface="+mn-ea"/>
              </a:rPr>
              <a:t>/</a:t>
            </a:r>
            <a:r>
              <a:rPr lang="zh-CN" altLang="en-US" sz="1400" b="1">
                <a:sym typeface="+mn-ea"/>
              </a:rPr>
              <a:t>后台任务</a:t>
            </a:r>
            <a:r>
              <a:rPr altLang="zh-CN" sz="1400" b="1">
                <a:sym typeface="+mn-ea"/>
              </a:rPr>
              <a:t>)</a:t>
            </a:r>
            <a:r>
              <a:rPr lang="zh-CN" altLang="en-US" sz="1400" b="1">
                <a:sym typeface="+mn-ea"/>
              </a:rPr>
              <a:t>：</a:t>
            </a:r>
            <a:endParaRPr lang="zh-CN" altLang="en-US" sz="1400" b="1"/>
          </a:p>
          <a:p>
            <a:pPr algn="l"/>
            <a:r>
              <a:rPr lang="zh-CN" altLang="en-US" sz="1400">
                <a:sym typeface="+mn-ea"/>
              </a:rPr>
              <a:t>优先级数值：</a:t>
            </a:r>
            <a:r>
              <a:rPr altLang="zh-CN" sz="1400">
                <a:sym typeface="+mn-ea"/>
              </a:rPr>
              <a:t> </a:t>
            </a:r>
            <a:r>
              <a:rPr lang="zh-CN" altLang="en-US" sz="1400">
                <a:sym typeface="+mn-ea"/>
              </a:rPr>
              <a:t>数值较低（接近</a:t>
            </a:r>
            <a:r>
              <a:rPr altLang="zh-CN" sz="1400">
                <a:sym typeface="+mn-ea"/>
              </a:rPr>
              <a:t> 0</a:t>
            </a:r>
            <a:r>
              <a:rPr lang="zh-CN" altLang="en-US" sz="1400">
                <a:sym typeface="+mn-ea"/>
              </a:rPr>
              <a:t>，但通常高于空闲任务）。</a:t>
            </a:r>
            <a:endParaRPr lang="zh-CN" altLang="en-US" sz="1400"/>
          </a:p>
          <a:p>
            <a:pPr algn="l"/>
            <a:r>
              <a:rPr lang="zh-CN" altLang="en-US" sz="1400">
                <a:sym typeface="+mn-ea"/>
              </a:rPr>
              <a:t>功能角色：</a:t>
            </a:r>
            <a:endParaRPr lang="zh-CN" altLang="en-US" sz="1400"/>
          </a:p>
          <a:p>
            <a:pPr lvl="1" algn="l"/>
            <a:r>
              <a:rPr lang="zh-CN" altLang="en-US" sz="1400">
                <a:sym typeface="+mn-ea"/>
              </a:rPr>
              <a:t>非实时后台任务：</a:t>
            </a:r>
            <a:r>
              <a:rPr altLang="zh-CN" sz="1400">
                <a:sym typeface="+mn-ea"/>
              </a:rPr>
              <a:t> </a:t>
            </a:r>
            <a:r>
              <a:rPr lang="zh-CN" altLang="en-US" sz="1400">
                <a:sym typeface="+mn-ea"/>
              </a:rPr>
              <a:t>如数据记录（非实时）、统计信息计算、非关键的定期自检。</a:t>
            </a:r>
            <a:endParaRPr lang="zh-CN" altLang="en-US" sz="1400"/>
          </a:p>
          <a:p>
            <a:pPr lvl="1" algn="l"/>
            <a:r>
              <a:rPr lang="zh-CN" altLang="en-US" sz="1400">
                <a:sym typeface="+mn-ea"/>
              </a:rPr>
              <a:t>低优先级事件处理：</a:t>
            </a:r>
            <a:r>
              <a:rPr altLang="zh-CN" sz="1400">
                <a:sym typeface="+mn-ea"/>
              </a:rPr>
              <a:t> </a:t>
            </a:r>
            <a:r>
              <a:rPr lang="zh-CN" altLang="en-US" sz="1400">
                <a:sym typeface="+mn-ea"/>
              </a:rPr>
              <a:t>处理不紧急的事件或消息。</a:t>
            </a:r>
            <a:endParaRPr lang="zh-CN" altLang="en-US" sz="1400"/>
          </a:p>
          <a:p>
            <a:pPr algn="l"/>
            <a:r>
              <a:rPr lang="zh-CN" altLang="en-US" sz="1400">
                <a:sym typeface="+mn-ea"/>
              </a:rPr>
              <a:t>特点：</a:t>
            </a:r>
            <a:r>
              <a:rPr altLang="zh-CN" sz="1400">
                <a:sym typeface="+mn-ea"/>
              </a:rPr>
              <a:t> </a:t>
            </a:r>
            <a:r>
              <a:rPr lang="zh-CN" altLang="en-US" sz="1400">
                <a:sym typeface="+mn-ea"/>
              </a:rPr>
              <a:t>只有在没有更高优先级任务就绪时才能运行。执行时间可以较长，对实时性要求很低。</a:t>
            </a:r>
            <a:endParaRPr lang="zh-CN" altLang="en-US" sz="1400"/>
          </a:p>
          <a:p>
            <a:pPr algn="l"/>
            <a:endParaRPr lang="en-US" altLang="zh-CN" sz="1400"/>
          </a:p>
          <a:p>
            <a:pPr algn="l"/>
            <a:r>
              <a:rPr lang="zh-CN" altLang="en-US" sz="1400" b="1">
                <a:sym typeface="+mn-ea"/>
              </a:rPr>
              <a:t>空闲优先级</a:t>
            </a:r>
            <a:r>
              <a:rPr altLang="zh-CN" sz="1400" b="1">
                <a:sym typeface="+mn-ea"/>
              </a:rPr>
              <a:t> (Idle Priority)</a:t>
            </a:r>
            <a:r>
              <a:rPr lang="zh-CN" altLang="en-US" sz="1400" b="1">
                <a:sym typeface="+mn-ea"/>
              </a:rPr>
              <a:t>：</a:t>
            </a:r>
            <a:endParaRPr lang="zh-CN" altLang="en-US" sz="1400" b="1"/>
          </a:p>
          <a:p>
            <a:pPr algn="l"/>
            <a:r>
              <a:rPr lang="zh-CN" altLang="en-US" sz="1400">
                <a:sym typeface="+mn-ea"/>
              </a:rPr>
              <a:t>优先级数值：</a:t>
            </a:r>
            <a:r>
              <a:rPr altLang="zh-CN" sz="1400">
                <a:sym typeface="+mn-ea"/>
              </a:rPr>
              <a:t> </a:t>
            </a:r>
            <a:r>
              <a:rPr lang="zh-CN" altLang="en-US" sz="1400">
                <a:sym typeface="+mn-ea"/>
              </a:rPr>
              <a:t>固定为</a:t>
            </a:r>
            <a:r>
              <a:rPr altLang="zh-CN" sz="1400">
                <a:sym typeface="+mn-ea"/>
              </a:rPr>
              <a:t> 0</a:t>
            </a:r>
            <a:r>
              <a:rPr lang="zh-CN" altLang="en-US" sz="1400">
                <a:sym typeface="+mn-ea"/>
              </a:rPr>
              <a:t>。这是系统中最低的优先级。</a:t>
            </a:r>
            <a:endParaRPr lang="zh-CN" altLang="en-US" sz="1400"/>
          </a:p>
          <a:p>
            <a:pPr algn="l"/>
            <a:r>
              <a:rPr lang="zh-CN" altLang="en-US" sz="1400">
                <a:sym typeface="+mn-ea"/>
              </a:rPr>
              <a:t>功能角色：</a:t>
            </a:r>
            <a:endParaRPr lang="zh-CN" altLang="en-US" sz="1400"/>
          </a:p>
          <a:p>
            <a:pPr indent="457200" algn="l"/>
            <a:r>
              <a:rPr lang="zh-CN" altLang="en-US" sz="1400">
                <a:sym typeface="+mn-ea"/>
              </a:rPr>
              <a:t>空闲任务</a:t>
            </a:r>
            <a:r>
              <a:rPr altLang="zh-CN" sz="1400">
                <a:sym typeface="+mn-ea"/>
              </a:rPr>
              <a:t> (Idle Task)</a:t>
            </a:r>
            <a:r>
              <a:rPr lang="zh-CN" altLang="en-US" sz="1400">
                <a:sym typeface="+mn-ea"/>
              </a:rPr>
              <a:t>：</a:t>
            </a:r>
            <a:r>
              <a:rPr altLang="zh-CN" sz="1400">
                <a:sym typeface="+mn-ea"/>
              </a:rPr>
              <a:t> FreeRTOS </a:t>
            </a:r>
            <a:r>
              <a:rPr lang="zh-CN" altLang="en-US" sz="1400">
                <a:sym typeface="+mn-ea"/>
              </a:rPr>
              <a:t>内核自动创建的一个特殊任务。当且仅当没有其他任务处于就绪状态</a:t>
            </a:r>
            <a:r>
              <a:rPr altLang="zh-CN" sz="1400">
                <a:sym typeface="+mn-ea"/>
              </a:rPr>
              <a:t> (Ready) </a:t>
            </a:r>
            <a:r>
              <a:rPr lang="zh-CN" altLang="en-US" sz="1400">
                <a:sym typeface="+mn-ea"/>
              </a:rPr>
              <a:t>时，它才会运行。</a:t>
            </a:r>
            <a:endParaRPr lang="zh-CN" altLang="en-US" sz="1400"/>
          </a:p>
          <a:p>
            <a:pPr algn="l"/>
            <a:r>
              <a:rPr lang="zh-CN" altLang="en-US" sz="1400">
                <a:sym typeface="+mn-ea"/>
              </a:rPr>
              <a:t>关键作用：</a:t>
            </a:r>
            <a:endParaRPr lang="zh-CN" altLang="en-US" sz="1400"/>
          </a:p>
          <a:p>
            <a:pPr lvl="1" algn="l"/>
            <a:r>
              <a:rPr lang="zh-CN" altLang="en-US" sz="1400">
                <a:sym typeface="+mn-ea"/>
              </a:rPr>
              <a:t>执行后台清理：</a:t>
            </a:r>
            <a:r>
              <a:rPr altLang="zh-CN" sz="1400">
                <a:sym typeface="+mn-ea"/>
              </a:rPr>
              <a:t> </a:t>
            </a:r>
            <a:r>
              <a:rPr lang="zh-CN" altLang="en-US" sz="1400">
                <a:sym typeface="+mn-ea"/>
              </a:rPr>
              <a:t>例如，回收被删除任务的内存（如果启用了</a:t>
            </a:r>
            <a:r>
              <a:rPr altLang="zh-CN" sz="1400">
                <a:sym typeface="+mn-ea"/>
              </a:rPr>
              <a:t> configUSE_IDLE_HOOK </a:t>
            </a:r>
            <a:r>
              <a:rPr lang="zh-CN" altLang="en-US" sz="1400">
                <a:sym typeface="+mn-ea"/>
              </a:rPr>
              <a:t>或</a:t>
            </a:r>
            <a:r>
              <a:rPr altLang="zh-CN" sz="1400">
                <a:sym typeface="+mn-ea"/>
              </a:rPr>
              <a:t> configUSE_TICKLESS_IDLE</a:t>
            </a:r>
            <a:r>
              <a:rPr lang="zh-CN" altLang="en-US" sz="1400">
                <a:sym typeface="+mn-ea"/>
              </a:rPr>
              <a:t>）。</a:t>
            </a:r>
            <a:endParaRPr lang="zh-CN" altLang="en-US" sz="1400"/>
          </a:p>
          <a:p>
            <a:pPr lvl="1" algn="l"/>
            <a:r>
              <a:rPr lang="zh-CN" altLang="en-US" sz="1400">
                <a:sym typeface="+mn-ea"/>
              </a:rPr>
              <a:t>实现低功耗</a:t>
            </a:r>
            <a:r>
              <a:rPr altLang="zh-CN" sz="1400">
                <a:sym typeface="+mn-ea"/>
              </a:rPr>
              <a:t> (Tickless Idle)</a:t>
            </a:r>
            <a:r>
              <a:rPr lang="zh-CN" altLang="en-US" sz="1400">
                <a:sym typeface="+mn-ea"/>
              </a:rPr>
              <a:t>：</a:t>
            </a:r>
            <a:r>
              <a:rPr altLang="zh-CN" sz="1400">
                <a:sym typeface="+mn-ea"/>
              </a:rPr>
              <a:t> </a:t>
            </a:r>
            <a:r>
              <a:rPr lang="zh-CN" altLang="en-US" sz="1400">
                <a:sym typeface="+mn-ea"/>
              </a:rPr>
              <a:t>在空闲任务中，系统可以进入低功耗睡眠模式（如果配置了</a:t>
            </a:r>
            <a:r>
              <a:rPr altLang="zh-CN" sz="1400">
                <a:sym typeface="+mn-ea"/>
              </a:rPr>
              <a:t> Tickless Idle</a:t>
            </a:r>
            <a:r>
              <a:rPr lang="zh-CN" altLang="en-US" sz="1400">
                <a:sym typeface="+mn-ea"/>
              </a:rPr>
              <a:t>）。</a:t>
            </a:r>
            <a:endParaRPr lang="zh-CN" altLang="en-US" sz="1400"/>
          </a:p>
          <a:p>
            <a:pPr lvl="1" algn="l"/>
            <a:r>
              <a:rPr lang="zh-CN" altLang="en-US" sz="1400">
                <a:sym typeface="+mn-ea"/>
              </a:rPr>
              <a:t>运行用户钩子函数</a:t>
            </a:r>
            <a:r>
              <a:rPr altLang="zh-CN" sz="1400">
                <a:sym typeface="+mn-ea"/>
              </a:rPr>
              <a:t> (Idle Hook)</a:t>
            </a:r>
            <a:r>
              <a:rPr lang="zh-CN" altLang="en-US" sz="1400">
                <a:sym typeface="+mn-ea"/>
              </a:rPr>
              <a:t>：</a:t>
            </a:r>
            <a:r>
              <a:rPr altLang="zh-CN" sz="1400">
                <a:sym typeface="+mn-ea"/>
              </a:rPr>
              <a:t> </a:t>
            </a:r>
            <a:r>
              <a:rPr lang="zh-CN" altLang="en-US" sz="1400">
                <a:sym typeface="+mn-ea"/>
              </a:rPr>
              <a:t>开发者可以注册一个函数</a:t>
            </a:r>
            <a:r>
              <a:rPr altLang="zh-CN" sz="1400">
                <a:sym typeface="+mn-ea"/>
              </a:rPr>
              <a:t> (vApplicationIdleHook)</a:t>
            </a:r>
            <a:r>
              <a:rPr lang="zh-CN" altLang="en-US" sz="1400">
                <a:sym typeface="+mn-ea"/>
              </a:rPr>
              <a:t>，在空闲任务中执行自定义的低优先级后台操作（必须非常短，且不能阻塞！）。</a:t>
            </a:r>
            <a:endParaRPr lang="zh-CN" altLang="en-US" sz="1400"/>
          </a:p>
          <a:p>
            <a:pPr algn="l"/>
            <a:r>
              <a:rPr lang="zh-CN" altLang="en-US" sz="1400">
                <a:sym typeface="+mn-ea"/>
              </a:rPr>
              <a:t>特点：</a:t>
            </a:r>
            <a:r>
              <a:rPr altLang="zh-CN" sz="1400">
                <a:sym typeface="+mn-ea"/>
              </a:rPr>
              <a:t> </a:t>
            </a:r>
            <a:r>
              <a:rPr lang="zh-CN" altLang="en-US" sz="1400">
                <a:sym typeface="+mn-ea"/>
              </a:rPr>
              <a:t>优先级最低，不可改变。开发者不应手动创建优先级为</a:t>
            </a:r>
            <a:r>
              <a:rPr altLang="zh-CN" sz="1400">
                <a:sym typeface="+mn-ea"/>
              </a:rPr>
              <a:t> 0 </a:t>
            </a:r>
            <a:r>
              <a:rPr lang="zh-CN" altLang="en-US" sz="1400">
                <a:sym typeface="+mn-ea"/>
              </a:rPr>
              <a:t>的任务，以免干扰空闲任务的运行。</a:t>
            </a:r>
            <a:endParaRPr lang="zh-CN" altLang="en-US" sz="1400"/>
          </a:p>
        </p:txBody>
      </p:sp>
    </p:spTree>
  </p:cSld>
  <p:clrMapOvr>
    <a:masterClrMapping/>
  </p:clrMapOvr>
  <p:transition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4" name="文本框 9"/>
          <p:cNvSpPr txBox="1"/>
          <p:nvPr/>
        </p:nvSpPr>
        <p:spPr>
          <a:xfrm>
            <a:off x="147638" y="622300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任务调度简介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4105" name="文本框 1"/>
          <p:cNvSpPr txBox="1"/>
          <p:nvPr/>
        </p:nvSpPr>
        <p:spPr>
          <a:xfrm>
            <a:off x="523875" y="1641475"/>
            <a:ext cx="3405188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一共支持三种任务调度方式： </a:t>
            </a:r>
          </a:p>
        </p:txBody>
      </p:sp>
      <p:sp>
        <p:nvSpPr>
          <p:cNvPr id="4" name="矩形: 圆角 2"/>
          <p:cNvSpPr/>
          <p:nvPr>
            <p:custDataLst>
              <p:tags r:id="rId1"/>
            </p:custDataLst>
          </p:nvPr>
        </p:nvSpPr>
        <p:spPr>
          <a:xfrm>
            <a:off x="523875" y="2214563"/>
            <a:ext cx="1257300" cy="40005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抢占式调度</a:t>
            </a:r>
          </a:p>
        </p:txBody>
      </p:sp>
      <p:sp>
        <p:nvSpPr>
          <p:cNvPr id="13" name="矩形: 圆角 12"/>
          <p:cNvSpPr/>
          <p:nvPr>
            <p:custDataLst>
              <p:tags r:id="rId2"/>
            </p:custDataLst>
          </p:nvPr>
        </p:nvSpPr>
        <p:spPr>
          <a:xfrm>
            <a:off x="523875" y="3800475"/>
            <a:ext cx="1257300" cy="40005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协程式调度</a:t>
            </a:r>
          </a:p>
        </p:txBody>
      </p:sp>
      <p:sp>
        <p:nvSpPr>
          <p:cNvPr id="14" name="矩形: 圆角 13"/>
          <p:cNvSpPr/>
          <p:nvPr>
            <p:custDataLst>
              <p:tags r:id="rId3"/>
            </p:custDataLst>
          </p:nvPr>
        </p:nvSpPr>
        <p:spPr>
          <a:xfrm>
            <a:off x="523875" y="2997200"/>
            <a:ext cx="1257300" cy="40005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时间片调度</a:t>
            </a:r>
          </a:p>
        </p:txBody>
      </p:sp>
      <p:sp>
        <p:nvSpPr>
          <p:cNvPr id="4110" name="文本框 15"/>
          <p:cNvSpPr txBox="1"/>
          <p:nvPr>
            <p:custDataLst>
              <p:tags r:id="rId4"/>
            </p:custDataLst>
          </p:nvPr>
        </p:nvSpPr>
        <p:spPr>
          <a:xfrm>
            <a:off x="1812925" y="2074863"/>
            <a:ext cx="6807200" cy="7048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主要是针对优先级不同的任务，每个任务都有一个优先级，优先级高的任务可以抢占优先级低的任务。</a:t>
            </a:r>
          </a:p>
        </p:txBody>
      </p:sp>
      <p:sp>
        <p:nvSpPr>
          <p:cNvPr id="4111" name="文本框 17"/>
          <p:cNvSpPr txBox="1"/>
          <p:nvPr>
            <p:custDataLst>
              <p:tags r:id="rId5"/>
            </p:custDataLst>
          </p:nvPr>
        </p:nvSpPr>
        <p:spPr>
          <a:xfrm>
            <a:off x="1781175" y="2886075"/>
            <a:ext cx="7134225" cy="7048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主要针对优先级相同的任务，当多个任务的优先级相同时， 任务调度器会在每一次系统时钟节拍到的时候切换任务。</a:t>
            </a:r>
          </a:p>
        </p:txBody>
      </p:sp>
      <p:sp>
        <p:nvSpPr>
          <p:cNvPr id="4112" name="文本框 19"/>
          <p:cNvSpPr txBox="1"/>
          <p:nvPr/>
        </p:nvSpPr>
        <p:spPr>
          <a:xfrm>
            <a:off x="523875" y="1203325"/>
            <a:ext cx="5895975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调度器就是使用相关的调度算法来决定当前需要执行的哪个任务</a:t>
            </a:r>
          </a:p>
        </p:txBody>
      </p:sp>
      <p:sp>
        <p:nvSpPr>
          <p:cNvPr id="5" name="文本框 17"/>
          <p:cNvSpPr txBox="1"/>
          <p:nvPr>
            <p:custDataLst>
              <p:tags r:id="rId6"/>
            </p:custDataLst>
          </p:nvPr>
        </p:nvSpPr>
        <p:spPr>
          <a:xfrm>
            <a:off x="1781175" y="3648075"/>
            <a:ext cx="6286500" cy="7048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当前执行任务将会一直运行，同时高优先级的任务不会抢占低优先级任务</a:t>
            </a:r>
            <a:endParaRPr lang="en-US" altLang="zh-CN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现在虽然还支持，但是官方已经表示不再更新协程式调度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05" grpId="0"/>
      <p:bldP spid="4" grpId="0" bldLvl="0" animBg="1"/>
      <p:bldP spid="13" grpId="0" bldLvl="0" animBg="1"/>
      <p:bldP spid="14" grpId="0" bldLvl="0" animBg="1"/>
      <p:bldP spid="4110" grpId="0"/>
      <p:bldP spid="4111" grpId="0"/>
      <p:bldP spid="4112" grpId="0"/>
      <p:bldP spid="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8" name="文本框 9"/>
          <p:cNvSpPr txBox="1"/>
          <p:nvPr/>
        </p:nvSpPr>
        <p:spPr>
          <a:xfrm>
            <a:off x="230188" y="898525"/>
            <a:ext cx="2874962" cy="4635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抢占式调度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cxnSp>
        <p:nvCxnSpPr>
          <p:cNvPr id="8" name="直接箭头连接符 7"/>
          <p:cNvCxnSpPr/>
          <p:nvPr/>
        </p:nvCxnSpPr>
        <p:spPr>
          <a:xfrm>
            <a:off x="952500" y="2906713"/>
            <a:ext cx="3095625" cy="95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/>
          <p:cNvCxnSpPr/>
          <p:nvPr/>
        </p:nvCxnSpPr>
        <p:spPr>
          <a:xfrm flipH="1" flipV="1">
            <a:off x="952500" y="1601788"/>
            <a:ext cx="12700" cy="12985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31" name="文本框 12"/>
          <p:cNvSpPr txBox="1"/>
          <p:nvPr/>
        </p:nvSpPr>
        <p:spPr>
          <a:xfrm>
            <a:off x="230188" y="1528763"/>
            <a:ext cx="646112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优先级</a:t>
            </a:r>
          </a:p>
        </p:txBody>
      </p:sp>
      <p:sp>
        <p:nvSpPr>
          <p:cNvPr id="5132" name="文本框 15"/>
          <p:cNvSpPr txBox="1"/>
          <p:nvPr/>
        </p:nvSpPr>
        <p:spPr>
          <a:xfrm>
            <a:off x="3641725" y="2933700"/>
            <a:ext cx="492125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时间</a:t>
            </a:r>
          </a:p>
        </p:txBody>
      </p:sp>
      <p:sp>
        <p:nvSpPr>
          <p:cNvPr id="14" name="矩形: 圆角 13"/>
          <p:cNvSpPr/>
          <p:nvPr/>
        </p:nvSpPr>
        <p:spPr>
          <a:xfrm>
            <a:off x="1073150" y="2620963"/>
            <a:ext cx="558800" cy="2286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Task1</a:t>
            </a:r>
            <a:endParaRPr kumimoji="0" lang="zh-CN" altLang="en-US" sz="10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8" name="矩形: 圆角 17"/>
          <p:cNvSpPr/>
          <p:nvPr/>
        </p:nvSpPr>
        <p:spPr>
          <a:xfrm>
            <a:off x="1631950" y="2384425"/>
            <a:ext cx="558800" cy="2286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Task2</a:t>
            </a:r>
            <a:endParaRPr kumimoji="0" lang="zh-CN" altLang="en-US" sz="10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9" name="矩形: 圆角 18"/>
          <p:cNvSpPr/>
          <p:nvPr/>
        </p:nvSpPr>
        <p:spPr>
          <a:xfrm>
            <a:off x="2181225" y="2155825"/>
            <a:ext cx="558800" cy="2286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Task3</a:t>
            </a:r>
            <a:endParaRPr kumimoji="0" lang="zh-CN" altLang="en-US" sz="10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0" name="矩形: 圆角 19"/>
          <p:cNvSpPr/>
          <p:nvPr/>
        </p:nvSpPr>
        <p:spPr>
          <a:xfrm>
            <a:off x="2730500" y="2371725"/>
            <a:ext cx="558800" cy="2286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Task2</a:t>
            </a:r>
            <a:endParaRPr kumimoji="0" lang="zh-CN" altLang="en-US" sz="10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2" name="矩形: 圆角 21"/>
          <p:cNvSpPr/>
          <p:nvPr/>
        </p:nvSpPr>
        <p:spPr>
          <a:xfrm>
            <a:off x="3289300" y="2162175"/>
            <a:ext cx="558800" cy="2286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Task3</a:t>
            </a:r>
            <a:endParaRPr kumimoji="0" lang="zh-CN" altLang="en-US" sz="10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696913" y="2597150"/>
            <a:ext cx="255588" cy="2619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en-US" altLang="zh-CN" sz="1050" kern="1200" cap="none" spc="0" normalizeH="0" baseline="0" noProof="0" dirty="0">
                <a:solidFill>
                  <a:srgbClr val="002060"/>
                </a:solidFill>
                <a:latin typeface="Calibri" panose="020F0502020204030204" pitchFamily="34" charset="0"/>
                <a:ea typeface="+mn-ea"/>
                <a:cs typeface="+mn-cs"/>
              </a:rPr>
              <a:t>1</a:t>
            </a:r>
            <a:endParaRPr kumimoji="0" lang="zh-CN" altLang="en-US" sz="1050" kern="1200" cap="none" spc="0" normalizeH="0" baseline="0" noProof="0" dirty="0">
              <a:solidFill>
                <a:srgbClr val="002060"/>
              </a:solidFill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696913" y="2330450"/>
            <a:ext cx="252413" cy="2524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en-US" altLang="zh-CN" sz="1050" kern="1200" cap="none" spc="0" normalizeH="0" baseline="0" noProof="0" dirty="0">
                <a:solidFill>
                  <a:srgbClr val="002060"/>
                </a:solidFill>
                <a:latin typeface="Calibri" panose="020F0502020204030204" pitchFamily="34" charset="0"/>
                <a:ea typeface="+mn-ea"/>
                <a:cs typeface="+mn-cs"/>
              </a:rPr>
              <a:t>2</a:t>
            </a:r>
            <a:endParaRPr kumimoji="0" lang="zh-CN" altLang="en-US" sz="1050" kern="1200" cap="none" spc="0" normalizeH="0" baseline="0" noProof="0" dirty="0">
              <a:solidFill>
                <a:srgbClr val="002060"/>
              </a:solidFill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696913" y="2095500"/>
            <a:ext cx="252413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en-US" altLang="zh-CN" sz="1050" kern="1200" cap="none" spc="0" normalizeH="0" baseline="0" noProof="0" dirty="0">
                <a:solidFill>
                  <a:srgbClr val="002060"/>
                </a:solidFill>
                <a:latin typeface="Calibri" panose="020F0502020204030204" pitchFamily="34" charset="0"/>
                <a:ea typeface="+mn-ea"/>
                <a:cs typeface="+mn-cs"/>
              </a:rPr>
              <a:t>3</a:t>
            </a:r>
            <a:endParaRPr kumimoji="0" lang="zh-CN" altLang="en-US" sz="1050" kern="1200" cap="none" spc="0" normalizeH="0" baseline="0" noProof="0" dirty="0">
              <a:solidFill>
                <a:srgbClr val="002060"/>
              </a:solidFill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4473575" y="2176463"/>
            <a:ext cx="4548188" cy="6175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lnSpc>
                <a:spcPct val="15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2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Task1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Task2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Task3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的优先级分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别为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2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3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；在</a:t>
            </a:r>
            <a:r>
              <a:rPr kumimoji="0" lang="en-US" altLang="zh-CN" sz="1200" kern="1200" cap="none" spc="0" normalizeH="0" baseline="0" noProof="0" dirty="0" err="1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FreeRTOS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中任务设置的数值越大，优先级越高，所以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TASK3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的优先级最高。</a:t>
            </a:r>
          </a:p>
        </p:txBody>
      </p:sp>
      <p:sp>
        <p:nvSpPr>
          <p:cNvPr id="30" name="文本框 29"/>
          <p:cNvSpPr txBox="1"/>
          <p:nvPr/>
        </p:nvSpPr>
        <p:spPr>
          <a:xfrm>
            <a:off x="4495800" y="1528763"/>
            <a:ext cx="1173163" cy="2762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运行条件：</a:t>
            </a:r>
            <a:endParaRPr kumimoji="0" lang="zh-CN" altLang="en-US" sz="1200" kern="1200" cap="none" spc="0" normalizeH="0" baseline="0" noProof="0" dirty="0">
              <a:solidFill>
                <a:srgbClr val="002060"/>
              </a:solidFill>
              <a:latin typeface="+mn-lt"/>
              <a:ea typeface="思源黑体 CN Normal" pitchFamily="34" charset="-122"/>
              <a:cs typeface="+mn-cs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4473575" y="1917700"/>
            <a:ext cx="3633788" cy="277813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、创建三个任务：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Task1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Task2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Task3</a:t>
            </a:r>
            <a:endParaRPr kumimoji="0" lang="zh-CN" altLang="en-US" sz="1200" kern="1200" cap="none" spc="0" normalizeH="0" baseline="0" noProof="0" dirty="0">
              <a:solidFill>
                <a:srgbClr val="002060"/>
              </a:solidFill>
              <a:latin typeface="+mn-lt"/>
              <a:ea typeface="思源黑体 CN Normal" pitchFamily="34" charset="-122"/>
              <a:cs typeface="+mn-cs"/>
            </a:endParaRPr>
          </a:p>
        </p:txBody>
      </p:sp>
      <p:cxnSp>
        <p:nvCxnSpPr>
          <p:cNvPr id="4096" name="直接箭头连接符 4095"/>
          <p:cNvCxnSpPr/>
          <p:nvPr/>
        </p:nvCxnSpPr>
        <p:spPr>
          <a:xfrm>
            <a:off x="1384300" y="2322513"/>
            <a:ext cx="241300" cy="2968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45" name="文本框 4096"/>
          <p:cNvSpPr txBox="1"/>
          <p:nvPr/>
        </p:nvSpPr>
        <p:spPr>
          <a:xfrm>
            <a:off x="1184275" y="2120900"/>
            <a:ext cx="415925" cy="231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9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抢占</a:t>
            </a:r>
          </a:p>
        </p:txBody>
      </p:sp>
      <p:cxnSp>
        <p:nvCxnSpPr>
          <p:cNvPr id="36" name="直接箭头连接符 35"/>
          <p:cNvCxnSpPr/>
          <p:nvPr/>
        </p:nvCxnSpPr>
        <p:spPr>
          <a:xfrm>
            <a:off x="1938338" y="2092325"/>
            <a:ext cx="241300" cy="2968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47" name="文本框 36"/>
          <p:cNvSpPr txBox="1"/>
          <p:nvPr/>
        </p:nvSpPr>
        <p:spPr>
          <a:xfrm>
            <a:off x="1731963" y="1909763"/>
            <a:ext cx="415925" cy="231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9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抢占</a:t>
            </a:r>
          </a:p>
        </p:txBody>
      </p:sp>
      <p:cxnSp>
        <p:nvCxnSpPr>
          <p:cNvPr id="4099" name="直接箭头连接符 4098"/>
          <p:cNvCxnSpPr/>
          <p:nvPr/>
        </p:nvCxnSpPr>
        <p:spPr>
          <a:xfrm flipH="1">
            <a:off x="2740025" y="2092325"/>
            <a:ext cx="257175" cy="279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49" name="文本框 39"/>
          <p:cNvSpPr txBox="1"/>
          <p:nvPr/>
        </p:nvSpPr>
        <p:spPr>
          <a:xfrm>
            <a:off x="2798763" y="1868488"/>
            <a:ext cx="415925" cy="230187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9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阻塞</a:t>
            </a:r>
          </a:p>
        </p:txBody>
      </p:sp>
      <p:sp>
        <p:nvSpPr>
          <p:cNvPr id="5150" name="文本框 4099"/>
          <p:cNvSpPr txBox="1"/>
          <p:nvPr/>
        </p:nvSpPr>
        <p:spPr>
          <a:xfrm>
            <a:off x="269875" y="3336925"/>
            <a:ext cx="1441450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运行过程如下：</a:t>
            </a:r>
          </a:p>
        </p:txBody>
      </p:sp>
      <p:sp>
        <p:nvSpPr>
          <p:cNvPr id="5151" name="文本框 4100"/>
          <p:cNvSpPr txBox="1"/>
          <p:nvPr/>
        </p:nvSpPr>
        <p:spPr>
          <a:xfrm>
            <a:off x="290513" y="3736975"/>
            <a:ext cx="7319962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、首先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在运行中，在这个过程中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就绪了，在抢占式调度器的作用下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会抢占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的运行</a:t>
            </a:r>
          </a:p>
        </p:txBody>
      </p:sp>
      <p:sp>
        <p:nvSpPr>
          <p:cNvPr id="5152" name="文本框 4100"/>
          <p:cNvSpPr txBox="1"/>
          <p:nvPr/>
        </p:nvSpPr>
        <p:spPr>
          <a:xfrm>
            <a:off x="290513" y="4079875"/>
            <a:ext cx="6194425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运行过程中，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就绪了，在抢占式调度器的作用下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会抢占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的运行</a:t>
            </a:r>
          </a:p>
        </p:txBody>
      </p:sp>
      <p:sp>
        <p:nvSpPr>
          <p:cNvPr id="5153" name="文本框 4100"/>
          <p:cNvSpPr txBox="1"/>
          <p:nvPr/>
        </p:nvSpPr>
        <p:spPr>
          <a:xfrm>
            <a:off x="290513" y="4418013"/>
            <a:ext cx="7824787" cy="277812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运行过程中，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阻塞了（系统延时或等待信号量等），此时就绪态中，优先级最高的任务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执行</a:t>
            </a:r>
          </a:p>
        </p:txBody>
      </p:sp>
      <p:sp>
        <p:nvSpPr>
          <p:cNvPr id="5154" name="文本框 4100"/>
          <p:cNvSpPr txBox="1"/>
          <p:nvPr/>
        </p:nvSpPr>
        <p:spPr>
          <a:xfrm>
            <a:off x="290513" y="4719638"/>
            <a:ext cx="7035800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4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阻塞解除了（延时到了或者接收到信号量），此时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恢复到就绪态中，抢占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的运行</a:t>
            </a:r>
          </a:p>
        </p:txBody>
      </p:sp>
      <p:sp>
        <p:nvSpPr>
          <p:cNvPr id="5155" name="文本框 36"/>
          <p:cNvSpPr txBox="1"/>
          <p:nvPr/>
        </p:nvSpPr>
        <p:spPr>
          <a:xfrm>
            <a:off x="2633663" y="900113"/>
            <a:ext cx="655637" cy="3397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总结：</a:t>
            </a:r>
            <a:endParaRPr lang="en-US" altLang="zh-CN" sz="12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56" name="文本框 37"/>
          <p:cNvSpPr txBox="1"/>
          <p:nvPr/>
        </p:nvSpPr>
        <p:spPr>
          <a:xfrm>
            <a:off x="5494338" y="965200"/>
            <a:ext cx="3665537" cy="2778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、高优先级任务不停止，低优先级任务无法执行</a:t>
            </a:r>
            <a:endParaRPr lang="zh-CN" altLang="en-US" sz="1200" dirty="0"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5157" name="文本框 39"/>
          <p:cNvSpPr txBox="1"/>
          <p:nvPr/>
        </p:nvSpPr>
        <p:spPr>
          <a:xfrm>
            <a:off x="3195638" y="960438"/>
            <a:ext cx="2184400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、高优先级任务，优先执行</a:t>
            </a:r>
            <a:endParaRPr lang="zh-CN" altLang="en-US" sz="1200" dirty="0"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5487988" y="1246188"/>
            <a:ext cx="3665537" cy="27940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3</a:t>
            </a:r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、被抢占的任务将会进入就绪态</a:t>
            </a:r>
            <a:endParaRPr lang="zh-CN" altLang="en-US" sz="1200" dirty="0"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0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0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5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5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5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5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5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5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5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31" grpId="0"/>
      <p:bldP spid="5132" grpId="0"/>
      <p:bldP spid="14" grpId="0" bldLvl="0" animBg="1"/>
      <p:bldP spid="18" grpId="0" bldLvl="0" animBg="1"/>
      <p:bldP spid="19" grpId="0" bldLvl="0" animBg="1"/>
      <p:bldP spid="20" grpId="0" bldLvl="0" animBg="1"/>
      <p:bldP spid="22" grpId="0" bldLvl="0" animBg="1"/>
      <p:bldP spid="23" grpId="0"/>
      <p:bldP spid="26" grpId="0"/>
      <p:bldP spid="27" grpId="0"/>
      <p:bldP spid="28" grpId="0"/>
      <p:bldP spid="30" grpId="0"/>
      <p:bldP spid="31" grpId="0"/>
      <p:bldP spid="5145" grpId="0"/>
      <p:bldP spid="5147" grpId="0"/>
      <p:bldP spid="5149" grpId="0"/>
      <p:bldP spid="5150" grpId="0"/>
      <p:bldP spid="5151" grpId="0"/>
      <p:bldP spid="5152" grpId="0"/>
      <p:bldP spid="5153" grpId="0"/>
      <p:bldP spid="5154" grpId="0"/>
      <p:bldP spid="5155" grpId="0"/>
      <p:bldP spid="5156" grpId="0"/>
      <p:bldP spid="5157" grpId="0"/>
      <p:bldP spid="38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2" name="文本框 9"/>
          <p:cNvSpPr txBox="1"/>
          <p:nvPr/>
        </p:nvSpPr>
        <p:spPr>
          <a:xfrm>
            <a:off x="999808" y="1508760"/>
            <a:ext cx="4619625" cy="4635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时间片调度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cxnSp>
        <p:nvCxnSpPr>
          <p:cNvPr id="9" name="直接箭头连接符 8"/>
          <p:cNvCxnSpPr/>
          <p:nvPr/>
        </p:nvCxnSpPr>
        <p:spPr>
          <a:xfrm>
            <a:off x="1709420" y="3529648"/>
            <a:ext cx="32702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/>
          <p:cNvCxnSpPr/>
          <p:nvPr/>
        </p:nvCxnSpPr>
        <p:spPr>
          <a:xfrm flipV="1">
            <a:off x="1722120" y="2327910"/>
            <a:ext cx="0" cy="11953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55" name="文本框 12"/>
          <p:cNvSpPr txBox="1"/>
          <p:nvPr/>
        </p:nvSpPr>
        <p:spPr>
          <a:xfrm>
            <a:off x="999808" y="2305685"/>
            <a:ext cx="722312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优先级</a:t>
            </a:r>
          </a:p>
        </p:txBody>
      </p:sp>
      <p:sp>
        <p:nvSpPr>
          <p:cNvPr id="6156" name="文本框 13"/>
          <p:cNvSpPr txBox="1"/>
          <p:nvPr/>
        </p:nvSpPr>
        <p:spPr>
          <a:xfrm>
            <a:off x="4436745" y="3567748"/>
            <a:ext cx="542925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时间</a:t>
            </a:r>
          </a:p>
        </p:txBody>
      </p:sp>
      <p:sp>
        <p:nvSpPr>
          <p:cNvPr id="15" name="矩形: 圆角 14"/>
          <p:cNvSpPr/>
          <p:nvPr/>
        </p:nvSpPr>
        <p:spPr>
          <a:xfrm>
            <a:off x="1944370" y="3128010"/>
            <a:ext cx="558800" cy="2286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8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Task1</a:t>
            </a:r>
            <a:endParaRPr kumimoji="0" lang="zh-CN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6" name="矩形: 圆角 15"/>
          <p:cNvSpPr/>
          <p:nvPr/>
        </p:nvSpPr>
        <p:spPr>
          <a:xfrm>
            <a:off x="2511108" y="3128010"/>
            <a:ext cx="558800" cy="2286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8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Task2</a:t>
            </a:r>
            <a:endParaRPr kumimoji="0" lang="zh-CN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7" name="矩形: 圆角 16"/>
          <p:cNvSpPr/>
          <p:nvPr/>
        </p:nvSpPr>
        <p:spPr>
          <a:xfrm>
            <a:off x="3077845" y="3128010"/>
            <a:ext cx="558800" cy="2286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8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Task3</a:t>
            </a:r>
            <a:endParaRPr kumimoji="0" lang="zh-CN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8" name="矩形: 圆角 17"/>
          <p:cNvSpPr/>
          <p:nvPr/>
        </p:nvSpPr>
        <p:spPr>
          <a:xfrm>
            <a:off x="3642995" y="3128010"/>
            <a:ext cx="558800" cy="2286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8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Task1</a:t>
            </a:r>
            <a:endParaRPr kumimoji="0" lang="zh-CN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19" name="矩形: 圆角 18"/>
          <p:cNvSpPr/>
          <p:nvPr/>
        </p:nvSpPr>
        <p:spPr>
          <a:xfrm>
            <a:off x="4209733" y="3128010"/>
            <a:ext cx="558800" cy="2286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8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Task2</a:t>
            </a:r>
            <a:endParaRPr kumimoji="0" lang="zh-CN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cxnSp>
        <p:nvCxnSpPr>
          <p:cNvPr id="21" name="直接连接符 20"/>
          <p:cNvCxnSpPr/>
          <p:nvPr/>
        </p:nvCxnSpPr>
        <p:spPr>
          <a:xfrm>
            <a:off x="2511108" y="3458210"/>
            <a:ext cx="0" cy="714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/>
          <p:cNvCxnSpPr/>
          <p:nvPr/>
        </p:nvCxnSpPr>
        <p:spPr>
          <a:xfrm>
            <a:off x="3077845" y="3458210"/>
            <a:ext cx="0" cy="714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/>
          <p:cNvCxnSpPr/>
          <p:nvPr/>
        </p:nvCxnSpPr>
        <p:spPr>
          <a:xfrm>
            <a:off x="3642995" y="3459798"/>
            <a:ext cx="0" cy="714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>
            <a:off x="4214495" y="3459798"/>
            <a:ext cx="0" cy="714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/>
          <p:cNvCxnSpPr/>
          <p:nvPr/>
        </p:nvCxnSpPr>
        <p:spPr>
          <a:xfrm>
            <a:off x="4765358" y="3456623"/>
            <a:ext cx="0" cy="714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>
            <a:off x="1944370" y="3458210"/>
            <a:ext cx="0" cy="714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68" name="文本框 23"/>
          <p:cNvSpPr txBox="1"/>
          <p:nvPr/>
        </p:nvSpPr>
        <p:spPr>
          <a:xfrm>
            <a:off x="1874520" y="3694748"/>
            <a:ext cx="711200" cy="231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9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9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个时间片</a:t>
            </a:r>
          </a:p>
        </p:txBody>
      </p:sp>
      <p:cxnSp>
        <p:nvCxnSpPr>
          <p:cNvPr id="31" name="直接连接符 30"/>
          <p:cNvCxnSpPr/>
          <p:nvPr/>
        </p:nvCxnSpPr>
        <p:spPr>
          <a:xfrm>
            <a:off x="1947545" y="3529648"/>
            <a:ext cx="0" cy="41275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2514283" y="3528060"/>
            <a:ext cx="0" cy="41275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6" name="文本框 35"/>
          <p:cNvSpPr txBox="1"/>
          <p:nvPr/>
        </p:nvSpPr>
        <p:spPr>
          <a:xfrm>
            <a:off x="5265420" y="2889885"/>
            <a:ext cx="4548188" cy="3397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lnSpc>
                <a:spcPct val="150000"/>
              </a:lnSpc>
              <a:buClrTx/>
              <a:buSzTx/>
              <a:buFontTx/>
              <a:buNone/>
              <a:defRPr/>
            </a:pP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2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Task1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Task2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Task3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的优先级均为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；即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3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个任务同等优先级</a:t>
            </a:r>
          </a:p>
        </p:txBody>
      </p:sp>
      <p:sp>
        <p:nvSpPr>
          <p:cNvPr id="37" name="文本框 36"/>
          <p:cNvSpPr txBox="1"/>
          <p:nvPr/>
        </p:nvSpPr>
        <p:spPr>
          <a:xfrm>
            <a:off x="5287645" y="2373948"/>
            <a:ext cx="1173163" cy="27622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运行条件：</a:t>
            </a:r>
            <a:endParaRPr kumimoji="0" lang="zh-CN" altLang="en-US" sz="1200" kern="1200" cap="none" spc="0" normalizeH="0" baseline="0" noProof="0" dirty="0">
              <a:solidFill>
                <a:srgbClr val="002060"/>
              </a:solidFill>
              <a:latin typeface="+mn-lt"/>
              <a:ea typeface="思源黑体 CN Normal" pitchFamily="34" charset="-122"/>
              <a:cs typeface="+mn-cs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5265420" y="2631123"/>
            <a:ext cx="3633788" cy="277813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、创建三个任务：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Task1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Task2</a:t>
            </a:r>
            <a:r>
              <a:rPr kumimoji="0" lang="zh-CN" altLang="en-US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、</a:t>
            </a:r>
            <a:r>
              <a:rPr kumimoji="0" lang="en-US" altLang="zh-CN" sz="1200" kern="1200" cap="none" spc="0" normalizeH="0" baseline="0" noProof="0" dirty="0">
                <a:solidFill>
                  <a:srgbClr val="002060"/>
                </a:solidFill>
                <a:latin typeface="+mn-lt"/>
                <a:ea typeface="思源黑体 CN Normal" pitchFamily="34" charset="-122"/>
                <a:cs typeface="+mn-cs"/>
              </a:rPr>
              <a:t>Task3</a:t>
            </a:r>
            <a:endParaRPr kumimoji="0" lang="zh-CN" altLang="en-US" sz="1200" kern="1200" cap="none" spc="0" normalizeH="0" baseline="0" noProof="0" dirty="0">
              <a:solidFill>
                <a:srgbClr val="002060"/>
              </a:solidFill>
              <a:latin typeface="+mn-lt"/>
              <a:ea typeface="思源黑体 CN Normal" pitchFamily="34" charset="-122"/>
              <a:cs typeface="+mn-cs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1450658" y="3110548"/>
            <a:ext cx="257175" cy="2619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R="0" defTabSz="457200">
              <a:buClrTx/>
              <a:buSzTx/>
              <a:buFontTx/>
              <a:buNone/>
              <a:defRPr/>
            </a:pPr>
            <a:r>
              <a:rPr kumimoji="0" lang="en-US" altLang="zh-CN" sz="1050" kern="1200" cap="none" spc="0" normalizeH="0" baseline="0" noProof="0" dirty="0">
                <a:solidFill>
                  <a:srgbClr val="002060"/>
                </a:solidFill>
                <a:latin typeface="Calibri" panose="020F0502020204030204" pitchFamily="34" charset="0"/>
                <a:ea typeface="+mn-ea"/>
                <a:cs typeface="+mn-cs"/>
              </a:rPr>
              <a:t>1</a:t>
            </a:r>
            <a:endParaRPr kumimoji="0" lang="zh-CN" altLang="en-US" sz="1050" kern="1200" cap="none" spc="0" normalizeH="0" baseline="0" noProof="0" dirty="0">
              <a:solidFill>
                <a:srgbClr val="002060"/>
              </a:solidFill>
              <a:latin typeface="Calibri" panose="020F0502020204030204" pitchFamily="34" charset="0"/>
              <a:ea typeface="+mn-ea"/>
              <a:cs typeface="+mn-cs"/>
            </a:endParaRPr>
          </a:p>
        </p:txBody>
      </p:sp>
      <p:cxnSp>
        <p:nvCxnSpPr>
          <p:cNvPr id="4098" name="直接箭头连接符 4097"/>
          <p:cNvCxnSpPr>
            <a:endCxn id="17" idx="0"/>
          </p:cNvCxnSpPr>
          <p:nvPr/>
        </p:nvCxnSpPr>
        <p:spPr>
          <a:xfrm>
            <a:off x="3357245" y="2859723"/>
            <a:ext cx="0" cy="2682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00" name="矩形: 圆角 4099"/>
          <p:cNvSpPr/>
          <p:nvPr/>
        </p:nvSpPr>
        <p:spPr>
          <a:xfrm>
            <a:off x="3119120" y="2631123"/>
            <a:ext cx="474663" cy="207963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阻塞</a:t>
            </a:r>
          </a:p>
        </p:txBody>
      </p:sp>
      <p:sp>
        <p:nvSpPr>
          <p:cNvPr id="6177" name="文本框 4099"/>
          <p:cNvSpPr txBox="1"/>
          <p:nvPr/>
        </p:nvSpPr>
        <p:spPr>
          <a:xfrm>
            <a:off x="1039495" y="3947160"/>
            <a:ext cx="1441450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运行过程如下：</a:t>
            </a:r>
          </a:p>
        </p:txBody>
      </p:sp>
      <p:sp>
        <p:nvSpPr>
          <p:cNvPr id="6178" name="文本框 4100"/>
          <p:cNvSpPr txBox="1"/>
          <p:nvPr/>
        </p:nvSpPr>
        <p:spPr>
          <a:xfrm>
            <a:off x="1060133" y="4347210"/>
            <a:ext cx="3848100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、首先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运行完一个时间片后，切换至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</a:t>
            </a:r>
          </a:p>
        </p:txBody>
      </p:sp>
      <p:sp>
        <p:nvSpPr>
          <p:cNvPr id="6179" name="文本框 4100"/>
          <p:cNvSpPr txBox="1"/>
          <p:nvPr/>
        </p:nvSpPr>
        <p:spPr>
          <a:xfrm>
            <a:off x="1060133" y="4690110"/>
            <a:ext cx="4559300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运行完一个时间片后，切换至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</a:t>
            </a:r>
          </a:p>
        </p:txBody>
      </p:sp>
      <p:sp>
        <p:nvSpPr>
          <p:cNvPr id="6180" name="文本框 4100"/>
          <p:cNvSpPr txBox="1"/>
          <p:nvPr/>
        </p:nvSpPr>
        <p:spPr>
          <a:xfrm>
            <a:off x="1060133" y="5028248"/>
            <a:ext cx="8561387" cy="277812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运行过程中（还不到一个时间片），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阻塞了（系统延时或等待信号量等），此时直接切换到下一个任务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Task1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6181" name="文本框 4100"/>
          <p:cNvSpPr txBox="1"/>
          <p:nvPr/>
        </p:nvSpPr>
        <p:spPr>
          <a:xfrm>
            <a:off x="1060133" y="5329873"/>
            <a:ext cx="3573462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4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运行完一个时间片后，切换至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</a:t>
            </a:r>
          </a:p>
        </p:txBody>
      </p:sp>
      <p:sp>
        <p:nvSpPr>
          <p:cNvPr id="6182" name="文本框 42"/>
          <p:cNvSpPr txBox="1"/>
          <p:nvPr/>
        </p:nvSpPr>
        <p:spPr>
          <a:xfrm>
            <a:off x="999808" y="2000885"/>
            <a:ext cx="8683625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200" dirty="0">
                <a:solidFill>
                  <a:srgbClr val="FF0000"/>
                </a:solidFill>
                <a:latin typeface="Calibri" panose="020F0502020204030204" pitchFamily="34" charset="0"/>
                <a:ea typeface="思源黑体 CN Normal" pitchFamily="34" charset="-122"/>
              </a:rPr>
              <a:t>同等优先级任务</a:t>
            </a:r>
            <a:r>
              <a:rPr lang="zh-CN" altLang="en-US" sz="12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轮流地享有相同的 </a:t>
            </a:r>
            <a:r>
              <a:rPr lang="en-US" altLang="zh-CN" sz="12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CPU </a:t>
            </a:r>
            <a:r>
              <a:rPr lang="zh-CN" altLang="en-US" sz="12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时间</a:t>
            </a:r>
            <a:r>
              <a:rPr lang="en-US" altLang="zh-CN" sz="1200" dirty="0">
                <a:solidFill>
                  <a:srgbClr val="FF0000"/>
                </a:solidFill>
                <a:latin typeface="Calibri" panose="020F0502020204030204" pitchFamily="34" charset="0"/>
                <a:ea typeface="思源黑体 CN Normal" pitchFamily="34" charset="-122"/>
              </a:rPr>
              <a:t>(</a:t>
            </a:r>
            <a:r>
              <a:rPr lang="zh-CN" altLang="en-US" sz="1200" dirty="0">
                <a:solidFill>
                  <a:srgbClr val="FF0000"/>
                </a:solidFill>
                <a:latin typeface="Calibri" panose="020F0502020204030204" pitchFamily="34" charset="0"/>
                <a:ea typeface="思源黑体 CN Normal" pitchFamily="34" charset="-122"/>
              </a:rPr>
              <a:t>可设置</a:t>
            </a:r>
            <a:r>
              <a:rPr lang="en-US" altLang="zh-CN" sz="1200" dirty="0">
                <a:solidFill>
                  <a:srgbClr val="FF0000"/>
                </a:solidFill>
                <a:latin typeface="Calibri" panose="020F0502020204030204" pitchFamily="34" charset="0"/>
                <a:ea typeface="思源黑体 CN Normal" pitchFamily="34" charset="-122"/>
              </a:rPr>
              <a:t>)</a:t>
            </a:r>
            <a:r>
              <a:rPr lang="zh-CN" altLang="en-US" sz="12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， 叫时间片，在</a:t>
            </a:r>
            <a:r>
              <a:rPr lang="en-US" altLang="zh-CN" sz="12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FreeRTOS</a:t>
            </a:r>
            <a:r>
              <a:rPr lang="zh-CN" altLang="en-US" sz="12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中，</a:t>
            </a:r>
            <a:r>
              <a:rPr lang="zh-CN" altLang="en-US" sz="1200" dirty="0">
                <a:solidFill>
                  <a:srgbClr val="FF0000"/>
                </a:solidFill>
                <a:latin typeface="Calibri" panose="020F0502020204030204" pitchFamily="34" charset="0"/>
                <a:ea typeface="思源黑体 CN Normal" pitchFamily="34" charset="-122"/>
              </a:rPr>
              <a:t>一个时间片就等于</a:t>
            </a:r>
            <a:r>
              <a:rPr lang="en-US" altLang="zh-CN" sz="1200" dirty="0">
                <a:solidFill>
                  <a:srgbClr val="FF0000"/>
                </a:solidFill>
                <a:latin typeface="Calibri" panose="020F0502020204030204" pitchFamily="34" charset="0"/>
                <a:ea typeface="思源黑体 CN Normal" pitchFamily="34" charset="-122"/>
              </a:rPr>
              <a:t>SysTick </a:t>
            </a:r>
            <a:r>
              <a:rPr lang="zh-CN" altLang="en-US" sz="1200" dirty="0">
                <a:solidFill>
                  <a:srgbClr val="FF0000"/>
                </a:solidFill>
                <a:latin typeface="Calibri" panose="020F0502020204030204" pitchFamily="34" charset="0"/>
                <a:ea typeface="思源黑体 CN Normal" pitchFamily="34" charset="-122"/>
              </a:rPr>
              <a:t>中断周期</a:t>
            </a:r>
          </a:p>
        </p:txBody>
      </p:sp>
      <p:sp>
        <p:nvSpPr>
          <p:cNvPr id="6183" name="文本框 43"/>
          <p:cNvSpPr txBox="1"/>
          <p:nvPr/>
        </p:nvSpPr>
        <p:spPr>
          <a:xfrm>
            <a:off x="5268595" y="3999548"/>
            <a:ext cx="4545013" cy="61753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3</a:t>
            </a:r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、注意没有用完的时间片不会再使用，下次任务</a:t>
            </a:r>
            <a:r>
              <a:rPr lang="en-US" altLang="zh-CN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得到执行</a:t>
            </a:r>
            <a:endParaRPr lang="en-US" altLang="zh-CN" sz="12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还是按照一个时间片的时钟节拍运行</a:t>
            </a:r>
          </a:p>
        </p:txBody>
      </p:sp>
      <p:sp>
        <p:nvSpPr>
          <p:cNvPr id="6184" name="文本框 44"/>
          <p:cNvSpPr txBox="1"/>
          <p:nvPr/>
        </p:nvSpPr>
        <p:spPr>
          <a:xfrm>
            <a:off x="5268595" y="3705860"/>
            <a:ext cx="3743325" cy="2778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、一个时间片大小，取决为滴答定时器中断周期</a:t>
            </a:r>
          </a:p>
        </p:txBody>
      </p:sp>
      <p:sp>
        <p:nvSpPr>
          <p:cNvPr id="41" name="文本框 42"/>
          <p:cNvSpPr txBox="1"/>
          <p:nvPr/>
        </p:nvSpPr>
        <p:spPr>
          <a:xfrm>
            <a:off x="5260658" y="3382010"/>
            <a:ext cx="3282950" cy="2778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、同等优先级任务，轮流执行；时间片流转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6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6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6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6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6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6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6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6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55" grpId="0"/>
      <p:bldP spid="6156" grpId="0"/>
      <p:bldP spid="15" grpId="0" bldLvl="0" animBg="1"/>
      <p:bldP spid="16" grpId="0" bldLvl="0" animBg="1"/>
      <p:bldP spid="17" grpId="0" bldLvl="0" animBg="1"/>
      <p:bldP spid="18" grpId="0" bldLvl="0" animBg="1"/>
      <p:bldP spid="19" grpId="0" bldLvl="0" animBg="1"/>
      <p:bldP spid="6168" grpId="0"/>
      <p:bldP spid="36" grpId="0"/>
      <p:bldP spid="37" grpId="0"/>
      <p:bldP spid="38" grpId="0"/>
      <p:bldP spid="39" grpId="0"/>
      <p:bldP spid="4100" grpId="0" bldLvl="0" animBg="1"/>
      <p:bldP spid="6177" grpId="0"/>
      <p:bldP spid="6178" grpId="0"/>
      <p:bldP spid="6179" grpId="0"/>
      <p:bldP spid="6180" grpId="0"/>
      <p:bldP spid="6181" grpId="0"/>
      <p:bldP spid="6182" grpId="0"/>
      <p:bldP spid="6183" grpId="0"/>
      <p:bldP spid="6184" grpId="0"/>
      <p:bldP spid="4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6" name="文本框 9"/>
          <p:cNvSpPr txBox="1"/>
          <p:nvPr/>
        </p:nvSpPr>
        <p:spPr>
          <a:xfrm>
            <a:off x="503238" y="1277620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任务状态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7177" name="文本框 1"/>
          <p:cNvSpPr txBox="1"/>
          <p:nvPr/>
        </p:nvSpPr>
        <p:spPr>
          <a:xfrm>
            <a:off x="858838" y="1907858"/>
            <a:ext cx="2884487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中任务共存在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4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种状态：</a:t>
            </a:r>
          </a:p>
        </p:txBody>
      </p:sp>
      <p:sp>
        <p:nvSpPr>
          <p:cNvPr id="7" name="矩形: 圆角 2"/>
          <p:cNvSpPr/>
          <p:nvPr>
            <p:custDataLst>
              <p:tags r:id="rId1"/>
            </p:custDataLst>
          </p:nvPr>
        </p:nvSpPr>
        <p:spPr>
          <a:xfrm>
            <a:off x="982663" y="2539683"/>
            <a:ext cx="1118715" cy="313628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1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、运行态</a:t>
            </a:r>
          </a:p>
        </p:txBody>
      </p:sp>
      <p:sp>
        <p:nvSpPr>
          <p:cNvPr id="13" name="矩形: 圆角 12"/>
          <p:cNvSpPr/>
          <p:nvPr>
            <p:custDataLst>
              <p:tags r:id="rId2"/>
            </p:custDataLst>
          </p:nvPr>
        </p:nvSpPr>
        <p:spPr>
          <a:xfrm>
            <a:off x="982663" y="3132990"/>
            <a:ext cx="1118715" cy="313628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2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、就绪态</a:t>
            </a:r>
          </a:p>
        </p:txBody>
      </p:sp>
      <p:sp>
        <p:nvSpPr>
          <p:cNvPr id="14" name="矩形: 圆角 13"/>
          <p:cNvSpPr/>
          <p:nvPr>
            <p:custDataLst>
              <p:tags r:id="rId3"/>
            </p:custDataLst>
          </p:nvPr>
        </p:nvSpPr>
        <p:spPr>
          <a:xfrm>
            <a:off x="982663" y="3726297"/>
            <a:ext cx="1118715" cy="313628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3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、阻塞态</a:t>
            </a:r>
          </a:p>
        </p:txBody>
      </p:sp>
      <p:sp>
        <p:nvSpPr>
          <p:cNvPr id="15" name="矩形: 圆角 14"/>
          <p:cNvSpPr/>
          <p:nvPr/>
        </p:nvSpPr>
        <p:spPr>
          <a:xfrm>
            <a:off x="982663" y="4338320"/>
            <a:ext cx="1098550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4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、挂起态</a:t>
            </a:r>
          </a:p>
        </p:txBody>
      </p:sp>
      <p:sp>
        <p:nvSpPr>
          <p:cNvPr id="7182" name="文本框 15"/>
          <p:cNvSpPr txBox="1"/>
          <p:nvPr>
            <p:custDataLst>
              <p:tags r:id="rId4"/>
            </p:custDataLst>
          </p:nvPr>
        </p:nvSpPr>
        <p:spPr>
          <a:xfrm>
            <a:off x="2101378" y="2544532"/>
            <a:ext cx="7512530" cy="30670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正在执行的任务，该任务就处于运行态，注意在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STM32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中，同一时间仅一个任务处于运行态</a:t>
            </a:r>
          </a:p>
        </p:txBody>
      </p:sp>
      <p:sp>
        <p:nvSpPr>
          <p:cNvPr id="7183" name="文本框 16"/>
          <p:cNvSpPr txBox="1"/>
          <p:nvPr>
            <p:custDataLst>
              <p:tags r:id="rId5"/>
            </p:custDataLst>
          </p:nvPr>
        </p:nvSpPr>
        <p:spPr>
          <a:xfrm>
            <a:off x="2101378" y="3142690"/>
            <a:ext cx="6039770" cy="30670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如果该任务已经能够被执行，但当前还未被执行，那么该任务处于就绪态</a:t>
            </a:r>
          </a:p>
        </p:txBody>
      </p:sp>
      <p:sp>
        <p:nvSpPr>
          <p:cNvPr id="7184" name="文本框 17"/>
          <p:cNvSpPr txBox="1"/>
          <p:nvPr>
            <p:custDataLst>
              <p:tags r:id="rId6"/>
            </p:custDataLst>
          </p:nvPr>
        </p:nvSpPr>
        <p:spPr>
          <a:xfrm>
            <a:off x="2101378" y="3740847"/>
            <a:ext cx="5895889" cy="30670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如果一个任务因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延时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或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等待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外部事件发生，那么这个任务就处于阻塞态 </a:t>
            </a:r>
          </a:p>
        </p:txBody>
      </p:sp>
      <p:sp>
        <p:nvSpPr>
          <p:cNvPr id="7185" name="文本框 18"/>
          <p:cNvSpPr txBox="1"/>
          <p:nvPr/>
        </p:nvSpPr>
        <p:spPr>
          <a:xfrm>
            <a:off x="2081213" y="4174808"/>
            <a:ext cx="6942137" cy="704850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类似暂停，调用函数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vTaskSuspend()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进入挂起态，需要调用解挂函数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vTaskResume()</a:t>
            </a:r>
          </a:p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才可以进入就绪态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77" grpId="0"/>
      <p:bldP spid="7" grpId="0" bldLvl="0" animBg="1"/>
      <p:bldP spid="13" grpId="0" bldLvl="0" animBg="1"/>
      <p:bldP spid="14" grpId="0" bldLvl="0" animBg="1"/>
      <p:bldP spid="15" grpId="0" bldLvl="0" animBg="1"/>
      <p:bldP spid="7182" grpId="0"/>
      <p:bldP spid="7183" grpId="0"/>
      <p:bldP spid="7184" grpId="0"/>
      <p:bldP spid="718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文本框 9"/>
          <p:cNvSpPr txBox="1"/>
          <p:nvPr/>
        </p:nvSpPr>
        <p:spPr>
          <a:xfrm>
            <a:off x="1114743" y="1252220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任务状态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pic>
        <p:nvPicPr>
          <p:cNvPr id="28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8755" y="2190433"/>
            <a:ext cx="3689350" cy="3146425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9" name="文本框 12"/>
          <p:cNvSpPr txBox="1"/>
          <p:nvPr/>
        </p:nvSpPr>
        <p:spPr>
          <a:xfrm>
            <a:off x="1468755" y="1882458"/>
            <a:ext cx="31623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四种任务状态之间的转换图： </a:t>
            </a:r>
          </a:p>
        </p:txBody>
      </p:sp>
      <p:sp>
        <p:nvSpPr>
          <p:cNvPr id="30" name="文本框 12"/>
          <p:cNvSpPr txBox="1"/>
          <p:nvPr/>
        </p:nvSpPr>
        <p:spPr>
          <a:xfrm>
            <a:off x="5158105" y="1882458"/>
            <a:ext cx="31623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总结：</a:t>
            </a:r>
          </a:p>
        </p:txBody>
      </p:sp>
      <p:sp>
        <p:nvSpPr>
          <p:cNvPr id="31" name="文本框 13"/>
          <p:cNvSpPr txBox="1"/>
          <p:nvPr/>
        </p:nvSpPr>
        <p:spPr>
          <a:xfrm>
            <a:off x="5158105" y="2319020"/>
            <a:ext cx="31623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、仅就绪态可转变成运行态</a:t>
            </a:r>
          </a:p>
        </p:txBody>
      </p:sp>
      <p:sp>
        <p:nvSpPr>
          <p:cNvPr id="32" name="文本框 14"/>
          <p:cNvSpPr txBox="1"/>
          <p:nvPr/>
        </p:nvSpPr>
        <p:spPr>
          <a:xfrm>
            <a:off x="5162868" y="2776220"/>
            <a:ext cx="4225925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、其他状态的任务想运行，必须先转变成就绪态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32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4" name="文本框 9"/>
          <p:cNvSpPr txBox="1"/>
          <p:nvPr/>
        </p:nvSpPr>
        <p:spPr>
          <a:xfrm>
            <a:off x="1051878" y="1282065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任务状态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9225" name="文本框 12"/>
          <p:cNvSpPr txBox="1"/>
          <p:nvPr/>
        </p:nvSpPr>
        <p:spPr>
          <a:xfrm>
            <a:off x="1405890" y="1912303"/>
            <a:ext cx="5487988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中无非就四种状态，运行态，就绪态、阻塞态、挂起态</a:t>
            </a:r>
          </a:p>
        </p:txBody>
      </p:sp>
      <p:sp>
        <p:nvSpPr>
          <p:cNvPr id="16" name="矩形: 圆角 15"/>
          <p:cNvSpPr/>
          <p:nvPr/>
        </p:nvSpPr>
        <p:spPr>
          <a:xfrm>
            <a:off x="1494790" y="2912428"/>
            <a:ext cx="1223963" cy="317500"/>
          </a:xfrm>
          <a:prstGeom prst="round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anose="020B0400000000000000"/>
                <a:cs typeface="+mn-cs"/>
              </a:rPr>
              <a:t>就绪列表</a:t>
            </a:r>
          </a:p>
        </p:txBody>
      </p:sp>
      <p:sp>
        <p:nvSpPr>
          <p:cNvPr id="17" name="矩形: 圆角 16"/>
          <p:cNvSpPr/>
          <p:nvPr/>
        </p:nvSpPr>
        <p:spPr>
          <a:xfrm>
            <a:off x="1494790" y="3393440"/>
            <a:ext cx="1223963" cy="317500"/>
          </a:xfrm>
          <a:prstGeom prst="round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anose="020B0400000000000000"/>
                <a:cs typeface="+mn-cs"/>
              </a:rPr>
              <a:t>阻塞列表</a:t>
            </a:r>
          </a:p>
        </p:txBody>
      </p:sp>
      <p:sp>
        <p:nvSpPr>
          <p:cNvPr id="18" name="矩形: 圆角 17"/>
          <p:cNvSpPr/>
          <p:nvPr/>
        </p:nvSpPr>
        <p:spPr>
          <a:xfrm>
            <a:off x="1494790" y="3866515"/>
            <a:ext cx="1223963" cy="317500"/>
          </a:xfrm>
          <a:prstGeom prst="round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anose="020B0400000000000000"/>
                <a:cs typeface="+mn-cs"/>
              </a:rPr>
              <a:t>挂起列表</a:t>
            </a:r>
          </a:p>
        </p:txBody>
      </p:sp>
      <p:sp>
        <p:nvSpPr>
          <p:cNvPr id="9229" name="文本框 15"/>
          <p:cNvSpPr txBox="1"/>
          <p:nvPr/>
        </p:nvSpPr>
        <p:spPr>
          <a:xfrm>
            <a:off x="2718753" y="2891790"/>
            <a:ext cx="40640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/>
            <a:r>
              <a:rPr lang="zh-CN" altLang="en-US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pxReadyTasksLists</a:t>
            </a:r>
            <a:r>
              <a:rPr lang="en-US" altLang="zh-CN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[x]</a:t>
            </a:r>
            <a:r>
              <a:rPr lang="zh-CN" altLang="en-US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，其中</a:t>
            </a:r>
            <a:r>
              <a:rPr lang="en-US" altLang="zh-CN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x</a:t>
            </a:r>
            <a:r>
              <a:rPr lang="zh-CN" altLang="en-US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代表任务优先级数值</a:t>
            </a:r>
          </a:p>
        </p:txBody>
      </p:sp>
      <p:sp>
        <p:nvSpPr>
          <p:cNvPr id="9230" name="文本框 16"/>
          <p:cNvSpPr txBox="1"/>
          <p:nvPr/>
        </p:nvSpPr>
        <p:spPr>
          <a:xfrm>
            <a:off x="2718753" y="3387090"/>
            <a:ext cx="17526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/>
            <a:r>
              <a:rPr lang="zh-CN" altLang="en-US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pxDelayedTaskList</a:t>
            </a:r>
          </a:p>
        </p:txBody>
      </p:sp>
      <p:sp>
        <p:nvSpPr>
          <p:cNvPr id="9231" name="文本框 17"/>
          <p:cNvSpPr txBox="1"/>
          <p:nvPr/>
        </p:nvSpPr>
        <p:spPr>
          <a:xfrm>
            <a:off x="2718753" y="3885565"/>
            <a:ext cx="1857375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4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xSuspendedTaskList</a:t>
            </a:r>
          </a:p>
        </p:txBody>
      </p:sp>
      <p:sp>
        <p:nvSpPr>
          <p:cNvPr id="9232" name="文本框 22"/>
          <p:cNvSpPr txBox="1"/>
          <p:nvPr/>
        </p:nvSpPr>
        <p:spPr>
          <a:xfrm>
            <a:off x="1405890" y="2282190"/>
            <a:ext cx="6916738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这四种状态中，除了运行态，其他三种任务状态的任务都有其对应的任务状态列表 </a:t>
            </a:r>
          </a:p>
        </p:txBody>
      </p:sp>
      <p:sp>
        <p:nvSpPr>
          <p:cNvPr id="2" name="左大括号 1"/>
          <p:cNvSpPr/>
          <p:nvPr/>
        </p:nvSpPr>
        <p:spPr>
          <a:xfrm>
            <a:off x="6576378" y="2755265"/>
            <a:ext cx="223838" cy="1911350"/>
          </a:xfrm>
          <a:prstGeom prst="leftBrace">
            <a:avLst>
              <a:gd name="adj1" fmla="val 8333"/>
              <a:gd name="adj2" fmla="val 14759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3" name="矩形: 圆角 2"/>
          <p:cNvSpPr/>
          <p:nvPr/>
        </p:nvSpPr>
        <p:spPr>
          <a:xfrm>
            <a:off x="7233920" y="2704465"/>
            <a:ext cx="1689735" cy="20828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pxReadyTasksLists</a:t>
            </a: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[31]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3" name="矩形: 圆角 22"/>
          <p:cNvSpPr/>
          <p:nvPr/>
        </p:nvSpPr>
        <p:spPr>
          <a:xfrm>
            <a:off x="7233920" y="3056890"/>
            <a:ext cx="1707515" cy="20828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pxReadyTasksLists</a:t>
            </a: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[30]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4" name="矩形: 圆角 23"/>
          <p:cNvSpPr/>
          <p:nvPr/>
        </p:nvSpPr>
        <p:spPr>
          <a:xfrm>
            <a:off x="7233920" y="4116070"/>
            <a:ext cx="1725930" cy="20828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pxReadyTasksLists</a:t>
            </a: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[1]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7" name="矩形: 圆角 26"/>
          <p:cNvSpPr/>
          <p:nvPr/>
        </p:nvSpPr>
        <p:spPr>
          <a:xfrm>
            <a:off x="7233920" y="3411220"/>
            <a:ext cx="1707515" cy="20828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pxReadyTasksLists</a:t>
            </a: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[29]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8" name="矩形: 圆角 27"/>
          <p:cNvSpPr/>
          <p:nvPr/>
        </p:nvSpPr>
        <p:spPr>
          <a:xfrm>
            <a:off x="7233920" y="4463415"/>
            <a:ext cx="1717040" cy="20828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pxReadyTasksLists</a:t>
            </a: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[0]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9" name="矩形: 圆角 28"/>
          <p:cNvSpPr/>
          <p:nvPr/>
        </p:nvSpPr>
        <p:spPr>
          <a:xfrm>
            <a:off x="7233920" y="3755390"/>
            <a:ext cx="1761490" cy="20828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itchFamily="34" charset="-122"/>
                <a:cs typeface="+mn-cs"/>
              </a:rPr>
              <a:t>… …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6854190" y="2706053"/>
            <a:ext cx="307975" cy="1984375"/>
          </a:xfrm>
          <a:prstGeom prst="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dk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cxnSp>
        <p:nvCxnSpPr>
          <p:cNvPr id="10" name="直接连接符 9"/>
          <p:cNvCxnSpPr/>
          <p:nvPr/>
        </p:nvCxnSpPr>
        <p:spPr>
          <a:xfrm>
            <a:off x="6854190" y="2971165"/>
            <a:ext cx="3079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6854190" y="3268028"/>
            <a:ext cx="3079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6854190" y="3628390"/>
            <a:ext cx="3079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/>
          <p:cNvCxnSpPr/>
          <p:nvPr/>
        </p:nvCxnSpPr>
        <p:spPr>
          <a:xfrm>
            <a:off x="6854190" y="4007803"/>
            <a:ext cx="3079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连接符 36"/>
          <p:cNvCxnSpPr/>
          <p:nvPr/>
        </p:nvCxnSpPr>
        <p:spPr>
          <a:xfrm>
            <a:off x="6854190" y="4391978"/>
            <a:ext cx="3079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6793865" y="2726690"/>
            <a:ext cx="427038" cy="231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bit31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6793865" y="3025140"/>
            <a:ext cx="427038" cy="230188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bit30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6793865" y="3353753"/>
            <a:ext cx="427038" cy="230187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bit29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6819265" y="3715703"/>
            <a:ext cx="377825" cy="231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… …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43" name="文本框 42"/>
          <p:cNvSpPr txBox="1"/>
          <p:nvPr/>
        </p:nvSpPr>
        <p:spPr>
          <a:xfrm>
            <a:off x="6824028" y="4107815"/>
            <a:ext cx="368300" cy="231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bit1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6824028" y="4444365"/>
            <a:ext cx="368300" cy="230188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9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bit0</a:t>
            </a:r>
            <a:endParaRPr lang="zh-CN" altLang="en-US" sz="900" dirty="0">
              <a:solidFill>
                <a:srgbClr val="002060"/>
              </a:solidFill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4522153" y="5050790"/>
            <a:ext cx="5280025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pPr>
              <a:buNone/>
            </a:pP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32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位的变量，当某个位，置一时，代表所对应的优先级就绪列表有任务存在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2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2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9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25" grpId="0"/>
      <p:bldP spid="16" grpId="0" bldLvl="0" animBg="1"/>
      <p:bldP spid="17" grpId="0" bldLvl="0" animBg="1"/>
      <p:bldP spid="18" grpId="0" bldLvl="0" animBg="1"/>
      <p:bldP spid="9229" grpId="0"/>
      <p:bldP spid="9230" grpId="0"/>
      <p:bldP spid="9231" grpId="0"/>
      <p:bldP spid="9232" grpId="0"/>
      <p:bldP spid="2" grpId="0" bldLvl="0" animBg="1"/>
      <p:bldP spid="3" grpId="0" bldLvl="0" animBg="1"/>
      <p:bldP spid="23" grpId="0" bldLvl="0" animBg="1"/>
      <p:bldP spid="24" grpId="0" bldLvl="0" animBg="1"/>
      <p:bldP spid="27" grpId="0" bldLvl="0" animBg="1"/>
      <p:bldP spid="28" grpId="0" bldLvl="0" animBg="1"/>
      <p:bldP spid="29" grpId="0" bldLvl="0" animBg="1"/>
      <p:bldP spid="8" grpId="0" bldLvl="0" animBg="1"/>
      <p:bldP spid="13" grpId="0"/>
      <p:bldP spid="40" grpId="0"/>
      <p:bldP spid="41" grpId="0"/>
      <p:bldP spid="42" grpId="0"/>
      <p:bldP spid="43" grpId="0"/>
      <p:bldP spid="44" grpId="0"/>
      <p:bldP spid="14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8" name="文本框 9"/>
          <p:cNvSpPr txBox="1"/>
          <p:nvPr/>
        </p:nvSpPr>
        <p:spPr>
          <a:xfrm>
            <a:off x="1233488" y="1352550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任务状态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16" name="矩形: 圆角 15"/>
          <p:cNvSpPr/>
          <p:nvPr/>
        </p:nvSpPr>
        <p:spPr>
          <a:xfrm>
            <a:off x="1619250" y="3006725"/>
            <a:ext cx="1225550" cy="317500"/>
          </a:xfrm>
          <a:prstGeom prst="round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anose="020B0400000000000000"/>
                <a:cs typeface="+mn-cs"/>
              </a:rPr>
              <a:t>就绪列表</a:t>
            </a:r>
          </a:p>
        </p:txBody>
      </p:sp>
      <p:sp>
        <p:nvSpPr>
          <p:cNvPr id="17" name="矩形: 圆角 16"/>
          <p:cNvSpPr/>
          <p:nvPr/>
        </p:nvSpPr>
        <p:spPr>
          <a:xfrm>
            <a:off x="1619250" y="3922713"/>
            <a:ext cx="1225550" cy="315913"/>
          </a:xfrm>
          <a:prstGeom prst="round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anose="020B0400000000000000"/>
                <a:cs typeface="+mn-cs"/>
              </a:rPr>
              <a:t>阻塞列表</a:t>
            </a:r>
          </a:p>
        </p:txBody>
      </p:sp>
      <p:sp>
        <p:nvSpPr>
          <p:cNvPr id="18" name="矩形: 圆角 17"/>
          <p:cNvSpPr/>
          <p:nvPr/>
        </p:nvSpPr>
        <p:spPr>
          <a:xfrm>
            <a:off x="1619250" y="4864100"/>
            <a:ext cx="1225550" cy="315913"/>
          </a:xfrm>
          <a:prstGeom prst="round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+mn-lt"/>
                <a:ea typeface="思源黑体 CN Normal" panose="020B0400000000000000"/>
                <a:cs typeface="+mn-cs"/>
              </a:rPr>
              <a:t>挂起列表</a:t>
            </a:r>
          </a:p>
        </p:txBody>
      </p:sp>
      <p:sp>
        <p:nvSpPr>
          <p:cNvPr id="19" name="文本框 15"/>
          <p:cNvSpPr txBox="1"/>
          <p:nvPr/>
        </p:nvSpPr>
        <p:spPr>
          <a:xfrm>
            <a:off x="2844800" y="2986088"/>
            <a:ext cx="17018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/>
            <a:r>
              <a:rPr lang="zh-CN" altLang="en-US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pxReadyTasksLists</a:t>
            </a:r>
            <a:r>
              <a:rPr lang="en-US" altLang="zh-CN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[x]</a:t>
            </a:r>
            <a:endParaRPr lang="zh-CN" altLang="en-US" sz="1400" dirty="0">
              <a:solidFill>
                <a:srgbClr val="002060"/>
              </a:solidFill>
              <a:latin typeface="Calibri" panose="020F0502020204030204" pitchFamily="34" charset="0"/>
              <a:ea typeface="思源黑体 CN Normal" pitchFamily="34" charset="-122"/>
            </a:endParaRPr>
          </a:p>
        </p:txBody>
      </p:sp>
      <p:sp>
        <p:nvSpPr>
          <p:cNvPr id="20" name="文本框 16"/>
          <p:cNvSpPr txBox="1"/>
          <p:nvPr/>
        </p:nvSpPr>
        <p:spPr>
          <a:xfrm>
            <a:off x="2844800" y="3914775"/>
            <a:ext cx="17526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/>
            <a:r>
              <a:rPr lang="zh-CN" altLang="en-US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pxDelayedTaskList</a:t>
            </a:r>
          </a:p>
        </p:txBody>
      </p:sp>
      <p:sp>
        <p:nvSpPr>
          <p:cNvPr id="21" name="文本框 17"/>
          <p:cNvSpPr txBox="1"/>
          <p:nvPr/>
        </p:nvSpPr>
        <p:spPr>
          <a:xfrm>
            <a:off x="2844800" y="4883150"/>
            <a:ext cx="1857375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400" dirty="0">
                <a:solidFill>
                  <a:srgbClr val="002060"/>
                </a:solidFill>
                <a:latin typeface="Calibri" panose="020F0502020204030204" pitchFamily="34" charset="0"/>
                <a:ea typeface="等线" panose="02010600030101010101" pitchFamily="2" charset="-122"/>
              </a:rPr>
              <a:t>xSuspendedTaskList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1619250" y="1870075"/>
            <a:ext cx="6289675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假设，创建三个任务分别是：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，优先级分别是：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3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24" name="矩形: 圆角 23"/>
          <p:cNvSpPr/>
          <p:nvPr/>
        </p:nvSpPr>
        <p:spPr>
          <a:xfrm>
            <a:off x="1676400" y="2359025"/>
            <a:ext cx="601663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task1</a:t>
            </a:r>
            <a:endParaRPr kumimoji="0" lang="zh-CN" altLang="en-US" sz="11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8" name="矩形: 圆角 27"/>
          <p:cNvSpPr/>
          <p:nvPr/>
        </p:nvSpPr>
        <p:spPr>
          <a:xfrm>
            <a:off x="2705100" y="2349500"/>
            <a:ext cx="601663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task2</a:t>
            </a:r>
            <a:endParaRPr kumimoji="0" lang="zh-CN" altLang="en-US" sz="11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9" name="矩形: 圆角 28"/>
          <p:cNvSpPr/>
          <p:nvPr/>
        </p:nvSpPr>
        <p:spPr>
          <a:xfrm>
            <a:off x="3733800" y="2349500"/>
            <a:ext cx="6000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11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task3</a:t>
            </a:r>
            <a:endParaRPr kumimoji="0" lang="zh-CN" altLang="en-US" sz="11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2" name="左大括号 1"/>
          <p:cNvSpPr/>
          <p:nvPr/>
        </p:nvSpPr>
        <p:spPr>
          <a:xfrm>
            <a:off x="4460875" y="2657475"/>
            <a:ext cx="176213" cy="88741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4637088" y="2524125"/>
            <a:ext cx="18288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/>
            <a:r>
              <a:rPr lang="zh-CN" altLang="en-US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pxReadyTasksLists</a:t>
            </a:r>
            <a:r>
              <a:rPr lang="en-US" altLang="zh-CN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[3]</a:t>
            </a:r>
            <a:endParaRPr lang="zh-CN" altLang="en-US" sz="1400" dirty="0">
              <a:solidFill>
                <a:srgbClr val="002060"/>
              </a:solidFill>
              <a:latin typeface="Calibri" panose="020F0502020204030204" pitchFamily="34" charset="0"/>
              <a:ea typeface="思源黑体 CN Normal" pitchFamily="34" charset="-122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4637088" y="2927350"/>
            <a:ext cx="18288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/>
            <a:r>
              <a:rPr lang="zh-CN" altLang="en-US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pxReadyTasksLists</a:t>
            </a:r>
            <a:r>
              <a:rPr lang="en-US" altLang="zh-CN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[2]</a:t>
            </a:r>
            <a:endParaRPr lang="zh-CN" altLang="en-US" sz="1400" dirty="0">
              <a:solidFill>
                <a:srgbClr val="002060"/>
              </a:solidFill>
              <a:latin typeface="Calibri" panose="020F0502020204030204" pitchFamily="34" charset="0"/>
              <a:ea typeface="思源黑体 CN Normal" pitchFamily="34" charset="-122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4637088" y="3330575"/>
            <a:ext cx="18288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/>
            <a:r>
              <a:rPr lang="zh-CN" altLang="en-US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pxReadyTasksLists</a:t>
            </a:r>
            <a:r>
              <a:rPr lang="en-US" altLang="zh-CN" sz="14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[1]</a:t>
            </a:r>
            <a:endParaRPr lang="zh-CN" altLang="en-US" sz="1400" dirty="0">
              <a:solidFill>
                <a:srgbClr val="002060"/>
              </a:solidFill>
              <a:latin typeface="Calibri" panose="020F0502020204030204" pitchFamily="34" charset="0"/>
              <a:ea typeface="思源黑体 CN Normal" pitchFamily="34" charset="-122"/>
            </a:endParaRPr>
          </a:p>
        </p:txBody>
      </p:sp>
      <p:sp>
        <p:nvSpPr>
          <p:cNvPr id="10263" name="文本框 24"/>
          <p:cNvSpPr txBox="1"/>
          <p:nvPr/>
        </p:nvSpPr>
        <p:spPr>
          <a:xfrm>
            <a:off x="4546600" y="3852863"/>
            <a:ext cx="5605463" cy="27781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调度器总是在所有处于就绪列表的任务中，选择具有最高优先级的任务来执行 </a:t>
            </a:r>
          </a:p>
        </p:txBody>
      </p:sp>
      <p:sp>
        <p:nvSpPr>
          <p:cNvPr id="25" name="文本框 24"/>
          <p:cNvSpPr txBox="1"/>
          <p:nvPr/>
        </p:nvSpPr>
        <p:spPr>
          <a:xfrm>
            <a:off x="4546600" y="4273550"/>
            <a:ext cx="3733800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如果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task3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，优先级均为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呢？</a:t>
            </a:r>
          </a:p>
        </p:txBody>
      </p:sp>
      <p:sp>
        <p:nvSpPr>
          <p:cNvPr id="26" name="矩形 25"/>
          <p:cNvSpPr/>
          <p:nvPr/>
        </p:nvSpPr>
        <p:spPr>
          <a:xfrm>
            <a:off x="4546600" y="4675188"/>
            <a:ext cx="3262313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Calibri" panose="020F0502020204030204" pitchFamily="34" charset="0"/>
                <a:ea typeface="思源黑体 CN Normal" pitchFamily="34" charset="-122"/>
              </a:rPr>
              <a:t>相同优先级的任务会连接在同一个就绪列表上</a:t>
            </a:r>
            <a:endParaRPr lang="zh-CN" altLang="en-US" sz="1200" dirty="0"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5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6 -3.08642E-6 L 0.14965 -3.08642E-6 C 0.21701 -3.08642E-6 0.29982 0.00988 0.29982 0.01821 L 0.29982 0.03642 " pathEditMode="relative" rAng="0" ptsTypes="AAAA">
                                      <p:cBhvr>
                                        <p:cTn id="66" dur="2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00" y="18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5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6 -3.08642E-6 L 0.2059 -3.08642E-6 C 0.29843 -3.08642E-6 0.41232 0.03087 0.41232 0.05618 L 0.41232 0.11327 " pathEditMode="relative" rAng="0" ptsTypes="AAAA">
                                      <p:cBhvr>
                                        <p:cTn id="70" dur="2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0600" y="56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5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6 -4.93827E-6 L 0.26198 -4.93827E-6 C 0.37951 -4.93827E-6 0.52413 0.05247 0.52413 0.09507 L 0.52413 0.19044 " pathEditMode="relative" rAng="0" ptsTypes="AAAA">
                                      <p:cBhvr>
                                        <p:cTn id="74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200" y="9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02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5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41232 0.11327 L 0.45139 0.11327 C 0.46909 0.11327 0.4908 0.13519 0.4908 0.15309 L 0.4908 0.19352 " pathEditMode="relative" rAng="0" ptsTypes="AAAA">
                                      <p:cBhvr>
                                        <p:cTn id="88" dur="2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900" y="4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5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9982 0.03148 L 0.37604 0.03148 C 0.41041 0.03148 0.45329 0.07562 0.45329 0.11173 L 0.45329 0.19321 " pathEditMode="relative" rAng="0" ptsTypes="AAAA">
                                      <p:cBhvr>
                                        <p:cTn id="92" dur="2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700" y="81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bldLvl="0" animBg="1"/>
      <p:bldP spid="17" grpId="0" bldLvl="0" animBg="1"/>
      <p:bldP spid="18" grpId="0" bldLvl="0" animBg="1"/>
      <p:bldP spid="19" grpId="0"/>
      <p:bldP spid="20" grpId="0"/>
      <p:bldP spid="21" grpId="0"/>
      <p:bldP spid="22" grpId="0"/>
      <p:bldP spid="24" grpId="0" bldLvl="0" animBg="1"/>
      <p:bldP spid="24" grpId="1" bldLvl="0" animBg="1"/>
      <p:bldP spid="28" grpId="0" bldLvl="0" animBg="1"/>
      <p:bldP spid="28" grpId="1" bldLvl="0" animBg="1"/>
      <p:bldP spid="28" grpId="2" bldLvl="0" animBg="1"/>
      <p:bldP spid="29" grpId="0" bldLvl="0" animBg="1"/>
      <p:bldP spid="29" grpId="1" bldLvl="0" animBg="1"/>
      <p:bldP spid="29" grpId="2" bldLvl="0" animBg="1"/>
      <p:bldP spid="2" grpId="0" bldLvl="0" animBg="1"/>
      <p:bldP spid="30" grpId="0"/>
      <p:bldP spid="31" grpId="0"/>
      <p:bldP spid="32" grpId="0"/>
      <p:bldP spid="10263" grpId="0"/>
      <p:bldP spid="25" grpId="0"/>
      <p:bldP spid="2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9"/>
          <p:cNvSpPr txBox="1"/>
          <p:nvPr/>
        </p:nvSpPr>
        <p:spPr>
          <a:xfrm>
            <a:off x="181293" y="73660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任务是怎么调度的？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245110" y="784225"/>
            <a:ext cx="8455025" cy="3371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/>
            <a:r>
              <a:rPr lang="zh-CN" altLang="en-US" sz="1600" b="0" i="0">
                <a:solidFill>
                  <a:srgbClr val="404040"/>
                </a:solidFill>
                <a:latin typeface="quote-cjk-patch"/>
                <a:ea typeface="quote-cjk-patch"/>
              </a:rPr>
              <a:t>调度器的核心任务是：始终让最高优先级的、就绪的任务运行。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6775" y="1151255"/>
            <a:ext cx="6088380" cy="461073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244475" y="1285875"/>
            <a:ext cx="5702300" cy="447611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lang="en-US" altLang="zh-CN" sz="100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R0-R12</a:t>
            </a:r>
            <a:r>
              <a:rPr lang="zh-CN" altLang="en-US" sz="100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：通用寄存器 </a:t>
            </a:r>
          </a:p>
          <a:p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R0‐R12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都是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32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位通用寄存器，用于数据操作。但是注意：绝大多数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16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位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Thumb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指令只能访 </a:t>
            </a:r>
          </a:p>
          <a:p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问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R0‐R7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，而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32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位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Thumb‐2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指令可以访问所有寄存器。 </a:t>
            </a:r>
          </a:p>
          <a:p>
            <a:r>
              <a:rPr lang="en-US" altLang="zh-CN" sz="100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Banked R13: </a:t>
            </a:r>
            <a:r>
              <a:rPr lang="zh-CN" altLang="en-US" sz="100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两个堆栈指针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</a:t>
            </a:r>
          </a:p>
          <a:p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Cortex‐M3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拥有两个堆栈指针，然而它们是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banked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，因此任一时刻只能使用其中的一个。 </a:t>
            </a:r>
          </a:p>
          <a:p>
            <a:pPr indent="457200"/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主堆栈指针（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MSP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）：复位后缺省使用的堆栈指针，用于操作系统内核以及异常处理例程（包括中断服务例程） </a:t>
            </a:r>
          </a:p>
          <a:p>
            <a:pPr indent="457200"/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进程堆栈指针（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PSP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）：由用户的应用程序代码使用。 </a:t>
            </a:r>
          </a:p>
          <a:p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 堆栈指针的最低两位永远是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0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，这意味着堆栈总是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4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字节对齐的。 </a:t>
            </a:r>
          </a:p>
          <a:p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在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ARM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编程领域中，凡是打断程序顺序执行的事件，都被称为异常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(exception)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。除了</a:t>
            </a:r>
            <a:r>
              <a:rPr lang="zh-CN" altLang="en-US" sz="100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外部中断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外，当有指令执 行了“非法操作”，或者</a:t>
            </a:r>
            <a:r>
              <a:rPr lang="zh-CN" altLang="en-US" sz="100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访问被禁的内存区间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，因各种错误产生的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fault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，以及不可屏蔽中断发生时，都会打断程序的 执行，这些情况统称为异常。在不严格的上下文中，异常与中断也可以混用。另外，程序代码也可以主动请求进入 异常状态的（常用于系统调用）。 </a:t>
            </a:r>
          </a:p>
          <a:p>
            <a:r>
              <a:rPr lang="en-US" altLang="zh-CN" sz="100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R14</a:t>
            </a:r>
            <a:r>
              <a:rPr lang="zh-CN" altLang="en-US" sz="100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：连接寄存器 </a:t>
            </a:r>
          </a:p>
          <a:p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当呼叫一个子程序时，由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R14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存储返回地址不像大多数其它处理器，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ARM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为了减少访问内存的次数（访问内存的操作往往要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3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个以上指令周期，带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MMU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和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cache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的就更加不确定了），把返回地址直接存储在寄存器中。这样足以使很多只有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1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级子程序调用的代码无需访问内存（堆栈内存），从而提高了子程序调用的效率。如果多于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1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级，则需要把前一级的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R14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值压到堆栈里。在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ARM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上编程时，应尽量只使用寄存器保存中间结果，迫不得以时才访问内存。在 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RISC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处理器中，为了强调访内操作越过了处理器的界线，并且带来了对性能的不利影响，给它取了一个专业的术语：溅出。 </a:t>
            </a:r>
          </a:p>
          <a:p>
            <a:r>
              <a:rPr lang="en-US" altLang="zh-CN" sz="100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R15</a:t>
            </a:r>
            <a:r>
              <a:rPr lang="zh-CN" altLang="en-US" sz="100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：程序计数寄存器 </a:t>
            </a:r>
          </a:p>
          <a:p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指向当前的程序地址。如果修改它的值，就能改变程序的执行流（很多高级技巧就在这里面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——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译注）。 </a:t>
            </a:r>
          </a:p>
          <a:p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特殊功能寄存器 </a:t>
            </a:r>
          </a:p>
          <a:p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Cortex‐M3 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还在内核水平上搭载了若干特殊功能寄存器，包括程序状态字寄存器组（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PSRs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）中断屏蔽寄存器组（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PRIMASK, FAULTMASK, BASEPRI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）控制寄存器（</a:t>
            </a:r>
            <a:r>
              <a:rPr lang="en-US" altLang="zh-CN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CONTROL</a:t>
            </a:r>
            <a:r>
              <a:rPr lang="zh-CN" altLang="en-US" sz="100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）</a:t>
            </a:r>
          </a:p>
        </p:txBody>
      </p:sp>
    </p:spTree>
  </p:cSld>
  <p:clrMapOvr>
    <a:masterClrMapping/>
  </p:clrMapOvr>
  <p:transition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8" name="文本框 9"/>
          <p:cNvSpPr txBox="1"/>
          <p:nvPr/>
        </p:nvSpPr>
        <p:spPr>
          <a:xfrm>
            <a:off x="240348" y="137795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开启任务调度器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4105" name="文本框 42"/>
          <p:cNvSpPr txBox="1"/>
          <p:nvPr/>
        </p:nvSpPr>
        <p:spPr>
          <a:xfrm>
            <a:off x="570548" y="674370"/>
            <a:ext cx="461645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400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vTaskStartScheduler()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06" name="文本框 17"/>
          <p:cNvSpPr txBox="1"/>
          <p:nvPr/>
        </p:nvSpPr>
        <p:spPr>
          <a:xfrm>
            <a:off x="570548" y="1025208"/>
            <a:ext cx="7723187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作用：用于启动任务调度器，任务调度器启动后，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便会开始进行任务调度 </a:t>
            </a:r>
          </a:p>
        </p:txBody>
      </p:sp>
      <p:sp>
        <p:nvSpPr>
          <p:cNvPr id="4107" name="文本框 19"/>
          <p:cNvSpPr txBox="1"/>
          <p:nvPr/>
        </p:nvSpPr>
        <p:spPr>
          <a:xfrm>
            <a:off x="570548" y="1847533"/>
            <a:ext cx="4003675" cy="26193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、创建空闲任务</a:t>
            </a:r>
          </a:p>
        </p:txBody>
      </p:sp>
      <p:sp>
        <p:nvSpPr>
          <p:cNvPr id="4108" name="文本框 21"/>
          <p:cNvSpPr txBox="1"/>
          <p:nvPr/>
        </p:nvSpPr>
        <p:spPr>
          <a:xfrm>
            <a:off x="570548" y="2253933"/>
            <a:ext cx="4567237" cy="26193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、如果使能软件定时器，则创建定时器任务</a:t>
            </a:r>
          </a:p>
        </p:txBody>
      </p:sp>
      <p:sp>
        <p:nvSpPr>
          <p:cNvPr id="4109" name="文本框 23"/>
          <p:cNvSpPr txBox="1"/>
          <p:nvPr/>
        </p:nvSpPr>
        <p:spPr>
          <a:xfrm>
            <a:off x="570548" y="2660333"/>
            <a:ext cx="6037262" cy="26193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3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、关闭中断，防止调度器开启之前或过程中，受中断干扰，会在运行第一个任务时打开中断</a:t>
            </a:r>
          </a:p>
        </p:txBody>
      </p:sp>
      <p:sp>
        <p:nvSpPr>
          <p:cNvPr id="4110" name="文本框 25"/>
          <p:cNvSpPr txBox="1"/>
          <p:nvPr/>
        </p:nvSpPr>
        <p:spPr>
          <a:xfrm>
            <a:off x="570548" y="3066733"/>
            <a:ext cx="4289425" cy="26193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4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、初始化全局变量，并将任务调度器的运行标志设置为已运行</a:t>
            </a:r>
            <a:endParaRPr lang="en-US" altLang="zh-CN" sz="11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11" name="文本框 27"/>
          <p:cNvSpPr txBox="1"/>
          <p:nvPr/>
        </p:nvSpPr>
        <p:spPr>
          <a:xfrm>
            <a:off x="570548" y="3474720"/>
            <a:ext cx="4129087" cy="2603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5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、初始化任务运行时间统计功能的时基定时器 </a:t>
            </a:r>
            <a:endParaRPr lang="en-US" altLang="zh-CN" sz="11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12" name="文本框 29"/>
          <p:cNvSpPr txBox="1"/>
          <p:nvPr/>
        </p:nvSpPr>
        <p:spPr>
          <a:xfrm>
            <a:off x="570548" y="3881120"/>
            <a:ext cx="4129087" cy="26193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6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、调用函数 </a:t>
            </a:r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xPortStartScheduler() </a:t>
            </a:r>
          </a:p>
        </p:txBody>
      </p:sp>
      <p:sp>
        <p:nvSpPr>
          <p:cNvPr id="4113" name="文本框 17"/>
          <p:cNvSpPr txBox="1"/>
          <p:nvPr/>
        </p:nvSpPr>
        <p:spPr>
          <a:xfrm>
            <a:off x="570548" y="1447483"/>
            <a:ext cx="2439987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该函数内部实现，如下：</a:t>
            </a:r>
          </a:p>
        </p:txBody>
      </p:sp>
      <p:sp>
        <p:nvSpPr>
          <p:cNvPr id="6152" name="文本框 9"/>
          <p:cNvSpPr txBox="1"/>
          <p:nvPr/>
        </p:nvSpPr>
        <p:spPr>
          <a:xfrm>
            <a:off x="5463858" y="3127375"/>
            <a:ext cx="4619625" cy="4603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     </a:t>
            </a:r>
            <a:r>
              <a:rPr lang="zh-CN" altLang="en-US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 </a:t>
            </a:r>
            <a:r>
              <a:rPr lang="en-US" altLang="zh-CN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xPortStartScheduler() 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5129" name="文本框 17"/>
          <p:cNvSpPr txBox="1"/>
          <p:nvPr/>
        </p:nvSpPr>
        <p:spPr>
          <a:xfrm>
            <a:off x="4139883" y="3684588"/>
            <a:ext cx="7467600" cy="30638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作用：该函数用于完成启动任务调度器中与硬件架构相关的配置部分，以及启动第一个任务 </a:t>
            </a:r>
          </a:p>
        </p:txBody>
      </p:sp>
      <p:sp>
        <p:nvSpPr>
          <p:cNvPr id="5130" name="文本框 19"/>
          <p:cNvSpPr txBox="1"/>
          <p:nvPr/>
        </p:nvSpPr>
        <p:spPr>
          <a:xfrm>
            <a:off x="4170045" y="4481513"/>
            <a:ext cx="5675313" cy="2603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、检测用户在 </a:t>
            </a:r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FreeRTOSConfig.h 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文件中对中断的相关配置是否有误 </a:t>
            </a:r>
          </a:p>
        </p:txBody>
      </p:sp>
      <p:sp>
        <p:nvSpPr>
          <p:cNvPr id="5131" name="文本框 21"/>
          <p:cNvSpPr txBox="1"/>
          <p:nvPr/>
        </p:nvSpPr>
        <p:spPr>
          <a:xfrm>
            <a:off x="4170045" y="4918075"/>
            <a:ext cx="5602288" cy="26193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、配置 </a:t>
            </a:r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PendSV 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和 </a:t>
            </a:r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SysTick 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的中断优先级为最低优先级</a:t>
            </a:r>
          </a:p>
        </p:txBody>
      </p:sp>
      <p:sp>
        <p:nvSpPr>
          <p:cNvPr id="5132" name="文本框 23"/>
          <p:cNvSpPr txBox="1"/>
          <p:nvPr/>
        </p:nvSpPr>
        <p:spPr>
          <a:xfrm>
            <a:off x="4170045" y="5354638"/>
            <a:ext cx="3779838" cy="26193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3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、调用函数 </a:t>
            </a:r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vPortSetupTimerInterrupt()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配置 </a:t>
            </a:r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SysTick</a:t>
            </a:r>
            <a:endParaRPr lang="zh-CN" altLang="en-US" sz="11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33" name="文本框 25"/>
          <p:cNvSpPr txBox="1"/>
          <p:nvPr/>
        </p:nvSpPr>
        <p:spPr>
          <a:xfrm>
            <a:off x="4170045" y="5791200"/>
            <a:ext cx="6535738" cy="26193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4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、初始化临界区嵌套计数器为 </a:t>
            </a:r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0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endParaRPr lang="en-US" altLang="zh-CN" sz="11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34" name="文本框 27"/>
          <p:cNvSpPr txBox="1"/>
          <p:nvPr/>
        </p:nvSpPr>
        <p:spPr>
          <a:xfrm>
            <a:off x="4170045" y="6227763"/>
            <a:ext cx="4129088" cy="26193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5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、调用函数 </a:t>
            </a:r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prvEnableVFP()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使能 </a:t>
            </a:r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FPU</a:t>
            </a:r>
          </a:p>
        </p:txBody>
      </p:sp>
      <p:sp>
        <p:nvSpPr>
          <p:cNvPr id="5135" name="文本框 29"/>
          <p:cNvSpPr txBox="1"/>
          <p:nvPr/>
        </p:nvSpPr>
        <p:spPr>
          <a:xfrm>
            <a:off x="4170045" y="6664325"/>
            <a:ext cx="4289425" cy="26193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6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、调用函数 </a:t>
            </a:r>
            <a:r>
              <a:rPr lang="en-US" altLang="zh-CN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prvStartFirstTask()</a:t>
            </a:r>
            <a:r>
              <a:rPr lang="zh-CN" altLang="en-US" sz="11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启动第一个任务</a:t>
            </a:r>
            <a:endParaRPr lang="en-US" altLang="zh-CN" sz="11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36" name="文本框 15"/>
          <p:cNvSpPr txBox="1"/>
          <p:nvPr/>
        </p:nvSpPr>
        <p:spPr>
          <a:xfrm>
            <a:off x="4139883" y="4087813"/>
            <a:ext cx="2439987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该函数内部实现，如下：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1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5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5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5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5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05" grpId="0"/>
      <p:bldP spid="4107" grpId="0"/>
      <p:bldP spid="4108" grpId="0"/>
      <p:bldP spid="4109" grpId="0"/>
      <p:bldP spid="4110" grpId="0"/>
      <p:bldP spid="4111" grpId="0"/>
      <p:bldP spid="4112" grpId="0"/>
      <p:bldP spid="4113" grpId="0"/>
      <p:bldP spid="5130" grpId="0"/>
      <p:bldP spid="5131" grpId="0"/>
      <p:bldP spid="5132" grpId="0"/>
      <p:bldP spid="5133" grpId="0"/>
      <p:bldP spid="5134" grpId="0"/>
      <p:bldP spid="5135" grpId="0"/>
      <p:bldP spid="5136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44" name="文本框 9"/>
          <p:cNvSpPr txBox="1"/>
          <p:nvPr/>
        </p:nvSpPr>
        <p:spPr>
          <a:xfrm>
            <a:off x="1432878" y="803275"/>
            <a:ext cx="2535237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任务切换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12297" name="文本框 9"/>
          <p:cNvSpPr txBox="1"/>
          <p:nvPr/>
        </p:nvSpPr>
        <p:spPr>
          <a:xfrm>
            <a:off x="1659890" y="1327150"/>
            <a:ext cx="7705725" cy="38258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任务切换的本质：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就是</a:t>
            </a:r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CPU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寄存器的切换。</a:t>
            </a:r>
            <a:endParaRPr lang="en-US" altLang="zh-CN" sz="14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2298" name="文本框 12"/>
          <p:cNvSpPr txBox="1"/>
          <p:nvPr/>
        </p:nvSpPr>
        <p:spPr>
          <a:xfrm>
            <a:off x="1656715" y="3009900"/>
            <a:ext cx="6815138" cy="30638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对任务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A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保存现场，对任务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B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恢复现场，这个整体的过程称之为：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上下文切换</a:t>
            </a:r>
          </a:p>
        </p:txBody>
      </p:sp>
      <p:sp>
        <p:nvSpPr>
          <p:cNvPr id="12299" name="文本框 13"/>
          <p:cNvSpPr txBox="1"/>
          <p:nvPr/>
        </p:nvSpPr>
        <p:spPr>
          <a:xfrm>
            <a:off x="1656715" y="2128838"/>
            <a:ext cx="7962900" cy="38100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第一步：需暂停任务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A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的执行，并将此时任务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A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的寄存器保存到任务堆栈，这个过程叫做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保存现场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；</a:t>
            </a:r>
            <a:endParaRPr lang="zh-CN" altLang="en-US" sz="1400" dirty="0"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12300" name="文本框 14"/>
          <p:cNvSpPr txBox="1"/>
          <p:nvPr/>
        </p:nvSpPr>
        <p:spPr>
          <a:xfrm>
            <a:off x="1656715" y="2544763"/>
            <a:ext cx="8375650" cy="38100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第二步：将任务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B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的各个寄存器值（被存于任务堆栈中）恢复到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CPU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寄存器中，这个过程叫做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恢复现场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；</a:t>
            </a:r>
          </a:p>
        </p:txBody>
      </p:sp>
      <p:sp>
        <p:nvSpPr>
          <p:cNvPr id="12301" name="文本框 16"/>
          <p:cNvSpPr txBox="1"/>
          <p:nvPr/>
        </p:nvSpPr>
        <p:spPr>
          <a:xfrm>
            <a:off x="1656715" y="1789113"/>
            <a:ext cx="46228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假设当由任务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A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切换到任务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B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时，主要分为两步：</a:t>
            </a:r>
            <a:endParaRPr lang="zh-CN" altLang="en-US" sz="1400" dirty="0"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73063" y="3760788"/>
            <a:ext cx="5080000" cy="147637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zh-CN" altLang="en-US" sz="140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堆 (Heap) 的作用</a:t>
            </a:r>
          </a:p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堆的作用是提供全局的、动态的、生命周期可控的内存空间。当你需要在多个函数间共享一块数据，或者需要的数据大小在编译时无法确定（比如根据用户输入决定数组大小），就必须使用堆。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6401118" y="3611880"/>
            <a:ext cx="5080000" cy="2491740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zh-CN" altLang="en-US" sz="140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栈 (Stack) 的作用</a:t>
            </a:r>
          </a:p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栈是为函数的执行而服务的，它的核心作用是维护函数调用的上下文。每当调用一个函数时，系统会在栈上为其分配一块称为 “栈帧 (Stack Frame)” 的内存区域，用于存放：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函数的返回地址：函数执行完后，应该回到调用它的下一条指令的地址。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函数的参数：调用函数时传入的实参。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函数的局部变量：在函数内部定义的非静态局部变量。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函数的调用上下文：一些需要保存的寄存器值。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2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3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2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3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2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297" grpId="0"/>
      <p:bldP spid="12298" grpId="0"/>
      <p:bldP spid="12299" grpId="0"/>
      <p:bldP spid="12300" grpId="0"/>
      <p:bldP spid="1230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文本框 9"/>
          <p:cNvSpPr txBox="1"/>
          <p:nvPr/>
        </p:nvSpPr>
        <p:spPr>
          <a:xfrm>
            <a:off x="1669733" y="584200"/>
            <a:ext cx="2535237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任务切换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grpSp>
        <p:nvGrpSpPr>
          <p:cNvPr id="13315" name="组合 18"/>
          <p:cNvGrpSpPr/>
          <p:nvPr/>
        </p:nvGrpSpPr>
        <p:grpSpPr>
          <a:xfrm>
            <a:off x="6648133" y="1768475"/>
            <a:ext cx="1263650" cy="3794125"/>
            <a:chOff x="3682471" y="835824"/>
            <a:chExt cx="1263487" cy="3794125"/>
          </a:xfrm>
        </p:grpSpPr>
        <p:sp>
          <p:nvSpPr>
            <p:cNvPr id="78" name="矩形 77"/>
            <p:cNvSpPr/>
            <p:nvPr/>
          </p:nvSpPr>
          <p:spPr>
            <a:xfrm>
              <a:off x="3711042" y="1078712"/>
              <a:ext cx="1199995" cy="3551237"/>
            </a:xfrm>
            <a:prstGeom prst="rect">
              <a:avLst/>
            </a:prstGeom>
            <a:ln>
              <a:solidFill>
                <a:srgbClr val="0070C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anchor="ctr"/>
            <a:lstStyle/>
            <a:p>
              <a:pPr marL="0" marR="0" lvl="0" indent="0" algn="ctr" defTabSz="457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425" name="文本框 112"/>
            <p:cNvSpPr txBox="1"/>
            <p:nvPr/>
          </p:nvSpPr>
          <p:spPr>
            <a:xfrm>
              <a:off x="3682471" y="835824"/>
              <a:ext cx="1263487" cy="26161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zh-CN" altLang="en-US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任务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B</a:t>
              </a:r>
              <a:r>
                <a:rPr lang="zh-CN" altLang="en-US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的任务堆栈</a:t>
              </a:r>
            </a:p>
          </p:txBody>
        </p:sp>
        <p:cxnSp>
          <p:nvCxnSpPr>
            <p:cNvPr id="80" name="直接连接符 79"/>
            <p:cNvCxnSpPr/>
            <p:nvPr/>
          </p:nvCxnSpPr>
          <p:spPr>
            <a:xfrm>
              <a:off x="3701519" y="1278737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连接符 80"/>
            <p:cNvCxnSpPr/>
            <p:nvPr/>
          </p:nvCxnSpPr>
          <p:spPr>
            <a:xfrm>
              <a:off x="3701519" y="1499399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直接连接符 81"/>
            <p:cNvCxnSpPr/>
            <p:nvPr/>
          </p:nvCxnSpPr>
          <p:spPr>
            <a:xfrm>
              <a:off x="3701519" y="1720062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直接连接符 82"/>
            <p:cNvCxnSpPr/>
            <p:nvPr/>
          </p:nvCxnSpPr>
          <p:spPr>
            <a:xfrm>
              <a:off x="3701519" y="1940724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直接连接符 83"/>
            <p:cNvCxnSpPr/>
            <p:nvPr/>
          </p:nvCxnSpPr>
          <p:spPr>
            <a:xfrm>
              <a:off x="3701519" y="2161387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直接连接符 84"/>
            <p:cNvCxnSpPr/>
            <p:nvPr/>
          </p:nvCxnSpPr>
          <p:spPr>
            <a:xfrm>
              <a:off x="3701519" y="2382049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直接连接符 85"/>
            <p:cNvCxnSpPr/>
            <p:nvPr/>
          </p:nvCxnSpPr>
          <p:spPr>
            <a:xfrm>
              <a:off x="3701519" y="2602712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直接连接符 86"/>
            <p:cNvCxnSpPr/>
            <p:nvPr/>
          </p:nvCxnSpPr>
          <p:spPr>
            <a:xfrm>
              <a:off x="3701519" y="2823374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直接连接符 87"/>
            <p:cNvCxnSpPr/>
            <p:nvPr/>
          </p:nvCxnSpPr>
          <p:spPr>
            <a:xfrm>
              <a:off x="3701519" y="3044037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直接连接符 88"/>
            <p:cNvCxnSpPr/>
            <p:nvPr/>
          </p:nvCxnSpPr>
          <p:spPr>
            <a:xfrm>
              <a:off x="3701519" y="3264699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直接连接符 89"/>
            <p:cNvCxnSpPr/>
            <p:nvPr/>
          </p:nvCxnSpPr>
          <p:spPr>
            <a:xfrm>
              <a:off x="3701519" y="3485362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接连接符 90"/>
            <p:cNvCxnSpPr/>
            <p:nvPr/>
          </p:nvCxnSpPr>
          <p:spPr>
            <a:xfrm>
              <a:off x="3701519" y="3706024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直接连接符 91"/>
            <p:cNvCxnSpPr/>
            <p:nvPr/>
          </p:nvCxnSpPr>
          <p:spPr>
            <a:xfrm>
              <a:off x="3711042" y="3926687"/>
              <a:ext cx="11999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439" name="文本框 142"/>
            <p:cNvSpPr txBox="1"/>
            <p:nvPr/>
          </p:nvSpPr>
          <p:spPr>
            <a:xfrm>
              <a:off x="3877734" y="1066011"/>
              <a:ext cx="868362" cy="246063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xPSR</a:t>
              </a:r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寄存器</a:t>
              </a:r>
            </a:p>
          </p:txBody>
        </p:sp>
        <p:sp>
          <p:nvSpPr>
            <p:cNvPr id="15440" name="文本框 143"/>
            <p:cNvSpPr txBox="1"/>
            <p:nvPr/>
          </p:nvSpPr>
          <p:spPr>
            <a:xfrm>
              <a:off x="3965046" y="1285086"/>
              <a:ext cx="612668" cy="246221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Task_b</a:t>
              </a:r>
              <a:endParaRPr lang="zh-CN" altLang="en-US" sz="10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5441" name="文本框 144"/>
            <p:cNvSpPr txBox="1"/>
            <p:nvPr/>
          </p:nvSpPr>
          <p:spPr>
            <a:xfrm>
              <a:off x="3938059" y="1513686"/>
              <a:ext cx="717550" cy="246063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LR</a:t>
              </a:r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寄存器</a:t>
              </a:r>
            </a:p>
          </p:txBody>
        </p:sp>
        <p:sp>
          <p:nvSpPr>
            <p:cNvPr id="15442" name="文本框 145"/>
            <p:cNvSpPr txBox="1"/>
            <p:nvPr/>
          </p:nvSpPr>
          <p:spPr>
            <a:xfrm>
              <a:off x="3919009" y="1721649"/>
              <a:ext cx="790575" cy="246062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R12</a:t>
              </a:r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寄存器</a:t>
              </a:r>
            </a:p>
          </p:txBody>
        </p:sp>
        <p:sp>
          <p:nvSpPr>
            <p:cNvPr id="15443" name="文本框 146"/>
            <p:cNvSpPr txBox="1"/>
            <p:nvPr/>
          </p:nvSpPr>
          <p:spPr>
            <a:xfrm>
              <a:off x="3936471" y="2170911"/>
              <a:ext cx="720725" cy="24765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R2</a:t>
              </a:r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寄存器</a:t>
              </a:r>
            </a:p>
          </p:txBody>
        </p:sp>
        <p:sp>
          <p:nvSpPr>
            <p:cNvPr id="15444" name="文本框 154"/>
            <p:cNvSpPr txBox="1"/>
            <p:nvPr/>
          </p:nvSpPr>
          <p:spPr>
            <a:xfrm>
              <a:off x="3925359" y="1959774"/>
              <a:ext cx="720725" cy="246062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R3</a:t>
              </a:r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寄存器</a:t>
              </a:r>
            </a:p>
          </p:txBody>
        </p:sp>
        <p:sp>
          <p:nvSpPr>
            <p:cNvPr id="15445" name="文本框 155"/>
            <p:cNvSpPr txBox="1"/>
            <p:nvPr/>
          </p:nvSpPr>
          <p:spPr>
            <a:xfrm>
              <a:off x="3944409" y="2404274"/>
              <a:ext cx="720725" cy="246062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R1</a:t>
              </a:r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寄存器</a:t>
              </a:r>
            </a:p>
          </p:txBody>
        </p:sp>
        <p:sp>
          <p:nvSpPr>
            <p:cNvPr id="15446" name="文本框 156"/>
            <p:cNvSpPr txBox="1"/>
            <p:nvPr/>
          </p:nvSpPr>
          <p:spPr>
            <a:xfrm>
              <a:off x="3934884" y="2623349"/>
              <a:ext cx="720725" cy="24765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R0</a:t>
              </a:r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寄存器</a:t>
              </a:r>
            </a:p>
          </p:txBody>
        </p:sp>
        <p:sp>
          <p:nvSpPr>
            <p:cNvPr id="15447" name="文本框 157"/>
            <p:cNvSpPr txBox="1"/>
            <p:nvPr/>
          </p:nvSpPr>
          <p:spPr>
            <a:xfrm>
              <a:off x="3780896" y="2839249"/>
              <a:ext cx="982663" cy="246062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EXC_RETURN</a:t>
              </a:r>
            </a:p>
          </p:txBody>
        </p:sp>
        <p:sp>
          <p:nvSpPr>
            <p:cNvPr id="15448" name="文本框 158"/>
            <p:cNvSpPr txBox="1"/>
            <p:nvPr/>
          </p:nvSpPr>
          <p:spPr>
            <a:xfrm>
              <a:off x="3899959" y="3074199"/>
              <a:ext cx="790575" cy="24765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R11</a:t>
              </a:r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寄存器</a:t>
              </a:r>
            </a:p>
          </p:txBody>
        </p:sp>
        <p:sp>
          <p:nvSpPr>
            <p:cNvPr id="15449" name="文本框 159"/>
            <p:cNvSpPr txBox="1"/>
            <p:nvPr/>
          </p:nvSpPr>
          <p:spPr>
            <a:xfrm>
              <a:off x="3899959" y="3283749"/>
              <a:ext cx="790575" cy="246062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R10</a:t>
              </a:r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寄存器</a:t>
              </a:r>
            </a:p>
          </p:txBody>
        </p:sp>
        <p:sp>
          <p:nvSpPr>
            <p:cNvPr id="15450" name="文本框 160"/>
            <p:cNvSpPr txBox="1"/>
            <p:nvPr/>
          </p:nvSpPr>
          <p:spPr>
            <a:xfrm>
              <a:off x="4060296" y="3485361"/>
              <a:ext cx="469900" cy="246063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… …</a:t>
              </a:r>
              <a:endParaRPr lang="zh-CN" altLang="en-US" sz="10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5451" name="文本框 161"/>
            <p:cNvSpPr txBox="1"/>
            <p:nvPr/>
          </p:nvSpPr>
          <p:spPr>
            <a:xfrm>
              <a:off x="3919009" y="3713961"/>
              <a:ext cx="719137" cy="246063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R5</a:t>
              </a:r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寄存器</a:t>
              </a:r>
            </a:p>
          </p:txBody>
        </p:sp>
        <p:sp>
          <p:nvSpPr>
            <p:cNvPr id="15452" name="文本框 162"/>
            <p:cNvSpPr txBox="1"/>
            <p:nvPr/>
          </p:nvSpPr>
          <p:spPr>
            <a:xfrm>
              <a:off x="3919009" y="3952086"/>
              <a:ext cx="719137" cy="246063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en-US" altLang="zh-CN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R4</a:t>
              </a:r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寄存器</a:t>
              </a:r>
            </a:p>
          </p:txBody>
        </p:sp>
        <p:cxnSp>
          <p:nvCxnSpPr>
            <p:cNvPr id="149" name="直接连接符 148"/>
            <p:cNvCxnSpPr/>
            <p:nvPr/>
          </p:nvCxnSpPr>
          <p:spPr>
            <a:xfrm>
              <a:off x="3701519" y="4182274"/>
              <a:ext cx="1209519" cy="158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454" name="文本框 162"/>
            <p:cNvSpPr txBox="1"/>
            <p:nvPr/>
          </p:nvSpPr>
          <p:spPr>
            <a:xfrm>
              <a:off x="3769947" y="4334912"/>
              <a:ext cx="1082348" cy="246221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其他任务栈空间</a:t>
              </a:r>
            </a:p>
          </p:txBody>
        </p:sp>
      </p:grpSp>
      <p:grpSp>
        <p:nvGrpSpPr>
          <p:cNvPr id="13316" name="组合 21"/>
          <p:cNvGrpSpPr/>
          <p:nvPr/>
        </p:nvGrpSpPr>
        <p:grpSpPr>
          <a:xfrm>
            <a:off x="3743008" y="1762125"/>
            <a:ext cx="2994025" cy="3794125"/>
            <a:chOff x="654944" y="1034655"/>
            <a:chExt cx="2993947" cy="3794125"/>
          </a:xfrm>
        </p:grpSpPr>
        <p:grpSp>
          <p:nvGrpSpPr>
            <p:cNvPr id="15388" name="组合 16"/>
            <p:cNvGrpSpPr/>
            <p:nvPr/>
          </p:nvGrpSpPr>
          <p:grpSpPr>
            <a:xfrm>
              <a:off x="654944" y="1034655"/>
              <a:ext cx="1257300" cy="3794125"/>
              <a:chOff x="537361" y="931072"/>
              <a:chExt cx="1257300" cy="3794125"/>
            </a:xfrm>
          </p:grpSpPr>
          <p:sp>
            <p:nvSpPr>
              <p:cNvPr id="112" name="矩形 111"/>
              <p:cNvSpPr/>
              <p:nvPr/>
            </p:nvSpPr>
            <p:spPr>
              <a:xfrm>
                <a:off x="565935" y="1173960"/>
                <a:ext cx="1200119" cy="3551237"/>
              </a:xfrm>
              <a:prstGeom prst="rect">
                <a:avLst/>
              </a:prstGeom>
              <a:ln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marL="0" marR="0" lvl="0" indent="0" algn="ctr" defTabSz="4572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chemeClr val="dk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5394" name="文本框 112"/>
              <p:cNvSpPr txBox="1"/>
              <p:nvPr/>
            </p:nvSpPr>
            <p:spPr>
              <a:xfrm>
                <a:off x="537361" y="931072"/>
                <a:ext cx="1257300" cy="261937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zh-CN" altLang="en-US" sz="11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任务</a:t>
                </a:r>
                <a:r>
                  <a:rPr lang="en-US" altLang="zh-CN" sz="11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A</a:t>
                </a:r>
                <a:r>
                  <a:rPr lang="zh-CN" altLang="en-US" sz="11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的任务堆栈</a:t>
                </a:r>
              </a:p>
            </p:txBody>
          </p:sp>
          <p:cxnSp>
            <p:nvCxnSpPr>
              <p:cNvPr id="114" name="直接连接符 113"/>
              <p:cNvCxnSpPr/>
              <p:nvPr/>
            </p:nvCxnSpPr>
            <p:spPr>
              <a:xfrm>
                <a:off x="556411" y="1373985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接连接符 114"/>
              <p:cNvCxnSpPr/>
              <p:nvPr/>
            </p:nvCxnSpPr>
            <p:spPr>
              <a:xfrm>
                <a:off x="556411" y="1594647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直接连接符 115"/>
              <p:cNvCxnSpPr/>
              <p:nvPr/>
            </p:nvCxnSpPr>
            <p:spPr>
              <a:xfrm>
                <a:off x="556411" y="1815310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直接连接符 116"/>
              <p:cNvCxnSpPr/>
              <p:nvPr/>
            </p:nvCxnSpPr>
            <p:spPr>
              <a:xfrm>
                <a:off x="556411" y="2035972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直接连接符 117"/>
              <p:cNvCxnSpPr/>
              <p:nvPr/>
            </p:nvCxnSpPr>
            <p:spPr>
              <a:xfrm>
                <a:off x="556411" y="2256635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直接连接符 118"/>
              <p:cNvCxnSpPr/>
              <p:nvPr/>
            </p:nvCxnSpPr>
            <p:spPr>
              <a:xfrm>
                <a:off x="556411" y="2477297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直接连接符 119"/>
              <p:cNvCxnSpPr/>
              <p:nvPr/>
            </p:nvCxnSpPr>
            <p:spPr>
              <a:xfrm>
                <a:off x="556411" y="2697960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直接连接符 120"/>
              <p:cNvCxnSpPr/>
              <p:nvPr/>
            </p:nvCxnSpPr>
            <p:spPr>
              <a:xfrm>
                <a:off x="556411" y="2918622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直接连接符 121"/>
              <p:cNvCxnSpPr/>
              <p:nvPr/>
            </p:nvCxnSpPr>
            <p:spPr>
              <a:xfrm>
                <a:off x="556411" y="3139285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直接连接符 122"/>
              <p:cNvCxnSpPr/>
              <p:nvPr/>
            </p:nvCxnSpPr>
            <p:spPr>
              <a:xfrm>
                <a:off x="556411" y="3359947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直接连接符 123"/>
              <p:cNvCxnSpPr/>
              <p:nvPr/>
            </p:nvCxnSpPr>
            <p:spPr>
              <a:xfrm>
                <a:off x="556411" y="3580610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直接连接符 124"/>
              <p:cNvCxnSpPr/>
              <p:nvPr/>
            </p:nvCxnSpPr>
            <p:spPr>
              <a:xfrm>
                <a:off x="556411" y="3801272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直接连接符 125"/>
              <p:cNvCxnSpPr/>
              <p:nvPr/>
            </p:nvCxnSpPr>
            <p:spPr>
              <a:xfrm>
                <a:off x="565935" y="4021935"/>
                <a:ext cx="120011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408" name="文本框 142"/>
              <p:cNvSpPr txBox="1"/>
              <p:nvPr/>
            </p:nvSpPr>
            <p:spPr>
              <a:xfrm>
                <a:off x="732624" y="1161259"/>
                <a:ext cx="868362" cy="246063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xPSR</a:t>
                </a:r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</a:p>
            </p:txBody>
          </p:sp>
          <p:sp>
            <p:nvSpPr>
              <p:cNvPr id="15409" name="文本框 143"/>
              <p:cNvSpPr txBox="1"/>
              <p:nvPr/>
            </p:nvSpPr>
            <p:spPr>
              <a:xfrm>
                <a:off x="819936" y="1380334"/>
                <a:ext cx="606256" cy="246221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Task_a</a:t>
                </a:r>
                <a:endPara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endParaRPr>
              </a:p>
            </p:txBody>
          </p:sp>
          <p:sp>
            <p:nvSpPr>
              <p:cNvPr id="15410" name="文本框 144"/>
              <p:cNvSpPr txBox="1"/>
              <p:nvPr/>
            </p:nvSpPr>
            <p:spPr>
              <a:xfrm>
                <a:off x="792949" y="1608934"/>
                <a:ext cx="717550" cy="246063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LR</a:t>
                </a:r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</a:p>
            </p:txBody>
          </p:sp>
          <p:sp>
            <p:nvSpPr>
              <p:cNvPr id="15411" name="文本框 145"/>
              <p:cNvSpPr txBox="1"/>
              <p:nvPr/>
            </p:nvSpPr>
            <p:spPr>
              <a:xfrm>
                <a:off x="773899" y="1816897"/>
                <a:ext cx="790575" cy="246062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R12</a:t>
                </a:r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</a:p>
            </p:txBody>
          </p:sp>
          <p:sp>
            <p:nvSpPr>
              <p:cNvPr id="15412" name="文本框 146"/>
              <p:cNvSpPr txBox="1"/>
              <p:nvPr/>
            </p:nvSpPr>
            <p:spPr>
              <a:xfrm>
                <a:off x="791361" y="2266159"/>
                <a:ext cx="720725" cy="24765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R2</a:t>
                </a:r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</a:p>
            </p:txBody>
          </p:sp>
          <p:sp>
            <p:nvSpPr>
              <p:cNvPr id="15413" name="文本框 154"/>
              <p:cNvSpPr txBox="1"/>
              <p:nvPr/>
            </p:nvSpPr>
            <p:spPr>
              <a:xfrm>
                <a:off x="780249" y="2055022"/>
                <a:ext cx="720725" cy="246062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R3</a:t>
                </a:r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</a:p>
            </p:txBody>
          </p:sp>
          <p:sp>
            <p:nvSpPr>
              <p:cNvPr id="15414" name="文本框 155"/>
              <p:cNvSpPr txBox="1"/>
              <p:nvPr/>
            </p:nvSpPr>
            <p:spPr>
              <a:xfrm>
                <a:off x="799299" y="2499522"/>
                <a:ext cx="720725" cy="246062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R1</a:t>
                </a:r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</a:p>
            </p:txBody>
          </p:sp>
          <p:sp>
            <p:nvSpPr>
              <p:cNvPr id="15415" name="文本框 156"/>
              <p:cNvSpPr txBox="1"/>
              <p:nvPr/>
            </p:nvSpPr>
            <p:spPr>
              <a:xfrm>
                <a:off x="789774" y="2718597"/>
                <a:ext cx="720725" cy="24765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R0</a:t>
                </a:r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</a:p>
            </p:txBody>
          </p:sp>
          <p:sp>
            <p:nvSpPr>
              <p:cNvPr id="15416" name="文本框 157"/>
              <p:cNvSpPr txBox="1"/>
              <p:nvPr/>
            </p:nvSpPr>
            <p:spPr>
              <a:xfrm>
                <a:off x="635786" y="2934497"/>
                <a:ext cx="982663" cy="246062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EXC_RETURN</a:t>
                </a:r>
              </a:p>
            </p:txBody>
          </p:sp>
          <p:sp>
            <p:nvSpPr>
              <p:cNvPr id="15417" name="文本框 158"/>
              <p:cNvSpPr txBox="1"/>
              <p:nvPr/>
            </p:nvSpPr>
            <p:spPr>
              <a:xfrm>
                <a:off x="754849" y="3169447"/>
                <a:ext cx="790575" cy="24765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R11</a:t>
                </a:r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</a:p>
            </p:txBody>
          </p:sp>
          <p:sp>
            <p:nvSpPr>
              <p:cNvPr id="15418" name="文本框 159"/>
              <p:cNvSpPr txBox="1"/>
              <p:nvPr/>
            </p:nvSpPr>
            <p:spPr>
              <a:xfrm>
                <a:off x="754849" y="3378997"/>
                <a:ext cx="790575" cy="246062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R10</a:t>
                </a:r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</a:p>
            </p:txBody>
          </p:sp>
          <p:sp>
            <p:nvSpPr>
              <p:cNvPr id="15419" name="文本框 160"/>
              <p:cNvSpPr txBox="1"/>
              <p:nvPr/>
            </p:nvSpPr>
            <p:spPr>
              <a:xfrm>
                <a:off x="915186" y="3580609"/>
                <a:ext cx="469900" cy="246063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… …</a:t>
                </a:r>
                <a:endPara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endParaRPr>
              </a:p>
            </p:txBody>
          </p:sp>
          <p:sp>
            <p:nvSpPr>
              <p:cNvPr id="15420" name="文本框 161"/>
              <p:cNvSpPr txBox="1"/>
              <p:nvPr/>
            </p:nvSpPr>
            <p:spPr>
              <a:xfrm>
                <a:off x="773899" y="3809209"/>
                <a:ext cx="719137" cy="246063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R5</a:t>
                </a:r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</a:p>
            </p:txBody>
          </p:sp>
          <p:sp>
            <p:nvSpPr>
              <p:cNvPr id="15421" name="文本框 162"/>
              <p:cNvSpPr txBox="1"/>
              <p:nvPr/>
            </p:nvSpPr>
            <p:spPr>
              <a:xfrm>
                <a:off x="773899" y="4047334"/>
                <a:ext cx="719137" cy="246063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R4</a:t>
                </a:r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</a:p>
            </p:txBody>
          </p:sp>
          <p:cxnSp>
            <p:nvCxnSpPr>
              <p:cNvPr id="3" name="直接连接符 2"/>
              <p:cNvCxnSpPr/>
              <p:nvPr/>
            </p:nvCxnSpPr>
            <p:spPr>
              <a:xfrm>
                <a:off x="556411" y="4277522"/>
                <a:ext cx="1209643" cy="158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423" name="文本框 162"/>
              <p:cNvSpPr txBox="1"/>
              <p:nvPr/>
            </p:nvSpPr>
            <p:spPr>
              <a:xfrm>
                <a:off x="624837" y="4430160"/>
                <a:ext cx="1082348" cy="246221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zh-CN" altLang="en-US" sz="10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其他任务栈空间</a:t>
                </a:r>
              </a:p>
            </p:txBody>
          </p:sp>
        </p:grpSp>
        <p:sp>
          <p:nvSpPr>
            <p:cNvPr id="14" name="右大括号 13"/>
            <p:cNvSpPr/>
            <p:nvPr/>
          </p:nvSpPr>
          <p:spPr>
            <a:xfrm>
              <a:off x="1912211" y="1350568"/>
              <a:ext cx="195257" cy="1557337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marL="0" marR="0" lvl="0" indent="0" algn="ctr" defTabSz="457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390" name="文本框 14"/>
            <p:cNvSpPr txBox="1"/>
            <p:nvPr/>
          </p:nvSpPr>
          <p:spPr>
            <a:xfrm>
              <a:off x="2053687" y="2002001"/>
              <a:ext cx="1595204" cy="246221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由硬件自动保存（压栈）</a:t>
              </a:r>
            </a:p>
          </p:txBody>
        </p:sp>
        <p:sp>
          <p:nvSpPr>
            <p:cNvPr id="16" name="右大括号 15"/>
            <p:cNvSpPr/>
            <p:nvPr/>
          </p:nvSpPr>
          <p:spPr>
            <a:xfrm>
              <a:off x="1912211" y="3158730"/>
              <a:ext cx="185732" cy="1133475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marL="0" marR="0" lvl="0" indent="0" algn="ctr" defTabSz="457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392" name="文本框 151"/>
            <p:cNvSpPr txBox="1"/>
            <p:nvPr/>
          </p:nvSpPr>
          <p:spPr>
            <a:xfrm>
              <a:off x="2082107" y="3587354"/>
              <a:ext cx="1338740" cy="246221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zh-CN" altLang="en-US" sz="10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需手动保存（压栈）</a:t>
              </a:r>
            </a:p>
          </p:txBody>
        </p:sp>
      </p:grpSp>
      <p:sp>
        <p:nvSpPr>
          <p:cNvPr id="24" name="矩形 23"/>
          <p:cNvSpPr/>
          <p:nvPr/>
        </p:nvSpPr>
        <p:spPr>
          <a:xfrm>
            <a:off x="3771583" y="5108575"/>
            <a:ext cx="1209675" cy="454025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54" name="矩形 153"/>
          <p:cNvSpPr/>
          <p:nvPr/>
        </p:nvSpPr>
        <p:spPr>
          <a:xfrm>
            <a:off x="6684645" y="5121275"/>
            <a:ext cx="1209675" cy="454025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grpSp>
        <p:nvGrpSpPr>
          <p:cNvPr id="13319" name="组合 29"/>
          <p:cNvGrpSpPr/>
          <p:nvPr/>
        </p:nvGrpSpPr>
        <p:grpSpPr>
          <a:xfrm>
            <a:off x="1768158" y="1752600"/>
            <a:ext cx="1419225" cy="763588"/>
            <a:chOff x="6921572" y="319995"/>
            <a:chExt cx="1419225" cy="763742"/>
          </a:xfrm>
        </p:grpSpPr>
        <p:grpSp>
          <p:nvGrpSpPr>
            <p:cNvPr id="15383" name="组合 12"/>
            <p:cNvGrpSpPr/>
            <p:nvPr/>
          </p:nvGrpSpPr>
          <p:grpSpPr>
            <a:xfrm>
              <a:off x="6921572" y="319995"/>
              <a:ext cx="1419225" cy="763742"/>
              <a:chOff x="712788" y="1176338"/>
              <a:chExt cx="1419225" cy="3429000"/>
            </a:xfrm>
          </p:grpSpPr>
          <p:sp>
            <p:nvSpPr>
              <p:cNvPr id="7" name="矩形 6"/>
              <p:cNvSpPr/>
              <p:nvPr/>
            </p:nvSpPr>
            <p:spPr>
              <a:xfrm>
                <a:off x="712788" y="1176338"/>
                <a:ext cx="1419225" cy="3429000"/>
              </a:xfrm>
              <a:prstGeom prst="rect">
                <a:avLst/>
              </a:prstGeom>
              <a:ln>
                <a:solidFill>
                  <a:srgbClr val="00206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marL="0" marR="0" lvl="0" indent="0" algn="ctr" defTabSz="4572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chemeClr val="dk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5387" name="文本框 9"/>
              <p:cNvSpPr txBox="1"/>
              <p:nvPr/>
            </p:nvSpPr>
            <p:spPr>
              <a:xfrm>
                <a:off x="974247" y="1176338"/>
                <a:ext cx="886781" cy="26161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1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CPU</a:t>
                </a:r>
                <a:r>
                  <a:rPr lang="zh-CN" altLang="en-US" sz="11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</a:p>
            </p:txBody>
          </p:sp>
        </p:grpSp>
        <p:sp>
          <p:nvSpPr>
            <p:cNvPr id="29" name="矩形 28"/>
            <p:cNvSpPr/>
            <p:nvPr/>
          </p:nvSpPr>
          <p:spPr>
            <a:xfrm>
              <a:off x="6966022" y="545465"/>
              <a:ext cx="1328737" cy="482697"/>
            </a:xfrm>
            <a:prstGeom prst="rect">
              <a:avLst/>
            </a:prstGeom>
            <a:ln>
              <a:solidFill>
                <a:srgbClr val="00206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anchor="ctr"/>
            <a:lstStyle/>
            <a:p>
              <a:pPr marL="0" marR="0" lvl="0" indent="0" algn="ctr" defTabSz="457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385" name="文本框 154"/>
            <p:cNvSpPr txBox="1"/>
            <p:nvPr/>
          </p:nvSpPr>
          <p:spPr>
            <a:xfrm>
              <a:off x="6999486" y="693141"/>
              <a:ext cx="1253869" cy="26161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zh-CN" altLang="en-US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任务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A</a:t>
              </a:r>
              <a:r>
                <a:rPr lang="zh-CN" altLang="en-US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各个寄存器</a:t>
              </a:r>
            </a:p>
          </p:txBody>
        </p:sp>
      </p:grpSp>
      <p:sp>
        <p:nvSpPr>
          <p:cNvPr id="231" name="右大括号 230"/>
          <p:cNvSpPr/>
          <p:nvPr/>
        </p:nvSpPr>
        <p:spPr>
          <a:xfrm>
            <a:off x="7919720" y="2105025"/>
            <a:ext cx="195263" cy="155733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3321" name="文本框 231"/>
          <p:cNvSpPr txBox="1"/>
          <p:nvPr/>
        </p:nvSpPr>
        <p:spPr>
          <a:xfrm>
            <a:off x="8075295" y="2749550"/>
            <a:ext cx="1595438" cy="247650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由硬件自动恢复（出栈）</a:t>
            </a:r>
          </a:p>
        </p:txBody>
      </p:sp>
      <p:sp>
        <p:nvSpPr>
          <p:cNvPr id="13322" name="文本框 232"/>
          <p:cNvSpPr txBox="1"/>
          <p:nvPr/>
        </p:nvSpPr>
        <p:spPr>
          <a:xfrm>
            <a:off x="8075295" y="4286250"/>
            <a:ext cx="1339850" cy="246063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0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需手动恢复（出栈）</a:t>
            </a:r>
          </a:p>
        </p:txBody>
      </p:sp>
      <p:sp>
        <p:nvSpPr>
          <p:cNvPr id="234" name="右大括号 233"/>
          <p:cNvSpPr/>
          <p:nvPr/>
        </p:nvSpPr>
        <p:spPr>
          <a:xfrm>
            <a:off x="7918133" y="3844925"/>
            <a:ext cx="185738" cy="113347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3324" name="文本框 1"/>
          <p:cNvSpPr txBox="1"/>
          <p:nvPr/>
        </p:nvSpPr>
        <p:spPr>
          <a:xfrm>
            <a:off x="1728470" y="1473200"/>
            <a:ext cx="1571625" cy="261938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①当前任务</a:t>
            </a:r>
            <a:r>
              <a:rPr lang="en-US" altLang="zh-CN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A</a:t>
            </a:r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在执行：</a:t>
            </a:r>
          </a:p>
        </p:txBody>
      </p:sp>
      <p:sp>
        <p:nvSpPr>
          <p:cNvPr id="13325" name="文本框 92"/>
          <p:cNvSpPr txBox="1"/>
          <p:nvPr/>
        </p:nvSpPr>
        <p:spPr>
          <a:xfrm>
            <a:off x="3344545" y="1355725"/>
            <a:ext cx="2003425" cy="430213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pPr algn="ctr"/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②切换至任务</a:t>
            </a:r>
            <a:r>
              <a:rPr lang="en-US" altLang="zh-CN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B</a:t>
            </a:r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的</a:t>
            </a:r>
            <a:endParaRPr lang="en-US" altLang="zh-CN" sz="1100" b="1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algn="ctr"/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第一步：保存任务</a:t>
            </a:r>
            <a:r>
              <a:rPr lang="en-US" altLang="zh-CN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A</a:t>
            </a:r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的寄存器</a:t>
            </a:r>
          </a:p>
        </p:txBody>
      </p:sp>
      <p:sp>
        <p:nvSpPr>
          <p:cNvPr id="13326" name="文本框 93"/>
          <p:cNvSpPr txBox="1"/>
          <p:nvPr/>
        </p:nvSpPr>
        <p:spPr>
          <a:xfrm>
            <a:off x="6181408" y="1355725"/>
            <a:ext cx="2157412" cy="430213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pPr algn="ctr"/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③切换至任务</a:t>
            </a:r>
            <a:r>
              <a:rPr lang="en-US" altLang="zh-CN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B</a:t>
            </a:r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的</a:t>
            </a:r>
            <a:endParaRPr lang="en-US" altLang="zh-CN" sz="1100" b="1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 algn="ctr"/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第二步：将任务</a:t>
            </a:r>
            <a:r>
              <a:rPr lang="en-US" altLang="zh-CN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B</a:t>
            </a:r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的寄存器恢复</a:t>
            </a:r>
          </a:p>
        </p:txBody>
      </p:sp>
      <p:grpSp>
        <p:nvGrpSpPr>
          <p:cNvPr id="13327" name="组合 29"/>
          <p:cNvGrpSpPr/>
          <p:nvPr/>
        </p:nvGrpSpPr>
        <p:grpSpPr>
          <a:xfrm>
            <a:off x="9057958" y="1739900"/>
            <a:ext cx="1419225" cy="763588"/>
            <a:chOff x="6921572" y="319995"/>
            <a:chExt cx="1419225" cy="763742"/>
          </a:xfrm>
        </p:grpSpPr>
        <p:grpSp>
          <p:nvGrpSpPr>
            <p:cNvPr id="15378" name="组合 12"/>
            <p:cNvGrpSpPr/>
            <p:nvPr/>
          </p:nvGrpSpPr>
          <p:grpSpPr>
            <a:xfrm>
              <a:off x="6921572" y="319995"/>
              <a:ext cx="1419225" cy="763742"/>
              <a:chOff x="712788" y="1176338"/>
              <a:chExt cx="1419225" cy="3429000"/>
            </a:xfrm>
          </p:grpSpPr>
          <p:sp>
            <p:nvSpPr>
              <p:cNvPr id="99" name="矩形 98"/>
              <p:cNvSpPr/>
              <p:nvPr/>
            </p:nvSpPr>
            <p:spPr>
              <a:xfrm>
                <a:off x="712788" y="1176338"/>
                <a:ext cx="1419225" cy="3429000"/>
              </a:xfrm>
              <a:prstGeom prst="rect">
                <a:avLst/>
              </a:prstGeom>
              <a:ln>
                <a:solidFill>
                  <a:srgbClr val="00206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anchor="ctr"/>
              <a:lstStyle/>
              <a:p>
                <a:pPr marL="0" marR="0" lvl="0" indent="0" algn="ctr" defTabSz="4572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chemeClr val="dk1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15382" name="文本框 9"/>
              <p:cNvSpPr txBox="1"/>
              <p:nvPr/>
            </p:nvSpPr>
            <p:spPr>
              <a:xfrm>
                <a:off x="974247" y="1176338"/>
                <a:ext cx="886781" cy="26161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>
                <a:spAutoFit/>
              </a:bodyPr>
              <a:lstStyle/>
              <a:p>
                <a:r>
                  <a:rPr lang="en-US" altLang="zh-CN" sz="11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CPU</a:t>
                </a:r>
                <a:r>
                  <a:rPr lang="zh-CN" altLang="en-US" sz="1100" dirty="0">
                    <a:solidFill>
                      <a:srgbClr val="002060"/>
                    </a:solidFill>
                    <a:latin typeface="思源黑体 CN Normal" pitchFamily="34" charset="-122"/>
                    <a:ea typeface="思源黑体 CN Normal" pitchFamily="34" charset="-122"/>
                  </a:rPr>
                  <a:t>寄存器</a:t>
                </a:r>
              </a:p>
            </p:txBody>
          </p:sp>
        </p:grpSp>
        <p:sp>
          <p:nvSpPr>
            <p:cNvPr id="97" name="矩形 96"/>
            <p:cNvSpPr/>
            <p:nvPr/>
          </p:nvSpPr>
          <p:spPr>
            <a:xfrm>
              <a:off x="6978722" y="545465"/>
              <a:ext cx="1328737" cy="482697"/>
            </a:xfrm>
            <a:prstGeom prst="rect">
              <a:avLst/>
            </a:prstGeom>
            <a:ln>
              <a:solidFill>
                <a:srgbClr val="00206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anchor="ctr"/>
            <a:lstStyle/>
            <a:p>
              <a:pPr marL="0" marR="0" lvl="0" indent="0" algn="ctr" defTabSz="457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dk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5380" name="文本框 154"/>
            <p:cNvSpPr txBox="1"/>
            <p:nvPr/>
          </p:nvSpPr>
          <p:spPr>
            <a:xfrm>
              <a:off x="6999486" y="693141"/>
              <a:ext cx="1263487" cy="261663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>
              <a:spAutoFit/>
            </a:bodyPr>
            <a:lstStyle/>
            <a:p>
              <a:r>
                <a:rPr lang="zh-CN" altLang="en-US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任务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B</a:t>
              </a:r>
              <a:r>
                <a:rPr lang="zh-CN" altLang="en-US" sz="1100" dirty="0">
                  <a:solidFill>
                    <a:srgbClr val="002060"/>
                  </a:solidFill>
                  <a:latin typeface="思源黑体 CN Normal" pitchFamily="34" charset="-122"/>
                  <a:ea typeface="思源黑体 CN Normal" pitchFamily="34" charset="-122"/>
                </a:rPr>
                <a:t>各个寄存器</a:t>
              </a:r>
            </a:p>
          </p:txBody>
        </p:sp>
      </p:grpSp>
      <p:sp>
        <p:nvSpPr>
          <p:cNvPr id="13328" name="文本框 100"/>
          <p:cNvSpPr txBox="1"/>
          <p:nvPr/>
        </p:nvSpPr>
        <p:spPr>
          <a:xfrm>
            <a:off x="8892858" y="1420813"/>
            <a:ext cx="1771650" cy="261937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④任务切换后的寄存器：</a:t>
            </a:r>
          </a:p>
        </p:txBody>
      </p:sp>
      <p:sp>
        <p:nvSpPr>
          <p:cNvPr id="15377" name="文本框 1"/>
          <p:cNvSpPr txBox="1"/>
          <p:nvPr/>
        </p:nvSpPr>
        <p:spPr>
          <a:xfrm>
            <a:off x="5679758" y="776288"/>
            <a:ext cx="4719637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注意：任务切换的过程在</a:t>
            </a:r>
            <a:r>
              <a:rPr lang="en-US" altLang="zh-CN" sz="14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PendSV</a:t>
            </a:r>
            <a:r>
              <a:rPr lang="zh-CN" altLang="en-US" sz="14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中断服务函数</a:t>
            </a:r>
            <a:r>
              <a:rPr lang="zh-CN" altLang="en-US" sz="1400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里边完成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3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3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3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3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3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3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33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33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33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33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53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ldLvl="0" animBg="1"/>
      <p:bldP spid="154" grpId="0" bldLvl="0" animBg="1"/>
      <p:bldP spid="231" grpId="0" bldLvl="0" animBg="1"/>
      <p:bldP spid="13321" grpId="0"/>
      <p:bldP spid="13322" grpId="0"/>
      <p:bldP spid="234" grpId="0" bldLvl="0" animBg="1"/>
      <p:bldP spid="13324" grpId="0"/>
      <p:bldP spid="13325" grpId="0"/>
      <p:bldP spid="13326" grpId="0"/>
      <p:bldP spid="13328" grpId="0"/>
      <p:bldP spid="15377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92" name="文本框 9"/>
          <p:cNvSpPr txBox="1"/>
          <p:nvPr/>
        </p:nvSpPr>
        <p:spPr>
          <a:xfrm>
            <a:off x="1767840" y="1274763"/>
            <a:ext cx="4846638" cy="4635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PendSV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中断是如何触发的？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12297" name="文本框 9"/>
          <p:cNvSpPr txBox="1"/>
          <p:nvPr/>
        </p:nvSpPr>
        <p:spPr>
          <a:xfrm>
            <a:off x="1771015" y="1781175"/>
            <a:ext cx="7705725" cy="38258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、滴答定时器中断调用</a:t>
            </a:r>
            <a:endParaRPr lang="en-US" altLang="zh-CN" sz="14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2301" name="文本框 16"/>
          <p:cNvSpPr txBox="1"/>
          <p:nvPr/>
        </p:nvSpPr>
        <p:spPr>
          <a:xfrm>
            <a:off x="1767840" y="2278063"/>
            <a:ext cx="462280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、执行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提供的相关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API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函数：</a:t>
            </a:r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portYIELD() </a:t>
            </a:r>
            <a:endParaRPr lang="zh-CN" altLang="en-US" sz="14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1767840" y="2946400"/>
            <a:ext cx="4438650" cy="7048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本质：通过向中断控制和状态寄存器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ICSR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的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bit28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写入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挂起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PendSV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来启动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PendSV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中断</a:t>
            </a: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6490" y="1327150"/>
            <a:ext cx="4021138" cy="3989388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miter/>
            <a:headEnd type="none" w="med" len="med"/>
            <a:tailEnd type="none" w="med" len="med"/>
          </a:ln>
        </p:spPr>
      </p:pic>
      <p:sp>
        <p:nvSpPr>
          <p:cNvPr id="18" name="文本框 16"/>
          <p:cNvSpPr txBox="1"/>
          <p:nvPr/>
        </p:nvSpPr>
        <p:spPr>
          <a:xfrm>
            <a:off x="1731328" y="4102100"/>
            <a:ext cx="4622800" cy="30638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上表摘取于</a:t>
            </a:r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《Cortex M3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权威指南</a:t>
            </a:r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(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中文</a:t>
            </a:r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)》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第</a:t>
            </a:r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131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页。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2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3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297" grpId="0"/>
      <p:bldP spid="12301" grpId="0"/>
      <p:bldP spid="15" grpId="0"/>
      <p:bldP spid="18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4" name="文本框 9"/>
          <p:cNvSpPr txBox="1"/>
          <p:nvPr/>
        </p:nvSpPr>
        <p:spPr>
          <a:xfrm>
            <a:off x="1658938" y="1425575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任务的挂起与恢复的</a:t>
            </a: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函数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graphicFrame>
        <p:nvGraphicFramePr>
          <p:cNvPr id="2" name="表格 6"/>
          <p:cNvGraphicFramePr>
            <a:graphicFrameLocks noGrp="1"/>
          </p:cNvGraphicFramePr>
          <p:nvPr/>
        </p:nvGraphicFramePr>
        <p:xfrm>
          <a:off x="2054225" y="2274888"/>
          <a:ext cx="5208588" cy="14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42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04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2744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/>
                        <a:t>API</a:t>
                      </a:r>
                      <a:r>
                        <a:rPr lang="zh-CN" altLang="en-US" sz="1400" dirty="0"/>
                        <a:t>函数</a:t>
                      </a:r>
                    </a:p>
                  </a:txBody>
                  <a:tcPr marL="91428" marR="91428" marT="45722" marB="4572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/>
                        <a:t>描述</a:t>
                      </a:r>
                    </a:p>
                  </a:txBody>
                  <a:tcPr marL="91428" marR="91428" marT="45722" marB="45722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2744">
                <a:tc>
                  <a:txBody>
                    <a:bodyPr/>
                    <a:lstStyle/>
                    <a:p>
                      <a:r>
                        <a:rPr lang="en-US" sz="12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vTaskSuspend</a:t>
                      </a:r>
                      <a:r>
                        <a:rPr 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挂起任务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2744">
                <a:tc>
                  <a:txBody>
                    <a:bodyPr/>
                    <a:lstStyle/>
                    <a:p>
                      <a:r>
                        <a:rPr lang="en-US" sz="12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vTaskResume</a:t>
                      </a:r>
                      <a:r>
                        <a:rPr 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恢复被挂起的任务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2744">
                <a:tc>
                  <a:txBody>
                    <a:bodyPr/>
                    <a:lstStyle/>
                    <a:p>
                      <a:r>
                        <a:rPr lang="en-US" sz="12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xTaskResumeFromISR</a:t>
                      </a:r>
                      <a:r>
                        <a:rPr 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在中断中恢复被挂起的任务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矩形: 圆角 8"/>
          <p:cNvSpPr/>
          <p:nvPr/>
        </p:nvSpPr>
        <p:spPr>
          <a:xfrm>
            <a:off x="2054225" y="4041775"/>
            <a:ext cx="1450975" cy="306388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挂起</a:t>
            </a:r>
          </a:p>
        </p:txBody>
      </p:sp>
      <p:sp>
        <p:nvSpPr>
          <p:cNvPr id="27" name="矩形: 圆角 26"/>
          <p:cNvSpPr/>
          <p:nvPr/>
        </p:nvSpPr>
        <p:spPr>
          <a:xfrm>
            <a:off x="2054225" y="5016500"/>
            <a:ext cx="145097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“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FromISR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”</a:t>
            </a:r>
          </a:p>
        </p:txBody>
      </p:sp>
      <p:sp>
        <p:nvSpPr>
          <p:cNvPr id="4124" name="文本框 2"/>
          <p:cNvSpPr txBox="1"/>
          <p:nvPr/>
        </p:nvSpPr>
        <p:spPr>
          <a:xfrm>
            <a:off x="3565525" y="4071938"/>
            <a:ext cx="5791200" cy="3079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挂起任务类似暂停，可恢复； 删除任务，无法恢复，类似“人死两清”</a:t>
            </a:r>
          </a:p>
        </p:txBody>
      </p:sp>
      <p:sp>
        <p:nvSpPr>
          <p:cNvPr id="4125" name="文本框 16"/>
          <p:cNvSpPr txBox="1"/>
          <p:nvPr/>
        </p:nvSpPr>
        <p:spPr>
          <a:xfrm>
            <a:off x="3556000" y="5016500"/>
            <a:ext cx="4535488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带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FromISR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后缀是在中断函数中专用的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API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</a:t>
            </a:r>
          </a:p>
        </p:txBody>
      </p:sp>
      <p:sp>
        <p:nvSpPr>
          <p:cNvPr id="14" name="矩形: 圆角 13"/>
          <p:cNvSpPr/>
          <p:nvPr/>
        </p:nvSpPr>
        <p:spPr>
          <a:xfrm>
            <a:off x="2054225" y="4529138"/>
            <a:ext cx="1450975" cy="306388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恢复</a:t>
            </a:r>
          </a:p>
        </p:txBody>
      </p:sp>
      <p:sp>
        <p:nvSpPr>
          <p:cNvPr id="4127" name="文本框 15"/>
          <p:cNvSpPr txBox="1"/>
          <p:nvPr/>
        </p:nvSpPr>
        <p:spPr>
          <a:xfrm>
            <a:off x="3565525" y="4527550"/>
            <a:ext cx="4619625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恢复被挂起的任务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ldLvl="0" animBg="1"/>
      <p:bldP spid="27" grpId="0" bldLvl="0" animBg="1"/>
      <p:bldP spid="4124" grpId="0"/>
      <p:bldP spid="4125" grpId="0"/>
      <p:bldP spid="14" grpId="0" bldLvl="0" animBg="1"/>
      <p:bldP spid="4127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8" name="文本框 9"/>
          <p:cNvSpPr txBox="1"/>
          <p:nvPr/>
        </p:nvSpPr>
        <p:spPr>
          <a:xfrm>
            <a:off x="1876108" y="1362075"/>
            <a:ext cx="4619625" cy="4603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任务挂起函数介绍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5129" name="文本框 15"/>
          <p:cNvSpPr txBox="1"/>
          <p:nvPr/>
        </p:nvSpPr>
        <p:spPr>
          <a:xfrm>
            <a:off x="1961833" y="1912938"/>
            <a:ext cx="6537325" cy="35718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zh-CN" sz="1400" dirty="0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void </a:t>
            </a:r>
            <a:r>
              <a:rPr lang="en-US" altLang="zh-CN" sz="1400" dirty="0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vTaskSuspend</a:t>
            </a:r>
            <a:r>
              <a:rPr lang="en-US" altLang="zh-CN" sz="1400" dirty="0">
                <a:solidFill>
                  <a:srgbClr val="000080"/>
                </a:solidFill>
                <a:latin typeface="思源黑体 CN Normal" pitchFamily="34" charset="-122"/>
                <a:ea typeface="思源黑体 CN Normal" pitchFamily="34" charset="-122"/>
              </a:rPr>
              <a:t>(</a:t>
            </a:r>
            <a:r>
              <a:rPr lang="en-US" altLang="zh-CN" sz="1400" dirty="0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TaskHandle_t xTaskToSuspend</a:t>
            </a:r>
            <a:r>
              <a:rPr lang="en-US" altLang="zh-CN" sz="1400" dirty="0">
                <a:solidFill>
                  <a:srgbClr val="000080"/>
                </a:solidFill>
                <a:latin typeface="思源黑体 CN Normal" pitchFamily="34" charset="-122"/>
                <a:ea typeface="思源黑体 CN Normal" pitchFamily="34" charset="-122"/>
              </a:rPr>
              <a:t>)</a:t>
            </a:r>
            <a:r>
              <a:rPr lang="en-US" altLang="zh-CN" sz="1400" dirty="0">
                <a:latin typeface="思源黑体 CN Normal" pitchFamily="34" charset="-122"/>
                <a:ea typeface="思源黑体 CN Normal" pitchFamily="34" charset="-122"/>
              </a:rPr>
              <a:t> </a:t>
            </a:r>
            <a:endParaRPr lang="en-US" altLang="zh-CN" sz="1400" dirty="0">
              <a:solidFill>
                <a:srgbClr val="00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graphicFrame>
        <p:nvGraphicFramePr>
          <p:cNvPr id="8" name="表格 9"/>
          <p:cNvGraphicFramePr>
            <a:graphicFrameLocks noGrp="1"/>
          </p:cNvGraphicFramePr>
          <p:nvPr/>
        </p:nvGraphicFramePr>
        <p:xfrm>
          <a:off x="1961833" y="2490788"/>
          <a:ext cx="6742113" cy="579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71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710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493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/>
                        <a:t>形参</a:t>
                      </a:r>
                    </a:p>
                  </a:txBody>
                  <a:tcPr marL="91426" marR="91426" marT="45751" marB="4575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/>
                        <a:t>描述</a:t>
                      </a:r>
                    </a:p>
                  </a:txBody>
                  <a:tcPr marL="91426" marR="91426" marT="45751" marB="45751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505"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xTaskToSuspend</a:t>
                      </a:r>
                      <a:r>
                        <a:rPr 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16" marB="4571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待挂起任务的任务句柄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716" marB="45716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141" name="文本框 12"/>
          <p:cNvSpPr txBox="1"/>
          <p:nvPr/>
        </p:nvSpPr>
        <p:spPr>
          <a:xfrm>
            <a:off x="1961833" y="3278188"/>
            <a:ext cx="6337300" cy="38100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此函数用于挂起任务，使用时需将宏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INCLUDE_vTaskSuspend 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配置为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。 </a:t>
            </a:r>
            <a:endParaRPr lang="en-US" altLang="zh-CN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1972945" y="4327525"/>
            <a:ext cx="6424613" cy="38258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R="0" defTabSz="457200">
              <a:lnSpc>
                <a:spcPct val="150000"/>
              </a:lnSpc>
              <a:buClrTx/>
              <a:buSzTx/>
              <a:buFontTx/>
              <a:buNone/>
              <a:defRPr/>
            </a:pPr>
            <a:r>
              <a:rPr kumimoji="0" lang="zh-CN" altLang="en-US" sz="1400" kern="1200" cap="none" spc="0" normalizeH="0" baseline="0" noProof="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  <a:cs typeface="+mn-cs"/>
              </a:rPr>
              <a:t>注意：</a:t>
            </a:r>
            <a:r>
              <a:rPr kumimoji="0" lang="zh-CN" altLang="en-US" sz="1400" kern="1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Times New Roman" panose="02020603050405020304" pitchFamily="18" charset="0"/>
              </a:rPr>
              <a:t>当传入的参数为</a:t>
            </a:r>
            <a:r>
              <a:rPr kumimoji="0" lang="en-US" altLang="zh-CN" sz="1400" kern="1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Times New Roman" panose="02020603050405020304" pitchFamily="18" charset="0"/>
              </a:rPr>
              <a:t>NULL</a:t>
            </a:r>
            <a:r>
              <a:rPr kumimoji="0" lang="zh-CN" altLang="en-US" sz="1400" kern="100" cap="none" spc="0" normalizeH="0" baseline="0" noProof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  <a:cs typeface="Times New Roman" panose="02020603050405020304" pitchFamily="18" charset="0"/>
              </a:rPr>
              <a:t>，则代表挂起任务自身（当前正在运行的任务）</a:t>
            </a:r>
            <a:endParaRPr kumimoji="0" lang="en-US" altLang="zh-CN" sz="1400" kern="100" cap="none" spc="0" normalizeH="0" baseline="0" noProof="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  <a:cs typeface="Times New Roman" panose="02020603050405020304" pitchFamily="18" charset="0"/>
            </a:endParaRPr>
          </a:p>
        </p:txBody>
      </p:sp>
      <p:sp>
        <p:nvSpPr>
          <p:cNvPr id="5143" name="文本框 14"/>
          <p:cNvSpPr txBox="1"/>
          <p:nvPr/>
        </p:nvSpPr>
        <p:spPr>
          <a:xfrm>
            <a:off x="1961833" y="3810000"/>
            <a:ext cx="6742112" cy="38258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无论优先级如何，被挂起的任务都将不再被执行，直到任务被恢复 。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29" grpId="0"/>
      <p:bldP spid="5141" grpId="0"/>
      <p:bldP spid="14" grpId="0"/>
      <p:bldP spid="5143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2" name="文本框 9"/>
          <p:cNvSpPr txBox="1"/>
          <p:nvPr/>
        </p:nvSpPr>
        <p:spPr>
          <a:xfrm>
            <a:off x="1853248" y="1387475"/>
            <a:ext cx="4619625" cy="4603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任务恢复函数介绍（任务中恢复）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6153" name="文本框 15"/>
          <p:cNvSpPr txBox="1"/>
          <p:nvPr/>
        </p:nvSpPr>
        <p:spPr>
          <a:xfrm>
            <a:off x="1858010" y="1992313"/>
            <a:ext cx="7585075" cy="30638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buNone/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任务中恢复被挂起函数：</a:t>
            </a:r>
            <a:r>
              <a:rPr lang="en-US" altLang="zh-CN" sz="1400" dirty="0">
                <a:solidFill>
                  <a:srgbClr val="0000FF"/>
                </a:solidFill>
                <a:latin typeface="思源黑体 CN Normal" pitchFamily="34" charset="-122"/>
                <a:ea typeface="思源黑体 CN Normal" pitchFamily="34" charset="-122"/>
              </a:rPr>
              <a:t>void </a:t>
            </a:r>
            <a:r>
              <a:rPr lang="en-US" altLang="zh-CN" sz="1400" dirty="0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vTaskResume</a:t>
            </a:r>
            <a:r>
              <a:rPr lang="en-US" altLang="zh-CN" sz="1400" dirty="0">
                <a:solidFill>
                  <a:srgbClr val="000080"/>
                </a:solidFill>
                <a:latin typeface="思源黑体 CN Normal" pitchFamily="34" charset="-122"/>
                <a:ea typeface="思源黑体 CN Normal" pitchFamily="34" charset="-122"/>
              </a:rPr>
              <a:t>(</a:t>
            </a:r>
            <a:r>
              <a:rPr lang="en-US" altLang="zh-CN" sz="1400" dirty="0">
                <a:solidFill>
                  <a:srgbClr val="000000"/>
                </a:solidFill>
                <a:latin typeface="思源黑体 CN Normal" pitchFamily="34" charset="-122"/>
                <a:ea typeface="思源黑体 CN Normal" pitchFamily="34" charset="-122"/>
              </a:rPr>
              <a:t>TaskHandle_t xTaskToResume</a:t>
            </a:r>
            <a:r>
              <a:rPr lang="en-US" altLang="zh-CN" sz="1400" dirty="0">
                <a:solidFill>
                  <a:srgbClr val="000080"/>
                </a:solidFill>
                <a:latin typeface="思源黑体 CN Normal" pitchFamily="34" charset="-122"/>
                <a:ea typeface="思源黑体 CN Normal" pitchFamily="34" charset="-122"/>
              </a:rPr>
              <a:t>)</a:t>
            </a:r>
            <a:r>
              <a:rPr lang="en-US" altLang="zh-CN" sz="1400" dirty="0">
                <a:latin typeface="思源黑体 CN Normal" pitchFamily="34" charset="-122"/>
                <a:ea typeface="思源黑体 CN Normal" pitchFamily="34" charset="-122"/>
              </a:rPr>
              <a:t> </a:t>
            </a:r>
            <a:endParaRPr lang="en-US" altLang="zh-CN" sz="1400" dirty="0">
              <a:solidFill>
                <a:srgbClr val="00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graphicFrame>
        <p:nvGraphicFramePr>
          <p:cNvPr id="13" name="表格 9"/>
          <p:cNvGraphicFramePr>
            <a:graphicFrameLocks noGrp="1"/>
          </p:cNvGraphicFramePr>
          <p:nvPr/>
        </p:nvGraphicFramePr>
        <p:xfrm>
          <a:off x="1905635" y="2495550"/>
          <a:ext cx="6742114" cy="5810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710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710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5768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/>
                        <a:t>形参</a:t>
                      </a:r>
                    </a:p>
                  </a:txBody>
                  <a:tcPr marL="91426" marR="91426" marT="45876" marB="4587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/>
                        <a:t>描述</a:t>
                      </a:r>
                    </a:p>
                  </a:txBody>
                  <a:tcPr marL="91426" marR="91426" marT="45876" marB="45876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5257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 err="1">
                          <a:solidFill>
                            <a:srgbClr val="00000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xTaskToResume</a:t>
                      </a:r>
                      <a:r>
                        <a:rPr 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 </a:t>
                      </a:r>
                      <a:endParaRPr lang="en-US" sz="12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841" marB="4584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待恢复任务的任务句柄</a:t>
                      </a:r>
                      <a:endParaRPr lang="zh-CN" altLang="en-US" sz="12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T="45841" marB="45841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166" name="文本框 20"/>
          <p:cNvSpPr txBox="1"/>
          <p:nvPr/>
        </p:nvSpPr>
        <p:spPr>
          <a:xfrm>
            <a:off x="1853248" y="3306763"/>
            <a:ext cx="6173787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使用该函数注意宏：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INCLUDE_vTaskSuspend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必须定义为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6167" name="文本框 22"/>
          <p:cNvSpPr txBox="1"/>
          <p:nvPr/>
        </p:nvSpPr>
        <p:spPr>
          <a:xfrm>
            <a:off x="1853248" y="3770313"/>
            <a:ext cx="8404225" cy="7048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注意：任务无论被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vTaskSuspend()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挂起多少次，只需在任务中调用 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vTakResume()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恢复一次，就可以继续运行。且被恢复的任务会进入就绪态！ 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53" grpId="0"/>
      <p:bldP spid="6166" grpId="0"/>
      <p:bldP spid="6167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313045" y="2517775"/>
            <a:ext cx="5351780" cy="1080770"/>
          </a:xfrm>
        </p:spPr>
        <p:txBody>
          <a:bodyPr wrap="square">
            <a:normAutofit/>
          </a:bodyPr>
          <a:lstStyle/>
          <a:p>
            <a:r>
              <a:rPr>
                <a:sym typeface="+mn-ea"/>
              </a:rPr>
              <a:t>时间管理</a:t>
            </a:r>
            <a:endParaRPr lang="en-US"/>
          </a:p>
        </p:txBody>
      </p:sp>
    </p:spTree>
    <p:custDataLst>
      <p:tags r:id="rId1"/>
    </p:custData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lang="zh-CN" altLang="en-US" sz="1600" i="0">
                <a:solidFill>
                  <a:srgbClr val="D92142"/>
                </a:solidFill>
                <a:latin typeface="PingFang SC"/>
                <a:ea typeface="PingFang SC"/>
              </a:rPr>
              <a:t>时间管理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544830" y="1506855"/>
            <a:ext cx="10096500" cy="41014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endParaRPr lang="zh-CN" altLang="en-US">
              <a:sym typeface="+mn-ea"/>
            </a:endParaRPr>
          </a:p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ym typeface="+mn-ea"/>
              </a:rPr>
              <a:t>系统时基（tick）</a:t>
            </a:r>
            <a:br>
              <a:rPr>
                <a:sym typeface="+mn-ea"/>
              </a:rPr>
            </a:br>
            <a:r>
              <a:rPr>
                <a:sym typeface="+mn-ea"/>
              </a:rPr>
              <a:t>vTaskDelay / vTaskDelayUntil</a:t>
            </a:r>
          </a:p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ym typeface="+mn-ea"/>
              </a:rPr>
              <a:t>定时器（软件定时器、硬件定时器）</a:t>
            </a:r>
          </a:p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ym typeface="+mn-ea"/>
              </a:rPr>
              <a:t>延时的精度与功耗影响</a:t>
            </a:r>
            <a:endParaRPr lang="zh-CN" altLang="en-US">
              <a:sym typeface="+mn-ea"/>
            </a:endParaRPr>
          </a:p>
        </p:txBody>
      </p:sp>
    </p:spTree>
  </p:cSld>
  <p:clrMapOvr>
    <a:masterClrMapping/>
  </p:clrMapOvr>
  <p:transition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815658" y="1128078"/>
            <a:ext cx="5080000" cy="506730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1" i="0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系统时基 (Tick)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1620520" y="1918970"/>
            <a:ext cx="7456805" cy="17532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是什么: 由硬件定时器产生的周期性中断，是FreeRTOS调度的时间基准。</a:t>
            </a:r>
          </a:p>
          <a:p>
            <a:pPr marL="0" indent="0">
              <a:spcBef>
                <a:spcPct val="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作用: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驱动任务调度器（时间片轮转）。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实现任务延时 (vTaskDelay等)。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提供软件定时器的计时来源。</a:t>
            </a:r>
          </a:p>
          <a:p>
            <a:pPr marL="0" indent="0">
              <a:spcBef>
                <a:spcPct val="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配置: configTICK_RATE_HZ in FreeRTOSConfig.h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例如 1000 Hz = 1个Tick是1ms。</a:t>
            </a:r>
          </a:p>
        </p:txBody>
      </p:sp>
    </p:spTree>
  </p:cSld>
  <p:clrMapOvr>
    <a:masterClrMapping/>
  </p:clrMapOvr>
  <p:transition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4" name="文本框 9"/>
          <p:cNvSpPr txBox="1"/>
          <p:nvPr/>
        </p:nvSpPr>
        <p:spPr>
          <a:xfrm>
            <a:off x="1204913" y="1252220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延时函数介绍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graphicFrame>
        <p:nvGraphicFramePr>
          <p:cNvPr id="7" name="表格 2"/>
          <p:cNvGraphicFramePr>
            <a:graphicFrameLocks noGrp="1"/>
          </p:cNvGraphicFramePr>
          <p:nvPr/>
        </p:nvGraphicFramePr>
        <p:xfrm>
          <a:off x="1649413" y="1853883"/>
          <a:ext cx="5056187" cy="781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39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922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36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00" dirty="0">
                          <a:solidFill>
                            <a:schemeClr val="bg1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函数</a:t>
                      </a:r>
                    </a:p>
                  </a:txBody>
                  <a:tcPr marL="91442" marR="91442" marT="45767" marB="45767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00" dirty="0">
                          <a:solidFill>
                            <a:schemeClr val="bg1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描述</a:t>
                      </a:r>
                    </a:p>
                  </a:txBody>
                  <a:tcPr marL="91442" marR="91442" marT="45767" marB="45767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160">
                <a:tc>
                  <a:txBody>
                    <a:bodyPr/>
                    <a:lstStyle/>
                    <a:p>
                      <a:r>
                        <a:rPr lang="en-US" sz="10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vTaskDelay</a:t>
                      </a:r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0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2" marR="91442" marT="45767" marB="45767" anchor="ctr"/>
                </a:tc>
                <a:tc>
                  <a:txBody>
                    <a:bodyPr/>
                    <a:lstStyle/>
                    <a:p>
                      <a: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相对延时</a:t>
                      </a:r>
                      <a:endParaRPr lang="zh-CN" altLang="en-US" sz="10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2" marR="91442" marT="45767" marB="45767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0530">
                <a:tc>
                  <a:txBody>
                    <a:bodyPr/>
                    <a:lstStyle/>
                    <a:p>
                      <a:r>
                        <a:rPr lang="en-US" sz="10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xTaskDelayUntil</a:t>
                      </a:r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() </a:t>
                      </a:r>
                      <a:endParaRPr lang="en-US" sz="1000" dirty="0">
                        <a:solidFill>
                          <a:srgbClr val="002060"/>
                        </a:solidFill>
                        <a:effectLst/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42" marR="91442" marT="45767" marB="45767" anchor="ctr"/>
                </a:tc>
                <a:tc>
                  <a:txBody>
                    <a:bodyPr/>
                    <a:lstStyle/>
                    <a:p>
                      <a:r>
                        <a:rPr lang="zh-CN" altLang="en-US" sz="10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</a:rPr>
                        <a:t>绝对延时</a:t>
                      </a:r>
                    </a:p>
                  </a:txBody>
                  <a:tcPr marL="91442" marR="91442" marT="45767" marB="45767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119" name="文本框 12"/>
          <p:cNvSpPr txBox="1"/>
          <p:nvPr/>
        </p:nvSpPr>
        <p:spPr>
          <a:xfrm>
            <a:off x="1649413" y="2915920"/>
            <a:ext cx="7218362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相对延时：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指每次延时都是从执行函数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vTaskDelay()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开始，直到延时指定的时间结束</a:t>
            </a:r>
          </a:p>
        </p:txBody>
      </p:sp>
      <p:sp>
        <p:nvSpPr>
          <p:cNvPr id="4120" name="文本框 13"/>
          <p:cNvSpPr txBox="1"/>
          <p:nvPr/>
        </p:nvSpPr>
        <p:spPr>
          <a:xfrm>
            <a:off x="1649413" y="3344545"/>
            <a:ext cx="7494587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绝对延时：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指将整个任务的运行周期看成一个整体，适用于需要按照一定频率运行的任务</a:t>
            </a:r>
          </a:p>
        </p:txBody>
      </p:sp>
      <p:pic>
        <p:nvPicPr>
          <p:cNvPr id="4121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7988" y="3916045"/>
            <a:ext cx="3951287" cy="1409700"/>
          </a:xfrm>
          <a:prstGeom prst="rect">
            <a:avLst/>
          </a:prstGeom>
          <a:noFill/>
          <a:ln w="9525" cap="flat" cmpd="sng">
            <a:solidFill>
              <a:schemeClr val="tx1"/>
            </a:solidFill>
            <a:prstDash val="solid"/>
            <a:miter/>
            <a:headEnd type="none" w="med" len="med"/>
            <a:tailEnd type="none" w="med" len="med"/>
          </a:ln>
        </p:spPr>
      </p:pic>
      <p:sp>
        <p:nvSpPr>
          <p:cNvPr id="4122" name="文本框 16"/>
          <p:cNvSpPr txBox="1"/>
          <p:nvPr/>
        </p:nvSpPr>
        <p:spPr>
          <a:xfrm>
            <a:off x="5951538" y="4009708"/>
            <a:ext cx="3281362" cy="27622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(1)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为任务主体，也就是任务真正要做的工作</a:t>
            </a:r>
          </a:p>
        </p:txBody>
      </p:sp>
      <p:sp>
        <p:nvSpPr>
          <p:cNvPr id="4123" name="文本框 18"/>
          <p:cNvSpPr txBox="1"/>
          <p:nvPr/>
        </p:nvSpPr>
        <p:spPr>
          <a:xfrm>
            <a:off x="5951538" y="4420870"/>
            <a:ext cx="3951287" cy="2778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(2)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是任务函数中调用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vTaskDelayUntil()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对任务进行延时</a:t>
            </a:r>
          </a:p>
        </p:txBody>
      </p:sp>
      <p:sp>
        <p:nvSpPr>
          <p:cNvPr id="4124" name="文本框 20"/>
          <p:cNvSpPr txBox="1"/>
          <p:nvPr/>
        </p:nvSpPr>
        <p:spPr>
          <a:xfrm>
            <a:off x="5951538" y="4873308"/>
            <a:ext cx="2519362" cy="277812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(3)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为其他任务在运行</a:t>
            </a:r>
          </a:p>
        </p:txBody>
      </p:sp>
    </p:spTree>
  </p:cSld>
  <p:clrMapOvr>
    <a:masterClrMapping/>
  </p:clrMapOvr>
  <p:transition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484630" y="1863725"/>
            <a:ext cx="8387715" cy="26149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ct val="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硬件定时器: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芯片外设，精度极高，几乎不占用CPU。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用于产生系统Tick、PWM、捕获输入等。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与RTOS无关，中断服务程序(ISR)应保持简短。</a:t>
            </a:r>
          </a:p>
          <a:p>
            <a:pPr marL="0" indent="0">
              <a:spcBef>
                <a:spcPct val="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FreeRTOS软件定时器: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建立在系统Tick之上，由RTOS内核管理。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创建: xTimerCreate()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启动: xTimerStart() (不要在中断中直接启动！用 xTimerStartFromISR())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回调函数在定时器服务任务中执行，可以调用大多数FreeRTOS API。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优点: 使用方便，功能强大。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缺点: 精度受系统Tick限制，回调执行时间受任务调度影响。</a:t>
            </a:r>
          </a:p>
        </p:txBody>
      </p:sp>
      <p:sp>
        <p:nvSpPr>
          <p:cNvPr id="4104" name="文本框 9"/>
          <p:cNvSpPr txBox="1"/>
          <p:nvPr/>
        </p:nvSpPr>
        <p:spPr>
          <a:xfrm>
            <a:off x="1204913" y="1252220"/>
            <a:ext cx="4619625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定时器：硬件与软件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1972628" y="5185728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/>
            <a:r>
              <a:rPr lang="zh-CN" altLang="en-US" sz="1600" b="0" i="0">
                <a:solidFill>
                  <a:srgbClr val="0F1115"/>
                </a:solidFill>
                <a:latin typeface="quote-cjk-patch"/>
                <a:ea typeface="quote-cjk-patch"/>
              </a:rPr>
              <a:t>创建 </a:t>
            </a:r>
            <a:r>
              <a:rPr lang="en-US" altLang="zh-CN" sz="1600" b="0" i="0">
                <a:solidFill>
                  <a:srgbClr val="0F1115"/>
                </a:solidFill>
                <a:latin typeface="quote-cjk-patch"/>
                <a:ea typeface="quote-cjk-patch"/>
              </a:rPr>
              <a:t>-&gt; </a:t>
            </a:r>
            <a:r>
              <a:rPr lang="zh-CN" altLang="en-US" sz="1600" b="0" i="0">
                <a:solidFill>
                  <a:srgbClr val="0F1115"/>
                </a:solidFill>
                <a:latin typeface="quote-cjk-patch"/>
                <a:ea typeface="quote-cjk-patch"/>
              </a:rPr>
              <a:t>启动 </a:t>
            </a:r>
            <a:r>
              <a:rPr lang="en-US" altLang="zh-CN" sz="1600" b="0" i="0">
                <a:solidFill>
                  <a:srgbClr val="0F1115"/>
                </a:solidFill>
                <a:latin typeface="quote-cjk-patch"/>
                <a:ea typeface="quote-cjk-patch"/>
              </a:rPr>
              <a:t>-&gt; (</a:t>
            </a:r>
            <a:r>
              <a:rPr lang="zh-CN" altLang="en-US" sz="1600" b="0" i="0">
                <a:solidFill>
                  <a:srgbClr val="0F1115"/>
                </a:solidFill>
                <a:latin typeface="quote-cjk-patch"/>
                <a:ea typeface="quote-cjk-patch"/>
              </a:rPr>
              <a:t>自动运行</a:t>
            </a:r>
            <a:r>
              <a:rPr lang="en-US" altLang="zh-CN" sz="1600" b="0" i="0">
                <a:solidFill>
                  <a:srgbClr val="0F1115"/>
                </a:solidFill>
                <a:latin typeface="quote-cjk-patch"/>
                <a:ea typeface="quote-cjk-patch"/>
              </a:rPr>
              <a:t>...) -&gt; </a:t>
            </a:r>
            <a:r>
              <a:rPr lang="zh-CN" altLang="en-US" sz="1600" b="0" i="0">
                <a:solidFill>
                  <a:srgbClr val="0F1115"/>
                </a:solidFill>
                <a:latin typeface="quote-cjk-patch"/>
                <a:ea typeface="quote-cjk-patch"/>
              </a:rPr>
              <a:t>停止</a:t>
            </a:r>
            <a:r>
              <a:rPr lang="en-US" altLang="zh-CN" sz="1600" b="0" i="0">
                <a:solidFill>
                  <a:srgbClr val="0F1115"/>
                </a:solidFill>
                <a:latin typeface="quote-cjk-patch"/>
                <a:ea typeface="quote-cjk-patch"/>
              </a:rPr>
              <a:t>/</a:t>
            </a:r>
            <a:r>
              <a:rPr lang="zh-CN" altLang="en-US" sz="1600" b="0" i="0">
                <a:solidFill>
                  <a:srgbClr val="0F1115"/>
                </a:solidFill>
                <a:latin typeface="quote-cjk-patch"/>
                <a:ea typeface="quote-cjk-patch"/>
              </a:rPr>
              <a:t>删除。</a:t>
            </a:r>
          </a:p>
        </p:txBody>
      </p:sp>
    </p:spTree>
  </p:cSld>
  <p:clrMapOvr>
    <a:masterClrMapping/>
  </p:clrMapOvr>
  <p:transition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842328" y="902653"/>
            <a:ext cx="5080000" cy="506730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algn="l">
              <a:lnSpc>
                <a:spcPct val="150000"/>
              </a:lnSpc>
              <a:buClrTx/>
              <a:buSzTx/>
              <a:buFontTx/>
            </a:pPr>
            <a:r>
              <a:rPr lang="zh-CN" altLang="en-US" sz="1800" b="1" i="0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关键考量：精度 vs 功耗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1149985" y="1464945"/>
            <a:ext cx="8414385" cy="25533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ct val="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高精度 (High Precision):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手段: 提高 configTICK_RATE_HZ (如1000Hz -&gt; 1ms Tick)。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优点: 延时和定时器分辨率更高，响应更及时。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代价: 更频繁的Tick中断 -&gt; CPU功耗增加，更多时间花在上下文切换上。</a:t>
            </a:r>
          </a:p>
          <a:p>
            <a:pPr marL="0" indent="0">
              <a:spcBef>
                <a:spcPct val="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低功耗 (Low Power):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手段: 降低 configTICK_RATE_HZ (如100Hz -&gt; 10ms Tick)，或启用 Tickless Idle 模式。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Tickless模式: 在空闲时暂停Tick中断，让CPU进入深度睡眠，仅在下一个任务到期时唤醒。大幅降低功耗。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代价: 延时和定时器的精度会下降，尤其在低Tick频率时。</a:t>
            </a:r>
          </a:p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结论: 没有完美方案，只有根据应用场景的权衡 (Trade-Off)！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1149668" y="5279073"/>
            <a:ext cx="5080000" cy="521970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电池设备: 优先功耗，使用低Tick频率和Tickless模式。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zh-CN" altLang="en-US" sz="1400" b="1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实时控制: 优先精度，使用高Tick频率。</a:t>
            </a:r>
          </a:p>
        </p:txBody>
      </p:sp>
    </p:spTree>
  </p:cSld>
  <p:clrMapOvr>
    <a:masterClrMapping/>
  </p:clrMapOvr>
  <p:transition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313045" y="2517775"/>
            <a:ext cx="5351780" cy="1080770"/>
          </a:xfrm>
        </p:spPr>
        <p:txBody>
          <a:bodyPr wrap="square">
            <a:normAutofit/>
          </a:bodyPr>
          <a:lstStyle/>
          <a:p>
            <a:r>
              <a:rPr dirty="0" err="1">
                <a:sym typeface="+mn-ea"/>
              </a:rPr>
              <a:t>内存管理</a:t>
            </a:r>
            <a:endParaRPr lang="en-US" dirty="0"/>
          </a:p>
        </p:txBody>
      </p:sp>
    </p:spTree>
    <p:custDataLst>
      <p:tags r:id="rId1"/>
    </p:custData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544513" y="918528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 algn="just">
              <a:spcBef>
                <a:spcPct val="0"/>
              </a:spcBef>
              <a:spcAft>
                <a:spcPct val="0"/>
              </a:spcAft>
            </a:pPr>
            <a:r>
              <a:rPr sz="1600">
                <a:solidFill>
                  <a:schemeClr val="bg2"/>
                </a:solidFill>
                <a:sym typeface="+mn-ea"/>
              </a:rPr>
              <a:t>内存管理</a:t>
            </a:r>
            <a:endParaRPr lang="zh-CN" altLang="en-US" sz="1600" i="0">
              <a:solidFill>
                <a:schemeClr val="bg2"/>
              </a:solidFill>
              <a:latin typeface="PingFang SC"/>
              <a:ea typeface="PingFang SC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544830" y="1506855"/>
            <a:ext cx="10096500" cy="115633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1600" b="1" dirty="0" err="1">
                <a:sym typeface="+mn-ea"/>
              </a:rPr>
              <a:t>FreeRTOS</a:t>
            </a:r>
            <a:r>
              <a:rPr sz="1600" b="1" dirty="0">
                <a:sym typeface="+mn-ea"/>
              </a:rPr>
              <a:t> 提供的内存管理方案（heap_1 ~ heap_5）</a:t>
            </a:r>
          </a:p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1600" b="1" dirty="0" err="1">
                <a:sym typeface="+mn-ea"/>
              </a:rPr>
              <a:t>任务栈大小估算栈溢出检测</a:t>
            </a:r>
            <a:endParaRPr sz="1600" b="1" dirty="0">
              <a:sym typeface="+mn-ea"/>
            </a:endParaRPr>
          </a:p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1600" b="1" dirty="0" err="1">
                <a:sym typeface="+mn-ea"/>
              </a:rPr>
              <a:t>动态分配</a:t>
            </a:r>
            <a:r>
              <a:rPr sz="1600" b="1" dirty="0">
                <a:sym typeface="+mn-ea"/>
              </a:rPr>
              <a:t> vs </a:t>
            </a:r>
            <a:r>
              <a:rPr sz="1600" b="1" dirty="0" err="1">
                <a:sym typeface="+mn-ea"/>
              </a:rPr>
              <a:t>静态分配</a:t>
            </a:r>
            <a:endParaRPr sz="1600" b="1" dirty="0">
              <a:sym typeface="+mn-ea"/>
            </a:endParaRPr>
          </a:p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1600" b="1" dirty="0" err="1">
                <a:sym typeface="+mn-ea"/>
              </a:rPr>
              <a:t>内存碎片与泄漏问题</a:t>
            </a:r>
            <a:endParaRPr lang="zh-CN" altLang="en-US" sz="1600" b="1" dirty="0">
              <a:sym typeface="+mn-ea"/>
            </a:endParaRPr>
          </a:p>
        </p:txBody>
      </p:sp>
    </p:spTree>
  </p:cSld>
  <p:clrMapOvr>
    <a:masterClrMapping/>
  </p:clrMapOvr>
  <p:transition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4" name="文本框 9"/>
          <p:cNvSpPr txBox="1"/>
          <p:nvPr/>
        </p:nvSpPr>
        <p:spPr>
          <a:xfrm>
            <a:off x="1403668" y="1295400"/>
            <a:ext cx="3900487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FreeRTOS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内存管理简介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4105" name="文本框 1"/>
          <p:cNvSpPr txBox="1"/>
          <p:nvPr/>
        </p:nvSpPr>
        <p:spPr>
          <a:xfrm>
            <a:off x="1821180" y="1835150"/>
            <a:ext cx="7786688" cy="38100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在使用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创建任务、队列、信号量等对象的时，一般都提供了两种方法：</a:t>
            </a:r>
            <a:endParaRPr lang="en-US" altLang="zh-CN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07" name="文本框 27"/>
          <p:cNvSpPr txBox="1"/>
          <p:nvPr/>
        </p:nvSpPr>
        <p:spPr>
          <a:xfrm>
            <a:off x="3535680" y="2255838"/>
            <a:ext cx="6816725" cy="704850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自动地从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管理的内存堆中申请创建对象所需的内存，并且在对象删除后，</a:t>
            </a:r>
            <a:endParaRPr lang="en-US" altLang="zh-CN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可将这块内存释放回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管理的内存堆 </a:t>
            </a:r>
          </a:p>
        </p:txBody>
      </p:sp>
      <p:sp>
        <p:nvSpPr>
          <p:cNvPr id="7" name="矩形: 圆角 6"/>
          <p:cNvSpPr/>
          <p:nvPr/>
        </p:nvSpPr>
        <p:spPr>
          <a:xfrm>
            <a:off x="1930718" y="2432050"/>
            <a:ext cx="1604963" cy="3429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① 动态方法创建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chemeClr val="dk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9" name="矩形: 圆角 18"/>
          <p:cNvSpPr/>
          <p:nvPr/>
        </p:nvSpPr>
        <p:spPr>
          <a:xfrm>
            <a:off x="1930718" y="3233738"/>
            <a:ext cx="1604963" cy="342900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l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② 静态方法创建 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chemeClr val="dk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0" name="文本框 27"/>
          <p:cNvSpPr txBox="1"/>
          <p:nvPr/>
        </p:nvSpPr>
        <p:spPr>
          <a:xfrm>
            <a:off x="3535680" y="3052763"/>
            <a:ext cx="6742113" cy="7048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需用户提供各种内存空间，并且使用静态方式占用的内存空间一般固定下来了，即使任务、队列等被删除后，这些被占用的内存空间一般没有其他用途 </a:t>
            </a:r>
          </a:p>
        </p:txBody>
      </p:sp>
      <p:sp>
        <p:nvSpPr>
          <p:cNvPr id="4110" name="文本框 21"/>
          <p:cNvSpPr txBox="1"/>
          <p:nvPr/>
        </p:nvSpPr>
        <p:spPr>
          <a:xfrm>
            <a:off x="1821180" y="4086225"/>
            <a:ext cx="6497638" cy="30638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总结：</a:t>
            </a:r>
            <a:r>
              <a:rPr lang="zh-CN" altLang="en-US" sz="14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动态方式管理内存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相比与静态方式，更加灵活。 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05" grpId="0"/>
      <p:bldP spid="4107" grpId="0"/>
      <p:bldP spid="7" grpId="0" bldLvl="0" animBg="1"/>
      <p:bldP spid="19" grpId="0" bldLvl="0" animBg="1"/>
      <p:bldP spid="20" grpId="0"/>
      <p:bldP spid="4110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8" name="文本框 9"/>
          <p:cNvSpPr txBox="1"/>
          <p:nvPr/>
        </p:nvSpPr>
        <p:spPr>
          <a:xfrm>
            <a:off x="1479868" y="1341120"/>
            <a:ext cx="3900487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FreeRTOS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内存管理简介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4105" name="文本框 1"/>
          <p:cNvSpPr txBox="1"/>
          <p:nvPr/>
        </p:nvSpPr>
        <p:spPr>
          <a:xfrm>
            <a:off x="1897380" y="1880870"/>
            <a:ext cx="8021638" cy="7048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除了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提供的动态内存管理方法，标准的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C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库也提供了函数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malloc()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和函数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free()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来实现动态地申请和释放内存 。</a:t>
            </a:r>
            <a:endParaRPr lang="en-US" altLang="zh-CN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13" name="文本框 1"/>
          <p:cNvSpPr txBox="1"/>
          <p:nvPr/>
        </p:nvSpPr>
        <p:spPr>
          <a:xfrm>
            <a:off x="1897380" y="2577783"/>
            <a:ext cx="4378325" cy="38100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疑问：为啥不用标准的 </a:t>
            </a:r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C 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库自带的内存管理算法？</a:t>
            </a:r>
            <a:endParaRPr lang="en-US" altLang="zh-CN" sz="1400" dirty="0">
              <a:solidFill>
                <a:srgbClr val="FF000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31" name="文本框 13"/>
          <p:cNvSpPr txBox="1"/>
          <p:nvPr/>
        </p:nvSpPr>
        <p:spPr>
          <a:xfrm>
            <a:off x="1897380" y="3004820"/>
            <a:ext cx="4621213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因为标准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C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库的动态内存管理方法有如下几个缺点：</a:t>
            </a:r>
          </a:p>
        </p:txBody>
      </p:sp>
      <p:sp>
        <p:nvSpPr>
          <p:cNvPr id="5132" name="文本框 14"/>
          <p:cNvSpPr txBox="1"/>
          <p:nvPr/>
        </p:nvSpPr>
        <p:spPr>
          <a:xfrm>
            <a:off x="1897380" y="3430270"/>
            <a:ext cx="5330825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占用大量的代码空间 不适合用在资源紧缺的嵌入式系统中</a:t>
            </a:r>
          </a:p>
        </p:txBody>
      </p:sp>
      <p:sp>
        <p:nvSpPr>
          <p:cNvPr id="5133" name="文本框 15"/>
          <p:cNvSpPr txBox="1"/>
          <p:nvPr/>
        </p:nvSpPr>
        <p:spPr>
          <a:xfrm>
            <a:off x="1897380" y="3793808"/>
            <a:ext cx="6213475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没有线程安全的相关机制 </a:t>
            </a:r>
          </a:p>
        </p:txBody>
      </p:sp>
      <p:sp>
        <p:nvSpPr>
          <p:cNvPr id="5134" name="文本框 16"/>
          <p:cNvSpPr txBox="1"/>
          <p:nvPr/>
        </p:nvSpPr>
        <p:spPr>
          <a:xfrm>
            <a:off x="1897380" y="4158933"/>
            <a:ext cx="5497513" cy="306387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运行有不确定性，每次调用这些函数时花费的时间可能都不相同</a:t>
            </a:r>
          </a:p>
        </p:txBody>
      </p:sp>
      <p:sp>
        <p:nvSpPr>
          <p:cNvPr id="5135" name="文本框 18"/>
          <p:cNvSpPr txBox="1"/>
          <p:nvPr/>
        </p:nvSpPr>
        <p:spPr>
          <a:xfrm>
            <a:off x="1897380" y="4522470"/>
            <a:ext cx="4621213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内存碎片化</a:t>
            </a:r>
          </a:p>
        </p:txBody>
      </p:sp>
      <p:sp>
        <p:nvSpPr>
          <p:cNvPr id="5136" name="文本框 19"/>
          <p:cNvSpPr txBox="1"/>
          <p:nvPr/>
        </p:nvSpPr>
        <p:spPr>
          <a:xfrm>
            <a:off x="2165668" y="4886008"/>
            <a:ext cx="4621212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… …</a:t>
            </a:r>
            <a:endParaRPr lang="zh-CN" altLang="en-US" sz="14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5137" name="文本框 21"/>
          <p:cNvSpPr txBox="1"/>
          <p:nvPr/>
        </p:nvSpPr>
        <p:spPr>
          <a:xfrm>
            <a:off x="1897380" y="5157470"/>
            <a:ext cx="8577263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因此，</a:t>
            </a:r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FreeRTOS 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提供了多种动态内存管理的算法，可针对不同的嵌入式系统！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05" grpId="0"/>
      <p:bldP spid="13" grpId="0"/>
      <p:bldP spid="5131" grpId="0"/>
      <p:bldP spid="5132" grpId="0"/>
      <p:bldP spid="5133" grpId="0"/>
      <p:bldP spid="5134" grpId="0"/>
      <p:bldP spid="5135" grpId="0"/>
      <p:bldP spid="5136" grpId="0"/>
      <p:bldP spid="5137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373063" y="1095058"/>
            <a:ext cx="5080000" cy="147637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zh-CN" altLang="en-US" sz="140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堆 (Heap) 的作用</a:t>
            </a:r>
          </a:p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堆的作用是提供全</a:t>
            </a:r>
            <a:r>
              <a:rPr lang="zh-CN" altLang="en-US" sz="1400" b="0" i="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局的、动态的、生命周期可控的内存空间</a:t>
            </a: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。当你需要在多个函数间共享一块数据，或者需要的数据大小在编译时无法确定（比如根据用户输入决定数组大小），就必须使用堆。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6401118" y="946150"/>
            <a:ext cx="5080000" cy="2491740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zh-CN" altLang="en-US" sz="140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栈 (Stack) 的作用</a:t>
            </a:r>
          </a:p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栈是为函数的执行而服务的，它的核心作用是</a:t>
            </a:r>
            <a:r>
              <a:rPr lang="zh-CN" altLang="en-US" sz="1400" b="0" i="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维护函数调用的上下文</a:t>
            </a: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。每当调用一个函数时，系统会在栈上为其分配一块称为 “栈帧 (Stack Frame)” 的内存区域，用于存放：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函数的返回地址：函数执行完后，应该回到调用它的下一条指令的地址。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函数的参数：调用函数时传入的实参。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函数的局部变量：在函数内部定义的非静态局部变量。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zh-CN" altLang="en-US" sz="14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函数的调用上下文：一些需要保存的寄存器值。</a:t>
            </a:r>
          </a:p>
        </p:txBody>
      </p:sp>
    </p:spTree>
  </p:cSld>
  <p:clrMapOvr>
    <a:masterClrMapping/>
  </p:clrMapOvr>
  <p:transition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2" name="文本框 9"/>
          <p:cNvSpPr txBox="1"/>
          <p:nvPr/>
        </p:nvSpPr>
        <p:spPr>
          <a:xfrm>
            <a:off x="1222693" y="1236980"/>
            <a:ext cx="3900487" cy="50673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FreeRTOS</a:t>
            </a:r>
            <a:r>
              <a:rPr lang="zh-CN" altLang="en-US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内存管理算法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5129" name="文本框 1"/>
          <p:cNvSpPr txBox="1"/>
          <p:nvPr/>
        </p:nvSpPr>
        <p:spPr>
          <a:xfrm>
            <a:off x="1548130" y="1870393"/>
            <a:ext cx="8770938" cy="7048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提供了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5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种动态内存管理算法，分别为：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heap_1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heap_2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heap_3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heap_4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、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heap_5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。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</a:t>
            </a:r>
            <a:b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</a:b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如下所示：</a:t>
            </a:r>
          </a:p>
        </p:txBody>
      </p:sp>
      <p:graphicFrame>
        <p:nvGraphicFramePr>
          <p:cNvPr id="2" name="表格 2"/>
          <p:cNvGraphicFramePr>
            <a:graphicFrameLocks noGrp="1"/>
          </p:cNvGraphicFramePr>
          <p:nvPr/>
        </p:nvGraphicFramePr>
        <p:xfrm>
          <a:off x="1629093" y="2722880"/>
          <a:ext cx="7361238" cy="17319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72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57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381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866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算法</a:t>
                      </a:r>
                    </a:p>
                  </a:txBody>
                  <a:tcPr marL="91431" marR="91431" marT="45723" marB="4572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优点</a:t>
                      </a:r>
                    </a:p>
                  </a:txBody>
                  <a:tcPr marL="91431" marR="91431" marT="45723" marB="4572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itchFamily="34" charset="-122"/>
                          <a:ea typeface="思源黑体 CN Normal" pitchFamily="34" charset="-122"/>
                        </a:rPr>
                        <a:t>缺点</a:t>
                      </a:r>
                    </a:p>
                  </a:txBody>
                  <a:tcPr marL="91431" marR="91431" marT="45723" marB="45723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66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heap_1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分配简单，时间确定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只允许申请内存，不允许释放内存</a:t>
                      </a: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 </a:t>
                      </a:r>
                    </a:p>
                  </a:txBody>
                  <a:tcPr marL="91431" marR="91431" marT="45723" marB="45723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66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heap_2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允许申请和释放内存</a:t>
                      </a: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 </a:t>
                      </a:r>
                    </a:p>
                  </a:txBody>
                  <a:tcPr marL="91431" marR="91431" marT="45723" marB="4572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不能合并相邻的空闲内存块</a:t>
                      </a: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会产生</a:t>
                      </a:r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碎片、时间不定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66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heap_3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直接调用</a:t>
                      </a:r>
                      <a:r>
                        <a:rPr lang="en-US" altLang="zh-CN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C</a:t>
                      </a:r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库函数</a:t>
                      </a:r>
                      <a:r>
                        <a:rPr lang="en-US" altLang="zh-CN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malloc()</a:t>
                      </a:r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和 </a:t>
                      </a:r>
                      <a:r>
                        <a:rPr lang="en-US" altLang="zh-CN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free()</a:t>
                      </a:r>
                      <a:r>
                        <a:rPr lang="en-US" altLang="zh-CN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 </a:t>
                      </a: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，简单</a:t>
                      </a:r>
                    </a:p>
                  </a:txBody>
                  <a:tcPr marL="91431" marR="91431" marT="45723" marB="4572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速度慢、时间不定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866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heap_4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相邻空闲内存可合并，减少内存碎片的产生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时间不定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866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heap_5</a:t>
                      </a:r>
                      <a:endParaRPr lang="zh-CN" altLang="en-US" sz="1100" dirty="0"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能够管理多个非连续内存区域的 </a:t>
                      </a:r>
                      <a:r>
                        <a:rPr lang="en-US" altLang="zh-CN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heap_4</a:t>
                      </a: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itchFamily="34" charset="-122"/>
                          <a:ea typeface="思源黑体 CN Normal" pitchFamily="34" charset="-122"/>
                        </a:rPr>
                        <a:t> </a:t>
                      </a:r>
                    </a:p>
                  </a:txBody>
                  <a:tcPr marL="91431" marR="91431" marT="45723" marB="45723" anchor="ctr"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itchFamily="34" charset="-122"/>
                          <a:ea typeface="思源黑体 CN Normal" pitchFamily="34" charset="-122"/>
                          <a:cs typeface="+mn-cs"/>
                        </a:rPr>
                        <a:t>时间不定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itchFamily="34" charset="-122"/>
                        <a:ea typeface="思源黑体 CN Normal" pitchFamily="34" charset="-122"/>
                      </a:endParaRPr>
                    </a:p>
                  </a:txBody>
                  <a:tcPr marL="91431" marR="91431" marT="45723" marB="45723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184" name="文本框 2"/>
          <p:cNvSpPr txBox="1"/>
          <p:nvPr/>
        </p:nvSpPr>
        <p:spPr>
          <a:xfrm>
            <a:off x="1548130" y="4724718"/>
            <a:ext cx="6280150" cy="30670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heap_4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内存管理算法最常用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29" grpId="0"/>
      <p:bldP spid="6184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6" name="文本框 9"/>
          <p:cNvSpPr txBox="1"/>
          <p:nvPr/>
        </p:nvSpPr>
        <p:spPr>
          <a:xfrm>
            <a:off x="1603058" y="1289050"/>
            <a:ext cx="3900487" cy="4635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       </a:t>
            </a:r>
            <a:r>
              <a:rPr lang="en-US" altLang="zh-CN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heap_4</a:t>
            </a:r>
            <a:r>
              <a:rPr lang="zh-CN" altLang="en-US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内存管理算法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2077720" y="2297113"/>
            <a:ext cx="763588" cy="242887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4081145" y="2309813"/>
            <a:ext cx="763588" cy="242887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4081145" y="2293938"/>
            <a:ext cx="752475" cy="80010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未分配</a:t>
            </a:r>
          </a:p>
        </p:txBody>
      </p:sp>
      <p:sp>
        <p:nvSpPr>
          <p:cNvPr id="54" name="矩形 53"/>
          <p:cNvSpPr/>
          <p:nvPr/>
        </p:nvSpPr>
        <p:spPr>
          <a:xfrm>
            <a:off x="4081145" y="4402138"/>
            <a:ext cx="752475" cy="33655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已分配</a:t>
            </a:r>
          </a:p>
        </p:txBody>
      </p:sp>
      <p:sp>
        <p:nvSpPr>
          <p:cNvPr id="55" name="矩形 54"/>
          <p:cNvSpPr/>
          <p:nvPr/>
        </p:nvSpPr>
        <p:spPr>
          <a:xfrm>
            <a:off x="4092258" y="4056063"/>
            <a:ext cx="752475" cy="33813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已分配</a:t>
            </a:r>
          </a:p>
        </p:txBody>
      </p:sp>
      <p:sp>
        <p:nvSpPr>
          <p:cNvPr id="56" name="矩形 55"/>
          <p:cNvSpPr/>
          <p:nvPr/>
        </p:nvSpPr>
        <p:spPr>
          <a:xfrm>
            <a:off x="4081145" y="3719513"/>
            <a:ext cx="752475" cy="33655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已分配</a:t>
            </a:r>
          </a:p>
        </p:txBody>
      </p:sp>
      <p:sp>
        <p:nvSpPr>
          <p:cNvPr id="57" name="矩形 56"/>
          <p:cNvSpPr/>
          <p:nvPr/>
        </p:nvSpPr>
        <p:spPr>
          <a:xfrm>
            <a:off x="4081145" y="3381375"/>
            <a:ext cx="752475" cy="33813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已分配</a:t>
            </a:r>
          </a:p>
        </p:txBody>
      </p:sp>
      <p:sp>
        <p:nvSpPr>
          <p:cNvPr id="58" name="矩形 57"/>
          <p:cNvSpPr/>
          <p:nvPr/>
        </p:nvSpPr>
        <p:spPr>
          <a:xfrm>
            <a:off x="4092258" y="3060700"/>
            <a:ext cx="752475" cy="33655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已分配</a:t>
            </a:r>
          </a:p>
        </p:txBody>
      </p:sp>
      <p:sp>
        <p:nvSpPr>
          <p:cNvPr id="59" name="矩形 58"/>
          <p:cNvSpPr/>
          <p:nvPr/>
        </p:nvSpPr>
        <p:spPr>
          <a:xfrm>
            <a:off x="2090420" y="2297113"/>
            <a:ext cx="752475" cy="2428875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未分配的内存</a:t>
            </a:r>
          </a:p>
        </p:txBody>
      </p:sp>
      <p:sp>
        <p:nvSpPr>
          <p:cNvPr id="60" name="矩形 59"/>
          <p:cNvSpPr/>
          <p:nvPr/>
        </p:nvSpPr>
        <p:spPr>
          <a:xfrm>
            <a:off x="8224520" y="2309813"/>
            <a:ext cx="763588" cy="242887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8224520" y="2293938"/>
            <a:ext cx="752475" cy="80010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未分配</a:t>
            </a:r>
          </a:p>
        </p:txBody>
      </p:sp>
      <p:sp>
        <p:nvSpPr>
          <p:cNvPr id="62" name="矩形 61"/>
          <p:cNvSpPr/>
          <p:nvPr/>
        </p:nvSpPr>
        <p:spPr>
          <a:xfrm>
            <a:off x="8224520" y="4402138"/>
            <a:ext cx="752475" cy="33655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已分配</a:t>
            </a:r>
          </a:p>
        </p:txBody>
      </p:sp>
      <p:sp>
        <p:nvSpPr>
          <p:cNvPr id="63" name="矩形 62"/>
          <p:cNvSpPr/>
          <p:nvPr/>
        </p:nvSpPr>
        <p:spPr>
          <a:xfrm>
            <a:off x="8224520" y="3392488"/>
            <a:ext cx="752475" cy="100965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已释放</a:t>
            </a:r>
          </a:p>
        </p:txBody>
      </p:sp>
      <p:sp>
        <p:nvSpPr>
          <p:cNvPr id="66" name="矩形 65"/>
          <p:cNvSpPr/>
          <p:nvPr/>
        </p:nvSpPr>
        <p:spPr>
          <a:xfrm>
            <a:off x="8224520" y="3055938"/>
            <a:ext cx="752475" cy="33655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已分配</a:t>
            </a:r>
          </a:p>
        </p:txBody>
      </p:sp>
      <p:sp>
        <p:nvSpPr>
          <p:cNvPr id="67" name="箭头: 右 66"/>
          <p:cNvSpPr/>
          <p:nvPr/>
        </p:nvSpPr>
        <p:spPr>
          <a:xfrm>
            <a:off x="2868295" y="3421063"/>
            <a:ext cx="1201738" cy="16827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8" name="箭头: 右 67"/>
          <p:cNvSpPr/>
          <p:nvPr/>
        </p:nvSpPr>
        <p:spPr>
          <a:xfrm>
            <a:off x="4863783" y="3421063"/>
            <a:ext cx="1201738" cy="16827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2313" name="文本框 68"/>
          <p:cNvSpPr txBox="1"/>
          <p:nvPr/>
        </p:nvSpPr>
        <p:spPr>
          <a:xfrm>
            <a:off x="2906395" y="3194050"/>
            <a:ext cx="1108075" cy="277813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多次分配内存</a:t>
            </a:r>
          </a:p>
        </p:txBody>
      </p:sp>
      <p:sp>
        <p:nvSpPr>
          <p:cNvPr id="12314" name="文本框 69"/>
          <p:cNvSpPr txBox="1"/>
          <p:nvPr/>
        </p:nvSpPr>
        <p:spPr>
          <a:xfrm>
            <a:off x="4879658" y="3186113"/>
            <a:ext cx="1108075" cy="27622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zh-CN" altLang="en-US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多次释放内存</a:t>
            </a:r>
          </a:p>
        </p:txBody>
      </p:sp>
      <p:sp>
        <p:nvSpPr>
          <p:cNvPr id="71" name="右大括号 70"/>
          <p:cNvSpPr/>
          <p:nvPr/>
        </p:nvSpPr>
        <p:spPr>
          <a:xfrm>
            <a:off x="8988108" y="3378200"/>
            <a:ext cx="223838" cy="1020763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2316" name="文本框 71"/>
          <p:cNvSpPr txBox="1"/>
          <p:nvPr/>
        </p:nvSpPr>
        <p:spPr>
          <a:xfrm>
            <a:off x="9211945" y="3676650"/>
            <a:ext cx="1436688" cy="430213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100" b="1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相邻空闲内存合并成一个大空闲内存</a:t>
            </a:r>
          </a:p>
        </p:txBody>
      </p:sp>
      <p:sp>
        <p:nvSpPr>
          <p:cNvPr id="73" name="矩形 72"/>
          <p:cNvSpPr/>
          <p:nvPr/>
        </p:nvSpPr>
        <p:spPr>
          <a:xfrm>
            <a:off x="6132195" y="2309813"/>
            <a:ext cx="763588" cy="242887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思源黑体 CN Normal" pitchFamily="34" charset="-122"/>
              <a:ea typeface="思源黑体 CN Normal" pitchFamily="34" charset="-122"/>
              <a:cs typeface="+mn-cs"/>
            </a:endParaRPr>
          </a:p>
        </p:txBody>
      </p:sp>
      <p:sp>
        <p:nvSpPr>
          <p:cNvPr id="74" name="矩形 73"/>
          <p:cNvSpPr/>
          <p:nvPr/>
        </p:nvSpPr>
        <p:spPr>
          <a:xfrm>
            <a:off x="6132195" y="2293938"/>
            <a:ext cx="752475" cy="80010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未分配</a:t>
            </a:r>
          </a:p>
        </p:txBody>
      </p:sp>
      <p:sp>
        <p:nvSpPr>
          <p:cNvPr id="75" name="矩形 74"/>
          <p:cNvSpPr/>
          <p:nvPr/>
        </p:nvSpPr>
        <p:spPr>
          <a:xfrm>
            <a:off x="6132195" y="4402138"/>
            <a:ext cx="752475" cy="33655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已分配</a:t>
            </a:r>
          </a:p>
        </p:txBody>
      </p:sp>
      <p:sp>
        <p:nvSpPr>
          <p:cNvPr id="76" name="矩形 75"/>
          <p:cNvSpPr/>
          <p:nvPr/>
        </p:nvSpPr>
        <p:spPr>
          <a:xfrm>
            <a:off x="6132195" y="4065588"/>
            <a:ext cx="752475" cy="33655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已释放</a:t>
            </a:r>
          </a:p>
        </p:txBody>
      </p:sp>
      <p:sp>
        <p:nvSpPr>
          <p:cNvPr id="77" name="矩形 76"/>
          <p:cNvSpPr/>
          <p:nvPr/>
        </p:nvSpPr>
        <p:spPr>
          <a:xfrm>
            <a:off x="6132195" y="3719513"/>
            <a:ext cx="752475" cy="33655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已释放</a:t>
            </a:r>
          </a:p>
        </p:txBody>
      </p:sp>
      <p:sp>
        <p:nvSpPr>
          <p:cNvPr id="78" name="矩形 77"/>
          <p:cNvSpPr/>
          <p:nvPr/>
        </p:nvSpPr>
        <p:spPr>
          <a:xfrm>
            <a:off x="6132195" y="3381375"/>
            <a:ext cx="752475" cy="33813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已释放</a:t>
            </a:r>
          </a:p>
        </p:txBody>
      </p:sp>
      <p:sp>
        <p:nvSpPr>
          <p:cNvPr id="79" name="矩形 78"/>
          <p:cNvSpPr/>
          <p:nvPr/>
        </p:nvSpPr>
        <p:spPr>
          <a:xfrm>
            <a:off x="6132195" y="3055938"/>
            <a:ext cx="752475" cy="33655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lt1"/>
                </a:solidFill>
                <a:effectLst/>
                <a:uLnTx/>
                <a:uFillTx/>
                <a:latin typeface="思源黑体 CN Normal" pitchFamily="34" charset="-122"/>
                <a:ea typeface="思源黑体 CN Normal" pitchFamily="34" charset="-122"/>
                <a:cs typeface="+mn-cs"/>
              </a:rPr>
              <a:t>已分配</a:t>
            </a:r>
          </a:p>
        </p:txBody>
      </p:sp>
      <p:sp>
        <p:nvSpPr>
          <p:cNvPr id="80" name="右大括号 79"/>
          <p:cNvSpPr/>
          <p:nvPr/>
        </p:nvSpPr>
        <p:spPr>
          <a:xfrm>
            <a:off x="6895783" y="3378200"/>
            <a:ext cx="136525" cy="1111250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2325" name="文本框 80"/>
          <p:cNvSpPr txBox="1"/>
          <p:nvPr/>
        </p:nvSpPr>
        <p:spPr>
          <a:xfrm>
            <a:off x="7006908" y="3579813"/>
            <a:ext cx="368300" cy="708025"/>
          </a:xfrm>
          <a:prstGeom prst="rect">
            <a:avLst/>
          </a:prstGeom>
          <a:noFill/>
          <a:ln w="9525">
            <a:noFill/>
          </a:ln>
        </p:spPr>
        <p:txBody>
          <a:bodyPr vert="eaVert" wrap="none">
            <a:spAutoFit/>
          </a:bodyPr>
          <a:lstStyle/>
          <a:p>
            <a:r>
              <a:rPr lang="zh-CN" altLang="en-US" sz="12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内存碎片</a:t>
            </a:r>
          </a:p>
        </p:txBody>
      </p:sp>
      <p:sp>
        <p:nvSpPr>
          <p:cNvPr id="82" name="箭头: 右 81"/>
          <p:cNvSpPr/>
          <p:nvPr/>
        </p:nvSpPr>
        <p:spPr>
          <a:xfrm>
            <a:off x="6960870" y="3289300"/>
            <a:ext cx="1243013" cy="15557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457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2327" name="文本框 82"/>
          <p:cNvSpPr txBox="1"/>
          <p:nvPr/>
        </p:nvSpPr>
        <p:spPr>
          <a:xfrm>
            <a:off x="1990408" y="1852613"/>
            <a:ext cx="8408987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heap_4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内存管理算法会把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相邻的空闲内存合并为一个更大的空闲内存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，这有助于减少内存的碎片问题。</a:t>
            </a:r>
          </a:p>
        </p:txBody>
      </p:sp>
      <p:sp>
        <p:nvSpPr>
          <p:cNvPr id="12328" name="文本框 83"/>
          <p:cNvSpPr txBox="1"/>
          <p:nvPr/>
        </p:nvSpPr>
        <p:spPr>
          <a:xfrm>
            <a:off x="7198995" y="3055938"/>
            <a:ext cx="711200" cy="277812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/>
          <a:p>
            <a:r>
              <a:rPr lang="en-US" altLang="zh-CN" sz="12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heap_4</a:t>
            </a:r>
            <a:endParaRPr lang="zh-CN" altLang="en-US" sz="1200" dirty="0">
              <a:solidFill>
                <a:srgbClr val="002060"/>
              </a:solidFill>
              <a:latin typeface="思源黑体 CN Normal" pitchFamily="34" charset="-122"/>
              <a:ea typeface="思源黑体 CN Normal" pitchFamily="34" charset="-122"/>
            </a:endParaRPr>
          </a:p>
        </p:txBody>
      </p:sp>
      <p:sp>
        <p:nvSpPr>
          <p:cNvPr id="41" name="文本框 23"/>
          <p:cNvSpPr txBox="1"/>
          <p:nvPr/>
        </p:nvSpPr>
        <p:spPr>
          <a:xfrm>
            <a:off x="1990408" y="4922838"/>
            <a:ext cx="8301037" cy="38100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适用于这种场景：频繁地分配、释放不同大小的内存。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3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123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123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23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1" dur="500"/>
                                        <p:tgtEl>
                                          <p:spTgt spid="123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123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bldLvl="0" animBg="1"/>
      <p:bldP spid="52" grpId="0" bldLvl="0" animBg="1"/>
      <p:bldP spid="53" grpId="0" bldLvl="0" animBg="1"/>
      <p:bldP spid="54" grpId="0" bldLvl="0" animBg="1"/>
      <p:bldP spid="55" grpId="0" bldLvl="0" animBg="1"/>
      <p:bldP spid="56" grpId="0" bldLvl="0" animBg="1"/>
      <p:bldP spid="57" grpId="0" bldLvl="0" animBg="1"/>
      <p:bldP spid="58" grpId="0" bldLvl="0" animBg="1"/>
      <p:bldP spid="59" grpId="0" bldLvl="0" animBg="1"/>
      <p:bldP spid="60" grpId="0" bldLvl="0" animBg="1"/>
      <p:bldP spid="61" grpId="0" bldLvl="0" animBg="1"/>
      <p:bldP spid="62" grpId="0" bldLvl="0" animBg="1"/>
      <p:bldP spid="63" grpId="0" bldLvl="0" animBg="1"/>
      <p:bldP spid="66" grpId="0" bldLvl="0" animBg="1"/>
      <p:bldP spid="67" grpId="0" bldLvl="0" animBg="1"/>
      <p:bldP spid="68" grpId="0" bldLvl="0" animBg="1"/>
      <p:bldP spid="12313" grpId="0"/>
      <p:bldP spid="12314" grpId="0"/>
      <p:bldP spid="71" grpId="0" bldLvl="0" animBg="1"/>
      <p:bldP spid="12316" grpId="0"/>
      <p:bldP spid="73" grpId="0" bldLvl="0" animBg="1"/>
      <p:bldP spid="74" grpId="0" bldLvl="0" animBg="1"/>
      <p:bldP spid="75" grpId="0" bldLvl="0" animBg="1"/>
      <p:bldP spid="76" grpId="0" bldLvl="0" animBg="1"/>
      <p:bldP spid="77" grpId="0" bldLvl="0" animBg="1"/>
      <p:bldP spid="78" grpId="0" bldLvl="0" animBg="1"/>
      <p:bldP spid="79" grpId="0" bldLvl="0" animBg="1"/>
      <p:bldP spid="80" grpId="0" bldLvl="0" animBg="1"/>
      <p:bldP spid="12325" grpId="0"/>
      <p:bldP spid="82" grpId="0" bldLvl="0" animBg="1"/>
      <p:bldP spid="12327" grpId="0"/>
      <p:bldP spid="12328" grpId="0"/>
      <p:bldP spid="4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20" name="文本框 9"/>
          <p:cNvSpPr txBox="1"/>
          <p:nvPr/>
        </p:nvSpPr>
        <p:spPr>
          <a:xfrm>
            <a:off x="1385888" y="1327150"/>
            <a:ext cx="3900487" cy="4635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itchFamily="34" charset="-122"/>
                <a:ea typeface="思源黑体 CN Bold" pitchFamily="34" charset="-122"/>
              </a:rPr>
              <a:t>       </a:t>
            </a:r>
            <a:r>
              <a:rPr lang="en-US" altLang="zh-CN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heap_5</a:t>
            </a:r>
            <a:r>
              <a:rPr lang="zh-CN" altLang="en-US" b="1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内存管理算法</a:t>
            </a:r>
            <a:endParaRPr lang="en-US" altLang="zh-CN" b="1" dirty="0">
              <a:solidFill>
                <a:srgbClr val="002060"/>
              </a:solidFill>
              <a:latin typeface="思源黑体 CN Bold" pitchFamily="34" charset="-122"/>
              <a:ea typeface="思源黑体 CN Bold" pitchFamily="34" charset="-122"/>
            </a:endParaRPr>
          </a:p>
        </p:txBody>
      </p:sp>
      <p:sp>
        <p:nvSpPr>
          <p:cNvPr id="13321" name="文本框 12"/>
          <p:cNvSpPr txBox="1"/>
          <p:nvPr/>
        </p:nvSpPr>
        <p:spPr>
          <a:xfrm>
            <a:off x="1770063" y="1893888"/>
            <a:ext cx="8464550" cy="70485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heap_5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内存管理算法是在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heap_4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内存管理算法的基础上实现的，但是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heap_5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内存管理算法在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heap_4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内存管理算法的基础上实现了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itchFamily="34" charset="-122"/>
                <a:ea typeface="思源黑体 CN Normal" pitchFamily="34" charset="-122"/>
              </a:rPr>
              <a:t>管理多个非连续内存区域的能力 </a:t>
            </a:r>
          </a:p>
        </p:txBody>
      </p:sp>
      <p:sp>
        <p:nvSpPr>
          <p:cNvPr id="13322" name="文本框 13"/>
          <p:cNvSpPr txBox="1"/>
          <p:nvPr/>
        </p:nvSpPr>
        <p:spPr>
          <a:xfrm>
            <a:off x="1770063" y="2701925"/>
            <a:ext cx="8301037" cy="38100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heap_5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内存管理算法默认并没有定义内存堆 ， 需要用户手动指定内存区域的信息，对其进行初始化。</a:t>
            </a:r>
          </a:p>
        </p:txBody>
      </p:sp>
      <p:grpSp>
        <p:nvGrpSpPr>
          <p:cNvPr id="13323" name="组合 14"/>
          <p:cNvGrpSpPr/>
          <p:nvPr/>
        </p:nvGrpSpPr>
        <p:grpSpPr>
          <a:xfrm>
            <a:off x="1830705" y="3876675"/>
            <a:ext cx="8544560" cy="2030095"/>
            <a:chOff x="387350" y="843642"/>
            <a:chExt cx="6800462" cy="2029783"/>
          </a:xfrm>
        </p:grpSpPr>
        <p:sp>
          <p:nvSpPr>
            <p:cNvPr id="13326" name="文本框 15"/>
            <p:cNvSpPr txBox="1"/>
            <p:nvPr/>
          </p:nvSpPr>
          <p:spPr>
            <a:xfrm>
              <a:off x="461576" y="843642"/>
              <a:ext cx="6726236" cy="2029783"/>
            </a:xfrm>
            <a:prstGeom prst="rect">
              <a:avLst/>
            </a:prstGeom>
            <a:noFill/>
            <a:ln w="9525">
              <a:noFill/>
            </a:ln>
          </p:spPr>
          <p:txBody>
            <a:bodyPr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typedef struct </a:t>
              </a:r>
              <a:r>
                <a:rPr lang="en-US" altLang="zh-CN" sz="1200" dirty="0">
                  <a:solidFill>
                    <a:srgbClr val="000000"/>
                  </a:solidFill>
                  <a:latin typeface="思源黑体 CN Normal" pitchFamily="34" charset="-122"/>
                  <a:ea typeface="思源黑体 CN Normal" pitchFamily="34" charset="-122"/>
                </a:rPr>
                <a:t>HeapRegion</a:t>
              </a:r>
              <a:br>
                <a:rPr lang="en-US" altLang="zh-CN" sz="1200" dirty="0">
                  <a:solidFill>
                    <a:srgbClr val="000000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{</a:t>
              </a:r>
              <a:b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uint8_t </a:t>
              </a:r>
              <a: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* 	</a:t>
              </a:r>
              <a:r>
                <a:rPr lang="en-US" altLang="zh-CN" sz="1200" dirty="0">
                  <a:solidFill>
                    <a:srgbClr val="000000"/>
                  </a:solidFill>
                  <a:latin typeface="思源黑体 CN Normal" pitchFamily="34" charset="-122"/>
                  <a:ea typeface="思源黑体 CN Normal" pitchFamily="34" charset="-122"/>
                </a:rPr>
                <a:t>pucStartAddress</a:t>
              </a:r>
              <a: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; 	</a:t>
              </a:r>
              <a:r>
                <a:rPr lang="en-US" altLang="zh-CN" sz="1200" dirty="0">
                  <a:solidFill>
                    <a:srgbClr val="800000"/>
                  </a:solidFill>
                  <a:latin typeface="思源黑体 CN Normal" pitchFamily="34" charset="-122"/>
                  <a:ea typeface="思源黑体 CN Normal" pitchFamily="34" charset="-122"/>
                </a:rPr>
                <a:t>/* </a:t>
              </a:r>
              <a:r>
                <a:rPr lang="zh-CN" altLang="en-US" sz="1200" dirty="0">
                  <a:solidFill>
                    <a:srgbClr val="800000"/>
                  </a:solidFill>
                  <a:latin typeface="思源黑体 CN Normal" pitchFamily="34" charset="-122"/>
                  <a:ea typeface="思源黑体 CN Normal" pitchFamily="34" charset="-122"/>
                </a:rPr>
                <a:t>内存区域的起始地址 *</a:t>
              </a:r>
              <a:r>
                <a:rPr lang="en-US" altLang="zh-CN" sz="1200" dirty="0">
                  <a:solidFill>
                    <a:srgbClr val="800000"/>
                  </a:solidFill>
                  <a:latin typeface="思源黑体 CN Normal" pitchFamily="34" charset="-122"/>
                  <a:ea typeface="思源黑体 CN Normal" pitchFamily="34" charset="-122"/>
                </a:rPr>
                <a:t>/</a:t>
              </a:r>
              <a:br>
                <a:rPr lang="en-US" altLang="zh-CN" sz="1200" dirty="0">
                  <a:solidFill>
                    <a:srgbClr val="800000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r>
                <a:rPr lang="en-US" altLang="zh-CN" sz="1200" dirty="0">
                  <a:solidFill>
                    <a:srgbClr val="800000"/>
                  </a:solidFill>
                  <a:latin typeface="思源黑体 CN Normal" pitchFamily="34" charset="-122"/>
                  <a:ea typeface="思源黑体 CN Normal" pitchFamily="34" charset="-122"/>
                </a:rPr>
                <a:t>	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itchFamily="34" charset="-122"/>
                  <a:ea typeface="思源黑体 CN Normal" pitchFamily="34" charset="-122"/>
                </a:rPr>
                <a:t>size_t 		</a:t>
              </a:r>
              <a:r>
                <a:rPr lang="en-US" altLang="zh-CN" sz="1200" dirty="0">
                  <a:solidFill>
                    <a:srgbClr val="000000"/>
                  </a:solidFill>
                  <a:latin typeface="思源黑体 CN Normal" pitchFamily="34" charset="-122"/>
                  <a:ea typeface="思源黑体 CN Normal" pitchFamily="34" charset="-122"/>
                </a:rPr>
                <a:t>xSizeInBytes</a:t>
              </a:r>
              <a: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; 	</a:t>
              </a:r>
              <a:r>
                <a:rPr lang="en-US" altLang="zh-CN" sz="1200" dirty="0">
                  <a:solidFill>
                    <a:srgbClr val="800000"/>
                  </a:solidFill>
                  <a:latin typeface="思源黑体 CN Normal" pitchFamily="34" charset="-122"/>
                  <a:ea typeface="思源黑体 CN Normal" pitchFamily="34" charset="-122"/>
                </a:rPr>
                <a:t>/* </a:t>
              </a:r>
              <a:r>
                <a:rPr lang="zh-CN" altLang="en-US" sz="1200" dirty="0">
                  <a:solidFill>
                    <a:srgbClr val="800000"/>
                  </a:solidFill>
                  <a:latin typeface="思源黑体 CN Normal" pitchFamily="34" charset="-122"/>
                  <a:ea typeface="思源黑体 CN Normal" pitchFamily="34" charset="-122"/>
                </a:rPr>
                <a:t>内存区域的大小，单位：字节 *</a:t>
              </a:r>
              <a:r>
                <a:rPr lang="en-US" altLang="zh-CN" sz="1200" dirty="0">
                  <a:solidFill>
                    <a:srgbClr val="800000"/>
                  </a:solidFill>
                  <a:latin typeface="思源黑体 CN Normal" pitchFamily="34" charset="-122"/>
                  <a:ea typeface="思源黑体 CN Normal" pitchFamily="34" charset="-122"/>
                </a:rPr>
                <a:t>/</a:t>
              </a:r>
              <a:br>
                <a:rPr lang="en-US" altLang="zh-CN" sz="1200" dirty="0">
                  <a:solidFill>
                    <a:srgbClr val="800000"/>
                  </a:solidFill>
                  <a:latin typeface="思源黑体 CN Normal" pitchFamily="34" charset="-122"/>
                  <a:ea typeface="思源黑体 CN Normal" pitchFamily="34" charset="-122"/>
                </a:rPr>
              </a:br>
              <a: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} </a:t>
              </a:r>
              <a:r>
                <a:rPr lang="en-US" altLang="zh-CN" sz="1200" dirty="0">
                  <a:solidFill>
                    <a:srgbClr val="000000"/>
                  </a:solidFill>
                  <a:latin typeface="思源黑体 CN Normal" pitchFamily="34" charset="-122"/>
                  <a:ea typeface="思源黑体 CN Normal" pitchFamily="34" charset="-122"/>
                </a:rPr>
                <a:t>HeapRegion_t</a:t>
              </a:r>
              <a:r>
                <a:rPr lang="en-US" altLang="zh-CN" sz="1200" dirty="0">
                  <a:solidFill>
                    <a:srgbClr val="000080"/>
                  </a:solidFill>
                  <a:latin typeface="思源黑体 CN Normal" pitchFamily="34" charset="-122"/>
                  <a:ea typeface="思源黑体 CN Normal" pitchFamily="34" charset="-122"/>
                </a:rPr>
                <a:t>;</a:t>
              </a:r>
              <a:r>
                <a:rPr lang="en-US" altLang="zh-CN" sz="1200" dirty="0">
                  <a:latin typeface="思源黑体 CN Normal" pitchFamily="34" charset="-122"/>
                  <a:ea typeface="思源黑体 CN Normal" pitchFamily="34" charset="-122"/>
                </a:rPr>
                <a:t> </a:t>
              </a:r>
              <a:br>
                <a:rPr lang="en-US" altLang="zh-CN" sz="1200" dirty="0">
                  <a:latin typeface="思源黑体 CN Normal" pitchFamily="34" charset="-122"/>
                  <a:ea typeface="思源黑体 CN Normal" pitchFamily="34" charset="-122"/>
                </a:rPr>
              </a:br>
              <a:endParaRPr lang="zh-CN" altLang="en-US" sz="1200" dirty="0">
                <a:latin typeface="思源黑体 CN Normal" pitchFamily="34" charset="-122"/>
                <a:ea typeface="思源黑体 CN Normal" pitchFamily="34" charset="-122"/>
              </a:endParaRPr>
            </a:p>
          </p:txBody>
        </p:sp>
        <p:sp>
          <p:nvSpPr>
            <p:cNvPr id="17" name="矩形 16"/>
            <p:cNvSpPr/>
            <p:nvPr/>
          </p:nvSpPr>
          <p:spPr>
            <a:xfrm>
              <a:off x="387350" y="843642"/>
              <a:ext cx="6368687" cy="1449432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marL="0" marR="0" lvl="0" indent="0" algn="ctr" defTabSz="457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16" name="文本框 15"/>
          <p:cNvSpPr txBox="1"/>
          <p:nvPr/>
        </p:nvSpPr>
        <p:spPr>
          <a:xfrm>
            <a:off x="1736725" y="3554413"/>
            <a:ext cx="4616450" cy="3079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r>
              <a:rPr lang="zh-CN" altLang="en-US" sz="140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使用如下结构体：</a:t>
            </a:r>
            <a:endParaRPr lang="zh-CN" altLang="en-US" sz="1400" dirty="0">
              <a:latin typeface="Calibri" panose="020F0502020204030204" pitchFamily="34" charset="0"/>
              <a:ea typeface="等线" panose="02010600030101010101" pitchFamily="2" charset="-122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3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3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3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21" grpId="0"/>
      <p:bldP spid="13322" grpId="0"/>
      <p:bldP spid="16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714375" y="781685"/>
            <a:ext cx="6096000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ym typeface="+mn-ea"/>
              </a:rPr>
              <a:t>任务栈大小估算</a:t>
            </a:r>
            <a:endParaRPr lang="zh-CN" altLang="en-US"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870585" y="1197610"/>
            <a:ext cx="10231120" cy="7683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ts val="2400"/>
              </a:spcBef>
              <a:spcAft>
                <a:spcPts val="1200"/>
              </a:spcAft>
            </a:pPr>
            <a:r>
              <a:rPr lang="en-US" altLang="zh-CN" sz="120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核心原则</a:t>
            </a:r>
          </a:p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堆栈分配的核心是在 “内存资源紧张” 和 “运行稳定性” 之间找到平衡。分配过小会导致堆栈溢出，系统崩溃；分配过大会浪费宝贵的RAM资源。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870585" y="2075180"/>
            <a:ext cx="10303510" cy="42614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ts val="2400"/>
              </a:spcBef>
              <a:spcAft>
                <a:spcPts val="1200"/>
              </a:spcAft>
            </a:pPr>
            <a:r>
              <a:rPr lang="en-US" altLang="zh-CN" sz="120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影响任务堆栈大小的主要因素</a:t>
            </a:r>
          </a:p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计算一个任务需要多少堆栈，需要考虑以下所有开销的总和：</a:t>
            </a:r>
          </a:p>
          <a:p>
            <a:pPr marL="0" indent="0">
              <a:spcBef>
                <a:spcPct val="0"/>
              </a:spcBef>
              <a:spcAft>
                <a:spcPts val="600"/>
              </a:spcAft>
              <a:buAutoNum type="arabicPeriod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函数调用深度 (Call Nesting Depth)：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这是最大的影响因素。任务从入口函数开始，调用函数A，A再调用函数B，B再调用函数C... 每一层调用都会将返回地址、参数等压栈。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提示：代码结构越复杂，调用层次越深，需要的堆栈越大。</a:t>
            </a:r>
          </a:p>
          <a:p>
            <a:pPr marL="0" indent="0">
              <a:spcBef>
                <a:spcPct val="0"/>
              </a:spcBef>
              <a:spcAft>
                <a:spcPts val="600"/>
              </a:spcAft>
              <a:buAutoNum type="arabicPeriod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局部变量 (Local Variables)：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任务函数及其所有子函数中声明的局部变量（尤其是大型数组或结构体）都存储在堆栈上。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重要：避免在栈上分配大型数据结构（如 char buffer[1024]），改用静态变量或从堆分配。</a:t>
            </a:r>
          </a:p>
          <a:p>
            <a:pPr marL="0" indent="0">
              <a:spcBef>
                <a:spcPct val="0"/>
              </a:spcBef>
              <a:spcAft>
                <a:spcPts val="600"/>
              </a:spcAft>
              <a:buAutoNum type="arabicPeriod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中断上下文保存 (Context Saving)：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发生中断时，处理器会将当前任务的状态（寄存器值）压入当前运行任务的堆栈。这意味着即使是一个简单的任务，如果它运行时发生了频繁且复杂的中断，其堆栈使用量也会显著增加。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中断越复杂，需要保存的寄存器越多，堆栈开销越大。</a:t>
            </a:r>
          </a:p>
          <a:p>
            <a:pPr marL="0" indent="0">
              <a:spcBef>
                <a:spcPct val="0"/>
              </a:spcBef>
              <a:spcAft>
                <a:spcPts val="600"/>
              </a:spcAft>
              <a:buAutoNum type="arabicPeriod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 自身开销 (RTOS Overhead)：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在任务切换时，FreeRTOS 需要保存剩余CPU寄存器的状态到任务堆栈。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对于 Cortex-M 内核，一次完整的上下文切换通常需要 ~500 字节 的堆栈空间（具体取决于端口和FPU是否启用）。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此外，使用 osDelay(), xQueueSend() 等API函数也会产生一定的调用开销。</a:t>
            </a:r>
          </a:p>
          <a:p>
            <a:pPr marL="0" indent="0">
              <a:spcBef>
                <a:spcPct val="0"/>
              </a:spcBef>
              <a:spcAft>
                <a:spcPts val="600"/>
              </a:spcAft>
              <a:buAutoNum type="arabicPeriod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对齐要求 (Alignment)：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为了满足处理器的内存对齐要求，堆栈指针可能会自动调整，这可能会造成一些微小的浪费。</a:t>
            </a:r>
          </a:p>
        </p:txBody>
      </p:sp>
    </p:spTree>
  </p:cSld>
  <p:clrMapOvr>
    <a:masterClrMapping/>
  </p:clrMapOvr>
  <p:transition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90525" y="224155"/>
            <a:ext cx="11405870" cy="64008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ts val="2400"/>
              </a:spcBef>
              <a:spcAft>
                <a:spcPts val="1200"/>
              </a:spcAft>
            </a:pPr>
            <a:r>
              <a:rPr lang="en-US" altLang="zh-CN" sz="240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确定堆栈大小的实践方法</a:t>
            </a:r>
          </a:p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不要盲目猜测，应采用以下科学方法：</a:t>
            </a:r>
          </a:p>
          <a:p>
            <a:pPr marL="0" indent="0">
              <a:spcBef>
                <a:spcPts val="1200"/>
              </a:spcBef>
              <a:spcAft>
                <a:spcPts val="600"/>
              </a:spcAft>
            </a:pPr>
            <a:r>
              <a:rPr lang="en-US" altLang="zh-CN" sz="120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1. 理论估算 (初步估算)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查看编译器的 Map 文件。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找到你的任务函数及其调用的所有函数，检查它们的帧大小 (Frame Size)。将它们相加，得到一个粗略的底限。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公式：总堆栈需求 ≈ (最深层调用路径上所有函数帧大小之和) + (中断保存开销) + (安全边际)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这是一个起点，但非常不准确，因为它无法计算指针引用、动态深度等。</a:t>
            </a:r>
          </a:p>
          <a:p>
            <a:pPr marL="0" indent="0">
              <a:spcBef>
                <a:spcPts val="1200"/>
              </a:spcBef>
              <a:spcAft>
                <a:spcPts val="600"/>
              </a:spcAft>
            </a:pPr>
            <a:r>
              <a:rPr lang="en-US" altLang="zh-CN" sz="120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2. 经验值 (快速启动)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对于简单的 LED闪烁、按键扫描 等任务，可以从 128 ~ 256 字节 开始。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对于中等复杂的任务（如处理串口数据），可以从 256 ~ 512 字节 开始。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对于复杂的任务（如运行加密算法、文件系统），可能需要 1KB ~ 4KB甚至更多。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注意：这只是一个非常粗略的参考，必须通过后续方法进行验证。</a:t>
            </a:r>
          </a:p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en-US" altLang="zh-CN" sz="120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3. 实验测量 (最可靠的方法) - 强烈推荐</a:t>
            </a:r>
          </a:p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FreeRTOS 提供了极好的运行时堆栈使用量检测工具。</a:t>
            </a:r>
          </a:p>
          <a:p>
            <a:pPr marL="0" indent="0">
              <a:spcBef>
                <a:spcPct val="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uxTaskGetStackHighWaterMark() 函数：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工作原理：FreeRTOS 在任务运行时会将堆栈空间初始化为一个已知值（如 0xA5）。这个函数会从堆栈末尾开始向上检查，找到从未被覆盖过的最大连续内存区域。这个值就是所谓的“高水位线”(High Water Mark)。</a:t>
            </a: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含义：“高水位线”告诉你任务从创建以来，最多的时候 使用了多少堆栈空间。(分配的堆栈总大小) - (高水位线) = 任务曾达到的最大使用量。</a:t>
            </a:r>
          </a:p>
          <a:p>
            <a:pPr marL="457200" lvl="2" indent="0">
              <a:spcBef>
                <a:spcPct val="0"/>
              </a:spcBef>
              <a:spcAft>
                <a:spcPts val="60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如何使用：</a:t>
            </a:r>
          </a:p>
          <a:p>
            <a:pPr marL="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在任务循环中调用此函数。</a:t>
            </a:r>
          </a:p>
          <a:p>
            <a:pPr marL="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通过串口打印出水位数。</a:t>
            </a:r>
          </a:p>
          <a:p>
            <a:pPr marL="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让系统充分运行，执行所有可能的业务流程和中断。</a:t>
            </a:r>
          </a:p>
          <a:p>
            <a:pPr marL="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观察打印出的最小值，这就是该任务需要的 最大堆栈空间。</a:t>
            </a:r>
          </a:p>
          <a:p>
            <a:pPr marL="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zh-CN" altLang="en-US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安全边际：根据测量到的最大值，额外增加</a:t>
            </a: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 20% ~ 30% </a:t>
            </a:r>
            <a:r>
              <a:rPr lang="zh-CN" altLang="en-US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作为安全边际，以防止未测试到的边界情况。</a:t>
            </a:r>
          </a:p>
        </p:txBody>
      </p:sp>
    </p:spTree>
  </p:cSld>
  <p:clrMapOvr>
    <a:masterClrMapping/>
  </p:clrMapOvr>
  <p:transition/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925195" y="1195705"/>
            <a:ext cx="8693150" cy="24765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ts val="2400"/>
              </a:spcBef>
              <a:spcAft>
                <a:spcPts val="1200"/>
              </a:spcAft>
            </a:pPr>
            <a:r>
              <a:rPr lang="en-US" altLang="zh-CN" sz="240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启用 FreeRTOS 的堆栈溢出检测功能</a:t>
            </a:r>
          </a:p>
          <a:p>
            <a:pPr marL="0" indent="0">
              <a:spcBef>
                <a:spcPts val="1200"/>
              </a:spcBef>
              <a:spcAft>
                <a:spcPts val="1200"/>
              </a:spcAft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这是一个极其重要的安全特性，强烈建议在开发阶段启用。</a:t>
            </a:r>
          </a:p>
          <a:p>
            <a:pPr marL="0" indent="0">
              <a:spcBef>
                <a:spcPct val="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在 FreeRTOSConfig.h 中定义 configCHECK_FOR_STACK_OVERFLOW：</a:t>
            </a: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0：不检测（默认）。</a:t>
            </a: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1：检测方法1。在任务切换时检查堆栈指针是否超出有效范围。成本低，但只能在上下文切换时捕获溢出。</a:t>
            </a: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2：检测方法2。任务创建时在堆栈顶部填充一个已知模式（校验和），在切换时检查该模式是否被破坏。这种方法能捕获到堆栈溢出对数据的破坏，更有效但成本稍高。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200" b="0" i="0" dirty="0">
                <a:solidFill>
                  <a:srgbClr val="002060"/>
                </a:solidFill>
                <a:latin typeface="思源黑体 CN Normal" pitchFamily="34" charset="-122"/>
                <a:ea typeface="思源黑体 CN Normal" pitchFamily="34" charset="-122"/>
              </a:rPr>
              <a:t>注意：一旦检测到溢出，会触发 vApplicationStackOverflowHook 回调函数，你可以在其中进行错误处理（如打印错误信息、重启系统）。</a:t>
            </a:r>
          </a:p>
        </p:txBody>
      </p:sp>
    </p:spTree>
  </p:cSld>
  <p:clrMapOvr>
    <a:masterClrMapping/>
  </p:clrMapOvr>
  <p:transition/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313045" y="2517775"/>
            <a:ext cx="5351780" cy="1080770"/>
          </a:xfrm>
        </p:spPr>
        <p:txBody>
          <a:bodyPr wrap="square">
            <a:normAutofit/>
          </a:bodyPr>
          <a:lstStyle/>
          <a:p>
            <a:r>
              <a:rPr lang="zh-CN" dirty="0">
                <a:sym typeface="+mn-ea"/>
              </a:rPr>
              <a:t>中断管理</a:t>
            </a:r>
          </a:p>
        </p:txBody>
      </p:sp>
    </p:spTree>
    <p:custDataLst>
      <p:tags r:id="rId1"/>
    </p:custData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544830" y="1506855"/>
            <a:ext cx="10096500" cy="41014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1</a:t>
            </a:r>
            <a:r>
              <a:rPr lang="zh-CN" altLang="en-US" sz="1400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，什么是中断？</a:t>
            </a:r>
            <a:endParaRPr lang="en-US" altLang="zh-CN" sz="1400" b="1" dirty="0">
              <a:solidFill>
                <a:schemeClr val="bg2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400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2</a:t>
            </a:r>
            <a:r>
              <a:rPr lang="zh-CN" altLang="en-US" sz="1400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，中断优先级分组设置</a:t>
            </a:r>
            <a:endParaRPr lang="en-US" altLang="zh-CN" sz="1400" b="1" dirty="0">
              <a:solidFill>
                <a:schemeClr val="bg2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400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sz="1400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，中断相关寄存器</a:t>
            </a:r>
            <a:endParaRPr lang="en-US" altLang="zh-CN" sz="1400" b="1" dirty="0">
              <a:solidFill>
                <a:schemeClr val="bg2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</p:spTree>
  </p:cSld>
  <p:clrMapOvr>
    <a:masterClrMapping/>
  </p:clrMapOvr>
  <p:transition/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103A6-DB11-EAA4-1587-CB855B86D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012B2326-E3E2-7790-16AD-04C19F44752F}"/>
              </a:ext>
            </a:extLst>
          </p:cNvPr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E1AEE59-CF63-81B5-9D62-878B284D5782}"/>
              </a:ext>
            </a:extLst>
          </p:cNvPr>
          <p:cNvSpPr txBox="1"/>
          <p:nvPr/>
        </p:nvSpPr>
        <p:spPr>
          <a:xfrm>
            <a:off x="544830" y="1506855"/>
            <a:ext cx="10096500" cy="41014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endParaRPr lang="zh-CN" altLang="en-US">
              <a:sym typeface="+mn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75933DA-D8B8-D7AA-0756-7524879617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0880" y="1413193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1</a:t>
            </a:r>
            <a:r>
              <a:rPr lang="zh-CN" altLang="en-US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，什么是中断？（了解）</a:t>
            </a:r>
            <a:endParaRPr lang="en-US" altLang="zh-CN" b="1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11" name="文本框 18">
            <a:extLst>
              <a:ext uri="{FF2B5EF4-FFF2-40B4-BE49-F238E27FC236}">
                <a16:creationId xmlns:a16="http://schemas.microsoft.com/office/drawing/2014/main" id="{EB27C58C-FF5A-944B-FDF2-2CE7511A44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92830" y="2016443"/>
            <a:ext cx="7086600" cy="382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简介：让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CPU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打断正常运行的程序，转而去处理紧急的事件（程序），就叫中断</a:t>
            </a:r>
            <a:endParaRPr lang="en-US" altLang="zh-CN" sz="14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038169D-B264-5205-114D-4EACFA5D9771}"/>
              </a:ext>
            </a:extLst>
          </p:cNvPr>
          <p:cNvSpPr/>
          <p:nvPr/>
        </p:nvSpPr>
        <p:spPr>
          <a:xfrm>
            <a:off x="2075380" y="3408681"/>
            <a:ext cx="1119187" cy="465137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 sz="1600" dirty="0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F0A4026-2B7E-8264-5CFF-E3583D52C9E4}"/>
              </a:ext>
            </a:extLst>
          </p:cNvPr>
          <p:cNvSpPr/>
          <p:nvPr/>
        </p:nvSpPr>
        <p:spPr>
          <a:xfrm>
            <a:off x="3207267" y="4250056"/>
            <a:ext cx="720725" cy="41751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zh-CN" altLang="en-US" sz="1400" dirty="0"/>
              <a:t>上厕所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780E0DE-EE98-0A72-034B-FF7137431E36}"/>
              </a:ext>
            </a:extLst>
          </p:cNvPr>
          <p:cNvSpPr/>
          <p:nvPr/>
        </p:nvSpPr>
        <p:spPr>
          <a:xfrm>
            <a:off x="3194567" y="3408681"/>
            <a:ext cx="733425" cy="4651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 sz="1600" dirty="0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B5C6564-DA74-7232-6863-D86BDD695885}"/>
              </a:ext>
            </a:extLst>
          </p:cNvPr>
          <p:cNvSpPr/>
          <p:nvPr/>
        </p:nvSpPr>
        <p:spPr>
          <a:xfrm>
            <a:off x="3927992" y="3408681"/>
            <a:ext cx="1052513" cy="465137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 sz="1600" dirty="0"/>
          </a:p>
        </p:txBody>
      </p:sp>
      <p:sp>
        <p:nvSpPr>
          <p:cNvPr id="16" name="右大括号 15">
            <a:extLst>
              <a:ext uri="{FF2B5EF4-FFF2-40B4-BE49-F238E27FC236}">
                <a16:creationId xmlns:a16="http://schemas.microsoft.com/office/drawing/2014/main" id="{332F60CB-7BDC-2D9D-13E9-7834A93CC90B}"/>
              </a:ext>
            </a:extLst>
          </p:cNvPr>
          <p:cNvSpPr/>
          <p:nvPr/>
        </p:nvSpPr>
        <p:spPr>
          <a:xfrm rot="16200000">
            <a:off x="3438249" y="1866424"/>
            <a:ext cx="179388" cy="2905125"/>
          </a:xfrm>
          <a:prstGeom prst="rightBrace">
            <a:avLst>
              <a:gd name="adj1" fmla="val 51608"/>
              <a:gd name="adj2" fmla="val 50913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zh-CN" altLang="en-US" sz="1600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A33F0911-FE4C-CBCE-EB1C-B145DB6DCA3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62817" y="2843531"/>
            <a:ext cx="728663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/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上课</a:t>
            </a:r>
          </a:p>
        </p:txBody>
      </p: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5A87EAF2-1FBD-3C0B-4BD2-165A068DBFC8}"/>
              </a:ext>
            </a:extLst>
          </p:cNvPr>
          <p:cNvCxnSpPr>
            <a:cxnSpLocks/>
          </p:cNvCxnSpPr>
          <p:nvPr/>
        </p:nvCxnSpPr>
        <p:spPr>
          <a:xfrm>
            <a:off x="3207267" y="3873818"/>
            <a:ext cx="0" cy="376238"/>
          </a:xfrm>
          <a:prstGeom prst="straightConnector1">
            <a:avLst/>
          </a:prstGeom>
          <a:ln w="19050"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8E04DFA4-015B-80E1-D313-B92EB9E34B61}"/>
              </a:ext>
            </a:extLst>
          </p:cNvPr>
          <p:cNvCxnSpPr>
            <a:cxnSpLocks/>
          </p:cNvCxnSpPr>
          <p:nvPr/>
        </p:nvCxnSpPr>
        <p:spPr>
          <a:xfrm rot="10800000">
            <a:off x="3927992" y="3873818"/>
            <a:ext cx="0" cy="376238"/>
          </a:xfrm>
          <a:prstGeom prst="straightConnector1">
            <a:avLst/>
          </a:prstGeom>
          <a:ln w="19050"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35267E01-4540-3DEA-2166-886A62AD8F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51592" y="4275456"/>
            <a:ext cx="70008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中断</a:t>
            </a:r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73F49AB0-D467-AB8A-073D-58FCFF2553E7}"/>
              </a:ext>
            </a:extLst>
          </p:cNvPr>
          <p:cNvCxnSpPr>
            <a:cxnSpLocks/>
          </p:cNvCxnSpPr>
          <p:nvPr/>
        </p:nvCxnSpPr>
        <p:spPr>
          <a:xfrm>
            <a:off x="2732605" y="4408806"/>
            <a:ext cx="461962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498EE173-C52C-9C32-F3DC-B4C695A42585}"/>
              </a:ext>
            </a:extLst>
          </p:cNvPr>
          <p:cNvSpPr/>
          <p:nvPr/>
        </p:nvSpPr>
        <p:spPr>
          <a:xfrm>
            <a:off x="5294830" y="3511868"/>
            <a:ext cx="1239837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，中断请求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A63A6EDA-2857-D51C-4DC0-37E560B27760}"/>
              </a:ext>
            </a:extLst>
          </p:cNvPr>
          <p:cNvSpPr/>
          <p:nvPr/>
        </p:nvSpPr>
        <p:spPr>
          <a:xfrm>
            <a:off x="5294830" y="4062731"/>
            <a:ext cx="1239837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，响应中断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F76C2250-E744-DD17-065C-D7757DFB505F}"/>
              </a:ext>
            </a:extLst>
          </p:cNvPr>
          <p:cNvSpPr/>
          <p:nvPr/>
        </p:nvSpPr>
        <p:spPr>
          <a:xfrm>
            <a:off x="5294830" y="4658043"/>
            <a:ext cx="1239837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，退出中断</a:t>
            </a:r>
          </a:p>
        </p:txBody>
      </p:sp>
      <p:sp>
        <p:nvSpPr>
          <p:cNvPr id="25" name="文本框 44">
            <a:extLst>
              <a:ext uri="{FF2B5EF4-FFF2-40B4-BE49-F238E27FC236}">
                <a16:creationId xmlns:a16="http://schemas.microsoft.com/office/drawing/2014/main" id="{F9EF81F3-5C4D-3F98-DE6B-28CA9A4179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34667" y="3542031"/>
            <a:ext cx="3922713" cy="277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外设产生中断请求（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GPIO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外部中断、定时器中断等）</a:t>
            </a:r>
            <a:endParaRPr lang="zh-CN" altLang="en-US" sz="1200"/>
          </a:p>
        </p:txBody>
      </p:sp>
      <p:sp>
        <p:nvSpPr>
          <p:cNvPr id="26" name="文本框 46">
            <a:extLst>
              <a:ext uri="{FF2B5EF4-FFF2-40B4-BE49-F238E27FC236}">
                <a16:creationId xmlns:a16="http://schemas.microsoft.com/office/drawing/2014/main" id="{6D1CDA18-B5CE-2DE5-D535-E76CCF52A8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34667" y="4081781"/>
            <a:ext cx="417512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CPU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停止执行当前程序，转而去执行中断处理程序（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ISR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）</a:t>
            </a:r>
          </a:p>
        </p:txBody>
      </p:sp>
      <p:sp>
        <p:nvSpPr>
          <p:cNvPr id="27" name="文本框 48">
            <a:extLst>
              <a:ext uri="{FF2B5EF4-FFF2-40B4-BE49-F238E27FC236}">
                <a16:creationId xmlns:a16="http://schemas.microsoft.com/office/drawing/2014/main" id="{2156C160-28C5-623E-00B5-24C0AB0BA0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34667" y="4677093"/>
            <a:ext cx="3606800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执行完毕，返回被打断的程序处，继续往下执行</a:t>
            </a:r>
            <a:endParaRPr lang="zh-CN" altLang="en-US" sz="1200"/>
          </a:p>
        </p:txBody>
      </p:sp>
      <p:sp>
        <p:nvSpPr>
          <p:cNvPr id="28" name="文本框 7167">
            <a:extLst>
              <a:ext uri="{FF2B5EF4-FFF2-40B4-BE49-F238E27FC236}">
                <a16:creationId xmlns:a16="http://schemas.microsoft.com/office/drawing/2014/main" id="{D3E92361-355B-2344-2FD3-A5066BD613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80542" y="2911793"/>
            <a:ext cx="30575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中断执行机制，可简单概括为三步：</a:t>
            </a:r>
          </a:p>
        </p:txBody>
      </p:sp>
    </p:spTree>
    <p:extLst>
      <p:ext uri="{BB962C8B-B14F-4D97-AF65-F5344CB8AC3E}">
        <p14:creationId xmlns:p14="http://schemas.microsoft.com/office/powerpoint/2010/main" val="280485833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 animBg="1"/>
      <p:bldP spid="13" grpId="0" animBg="1"/>
      <p:bldP spid="14" grpId="0" animBg="1"/>
      <p:bldP spid="15" grpId="0" animBg="1"/>
      <p:bldP spid="16" grpId="0" animBg="1"/>
      <p:bldP spid="17" grpId="0"/>
      <p:bldP spid="20" grpId="0"/>
      <p:bldP spid="22" grpId="0" animBg="1"/>
      <p:bldP spid="23" grpId="0" animBg="1"/>
      <p:bldP spid="24" grpId="0" animBg="1"/>
      <p:bldP spid="25" grpId="0"/>
      <p:bldP spid="26" grpId="0"/>
      <p:bldP spid="27" grpId="0"/>
      <p:bldP spid="28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28C33-6A6A-81B2-8157-928B66EC1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9EA99B2A-81A8-5A22-245C-4CA902E05BCA}"/>
              </a:ext>
            </a:extLst>
          </p:cNvPr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ED4A020-CD8E-E6BE-817C-6A88BCDAF328}"/>
              </a:ext>
            </a:extLst>
          </p:cNvPr>
          <p:cNvSpPr txBox="1"/>
          <p:nvPr/>
        </p:nvSpPr>
        <p:spPr>
          <a:xfrm>
            <a:off x="544830" y="1506855"/>
            <a:ext cx="10096500" cy="4341052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endParaRPr lang="zh-CN" altLang="en-US">
              <a:sym typeface="+mn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AEB7905-2040-211E-5836-96D6D789C6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18229" y="1506855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2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，中断优先级分组设置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pic>
        <p:nvPicPr>
          <p:cNvPr id="11" name="图片 7">
            <a:extLst>
              <a:ext uri="{FF2B5EF4-FFF2-40B4-BE49-F238E27FC236}">
                <a16:creationId xmlns:a16="http://schemas.microsoft.com/office/drawing/2014/main" id="{43082A03-522C-0826-E37B-A37FAF6C3B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7841" y="3111818"/>
            <a:ext cx="4889500" cy="1027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文本框 19">
            <a:extLst>
              <a:ext uri="{FF2B5EF4-FFF2-40B4-BE49-F238E27FC236}">
                <a16:creationId xmlns:a16="http://schemas.microsoft.com/office/drawing/2014/main" id="{33564126-9B71-21B4-B85B-B38466C1E3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7003" y="2072005"/>
            <a:ext cx="8446201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ARM Cortex-M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使用了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8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位宽的寄存器来配置中断的优先等级，这个寄存器就是中断优先级配置寄存器 </a:t>
            </a:r>
          </a:p>
        </p:txBody>
      </p:sp>
      <p:sp>
        <p:nvSpPr>
          <p:cNvPr id="13" name="文本框 20">
            <a:extLst>
              <a:ext uri="{FF2B5EF4-FFF2-40B4-BE49-F238E27FC236}">
                <a16:creationId xmlns:a16="http://schemas.microsoft.com/office/drawing/2014/main" id="{433243A7-0247-A825-C032-CB7A97B110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7004" y="2481580"/>
            <a:ext cx="880770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但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STM32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，只用了中断优先级配置寄存器的高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4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位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[7 : 4]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，所以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STM32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提供了最大</a:t>
            </a:r>
            <a:r>
              <a:rPr lang="en-US" altLang="zh-CN" sz="1400" b="1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16</a:t>
            </a:r>
            <a:r>
              <a:rPr lang="zh-CN" altLang="en-US" sz="1400" b="1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级的中断优先等级</a:t>
            </a:r>
          </a:p>
        </p:txBody>
      </p:sp>
      <p:sp>
        <p:nvSpPr>
          <p:cNvPr id="14" name="文本框 22">
            <a:extLst>
              <a:ext uri="{FF2B5EF4-FFF2-40B4-BE49-F238E27FC236}">
                <a16:creationId xmlns:a16="http://schemas.microsoft.com/office/drawing/2014/main" id="{00F2F27D-1C28-1E31-74FA-0D44A25DA9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7004" y="4361180"/>
            <a:ext cx="461803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STM32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的中断优先级可以分为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抢占优先级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和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子优先级 </a:t>
            </a:r>
          </a:p>
        </p:txBody>
      </p:sp>
      <p:sp>
        <p:nvSpPr>
          <p:cNvPr id="15" name="文本框 24">
            <a:extLst>
              <a:ext uri="{FF2B5EF4-FFF2-40B4-BE49-F238E27FC236}">
                <a16:creationId xmlns:a16="http://schemas.microsoft.com/office/drawing/2014/main" id="{5B8A66F2-5C79-3CBB-995C-88B4D58552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7004" y="4731068"/>
            <a:ext cx="712628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b="1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抢占优先级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： 抢占优先级高的中断可以打断正在执行但抢占优先级低的中断 </a:t>
            </a:r>
          </a:p>
        </p:txBody>
      </p:sp>
      <p:sp>
        <p:nvSpPr>
          <p:cNvPr id="16" name="文本框 26">
            <a:extLst>
              <a:ext uri="{FF2B5EF4-FFF2-40B4-BE49-F238E27FC236}">
                <a16:creationId xmlns:a16="http://schemas.microsoft.com/office/drawing/2014/main" id="{18F3F78E-43C9-AF19-DE8B-51D1A32E00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7004" y="5100955"/>
            <a:ext cx="809466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b="1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子优先级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：当同时发生具有相同抢占优先级的两个中断时，子优先级数值小的优先执行</a:t>
            </a:r>
          </a:p>
        </p:txBody>
      </p:sp>
      <p:sp>
        <p:nvSpPr>
          <p:cNvPr id="17" name="文本框 1">
            <a:extLst>
              <a:ext uri="{FF2B5EF4-FFF2-40B4-BE49-F238E27FC236}">
                <a16:creationId xmlns:a16="http://schemas.microsoft.com/office/drawing/2014/main" id="{C1ED3D65-0618-096F-9A78-80B20D92AB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7004" y="5405755"/>
            <a:ext cx="287813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注意：中断优先级数值越小越优先</a:t>
            </a:r>
          </a:p>
        </p:txBody>
      </p:sp>
    </p:spTree>
    <p:extLst>
      <p:ext uri="{BB962C8B-B14F-4D97-AF65-F5344CB8AC3E}">
        <p14:creationId xmlns:p14="http://schemas.microsoft.com/office/powerpoint/2010/main" val="321191431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8D7F71-2236-BF2B-C35F-41032334D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1D10A8BC-A9D6-DC2C-62D9-F26064142C44}"/>
              </a:ext>
            </a:extLst>
          </p:cNvPr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9CA0370-3EBB-C8DF-FC52-D16333F4B27F}"/>
              </a:ext>
            </a:extLst>
          </p:cNvPr>
          <p:cNvSpPr txBox="1"/>
          <p:nvPr/>
        </p:nvSpPr>
        <p:spPr>
          <a:xfrm>
            <a:off x="544830" y="1506855"/>
            <a:ext cx="10096500" cy="41014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endParaRPr lang="zh-CN" altLang="en-US">
              <a:sym typeface="+mn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499BABA-DDFA-5E36-CA5B-37937969AA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61768" y="1430374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2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，中断优先级分组设置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11" name="文本框 30">
            <a:extLst>
              <a:ext uri="{FF2B5EF4-FFF2-40B4-BE49-F238E27FC236}">
                <a16:creationId xmlns:a16="http://schemas.microsoft.com/office/drawing/2014/main" id="{6CFF99EE-3BD4-FDE4-3FD0-20219EDDC0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26893" y="5257837"/>
            <a:ext cx="730250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FreeRTOS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官网关于中断说明：https://www.freertos.org/RTOS-Cortex-M3-M4.html</a:t>
            </a:r>
          </a:p>
        </p:txBody>
      </p:sp>
      <p:graphicFrame>
        <p:nvGraphicFramePr>
          <p:cNvPr id="12" name="表格 21">
            <a:extLst>
              <a:ext uri="{FF2B5EF4-FFF2-40B4-BE49-F238E27FC236}">
                <a16:creationId xmlns:a16="http://schemas.microsoft.com/office/drawing/2014/main" id="{EE9FD436-0828-09C7-9FBB-5985792618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8788634"/>
              </p:ext>
            </p:extLst>
          </p:nvPr>
        </p:nvGraphicFramePr>
        <p:xfrm>
          <a:off x="2025318" y="2401924"/>
          <a:ext cx="6134100" cy="24145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00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16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18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805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758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00" b="0" i="0" dirty="0">
                          <a:solidFill>
                            <a:schemeClr val="bg1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优先级分组 </a:t>
                      </a:r>
                      <a:endParaRPr lang="zh-CN" altLang="en-US" sz="1100" dirty="0">
                        <a:solidFill>
                          <a:schemeClr val="bg1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00" b="0" i="0" dirty="0">
                          <a:solidFill>
                            <a:schemeClr val="bg1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抢占优先级 </a:t>
                      </a:r>
                      <a:endParaRPr lang="zh-CN" altLang="en-US" sz="1100" dirty="0">
                        <a:solidFill>
                          <a:schemeClr val="bg1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00" b="0" i="0">
                          <a:solidFill>
                            <a:schemeClr val="bg1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子优先级 </a:t>
                      </a:r>
                      <a:endParaRPr lang="zh-CN" altLang="en-US" sz="1100">
                        <a:solidFill>
                          <a:schemeClr val="bg1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000" b="0" i="0" dirty="0">
                          <a:solidFill>
                            <a:schemeClr val="bg1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优先级配置寄存器高 </a:t>
                      </a:r>
                      <a:r>
                        <a:rPr lang="en-US" altLang="zh-CN" sz="1000" b="0" i="0" dirty="0">
                          <a:solidFill>
                            <a:schemeClr val="bg1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4 </a:t>
                      </a:r>
                      <a:r>
                        <a:rPr lang="zh-CN" altLang="en-US" sz="1000" b="0" i="0" dirty="0">
                          <a:solidFill>
                            <a:schemeClr val="bg1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位</a:t>
                      </a:r>
                      <a:endParaRPr lang="zh-CN" altLang="en-US" sz="1100" dirty="0">
                        <a:solidFill>
                          <a:schemeClr val="bg1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01">
                <a:tc>
                  <a:txBody>
                    <a:bodyPr/>
                    <a:lstStyle/>
                    <a:p>
                      <a:pPr algn="ctr"/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NVIC_PriorityGroup_0 </a:t>
                      </a:r>
                      <a:endParaRPr 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0 </a:t>
                      </a:r>
                      <a:r>
                        <a:rPr lang="zh-CN" altLang="en-US" sz="10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级抢占优先级 </a:t>
                      </a:r>
                      <a:endParaRPr lang="zh-CN" altLang="en-US" sz="11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0-15 </a:t>
                      </a:r>
                      <a:r>
                        <a:rPr lang="zh-CN" altLang="en-US" sz="10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级子优先级 </a:t>
                      </a:r>
                      <a:endParaRPr lang="zh-CN" altLang="en-US" sz="11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0bit </a:t>
                      </a:r>
                      <a: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用于抢占优先级</a:t>
                      </a:r>
                      <a:b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</a:br>
                      <a:r>
                        <a:rPr lang="en-US" altLang="zh-CN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4</a:t>
                      </a:r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bit </a:t>
                      </a:r>
                      <a: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用于子优先级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01">
                <a:tc>
                  <a:txBody>
                    <a:bodyPr/>
                    <a:lstStyle/>
                    <a:p>
                      <a:pPr algn="ctr"/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NVIC_PriorityGroup_1 </a:t>
                      </a:r>
                      <a:endParaRPr 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0-1 </a:t>
                      </a:r>
                      <a: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级抢占优先级 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0-7 </a:t>
                      </a:r>
                      <a:r>
                        <a:rPr lang="zh-CN" altLang="en-US" sz="10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级子优先级 </a:t>
                      </a:r>
                      <a:endParaRPr lang="zh-CN" altLang="en-US" sz="11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1bit </a:t>
                      </a:r>
                      <a: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用于抢占优先级</a:t>
                      </a:r>
                      <a:b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</a:br>
                      <a:r>
                        <a:rPr lang="en-US" altLang="zh-CN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3</a:t>
                      </a:r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bit </a:t>
                      </a:r>
                      <a: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用于子优先级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01">
                <a:tc>
                  <a:txBody>
                    <a:bodyPr/>
                    <a:lstStyle/>
                    <a:p>
                      <a:pPr algn="ctr"/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NVIC_PriorityGroup_2 </a:t>
                      </a:r>
                      <a:endParaRPr 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0-3 </a:t>
                      </a:r>
                      <a:r>
                        <a:rPr lang="zh-CN" altLang="en-US" sz="10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级抢占优先级 </a:t>
                      </a:r>
                      <a:endParaRPr lang="zh-CN" altLang="en-US" sz="11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0-3 </a:t>
                      </a:r>
                      <a:r>
                        <a:rPr lang="zh-CN" altLang="en-US" sz="10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级子优先级 </a:t>
                      </a:r>
                      <a:endParaRPr lang="zh-CN" altLang="en-US" sz="11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2bit </a:t>
                      </a:r>
                      <a: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用于抢占优先级</a:t>
                      </a:r>
                      <a:b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</a:br>
                      <a:r>
                        <a:rPr lang="en-US" altLang="zh-CN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2</a:t>
                      </a:r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bit </a:t>
                      </a:r>
                      <a: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用于子优先级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01">
                <a:tc>
                  <a:txBody>
                    <a:bodyPr/>
                    <a:lstStyle/>
                    <a:p>
                      <a:pPr algn="ctr"/>
                      <a:r>
                        <a:rPr lang="en-US" sz="10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NVIC_PriorityGroup_3 </a:t>
                      </a:r>
                      <a:endParaRPr lang="en-US" sz="11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0-7 </a:t>
                      </a:r>
                      <a:r>
                        <a:rPr lang="zh-CN" altLang="en-US" sz="10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级抢占优先级 </a:t>
                      </a:r>
                      <a:endParaRPr lang="zh-CN" altLang="en-US" sz="11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0-1 </a:t>
                      </a:r>
                      <a:r>
                        <a:rPr lang="zh-CN" altLang="en-US" sz="10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级子优先级 </a:t>
                      </a:r>
                      <a:endParaRPr lang="zh-CN" altLang="en-US" sz="11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3bit </a:t>
                      </a:r>
                      <a: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用于抢占优先级</a:t>
                      </a:r>
                      <a:b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</a:br>
                      <a:r>
                        <a:rPr lang="en-US" altLang="zh-CN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1</a:t>
                      </a:r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bit </a:t>
                      </a:r>
                      <a: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用于子优先级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01">
                <a:tc>
                  <a:txBody>
                    <a:bodyPr/>
                    <a:lstStyle/>
                    <a:p>
                      <a:pPr algn="ctr"/>
                      <a:r>
                        <a:rPr lang="en-US" sz="10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NVIC_PriorityGroup_4 </a:t>
                      </a:r>
                      <a:endParaRPr lang="en-US" sz="11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0-15 </a:t>
                      </a:r>
                      <a:r>
                        <a:rPr lang="zh-CN" altLang="en-US" sz="10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级抢占优先级 </a:t>
                      </a:r>
                      <a:endParaRPr lang="zh-CN" altLang="en-US" sz="11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0 </a:t>
                      </a:r>
                      <a:r>
                        <a:rPr lang="zh-CN" altLang="en-US" sz="10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级子优先级 </a:t>
                      </a:r>
                      <a:endParaRPr lang="zh-CN" altLang="en-US" sz="11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4bit </a:t>
                      </a:r>
                      <a: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用于抢占优先级</a:t>
                      </a:r>
                      <a:b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</a:br>
                      <a:r>
                        <a:rPr lang="en-US" altLang="zh-CN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0</a:t>
                      </a:r>
                      <a:r>
                        <a:rPr 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bit </a:t>
                      </a:r>
                      <a:r>
                        <a:rPr lang="zh-CN" altLang="en-US" sz="10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用于子优先级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7" marR="91457" marT="45711" marB="45711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" name="文本框 33">
            <a:extLst>
              <a:ext uri="{FF2B5EF4-FFF2-40B4-BE49-F238E27FC236}">
                <a16:creationId xmlns:a16="http://schemas.microsoft.com/office/drawing/2014/main" id="{684115CD-4A6B-503C-5EED-1F87604C90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26893" y="1970124"/>
            <a:ext cx="5260975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一共有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5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种分配方式，对应着中断优先级分组的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5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个组 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B29F64A-A2CE-4895-309F-91E36B1E74B4}"/>
              </a:ext>
            </a:extLst>
          </p:cNvPr>
          <p:cNvSpPr/>
          <p:nvPr/>
        </p:nvSpPr>
        <p:spPr>
          <a:xfrm>
            <a:off x="2017380" y="4419637"/>
            <a:ext cx="6132513" cy="382587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 dirty="0"/>
          </a:p>
        </p:txBody>
      </p:sp>
      <p:sp>
        <p:nvSpPr>
          <p:cNvPr id="15" name="文本框 39">
            <a:extLst>
              <a:ext uri="{FF2B5EF4-FFF2-40B4-BE49-F238E27FC236}">
                <a16:creationId xmlns:a16="http://schemas.microsoft.com/office/drawing/2014/main" id="{233F1936-7DFE-50AF-DE5C-56BC3BE9E1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26893" y="4921287"/>
            <a:ext cx="788035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通过调用函数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HAL_NVIC_SetPriorityGrouping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</a:t>
            </a:r>
            <a:r>
              <a:rPr lang="en-US" altLang="zh-CN" sz="1400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NVIC_PRIORITYGROUP_4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）即可完成设置</a:t>
            </a:r>
            <a:endParaRPr lang="zh-CN" altLang="en-US" sz="1400" dirty="0"/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C2D45155-E2D8-2D16-B7E3-4B1ABA798148}"/>
              </a:ext>
            </a:extLst>
          </p:cNvPr>
          <p:cNvSpPr/>
          <p:nvPr/>
        </p:nvSpPr>
        <p:spPr>
          <a:xfrm>
            <a:off x="9229393" y="4882656"/>
            <a:ext cx="1444625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zh-CN" altLang="en-US" sz="1200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在</a:t>
            </a:r>
            <a:r>
              <a:rPr lang="en-US" altLang="zh-CN" sz="1200" dirty="0" err="1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HAL_Init</a:t>
            </a:r>
            <a:r>
              <a:rPr lang="zh-CN" altLang="en-US" sz="1200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中设置</a:t>
            </a:r>
          </a:p>
        </p:txBody>
      </p:sp>
    </p:spTree>
    <p:extLst>
      <p:ext uri="{BB962C8B-B14F-4D97-AF65-F5344CB8AC3E}">
        <p14:creationId xmlns:p14="http://schemas.microsoft.com/office/powerpoint/2010/main" val="148216115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 animBg="1"/>
      <p:bldP spid="15" grpId="0"/>
      <p:bldP spid="16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716DD-FBEC-38A3-D0BF-D5406BE85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140E39DA-0526-C314-1E88-78B55C23AC88}"/>
              </a:ext>
            </a:extLst>
          </p:cNvPr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4EF3405-FEE8-9C1E-D005-8396CEDD318E}"/>
              </a:ext>
            </a:extLst>
          </p:cNvPr>
          <p:cNvSpPr txBox="1"/>
          <p:nvPr/>
        </p:nvSpPr>
        <p:spPr>
          <a:xfrm>
            <a:off x="544830" y="1506855"/>
            <a:ext cx="10096500" cy="41014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endParaRPr lang="zh-CN" altLang="en-US">
              <a:sym typeface="+mn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70A3867-DE0D-66E4-F8A2-4BE8E1CB3B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4968" y="1540828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2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，中断优先级分组设置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11" name="文本框 36">
            <a:extLst>
              <a:ext uri="{FF2B5EF4-FFF2-40B4-BE49-F238E27FC236}">
                <a16:creationId xmlns:a16="http://schemas.microsoft.com/office/drawing/2014/main" id="{83C4C83D-2A54-033B-0DE4-65AB338E9E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71993" y="2728278"/>
            <a:ext cx="8048307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、低于configMAX_SYSCALL_INTERRUPT_PRIORITY优先级的中断里才允许调用FreeRTOS 的API函数</a:t>
            </a:r>
          </a:p>
        </p:txBody>
      </p:sp>
      <p:sp>
        <p:nvSpPr>
          <p:cNvPr id="12" name="文本框 15">
            <a:extLst>
              <a:ext uri="{FF2B5EF4-FFF2-40B4-BE49-F238E27FC236}">
                <a16:creationId xmlns:a16="http://schemas.microsoft.com/office/drawing/2014/main" id="{01610F44-735D-B07C-8736-97BFACA0D5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71993" y="3395028"/>
            <a:ext cx="4905375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2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、建议将所有优先级位指定为抢占优先级位，方便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FreeRTOS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管理</a:t>
            </a:r>
            <a:endParaRPr lang="en-US" altLang="zh-CN" sz="12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3" name="文本框 19">
            <a:extLst>
              <a:ext uri="{FF2B5EF4-FFF2-40B4-BE49-F238E27FC236}">
                <a16:creationId xmlns:a16="http://schemas.microsoft.com/office/drawing/2014/main" id="{2B48226D-0AF4-C758-9CAD-F77BF053BE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71993" y="4288791"/>
            <a:ext cx="4370387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、中断优先级数值越小越优先，任务优先级数值越大越优先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DF405A34-D426-ACED-8E5A-A37B3C81CF84}"/>
              </a:ext>
            </a:extLst>
          </p:cNvPr>
          <p:cNvSpPr/>
          <p:nvPr/>
        </p:nvSpPr>
        <p:spPr>
          <a:xfrm>
            <a:off x="5218430" y="3771266"/>
            <a:ext cx="5149850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（调用函数</a:t>
            </a:r>
            <a:r>
              <a:rPr lang="en-US" altLang="zh-CN" sz="12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HAL_NVIC_SetPriorityGrouping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(NVIC_PRIORITYGROUP_4)</a:t>
            </a:r>
            <a:endParaRPr lang="zh-CN" altLang="en-US" sz="1200" dirty="0"/>
          </a:p>
        </p:txBody>
      </p:sp>
      <p:sp>
        <p:nvSpPr>
          <p:cNvPr id="15" name="文本框 21">
            <a:extLst>
              <a:ext uri="{FF2B5EF4-FFF2-40B4-BE49-F238E27FC236}">
                <a16:creationId xmlns:a16="http://schemas.microsoft.com/office/drawing/2014/main" id="{C4986A5C-6229-ABE4-948C-5B7FF62E17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71993" y="2242503"/>
            <a:ext cx="73183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特点：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68B47F5-CE55-AB77-AF6F-38677095E3EB}"/>
              </a:ext>
            </a:extLst>
          </p:cNvPr>
          <p:cNvSpPr/>
          <p:nvPr/>
        </p:nvSpPr>
        <p:spPr>
          <a:xfrm>
            <a:off x="7372668" y="4233228"/>
            <a:ext cx="695325" cy="1254125"/>
          </a:xfrm>
          <a:prstGeom prst="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zh-CN" altLang="en-US" dirty="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02238C5-9EFA-99AE-9758-3669B514FFCE}"/>
              </a:ext>
            </a:extLst>
          </p:cNvPr>
          <p:cNvCxnSpPr>
            <a:cxnSpLocks/>
          </p:cNvCxnSpPr>
          <p:nvPr/>
        </p:nvCxnSpPr>
        <p:spPr>
          <a:xfrm>
            <a:off x="7372668" y="4444366"/>
            <a:ext cx="69532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E61C125-E400-2DDC-97B5-7EC443CC50A9}"/>
              </a:ext>
            </a:extLst>
          </p:cNvPr>
          <p:cNvCxnSpPr>
            <a:cxnSpLocks/>
          </p:cNvCxnSpPr>
          <p:nvPr/>
        </p:nvCxnSpPr>
        <p:spPr>
          <a:xfrm>
            <a:off x="7372668" y="4647566"/>
            <a:ext cx="69532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C3DF022C-852E-8C6F-45F4-8FB7690E58D0}"/>
              </a:ext>
            </a:extLst>
          </p:cNvPr>
          <p:cNvCxnSpPr>
            <a:cxnSpLocks/>
          </p:cNvCxnSpPr>
          <p:nvPr/>
        </p:nvCxnSpPr>
        <p:spPr>
          <a:xfrm>
            <a:off x="7372668" y="4850766"/>
            <a:ext cx="69532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45438F9A-E544-3801-CA1F-F600F08CCF6C}"/>
              </a:ext>
            </a:extLst>
          </p:cNvPr>
          <p:cNvCxnSpPr>
            <a:cxnSpLocks/>
          </p:cNvCxnSpPr>
          <p:nvPr/>
        </p:nvCxnSpPr>
        <p:spPr>
          <a:xfrm>
            <a:off x="7372668" y="5055553"/>
            <a:ext cx="69532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152E8F1-104D-5B67-2A4D-868D7F883D8B}"/>
              </a:ext>
            </a:extLst>
          </p:cNvPr>
          <p:cNvCxnSpPr>
            <a:cxnSpLocks/>
          </p:cNvCxnSpPr>
          <p:nvPr/>
        </p:nvCxnSpPr>
        <p:spPr>
          <a:xfrm>
            <a:off x="7372668" y="5258753"/>
            <a:ext cx="69532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0">
            <a:extLst>
              <a:ext uri="{FF2B5EF4-FFF2-40B4-BE49-F238E27FC236}">
                <a16:creationId xmlns:a16="http://schemas.microsoft.com/office/drawing/2014/main" id="{C7A73C2B-FFC0-55E3-64D5-44BAB486F3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91743" y="4207828"/>
            <a:ext cx="257175" cy="260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100">
                <a:solidFill>
                  <a:srgbClr val="002060"/>
                </a:solidFill>
              </a:rPr>
              <a:t>0</a:t>
            </a:r>
            <a:endParaRPr lang="zh-CN" altLang="en-US" sz="1100">
              <a:solidFill>
                <a:srgbClr val="002060"/>
              </a:solidFill>
            </a:endParaRPr>
          </a:p>
        </p:txBody>
      </p:sp>
      <p:sp>
        <p:nvSpPr>
          <p:cNvPr id="23" name="文本框 32">
            <a:extLst>
              <a:ext uri="{FF2B5EF4-FFF2-40B4-BE49-F238E27FC236}">
                <a16:creationId xmlns:a16="http://schemas.microsoft.com/office/drawing/2014/main" id="{821D8E77-918E-7419-849F-DB4E7C0318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55230" y="5252403"/>
            <a:ext cx="330200" cy="260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100">
                <a:solidFill>
                  <a:srgbClr val="002060"/>
                </a:solidFill>
              </a:rPr>
              <a:t>15</a:t>
            </a:r>
            <a:endParaRPr lang="zh-CN" altLang="en-US" sz="1100">
              <a:solidFill>
                <a:srgbClr val="002060"/>
              </a:solidFill>
            </a:endParaRPr>
          </a:p>
        </p:txBody>
      </p:sp>
      <p:sp>
        <p:nvSpPr>
          <p:cNvPr id="24" name="文本框 34">
            <a:extLst>
              <a:ext uri="{FF2B5EF4-FFF2-40B4-BE49-F238E27FC236}">
                <a16:creationId xmlns:a16="http://schemas.microsoft.com/office/drawing/2014/main" id="{BFD1B690-51C7-731D-5FE8-1F76475CE3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91743" y="4415791"/>
            <a:ext cx="257175" cy="261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100">
                <a:solidFill>
                  <a:srgbClr val="002060"/>
                </a:solidFill>
              </a:rPr>
              <a:t>1</a:t>
            </a:r>
            <a:endParaRPr lang="zh-CN" altLang="en-US" sz="1100">
              <a:solidFill>
                <a:srgbClr val="002060"/>
              </a:solidFill>
            </a:endParaRPr>
          </a:p>
        </p:txBody>
      </p:sp>
      <p:sp>
        <p:nvSpPr>
          <p:cNvPr id="25" name="文本框 35">
            <a:extLst>
              <a:ext uri="{FF2B5EF4-FFF2-40B4-BE49-F238E27FC236}">
                <a16:creationId xmlns:a16="http://schemas.microsoft.com/office/drawing/2014/main" id="{3C96878F-E6F8-D57B-8E89-9882F885CE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99680" y="4645978"/>
            <a:ext cx="257175" cy="261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100">
                <a:solidFill>
                  <a:srgbClr val="002060"/>
                </a:solidFill>
              </a:rPr>
              <a:t>2</a:t>
            </a:r>
            <a:endParaRPr lang="zh-CN" altLang="en-US" sz="1100">
              <a:solidFill>
                <a:srgbClr val="002060"/>
              </a:solidFill>
            </a:endParaRPr>
          </a:p>
        </p:txBody>
      </p:sp>
      <p:sp>
        <p:nvSpPr>
          <p:cNvPr id="26" name="文本框 37">
            <a:extLst>
              <a:ext uri="{FF2B5EF4-FFF2-40B4-BE49-F238E27FC236}">
                <a16:creationId xmlns:a16="http://schemas.microsoft.com/office/drawing/2014/main" id="{9F1E99A4-0728-DAB3-F5D8-9ED7F02389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18718" y="4801553"/>
            <a:ext cx="419100" cy="261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100">
                <a:solidFill>
                  <a:srgbClr val="002060"/>
                </a:solidFill>
              </a:rPr>
              <a:t>… …</a:t>
            </a:r>
            <a:endParaRPr lang="zh-CN" altLang="en-US" sz="1100">
              <a:solidFill>
                <a:srgbClr val="002060"/>
              </a:solidFill>
            </a:endParaRPr>
          </a:p>
        </p:txBody>
      </p:sp>
      <p:sp>
        <p:nvSpPr>
          <p:cNvPr id="27" name="文本框 38">
            <a:extLst>
              <a:ext uri="{FF2B5EF4-FFF2-40B4-BE49-F238E27FC236}">
                <a16:creationId xmlns:a16="http://schemas.microsoft.com/office/drawing/2014/main" id="{15B10A9B-CB9A-BDD0-AC44-AB5E82AF3F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63168" y="5025391"/>
            <a:ext cx="328612" cy="261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100">
                <a:solidFill>
                  <a:srgbClr val="002060"/>
                </a:solidFill>
              </a:rPr>
              <a:t>14</a:t>
            </a:r>
            <a:endParaRPr lang="zh-CN" altLang="en-US" sz="1100">
              <a:solidFill>
                <a:srgbClr val="002060"/>
              </a:solidFill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727FFE5E-0739-7160-B231-7BA6F9A46CDE}"/>
              </a:ext>
            </a:extLst>
          </p:cNvPr>
          <p:cNvSpPr/>
          <p:nvPr/>
        </p:nvSpPr>
        <p:spPr>
          <a:xfrm>
            <a:off x="8629968" y="4236403"/>
            <a:ext cx="695325" cy="1252538"/>
          </a:xfrm>
          <a:prstGeom prst="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zh-CN" altLang="en-US" dirty="0"/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F8AEB7C-F04D-3E39-F4A9-2E127AAE0D36}"/>
              </a:ext>
            </a:extLst>
          </p:cNvPr>
          <p:cNvCxnSpPr>
            <a:cxnSpLocks/>
          </p:cNvCxnSpPr>
          <p:nvPr/>
        </p:nvCxnSpPr>
        <p:spPr>
          <a:xfrm>
            <a:off x="8629968" y="4447541"/>
            <a:ext cx="69532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246A0EA0-F83C-35D7-DB28-FF3E631CB708}"/>
              </a:ext>
            </a:extLst>
          </p:cNvPr>
          <p:cNvCxnSpPr>
            <a:cxnSpLocks/>
          </p:cNvCxnSpPr>
          <p:nvPr/>
        </p:nvCxnSpPr>
        <p:spPr>
          <a:xfrm>
            <a:off x="8629968" y="4650741"/>
            <a:ext cx="69532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529BABFB-3494-3223-5D18-FD8DC4E1AFE9}"/>
              </a:ext>
            </a:extLst>
          </p:cNvPr>
          <p:cNvCxnSpPr>
            <a:cxnSpLocks/>
          </p:cNvCxnSpPr>
          <p:nvPr/>
        </p:nvCxnSpPr>
        <p:spPr>
          <a:xfrm>
            <a:off x="8629968" y="4853941"/>
            <a:ext cx="69532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4C6902DB-BC6B-57FA-07C7-7AFF13F6F39B}"/>
              </a:ext>
            </a:extLst>
          </p:cNvPr>
          <p:cNvCxnSpPr>
            <a:cxnSpLocks/>
          </p:cNvCxnSpPr>
          <p:nvPr/>
        </p:nvCxnSpPr>
        <p:spPr>
          <a:xfrm>
            <a:off x="8629968" y="5057141"/>
            <a:ext cx="69532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27544633-34DB-0A48-86C6-FD114513B4EB}"/>
              </a:ext>
            </a:extLst>
          </p:cNvPr>
          <p:cNvCxnSpPr>
            <a:cxnSpLocks/>
          </p:cNvCxnSpPr>
          <p:nvPr/>
        </p:nvCxnSpPr>
        <p:spPr>
          <a:xfrm>
            <a:off x="8629968" y="5261928"/>
            <a:ext cx="69532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45">
            <a:extLst>
              <a:ext uri="{FF2B5EF4-FFF2-40B4-BE49-F238E27FC236}">
                <a16:creationId xmlns:a16="http://schemas.microsoft.com/office/drawing/2014/main" id="{3D3259B3-F0D2-EABA-9F5D-C8AA86E9C6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12530" y="4214178"/>
            <a:ext cx="330200" cy="261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100">
                <a:solidFill>
                  <a:srgbClr val="002060"/>
                </a:solidFill>
              </a:rPr>
              <a:t>31</a:t>
            </a:r>
            <a:endParaRPr lang="zh-CN" altLang="en-US" sz="1100">
              <a:solidFill>
                <a:srgbClr val="002060"/>
              </a:solidFill>
            </a:endParaRPr>
          </a:p>
        </p:txBody>
      </p:sp>
      <p:sp>
        <p:nvSpPr>
          <p:cNvPr id="35" name="文本框 46">
            <a:extLst>
              <a:ext uri="{FF2B5EF4-FFF2-40B4-BE49-F238E27FC236}">
                <a16:creationId xmlns:a16="http://schemas.microsoft.com/office/drawing/2014/main" id="{748EC0FA-8D54-5760-A2EB-7DF3AC4E5E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56980" y="5260341"/>
            <a:ext cx="257175" cy="261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100">
                <a:solidFill>
                  <a:srgbClr val="002060"/>
                </a:solidFill>
              </a:rPr>
              <a:t>0</a:t>
            </a:r>
            <a:endParaRPr lang="zh-CN" altLang="en-US" sz="1100">
              <a:solidFill>
                <a:srgbClr val="002060"/>
              </a:solidFill>
            </a:endParaRPr>
          </a:p>
        </p:txBody>
      </p:sp>
      <p:sp>
        <p:nvSpPr>
          <p:cNvPr id="36" name="文本框 47">
            <a:extLst>
              <a:ext uri="{FF2B5EF4-FFF2-40B4-BE49-F238E27FC236}">
                <a16:creationId xmlns:a16="http://schemas.microsoft.com/office/drawing/2014/main" id="{9127AA83-E969-1F42-F51F-2AEAFF8405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12530" y="4423728"/>
            <a:ext cx="330200" cy="261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100">
                <a:solidFill>
                  <a:srgbClr val="002060"/>
                </a:solidFill>
              </a:rPr>
              <a:t>30</a:t>
            </a:r>
            <a:endParaRPr lang="zh-CN" altLang="en-US" sz="1100">
              <a:solidFill>
                <a:srgbClr val="002060"/>
              </a:solidFill>
            </a:endParaRPr>
          </a:p>
        </p:txBody>
      </p:sp>
      <p:sp>
        <p:nvSpPr>
          <p:cNvPr id="37" name="文本框 48">
            <a:extLst>
              <a:ext uri="{FF2B5EF4-FFF2-40B4-BE49-F238E27FC236}">
                <a16:creationId xmlns:a16="http://schemas.microsoft.com/office/drawing/2014/main" id="{25261D4B-966B-1A16-48C4-C1EF5C7463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12530" y="4630103"/>
            <a:ext cx="330200" cy="261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100">
                <a:solidFill>
                  <a:srgbClr val="002060"/>
                </a:solidFill>
              </a:rPr>
              <a:t>29</a:t>
            </a:r>
            <a:endParaRPr lang="zh-CN" altLang="en-US" sz="1100">
              <a:solidFill>
                <a:srgbClr val="002060"/>
              </a:solidFill>
            </a:endParaRPr>
          </a:p>
        </p:txBody>
      </p:sp>
      <p:sp>
        <p:nvSpPr>
          <p:cNvPr id="38" name="文本框 49">
            <a:extLst>
              <a:ext uri="{FF2B5EF4-FFF2-40B4-BE49-F238E27FC236}">
                <a16:creationId xmlns:a16="http://schemas.microsoft.com/office/drawing/2014/main" id="{1DE9DBAC-AAE6-C576-02AA-7F79C14E3F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68080" y="4809491"/>
            <a:ext cx="419100" cy="261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100">
                <a:solidFill>
                  <a:srgbClr val="002060"/>
                </a:solidFill>
              </a:rPr>
              <a:t>… …</a:t>
            </a:r>
            <a:endParaRPr lang="zh-CN" altLang="en-US" sz="1100">
              <a:solidFill>
                <a:srgbClr val="002060"/>
              </a:solidFill>
            </a:endParaRPr>
          </a:p>
        </p:txBody>
      </p:sp>
      <p:sp>
        <p:nvSpPr>
          <p:cNvPr id="39" name="文本框 50">
            <a:extLst>
              <a:ext uri="{FF2B5EF4-FFF2-40B4-BE49-F238E27FC236}">
                <a16:creationId xmlns:a16="http://schemas.microsoft.com/office/drawing/2014/main" id="{D38516D8-237E-3B31-55A2-D1E0AAAA5D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49043" y="5026978"/>
            <a:ext cx="257175" cy="261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100" dirty="0">
                <a:solidFill>
                  <a:srgbClr val="002060"/>
                </a:solidFill>
              </a:rPr>
              <a:t>1</a:t>
            </a:r>
            <a:endParaRPr lang="zh-CN" altLang="en-US" sz="1100" dirty="0">
              <a:solidFill>
                <a:srgbClr val="002060"/>
              </a:solidFill>
            </a:endParaRPr>
          </a:p>
        </p:txBody>
      </p: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8E0B8415-B0E0-17A6-3047-908779483266}"/>
              </a:ext>
            </a:extLst>
          </p:cNvPr>
          <p:cNvCxnSpPr>
            <a:cxnSpLocks/>
          </p:cNvCxnSpPr>
          <p:nvPr/>
        </p:nvCxnSpPr>
        <p:spPr>
          <a:xfrm flipH="1" flipV="1">
            <a:off x="6872605" y="4263391"/>
            <a:ext cx="4763" cy="12573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1" name="文本框 25">
            <a:extLst>
              <a:ext uri="{FF2B5EF4-FFF2-40B4-BE49-F238E27FC236}">
                <a16:creationId xmlns:a16="http://schemas.microsoft.com/office/drawing/2014/main" id="{ACF8E2B2-AE60-3EA2-F2EF-15EED29D9C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04305" y="4574541"/>
            <a:ext cx="400050" cy="630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eaVert"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优先级</a:t>
            </a:r>
          </a:p>
        </p:txBody>
      </p:sp>
      <p:sp>
        <p:nvSpPr>
          <p:cNvPr id="42" name="文本框 26">
            <a:extLst>
              <a:ext uri="{FF2B5EF4-FFF2-40B4-BE49-F238E27FC236}">
                <a16:creationId xmlns:a16="http://schemas.microsoft.com/office/drawing/2014/main" id="{7F71482D-0A4C-7ED9-A707-26D874B332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42493" y="5503228"/>
            <a:ext cx="955675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中断优先级</a:t>
            </a:r>
          </a:p>
        </p:txBody>
      </p:sp>
      <p:sp>
        <p:nvSpPr>
          <p:cNvPr id="43" name="文本框 53">
            <a:extLst>
              <a:ext uri="{FF2B5EF4-FFF2-40B4-BE49-F238E27FC236}">
                <a16:creationId xmlns:a16="http://schemas.microsoft.com/office/drawing/2014/main" id="{A29B5B0F-70FC-D808-492C-A203F6A760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99793" y="5509578"/>
            <a:ext cx="955675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任务优先级</a:t>
            </a:r>
          </a:p>
        </p:txBody>
      </p: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74AFF044-C3AF-BFEB-77A0-A9B6A75C4C00}"/>
              </a:ext>
            </a:extLst>
          </p:cNvPr>
          <p:cNvCxnSpPr>
            <a:cxnSpLocks/>
          </p:cNvCxnSpPr>
          <p:nvPr/>
        </p:nvCxnSpPr>
        <p:spPr>
          <a:xfrm flipV="1">
            <a:off x="6859905" y="5519103"/>
            <a:ext cx="2844800" cy="317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936885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 animBg="1"/>
      <p:bldP spid="15" grpId="0"/>
      <p:bldP spid="16" grpId="0" animBg="1"/>
      <p:bldP spid="22" grpId="0"/>
      <p:bldP spid="23" grpId="0"/>
      <p:bldP spid="24" grpId="0"/>
      <p:bldP spid="25" grpId="0"/>
      <p:bldP spid="26" grpId="0"/>
      <p:bldP spid="27" grpId="0"/>
      <p:bldP spid="28" grpId="0" animBg="1"/>
      <p:bldP spid="34" grpId="0"/>
      <p:bldP spid="35" grpId="0"/>
      <p:bldP spid="36" grpId="0"/>
      <p:bldP spid="37" grpId="0"/>
      <p:bldP spid="38" grpId="0"/>
      <p:bldP spid="39" grpId="0"/>
      <p:bldP spid="41" grpId="0"/>
      <p:bldP spid="42" grpId="0"/>
      <p:bldP spid="43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86108-74D8-166F-CF07-5B634B8C6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5069F59A-42D1-0A8F-E94E-6249D819B47B}"/>
              </a:ext>
            </a:extLst>
          </p:cNvPr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BCF0BC0-2C6E-D882-1B58-317B479D010E}"/>
              </a:ext>
            </a:extLst>
          </p:cNvPr>
          <p:cNvSpPr txBox="1"/>
          <p:nvPr/>
        </p:nvSpPr>
        <p:spPr>
          <a:xfrm>
            <a:off x="544830" y="1506855"/>
            <a:ext cx="10096500" cy="41014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endParaRPr lang="zh-CN" altLang="en-US">
              <a:sym typeface="+mn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5E00A00-D6FC-AA38-D6E2-FDBB6DB143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73994" y="1413193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，中断相关寄存器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11" name="文本框 15">
            <a:extLst>
              <a:ext uri="{FF2B5EF4-FFF2-40B4-BE49-F238E27FC236}">
                <a16:creationId xmlns:a16="http://schemas.microsoft.com/office/drawing/2014/main" id="{B6D34AC6-0243-0BBD-9EA1-4960202455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1656" y="2516506"/>
            <a:ext cx="2682875" cy="277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SHPR1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寄存器地址：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0xE000ED18</a:t>
            </a:r>
          </a:p>
        </p:txBody>
      </p:sp>
      <p:sp>
        <p:nvSpPr>
          <p:cNvPr id="12" name="文本框 21">
            <a:extLst>
              <a:ext uri="{FF2B5EF4-FFF2-40B4-BE49-F238E27FC236}">
                <a16:creationId xmlns:a16="http://schemas.microsoft.com/office/drawing/2014/main" id="{EFD7C50E-AA7E-7947-4E38-51EB82B4BB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1019" y="2114868"/>
            <a:ext cx="722471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三个系统中断优先级配置寄存器，分别为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SHPR1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、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SHPR2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、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SHPR3 </a:t>
            </a:r>
            <a:endParaRPr lang="zh-CN" altLang="en-US" sz="14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3" name="文本框 51">
            <a:extLst>
              <a:ext uri="{FF2B5EF4-FFF2-40B4-BE49-F238E27FC236}">
                <a16:creationId xmlns:a16="http://schemas.microsoft.com/office/drawing/2014/main" id="{0088AFBD-B7DD-3383-6FE7-ABAC0C627E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1656" y="2794318"/>
            <a:ext cx="2781300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SHPR2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寄存器地址：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0xE000ED1C</a:t>
            </a:r>
          </a:p>
        </p:txBody>
      </p:sp>
      <p:sp>
        <p:nvSpPr>
          <p:cNvPr id="14" name="文本框 54">
            <a:extLst>
              <a:ext uri="{FF2B5EF4-FFF2-40B4-BE49-F238E27FC236}">
                <a16:creationId xmlns:a16="http://schemas.microsoft.com/office/drawing/2014/main" id="{1A9624A8-0BA6-0F40-0C0D-30F9C2B623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1656" y="3070543"/>
            <a:ext cx="2781300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SHPR3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寄存器地址：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0xE000ED20</a:t>
            </a:r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FAEAB5CD-D11F-7BAB-ED2F-470448F497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4294" y="2676843"/>
            <a:ext cx="4830762" cy="267493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6" name="矩形 56">
            <a:extLst>
              <a:ext uri="{FF2B5EF4-FFF2-40B4-BE49-F238E27FC236}">
                <a16:creationId xmlns:a16="http://schemas.microsoft.com/office/drawing/2014/main" id="{3E71B480-77A6-EAF2-59DF-BEAF13C3A6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6381" y="4978718"/>
            <a:ext cx="340042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表出自：</a:t>
            </a:r>
            <a:r>
              <a:rPr lang="en-US" altLang="zh-CN" sz="12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《Cortex M3</a:t>
            </a:r>
            <a:r>
              <a:rPr lang="zh-CN" altLang="en-US" sz="12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权威指南</a:t>
            </a:r>
            <a:r>
              <a:rPr lang="en-US" altLang="zh-CN" sz="12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</a:t>
            </a:r>
            <a:r>
              <a:rPr lang="zh-CN" altLang="en-US" sz="12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中文</a:t>
            </a:r>
            <a:r>
              <a:rPr lang="en-US" altLang="zh-CN" sz="12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)》</a:t>
            </a:r>
            <a:r>
              <a:rPr lang="zh-CN" altLang="en-US" sz="12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第</a:t>
            </a:r>
            <a:r>
              <a:rPr lang="en-US" altLang="zh-CN" sz="12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286</a:t>
            </a:r>
            <a:r>
              <a:rPr lang="zh-CN" altLang="en-US" sz="12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页</a:t>
            </a:r>
            <a:endParaRPr lang="zh-CN" altLang="en-US" sz="12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828303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/>
      <p:bldP spid="16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771F51-4741-4BEB-2D29-8CA1453DA8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063B1D0D-FADE-798D-BD27-03AE62590EC9}"/>
              </a:ext>
            </a:extLst>
          </p:cNvPr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13" name="文本框 9">
            <a:extLst>
              <a:ext uri="{FF2B5EF4-FFF2-40B4-BE49-F238E27FC236}">
                <a16:creationId xmlns:a16="http://schemas.microsoft.com/office/drawing/2014/main" id="{D75B13CF-9B05-E8EB-5A35-5BDFB25BFF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74591" y="1127790"/>
            <a:ext cx="6113462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b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FreeRTOS</a:t>
            </a:r>
            <a:r>
              <a:rPr lang="zh-CN" altLang="en-US" b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如何配置</a:t>
            </a:r>
            <a:r>
              <a:rPr lang="en-US" altLang="zh-CN" b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PendSV</a:t>
            </a:r>
            <a:r>
              <a:rPr lang="zh-CN" altLang="en-US" b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和</a:t>
            </a:r>
            <a:r>
              <a:rPr lang="en-US" altLang="zh-CN" b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Systick</a:t>
            </a:r>
            <a:r>
              <a:rPr lang="zh-CN" altLang="en-US" b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中断优先级？</a:t>
            </a:r>
          </a:p>
        </p:txBody>
      </p:sp>
      <p:pic>
        <p:nvPicPr>
          <p:cNvPr id="14" name="图片 8">
            <a:extLst>
              <a:ext uri="{FF2B5EF4-FFF2-40B4-BE49-F238E27FC236}">
                <a16:creationId xmlns:a16="http://schemas.microsoft.com/office/drawing/2014/main" id="{14686272-FCDD-A79F-A162-CE9F974C90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3191" y="1543715"/>
            <a:ext cx="4195762" cy="528638"/>
          </a:xfrm>
          <a:prstGeom prst="rect">
            <a:avLst/>
          </a:prstGeom>
          <a:noFill/>
          <a:ln w="9525">
            <a:solidFill>
              <a:srgbClr val="00206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图片 12">
            <a:extLst>
              <a:ext uri="{FF2B5EF4-FFF2-40B4-BE49-F238E27FC236}">
                <a16:creationId xmlns:a16="http://schemas.microsoft.com/office/drawing/2014/main" id="{ED0BD966-F1A4-BA00-BF85-DFB9EB68BC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3191" y="2199353"/>
            <a:ext cx="5986462" cy="739775"/>
          </a:xfrm>
          <a:prstGeom prst="rect">
            <a:avLst/>
          </a:prstGeom>
          <a:noFill/>
          <a:ln w="9525">
            <a:solidFill>
              <a:srgbClr val="00206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图片 14">
            <a:extLst>
              <a:ext uri="{FF2B5EF4-FFF2-40B4-BE49-F238E27FC236}">
                <a16:creationId xmlns:a16="http://schemas.microsoft.com/office/drawing/2014/main" id="{4A61E78B-F1C4-FF4E-85A0-9B717A93F0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5253" y="3058190"/>
            <a:ext cx="6451600" cy="493713"/>
          </a:xfrm>
          <a:prstGeom prst="rect">
            <a:avLst/>
          </a:prstGeom>
          <a:noFill/>
          <a:ln w="9525">
            <a:solidFill>
              <a:srgbClr val="00206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图片 17">
            <a:extLst>
              <a:ext uri="{FF2B5EF4-FFF2-40B4-BE49-F238E27FC236}">
                <a16:creationId xmlns:a16="http://schemas.microsoft.com/office/drawing/2014/main" id="{9A4B9B25-FC27-752F-BF07-2709A30AFE0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5253" y="3699540"/>
            <a:ext cx="6985000" cy="1495425"/>
          </a:xfrm>
          <a:prstGeom prst="rect">
            <a:avLst/>
          </a:prstGeom>
          <a:noFill/>
          <a:ln w="9525">
            <a:solidFill>
              <a:srgbClr val="00206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文本框 18">
            <a:extLst>
              <a:ext uri="{FF2B5EF4-FFF2-40B4-BE49-F238E27FC236}">
                <a16:creationId xmlns:a16="http://schemas.microsoft.com/office/drawing/2014/main" id="{9D61F22A-9AC3-90C4-3CE9-292AE49F9F0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75191" y="1569115"/>
            <a:ext cx="2951162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所以：</a:t>
            </a:r>
            <a:r>
              <a:rPr lang="en-US" altLang="zh-CN" sz="1200" dirty="0" err="1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PendSV</a:t>
            </a:r>
            <a:r>
              <a:rPr lang="zh-CN" altLang="en-US" sz="1200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和</a:t>
            </a:r>
            <a:r>
              <a:rPr lang="en-US" altLang="zh-CN" sz="1200" dirty="0" err="1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SysTick</a:t>
            </a:r>
            <a:r>
              <a:rPr lang="zh-CN" altLang="en-US" sz="1200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设置最低优先级</a:t>
            </a:r>
          </a:p>
        </p:txBody>
      </p:sp>
      <p:sp>
        <p:nvSpPr>
          <p:cNvPr id="19" name="文本框 27">
            <a:extLst>
              <a:ext uri="{FF2B5EF4-FFF2-40B4-BE49-F238E27FC236}">
                <a16:creationId xmlns:a16="http://schemas.microsoft.com/office/drawing/2014/main" id="{68E9A63F-F7F9-9307-5892-8BE24E52B4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43441" y="1867565"/>
            <a:ext cx="4195762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设置最低：保证系统任务切换不会阻塞系统其他中断的响应</a:t>
            </a:r>
          </a:p>
        </p:txBody>
      </p:sp>
    </p:spTree>
    <p:extLst>
      <p:ext uri="{BB962C8B-B14F-4D97-AF65-F5344CB8AC3E}">
        <p14:creationId xmlns:p14="http://schemas.microsoft.com/office/powerpoint/2010/main" val="1497779512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30840-FA04-7600-69C4-7E1C5C414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5D0FF036-F726-4E4A-4779-4E774344EE34}"/>
              </a:ext>
            </a:extLst>
          </p:cNvPr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89C7C9BB-C7E6-BF5A-9B6D-257D57C8DE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55442" y="1414426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，中断相关寄存器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16">
            <a:extLst>
              <a:ext uri="{FF2B5EF4-FFF2-40B4-BE49-F238E27FC236}">
                <a16:creationId xmlns:a16="http://schemas.microsoft.com/office/drawing/2014/main" id="{A0375EEA-5417-C0EE-90F2-18C7C4B0A9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5329" y="1912901"/>
            <a:ext cx="6824663" cy="382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三个中断屏蔽寄存器，分别为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PRIMASK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、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FAULTMASK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和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BASEPRI 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8412D36B-74C4-D68F-489F-091F83CA47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4367" y="2446301"/>
            <a:ext cx="6389687" cy="19748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1" name="文本框 7">
            <a:extLst>
              <a:ext uri="{FF2B5EF4-FFF2-40B4-BE49-F238E27FC236}">
                <a16:creationId xmlns:a16="http://schemas.microsoft.com/office/drawing/2014/main" id="{A9FD5D2E-3667-88F2-D47C-C2D7876F6E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44367" y="4638639"/>
            <a:ext cx="514667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FreeRTOS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所使用的中断管理就是利用的</a:t>
            </a:r>
            <a:r>
              <a:rPr lang="en-US" altLang="zh-CN" sz="1400" b="1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BASEPRI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这个寄存器</a:t>
            </a:r>
          </a:p>
        </p:txBody>
      </p:sp>
      <p:sp>
        <p:nvSpPr>
          <p:cNvPr id="12" name="文本框 20">
            <a:extLst>
              <a:ext uri="{FF2B5EF4-FFF2-40B4-BE49-F238E27FC236}">
                <a16:creationId xmlns:a16="http://schemas.microsoft.com/office/drawing/2014/main" id="{8A34330F-BE3E-5B6B-BB9E-D04206BEE6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44367" y="4995826"/>
            <a:ext cx="46196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 b="1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BASEPRI</a:t>
            </a:r>
            <a:r>
              <a:rPr lang="zh-CN" altLang="en-US" sz="1400" b="1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：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屏蔽优先级低于某一个阈值的中断</a:t>
            </a:r>
            <a:endParaRPr lang="zh-CN" altLang="en-US" sz="1400" dirty="0"/>
          </a:p>
        </p:txBody>
      </p:sp>
      <p:sp>
        <p:nvSpPr>
          <p:cNvPr id="13" name="文本框 22">
            <a:extLst>
              <a:ext uri="{FF2B5EF4-FFF2-40B4-BE49-F238E27FC236}">
                <a16:creationId xmlns:a16="http://schemas.microsoft.com/office/drawing/2014/main" id="{A4D86F9A-9C4A-2A15-483C-53E141839E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44367" y="5311739"/>
            <a:ext cx="809783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比如：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en-US" altLang="zh-CN" sz="1400" b="1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BASEPRI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设置为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0x50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，代表中断优先级在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5~15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内的均被屏蔽，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0~4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的中断优先级正常执行</a:t>
            </a:r>
            <a:endParaRPr lang="zh-CN" altLang="en-US" sz="14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392781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12" grpId="0"/>
      <p:bldP spid="13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5B962-2B99-B1F9-A17A-C06E071DA9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AD17DCF8-9CA9-F269-1DE5-9BA781907521}"/>
              </a:ext>
            </a:extLst>
          </p:cNvPr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02C650BA-E3AE-FFC3-6B8F-64C6C7BF43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34178" y="1382528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，中断相关寄存器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14">
            <a:extLst>
              <a:ext uri="{FF2B5EF4-FFF2-40B4-BE49-F238E27FC236}">
                <a16:creationId xmlns:a16="http://schemas.microsoft.com/office/drawing/2014/main" id="{76A1A644-235E-F32F-F4B4-A46562AF77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1203" y="1942916"/>
            <a:ext cx="722471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 b="1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BASEPRI</a:t>
            </a:r>
            <a:r>
              <a:rPr lang="zh-CN" altLang="en-US" sz="1400" b="1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：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屏蔽优先级低于某一个阈值的中断，当设置为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0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时，则不关闭任何中断</a:t>
            </a:r>
            <a:endParaRPr lang="zh-CN" altLang="en-US" sz="1400" dirty="0"/>
          </a:p>
        </p:txBody>
      </p:sp>
      <p:sp>
        <p:nvSpPr>
          <p:cNvPr id="10" name="文本框 1">
            <a:extLst>
              <a:ext uri="{FF2B5EF4-FFF2-40B4-BE49-F238E27FC236}">
                <a16:creationId xmlns:a16="http://schemas.microsoft.com/office/drawing/2014/main" id="{F9B4316B-F9D3-6602-6609-6684BCBB3A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0415" y="2387416"/>
            <a:ext cx="162083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b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关中断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程序示例：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4D8FAB4-F06A-6BC1-D8D7-E03E998E81C1}"/>
              </a:ext>
            </a:extLst>
          </p:cNvPr>
          <p:cNvSpPr/>
          <p:nvPr/>
        </p:nvSpPr>
        <p:spPr>
          <a:xfrm>
            <a:off x="1870740" y="2746191"/>
            <a:ext cx="8208925" cy="2473325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C8132A6-0287-D89A-8288-0E0A42E338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69165" y="2728728"/>
            <a:ext cx="8822660" cy="281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30000"/>
              </a:lnSpc>
            </a:pPr>
            <a:r>
              <a:rPr lang="en-US" altLang="zh-CN" sz="1000" dirty="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#define </a:t>
            </a:r>
            <a:r>
              <a:rPr lang="en-US" altLang="zh-CN" sz="1000" dirty="0" err="1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portDISABLE_INTERRUPTS</a:t>
            </a:r>
            <a:r>
              <a:rPr lang="en-US" altLang="zh-CN" sz="1000" dirty="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() 		</a:t>
            </a:r>
            <a:r>
              <a:rPr lang="en-US" altLang="zh-CN" sz="1000" dirty="0" err="1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vPortRaiseBASEPRI</a:t>
            </a:r>
            <a:r>
              <a:rPr lang="en-US" altLang="zh-CN" sz="1000" dirty="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()</a:t>
            </a:r>
          </a:p>
          <a:p>
            <a:pPr>
              <a:lnSpc>
                <a:spcPct val="130000"/>
              </a:lnSpc>
            </a:pPr>
            <a:r>
              <a:rPr lang="en-US" altLang="zh-CN" sz="1000" dirty="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static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en-US" altLang="zh-CN" sz="1000" dirty="0" err="1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portFORCE_INLINE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en-US" altLang="zh-CN" sz="1000" dirty="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void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en-US" altLang="zh-CN" sz="1000" dirty="0" err="1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vPortRaiseBASEPRI</a:t>
            </a:r>
            <a:r>
              <a:rPr lang="en-US" altLang="zh-CN" sz="1000" dirty="0">
                <a:solidFill>
                  <a:srgbClr val="00008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en-US" altLang="zh-CN" sz="1000" dirty="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void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en-US" altLang="zh-CN" sz="1000" dirty="0">
                <a:solidFill>
                  <a:srgbClr val="00008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)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</a:p>
          <a:p>
            <a:r>
              <a:rPr lang="en-US" altLang="zh-CN" sz="1000" dirty="0">
                <a:solidFill>
                  <a:srgbClr val="00008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{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</a:p>
          <a:p>
            <a:r>
              <a:rPr lang="en-US" altLang="zh-CN" sz="1000" dirty="0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</a:t>
            </a:r>
            <a:r>
              <a:rPr lang="en-US" altLang="zh-CN" sz="1000" dirty="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uint32_t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en-US" altLang="zh-CN" sz="1000" dirty="0" err="1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ulNewBASEPRI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en-US" altLang="zh-CN" sz="1000" dirty="0">
                <a:solidFill>
                  <a:srgbClr val="00008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=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en-US" altLang="zh-CN" sz="1000" dirty="0" err="1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configMAX_SYSCALL_INTERRUPT_PRIORITY</a:t>
            </a:r>
            <a:r>
              <a:rPr lang="en-US" altLang="zh-CN" sz="1000" dirty="0">
                <a:solidFill>
                  <a:srgbClr val="00008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;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</a:p>
          <a:p>
            <a:r>
              <a:rPr lang="en-US" altLang="zh-CN" sz="1000" dirty="0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__</a:t>
            </a:r>
            <a:r>
              <a:rPr lang="en-US" altLang="zh-CN" sz="1000" dirty="0" err="1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asm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</a:p>
          <a:p>
            <a:r>
              <a:rPr lang="en-US" altLang="zh-CN" sz="1000" dirty="0">
                <a:solidFill>
                  <a:srgbClr val="00008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{</a:t>
            </a:r>
          </a:p>
          <a:p>
            <a:r>
              <a:rPr lang="en-US" altLang="zh-CN" sz="1000" dirty="0">
                <a:solidFill>
                  <a:srgbClr val="00008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	</a:t>
            </a:r>
            <a:r>
              <a:rPr lang="en-US" altLang="zh-CN" sz="1000" dirty="0" err="1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msr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en-US" altLang="zh-CN" sz="1000" dirty="0" err="1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basepri</a:t>
            </a:r>
            <a:r>
              <a:rPr lang="en-US" altLang="zh-CN" sz="1000" dirty="0">
                <a:solidFill>
                  <a:srgbClr val="00008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,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en-US" altLang="zh-CN" sz="1000" dirty="0" err="1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ulNewBASEPRI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</a:p>
          <a:p>
            <a:r>
              <a:rPr lang="en-US" altLang="zh-CN" sz="1000" dirty="0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	</a:t>
            </a:r>
            <a:r>
              <a:rPr lang="en-US" altLang="zh-CN" sz="1000" dirty="0" err="1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dsb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</a:p>
          <a:p>
            <a:r>
              <a:rPr lang="en-US" altLang="zh-CN" sz="1000" dirty="0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	</a:t>
            </a:r>
            <a:r>
              <a:rPr lang="en-US" altLang="zh-CN" sz="1000" dirty="0" err="1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isb</a:t>
            </a:r>
            <a:endParaRPr lang="en-US" altLang="zh-CN" sz="1000" dirty="0">
              <a:solidFill>
                <a:srgbClr val="00000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r>
              <a:rPr lang="en-US" altLang="zh-CN" sz="1000" dirty="0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</a:t>
            </a:r>
            <a:r>
              <a:rPr lang="en-US" altLang="zh-CN" sz="1000" dirty="0">
                <a:solidFill>
                  <a:srgbClr val="00008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}</a:t>
            </a:r>
            <a:r>
              <a:rPr lang="en-US" altLang="zh-CN" sz="1000" dirty="0">
                <a:solidFill>
                  <a:srgbClr val="0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</a:p>
          <a:p>
            <a:r>
              <a:rPr lang="en-US" altLang="zh-CN" sz="1000" dirty="0">
                <a:solidFill>
                  <a:srgbClr val="00008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}</a:t>
            </a:r>
          </a:p>
          <a:p>
            <a:pPr>
              <a:lnSpc>
                <a:spcPct val="150000"/>
              </a:lnSpc>
            </a:pPr>
            <a:r>
              <a:rPr lang="en-US" altLang="zh-CN" sz="900" dirty="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#define </a:t>
            </a:r>
            <a:r>
              <a:rPr lang="en-US" altLang="zh-CN" sz="900" dirty="0" err="1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configMAX_SYSCALL_INTERRUPT_PRIORITY</a:t>
            </a:r>
            <a:r>
              <a:rPr lang="en-US" altLang="zh-CN" sz="900" dirty="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           ( </a:t>
            </a:r>
            <a:r>
              <a:rPr lang="en-US" altLang="zh-CN" sz="900" dirty="0" err="1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configLIBRARY_MAX_SYSCALL_INTERRUPT_PRIORITY</a:t>
            </a:r>
            <a:r>
              <a:rPr lang="en-US" altLang="zh-CN" sz="900" dirty="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&lt;&lt; (8 - </a:t>
            </a:r>
            <a:r>
              <a:rPr lang="en-US" altLang="zh-CN" sz="900" dirty="0" err="1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configPRIO_BITS</a:t>
            </a:r>
            <a:r>
              <a:rPr lang="en-US" altLang="zh-CN" sz="900" dirty="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) )</a:t>
            </a:r>
          </a:p>
          <a:p>
            <a:pPr>
              <a:lnSpc>
                <a:spcPct val="150000"/>
              </a:lnSpc>
            </a:pPr>
            <a:r>
              <a:rPr lang="en-US" altLang="zh-CN" sz="900" dirty="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#define </a:t>
            </a:r>
            <a:r>
              <a:rPr lang="en-US" altLang="zh-CN" sz="900" dirty="0" err="1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configLIBRARY_MAX_SYSCALL_INTERRUPT_PRIORITY</a:t>
            </a:r>
            <a:r>
              <a:rPr lang="en-US" altLang="zh-CN" sz="900" dirty="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       5      </a:t>
            </a:r>
            <a:r>
              <a:rPr lang="en-US" altLang="zh-CN" sz="900" dirty="0">
                <a:solidFill>
                  <a:srgbClr val="8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/* </a:t>
            </a:r>
            <a:r>
              <a:rPr lang="en-US" altLang="zh-CN" sz="900" dirty="0" err="1">
                <a:solidFill>
                  <a:srgbClr val="8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FreeRTOS</a:t>
            </a:r>
            <a:r>
              <a:rPr lang="zh-CN" altLang="en-US" sz="900" dirty="0">
                <a:solidFill>
                  <a:srgbClr val="8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可管理的最高中断优先级 *</a:t>
            </a:r>
            <a:r>
              <a:rPr lang="en-US" altLang="zh-CN" sz="900" dirty="0">
                <a:solidFill>
                  <a:srgbClr val="8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/</a:t>
            </a:r>
            <a:r>
              <a:rPr lang="zh-CN" altLang="en-US" sz="900" dirty="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endParaRPr lang="en-US" altLang="zh-CN" sz="900" dirty="0">
              <a:solidFill>
                <a:srgbClr val="0000FF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pPr>
              <a:lnSpc>
                <a:spcPct val="150000"/>
              </a:lnSpc>
            </a:pPr>
            <a:endParaRPr lang="en-US" altLang="zh-CN" sz="1100" dirty="0"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endParaRPr lang="en-US" altLang="zh-CN" sz="1100" dirty="0">
              <a:solidFill>
                <a:srgbClr val="00000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3" name="文本框 28">
            <a:extLst>
              <a:ext uri="{FF2B5EF4-FFF2-40B4-BE49-F238E27FC236}">
                <a16:creationId xmlns:a16="http://schemas.microsoft.com/office/drawing/2014/main" id="{3779622A-ECEA-5667-5CF7-780CBD3B8E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0415" y="5219516"/>
            <a:ext cx="280987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中断优先级在</a:t>
            </a:r>
            <a:r>
              <a:rPr lang="en-US" altLang="zh-CN" sz="14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5 ~ 15</a:t>
            </a:r>
            <a:r>
              <a:rPr lang="zh-CN" altLang="en-US" sz="14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的全部被关闭</a:t>
            </a:r>
          </a:p>
        </p:txBody>
      </p:sp>
    </p:spTree>
    <p:extLst>
      <p:ext uri="{BB962C8B-B14F-4D97-AF65-F5344CB8AC3E}">
        <p14:creationId xmlns:p14="http://schemas.microsoft.com/office/powerpoint/2010/main" val="392115164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 animBg="1"/>
      <p:bldP spid="12" grpId="0"/>
      <p:bldP spid="13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36FCE-E800-09D3-FA4C-F054653E3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0B4A7609-6025-476C-6FCB-62205FDCC1B5}"/>
              </a:ext>
            </a:extLst>
          </p:cNvPr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2804A7B9-48AC-9CE7-0E7F-C3D022ECF9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04299" y="1361263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，中断相关寄存器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14">
            <a:extLst>
              <a:ext uri="{FF2B5EF4-FFF2-40B4-BE49-F238E27FC236}">
                <a16:creationId xmlns:a16="http://schemas.microsoft.com/office/drawing/2014/main" id="{D03E2136-8C62-5687-D31B-C818A8823D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1324" y="1921651"/>
            <a:ext cx="722471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当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BASEPRI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设置为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0x50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时：</a:t>
            </a:r>
            <a:endParaRPr lang="zh-CN" altLang="en-US" sz="1400">
              <a:solidFill>
                <a:srgbClr val="002060"/>
              </a:solidFill>
            </a:endParaRPr>
          </a:p>
        </p:txBody>
      </p:sp>
      <p:sp>
        <p:nvSpPr>
          <p:cNvPr id="10" name="文本框 8">
            <a:extLst>
              <a:ext uri="{FF2B5EF4-FFF2-40B4-BE49-F238E27FC236}">
                <a16:creationId xmlns:a16="http://schemas.microsoft.com/office/drawing/2014/main" id="{0137A8A2-E39E-9F6B-EB41-8AB190D84C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42449" y="4496576"/>
            <a:ext cx="4313237" cy="306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在中断服务函数中调度</a:t>
            </a:r>
            <a:r>
              <a:rPr lang="en-US" altLang="zh-CN" sz="14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FreeRTOS</a:t>
            </a:r>
            <a:r>
              <a:rPr lang="zh-CN" altLang="en-US" sz="14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的</a:t>
            </a:r>
            <a:r>
              <a:rPr lang="en-US" altLang="zh-CN" sz="14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API</a:t>
            </a:r>
            <a:r>
              <a:rPr lang="zh-CN" altLang="en-US" sz="14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函数需注意：</a:t>
            </a:r>
          </a:p>
        </p:txBody>
      </p:sp>
      <p:sp>
        <p:nvSpPr>
          <p:cNvPr id="11" name="文本框 18">
            <a:extLst>
              <a:ext uri="{FF2B5EF4-FFF2-40B4-BE49-F238E27FC236}">
                <a16:creationId xmlns:a16="http://schemas.microsoft.com/office/drawing/2014/main" id="{E64689CB-3405-90D2-2C7E-3849145413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74199" y="5109351"/>
            <a:ext cx="726598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2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、在中断服务函数里边需调用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FreeRTOS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的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API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函数，必须使用带“</a:t>
            </a:r>
            <a:r>
              <a:rPr lang="en-US" altLang="zh-CN" sz="1400" dirty="0" err="1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FromISR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”后缀的函数</a:t>
            </a:r>
          </a:p>
        </p:txBody>
      </p:sp>
      <p:sp>
        <p:nvSpPr>
          <p:cNvPr id="12" name="文本框 19">
            <a:extLst>
              <a:ext uri="{FF2B5EF4-FFF2-40B4-BE49-F238E27FC236}">
                <a16:creationId xmlns:a16="http://schemas.microsoft.com/office/drawing/2014/main" id="{518578D9-39FF-7492-77CC-89CD1A3509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74199" y="4785501"/>
            <a:ext cx="485775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、中断服务函数的优先级需在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FreeRTOS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所管理的范围内</a:t>
            </a:r>
          </a:p>
        </p:txBody>
      </p:sp>
      <p:pic>
        <p:nvPicPr>
          <p:cNvPr id="13" name="图片 2">
            <a:extLst>
              <a:ext uri="{FF2B5EF4-FFF2-40B4-BE49-F238E27FC236}">
                <a16:creationId xmlns:a16="http://schemas.microsoft.com/office/drawing/2014/main" id="{EEEEECD2-4BFD-C9A9-77D7-E4B3B1AD6F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4199" y="2299476"/>
            <a:ext cx="5100637" cy="2022475"/>
          </a:xfrm>
          <a:prstGeom prst="rect">
            <a:avLst/>
          </a:prstGeom>
          <a:noFill/>
          <a:ln w="9525">
            <a:solidFill>
              <a:srgbClr val="00206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6726754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5DA69-8E87-9D7C-832C-85BC15201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BDF80660-121E-8453-B1E6-D5662B3258B5}"/>
              </a:ext>
            </a:extLst>
          </p:cNvPr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pPr algn="l"/>
            <a:r>
              <a:rPr lang="en-US" altLang="zh-CN">
                <a:latin typeface="Arial" panose="020B0604020202020204" pitchFamily="34" charset="0"/>
              </a:rPr>
              <a:t>RTOS </a:t>
            </a:r>
            <a:r>
              <a:rPr lang="zh-CN" altLang="en-US">
                <a:latin typeface="Arial" panose="020B0604020202020204" pitchFamily="34" charset="0"/>
              </a:rPr>
              <a:t>基本概念</a:t>
            </a: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DAE473E9-203F-483B-0841-A512CA11E5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40504" y="1377212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，中断相关寄存器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14">
            <a:extLst>
              <a:ext uri="{FF2B5EF4-FFF2-40B4-BE49-F238E27FC236}">
                <a16:creationId xmlns:a16="http://schemas.microsoft.com/office/drawing/2014/main" id="{1EA2A974-91A1-2868-D537-13D95EA5FD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67529" y="1937600"/>
            <a:ext cx="722471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 b="1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BASEPRI</a:t>
            </a:r>
            <a:r>
              <a:rPr lang="zh-CN" altLang="en-US" sz="1400" b="1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：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屏蔽优先级低于某一个阈值的中断，当设置为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0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时，则不关闭任何中断</a:t>
            </a:r>
            <a:endParaRPr lang="zh-CN" altLang="en-US" sz="1400" dirty="0"/>
          </a:p>
        </p:txBody>
      </p:sp>
      <p:sp>
        <p:nvSpPr>
          <p:cNvPr id="10" name="文本框 1">
            <a:extLst>
              <a:ext uri="{FF2B5EF4-FFF2-40B4-BE49-F238E27FC236}">
                <a16:creationId xmlns:a16="http://schemas.microsoft.com/office/drawing/2014/main" id="{58A83B08-7273-B4C8-6CA0-3089819DD0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16741" y="2382100"/>
            <a:ext cx="162083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b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开中断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程序示例：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6CAC4B2-4A6A-4A95-6550-630006E9509A}"/>
              </a:ext>
            </a:extLst>
          </p:cNvPr>
          <p:cNvSpPr/>
          <p:nvPr/>
        </p:nvSpPr>
        <p:spPr>
          <a:xfrm>
            <a:off x="1977066" y="2731350"/>
            <a:ext cx="5854700" cy="2125662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12" name="文本框 24">
            <a:extLst>
              <a:ext uri="{FF2B5EF4-FFF2-40B4-BE49-F238E27FC236}">
                <a16:creationId xmlns:a16="http://schemas.microsoft.com/office/drawing/2014/main" id="{8DC54518-F2F4-DD2D-BF62-905A234322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26279" y="2839300"/>
            <a:ext cx="5805487" cy="2017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100" dirty="0">
                <a:solidFill>
                  <a:srgbClr val="0000FF"/>
                </a:solidFill>
                <a:latin typeface="Courier New" panose="02070309020205020404" pitchFamily="49" charset="0"/>
              </a:rPr>
              <a:t>#define </a:t>
            </a:r>
            <a:r>
              <a:rPr lang="en-US" altLang="zh-CN" sz="1100" dirty="0" err="1">
                <a:solidFill>
                  <a:srgbClr val="0000FF"/>
                </a:solidFill>
                <a:latin typeface="Courier New" panose="02070309020205020404" pitchFamily="49" charset="0"/>
              </a:rPr>
              <a:t>portENABLE_INTERRUPTS</a:t>
            </a:r>
            <a:r>
              <a:rPr lang="en-US" altLang="zh-CN" sz="1100" dirty="0">
                <a:solidFill>
                  <a:srgbClr val="0000FF"/>
                </a:solidFill>
                <a:latin typeface="Courier New" panose="02070309020205020404" pitchFamily="49" charset="0"/>
              </a:rPr>
              <a:t>()		 </a:t>
            </a:r>
            <a:r>
              <a:rPr lang="en-US" altLang="zh-CN" sz="1100" dirty="0" err="1">
                <a:solidFill>
                  <a:srgbClr val="0000FF"/>
                </a:solidFill>
                <a:latin typeface="Courier New" panose="02070309020205020404" pitchFamily="49" charset="0"/>
              </a:rPr>
              <a:t>vPortSetBASEPRI</a:t>
            </a:r>
            <a:r>
              <a:rPr lang="en-US" altLang="zh-CN" sz="1100" dirty="0">
                <a:solidFill>
                  <a:srgbClr val="0000FF"/>
                </a:solidFill>
                <a:latin typeface="Courier New" panose="02070309020205020404" pitchFamily="49" charset="0"/>
              </a:rPr>
              <a:t>( 0 )</a:t>
            </a:r>
            <a:endParaRPr lang="en-US" altLang="zh-CN" sz="11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1100" dirty="0">
                <a:solidFill>
                  <a:srgbClr val="0000FF"/>
                </a:solidFill>
                <a:latin typeface="Courier New" panose="02070309020205020404" pitchFamily="49" charset="0"/>
              </a:rPr>
              <a:t>static</a:t>
            </a:r>
            <a:r>
              <a:rPr lang="en-US" altLang="zh-CN" sz="11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altLang="zh-CN" sz="1100" dirty="0" err="1">
                <a:solidFill>
                  <a:srgbClr val="000000"/>
                </a:solidFill>
                <a:latin typeface="Courier New" panose="02070309020205020404" pitchFamily="49" charset="0"/>
              </a:rPr>
              <a:t>portFORCE_INLINE</a:t>
            </a:r>
            <a:r>
              <a:rPr lang="en-US" altLang="zh-CN" sz="11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altLang="zh-CN" sz="1100" dirty="0">
                <a:solidFill>
                  <a:srgbClr val="0000FF"/>
                </a:solidFill>
                <a:latin typeface="Courier New" panose="02070309020205020404" pitchFamily="49" charset="0"/>
              </a:rPr>
              <a:t>void</a:t>
            </a:r>
            <a:r>
              <a:rPr lang="en-US" altLang="zh-CN" sz="11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altLang="zh-CN" sz="1100" dirty="0" err="1">
                <a:solidFill>
                  <a:srgbClr val="000000"/>
                </a:solidFill>
                <a:latin typeface="Courier New" panose="02070309020205020404" pitchFamily="49" charset="0"/>
              </a:rPr>
              <a:t>vPortSetBASEPRI</a:t>
            </a:r>
            <a:r>
              <a:rPr lang="en-US" altLang="zh-CN" sz="1100" dirty="0">
                <a:solidFill>
                  <a:srgbClr val="000080"/>
                </a:solidFill>
                <a:latin typeface="Courier New" panose="02070309020205020404" pitchFamily="49" charset="0"/>
              </a:rPr>
              <a:t>(</a:t>
            </a:r>
            <a:r>
              <a:rPr lang="en-US" altLang="zh-CN" sz="11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altLang="zh-CN" sz="1100" dirty="0">
                <a:solidFill>
                  <a:srgbClr val="0000FF"/>
                </a:solidFill>
                <a:latin typeface="Courier New" panose="02070309020205020404" pitchFamily="49" charset="0"/>
              </a:rPr>
              <a:t>uint32_t</a:t>
            </a:r>
            <a:r>
              <a:rPr lang="en-US" altLang="zh-CN" sz="11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altLang="zh-CN" sz="1100" dirty="0" err="1">
                <a:solidFill>
                  <a:srgbClr val="000000"/>
                </a:solidFill>
                <a:latin typeface="Courier New" panose="02070309020205020404" pitchFamily="49" charset="0"/>
              </a:rPr>
              <a:t>ulBASEPRI</a:t>
            </a:r>
            <a:r>
              <a:rPr lang="en-US" altLang="zh-CN" sz="11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altLang="zh-CN" sz="1100" dirty="0">
                <a:solidFill>
                  <a:srgbClr val="000080"/>
                </a:solidFill>
                <a:latin typeface="Courier New" panose="02070309020205020404" pitchFamily="49" charset="0"/>
              </a:rPr>
              <a:t>)</a:t>
            </a:r>
            <a:r>
              <a:rPr lang="en-US" altLang="zh-CN" sz="11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altLang="zh-CN" sz="1100" dirty="0">
                <a:solidFill>
                  <a:srgbClr val="000080"/>
                </a:solidFill>
                <a:latin typeface="Courier New" panose="02070309020205020404" pitchFamily="49" charset="0"/>
              </a:rPr>
              <a:t>{</a:t>
            </a:r>
            <a:r>
              <a:rPr lang="en-US" altLang="zh-CN" sz="11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altLang="zh-CN" sz="1100" dirty="0">
                <a:solidFill>
                  <a:srgbClr val="000000"/>
                </a:solidFill>
                <a:latin typeface="Courier New" panose="02070309020205020404" pitchFamily="49" charset="0"/>
              </a:rPr>
              <a:t>	__</a:t>
            </a:r>
            <a:r>
              <a:rPr lang="en-US" altLang="zh-CN" sz="1100" dirty="0" err="1">
                <a:solidFill>
                  <a:srgbClr val="000000"/>
                </a:solidFill>
                <a:latin typeface="Courier New" panose="02070309020205020404" pitchFamily="49" charset="0"/>
              </a:rPr>
              <a:t>asm</a:t>
            </a:r>
            <a:endParaRPr lang="en-US" altLang="zh-CN" sz="11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1100" dirty="0">
                <a:solidFill>
                  <a:srgbClr val="000000"/>
                </a:solidFill>
                <a:latin typeface="Courier New" panose="02070309020205020404" pitchFamily="49" charset="0"/>
              </a:rPr>
              <a:t>	</a:t>
            </a:r>
            <a:r>
              <a:rPr lang="en-US" altLang="zh-CN" sz="1100" dirty="0">
                <a:solidFill>
                  <a:srgbClr val="000080"/>
                </a:solidFill>
                <a:latin typeface="Courier New" panose="02070309020205020404" pitchFamily="49" charset="0"/>
              </a:rPr>
              <a:t>{</a:t>
            </a:r>
          </a:p>
          <a:p>
            <a:pPr>
              <a:lnSpc>
                <a:spcPct val="150000"/>
              </a:lnSpc>
            </a:pPr>
            <a:r>
              <a:rPr lang="en-US" altLang="zh-CN" sz="1100" dirty="0">
                <a:solidFill>
                  <a:srgbClr val="000080"/>
                </a:solidFill>
                <a:latin typeface="Courier New" panose="02070309020205020404" pitchFamily="49" charset="0"/>
              </a:rPr>
              <a:t>		</a:t>
            </a:r>
            <a:r>
              <a:rPr lang="en-US" altLang="zh-CN" sz="1100" dirty="0" err="1">
                <a:solidFill>
                  <a:srgbClr val="000000"/>
                </a:solidFill>
                <a:latin typeface="Courier New" panose="02070309020205020404" pitchFamily="49" charset="0"/>
              </a:rPr>
              <a:t>msr</a:t>
            </a:r>
            <a:r>
              <a:rPr lang="en-US" altLang="zh-CN" sz="11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altLang="zh-CN" sz="1100" dirty="0" err="1">
                <a:solidFill>
                  <a:srgbClr val="000000"/>
                </a:solidFill>
                <a:latin typeface="Courier New" panose="02070309020205020404" pitchFamily="49" charset="0"/>
              </a:rPr>
              <a:t>basepri</a:t>
            </a:r>
            <a:r>
              <a:rPr lang="en-US" altLang="zh-CN" sz="1100" dirty="0">
                <a:solidFill>
                  <a:srgbClr val="000080"/>
                </a:solidFill>
                <a:latin typeface="Courier New" panose="02070309020205020404" pitchFamily="49" charset="0"/>
              </a:rPr>
              <a:t>,</a:t>
            </a:r>
            <a:r>
              <a:rPr lang="en-US" altLang="zh-CN" sz="11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altLang="zh-CN" sz="1100" dirty="0" err="1">
                <a:solidFill>
                  <a:srgbClr val="000000"/>
                </a:solidFill>
                <a:latin typeface="Courier New" panose="02070309020205020404" pitchFamily="49" charset="0"/>
              </a:rPr>
              <a:t>ulBASEPRI</a:t>
            </a:r>
            <a:endParaRPr lang="en-US" altLang="zh-CN" sz="11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1100" dirty="0">
                <a:solidFill>
                  <a:srgbClr val="000000"/>
                </a:solidFill>
                <a:latin typeface="Courier New" panose="02070309020205020404" pitchFamily="49" charset="0"/>
              </a:rPr>
              <a:t>	</a:t>
            </a:r>
            <a:r>
              <a:rPr lang="en-US" altLang="zh-CN" sz="1100" dirty="0">
                <a:solidFill>
                  <a:srgbClr val="000080"/>
                </a:solidFill>
                <a:latin typeface="Courier New" panose="02070309020205020404" pitchFamily="49" charset="0"/>
              </a:rPr>
              <a:t>}</a:t>
            </a:r>
            <a:r>
              <a:rPr lang="en-US" altLang="zh-CN" sz="11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altLang="zh-CN" sz="1100" dirty="0">
                <a:solidFill>
                  <a:srgbClr val="000080"/>
                </a:solidFill>
                <a:latin typeface="Courier New" panose="02070309020205020404" pitchFamily="49" charset="0"/>
              </a:rPr>
              <a:t>}</a:t>
            </a:r>
            <a:endParaRPr lang="en-US" altLang="zh-CN" sz="1100" dirty="0">
              <a:solidFill>
                <a:srgbClr val="00000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3" name="文本框 15">
            <a:extLst>
              <a:ext uri="{FF2B5EF4-FFF2-40B4-BE49-F238E27FC236}">
                <a16:creationId xmlns:a16="http://schemas.microsoft.com/office/drawing/2014/main" id="{2A45D793-7100-066C-4CAD-4F20D2E239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16741" y="5031637"/>
            <a:ext cx="5484813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 dirty="0" err="1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FreeRTOS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中断管理就是利用</a:t>
            </a:r>
            <a:r>
              <a:rPr lang="en-US" altLang="zh-CN" sz="1400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BASEPRI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寄存器实现的</a:t>
            </a:r>
          </a:p>
        </p:txBody>
      </p:sp>
    </p:spTree>
    <p:extLst>
      <p:ext uri="{BB962C8B-B14F-4D97-AF65-F5344CB8AC3E}">
        <p14:creationId xmlns:p14="http://schemas.microsoft.com/office/powerpoint/2010/main" val="105375156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 animBg="1"/>
      <p:bldP spid="12" grpId="0"/>
      <p:bldP spid="13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313044" y="2517775"/>
            <a:ext cx="5940743" cy="1080770"/>
          </a:xfrm>
        </p:spPr>
        <p:txBody>
          <a:bodyPr wrap="square">
            <a:normAutofit fontScale="90000"/>
          </a:bodyPr>
          <a:lstStyle/>
          <a:p>
            <a:r>
              <a:rPr dirty="0" err="1">
                <a:sym typeface="+mn-ea"/>
              </a:rPr>
              <a:t>任务间通信与同步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94095617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/>
          <p:cNvSpPr txBox="1"/>
          <p:nvPr/>
        </p:nvSpPr>
        <p:spPr>
          <a:xfrm>
            <a:off x="181293" y="169545"/>
            <a:ext cx="11369675" cy="368300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dirty="0">
                <a:sym typeface="+mn-ea"/>
              </a:rPr>
              <a:t>任务间通信与同步</a:t>
            </a:r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B2F3356-C6CC-4026-F0A0-C71757757276}"/>
              </a:ext>
            </a:extLst>
          </p:cNvPr>
          <p:cNvSpPr txBox="1"/>
          <p:nvPr/>
        </p:nvSpPr>
        <p:spPr>
          <a:xfrm>
            <a:off x="544830" y="1506855"/>
            <a:ext cx="10096500" cy="1884931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ea typeface="思源黑体 CN Bold" panose="020B0800000000000000" pitchFamily="34" charset="-122"/>
              </a:rPr>
              <a:t>1</a:t>
            </a:r>
            <a:r>
              <a:rPr lang="zh-CN" altLang="en-US" b="1" dirty="0">
                <a:solidFill>
                  <a:srgbClr val="002060"/>
                </a:solidFill>
                <a:ea typeface="思源黑体 CN Bold" panose="020B0800000000000000" pitchFamily="34" charset="-122"/>
              </a:rPr>
              <a:t>，任务通知</a:t>
            </a:r>
            <a:endParaRPr lang="en-US" altLang="zh-CN" b="1" dirty="0">
              <a:solidFill>
                <a:srgbClr val="002060"/>
              </a:solidFill>
              <a:ea typeface="思源黑体 CN Bold" panose="020B0800000000000000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ea typeface="思源黑体 CN Bold" panose="020B0800000000000000" pitchFamily="34" charset="-122"/>
              </a:rPr>
              <a:t>2</a:t>
            </a:r>
            <a:r>
              <a:rPr lang="zh-CN" altLang="en-US" b="1" dirty="0">
                <a:solidFill>
                  <a:srgbClr val="002060"/>
                </a:solidFill>
                <a:ea typeface="思源黑体 CN Bold" panose="020B0800000000000000" pitchFamily="34" charset="-122"/>
              </a:rPr>
              <a:t>，信号量</a:t>
            </a:r>
            <a:endParaRPr lang="en-US" altLang="zh-CN" b="1" dirty="0">
              <a:solidFill>
                <a:srgbClr val="002060"/>
              </a:solidFill>
              <a:ea typeface="思源黑体 CN Bold" panose="020B0800000000000000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ea typeface="思源黑体 CN Bold" panose="020B0800000000000000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ea typeface="思源黑体 CN Bold" panose="020B0800000000000000" pitchFamily="34" charset="-122"/>
              </a:rPr>
              <a:t>，队列和队列集</a:t>
            </a:r>
            <a:endParaRPr lang="en-US" altLang="zh-CN" b="1" dirty="0">
              <a:solidFill>
                <a:srgbClr val="002060"/>
              </a:solidFill>
              <a:ea typeface="思源黑体 CN Bold" panose="020B0800000000000000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ea typeface="思源黑体 CN Bold" panose="020B0800000000000000" pitchFamily="34" charset="-122"/>
              </a:rPr>
              <a:t>4</a:t>
            </a:r>
            <a:r>
              <a:rPr lang="zh-CN" altLang="en-US" b="1" dirty="0">
                <a:solidFill>
                  <a:srgbClr val="002060"/>
                </a:solidFill>
                <a:ea typeface="思源黑体 CN Bold" panose="020B0800000000000000" pitchFamily="34" charset="-122"/>
              </a:rPr>
              <a:t>，事件标志组</a:t>
            </a:r>
            <a:endParaRPr lang="en-US" altLang="zh-CN" b="1" dirty="0">
              <a:solidFill>
                <a:srgbClr val="002060"/>
              </a:solidFill>
              <a:ea typeface="思源黑体 CN Bold" panose="020B08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04610860"/>
      </p:ext>
    </p:extLst>
  </p:cSld>
  <p:clrMapOvr>
    <a:masterClrMapping/>
  </p:clrMapOvr>
  <p:transition/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0AFA4-70EF-06D5-7CC5-F00AFE570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F2B08429-A736-A378-FD50-5B9E11252650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任务通知</a:t>
            </a:r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458B42A-6134-C51A-A65F-C2C4AA6471B8}"/>
              </a:ext>
            </a:extLst>
          </p:cNvPr>
          <p:cNvSpPr txBox="1"/>
          <p:nvPr/>
        </p:nvSpPr>
        <p:spPr>
          <a:xfrm>
            <a:off x="675307" y="785629"/>
            <a:ext cx="6093618" cy="10237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 b="1" dirty="0">
                <a:solidFill>
                  <a:srgbClr val="002060"/>
                </a:solidFill>
                <a:ea typeface="思源黑体 CN Bold" panose="020B0800000000000000" pitchFamily="34" charset="-122"/>
              </a:rPr>
              <a:t>1</a:t>
            </a:r>
            <a:r>
              <a:rPr lang="zh-CN" altLang="en-US" sz="1400" b="1" dirty="0">
                <a:solidFill>
                  <a:srgbClr val="002060"/>
                </a:solidFill>
                <a:ea typeface="思源黑体 CN Bold" panose="020B0800000000000000" pitchFamily="34" charset="-122"/>
              </a:rPr>
              <a:t>，任务通知的简介</a:t>
            </a:r>
            <a:endParaRPr lang="en-US" altLang="zh-CN" sz="1400" b="1" dirty="0">
              <a:solidFill>
                <a:srgbClr val="002060"/>
              </a:solidFill>
              <a:ea typeface="思源黑体 CN Bold" panose="020B0800000000000000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400" b="1" dirty="0">
                <a:solidFill>
                  <a:srgbClr val="002060"/>
                </a:solidFill>
                <a:ea typeface="思源黑体 CN Bold" panose="020B0800000000000000" pitchFamily="34" charset="-122"/>
              </a:rPr>
              <a:t>2</a:t>
            </a:r>
            <a:r>
              <a:rPr lang="zh-CN" altLang="en-US" sz="1400" b="1" dirty="0">
                <a:solidFill>
                  <a:srgbClr val="002060"/>
                </a:solidFill>
                <a:ea typeface="思源黑体 CN Bold" panose="020B0800000000000000" pitchFamily="34" charset="-122"/>
              </a:rPr>
              <a:t>，任务通知值和通知状态</a:t>
            </a:r>
            <a:endParaRPr lang="en-US" altLang="zh-CN" sz="1400" b="1" dirty="0">
              <a:solidFill>
                <a:srgbClr val="002060"/>
              </a:solidFill>
              <a:ea typeface="思源黑体 CN Bold" panose="020B0800000000000000" pitchFamily="34" charset="-122"/>
            </a:endParaRPr>
          </a:p>
          <a:p>
            <a:pPr eaLnBrk="1" hangingPunct="1">
              <a:lnSpc>
                <a:spcPct val="150000"/>
              </a:lnSpc>
            </a:pPr>
            <a:r>
              <a:rPr lang="en-US" altLang="zh-CN" sz="1400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sz="1400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，任务通知相关</a:t>
            </a:r>
            <a:r>
              <a:rPr lang="en-US" altLang="zh-CN" sz="1400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sz="1400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</a:t>
            </a:r>
            <a:endParaRPr lang="en-US" altLang="zh-CN" sz="1400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11" name="文本框 9">
            <a:extLst>
              <a:ext uri="{FF2B5EF4-FFF2-40B4-BE49-F238E27FC236}">
                <a16:creationId xmlns:a16="http://schemas.microsoft.com/office/drawing/2014/main" id="{05C5E30E-986D-EF8A-B7E2-82E397979D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3139" y="2056123"/>
            <a:ext cx="3900487" cy="46355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defRPr/>
            </a:pPr>
            <a:r>
              <a:rPr lang="en-US" altLang="zh-CN" b="1" dirty="0">
                <a:solidFill>
                  <a:schemeClr val="accent5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1</a:t>
            </a:r>
            <a:r>
              <a:rPr lang="zh-CN" altLang="en-US" b="1" dirty="0">
                <a:solidFill>
                  <a:schemeClr val="accent5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，任务通知的简介</a:t>
            </a:r>
            <a:endParaRPr lang="en-US" altLang="zh-CN" b="1" dirty="0">
              <a:solidFill>
                <a:schemeClr val="accent5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12" name="文本框 1">
            <a:extLst>
              <a:ext uri="{FF2B5EF4-FFF2-40B4-BE49-F238E27FC236}">
                <a16:creationId xmlns:a16="http://schemas.microsoft.com/office/drawing/2014/main" id="{954B3DAA-31C4-A485-B36D-53EA038C16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5564" y="2519673"/>
            <a:ext cx="7786687" cy="382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任务通知：用来通知任务的，任务控制块中的结构体成员变量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ulNotifiedValue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就是这个通知值。</a:t>
            </a:r>
            <a:endParaRPr lang="en-US" altLang="zh-CN" sz="14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3" name="文本框 26">
            <a:extLst>
              <a:ext uri="{FF2B5EF4-FFF2-40B4-BE49-F238E27FC236}">
                <a16:creationId xmlns:a16="http://schemas.microsoft.com/office/drawing/2014/main" id="{8CCFBF1F-13F6-39AB-3F7B-AAE5A18100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5564" y="2956236"/>
            <a:ext cx="801370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使用队列、信号量、事件标志组时都需另外创建一个结构体，通过中间的结构体进行间接通信！</a:t>
            </a:r>
          </a:p>
        </p:txBody>
      </p:sp>
      <p:sp>
        <p:nvSpPr>
          <p:cNvPr id="14" name="文本框 27">
            <a:extLst>
              <a:ext uri="{FF2B5EF4-FFF2-40B4-BE49-F238E27FC236}">
                <a16:creationId xmlns:a16="http://schemas.microsoft.com/office/drawing/2014/main" id="{D704BE72-BF2D-602C-D9BF-B3064AB50A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5564" y="4578661"/>
            <a:ext cx="7613650" cy="306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使用任务通知时，任务结构体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TCB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中就包含了内部对象，可以直接接收别人发过来的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"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通知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"</a:t>
            </a:r>
            <a:endParaRPr lang="zh-CN" altLang="en-US" sz="14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pic>
        <p:nvPicPr>
          <p:cNvPr id="15" name="图片 28">
            <a:extLst>
              <a:ext uri="{FF2B5EF4-FFF2-40B4-BE49-F238E27FC236}">
                <a16:creationId xmlns:a16="http://schemas.microsoft.com/office/drawing/2014/main" id="{660C0316-A95B-D0E0-8425-25F73B2596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65601" y="4962836"/>
            <a:ext cx="4770438" cy="1319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" name="图片 29">
            <a:extLst>
              <a:ext uri="{FF2B5EF4-FFF2-40B4-BE49-F238E27FC236}">
                <a16:creationId xmlns:a16="http://schemas.microsoft.com/office/drawing/2014/main" id="{5A10249D-72BF-0DD8-B20F-38FD6CB41A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65601" y="3365811"/>
            <a:ext cx="4770438" cy="12017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87245508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41A06-BAFE-03E7-B079-B37E2808B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90317950-9332-50B0-583F-E88B29B1577C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任务通知</a:t>
            </a:r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109ABC79-9990-4169-E2F9-7DA1081B85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4675" y="1526068"/>
            <a:ext cx="3900487" cy="46355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defRPr/>
            </a:pPr>
            <a:r>
              <a:rPr lang="zh-CN" altLang="en-US" b="1" dirty="0">
                <a:solidFill>
                  <a:schemeClr val="accent5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     任务通知值的更新方式</a:t>
            </a:r>
            <a:endParaRPr lang="en-US" altLang="zh-CN" b="1" dirty="0">
              <a:solidFill>
                <a:schemeClr val="accent5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1">
            <a:extLst>
              <a:ext uri="{FF2B5EF4-FFF2-40B4-BE49-F238E27FC236}">
                <a16:creationId xmlns:a16="http://schemas.microsoft.com/office/drawing/2014/main" id="{9C602ADE-411A-2B7B-EB23-96B4558D62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20112" y="2159481"/>
            <a:ext cx="25749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不覆盖接受任务的通知值</a:t>
            </a:r>
          </a:p>
        </p:txBody>
      </p:sp>
      <p:sp>
        <p:nvSpPr>
          <p:cNvPr id="10" name="文本框 7">
            <a:extLst>
              <a:ext uri="{FF2B5EF4-FFF2-40B4-BE49-F238E27FC236}">
                <a16:creationId xmlns:a16="http://schemas.microsoft.com/office/drawing/2014/main" id="{55DD95A8-BECB-8643-97BB-B2F634FE51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20112" y="2578581"/>
            <a:ext cx="23717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覆盖接受任务的通知值</a:t>
            </a:r>
          </a:p>
        </p:txBody>
      </p:sp>
      <p:sp>
        <p:nvSpPr>
          <p:cNvPr id="11" name="文本框 8">
            <a:extLst>
              <a:ext uri="{FF2B5EF4-FFF2-40B4-BE49-F238E27FC236}">
                <a16:creationId xmlns:a16="http://schemas.microsoft.com/office/drawing/2014/main" id="{CFD2F881-D04F-8E79-8374-2480413E32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20112" y="3007206"/>
            <a:ext cx="347345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更新接受任务通知值的一个或多个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bit</a:t>
            </a:r>
            <a:endParaRPr lang="zh-CN" altLang="en-US" sz="14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2" name="文本框 9">
            <a:extLst>
              <a:ext uri="{FF2B5EF4-FFF2-40B4-BE49-F238E27FC236}">
                <a16:creationId xmlns:a16="http://schemas.microsoft.com/office/drawing/2014/main" id="{BD77AC22-E1E5-C5BB-C8CA-78F2191362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20112" y="3440593"/>
            <a:ext cx="23717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增加接受任务的通知值</a:t>
            </a:r>
          </a:p>
        </p:txBody>
      </p:sp>
      <p:sp>
        <p:nvSpPr>
          <p:cNvPr id="13" name="文本框 13">
            <a:extLst>
              <a:ext uri="{FF2B5EF4-FFF2-40B4-BE49-F238E27FC236}">
                <a16:creationId xmlns:a16="http://schemas.microsoft.com/office/drawing/2014/main" id="{E8DCE03A-23BD-0E2B-C2FD-54EBB6EC95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1062" y="4066068"/>
            <a:ext cx="785177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只要合理，灵活的利用任务通知的特点，可以在一些场合中替代队列、信号量、事件标志组！</a:t>
            </a:r>
          </a:p>
        </p:txBody>
      </p:sp>
    </p:spTree>
    <p:extLst>
      <p:ext uri="{BB962C8B-B14F-4D97-AF65-F5344CB8AC3E}">
        <p14:creationId xmlns:p14="http://schemas.microsoft.com/office/powerpoint/2010/main" val="187208007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  <p:bldP spid="13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5E27F-E236-A498-613E-6F4B50E8F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5BE36455-0F28-0BDC-F759-C8CF6F65BE72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任务通知</a:t>
            </a:r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B4D2C3CF-7557-2F87-DBF3-0FDBC30FC2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23545" y="1415256"/>
            <a:ext cx="3900487" cy="46355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defRPr/>
            </a:pPr>
            <a:r>
              <a:rPr lang="zh-CN" altLang="en-US" b="1" dirty="0">
                <a:solidFill>
                  <a:schemeClr val="accent5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     任务通知的优势及劣势</a:t>
            </a:r>
            <a:endParaRPr lang="en-US" altLang="zh-CN" b="1" dirty="0">
              <a:solidFill>
                <a:schemeClr val="accent5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25">
            <a:extLst>
              <a:ext uri="{FF2B5EF4-FFF2-40B4-BE49-F238E27FC236}">
                <a16:creationId xmlns:a16="http://schemas.microsoft.com/office/drawing/2014/main" id="{51DF8526-6F08-D4C7-65E6-9A8EADE208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07895" y="2356644"/>
            <a:ext cx="6470650" cy="306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使用任务通知向任务发送事件或数据比使用队列、事件标志组或信号量快得多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94BB295F-BD2C-CEED-977A-BCF56E4634DC}"/>
              </a:ext>
            </a:extLst>
          </p:cNvPr>
          <p:cNvSpPr/>
          <p:nvPr/>
        </p:nvSpPr>
        <p:spPr>
          <a:xfrm>
            <a:off x="1844232" y="2356644"/>
            <a:ext cx="1346200" cy="306387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效率更高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A49C2708-CAF9-B5D9-AF3D-4DE958969164}"/>
              </a:ext>
            </a:extLst>
          </p:cNvPr>
          <p:cNvSpPr/>
          <p:nvPr/>
        </p:nvSpPr>
        <p:spPr>
          <a:xfrm>
            <a:off x="1844232" y="2855119"/>
            <a:ext cx="1346200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使用内存更小</a:t>
            </a:r>
          </a:p>
        </p:txBody>
      </p:sp>
      <p:sp>
        <p:nvSpPr>
          <p:cNvPr id="12" name="文本框 29">
            <a:extLst>
              <a:ext uri="{FF2B5EF4-FFF2-40B4-BE49-F238E27FC236}">
                <a16:creationId xmlns:a16="http://schemas.microsoft.com/office/drawing/2014/main" id="{D4821715-EDC0-2324-C648-D7537B6C88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77732" y="2837656"/>
            <a:ext cx="6530975" cy="350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3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使用其他方法时都要先创建对应的结构体，使用任务通知时无需额外创建结构体</a:t>
            </a:r>
          </a:p>
        </p:txBody>
      </p:sp>
      <p:sp>
        <p:nvSpPr>
          <p:cNvPr id="13" name="文本框 30">
            <a:extLst>
              <a:ext uri="{FF2B5EF4-FFF2-40B4-BE49-F238E27FC236}">
                <a16:creationId xmlns:a16="http://schemas.microsoft.com/office/drawing/2014/main" id="{E7CC43C4-7652-5D89-F837-5FDCAD0CA7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157" y="1967706"/>
            <a:ext cx="162083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任务通知的优势：</a:t>
            </a:r>
          </a:p>
        </p:txBody>
      </p:sp>
      <p:sp>
        <p:nvSpPr>
          <p:cNvPr id="14" name="文本框 4095">
            <a:extLst>
              <a:ext uri="{FF2B5EF4-FFF2-40B4-BE49-F238E27FC236}">
                <a16:creationId xmlns:a16="http://schemas.microsoft.com/office/drawing/2014/main" id="{37541259-B21F-450D-AB42-72FFB02873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157" y="3277394"/>
            <a:ext cx="1620838" cy="306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任务通知的劣势：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54B87DCB-0E53-DEB5-AE28-170F536E7518}"/>
              </a:ext>
            </a:extLst>
          </p:cNvPr>
          <p:cNvSpPr/>
          <p:nvPr/>
        </p:nvSpPr>
        <p:spPr>
          <a:xfrm>
            <a:off x="1844232" y="3671094"/>
            <a:ext cx="1909763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无法发送数据给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ISR</a:t>
            </a:r>
            <a:endParaRPr lang="zh-CN" altLang="en-US" sz="14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3F9303BE-F5AC-FBF1-F2F1-1326CFC216FE}"/>
              </a:ext>
            </a:extLst>
          </p:cNvPr>
          <p:cNvSpPr/>
          <p:nvPr/>
        </p:nvSpPr>
        <p:spPr>
          <a:xfrm>
            <a:off x="1844232" y="4152106"/>
            <a:ext cx="1909763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无法广播给多个任务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84FF3B95-6EB0-10CE-3326-A7BD15B749A8}"/>
              </a:ext>
            </a:extLst>
          </p:cNvPr>
          <p:cNvSpPr/>
          <p:nvPr/>
        </p:nvSpPr>
        <p:spPr>
          <a:xfrm>
            <a:off x="1844232" y="5114131"/>
            <a:ext cx="1909763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发送受阻不支持阻塞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95DFA3F3-CEEC-081D-1D18-9DDC90B8B41C}"/>
              </a:ext>
            </a:extLst>
          </p:cNvPr>
          <p:cNvSpPr/>
          <p:nvPr/>
        </p:nvSpPr>
        <p:spPr>
          <a:xfrm>
            <a:off x="1844232" y="4633119"/>
            <a:ext cx="1909763" cy="30797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无法缓存多个数据</a:t>
            </a:r>
          </a:p>
        </p:txBody>
      </p:sp>
      <p:sp>
        <p:nvSpPr>
          <p:cNvPr id="19" name="文本框 4101">
            <a:extLst>
              <a:ext uri="{FF2B5EF4-FFF2-40B4-BE49-F238E27FC236}">
                <a16:creationId xmlns:a16="http://schemas.microsoft.com/office/drawing/2014/main" id="{E5E7EEB8-5943-A96E-03C8-BC735E08EE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50820" y="3510756"/>
            <a:ext cx="6842125" cy="630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30000"/>
              </a:lnSpc>
            </a:pP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ISR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没有任务结构体，所以无法给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ISR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发送数据。但是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ISR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可以使用任务通知的功能，发数据给任务。</a:t>
            </a:r>
          </a:p>
        </p:txBody>
      </p:sp>
      <p:sp>
        <p:nvSpPr>
          <p:cNvPr id="20" name="文本框 4102">
            <a:extLst>
              <a:ext uri="{FF2B5EF4-FFF2-40B4-BE49-F238E27FC236}">
                <a16:creationId xmlns:a16="http://schemas.microsoft.com/office/drawing/2014/main" id="{5829234E-3A2F-7F74-38DD-466C2E732E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50820" y="4125119"/>
            <a:ext cx="4541837" cy="350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30000"/>
              </a:lnSpc>
            </a:pP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任务通知只能是被指定的一个任务接收并处理 </a:t>
            </a:r>
          </a:p>
        </p:txBody>
      </p:sp>
      <p:sp>
        <p:nvSpPr>
          <p:cNvPr id="21" name="文本框 4105">
            <a:extLst>
              <a:ext uri="{FF2B5EF4-FFF2-40B4-BE49-F238E27FC236}">
                <a16:creationId xmlns:a16="http://schemas.microsoft.com/office/drawing/2014/main" id="{1CF2EB2D-2DF3-9B6A-B2B1-9E96F736632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50820" y="4487069"/>
            <a:ext cx="6435725" cy="628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30000"/>
              </a:lnSpc>
            </a:pP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任务通知是通过更新任务通知值来发送数据的，任务结构体中只有一个任务通知值，只能保持一个数据。</a:t>
            </a:r>
          </a:p>
        </p:txBody>
      </p:sp>
      <p:sp>
        <p:nvSpPr>
          <p:cNvPr id="22" name="文本框 4107">
            <a:extLst>
              <a:ext uri="{FF2B5EF4-FFF2-40B4-BE49-F238E27FC236}">
                <a16:creationId xmlns:a16="http://schemas.microsoft.com/office/drawing/2014/main" id="{61E106DE-6C63-70BF-E50E-12E0224470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50820" y="5136356"/>
            <a:ext cx="3224212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发送方无法进入阻塞状态等待</a:t>
            </a:r>
          </a:p>
        </p:txBody>
      </p:sp>
    </p:spTree>
    <p:extLst>
      <p:ext uri="{BB962C8B-B14F-4D97-AF65-F5344CB8AC3E}">
        <p14:creationId xmlns:p14="http://schemas.microsoft.com/office/powerpoint/2010/main" val="159278229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 animBg="1"/>
      <p:bldP spid="11" grpId="0" animBg="1"/>
      <p:bldP spid="12" grpId="0"/>
      <p:bldP spid="13" grpId="0"/>
      <p:bldP spid="14" grpId="0"/>
      <p:bldP spid="15" grpId="0" animBg="1"/>
      <p:bldP spid="16" grpId="0" animBg="1"/>
      <p:bldP spid="17" grpId="0" animBg="1"/>
      <p:bldP spid="18" grpId="0" animBg="1"/>
      <p:bldP spid="19" grpId="0"/>
      <p:bldP spid="20" grpId="0"/>
      <p:bldP spid="21" grpId="0"/>
      <p:bldP spid="22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E8A89-EE10-C7E3-DF84-A0ED51E44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8DEC245E-CE98-C519-FFED-AD0AE80539BE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任务通知</a:t>
            </a:r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16098961-F3F1-C1B5-F0FF-5245BEA487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5173" y="1425058"/>
            <a:ext cx="3900487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2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，任务通知值和通知状态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14">
            <a:extLst>
              <a:ext uri="{FF2B5EF4-FFF2-40B4-BE49-F238E27FC236}">
                <a16:creationId xmlns:a16="http://schemas.microsoft.com/office/drawing/2014/main" id="{FD8D91C9-4DF4-500D-18C6-A7384917DD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9023" y="1872733"/>
            <a:ext cx="6064250" cy="382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任务都有一个结构体：任务控制块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TCB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，它里边有两个结构体成员变量：</a:t>
            </a:r>
            <a:endParaRPr lang="zh-CN" altLang="en-US" sz="1400" dirty="0"/>
          </a:p>
        </p:txBody>
      </p:sp>
      <p:sp>
        <p:nvSpPr>
          <p:cNvPr id="10" name="文本框 21">
            <a:extLst>
              <a:ext uri="{FF2B5EF4-FFF2-40B4-BE49-F238E27FC236}">
                <a16:creationId xmlns:a16="http://schemas.microsoft.com/office/drawing/2014/main" id="{E46642C5-876E-3C9B-0C53-6EE5FF94A4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56810" y="4939783"/>
            <a:ext cx="4619625" cy="617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1450" indent="-1714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一个是 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uint32_t 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类型，用来表示通知值</a:t>
            </a:r>
            <a:endParaRPr lang="en-US" altLang="zh-CN" sz="12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一个是 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uint8_t 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类型，用来表示通知状态</a:t>
            </a:r>
          </a:p>
        </p:txBody>
      </p:sp>
      <p:grpSp>
        <p:nvGrpSpPr>
          <p:cNvPr id="11" name="组合 23">
            <a:extLst>
              <a:ext uri="{FF2B5EF4-FFF2-40B4-BE49-F238E27FC236}">
                <a16:creationId xmlns:a16="http://schemas.microsoft.com/office/drawing/2014/main" id="{E052D22D-A0A9-1D40-6088-D6D30D049A78}"/>
              </a:ext>
            </a:extLst>
          </p:cNvPr>
          <p:cNvGrpSpPr>
            <a:grpSpLocks/>
          </p:cNvGrpSpPr>
          <p:nvPr/>
        </p:nvGrpSpPr>
        <p:grpSpPr bwMode="auto">
          <a:xfrm>
            <a:off x="2356810" y="2302946"/>
            <a:ext cx="7882343" cy="2605087"/>
            <a:chOff x="512617" y="2081553"/>
            <a:chExt cx="7882173" cy="2605940"/>
          </a:xfrm>
        </p:grpSpPr>
        <p:sp>
          <p:nvSpPr>
            <p:cNvPr id="12" name="文本框 19">
              <a:extLst>
                <a:ext uri="{FF2B5EF4-FFF2-40B4-BE49-F238E27FC236}">
                  <a16:creationId xmlns:a16="http://schemas.microsoft.com/office/drawing/2014/main" id="{E5ED902B-4574-4E95-E83B-25A33011E35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12619" y="2081553"/>
              <a:ext cx="7882171" cy="26059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typedef  struct  </a:t>
              </a:r>
              <a:r>
                <a:rPr lang="en-US" altLang="zh-CN" sz="11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tskTaskControlBlock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</a:p>
            <a:p>
              <a:pPr>
                <a:lnSpc>
                  <a:spcPct val="150000"/>
                </a:lnSpc>
              </a:pPr>
              <a:r>
                <a:rPr lang="zh-CN" altLang="en-US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{</a:t>
              </a:r>
              <a:endParaRPr lang="en-US" altLang="zh-CN" sz="11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… …</a:t>
              </a:r>
              <a:endParaRPr lang="zh-CN" altLang="en-US" sz="11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#if ( configUSE_TASK_NOTIFICATIONS  ==  1 )</a:t>
              </a:r>
            </a:p>
            <a:p>
              <a:pPr>
                <a:lnSpc>
                  <a:spcPct val="150000"/>
                </a:lnSpc>
              </a:pPr>
              <a:r>
                <a:rPr lang="zh-CN" altLang="en-US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    </a:t>
              </a:r>
              <a:r>
                <a:rPr lang="en-US" altLang="zh-CN" sz="11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1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volatile  uint32_t    </a:t>
              </a:r>
              <a:r>
                <a:rPr lang="zh-CN" altLang="en-US" sz="11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ulNotifiedValue </a:t>
              </a:r>
              <a:r>
                <a:rPr lang="zh-CN" altLang="en-US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[ configTASK_NOTIFICATION_ARRAY_ENTRIES ];</a:t>
              </a:r>
            </a:p>
            <a:p>
              <a:pPr>
                <a:lnSpc>
                  <a:spcPct val="150000"/>
                </a:lnSpc>
              </a:pPr>
              <a:r>
                <a:rPr lang="zh-CN" altLang="en-US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    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1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volatile  uint8_t      </a:t>
              </a:r>
              <a:r>
                <a:rPr lang="zh-CN" altLang="en-US" sz="11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ucNotifyState </a:t>
              </a:r>
              <a:r>
                <a:rPr lang="zh-CN" altLang="en-US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[ configTASK_NOTIFICATION_ARRAY_ENTRIES ];</a:t>
              </a:r>
            </a:p>
            <a:p>
              <a:pPr>
                <a:lnSpc>
                  <a:spcPct val="150000"/>
                </a:lnSpc>
              </a:pPr>
              <a:r>
                <a:rPr lang="zh-CN" altLang="en-US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endif</a:t>
              </a:r>
              <a:endParaRPr lang="en-US" altLang="zh-CN" sz="11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… …</a:t>
              </a:r>
              <a:endParaRPr lang="zh-CN" altLang="en-US" sz="11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} tskTCB;</a:t>
              </a:r>
              <a:endParaRPr lang="en-US" altLang="zh-CN" sz="11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 </a:t>
              </a:r>
              <a:r>
                <a:rPr lang="en-US" altLang="zh-CN" sz="11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configTASK_NOTIFICATION_ARRAY_ENTRIES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1  	</a:t>
              </a:r>
              <a:r>
                <a:rPr lang="en-US" altLang="zh-CN" sz="11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1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定义任务通知数组的大小</a:t>
              </a:r>
              <a:r>
                <a:rPr lang="en-US" altLang="zh-CN" sz="11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 </a:t>
              </a:r>
              <a:r>
                <a:rPr lang="zh-CN" altLang="en-US" sz="11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默认</a:t>
              </a:r>
              <a:r>
                <a:rPr lang="en-US" altLang="zh-CN" sz="11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: 1 */</a:t>
              </a:r>
              <a:endParaRPr lang="zh-CN" altLang="en-US" sz="1100" dirty="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38276A94-53BB-EC53-C6FC-7510D767108A}"/>
                </a:ext>
              </a:extLst>
            </p:cNvPr>
            <p:cNvSpPr/>
            <p:nvPr/>
          </p:nvSpPr>
          <p:spPr>
            <a:xfrm>
              <a:off x="512617" y="2114901"/>
              <a:ext cx="7690791" cy="2572592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64905443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6C639A-24AB-E799-5CD0-881464076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75142CF0-B01F-CE1E-60FD-D99983EBD42F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任务通知</a:t>
            </a:r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115DB257-1F6A-E680-D142-B060FF46A5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5470" y="696728"/>
            <a:ext cx="3900487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     任务通知值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14">
            <a:extLst>
              <a:ext uri="{FF2B5EF4-FFF2-40B4-BE49-F238E27FC236}">
                <a16:creationId xmlns:a16="http://schemas.microsoft.com/office/drawing/2014/main" id="{0A25B795-7415-CAA3-08A2-74608E63D8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9320" y="1199966"/>
            <a:ext cx="6062662" cy="3825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任务通知值的更新方式有多种类型：</a:t>
            </a:r>
            <a:endParaRPr lang="zh-CN" altLang="en-US" sz="1400" dirty="0"/>
          </a:p>
        </p:txBody>
      </p:sp>
      <p:sp>
        <p:nvSpPr>
          <p:cNvPr id="10" name="文本框 2">
            <a:extLst>
              <a:ext uri="{FF2B5EF4-FFF2-40B4-BE49-F238E27FC236}">
                <a16:creationId xmlns:a16="http://schemas.microsoft.com/office/drawing/2014/main" id="{FC7785A7-ADDC-3CC2-FE5B-4570DE5B5E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9320" y="1658753"/>
            <a:ext cx="6062662" cy="382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计数值（数值累加，类似信号量）</a:t>
            </a:r>
            <a:endParaRPr lang="zh-CN" altLang="en-US" sz="1400" dirty="0"/>
          </a:p>
        </p:txBody>
      </p:sp>
      <p:sp>
        <p:nvSpPr>
          <p:cNvPr id="11" name="文本框 12">
            <a:extLst>
              <a:ext uri="{FF2B5EF4-FFF2-40B4-BE49-F238E27FC236}">
                <a16:creationId xmlns:a16="http://schemas.microsoft.com/office/drawing/2014/main" id="{61B103FB-993E-548A-FCB4-DFED859E30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9320" y="2022291"/>
            <a:ext cx="6062662" cy="3825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相应位置一（类似事件标志组）</a:t>
            </a:r>
          </a:p>
        </p:txBody>
      </p:sp>
      <p:sp>
        <p:nvSpPr>
          <p:cNvPr id="12" name="文本框 13">
            <a:extLst>
              <a:ext uri="{FF2B5EF4-FFF2-40B4-BE49-F238E27FC236}">
                <a16:creationId xmlns:a16="http://schemas.microsoft.com/office/drawing/2014/main" id="{4B7F081B-9B7E-C696-920E-5EDC65F62C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9320" y="2385828"/>
            <a:ext cx="6062662" cy="382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任意数值（支持覆写和不覆写，类似队列）</a:t>
            </a:r>
          </a:p>
        </p:txBody>
      </p:sp>
      <p:sp>
        <p:nvSpPr>
          <p:cNvPr id="19" name="文本框 9">
            <a:extLst>
              <a:ext uri="{FF2B5EF4-FFF2-40B4-BE49-F238E27FC236}">
                <a16:creationId xmlns:a16="http://schemas.microsoft.com/office/drawing/2014/main" id="{C349D5E7-5223-7C1C-2795-5EF01D01E5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3573" y="2736062"/>
            <a:ext cx="3900487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zh-CN" altLang="en-US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     任务通知状态</a:t>
            </a:r>
            <a:endParaRPr lang="en-US" altLang="zh-CN" b="1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20" name="文本框 14">
            <a:extLst>
              <a:ext uri="{FF2B5EF4-FFF2-40B4-BE49-F238E27FC236}">
                <a16:creationId xmlns:a16="http://schemas.microsoft.com/office/drawing/2014/main" id="{26B611B3-BB58-554A-1298-5D8B41A827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7423" y="3183737"/>
            <a:ext cx="6064250" cy="382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其中任务通知状态共有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3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种取值：</a:t>
            </a:r>
            <a:endParaRPr lang="zh-CN" altLang="en-US" sz="1400"/>
          </a:p>
        </p:txBody>
      </p:sp>
      <p:grpSp>
        <p:nvGrpSpPr>
          <p:cNvPr id="21" name="组合 9">
            <a:extLst>
              <a:ext uri="{FF2B5EF4-FFF2-40B4-BE49-F238E27FC236}">
                <a16:creationId xmlns:a16="http://schemas.microsoft.com/office/drawing/2014/main" id="{F072ACEC-D751-D017-1999-7AC3BF926E0B}"/>
              </a:ext>
            </a:extLst>
          </p:cNvPr>
          <p:cNvGrpSpPr>
            <a:grpSpLocks/>
          </p:cNvGrpSpPr>
          <p:nvPr/>
        </p:nvGrpSpPr>
        <p:grpSpPr bwMode="auto">
          <a:xfrm>
            <a:off x="970922" y="3658400"/>
            <a:ext cx="9698850" cy="1227137"/>
            <a:chOff x="471269" y="1573838"/>
            <a:chExt cx="7006280" cy="1226583"/>
          </a:xfrm>
        </p:grpSpPr>
        <p:sp>
          <p:nvSpPr>
            <p:cNvPr id="22" name="文本框 1">
              <a:extLst>
                <a:ext uri="{FF2B5EF4-FFF2-40B4-BE49-F238E27FC236}">
                  <a16:creationId xmlns:a16="http://schemas.microsoft.com/office/drawing/2014/main" id="{29134C7F-C77F-8FAC-8AB5-1DE8FD11294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1271" y="1573838"/>
              <a:ext cx="6925630" cy="3820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altLang="zh-CN" sz="14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en-US" altLang="zh-CN" sz="14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taskNOT_WAITING_NOTIFICATION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	</a:t>
              </a:r>
              <a:r>
                <a:rPr lang="en-US" altLang="zh-CN" sz="14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( uint8_t ) 0 )		 /* </a:t>
              </a:r>
              <a:r>
                <a:rPr lang="zh-CN" altLang="en-US" sz="14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任务未等待通知 </a:t>
              </a:r>
              <a:r>
                <a:rPr lang="en-US" altLang="zh-CN" sz="14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*/</a:t>
              </a:r>
              <a:endParaRPr lang="zh-CN" altLang="en-US" sz="1400" dirty="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23" name="文本框 6">
              <a:extLst>
                <a:ext uri="{FF2B5EF4-FFF2-40B4-BE49-F238E27FC236}">
                  <a16:creationId xmlns:a16="http://schemas.microsoft.com/office/drawing/2014/main" id="{A67BD8B5-02FF-026C-1436-78ECE93AC34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1269" y="1992672"/>
              <a:ext cx="6871865" cy="3820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altLang="zh-CN" sz="14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	</a:t>
              </a:r>
              <a:r>
                <a:rPr lang="en-US" altLang="zh-CN" sz="14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taskWAITING_NOTIFICATION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en-US" altLang="zh-CN" sz="14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en-US" altLang="zh-CN" sz="14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( uint8_t ) 1 )		 /* </a:t>
              </a:r>
              <a:r>
                <a:rPr lang="zh-CN" altLang="en-US" sz="14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任务在等待通知 </a:t>
              </a:r>
              <a:r>
                <a:rPr lang="en-US" altLang="zh-CN" sz="14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*/</a:t>
              </a:r>
              <a:endParaRPr lang="zh-CN" altLang="en-US" sz="1400" dirty="0">
                <a:solidFill>
                  <a:srgbClr val="C00000"/>
                </a:solidFill>
              </a:endParaRPr>
            </a:p>
          </p:txBody>
        </p:sp>
        <p:sp>
          <p:nvSpPr>
            <p:cNvPr id="24" name="文本框 7">
              <a:extLst>
                <a:ext uri="{FF2B5EF4-FFF2-40B4-BE49-F238E27FC236}">
                  <a16:creationId xmlns:a16="http://schemas.microsoft.com/office/drawing/2014/main" id="{373C9672-04A6-1066-4351-80E2EC64859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1269" y="2374764"/>
              <a:ext cx="6783537" cy="3820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altLang="zh-CN" sz="14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	</a:t>
              </a:r>
              <a:r>
                <a:rPr lang="en-US" altLang="zh-CN" sz="14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taskNOTIFICATION_RECEIVED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             </a:t>
              </a:r>
              <a:r>
                <a:rPr lang="en-US" altLang="zh-CN" sz="14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en-US" altLang="zh-CN" sz="14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( uint8_t ) 2 )		 /* </a:t>
              </a:r>
              <a:r>
                <a:rPr lang="zh-CN" altLang="en-US" sz="14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任务在等待接收 </a:t>
              </a:r>
              <a:r>
                <a:rPr lang="en-US" altLang="zh-CN" sz="14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*/</a:t>
              </a:r>
              <a:endParaRPr lang="zh-CN" altLang="en-US" sz="1400" dirty="0">
                <a:solidFill>
                  <a:srgbClr val="C00000"/>
                </a:solidFill>
              </a:endParaRPr>
            </a:p>
          </p:txBody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32AF8933-460E-24AD-8384-59FF3FB25FF1}"/>
                </a:ext>
              </a:extLst>
            </p:cNvPr>
            <p:cNvSpPr/>
            <p:nvPr/>
          </p:nvSpPr>
          <p:spPr>
            <a:xfrm>
              <a:off x="471270" y="1621441"/>
              <a:ext cx="7006279" cy="1178980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sp>
        <p:nvSpPr>
          <p:cNvPr id="26" name="文本框 25">
            <a:extLst>
              <a:ext uri="{FF2B5EF4-FFF2-40B4-BE49-F238E27FC236}">
                <a16:creationId xmlns:a16="http://schemas.microsoft.com/office/drawing/2014/main" id="{F2BD9837-7E4A-8238-189F-C06CEF6D59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7423" y="5707862"/>
            <a:ext cx="753268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40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等待通知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：接收方已经准备好了（调用了接收任务通知函数），等待发送方给个通知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A2EE51F-EF0A-B8F4-B243-D86CDB68DE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7423" y="6215862"/>
            <a:ext cx="675640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40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等待接收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：发送方已经发送出去（调用了发送任务通知函数），等待接收方接收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744D3E4E-5CA6-27FD-B7F4-C2351A2B1E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7423" y="5204625"/>
            <a:ext cx="410368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40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任务未等待通知 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：任务通知默认的初始化状态</a:t>
            </a:r>
          </a:p>
        </p:txBody>
      </p:sp>
    </p:spTree>
    <p:extLst>
      <p:ext uri="{BB962C8B-B14F-4D97-AF65-F5344CB8AC3E}">
        <p14:creationId xmlns:p14="http://schemas.microsoft.com/office/powerpoint/2010/main" val="103234901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  <p:bldP spid="20" grpId="0"/>
      <p:bldP spid="26" grpId="0"/>
      <p:bldP spid="27" grpId="0"/>
      <p:bldP spid="28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85BD9A-E664-E59E-1AA9-082D6D2A4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C3E4C060-7D85-6942-F14A-2594C6729AE2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任务通知</a:t>
            </a:r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EC25923E-3913-E148-9C55-143D8AE2A5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167" y="797738"/>
            <a:ext cx="3900487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，任务通知相关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2">
            <a:extLst>
              <a:ext uri="{FF2B5EF4-FFF2-40B4-BE49-F238E27FC236}">
                <a16:creationId xmlns:a16="http://schemas.microsoft.com/office/drawing/2014/main" id="{C0A6CBCE-EAA1-4645-D5AA-0839A6CD6B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8104" y="1358126"/>
            <a:ext cx="807085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任务通知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API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函数主要有两类：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①发送通知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，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②接收通知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。</a:t>
            </a:r>
            <a:endParaRPr lang="en-US" altLang="zh-CN" sz="14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0" name="文本框 7">
            <a:extLst>
              <a:ext uri="{FF2B5EF4-FFF2-40B4-BE49-F238E27FC236}">
                <a16:creationId xmlns:a16="http://schemas.microsoft.com/office/drawing/2014/main" id="{FC06EDCE-025F-F2BC-148D-6AE64203AC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8104" y="1761351"/>
            <a:ext cx="7923213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注意：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发送通知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API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函数可以用于任务和中断服务函数中；接收通知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API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函数只能用在任务中。</a:t>
            </a:r>
          </a:p>
        </p:txBody>
      </p:sp>
      <p:graphicFrame>
        <p:nvGraphicFramePr>
          <p:cNvPr id="11" name="表格 9">
            <a:extLst>
              <a:ext uri="{FF2B5EF4-FFF2-40B4-BE49-F238E27FC236}">
                <a16:creationId xmlns:a16="http://schemas.microsoft.com/office/drawing/2014/main" id="{5F8BC576-FBC3-8FA3-D973-22B6AF91B0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869866"/>
              </p:ext>
            </p:extLst>
          </p:nvPr>
        </p:nvGraphicFramePr>
        <p:xfrm>
          <a:off x="623667" y="2574151"/>
          <a:ext cx="5489575" cy="23240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19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375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486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函数</a:t>
                      </a:r>
                    </a:p>
                  </a:txBody>
                  <a:tcPr marL="91453" marR="91453" marT="45736" marB="45736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91453" marR="91453" marT="45736" marB="45736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6686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xTaskNotify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3" marR="91453" marT="45736" marB="45736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发送通知，带有通知值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3" marR="91453" marT="45736" marB="45736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872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xTaskNotifyAndQuery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3" marR="91453" marT="45736" marB="45736" anchor="ctr"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发送通知，带有通知值并且保留接收任务的原通知值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3" marR="91453" marT="45736" marB="45736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3494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xTaskNotifyGive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3" marR="91453" marT="45736" marB="45736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发送通知，不带通知值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3" marR="91453" marT="45736" marB="45736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7260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xTaskNotifyFromISR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3" marR="91453" marT="45736" marB="45736" anchor="ctr"/>
                </a:tc>
                <a:tc rowSpan="3"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在中断中发送任务通知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3" marR="91453" marT="45736" marB="45736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1428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xTaskNotifyAndQueryFromISR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3" marR="91453" marT="45736" marB="45736" anchor="ctr"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3494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vTaskNotifyGiveFromISR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3" marR="91453" marT="45736" marB="45736" anchor="ctr"/>
                </a:tc>
                <a:tc v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2" name="文本框 13">
            <a:extLst>
              <a:ext uri="{FF2B5EF4-FFF2-40B4-BE49-F238E27FC236}">
                <a16:creationId xmlns:a16="http://schemas.microsoft.com/office/drawing/2014/main" id="{8B79BD16-EEA0-179D-01E0-2BAE0E9BF1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8104" y="2209026"/>
            <a:ext cx="461803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b="1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①发送通知相关</a:t>
            </a:r>
            <a:r>
              <a:rPr lang="en-US" altLang="zh-CN" sz="1400" b="1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API</a:t>
            </a:r>
            <a:r>
              <a:rPr lang="zh-CN" altLang="en-US" sz="1400" b="1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函数：</a:t>
            </a:r>
            <a:endParaRPr lang="zh-CN" altLang="en-US" sz="1400" b="1">
              <a:solidFill>
                <a:srgbClr val="FF0000"/>
              </a:solidFill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BFFDDFA4-1CA9-C58B-A84A-672E5AB50875}"/>
              </a:ext>
            </a:extLst>
          </p:cNvPr>
          <p:cNvSpPr txBox="1"/>
          <p:nvPr/>
        </p:nvSpPr>
        <p:spPr>
          <a:xfrm>
            <a:off x="7288619" y="2905335"/>
            <a:ext cx="4736804" cy="31272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altLang="zh-CN" sz="1100" b="0" dirty="0">
                <a:solidFill>
                  <a:srgbClr val="A626A4"/>
                </a:solidFill>
                <a:effectLst/>
                <a:latin typeface="Menlo"/>
              </a:rPr>
              <a:t>void</a:t>
            </a:r>
            <a:r>
              <a:rPr lang="en-US" altLang="zh-CN" sz="11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sz="1100" b="0" dirty="0" err="1">
                <a:solidFill>
                  <a:srgbClr val="4078F2"/>
                </a:solidFill>
                <a:effectLst/>
                <a:latin typeface="Menlo"/>
              </a:rPr>
              <a:t>USART_IRQHandler</a:t>
            </a:r>
            <a:r>
              <a:rPr lang="en-US" altLang="zh-CN" sz="1100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altLang="zh-CN" sz="1100" b="0" dirty="0">
                <a:solidFill>
                  <a:srgbClr val="A626A4"/>
                </a:solidFill>
                <a:effectLst/>
                <a:latin typeface="Menlo"/>
              </a:rPr>
              <a:t>void</a:t>
            </a:r>
            <a:r>
              <a:rPr lang="en-US" altLang="zh-CN" sz="1100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altLang="zh-CN" sz="11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sz="1100" b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altLang="zh-CN" sz="1100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altLang="zh-CN" sz="1100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altLang="zh-CN" sz="1100" b="0" dirty="0" err="1">
                <a:solidFill>
                  <a:srgbClr val="0F1115"/>
                </a:solidFill>
                <a:effectLst/>
                <a:latin typeface="Menlo"/>
              </a:rPr>
              <a:t>BaseType_t</a:t>
            </a:r>
            <a:r>
              <a:rPr lang="en-US" altLang="zh-CN" sz="11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sz="1100" b="0" dirty="0" err="1">
                <a:solidFill>
                  <a:srgbClr val="0F1115"/>
                </a:solidFill>
                <a:effectLst/>
                <a:latin typeface="Menlo"/>
              </a:rPr>
              <a:t>xHigherPriorityTaskWoken</a:t>
            </a:r>
            <a:r>
              <a:rPr lang="en-US" altLang="zh-CN" sz="11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sz="1100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altLang="zh-CN" sz="11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sz="1100" b="0" dirty="0" err="1">
                <a:solidFill>
                  <a:srgbClr val="0F1115"/>
                </a:solidFill>
                <a:effectLst/>
                <a:latin typeface="Menlo"/>
              </a:rPr>
              <a:t>pdFALSE</a:t>
            </a:r>
            <a:r>
              <a:rPr lang="en-US" altLang="zh-CN" sz="1100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altLang="zh-CN" sz="11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sz="1100" b="0" i="1" dirty="0">
                <a:solidFill>
                  <a:srgbClr val="A0A1A7"/>
                </a:solidFill>
                <a:effectLst/>
                <a:latin typeface="Menlo"/>
              </a:rPr>
              <a:t>// </a:t>
            </a:r>
            <a:r>
              <a:rPr lang="zh-CN" altLang="en-US" sz="1100" b="0" i="1" dirty="0">
                <a:solidFill>
                  <a:srgbClr val="A0A1A7"/>
                </a:solidFill>
                <a:effectLst/>
                <a:latin typeface="Menlo"/>
              </a:rPr>
              <a:t>先初始化为 </a:t>
            </a:r>
            <a:r>
              <a:rPr lang="en-US" altLang="zh-CN" sz="1100" b="0" i="1" dirty="0" err="1">
                <a:solidFill>
                  <a:srgbClr val="A0A1A7"/>
                </a:solidFill>
                <a:effectLst/>
                <a:latin typeface="Menlo"/>
              </a:rPr>
              <a:t>pdFALSE</a:t>
            </a:r>
            <a:endParaRPr lang="en-US" altLang="zh-CN" sz="1100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altLang="zh-CN" sz="1100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altLang="zh-CN" sz="1100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altLang="zh-CN" sz="1100" b="0" i="1" dirty="0">
                <a:solidFill>
                  <a:srgbClr val="A0A1A7"/>
                </a:solidFill>
                <a:effectLst/>
                <a:latin typeface="Menlo"/>
              </a:rPr>
              <a:t>// ... </a:t>
            </a:r>
            <a:r>
              <a:rPr lang="zh-CN" altLang="en-US" sz="1100" b="0" i="1" dirty="0">
                <a:solidFill>
                  <a:srgbClr val="A0A1A7"/>
                </a:solidFill>
                <a:effectLst/>
                <a:latin typeface="Menlo"/>
              </a:rPr>
              <a:t>处理</a:t>
            </a:r>
            <a:r>
              <a:rPr lang="en-US" altLang="zh-CN" sz="1100" b="0" i="1" dirty="0">
                <a:solidFill>
                  <a:srgbClr val="A0A1A7"/>
                </a:solidFill>
                <a:effectLst/>
                <a:latin typeface="Menlo"/>
              </a:rPr>
              <a:t>USART</a:t>
            </a:r>
            <a:r>
              <a:rPr lang="zh-CN" altLang="en-US" sz="1100" b="0" i="1" dirty="0">
                <a:solidFill>
                  <a:srgbClr val="A0A1A7"/>
                </a:solidFill>
                <a:effectLst/>
                <a:latin typeface="Menlo"/>
              </a:rPr>
              <a:t>中断，比如收到数据 </a:t>
            </a:r>
            <a:r>
              <a:rPr lang="en-US" altLang="zh-CN" sz="1100" b="0" i="1" dirty="0">
                <a:solidFill>
                  <a:srgbClr val="A0A1A7"/>
                </a:solidFill>
                <a:effectLst/>
                <a:latin typeface="Menlo"/>
              </a:rPr>
              <a:t>...</a:t>
            </a:r>
            <a:endParaRPr lang="zh-CN" altLang="en-US" sz="1100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zh-CN" altLang="en-US" sz="1100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zh-CN" altLang="en-US" sz="1100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altLang="zh-CN" sz="1100" b="0" i="1" dirty="0">
                <a:solidFill>
                  <a:srgbClr val="A0A1A7"/>
                </a:solidFill>
                <a:effectLst/>
                <a:latin typeface="Menlo"/>
              </a:rPr>
              <a:t>// </a:t>
            </a:r>
            <a:r>
              <a:rPr lang="zh-CN" altLang="en-US" sz="1100" b="0" i="1" dirty="0">
                <a:solidFill>
                  <a:srgbClr val="A0A1A7"/>
                </a:solidFill>
                <a:effectLst/>
                <a:latin typeface="Menlo"/>
              </a:rPr>
              <a:t>通知任务数据已准备好</a:t>
            </a:r>
            <a:endParaRPr lang="zh-CN" altLang="en-US" sz="1100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zh-CN" altLang="en-US" sz="1100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altLang="zh-CN" sz="1100" b="0" dirty="0" err="1">
                <a:solidFill>
                  <a:srgbClr val="4078F2"/>
                </a:solidFill>
                <a:effectLst/>
                <a:latin typeface="Menlo"/>
              </a:rPr>
              <a:t>xTaskNotifyFromISR</a:t>
            </a:r>
            <a:r>
              <a:rPr lang="en-US" altLang="zh-CN" sz="1100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altLang="zh-CN" sz="11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sz="1100" b="0" dirty="0" err="1">
                <a:solidFill>
                  <a:srgbClr val="0F1115"/>
                </a:solidFill>
                <a:effectLst/>
                <a:latin typeface="Menlo"/>
              </a:rPr>
              <a:t>xHighPriorityTaskHandle</a:t>
            </a:r>
            <a:r>
              <a:rPr lang="en-US" altLang="zh-CN" sz="1100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altLang="zh-CN" sz="11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altLang="zh-CN" sz="1100" b="0" dirty="0">
                <a:solidFill>
                  <a:srgbClr val="0F1115"/>
                </a:solidFill>
                <a:effectLst/>
                <a:latin typeface="Menlo"/>
              </a:rPr>
              <a:t>                        </a:t>
            </a:r>
            <a:r>
              <a:rPr lang="en-US" altLang="zh-CN" sz="1100" b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altLang="zh-CN" sz="1100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altLang="zh-CN" sz="11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altLang="zh-CN" sz="1100" b="0" dirty="0">
                <a:solidFill>
                  <a:srgbClr val="0F1115"/>
                </a:solidFill>
                <a:effectLst/>
                <a:latin typeface="Menlo"/>
              </a:rPr>
              <a:t>                        </a:t>
            </a:r>
            <a:r>
              <a:rPr lang="en-US" altLang="zh-CN" sz="1100" b="0" dirty="0" err="1">
                <a:solidFill>
                  <a:srgbClr val="0F1115"/>
                </a:solidFill>
                <a:effectLst/>
                <a:latin typeface="Menlo"/>
              </a:rPr>
              <a:t>eNoAction</a:t>
            </a:r>
            <a:r>
              <a:rPr lang="en-US" altLang="zh-CN" sz="1100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altLang="zh-CN" sz="11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altLang="zh-CN" sz="1100" b="0" dirty="0">
                <a:solidFill>
                  <a:srgbClr val="0F1115"/>
                </a:solidFill>
                <a:effectLst/>
                <a:latin typeface="Menlo"/>
              </a:rPr>
              <a:t>                        </a:t>
            </a:r>
            <a:r>
              <a:rPr lang="en-US" altLang="zh-CN" sz="1100" b="0" dirty="0">
                <a:solidFill>
                  <a:srgbClr val="4078F2"/>
                </a:solidFill>
                <a:effectLst/>
                <a:latin typeface="Menlo"/>
              </a:rPr>
              <a:t>&amp;</a:t>
            </a:r>
            <a:r>
              <a:rPr lang="en-US" altLang="zh-CN" sz="1100" b="0" dirty="0" err="1">
                <a:solidFill>
                  <a:srgbClr val="0F1115"/>
                </a:solidFill>
                <a:effectLst/>
                <a:latin typeface="Menlo"/>
              </a:rPr>
              <a:t>xHigherPriorityTaskWoken</a:t>
            </a:r>
            <a:r>
              <a:rPr lang="en-US" altLang="zh-CN" sz="1100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altLang="zh-CN" sz="1100" b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altLang="zh-CN" sz="1100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altLang="zh-CN" sz="1100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altLang="zh-CN" sz="1100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altLang="zh-CN" sz="1100" b="0" i="1" dirty="0">
                <a:solidFill>
                  <a:srgbClr val="A0A1A7"/>
                </a:solidFill>
                <a:effectLst/>
                <a:latin typeface="Menlo"/>
              </a:rPr>
              <a:t>// </a:t>
            </a:r>
            <a:r>
              <a:rPr lang="zh-CN" altLang="en-US" sz="1100" b="0" i="1" dirty="0">
                <a:solidFill>
                  <a:srgbClr val="A0A1A7"/>
                </a:solidFill>
                <a:effectLst/>
                <a:latin typeface="Menlo"/>
              </a:rPr>
              <a:t>检查是否需要触发一次上下文切换</a:t>
            </a:r>
            <a:endParaRPr lang="zh-CN" altLang="en-US" sz="1100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zh-CN" altLang="en-US" sz="1100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altLang="zh-CN" sz="1100" b="0" dirty="0" err="1">
                <a:solidFill>
                  <a:srgbClr val="FF0000"/>
                </a:solidFill>
                <a:effectLst/>
                <a:latin typeface="Menlo"/>
              </a:rPr>
              <a:t>portYIELD_FROM_ISR</a:t>
            </a:r>
            <a:r>
              <a:rPr lang="en-US" altLang="zh-CN" sz="1100" b="0" dirty="0">
                <a:solidFill>
                  <a:srgbClr val="FF0000"/>
                </a:solidFill>
                <a:effectLst/>
                <a:latin typeface="Menlo"/>
              </a:rPr>
              <a:t>( </a:t>
            </a:r>
            <a:r>
              <a:rPr lang="en-US" altLang="zh-CN" sz="1100" b="0" dirty="0" err="1">
                <a:solidFill>
                  <a:srgbClr val="FF0000"/>
                </a:solidFill>
                <a:effectLst/>
                <a:latin typeface="Menlo"/>
              </a:rPr>
              <a:t>xHigherPriorityTaskWoken</a:t>
            </a:r>
            <a:r>
              <a:rPr lang="en-US" altLang="zh-CN" sz="1100" b="0" dirty="0">
                <a:solidFill>
                  <a:srgbClr val="FF0000"/>
                </a:solidFill>
                <a:effectLst/>
                <a:latin typeface="Menlo"/>
              </a:rPr>
              <a:t> );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altLang="zh-CN" sz="1100" b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altLang="zh-CN" sz="1100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15" name="箭头: 右 14">
            <a:extLst>
              <a:ext uri="{FF2B5EF4-FFF2-40B4-BE49-F238E27FC236}">
                <a16:creationId xmlns:a16="http://schemas.microsoft.com/office/drawing/2014/main" id="{E14FBE99-AAFB-7397-6FE1-FCF42045BE62}"/>
              </a:ext>
            </a:extLst>
          </p:cNvPr>
          <p:cNvSpPr/>
          <p:nvPr/>
        </p:nvSpPr>
        <p:spPr>
          <a:xfrm>
            <a:off x="6113242" y="4316819"/>
            <a:ext cx="1175377" cy="7974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B6049248-7217-D683-727C-B05EFC28F162}"/>
              </a:ext>
            </a:extLst>
          </p:cNvPr>
          <p:cNvSpPr txBox="1"/>
          <p:nvPr/>
        </p:nvSpPr>
        <p:spPr>
          <a:xfrm>
            <a:off x="480128" y="5403075"/>
            <a:ext cx="64523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solidFill>
                  <a:srgbClr val="002060"/>
                </a:solidFill>
                <a:ea typeface="思源黑体 CN Normal" panose="020B0400000000000000" pitchFamily="34" charset="-122"/>
              </a:rPr>
              <a:t>ISR</a:t>
            </a:r>
            <a:r>
              <a:rPr lang="zh-CN" altLang="en-US" sz="1400" dirty="0">
                <a:solidFill>
                  <a:srgbClr val="002060"/>
                </a:solidFill>
                <a:ea typeface="思源黑体 CN Normal" panose="020B0400000000000000" pitchFamily="34" charset="-122"/>
              </a:rPr>
              <a:t>函数即将退出时，你需要检查这个变量的值。如果它是 </a:t>
            </a:r>
            <a:r>
              <a:rPr lang="en-US" altLang="zh-CN" sz="1400" dirty="0" err="1">
                <a:solidFill>
                  <a:srgbClr val="002060"/>
                </a:solidFill>
                <a:ea typeface="思源黑体 CN Normal" panose="020B0400000000000000" pitchFamily="34" charset="-122"/>
              </a:rPr>
              <a:t>pdTRUE</a:t>
            </a:r>
            <a:r>
              <a:rPr lang="zh-CN" altLang="en-US" sz="1400" dirty="0">
                <a:solidFill>
                  <a:srgbClr val="002060"/>
                </a:solidFill>
                <a:ea typeface="思源黑体 CN Normal" panose="020B0400000000000000" pitchFamily="34" charset="-122"/>
              </a:rPr>
              <a:t>，你就需要调用 </a:t>
            </a:r>
            <a:r>
              <a:rPr lang="en-US" altLang="zh-CN" sz="1400" dirty="0" err="1">
                <a:solidFill>
                  <a:srgbClr val="002060"/>
                </a:solidFill>
                <a:ea typeface="思源黑体 CN Normal" panose="020B0400000000000000" pitchFamily="34" charset="-122"/>
              </a:rPr>
              <a:t>portYIELD_FROM_ISR</a:t>
            </a:r>
            <a:r>
              <a:rPr lang="en-US" altLang="zh-CN" sz="1400" dirty="0">
                <a:solidFill>
                  <a:srgbClr val="002060"/>
                </a:solidFill>
                <a:ea typeface="思源黑体 CN Normal" panose="020B0400000000000000" pitchFamily="34" charset="-122"/>
              </a:rPr>
              <a:t>()</a:t>
            </a:r>
            <a:r>
              <a:rPr lang="zh-CN" altLang="en-US" sz="1400" dirty="0">
                <a:solidFill>
                  <a:srgbClr val="002060"/>
                </a:solidFill>
                <a:ea typeface="思源黑体 CN Normal" panose="020B0400000000000000" pitchFamily="34" charset="-122"/>
              </a:rPr>
              <a:t> 来请求一次上下文切换。这样，一旦中断结束，系统会立即切换到那个更高优先级的任务，而不是回到被中断的任务。</a:t>
            </a:r>
          </a:p>
        </p:txBody>
      </p:sp>
    </p:spTree>
    <p:extLst>
      <p:ext uri="{BB962C8B-B14F-4D97-AF65-F5344CB8AC3E}">
        <p14:creationId xmlns:p14="http://schemas.microsoft.com/office/powerpoint/2010/main" val="400210853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2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D8BD59-41AA-B71B-AD1B-70A2AF767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17A0E22A-8786-87EC-EF84-7C19818B6903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任务通知</a:t>
            </a:r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96BC3DDF-52D1-E216-690E-2256B44FBC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5654" y="866848"/>
            <a:ext cx="3900487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，任务通知相关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grpSp>
        <p:nvGrpSpPr>
          <p:cNvPr id="9" name="组合 15">
            <a:extLst>
              <a:ext uri="{FF2B5EF4-FFF2-40B4-BE49-F238E27FC236}">
                <a16:creationId xmlns:a16="http://schemas.microsoft.com/office/drawing/2014/main" id="{1736AC9E-37B2-FC05-6130-ECC26957CB0A}"/>
              </a:ext>
            </a:extLst>
          </p:cNvPr>
          <p:cNvGrpSpPr>
            <a:grpSpLocks/>
          </p:cNvGrpSpPr>
          <p:nvPr/>
        </p:nvGrpSpPr>
        <p:grpSpPr bwMode="auto">
          <a:xfrm>
            <a:off x="1056154" y="1330398"/>
            <a:ext cx="9889230" cy="1990725"/>
            <a:chOff x="295564" y="1242657"/>
            <a:chExt cx="9887629" cy="1989969"/>
          </a:xfrm>
        </p:grpSpPr>
        <p:sp>
          <p:nvSpPr>
            <p:cNvPr id="10" name="文本框 7">
              <a:extLst>
                <a:ext uri="{FF2B5EF4-FFF2-40B4-BE49-F238E27FC236}">
                  <a16:creationId xmlns:a16="http://schemas.microsoft.com/office/drawing/2014/main" id="{52108F61-7012-1EAC-173A-6AF4BC5E878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193" y="1242657"/>
              <a:ext cx="9426657" cy="17210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xTaskNotifyAndQuery( xTaskToNotify ,  ulValue ,  eAction ,  pulPreviousNotifyValue  )</a:t>
              </a:r>
              <a:endPara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xTaskGenericNotify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( xTaskToNotify ), </a:t>
              </a:r>
              <a:endPara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tskDEFAULT_INDEX_TO_NOTIFY ), </a:t>
              </a:r>
              <a:endPara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ulValue ), </a:t>
              </a:r>
              <a:endPara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eAction ),</a:t>
              </a:r>
              <a:endPara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pulPreviousNotifyValue ) )</a:t>
              </a: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87C2B2CE-D611-3FD3-DB36-61CC7E0F1AEA}"/>
                </a:ext>
              </a:extLst>
            </p:cNvPr>
            <p:cNvSpPr/>
            <p:nvPr/>
          </p:nvSpPr>
          <p:spPr>
            <a:xfrm>
              <a:off x="295564" y="1255352"/>
              <a:ext cx="9887629" cy="1977274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grpSp>
        <p:nvGrpSpPr>
          <p:cNvPr id="12" name="组合 18">
            <a:extLst>
              <a:ext uri="{FF2B5EF4-FFF2-40B4-BE49-F238E27FC236}">
                <a16:creationId xmlns:a16="http://schemas.microsoft.com/office/drawing/2014/main" id="{4A6A9170-53E6-6E2C-0E3D-84D090AC7992}"/>
              </a:ext>
            </a:extLst>
          </p:cNvPr>
          <p:cNvGrpSpPr>
            <a:grpSpLocks/>
          </p:cNvGrpSpPr>
          <p:nvPr/>
        </p:nvGrpSpPr>
        <p:grpSpPr bwMode="auto">
          <a:xfrm>
            <a:off x="1072028" y="3413197"/>
            <a:ext cx="10267913" cy="1137536"/>
            <a:chOff x="295564" y="3283172"/>
            <a:chExt cx="8996363" cy="1136504"/>
          </a:xfrm>
        </p:grpSpPr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1C6CAEAA-E037-1311-6180-D5DFBB07F3A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5564" y="3283172"/>
              <a:ext cx="8996363" cy="61767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xTaskNotify  (  xTaskToNotify ,  ulValue ,  eAction  )</a:t>
              </a:r>
              <a:endPara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xTaskGenericNotify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 ( xTaskToNotify ) ,  ( tskDEFAULT_INDEX_TO_NOTIFY ) ,  ( ulValue ) ,  ( eAction ) ,  NULL  )</a:t>
              </a: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A93E88DC-492E-58B3-89CB-C0C0335D08A3}"/>
                </a:ext>
              </a:extLst>
            </p:cNvPr>
            <p:cNvSpPr/>
            <p:nvPr/>
          </p:nvSpPr>
          <p:spPr>
            <a:xfrm>
              <a:off x="295564" y="3283172"/>
              <a:ext cx="8664576" cy="1136504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grpSp>
        <p:nvGrpSpPr>
          <p:cNvPr id="15" name="组合 19">
            <a:extLst>
              <a:ext uri="{FF2B5EF4-FFF2-40B4-BE49-F238E27FC236}">
                <a16:creationId xmlns:a16="http://schemas.microsoft.com/office/drawing/2014/main" id="{D704282C-2AEF-21B8-C306-47804FA7C26F}"/>
              </a:ext>
            </a:extLst>
          </p:cNvPr>
          <p:cNvGrpSpPr>
            <a:grpSpLocks/>
          </p:cNvGrpSpPr>
          <p:nvPr/>
        </p:nvGrpSpPr>
        <p:grpSpPr bwMode="auto">
          <a:xfrm>
            <a:off x="1029726" y="4641519"/>
            <a:ext cx="9957717" cy="1317145"/>
            <a:chOff x="269135" y="4441386"/>
            <a:chExt cx="9958045" cy="1319077"/>
          </a:xfrm>
        </p:grpSpPr>
        <p:sp>
          <p:nvSpPr>
            <p:cNvPr id="16" name="文本框 14">
              <a:extLst>
                <a:ext uri="{FF2B5EF4-FFF2-40B4-BE49-F238E27FC236}">
                  <a16:creationId xmlns:a16="http://schemas.microsoft.com/office/drawing/2014/main" id="{332CA215-9ADB-0EDB-1152-1D51C91F82F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196" y="4541769"/>
              <a:ext cx="9915984" cy="61459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xTaskNotifyGive(  xTaskToNotify  )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	</a:t>
              </a: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xTaskGenericNotify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 ( xTaskToNotify ) ,  ( tskDEFAULT_INDEX_TO_NOTIFY ) ,  ( 0 ) ,   eIncrement ,  NULL )</a:t>
              </a:r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3AB44891-44BA-9CC5-03B1-C46A609E6D1C}"/>
                </a:ext>
              </a:extLst>
            </p:cNvPr>
            <p:cNvSpPr/>
            <p:nvPr/>
          </p:nvSpPr>
          <p:spPr>
            <a:xfrm>
              <a:off x="269135" y="4441386"/>
              <a:ext cx="9915984" cy="1319077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71763518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17D4F-51B8-49BC-357D-FD8A4FC4E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8E4FF8B8-D6BE-4AED-D6A6-2C7647E44710}"/>
              </a:ext>
            </a:extLst>
          </p:cNvPr>
          <p:cNvSpPr txBox="1"/>
          <p:nvPr/>
        </p:nvSpPr>
        <p:spPr>
          <a:xfrm>
            <a:off x="122814" y="178356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任务通知</a:t>
            </a:r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E7C5AAD4-B59E-7660-320E-09DF2F6ECD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15585" y="645190"/>
            <a:ext cx="3900487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，任务通知相关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grpSp>
        <p:nvGrpSpPr>
          <p:cNvPr id="9" name="组合 9">
            <a:extLst>
              <a:ext uri="{FF2B5EF4-FFF2-40B4-BE49-F238E27FC236}">
                <a16:creationId xmlns:a16="http://schemas.microsoft.com/office/drawing/2014/main" id="{09E68F13-54E3-8900-7D9D-E754498857E0}"/>
              </a:ext>
            </a:extLst>
          </p:cNvPr>
          <p:cNvGrpSpPr>
            <a:grpSpLocks/>
          </p:cNvGrpSpPr>
          <p:nvPr/>
        </p:nvGrpSpPr>
        <p:grpSpPr bwMode="auto">
          <a:xfrm>
            <a:off x="1479135" y="1167477"/>
            <a:ext cx="9734290" cy="1710253"/>
            <a:chOff x="600364" y="1086401"/>
            <a:chExt cx="7920181" cy="1485349"/>
          </a:xfrm>
        </p:grpSpPr>
        <p:sp>
          <p:nvSpPr>
            <p:cNvPr id="10" name="文本框 7">
              <a:extLst>
                <a:ext uri="{FF2B5EF4-FFF2-40B4-BE49-F238E27FC236}">
                  <a16:creationId xmlns:a16="http://schemas.microsoft.com/office/drawing/2014/main" id="{6855FAFE-82A1-2B43-E9A9-D817129CDCE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3454" y="1086401"/>
              <a:ext cx="7897091" cy="125470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BaseType_t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xTaskGenericNotify(  TaskHandle_t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xTaskToNotify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</a:t>
              </a: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                          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   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UBaseType_t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uxIndexToNotify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</a:t>
              </a: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                          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   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uint32_t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ulValue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</a:t>
              </a: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                          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   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eNotifyAction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eAction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</a:t>
              </a: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                         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  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uint32_t *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pulPreviousNotificationValue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)</a:t>
              </a: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36180853-26F3-FACD-A062-EC7D183A8EE0}"/>
                </a:ext>
              </a:extLst>
            </p:cNvPr>
            <p:cNvSpPr/>
            <p:nvPr/>
          </p:nvSpPr>
          <p:spPr>
            <a:xfrm>
              <a:off x="600364" y="1086401"/>
              <a:ext cx="7804314" cy="1485349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graphicFrame>
        <p:nvGraphicFramePr>
          <p:cNvPr id="12" name="表格 13">
            <a:extLst>
              <a:ext uri="{FF2B5EF4-FFF2-40B4-BE49-F238E27FC236}">
                <a16:creationId xmlns:a16="http://schemas.microsoft.com/office/drawing/2014/main" id="{8360DC44-A03F-ADF1-43AD-1A1D760DBE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0722048"/>
              </p:ext>
            </p:extLst>
          </p:nvPr>
        </p:nvGraphicFramePr>
        <p:xfrm>
          <a:off x="2789814" y="2949731"/>
          <a:ext cx="6130925" cy="1554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8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871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9027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形参</a:t>
                      </a:r>
                    </a:p>
                  </a:txBody>
                  <a:tcPr marL="91444" marR="91444" marT="45694" marB="4569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91444" marR="91444" marT="45694" marB="4569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9027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xTaskToNotify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4" marR="91444" marT="45694" marB="45694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接收任务通知的</a:t>
                      </a:r>
                      <a:r>
                        <a:rPr lang="zh-CN" altLang="en-US" sz="1100" b="1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任务句柄</a:t>
                      </a:r>
                      <a:endParaRPr lang="zh-CN" altLang="en-US" sz="1300" b="1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4" marR="91444" marT="45694" marB="4569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027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uxIndexToNotify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4" marR="91444" marT="45694" marB="45694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任务的指定通知（任务通知相关数组成员）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4" marR="91444" marT="45694" marB="4569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027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ulValue </a:t>
                      </a:r>
                      <a:endParaRPr lang="en-US" sz="13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4" marR="91444" marT="45694" marB="45694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1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任务通知值</a:t>
                      </a:r>
                      <a:endParaRPr lang="zh-CN" altLang="en-US" sz="1300" b="1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4" marR="91444" marT="45694" marB="45694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027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eAction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4" marR="91444" marT="45694" marB="45694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通知方式（通知值更新方式）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4" marR="91444" marT="45694" marB="45694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9027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pulPreviousNotificationValue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4" marR="91444" marT="45694" marB="45694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用于保存更新前的任务通知值（为</a:t>
                      </a:r>
                      <a:r>
                        <a:rPr lang="en-US" altLang="zh-CN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NULL</a:t>
                      </a: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则不保存）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4" marR="91444" marT="45694" marB="45694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5" name="组合 2">
            <a:extLst>
              <a:ext uri="{FF2B5EF4-FFF2-40B4-BE49-F238E27FC236}">
                <a16:creationId xmlns:a16="http://schemas.microsoft.com/office/drawing/2014/main" id="{4E9CA611-2E09-42F1-B81E-F4CBC965F6C2}"/>
              </a:ext>
            </a:extLst>
          </p:cNvPr>
          <p:cNvGrpSpPr>
            <a:grpSpLocks/>
          </p:cNvGrpSpPr>
          <p:nvPr/>
        </p:nvGrpSpPr>
        <p:grpSpPr bwMode="auto">
          <a:xfrm>
            <a:off x="2498898" y="4575900"/>
            <a:ext cx="7809984" cy="2287588"/>
            <a:chOff x="655782" y="1500181"/>
            <a:chExt cx="7807647" cy="2286728"/>
          </a:xfrm>
        </p:grpSpPr>
        <p:sp>
          <p:nvSpPr>
            <p:cNvPr id="16" name="文本框 14">
              <a:extLst>
                <a:ext uri="{FF2B5EF4-FFF2-40B4-BE49-F238E27FC236}">
                  <a16:creationId xmlns:a16="http://schemas.microsoft.com/office/drawing/2014/main" id="{93C5FD87-153A-1A15-5730-E9300175048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7522" y="1500181"/>
              <a:ext cx="7785907" cy="22748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typedef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enum</a:t>
              </a:r>
              <a:endPara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{    </a:t>
              </a:r>
              <a:endPara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eNoAction = 0,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无操作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</a:p>
            <a:p>
              <a:pPr>
                <a:lnSpc>
                  <a:spcPct val="150000"/>
                </a:lnSpc>
              </a:pP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eSetBits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更新指定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bit */</a:t>
              </a:r>
            </a:p>
            <a:p>
              <a:pPr>
                <a:lnSpc>
                  <a:spcPct val="150000"/>
                </a:lnSpc>
              </a:pP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eIncrement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通知值加一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eSetValueWithOverwrite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覆写的方式更新通知值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</a:p>
            <a:p>
              <a:pPr>
                <a:lnSpc>
                  <a:spcPct val="150000"/>
                </a:lnSpc>
              </a:pP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en-US" altLang="zh-CN" sz="12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eSetValueWithoutOverwrite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不覆写通知值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} eNotifyAction;</a:t>
              </a:r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CEFE89C6-728C-F85A-A16E-9DD46C2671F9}"/>
                </a:ext>
              </a:extLst>
            </p:cNvPr>
            <p:cNvSpPr/>
            <p:nvPr/>
          </p:nvSpPr>
          <p:spPr>
            <a:xfrm>
              <a:off x="655782" y="1500181"/>
              <a:ext cx="6718135" cy="2286728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29374847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A4161-2897-2907-742E-AEA412FE2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B231F79A-0C4B-9AEE-173A-907CE00D52E6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任务通知</a:t>
            </a:r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421346D2-880C-E36D-C0C2-626CAE5CFD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50126" y="1441007"/>
            <a:ext cx="3900487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，任务通知相关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graphicFrame>
        <p:nvGraphicFramePr>
          <p:cNvPr id="9" name="表格 9">
            <a:extLst>
              <a:ext uri="{FF2B5EF4-FFF2-40B4-BE49-F238E27FC236}">
                <a16:creationId xmlns:a16="http://schemas.microsoft.com/office/drawing/2014/main" id="{E32C72DF-683E-9664-A6A9-789DC94CBC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5864448"/>
              </p:ext>
            </p:extLst>
          </p:nvPr>
        </p:nvGraphicFramePr>
        <p:xfrm>
          <a:off x="1932726" y="2330007"/>
          <a:ext cx="7877175" cy="18700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89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182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479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函数</a:t>
                      </a:r>
                    </a:p>
                  </a:txBody>
                  <a:tcPr marL="91427" marR="91427" marT="45715" marB="45715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91427" marR="91427" marT="45715" marB="4571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22727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ulTaskNotifyTake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7" marR="91427" marT="45715" marB="4571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zh-CN" alt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获取任务通知，可以设置在退出此函数的时候将任务通知值清零或者减一。</a:t>
                      </a:r>
                      <a:endParaRPr lang="en-US" altLang="zh-CN" sz="1200" b="0" i="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zh-CN" alt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当任务通知用作二值信号量或者计数信号量的时候，使用此函数来获取信号量。</a:t>
                      </a:r>
                      <a:endParaRPr lang="zh-CN" altLang="en-US" sz="16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7" marR="91427" marT="45715" marB="4571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2558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xTaskNotifyWait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7" marR="91427" marT="45715" marB="4571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zh-CN" alt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获取任务通知，比 </a:t>
                      </a:r>
                      <a:r>
                        <a:rPr lang="en-US" altLang="zh-CN" sz="12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ulTaskNotifyTak</a:t>
                      </a:r>
                      <a:r>
                        <a:rPr lang="en-US" altLang="zh-CN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</a:t>
                      </a:r>
                      <a:r>
                        <a:rPr lang="zh-CN" altLang="en-US" sz="12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更为复杂，可获取通知值和清除通知值的指定位</a:t>
                      </a:r>
                      <a:endParaRPr lang="zh-CN" altLang="en-US" sz="16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7" marR="91427" marT="45715" marB="4571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文本框 13">
            <a:extLst>
              <a:ext uri="{FF2B5EF4-FFF2-40B4-BE49-F238E27FC236}">
                <a16:creationId xmlns:a16="http://schemas.microsoft.com/office/drawing/2014/main" id="{4EDEF048-4CF3-169D-4ADA-B891016052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0013" y="1963295"/>
            <a:ext cx="46196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b="1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②接收通知相关</a:t>
            </a:r>
            <a:r>
              <a:rPr lang="en-US" altLang="zh-CN" sz="1400" b="1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API</a:t>
            </a:r>
            <a:r>
              <a:rPr lang="zh-CN" altLang="en-US" sz="1400" b="1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函数：</a:t>
            </a:r>
            <a:endParaRPr lang="zh-CN" altLang="en-US" sz="1400" b="1" dirty="0">
              <a:solidFill>
                <a:srgbClr val="FF0000"/>
              </a:solidFill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EF1381E-7D7F-0672-46F4-FA62C16BC3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2726" y="4482657"/>
            <a:ext cx="72390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总结：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48C1DA1-549F-B69A-2159-D332EF2B49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2726" y="4870007"/>
            <a:ext cx="5265737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当任务通知用作于信号量时，使用函数获取信号量：</a:t>
            </a:r>
            <a:r>
              <a:rPr lang="en-US" altLang="zh-CN" sz="12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ulTaskNotifyTake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()</a:t>
            </a:r>
            <a:endParaRPr lang="zh-CN" altLang="en-US" sz="12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1F683F2-1BAC-75E2-D5E0-CB247FBA9F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2726" y="5201795"/>
            <a:ext cx="5837237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当任务通知用作于事件标志组或队列时，使用此函数来获取：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en-US" altLang="zh-CN" sz="12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xTaskNotifyWait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()</a:t>
            </a:r>
            <a:endParaRPr lang="zh-CN" altLang="en-US" sz="12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117387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3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1DC46-9069-ACFC-D17F-568671403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0BD9184F-AE33-B317-15B0-F8E602904F8C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任务通知</a:t>
            </a:r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2" name="文本框 9">
            <a:extLst>
              <a:ext uri="{FF2B5EF4-FFF2-40B4-BE49-F238E27FC236}">
                <a16:creationId xmlns:a16="http://schemas.microsoft.com/office/drawing/2014/main" id="{CA5C519F-7D4F-F256-6F96-EB45F102CF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83033" y="754911"/>
            <a:ext cx="3900487" cy="465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，任务通知相关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grpSp>
        <p:nvGrpSpPr>
          <p:cNvPr id="3" name="组合 9">
            <a:extLst>
              <a:ext uri="{FF2B5EF4-FFF2-40B4-BE49-F238E27FC236}">
                <a16:creationId xmlns:a16="http://schemas.microsoft.com/office/drawing/2014/main" id="{7FA49BC5-D288-61EB-B6FD-4884A4851911}"/>
              </a:ext>
            </a:extLst>
          </p:cNvPr>
          <p:cNvGrpSpPr>
            <a:grpSpLocks/>
          </p:cNvGrpSpPr>
          <p:nvPr/>
        </p:nvGrpSpPr>
        <p:grpSpPr bwMode="auto">
          <a:xfrm>
            <a:off x="2046583" y="1420074"/>
            <a:ext cx="8889003" cy="1530462"/>
            <a:chOff x="600364" y="1086400"/>
            <a:chExt cx="8887383" cy="1951810"/>
          </a:xfrm>
        </p:grpSpPr>
        <p:sp>
          <p:nvSpPr>
            <p:cNvPr id="4" name="文本框 7">
              <a:extLst>
                <a:ext uri="{FF2B5EF4-FFF2-40B4-BE49-F238E27FC236}">
                  <a16:creationId xmlns:a16="http://schemas.microsoft.com/office/drawing/2014/main" id="{B7B15E10-A987-B215-D279-24B21B759C6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3454" y="1086401"/>
              <a:ext cx="7897091" cy="14457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</a:t>
              </a:r>
              <a:r>
                <a:rPr lang="en-US" altLang="zh-CN" sz="12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ulTaskNotifyTake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xClearCountOnExit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   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xTicksToWait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) 			</a:t>
              </a:r>
            </a:p>
            <a:p>
              <a:pPr>
                <a:lnSpc>
                  <a:spcPct val="150000"/>
                </a:lnSpc>
              </a:pPr>
              <a:b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ulTaskGenericNotifyTake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( 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tskDEFAULT_INDEX_TO_NOTIFY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),			</a:t>
              </a:r>
              <a:b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 ( 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xClearCountOnExit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), 					</a:t>
              </a:r>
              <a:b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 ( 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xTicksToWait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) ) </a:t>
              </a:r>
              <a:endPara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9E83171A-7764-F3ED-75A5-7F26B678E08E}"/>
                </a:ext>
              </a:extLst>
            </p:cNvPr>
            <p:cNvSpPr/>
            <p:nvPr/>
          </p:nvSpPr>
          <p:spPr>
            <a:xfrm>
              <a:off x="600364" y="1086400"/>
              <a:ext cx="8887383" cy="1951810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graphicFrame>
        <p:nvGraphicFramePr>
          <p:cNvPr id="6" name="表格 13">
            <a:extLst>
              <a:ext uri="{FF2B5EF4-FFF2-40B4-BE49-F238E27FC236}">
                <a16:creationId xmlns:a16="http://schemas.microsoft.com/office/drawing/2014/main" id="{743DAA18-3AAC-98A6-673E-CF399C82AC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2941637"/>
              </p:ext>
            </p:extLst>
          </p:nvPr>
        </p:nvGraphicFramePr>
        <p:xfrm>
          <a:off x="3115155" y="3637701"/>
          <a:ext cx="5514975" cy="15176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43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06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655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形参</a:t>
                      </a:r>
                    </a:p>
                  </a:txBody>
                  <a:tcPr marL="91447" marR="91447" marT="45607" marB="45607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91447" marR="91447" marT="45607" marB="45607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6554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uxIndexToWaitOn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7" marR="91447" marT="45607" marB="45607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任务的指定通知（任务通知相关数组成员）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7" marR="91447" marT="45607" marB="45607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7989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xClearCountOnExit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7" marR="91447" marT="45607" marB="45607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指定在成功接收通知后，将通知值清零或减 </a:t>
                      </a:r>
                      <a:r>
                        <a:rPr lang="en-US" altLang="zh-CN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1</a:t>
                      </a: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，</a:t>
                      </a:r>
                      <a:endParaRPr lang="en-US" altLang="zh-CN" sz="1100" b="0" i="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altLang="zh-CN" sz="1100" b="0" i="0" kern="120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+mn-cs"/>
                        </a:rPr>
                        <a:t>pdTRUE</a:t>
                      </a:r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+mn-cs"/>
                        </a:rPr>
                        <a:t>：把通知值清零；</a:t>
                      </a:r>
                      <a:r>
                        <a:rPr lang="en-US" altLang="zh-CN" sz="1100" b="0" i="0" kern="120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+mn-cs"/>
                        </a:rPr>
                        <a:t>pdFALSE</a:t>
                      </a:r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+mn-cs"/>
                        </a:rPr>
                        <a:t>：把通知值减一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7" marR="91447" marT="45607" marB="45607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6554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xTicksToWait </a:t>
                      </a:r>
                      <a:endParaRPr lang="en-US" sz="13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7" marR="91447" marT="45607" marB="45607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阻塞等待任务通知值的最大时间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7" marR="91447" marT="45607" marB="45607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8C7A3594-EDEC-E76E-FCDE-0F43062E10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3814159"/>
              </p:ext>
            </p:extLst>
          </p:nvPr>
        </p:nvGraphicFramePr>
        <p:xfrm>
          <a:off x="3115155" y="5288701"/>
          <a:ext cx="5514975" cy="8588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43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06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677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返回值</a:t>
                      </a:r>
                    </a:p>
                  </a:txBody>
                  <a:tcPr marL="91447" marR="91447" marT="45704" marB="45704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91447" marR="91447" marT="45704" marB="4570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1034">
                <a:tc>
                  <a:txBody>
                    <a:bodyPr/>
                    <a:lstStyle/>
                    <a:p>
                      <a:r>
                        <a:rPr lang="en-US" altLang="zh-CN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0 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7" marR="91447" marT="45704" marB="45704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接收失败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7" marR="91447" marT="45704" marB="4570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1034"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非 </a:t>
                      </a:r>
                      <a:r>
                        <a:rPr lang="en-US" altLang="zh-CN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0 </a:t>
                      </a:r>
                      <a:endParaRPr lang="zh-CN" altLang="en-US" sz="13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7" marR="91447" marT="45704" marB="45704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接收成功，返回任务通知的通知值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7" marR="91447" marT="45704" marB="4570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文本框 15">
            <a:extLst>
              <a:ext uri="{FF2B5EF4-FFF2-40B4-BE49-F238E27FC236}">
                <a16:creationId xmlns:a16="http://schemas.microsoft.com/office/drawing/2014/main" id="{0603CF20-46A0-1B24-4B4E-13C123815A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16187" y="3270508"/>
            <a:ext cx="762000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此函数用于</a:t>
            </a:r>
            <a:r>
              <a:rPr lang="zh-CN" altLang="en-US" sz="1400" b="1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接收任务通知值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，可以设置在退出此函数的时候将任务通知值清零或者减一</a:t>
            </a:r>
          </a:p>
        </p:txBody>
      </p:sp>
    </p:spTree>
    <p:extLst>
      <p:ext uri="{BB962C8B-B14F-4D97-AF65-F5344CB8AC3E}">
        <p14:creationId xmlns:p14="http://schemas.microsoft.com/office/powerpoint/2010/main" val="755338663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7DC9E-62E1-44CC-2C34-2A7CF780E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60C6FC9A-2632-032A-C02C-15384D7F66A4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任务通知</a:t>
            </a:r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335E67A3-259E-EEB0-01CC-9B2C2C3F40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8983" y="967858"/>
            <a:ext cx="3900487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，任务通知相关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grpSp>
        <p:nvGrpSpPr>
          <p:cNvPr id="9" name="组合 9">
            <a:extLst>
              <a:ext uri="{FF2B5EF4-FFF2-40B4-BE49-F238E27FC236}">
                <a16:creationId xmlns:a16="http://schemas.microsoft.com/office/drawing/2014/main" id="{60945131-08C9-F8FC-B5AE-C376091D07AA}"/>
              </a:ext>
            </a:extLst>
          </p:cNvPr>
          <p:cNvGrpSpPr>
            <a:grpSpLocks/>
          </p:cNvGrpSpPr>
          <p:nvPr/>
        </p:nvGrpSpPr>
        <p:grpSpPr bwMode="auto">
          <a:xfrm>
            <a:off x="1972045" y="1431408"/>
            <a:ext cx="8665830" cy="3363876"/>
            <a:chOff x="600364" y="1086400"/>
            <a:chExt cx="8665986" cy="3362617"/>
          </a:xfrm>
        </p:grpSpPr>
        <p:sp>
          <p:nvSpPr>
            <p:cNvPr id="10" name="文本框 7">
              <a:extLst>
                <a:ext uri="{FF2B5EF4-FFF2-40B4-BE49-F238E27FC236}">
                  <a16:creationId xmlns:a16="http://schemas.microsoft.com/office/drawing/2014/main" id="{AA2E4DC8-B36B-C134-535A-272B9EB0E8D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3454" y="1086401"/>
              <a:ext cx="7897091" cy="25517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</a:t>
              </a:r>
              <a:r>
                <a:rPr lang="en-US" altLang="zh-CN" sz="12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xTaskNotifyWait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	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ulBitsToClearOnEntry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 			</a:t>
              </a:r>
              <a:b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ulBitsToClearOnExit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 			</a:t>
              </a:r>
              <a:b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pulNotificationValue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 			</a:t>
              </a:r>
              <a:b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xTicksToWait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) 				</a:t>
              </a:r>
              <a:b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xTaskGenericNotifyWait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	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tskDEFAULT_INDEX_TO_NOTIFY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 	</a:t>
              </a:r>
              <a:b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( 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ulBitsToClearOnEntry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), 			</a:t>
              </a:r>
              <a:b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( 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ulBitsToClearOnExit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), 							( 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pulNotificationValue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), 							( 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xTicksToWait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)               )</a:t>
              </a:r>
              <a:r>
                <a:rPr lang="en-US" altLang="zh-CN" sz="1200" dirty="0"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  <a:endParaRPr lang="zh-CN" altLang="en-US" sz="1200" dirty="0"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D5955270-C307-1A78-486E-82F0CCDEB17B}"/>
                </a:ext>
              </a:extLst>
            </p:cNvPr>
            <p:cNvSpPr/>
            <p:nvPr/>
          </p:nvSpPr>
          <p:spPr>
            <a:xfrm>
              <a:off x="600364" y="1086400"/>
              <a:ext cx="8665986" cy="3362617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sp>
        <p:nvSpPr>
          <p:cNvPr id="12" name="文本框 12">
            <a:extLst>
              <a:ext uri="{FF2B5EF4-FFF2-40B4-BE49-F238E27FC236}">
                <a16:creationId xmlns:a16="http://schemas.microsoft.com/office/drawing/2014/main" id="{357AEBA8-106A-08C7-688A-D849CE34D5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5696" y="4926068"/>
            <a:ext cx="8397875" cy="341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此函数用于获取通知值和清除通知值的指定位值，适用于</a:t>
            </a:r>
            <a:r>
              <a:rPr lang="zh-CN" altLang="en-US" sz="1200" b="1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模拟队列和事件标志组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，使用该函数来获取任务通知 。 </a:t>
            </a:r>
          </a:p>
        </p:txBody>
      </p:sp>
    </p:spTree>
    <p:extLst>
      <p:ext uri="{BB962C8B-B14F-4D97-AF65-F5344CB8AC3E}">
        <p14:creationId xmlns:p14="http://schemas.microsoft.com/office/powerpoint/2010/main" val="334668823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503DD-8D5D-2831-DEFA-1FBA59B5D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9A63A6A9-6B4D-9652-9BA9-5BD116F9A5AD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任务通知</a:t>
            </a:r>
            <a:endParaRPr lang="zh-CN" altLang="en-US" dirty="0">
              <a:latin typeface="Arial" panose="020B0604020202020204" pitchFamily="34" charset="0"/>
            </a:endParaRPr>
          </a:p>
        </p:txBody>
      </p:sp>
      <p:sp>
        <p:nvSpPr>
          <p:cNvPr id="3" name="文本框 9">
            <a:extLst>
              <a:ext uri="{FF2B5EF4-FFF2-40B4-BE49-F238E27FC236}">
                <a16:creationId xmlns:a16="http://schemas.microsoft.com/office/drawing/2014/main" id="{12B20B6F-000C-381D-F37D-2FB47DAFC9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22536" y="695325"/>
            <a:ext cx="3900487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，任务通知相关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grpSp>
        <p:nvGrpSpPr>
          <p:cNvPr id="4" name="组合 9">
            <a:extLst>
              <a:ext uri="{FF2B5EF4-FFF2-40B4-BE49-F238E27FC236}">
                <a16:creationId xmlns:a16="http://schemas.microsoft.com/office/drawing/2014/main" id="{01785C73-CD7F-44A1-5E01-027A35FB232B}"/>
              </a:ext>
            </a:extLst>
          </p:cNvPr>
          <p:cNvGrpSpPr>
            <a:grpSpLocks/>
          </p:cNvGrpSpPr>
          <p:nvPr/>
        </p:nvGrpSpPr>
        <p:grpSpPr bwMode="auto">
          <a:xfrm>
            <a:off x="1717823" y="1296988"/>
            <a:ext cx="9627115" cy="1721691"/>
            <a:chOff x="600364" y="1086400"/>
            <a:chExt cx="9627289" cy="1721745"/>
          </a:xfrm>
        </p:grpSpPr>
        <p:sp>
          <p:nvSpPr>
            <p:cNvPr id="5" name="文本框 7">
              <a:extLst>
                <a:ext uri="{FF2B5EF4-FFF2-40B4-BE49-F238E27FC236}">
                  <a16:creationId xmlns:a16="http://schemas.microsoft.com/office/drawing/2014/main" id="{470FD3C9-F53A-41C7-D129-E7CA745AAF0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3453" y="1086401"/>
              <a:ext cx="9604200" cy="17217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altLang="zh-CN" sz="1200" dirty="0" err="1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BaseType_t</a:t>
              </a:r>
              <a:r>
                <a:rPr lang="en-US" altLang="zh-CN" sz="1200" dirty="0">
                  <a:solidFill>
                    <a:srgbClr val="0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</a:t>
              </a:r>
              <a:r>
                <a:rPr lang="en-US" altLang="zh-CN" sz="1200" dirty="0" err="1">
                  <a:solidFill>
                    <a:srgbClr val="0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xTaskGenericNotifyWait</a:t>
              </a:r>
              <a:r>
                <a:rPr lang="en-US" altLang="zh-CN" sz="1200" dirty="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</a:t>
              </a:r>
              <a:r>
                <a:rPr lang="en-US" altLang="zh-CN" sz="1200" dirty="0" err="1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UBaseType_t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  <a:r>
                <a:rPr lang="en-US" altLang="zh-CN" sz="1200" dirty="0">
                  <a:solidFill>
                    <a:srgbClr val="0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uxIndexToWaitOn</a:t>
              </a:r>
              <a:r>
                <a:rPr lang="en-US" altLang="zh-CN" sz="1200" dirty="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</a:t>
              </a:r>
              <a:br>
                <a:rPr lang="en-US" altLang="zh-CN" sz="1200" dirty="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 dirty="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uint32_t 		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ulBitsToClearOnEntry</a:t>
              </a:r>
              <a:r>
                <a:rPr lang="en-US" altLang="zh-CN" sz="1200" dirty="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</a:t>
              </a:r>
              <a:br>
                <a:rPr lang="en-US" altLang="zh-CN" sz="1200" dirty="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 dirty="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uint32_t 		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ulBitsToClearOnExit</a:t>
              </a:r>
              <a:r>
                <a:rPr lang="en-US" altLang="zh-CN" sz="1200" dirty="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</a:t>
              </a:r>
              <a:br>
                <a:rPr lang="en-US" altLang="zh-CN" sz="1200" dirty="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 dirty="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uint32_t </a:t>
              </a:r>
              <a:r>
                <a:rPr lang="en-US" altLang="zh-CN" sz="1200" dirty="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* 		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pulNotificationValue</a:t>
              </a:r>
              <a:r>
                <a:rPr lang="en-US" altLang="zh-CN" sz="1200" dirty="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</a:t>
              </a:r>
              <a:br>
                <a:rPr lang="en-US" altLang="zh-CN" sz="1200" dirty="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 dirty="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</a:t>
              </a:r>
              <a:r>
                <a:rPr lang="en-US" altLang="zh-CN" sz="1200" dirty="0" err="1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TickType_t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  <a:r>
                <a:rPr lang="en-US" altLang="zh-CN" sz="1200" dirty="0">
                  <a:solidFill>
                    <a:srgbClr val="0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xTicksToWait</a:t>
              </a:r>
              <a:r>
                <a:rPr lang="en-US" altLang="zh-CN" sz="1200" dirty="0">
                  <a:solidFill>
                    <a:srgbClr val="0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    </a:t>
              </a:r>
              <a:r>
                <a:rPr lang="en-US" altLang="zh-CN" sz="1200" dirty="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);</a:t>
              </a:r>
              <a:r>
                <a:rPr lang="en-US" altLang="zh-CN" sz="1200" dirty="0"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  <a:br>
                <a:rPr lang="en-US" altLang="zh-CN" sz="1200" dirty="0"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endParaRPr lang="zh-CN" altLang="en-US" sz="1200" dirty="0"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C9825961-0F51-A25F-12EE-6F7CE2E01630}"/>
                </a:ext>
              </a:extLst>
            </p:cNvPr>
            <p:cNvSpPr/>
            <p:nvPr/>
          </p:nvSpPr>
          <p:spPr>
            <a:xfrm>
              <a:off x="600364" y="1086400"/>
              <a:ext cx="7804291" cy="1485946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graphicFrame>
        <p:nvGraphicFramePr>
          <p:cNvPr id="7" name="表格 13">
            <a:extLst>
              <a:ext uri="{FF2B5EF4-FFF2-40B4-BE49-F238E27FC236}">
                <a16:creationId xmlns:a16="http://schemas.microsoft.com/office/drawing/2014/main" id="{0FE21B62-7D22-9610-838C-2D59C626FF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3349618"/>
              </p:ext>
            </p:extLst>
          </p:nvPr>
        </p:nvGraphicFramePr>
        <p:xfrm>
          <a:off x="2580885" y="2921000"/>
          <a:ext cx="5894388" cy="19018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63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80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697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形参</a:t>
                      </a:r>
                    </a:p>
                  </a:txBody>
                  <a:tcPr marL="91449" marR="91449" marT="45744" marB="45744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91449" marR="91449" marT="45744" marB="4574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6971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uxIndexToWaitOn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44" marB="4574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任务的指定通知（任务通知相关数组成员）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44" marB="4574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6971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ulBitesToClearOnEntry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44" marB="4574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等待前清零指定任务通知值的比特位（旧值对应</a:t>
                      </a:r>
                      <a:r>
                        <a:rPr lang="en-US" altLang="zh-CN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bit</a:t>
                      </a: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清</a:t>
                      </a:r>
                      <a:r>
                        <a:rPr lang="en-US" altLang="zh-CN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0</a:t>
                      </a: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）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44" marB="4574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6971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ulBitesToClearOnExit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44" marB="4574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成功等待后清零指定的任务通知值比特位（新值对应</a:t>
                      </a:r>
                      <a:r>
                        <a:rPr lang="en-US" altLang="zh-CN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bit</a:t>
                      </a: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清</a:t>
                      </a:r>
                      <a:r>
                        <a:rPr lang="en-US" altLang="zh-CN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0</a:t>
                      </a: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）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44" marB="45744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6971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pulNotificationValue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44" marB="4574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用来取出通知值（如果不需要取出，可设为</a:t>
                      </a:r>
                      <a:r>
                        <a:rPr lang="en-US" altLang="zh-CN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NULL</a:t>
                      </a: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）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44" marB="45744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6971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xTicksToWait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44" marB="4574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阻塞等待任务通知值的最大时间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44" marB="45744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BCAF0B4D-32A4-A98E-66AF-2DB5ADCEC5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9285102"/>
              </p:ext>
            </p:extLst>
          </p:nvPr>
        </p:nvGraphicFramePr>
        <p:xfrm>
          <a:off x="2878596" y="5035366"/>
          <a:ext cx="5514975" cy="8604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43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06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730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返回值</a:t>
                      </a:r>
                    </a:p>
                  </a:txBody>
                  <a:tcPr marL="91447" marR="91447" marT="45793" marB="45793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91447" marR="91447" marT="45793" marB="45793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1560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pdTRUE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7" marR="91447" marT="45793" marB="45793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等待任务通知成功</a:t>
                      </a:r>
                      <a:endParaRPr lang="zh-CN" alt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7" marR="91447" marT="45793" marB="45793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1560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pdFALSE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7" marR="91447" marT="45793" marB="45793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等待任务通知失败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7" marR="91447" marT="45793" marB="45793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5038239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31C8F-8458-B04E-FB03-0B949C87A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7ADC5CC1-1EAA-F8BC-A2E8-51E0930A7CA0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信号量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4" name="文本框 9">
            <a:extLst>
              <a:ext uri="{FF2B5EF4-FFF2-40B4-BE49-F238E27FC236}">
                <a16:creationId xmlns:a16="http://schemas.microsoft.com/office/drawing/2014/main" id="{E1B80ED6-5219-9740-F2A9-8E62798DFF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01270" y="1052919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再什么时候需要使用信号量进行数据传输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15" name="文本框 159">
            <a:extLst>
              <a:ext uri="{FF2B5EF4-FFF2-40B4-BE49-F238E27FC236}">
                <a16:creationId xmlns:a16="http://schemas.microsoft.com/office/drawing/2014/main" id="{AE5391CB-970D-99ED-128D-82F08DB60C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79095" y="1703794"/>
            <a:ext cx="5741987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任务通知的局限性</a:t>
            </a:r>
            <a:endParaRPr lang="en-US" altLang="zh-CN" sz="14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、只能一对一通信；</a:t>
            </a:r>
            <a:endParaRPr lang="en-US" altLang="zh-CN" sz="14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2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、任务通知的计数值有上限（通常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32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位）</a:t>
            </a:r>
          </a:p>
          <a:p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3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、无法同时通知多个等待任务</a:t>
            </a:r>
          </a:p>
        </p:txBody>
      </p:sp>
    </p:spTree>
    <p:extLst>
      <p:ext uri="{BB962C8B-B14F-4D97-AF65-F5344CB8AC3E}">
        <p14:creationId xmlns:p14="http://schemas.microsoft.com/office/powerpoint/2010/main" val="401124350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9270E-CFA4-CCF8-48EF-521329643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262445DF-43E1-35BB-853C-F993596476E2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信号量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4" name="文本框 9">
            <a:extLst>
              <a:ext uri="{FF2B5EF4-FFF2-40B4-BE49-F238E27FC236}">
                <a16:creationId xmlns:a16="http://schemas.microsoft.com/office/drawing/2014/main" id="{A7FA50AA-AD50-1217-A3C3-603135C748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01270" y="1052919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1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，信号量的简介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15" name="文本框 159">
            <a:extLst>
              <a:ext uri="{FF2B5EF4-FFF2-40B4-BE49-F238E27FC236}">
                <a16:creationId xmlns:a16="http://schemas.microsoft.com/office/drawing/2014/main" id="{FCB7311F-112B-4362-E2E4-B7F38FA8E5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79095" y="1703794"/>
            <a:ext cx="574198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信号量是一种解决同步问题的机制，可以实现对共享资源的有序访问 </a:t>
            </a:r>
          </a:p>
        </p:txBody>
      </p:sp>
      <p:sp>
        <p:nvSpPr>
          <p:cNvPr id="16" name="文本框 160">
            <a:extLst>
              <a:ext uri="{FF2B5EF4-FFF2-40B4-BE49-F238E27FC236}">
                <a16:creationId xmlns:a16="http://schemas.microsoft.com/office/drawing/2014/main" id="{197AD5D4-2E97-2E44-D771-89D8BBB650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23918" y="4173944"/>
            <a:ext cx="451282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空车位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	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：信号量资源数（计数值）</a:t>
            </a:r>
          </a:p>
        </p:txBody>
      </p:sp>
      <p:pic>
        <p:nvPicPr>
          <p:cNvPr id="17" name="图片 17">
            <a:extLst>
              <a:ext uri="{FF2B5EF4-FFF2-40B4-BE49-F238E27FC236}">
                <a16:creationId xmlns:a16="http://schemas.microsoft.com/office/drawing/2014/main" id="{D01B8CDC-F31F-3623-EB43-38DB4DF0F6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49795" y="2203857"/>
            <a:ext cx="1368425" cy="627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8" name="组合 17">
            <a:extLst>
              <a:ext uri="{FF2B5EF4-FFF2-40B4-BE49-F238E27FC236}">
                <a16:creationId xmlns:a16="http://schemas.microsoft.com/office/drawing/2014/main" id="{CF1A68C0-C934-A5CF-E4EF-9D4F57405418}"/>
              </a:ext>
            </a:extLst>
          </p:cNvPr>
          <p:cNvGrpSpPr>
            <a:grpSpLocks/>
          </p:cNvGrpSpPr>
          <p:nvPr/>
        </p:nvGrpSpPr>
        <p:grpSpPr bwMode="auto">
          <a:xfrm>
            <a:off x="1752120" y="2159407"/>
            <a:ext cx="3895725" cy="1844675"/>
            <a:chOff x="598488" y="1728788"/>
            <a:chExt cx="3895725" cy="1844675"/>
          </a:xfrm>
        </p:grpSpPr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FC691FFE-A2B5-9A28-78F1-7685FFF8E3F2}"/>
                </a:ext>
              </a:extLst>
            </p:cNvPr>
            <p:cNvSpPr/>
            <p:nvPr/>
          </p:nvSpPr>
          <p:spPr>
            <a:xfrm>
              <a:off x="598488" y="1728788"/>
              <a:ext cx="3895725" cy="1844675"/>
            </a:xfrm>
            <a:prstGeom prst="rect">
              <a:avLst/>
            </a:prstGeom>
            <a:ln>
              <a:solidFill>
                <a:srgbClr val="00206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 dirty="0"/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3EF1AAF4-B165-B685-499B-98CC682AC464}"/>
                </a:ext>
              </a:extLst>
            </p:cNvPr>
            <p:cNvSpPr/>
            <p:nvPr/>
          </p:nvSpPr>
          <p:spPr>
            <a:xfrm>
              <a:off x="717550" y="2111375"/>
              <a:ext cx="1069975" cy="1350963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AE348BD1-D51F-CFA8-DA0E-639C6B2739FC}"/>
                </a:ext>
              </a:extLst>
            </p:cNvPr>
            <p:cNvSpPr/>
            <p:nvPr/>
          </p:nvSpPr>
          <p:spPr>
            <a:xfrm>
              <a:off x="2011363" y="2116138"/>
              <a:ext cx="1069975" cy="1350962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2332533D-E639-3E58-8C75-67E487124C5A}"/>
                </a:ext>
              </a:extLst>
            </p:cNvPr>
            <p:cNvSpPr/>
            <p:nvPr/>
          </p:nvSpPr>
          <p:spPr>
            <a:xfrm>
              <a:off x="3282950" y="2112963"/>
              <a:ext cx="1068388" cy="1350962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  <p:pic>
          <p:nvPicPr>
            <p:cNvPr id="23" name="图片 22">
              <a:extLst>
                <a:ext uri="{FF2B5EF4-FFF2-40B4-BE49-F238E27FC236}">
                  <a16:creationId xmlns:a16="http://schemas.microsoft.com/office/drawing/2014/main" id="{7CB52745-E748-B642-54C2-AF00CE4F08B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7575" y="2171700"/>
              <a:ext cx="647700" cy="12573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4" name="图片 13">
              <a:extLst>
                <a:ext uri="{FF2B5EF4-FFF2-40B4-BE49-F238E27FC236}">
                  <a16:creationId xmlns:a16="http://schemas.microsoft.com/office/drawing/2014/main" id="{B1605055-FAF1-AFF2-B00B-D7FC888C601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51075" y="2195513"/>
              <a:ext cx="619125" cy="12144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5" name="图片 15">
              <a:extLst>
                <a:ext uri="{FF2B5EF4-FFF2-40B4-BE49-F238E27FC236}">
                  <a16:creationId xmlns:a16="http://schemas.microsoft.com/office/drawing/2014/main" id="{FF0AEA51-96D3-6776-ACA2-2456D625A7A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43300" y="2219325"/>
              <a:ext cx="563563" cy="11445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" name="文本框 18">
              <a:extLst>
                <a:ext uri="{FF2B5EF4-FFF2-40B4-BE49-F238E27FC236}">
                  <a16:creationId xmlns:a16="http://schemas.microsoft.com/office/drawing/2014/main" id="{0B207B1B-EF5E-E134-B438-B985F74E36D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flipH="1">
              <a:off x="2189163" y="1781175"/>
              <a:ext cx="906462" cy="3079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zh-CN" altLang="en-US" sz="14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停车位</a:t>
              </a:r>
            </a:p>
          </p:txBody>
        </p:sp>
      </p:grpSp>
      <p:sp>
        <p:nvSpPr>
          <p:cNvPr id="27" name="文本框 160">
            <a:extLst>
              <a:ext uri="{FF2B5EF4-FFF2-40B4-BE49-F238E27FC236}">
                <a16:creationId xmlns:a16="http://schemas.microsoft.com/office/drawing/2014/main" id="{148B13EF-8739-9740-8B73-CE7596305A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37176" y="4874032"/>
            <a:ext cx="4399556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占用车位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	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：获取信号量（计数值 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--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）</a:t>
            </a:r>
          </a:p>
        </p:txBody>
      </p:sp>
      <p:sp>
        <p:nvSpPr>
          <p:cNvPr id="28" name="文本框 160">
            <a:extLst>
              <a:ext uri="{FF2B5EF4-FFF2-40B4-BE49-F238E27FC236}">
                <a16:creationId xmlns:a16="http://schemas.microsoft.com/office/drawing/2014/main" id="{25A2902B-EF0D-3FC0-1DFB-4AF0F4D657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23918" y="4523194"/>
            <a:ext cx="428105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让出占用车位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：释放信号量（计数值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++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）</a:t>
            </a:r>
          </a:p>
        </p:txBody>
      </p:sp>
      <p:sp>
        <p:nvSpPr>
          <p:cNvPr id="29" name="文本框 24">
            <a:extLst>
              <a:ext uri="{FF2B5EF4-FFF2-40B4-BE49-F238E27FC236}">
                <a16:creationId xmlns:a16="http://schemas.microsoft.com/office/drawing/2014/main" id="{C36E881F-10F2-2CB0-143E-B1400572FB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47870" y="2446744"/>
            <a:ext cx="2376487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假设有一个人需要在停车场停车</a:t>
            </a:r>
            <a:endParaRPr lang="en-US" altLang="zh-CN" sz="12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30" name="文本框 26">
            <a:extLst>
              <a:ext uri="{FF2B5EF4-FFF2-40B4-BE49-F238E27FC236}">
                <a16:creationId xmlns:a16="http://schemas.microsoft.com/office/drawing/2014/main" id="{562DABDE-9FE5-A24F-4886-F3DAFA9FA8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09770" y="2973794"/>
            <a:ext cx="4752975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1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、首先判断停车场是否还有空车位（判断信号量是否有资源）； </a:t>
            </a:r>
            <a:endParaRPr lang="en-US" altLang="zh-CN" sz="12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31" name="文本框 28">
            <a:extLst>
              <a:ext uri="{FF2B5EF4-FFF2-40B4-BE49-F238E27FC236}">
                <a16:creationId xmlns:a16="http://schemas.microsoft.com/office/drawing/2014/main" id="{D936E792-C143-00A0-D0D9-5D2AB8770E6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08182" y="3313519"/>
            <a:ext cx="4367213" cy="617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2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、停车场正好有空车位（信号量有资源），那么就可以直接将车开入空车位进行停车（获取信号量成功）； </a:t>
            </a:r>
            <a:endParaRPr lang="en-US" altLang="zh-CN" sz="12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32" name="文本框 30">
            <a:extLst>
              <a:ext uri="{FF2B5EF4-FFF2-40B4-BE49-F238E27FC236}">
                <a16:creationId xmlns:a16="http://schemas.microsoft.com/office/drawing/2014/main" id="{EA6B6BF4-CFA8-A6D9-2A4D-C24A72B1B56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14532" y="3929469"/>
            <a:ext cx="4360863" cy="1171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3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、停车场已经没有空车位了（信号量没有资源），那么这个人可以选择不停车（获取信号量失败）；</a:t>
            </a:r>
            <a:endParaRPr lang="en-US" altLang="zh-CN" sz="12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也可以选择等待（任务阻塞）其他人将车开出停车场（释放信号量资源）， 然后再将车停入空车位 。</a:t>
            </a:r>
          </a:p>
        </p:txBody>
      </p:sp>
    </p:spTree>
    <p:extLst>
      <p:ext uri="{BB962C8B-B14F-4D97-AF65-F5344CB8AC3E}">
        <p14:creationId xmlns:p14="http://schemas.microsoft.com/office/powerpoint/2010/main" val="1958146209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27" grpId="0"/>
      <p:bldP spid="28" grpId="0"/>
      <p:bldP spid="29" grpId="0"/>
      <p:bldP spid="30" grpId="0"/>
      <p:bldP spid="31" grpId="0"/>
      <p:bldP spid="32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6843F-002B-B304-2C42-CE40632C9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32E3DBBE-871E-F5D8-83D9-5E1C127301EC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信号量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B6E94B5E-1C1C-2102-FB24-B5BE9E4DC0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42791" y="1265570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1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，信号量的简介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E607D463-947F-8001-9195-DE7DF29BA99E}"/>
              </a:ext>
            </a:extLst>
          </p:cNvPr>
          <p:cNvSpPr/>
          <p:nvPr/>
        </p:nvSpPr>
        <p:spPr>
          <a:xfrm>
            <a:off x="1728566" y="1948195"/>
            <a:ext cx="1317625" cy="78422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任务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A</a:t>
            </a:r>
          </a:p>
          <a:p>
            <a:pPr algn="ctr"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  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让计数值加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1</a:t>
            </a:r>
          </a:p>
          <a:p>
            <a:pPr algn="ctr">
              <a:defRPr/>
            </a:pP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（让出车位）</a:t>
            </a:r>
            <a:endParaRPr lang="en-US" altLang="zh-CN" sz="12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A6328242-1962-4569-73A7-0C8A9677464F}"/>
              </a:ext>
            </a:extLst>
          </p:cNvPr>
          <p:cNvSpPr/>
          <p:nvPr/>
        </p:nvSpPr>
        <p:spPr>
          <a:xfrm>
            <a:off x="1728566" y="2840370"/>
            <a:ext cx="1317625" cy="782638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任务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B</a:t>
            </a:r>
          </a:p>
          <a:p>
            <a:pPr algn="ctr">
              <a:defRPr/>
            </a:pP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让计数值加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1</a:t>
            </a:r>
          </a:p>
          <a:p>
            <a:pPr algn="ctr">
              <a:defRPr/>
            </a:pP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（让出车位）</a:t>
            </a:r>
            <a:endParaRPr lang="en-US" altLang="zh-CN" sz="12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70D4FBBC-406A-AC6A-3499-DFCA01F5814B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3046191" y="2340308"/>
            <a:ext cx="720725" cy="4238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15E1DF45-F794-87D8-A9CC-05F8AAA715D5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3046191" y="2764170"/>
            <a:ext cx="720725" cy="4667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D86342DE-2843-0EDD-798A-19B66D7EC93F}"/>
              </a:ext>
            </a:extLst>
          </p:cNvPr>
          <p:cNvSpPr/>
          <p:nvPr/>
        </p:nvSpPr>
        <p:spPr>
          <a:xfrm>
            <a:off x="6770466" y="1822783"/>
            <a:ext cx="1317625" cy="78422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任务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C</a:t>
            </a:r>
          </a:p>
          <a:p>
            <a:pPr algn="ctr">
              <a:defRPr/>
            </a:pP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让计数值减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1</a:t>
            </a:r>
          </a:p>
          <a:p>
            <a:pPr algn="ctr">
              <a:defRPr/>
            </a:pP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（占用车位）</a:t>
            </a:r>
            <a:endParaRPr lang="en-US" altLang="zh-CN" sz="12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6B36CD66-BBC1-75E3-C08F-017E208A8D71}"/>
              </a:ext>
            </a:extLst>
          </p:cNvPr>
          <p:cNvCxnSpPr>
            <a:cxnSpLocks/>
            <a:stCxn id="15" idx="3"/>
            <a:endCxn id="13" idx="1"/>
          </p:cNvCxnSpPr>
          <p:nvPr/>
        </p:nvCxnSpPr>
        <p:spPr>
          <a:xfrm flipV="1">
            <a:off x="6125941" y="2214895"/>
            <a:ext cx="644525" cy="5318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 14">
            <a:extLst>
              <a:ext uri="{FF2B5EF4-FFF2-40B4-BE49-F238E27FC236}">
                <a16:creationId xmlns:a16="http://schemas.microsoft.com/office/drawing/2014/main" id="{4B3FBA79-A7C6-46AF-4192-F722ECF79667}"/>
              </a:ext>
            </a:extLst>
          </p:cNvPr>
          <p:cNvSpPr/>
          <p:nvPr/>
        </p:nvSpPr>
        <p:spPr>
          <a:xfrm>
            <a:off x="3766916" y="2394283"/>
            <a:ext cx="2359025" cy="704850"/>
          </a:xfrm>
          <a:prstGeom prst="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zh-CN" altLang="en-US" sz="16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3B8E8E86-C74C-7016-3CB2-1F5A692E257A}"/>
              </a:ext>
            </a:extLst>
          </p:cNvPr>
          <p:cNvSpPr/>
          <p:nvPr/>
        </p:nvSpPr>
        <p:spPr>
          <a:xfrm>
            <a:off x="6770466" y="2764170"/>
            <a:ext cx="1317625" cy="78422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任务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D</a:t>
            </a:r>
          </a:p>
          <a:p>
            <a:pPr algn="ctr">
              <a:defRPr/>
            </a:pP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让计数值减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1</a:t>
            </a:r>
          </a:p>
          <a:p>
            <a:pPr algn="ctr">
              <a:defRPr/>
            </a:pP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（占用车位）</a:t>
            </a:r>
            <a:endParaRPr lang="en-US" altLang="zh-CN" sz="12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99431F05-B9B2-959C-744D-D9A0C48F6BFA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>
            <a:off x="6125941" y="2746708"/>
            <a:ext cx="644525" cy="4095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33CA5371-2ABD-4A26-817B-CE64B01D16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65328" y="2408570"/>
            <a:ext cx="646113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信号量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D42E6FD-BB14-761E-587B-FFC729455A73}"/>
              </a:ext>
            </a:extLst>
          </p:cNvPr>
          <p:cNvSpPr/>
          <p:nvPr/>
        </p:nvSpPr>
        <p:spPr>
          <a:xfrm>
            <a:off x="4525741" y="2608595"/>
            <a:ext cx="879475" cy="311150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20" name="文本框 21">
            <a:extLst>
              <a:ext uri="{FF2B5EF4-FFF2-40B4-BE49-F238E27FC236}">
                <a16:creationId xmlns:a16="http://schemas.microsoft.com/office/drawing/2014/main" id="{504D3829-8A64-6C10-38FB-A7D1948D89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86053" y="2640345"/>
            <a:ext cx="90963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/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计数值</a:t>
            </a:r>
          </a:p>
        </p:txBody>
      </p:sp>
      <p:sp>
        <p:nvSpPr>
          <p:cNvPr id="21" name="文本框 22">
            <a:extLst>
              <a:ext uri="{FF2B5EF4-FFF2-40B4-BE49-F238E27FC236}">
                <a16:creationId xmlns:a16="http://schemas.microsoft.com/office/drawing/2014/main" id="{F7DB1E1A-8FC8-0F77-6EE0-D357F141F4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73003" y="3970670"/>
            <a:ext cx="29686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当计数值大于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0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，代表有信号量资源</a:t>
            </a:r>
          </a:p>
        </p:txBody>
      </p:sp>
      <p:sp>
        <p:nvSpPr>
          <p:cNvPr id="22" name="文本框 23">
            <a:extLst>
              <a:ext uri="{FF2B5EF4-FFF2-40B4-BE49-F238E27FC236}">
                <a16:creationId xmlns:a16="http://schemas.microsoft.com/office/drawing/2014/main" id="{436F69F5-B163-A82B-5BA9-AF5CF7A390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73003" y="5045408"/>
            <a:ext cx="237648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信号量：用于传递状态</a:t>
            </a:r>
          </a:p>
        </p:txBody>
      </p:sp>
      <p:sp>
        <p:nvSpPr>
          <p:cNvPr id="23" name="文本框 24">
            <a:extLst>
              <a:ext uri="{FF2B5EF4-FFF2-40B4-BE49-F238E27FC236}">
                <a16:creationId xmlns:a16="http://schemas.microsoft.com/office/drawing/2014/main" id="{B8537BAE-4B60-F9CE-F22E-BE3B18564B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73003" y="4334208"/>
            <a:ext cx="377507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当释放信号量，信号量计数值（资源数）加一</a:t>
            </a:r>
          </a:p>
        </p:txBody>
      </p:sp>
      <p:sp>
        <p:nvSpPr>
          <p:cNvPr id="24" name="文本框 26">
            <a:extLst>
              <a:ext uri="{FF2B5EF4-FFF2-40B4-BE49-F238E27FC236}">
                <a16:creationId xmlns:a16="http://schemas.microsoft.com/office/drawing/2014/main" id="{14C3ECE5-4F9C-BAA1-BAC0-0E25E90EA0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73003" y="4685045"/>
            <a:ext cx="377507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当获取信号量，信号量计数值（资源数）减一</a:t>
            </a:r>
          </a:p>
        </p:txBody>
      </p:sp>
      <p:sp>
        <p:nvSpPr>
          <p:cNvPr id="25" name="文本框 28">
            <a:extLst>
              <a:ext uri="{FF2B5EF4-FFF2-40B4-BE49-F238E27FC236}">
                <a16:creationId xmlns:a16="http://schemas.microsoft.com/office/drawing/2014/main" id="{B7C4F465-42E8-33F9-34DD-082652EB25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08466" y="3900820"/>
            <a:ext cx="4230687" cy="1028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信号量的计数值都有限制：限定最大值。</a:t>
            </a:r>
            <a:endParaRPr lang="en-US" altLang="zh-CN" sz="14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如果最大值被限定为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1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，那么它就是二值信号量；</a:t>
            </a:r>
            <a:endParaRPr lang="en-US" altLang="zh-CN" sz="14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如果最大值不是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1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，它就是计数型信号量。</a:t>
            </a:r>
          </a:p>
        </p:txBody>
      </p:sp>
    </p:spTree>
    <p:extLst>
      <p:ext uri="{BB962C8B-B14F-4D97-AF65-F5344CB8AC3E}">
        <p14:creationId xmlns:p14="http://schemas.microsoft.com/office/powerpoint/2010/main" val="110571214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3" grpId="0" animBg="1"/>
      <p:bldP spid="15" grpId="0" animBg="1"/>
      <p:bldP spid="16" grpId="0" animBg="1"/>
      <p:bldP spid="18" grpId="0"/>
      <p:bldP spid="19" grpId="0" animBg="1"/>
      <p:bldP spid="20" grpId="0"/>
      <p:bldP spid="21" grpId="0"/>
      <p:bldP spid="22" grpId="0"/>
      <p:bldP spid="23" grpId="0"/>
      <p:bldP spid="24" grpId="0"/>
      <p:bldP spid="25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81D29-386C-BC8C-DB5C-BA547A53D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249F35D7-90AC-A2EE-FB7C-057EE1115BFA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信号量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FA3F6CEE-A756-D69F-06CF-25EDA02832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76708" y="1161177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zh-CN" altLang="en-US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     队列与信号量的对比 </a:t>
            </a:r>
            <a:endParaRPr lang="en-US" altLang="zh-CN" b="1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graphicFrame>
        <p:nvGraphicFramePr>
          <p:cNvPr id="9" name="表格 6">
            <a:extLst>
              <a:ext uri="{FF2B5EF4-FFF2-40B4-BE49-F238E27FC236}">
                <a16:creationId xmlns:a16="http://schemas.microsoft.com/office/drawing/2014/main" id="{350794CC-B393-1FE5-ECFE-639EC98FD0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1916936"/>
              </p:ext>
            </p:extLst>
          </p:nvPr>
        </p:nvGraphicFramePr>
        <p:xfrm>
          <a:off x="2564145" y="1989852"/>
          <a:ext cx="6376988" cy="18986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31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38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337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/>
                        <a:t>队列</a:t>
                      </a:r>
                      <a:endParaRPr lang="zh-CN" altLang="en-US" sz="1200" dirty="0"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4" marR="91454" marT="45658" marB="45658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/>
                        <a:t>信号量</a:t>
                      </a:r>
                      <a:endParaRPr lang="zh-CN" altLang="en-US" sz="1200" dirty="0"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54" marR="91454" marT="45658" marB="45658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9438"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可以容纳多个数据；</a:t>
                      </a:r>
                      <a:endParaRPr lang="en-US" altLang="zh-CN" sz="1100" dirty="0">
                        <a:solidFill>
                          <a:srgbClr val="002060"/>
                        </a:solidFill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创建队列有两部分内存：队列结构体</a:t>
                      </a:r>
                      <a:r>
                        <a:rPr lang="en-US" altLang="zh-CN" sz="1100" dirty="0">
                          <a:solidFill>
                            <a:srgbClr val="002060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+</a:t>
                      </a: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队列项存储空间</a:t>
                      </a:r>
                    </a:p>
                  </a:txBody>
                  <a:tcPr marL="91454" marR="91454" marT="45658" marB="45658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仅存放计数值，无法存放其他数据；</a:t>
                      </a:r>
                      <a:endParaRPr lang="en-US" altLang="zh-CN" sz="1100" dirty="0">
                        <a:solidFill>
                          <a:srgbClr val="002060"/>
                        </a:solidFill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创建信号量，只需分配信号量结构体</a:t>
                      </a:r>
                    </a:p>
                  </a:txBody>
                  <a:tcPr marL="91454" marR="91454" marT="45658" marB="45658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9438"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写入队列：当队列满时，可阻塞；</a:t>
                      </a:r>
                    </a:p>
                  </a:txBody>
                  <a:tcPr marL="91454" marR="91454" marT="45658" marB="45658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释放信号量：不可阻塞，计数值</a:t>
                      </a:r>
                      <a:r>
                        <a:rPr lang="en-US" altLang="zh-CN" sz="1100" dirty="0">
                          <a:solidFill>
                            <a:srgbClr val="002060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++</a:t>
                      </a: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，</a:t>
                      </a:r>
                      <a:endParaRPr lang="en-US" altLang="zh-CN" sz="1100" dirty="0">
                        <a:solidFill>
                          <a:srgbClr val="002060"/>
                        </a:solidFill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当计数值为最大值时，返回失败</a:t>
                      </a:r>
                    </a:p>
                  </a:txBody>
                  <a:tcPr marL="91454" marR="91454" marT="45658" marB="45658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9438"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读取队列：当队列为空时，可阻塞；</a:t>
                      </a:r>
                    </a:p>
                  </a:txBody>
                  <a:tcPr marL="91454" marR="91454" marT="45658" marB="45658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0000"/>
                        </a:lnSpc>
                      </a:pP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获取信号量：计数值</a:t>
                      </a:r>
                      <a:r>
                        <a:rPr lang="en-US" altLang="zh-CN" sz="1100" dirty="0">
                          <a:solidFill>
                            <a:srgbClr val="002060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--</a:t>
                      </a: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，</a:t>
                      </a:r>
                      <a:endParaRPr lang="en-US" altLang="zh-CN" sz="1100" dirty="0">
                        <a:solidFill>
                          <a:srgbClr val="002060"/>
                        </a:solidFill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当没有资源时，可阻塞</a:t>
                      </a:r>
                    </a:p>
                  </a:txBody>
                  <a:tcPr marL="91454" marR="91454" marT="45658" marB="45658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1734407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CF10A-41DE-D902-85E4-0B9837F6E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C6FBD567-FE43-4025-B7A3-3424CD42B99A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信号量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E9EF1114-F5DD-D030-5507-7EDCCB2D8E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0894" y="1244305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2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，二值信号量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159">
            <a:extLst>
              <a:ext uri="{FF2B5EF4-FFF2-40B4-BE49-F238E27FC236}">
                <a16:creationId xmlns:a16="http://schemas.microsoft.com/office/drawing/2014/main" id="{E46D6640-5B24-CB2C-5644-5433EE6D11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82369" y="1839618"/>
            <a:ext cx="902250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二值信号量的本质是一个队列长度为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1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的队列 ，该队列就只有空和满两种情况，这就是</a:t>
            </a:r>
            <a:r>
              <a:rPr lang="zh-CN" altLang="en-US" sz="1400" b="1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二值（</a:t>
            </a:r>
            <a:r>
              <a:rPr lang="en-US" altLang="zh-CN" sz="1400" b="1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0/1</a:t>
            </a:r>
            <a:r>
              <a:rPr lang="zh-CN" altLang="en-US" sz="1400" b="1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）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。</a:t>
            </a:r>
          </a:p>
        </p:txBody>
      </p:sp>
      <p:sp>
        <p:nvSpPr>
          <p:cNvPr id="10" name="文本框 6">
            <a:extLst>
              <a:ext uri="{FF2B5EF4-FFF2-40B4-BE49-F238E27FC236}">
                <a16:creationId xmlns:a16="http://schemas.microsoft.com/office/drawing/2014/main" id="{DE01951C-A17C-151D-DCA2-4F7E9D1666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82369" y="2204743"/>
            <a:ext cx="8358187" cy="70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二值信号量通常用于</a:t>
            </a:r>
            <a:r>
              <a:rPr lang="zh-CN" altLang="en-US" sz="1400" b="1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互斥访问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或</a:t>
            </a:r>
            <a:r>
              <a:rPr lang="zh-CN" altLang="en-US" sz="1400" b="1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任务同步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， 与互斥信号量比较类似，但是二值信号量有可能会导致优先级翻转的问题 ，所以二值信号量更适合用于同步！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4B95B89D-571F-7014-3DB8-6B52D0857FE9}"/>
              </a:ext>
            </a:extLst>
          </p:cNvPr>
          <p:cNvSpPr/>
          <p:nvPr/>
        </p:nvSpPr>
        <p:spPr>
          <a:xfrm>
            <a:off x="2799981" y="4624093"/>
            <a:ext cx="2505075" cy="382587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Give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操作相当把该标志置“满”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C3FFF582-1B9D-0DD9-4CEF-22C60FD5A913}"/>
              </a:ext>
            </a:extLst>
          </p:cNvPr>
          <p:cNvSpPr/>
          <p:nvPr/>
        </p:nvSpPr>
        <p:spPr>
          <a:xfrm>
            <a:off x="5922594" y="4624093"/>
            <a:ext cx="2714625" cy="382587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Take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操作相当于把该标志取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"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空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"</a:t>
            </a:r>
            <a:endParaRPr lang="zh-CN" altLang="en-US" sz="12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3" name="文本框 29">
            <a:extLst>
              <a:ext uri="{FF2B5EF4-FFF2-40B4-BE49-F238E27FC236}">
                <a16:creationId xmlns:a16="http://schemas.microsoft.com/office/drawing/2014/main" id="{232DABCE-5D07-8F27-A513-ACAAD7231B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25394" y="3420768"/>
            <a:ext cx="2252662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/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释放二值信号量</a:t>
            </a:r>
          </a:p>
        </p:txBody>
      </p:sp>
      <p:sp>
        <p:nvSpPr>
          <p:cNvPr id="14" name="文本框 30">
            <a:extLst>
              <a:ext uri="{FF2B5EF4-FFF2-40B4-BE49-F238E27FC236}">
                <a16:creationId xmlns:a16="http://schemas.microsoft.com/office/drawing/2014/main" id="{9AE47614-188F-5387-8CC9-96A62A11BE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54369" y="3396955"/>
            <a:ext cx="2252662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/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获取二值信号量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2C6ACB70-16C3-A0B5-6496-A6D33077E047}"/>
              </a:ext>
            </a:extLst>
          </p:cNvPr>
          <p:cNvSpPr/>
          <p:nvPr/>
        </p:nvSpPr>
        <p:spPr>
          <a:xfrm>
            <a:off x="2180856" y="3747793"/>
            <a:ext cx="1060450" cy="704850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400" dirty="0">
                <a:solidFill>
                  <a:srgbClr val="002060"/>
                </a:solidFill>
              </a:rPr>
              <a:t>Task</a:t>
            </a:r>
          </a:p>
          <a:p>
            <a:pPr algn="ctr">
              <a:defRPr/>
            </a:pPr>
            <a:r>
              <a:rPr lang="zh-CN" altLang="en-US" sz="1400" dirty="0">
                <a:solidFill>
                  <a:srgbClr val="FF0000"/>
                </a:solidFill>
              </a:rPr>
              <a:t>或</a:t>
            </a:r>
            <a:endParaRPr lang="en-US" altLang="zh-CN" sz="1400" dirty="0">
              <a:solidFill>
                <a:srgbClr val="FF0000"/>
              </a:solidFill>
            </a:endParaRPr>
          </a:p>
          <a:p>
            <a:pPr algn="ctr">
              <a:defRPr/>
            </a:pPr>
            <a:r>
              <a:rPr lang="en-US" altLang="zh-CN" sz="1400" dirty="0">
                <a:solidFill>
                  <a:srgbClr val="002060"/>
                </a:solidFill>
              </a:rPr>
              <a:t>ISR</a:t>
            </a:r>
            <a:endParaRPr lang="zh-CN" altLang="en-US" sz="1400" dirty="0">
              <a:solidFill>
                <a:srgbClr val="002060"/>
              </a:solidFill>
            </a:endParaRPr>
          </a:p>
        </p:txBody>
      </p:sp>
      <p:grpSp>
        <p:nvGrpSpPr>
          <p:cNvPr id="16" name="组合 36">
            <a:extLst>
              <a:ext uri="{FF2B5EF4-FFF2-40B4-BE49-F238E27FC236}">
                <a16:creationId xmlns:a16="http://schemas.microsoft.com/office/drawing/2014/main" id="{C56472A2-65FE-682B-4674-A7AEBBA2292F}"/>
              </a:ext>
            </a:extLst>
          </p:cNvPr>
          <p:cNvGrpSpPr>
            <a:grpSpLocks/>
          </p:cNvGrpSpPr>
          <p:nvPr/>
        </p:nvGrpSpPr>
        <p:grpSpPr bwMode="auto">
          <a:xfrm>
            <a:off x="4863731" y="3800180"/>
            <a:ext cx="1543050" cy="600075"/>
            <a:chOff x="3800475" y="3247616"/>
            <a:chExt cx="1543050" cy="600484"/>
          </a:xfrm>
        </p:grpSpPr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FB7DA000-D5F2-B12F-D0A5-ECB830F67BA3}"/>
                </a:ext>
              </a:extLst>
            </p:cNvPr>
            <p:cNvSpPr/>
            <p:nvPr/>
          </p:nvSpPr>
          <p:spPr>
            <a:xfrm>
              <a:off x="3800475" y="3247616"/>
              <a:ext cx="1543050" cy="600484"/>
            </a:xfrm>
            <a:prstGeom prst="rect">
              <a:avLst/>
            </a:prstGeom>
            <a:ln>
              <a:solidFill>
                <a:srgbClr val="00206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 dirty="0"/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C81FFF81-884C-29A7-41F6-26E76AEB1B8F}"/>
                </a:ext>
              </a:extLst>
            </p:cNvPr>
            <p:cNvSpPr/>
            <p:nvPr/>
          </p:nvSpPr>
          <p:spPr>
            <a:xfrm>
              <a:off x="4294188" y="3520852"/>
              <a:ext cx="555625" cy="255762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  <p:sp>
          <p:nvSpPr>
            <p:cNvPr id="19" name="文本框 35">
              <a:extLst>
                <a:ext uri="{FF2B5EF4-FFF2-40B4-BE49-F238E27FC236}">
                  <a16:creationId xmlns:a16="http://schemas.microsoft.com/office/drawing/2014/main" id="{4092B0A7-CAC7-04DC-7142-188693E3F02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27006" y="3258996"/>
              <a:ext cx="889987" cy="2616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zh-CN" altLang="en-US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二值信号量</a:t>
              </a:r>
            </a:p>
          </p:txBody>
        </p:sp>
      </p:grp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7162268B-11F8-BD49-3B09-1FE91B5ED485}"/>
              </a:ext>
            </a:extLst>
          </p:cNvPr>
          <p:cNvSpPr/>
          <p:nvPr/>
        </p:nvSpPr>
        <p:spPr>
          <a:xfrm>
            <a:off x="8154619" y="3755730"/>
            <a:ext cx="1058862" cy="704850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zh-CN" sz="1400" dirty="0">
                <a:solidFill>
                  <a:srgbClr val="002060"/>
                </a:solidFill>
              </a:rPr>
              <a:t>Task</a:t>
            </a:r>
          </a:p>
          <a:p>
            <a:pPr algn="ctr">
              <a:defRPr/>
            </a:pPr>
            <a:r>
              <a:rPr lang="zh-CN" altLang="en-US" sz="1400" dirty="0">
                <a:solidFill>
                  <a:srgbClr val="FF0000"/>
                </a:solidFill>
              </a:rPr>
              <a:t>或</a:t>
            </a:r>
            <a:endParaRPr lang="en-US" altLang="zh-CN" sz="1400" dirty="0">
              <a:solidFill>
                <a:srgbClr val="FF0000"/>
              </a:solidFill>
            </a:endParaRPr>
          </a:p>
          <a:p>
            <a:pPr algn="ctr">
              <a:defRPr/>
            </a:pPr>
            <a:r>
              <a:rPr lang="en-US" altLang="zh-CN" sz="1400" dirty="0">
                <a:solidFill>
                  <a:srgbClr val="002060"/>
                </a:solidFill>
              </a:rPr>
              <a:t>ISR</a:t>
            </a:r>
            <a:endParaRPr lang="zh-CN" altLang="en-US" sz="1400" dirty="0">
              <a:solidFill>
                <a:srgbClr val="002060"/>
              </a:solidFill>
            </a:endParaRPr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47BD9C7F-54F7-A570-8476-7C8032C3BE11}"/>
              </a:ext>
            </a:extLst>
          </p:cNvPr>
          <p:cNvCxnSpPr>
            <a:stCxn id="15" idx="3"/>
            <a:endCxn id="17" idx="1"/>
          </p:cNvCxnSpPr>
          <p:nvPr/>
        </p:nvCxnSpPr>
        <p:spPr>
          <a:xfrm>
            <a:off x="3241306" y="4100218"/>
            <a:ext cx="16224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44">
            <a:extLst>
              <a:ext uri="{FF2B5EF4-FFF2-40B4-BE49-F238E27FC236}">
                <a16:creationId xmlns:a16="http://schemas.microsoft.com/office/drawing/2014/main" id="{8DA69895-81D3-8F70-6EE6-DBD5746CD2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15931" y="3863680"/>
            <a:ext cx="1503363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0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xSemaphoreGive</a:t>
            </a:r>
          </a:p>
        </p:txBody>
      </p:sp>
      <p:sp>
        <p:nvSpPr>
          <p:cNvPr id="23" name="文本框 45">
            <a:extLst>
              <a:ext uri="{FF2B5EF4-FFF2-40B4-BE49-F238E27FC236}">
                <a16:creationId xmlns:a16="http://schemas.microsoft.com/office/drawing/2014/main" id="{33EE0D9D-A273-2675-F47E-09F1844F42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95269" y="4136730"/>
            <a:ext cx="2098675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0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xSemaphoreGive</a:t>
            </a:r>
            <a:r>
              <a:rPr lang="en-US" altLang="zh-CN" sz="10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FromISR</a:t>
            </a:r>
            <a:endParaRPr lang="zh-CN" altLang="en-US" sz="10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C9B0B12B-A8B1-92F0-99FB-6E22C0B04F24}"/>
              </a:ext>
            </a:extLst>
          </p:cNvPr>
          <p:cNvCxnSpPr>
            <a:stCxn id="17" idx="3"/>
            <a:endCxn id="20" idx="1"/>
          </p:cNvCxnSpPr>
          <p:nvPr/>
        </p:nvCxnSpPr>
        <p:spPr>
          <a:xfrm>
            <a:off x="6406781" y="4100218"/>
            <a:ext cx="1747838" cy="79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50">
            <a:extLst>
              <a:ext uri="{FF2B5EF4-FFF2-40B4-BE49-F238E27FC236}">
                <a16:creationId xmlns:a16="http://schemas.microsoft.com/office/drawing/2014/main" id="{6B0C7905-E52F-52E4-FA04-D22697EACF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49669" y="3855743"/>
            <a:ext cx="1504950" cy="246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0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xSemaphoreTake</a:t>
            </a:r>
            <a:endParaRPr lang="zh-CN" altLang="en-US" sz="10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6" name="文本框 51">
            <a:extLst>
              <a:ext uri="{FF2B5EF4-FFF2-40B4-BE49-F238E27FC236}">
                <a16:creationId xmlns:a16="http://schemas.microsoft.com/office/drawing/2014/main" id="{8C0EA150-06E1-D411-B94C-4C6995775B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43294" y="4124030"/>
            <a:ext cx="2098675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0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xSemaphoreTakeFromISR</a:t>
            </a:r>
            <a:endParaRPr lang="zh-CN" altLang="en-US" sz="10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36281979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 animBg="1"/>
      <p:bldP spid="12" grpId="0" animBg="1"/>
      <p:bldP spid="13" grpId="0"/>
      <p:bldP spid="14" grpId="0"/>
      <p:bldP spid="15" grpId="0" animBg="1"/>
      <p:bldP spid="20" grpId="0" animBg="1"/>
      <p:bldP spid="22" grpId="0"/>
      <p:bldP spid="23" grpId="0"/>
      <p:bldP spid="25" grpId="0"/>
      <p:bldP spid="26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18697-51B1-5B1A-9714-5384D0C8D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43D0B1B9-F408-AB95-2963-4CBF1531976F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信号量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B8A0C4AE-2BA9-2A64-54E0-4EDC52DD80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61768" y="1161177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      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二值信号量相关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159">
            <a:extLst>
              <a:ext uri="{FF2B5EF4-FFF2-40B4-BE49-F238E27FC236}">
                <a16:creationId xmlns:a16="http://schemas.microsoft.com/office/drawing/2014/main" id="{C84A1ECB-1EE3-9AC3-CC91-80C493987F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3243" y="1756490"/>
            <a:ext cx="752951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使用二值信号量的过程：创建二值信号量 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sym typeface="Wingdings" panose="05000000000000000000" pitchFamily="2" charset="2"/>
              </a:rPr>
              <a:t> 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释放二值信号量 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sym typeface="Wingdings" panose="05000000000000000000" pitchFamily="2" charset="2"/>
              </a:rPr>
              <a:t> 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sym typeface="Wingdings" panose="05000000000000000000" pitchFamily="2" charset="2"/>
              </a:rPr>
              <a:t>获取二值信号量    </a:t>
            </a:r>
            <a:endParaRPr lang="zh-CN" altLang="en-US" sz="14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graphicFrame>
        <p:nvGraphicFramePr>
          <p:cNvPr id="10" name="表格 7">
            <a:extLst>
              <a:ext uri="{FF2B5EF4-FFF2-40B4-BE49-F238E27FC236}">
                <a16:creationId xmlns:a16="http://schemas.microsoft.com/office/drawing/2014/main" id="{A7D7C684-61B4-128F-A6AF-E0557BFED5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4008451"/>
              </p:ext>
            </p:extLst>
          </p:nvPr>
        </p:nvGraphicFramePr>
        <p:xfrm>
          <a:off x="2020555" y="2297827"/>
          <a:ext cx="5448300" cy="1985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4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4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70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函数</a:t>
                      </a:r>
                    </a:p>
                  </a:txBody>
                  <a:tcPr marT="45739" marB="45739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</a:p>
                  </a:txBody>
                  <a:tcPr marT="45739" marB="45739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709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xSemaphoreCreateBinary()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39" marB="45739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使用动态方式创建二值信号量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39" marB="45739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709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xSemaphoreCreateBinaryStatic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39" marB="45739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使用静态方式创建二值信号量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39" marB="45739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709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xSemaphoreGive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39" marB="45739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释放信号量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39" marB="45739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709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xSemaphoreGiveFromISR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39" marB="45739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在中断中释放信号量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39" marB="45739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709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xSemaphoreTake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39" marB="45739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获取信号量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39" marB="45739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709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xSemaphoreTakeFromISR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39" marB="45739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在中断中获取信号量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39" marB="45739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654528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421E92-92D2-BB48-2DA0-07F41C31C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C7CDBD76-053F-999E-3053-8827472843C7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信号量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3" name="文本框 9">
            <a:extLst>
              <a:ext uri="{FF2B5EF4-FFF2-40B4-BE49-F238E27FC236}">
                <a16:creationId xmlns:a16="http://schemas.microsoft.com/office/drawing/2014/main" id="{698A2592-A7A0-3DA5-5279-854C942F591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96126" y="756745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      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二值信号量相关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4" name="文本框 6">
            <a:extLst>
              <a:ext uri="{FF2B5EF4-FFF2-40B4-BE49-F238E27FC236}">
                <a16:creationId xmlns:a16="http://schemas.microsoft.com/office/drawing/2014/main" id="{C9C47543-E541-3F88-22B1-EC3247457F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80301" y="1261570"/>
            <a:ext cx="7081837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创建二值信号量函数：</a:t>
            </a:r>
            <a:r>
              <a:rPr lang="en-US" altLang="zh-CN" sz="1400" dirty="0" err="1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SemaphoreHandle_t</a:t>
            </a:r>
            <a:r>
              <a:rPr lang="en-US" altLang="zh-CN" sz="1400" dirty="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 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xSemaphoreCreateBinary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 void ) </a:t>
            </a:r>
            <a:endParaRPr lang="zh-CN" altLang="en-US" sz="14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graphicFrame>
        <p:nvGraphicFramePr>
          <p:cNvPr id="5" name="表格 7">
            <a:extLst>
              <a:ext uri="{FF2B5EF4-FFF2-40B4-BE49-F238E27FC236}">
                <a16:creationId xmlns:a16="http://schemas.microsoft.com/office/drawing/2014/main" id="{5D689B89-3592-C7C0-8DC9-5F3A2F188D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6782669"/>
              </p:ext>
            </p:extLst>
          </p:nvPr>
        </p:nvGraphicFramePr>
        <p:xfrm>
          <a:off x="1580301" y="5160003"/>
          <a:ext cx="4619625" cy="8001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2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003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99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返回值</a:t>
                      </a:r>
                    </a:p>
                  </a:txBody>
                  <a:tcPr marT="45677" marB="45677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</a:p>
                  </a:txBody>
                  <a:tcPr marT="45677" marB="45677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993">
                <a:tc>
                  <a:txBody>
                    <a:bodyPr/>
                    <a:lstStyle/>
                    <a:p>
                      <a:r>
                        <a:rPr lang="en-US" sz="110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NULL</a:t>
                      </a:r>
                    </a:p>
                  </a:txBody>
                  <a:tcPr marT="45677" marB="45677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创建失败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77" marB="45677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2115">
                <a:tc>
                  <a:txBody>
                    <a:bodyPr/>
                    <a:lstStyle/>
                    <a:p>
                      <a:r>
                        <a:rPr lang="zh-CN" altLang="en-US" sz="110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其他值</a:t>
                      </a:r>
                      <a:endParaRPr 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77" marB="45677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创建成功返回二值信号量的句柄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77" marB="45677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6" name="组合 5">
            <a:extLst>
              <a:ext uri="{FF2B5EF4-FFF2-40B4-BE49-F238E27FC236}">
                <a16:creationId xmlns:a16="http://schemas.microsoft.com/office/drawing/2014/main" id="{DC181658-B817-938F-F2C0-A231C529042D}"/>
              </a:ext>
            </a:extLst>
          </p:cNvPr>
          <p:cNvGrpSpPr>
            <a:grpSpLocks/>
          </p:cNvGrpSpPr>
          <p:nvPr/>
        </p:nvGrpSpPr>
        <p:grpSpPr bwMode="auto">
          <a:xfrm>
            <a:off x="1580301" y="3186740"/>
            <a:ext cx="9801852" cy="1810562"/>
            <a:chOff x="542131" y="1235022"/>
            <a:chExt cx="7487443" cy="1725665"/>
          </a:xfrm>
        </p:grpSpPr>
        <p:sp>
          <p:nvSpPr>
            <p:cNvPr id="7" name="文本框 12">
              <a:extLst>
                <a:ext uri="{FF2B5EF4-FFF2-40B4-BE49-F238E27FC236}">
                  <a16:creationId xmlns:a16="http://schemas.microsoft.com/office/drawing/2014/main" id="{F34957D9-4B5B-9519-D11C-9F0F944A986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2131" y="1235022"/>
              <a:ext cx="7487443" cy="164096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queueQUEUE_TYPE_BASE             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( uint8_t ) 0U )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队列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queueQUEUE_TYPE_SET             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( uint8_t ) 0U )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队列集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  <a:endPara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queueQUEUE_TYPE_MUTEX            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( uint8_t ) 1U )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en-US" altLang="zh-CN" sz="1200" dirty="0">
                  <a:solidFill>
                    <a:schemeClr val="tx1">
                      <a:lumMod val="65000"/>
                    </a:schemeClr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chemeClr val="tx1">
                      <a:lumMod val="65000"/>
                    </a:schemeClr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互斥信号量</a:t>
              </a:r>
              <a:r>
                <a:rPr lang="en-US" altLang="zh-CN" sz="1200" dirty="0">
                  <a:solidFill>
                    <a:schemeClr val="tx1">
                      <a:lumMod val="65000"/>
                    </a:schemeClr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queueQUEUE_TYPE_COUNTING_SEMAPHORE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( uint8_t ) 2U )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计数型信号量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  <a:endPara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queueQUEUE_TYPE_BINARY_SEMAPHORE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( uint8_t ) 3U )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二值信号量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  <a:endPara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queueQUEUE_TYPE_RECURSIVE_MUTEX  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( uint8_t ) 4U )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en-US" altLang="zh-CN" sz="1200" dirty="0">
                  <a:solidFill>
                    <a:schemeClr val="tx1">
                      <a:lumMod val="65000"/>
                    </a:schemeClr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chemeClr val="tx1">
                      <a:lumMod val="65000"/>
                    </a:schemeClr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递归互斥信号量</a:t>
              </a:r>
              <a:r>
                <a:rPr lang="en-US" altLang="zh-CN" sz="1200" dirty="0">
                  <a:solidFill>
                    <a:schemeClr val="tx1">
                      <a:lumMod val="65000"/>
                    </a:schemeClr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  <a:endParaRPr lang="zh-CN" altLang="en-US" sz="1200" dirty="0">
                <a:solidFill>
                  <a:schemeClr val="tx1">
                    <a:lumMod val="65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33766582-2828-06B3-E6BA-F6D6B6914A71}"/>
                </a:ext>
              </a:extLst>
            </p:cNvPr>
            <p:cNvSpPr/>
            <p:nvPr/>
          </p:nvSpPr>
          <p:spPr>
            <a:xfrm>
              <a:off x="542131" y="1235022"/>
              <a:ext cx="7157278" cy="1725665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 sz="1200"/>
            </a:p>
          </p:txBody>
        </p:sp>
      </p:grpSp>
      <p:grpSp>
        <p:nvGrpSpPr>
          <p:cNvPr id="9" name="组合 8">
            <a:extLst>
              <a:ext uri="{FF2B5EF4-FFF2-40B4-BE49-F238E27FC236}">
                <a16:creationId xmlns:a16="http://schemas.microsoft.com/office/drawing/2014/main" id="{3947B7A5-E5EA-4DD3-D317-70C9355EA320}"/>
              </a:ext>
            </a:extLst>
          </p:cNvPr>
          <p:cNvGrpSpPr>
            <a:grpSpLocks/>
          </p:cNvGrpSpPr>
          <p:nvPr/>
        </p:nvGrpSpPr>
        <p:grpSpPr bwMode="auto">
          <a:xfrm>
            <a:off x="1580300" y="1615582"/>
            <a:ext cx="9690211" cy="1276473"/>
            <a:chOff x="506413" y="950913"/>
            <a:chExt cx="8305800" cy="965200"/>
          </a:xfrm>
        </p:grpSpPr>
        <p:sp>
          <p:nvSpPr>
            <p:cNvPr id="10" name="文本框 2">
              <a:extLst>
                <a:ext uri="{FF2B5EF4-FFF2-40B4-BE49-F238E27FC236}">
                  <a16:creationId xmlns:a16="http://schemas.microsoft.com/office/drawing/2014/main" id="{3ECDA822-B744-9E9D-31C4-35DE688CA00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7050" y="950913"/>
              <a:ext cx="8266113" cy="6175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#define  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xSemaphoreCreateBinary( )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			\</a:t>
              </a: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xQueueGenericCreate(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1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  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semSEMAPHORE_QUEUE_ITEM_LENGTH 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  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queueQUEUE_TYPE_BINARY_SEMAPHORE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)</a:t>
              </a:r>
            </a:p>
          </p:txBody>
        </p:sp>
        <p:sp>
          <p:nvSpPr>
            <p:cNvPr id="11" name="文本框 7">
              <a:extLst>
                <a:ext uri="{FF2B5EF4-FFF2-40B4-BE49-F238E27FC236}">
                  <a16:creationId xmlns:a16="http://schemas.microsoft.com/office/drawing/2014/main" id="{3A8879A5-9256-3E12-8D67-D4283F93BB1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7688" y="1627188"/>
              <a:ext cx="6748462" cy="276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zh-CN" altLang="en-US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semSEMAPHORE_QUEUE_ITEM_LENGTH      ( ( uint8_t )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0U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)</a:t>
              </a: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2EABE2CB-1EFF-9199-E223-892C272EF40C}"/>
                </a:ext>
              </a:extLst>
            </p:cNvPr>
            <p:cNvSpPr/>
            <p:nvPr/>
          </p:nvSpPr>
          <p:spPr>
            <a:xfrm>
              <a:off x="506413" y="966788"/>
              <a:ext cx="8305800" cy="949325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05598487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56174-2AC4-40DE-4D5D-4BE833D0A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12D1CE65-7563-AC91-A112-68C42F9FEA95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信号量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D51A9B99-7404-A14B-EA29-A0DFFE79D3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86331" y="1063552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      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二值信号量相关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6">
            <a:extLst>
              <a:ext uri="{FF2B5EF4-FFF2-40B4-BE49-F238E27FC236}">
                <a16:creationId xmlns:a16="http://schemas.microsoft.com/office/drawing/2014/main" id="{B5B641E4-43C2-031F-BD98-A45DFD12BF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45106" y="1598540"/>
            <a:ext cx="7081837" cy="306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释放二值信号量函数：</a:t>
            </a:r>
            <a:r>
              <a:rPr lang="en-US" altLang="zh-CN" sz="140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BaseType_t   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xSemaphoreGive( </a:t>
            </a:r>
            <a:r>
              <a:rPr lang="en-US" altLang="zh-CN" sz="140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xSemaphore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) </a:t>
            </a:r>
            <a:endParaRPr lang="zh-CN" altLang="en-US" sz="14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graphicFrame>
        <p:nvGraphicFramePr>
          <p:cNvPr id="10" name="表格 7">
            <a:extLst>
              <a:ext uri="{FF2B5EF4-FFF2-40B4-BE49-F238E27FC236}">
                <a16:creationId xmlns:a16="http://schemas.microsoft.com/office/drawing/2014/main" id="{444CE241-9ED5-9202-571B-616A8B4674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9939920"/>
              </p:ext>
            </p:extLst>
          </p:nvPr>
        </p:nvGraphicFramePr>
        <p:xfrm>
          <a:off x="1745106" y="4197277"/>
          <a:ext cx="5448300" cy="8508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81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63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返回值</a:t>
                      </a:r>
                    </a:p>
                  </a:txBody>
                  <a:tcPr marT="45727" marB="45727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</a:p>
                  </a:txBody>
                  <a:tcPr marT="45727" marB="45727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633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pdPASS</a:t>
                      </a:r>
                      <a:endParaRPr lang="en-US" sz="1400" b="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27" marB="45727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释放信号量成功</a:t>
                      </a:r>
                      <a:endParaRPr lang="zh-CN" altLang="en-US" sz="1400" b="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27" marB="45727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633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errQUEUE_FULL</a:t>
                      </a:r>
                      <a:endParaRPr lang="en-US" sz="1400" b="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27" marB="45727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释放信号量失败</a:t>
                      </a:r>
                      <a:endParaRPr lang="zh-CN" altLang="en-US" sz="1400" b="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27" marB="45727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1" name="表格 7">
            <a:extLst>
              <a:ext uri="{FF2B5EF4-FFF2-40B4-BE49-F238E27FC236}">
                <a16:creationId xmlns:a16="http://schemas.microsoft.com/office/drawing/2014/main" id="{3FE6F8C6-5353-54F5-C421-62B4A67662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2212335"/>
              </p:ext>
            </p:extLst>
          </p:nvPr>
        </p:nvGraphicFramePr>
        <p:xfrm>
          <a:off x="1745106" y="3338440"/>
          <a:ext cx="5448300" cy="5667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81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36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形参</a:t>
                      </a:r>
                    </a:p>
                  </a:txBody>
                  <a:tcPr marT="45684" marB="4568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</a:p>
                  </a:txBody>
                  <a:tcPr marT="45684" marB="4568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369">
                <a:tc>
                  <a:txBody>
                    <a:bodyPr/>
                    <a:lstStyle/>
                    <a:p>
                      <a:r>
                        <a:rPr lang="en-US" altLang="zh-CN" sz="12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xSemaphore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84" marB="45684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要释放的信号量句柄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84" marB="4568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2" name="组合 11">
            <a:extLst>
              <a:ext uri="{FF2B5EF4-FFF2-40B4-BE49-F238E27FC236}">
                <a16:creationId xmlns:a16="http://schemas.microsoft.com/office/drawing/2014/main" id="{DB23CD76-7C11-F362-1FAB-38F76DE768CC}"/>
              </a:ext>
            </a:extLst>
          </p:cNvPr>
          <p:cNvGrpSpPr>
            <a:grpSpLocks/>
          </p:cNvGrpSpPr>
          <p:nvPr/>
        </p:nvGrpSpPr>
        <p:grpSpPr bwMode="auto">
          <a:xfrm>
            <a:off x="1745105" y="1947789"/>
            <a:ext cx="9328703" cy="1226029"/>
            <a:chOff x="506413" y="1506538"/>
            <a:chExt cx="8515350" cy="989012"/>
          </a:xfrm>
        </p:grpSpPr>
        <p:sp>
          <p:nvSpPr>
            <p:cNvPr id="13" name="文本框 6">
              <a:extLst>
                <a:ext uri="{FF2B5EF4-FFF2-40B4-BE49-F238E27FC236}">
                  <a16:creationId xmlns:a16="http://schemas.microsoft.com/office/drawing/2014/main" id="{FC4D43CD-CC18-F4B9-C61F-C1B73561458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6413" y="1506538"/>
              <a:ext cx="8407400" cy="6175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altLang="zh-CN" sz="120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  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xSemaphoreGive (  </a:t>
              </a:r>
              <a:r>
                <a:rPr lang="zh-CN" altLang="en-US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xSemaphore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)    </a:t>
              </a:r>
              <a:r>
                <a:rPr lang="en-US" altLang="zh-CN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			\</a:t>
              </a:r>
            </a:p>
            <a:p>
              <a:pPr>
                <a:lnSpc>
                  <a:spcPct val="150000"/>
                </a:lnSpc>
              </a:pP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xQueueGenericSend( ( QueueHandle_t ) ( </a:t>
              </a:r>
              <a:r>
                <a:rPr lang="zh-CN" altLang="en-US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xSemaphore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)  ,   </a:t>
              </a:r>
              <a:r>
                <a:rPr lang="zh-CN" altLang="en-US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NULL  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   </a:t>
              </a:r>
              <a:r>
                <a:rPr lang="zh-CN" altLang="en-US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semGIVE_BLOCK_TIME  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   </a:t>
              </a:r>
              <a:r>
                <a:rPr lang="zh-CN" altLang="en-US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queueSEND_TO_BACK 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)</a:t>
              </a: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9A4E00E3-61AE-E272-86AB-9560A20A62F4}"/>
                </a:ext>
              </a:extLst>
            </p:cNvPr>
            <p:cNvSpPr/>
            <p:nvPr/>
          </p:nvSpPr>
          <p:spPr>
            <a:xfrm>
              <a:off x="506413" y="1506538"/>
              <a:ext cx="8515350" cy="989012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  <p:sp>
          <p:nvSpPr>
            <p:cNvPr id="15" name="文本框 12">
              <a:extLst>
                <a:ext uri="{FF2B5EF4-FFF2-40B4-BE49-F238E27FC236}">
                  <a16:creationId xmlns:a16="http://schemas.microsoft.com/office/drawing/2014/main" id="{8C891564-5F1F-43DC-0A69-21A3BE12C0C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6413" y="2179638"/>
              <a:ext cx="4619625" cy="2778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zh-CN" altLang="en-US" sz="120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  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semGIVE_BLOCK_TIME                  ( ( TickType_t ) </a:t>
              </a:r>
              <a:r>
                <a:rPr lang="zh-CN" altLang="en-US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0U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6676297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4984B-94D8-C260-DB6F-985619943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480912BB-029E-7A93-A3B0-F082955DB060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信号量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0B0648A0-EB6A-6214-F900-484E6803E5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6950" y="978491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      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二值信号量相关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6">
            <a:extLst>
              <a:ext uri="{FF2B5EF4-FFF2-40B4-BE49-F238E27FC236}">
                <a16:creationId xmlns:a16="http://schemas.microsoft.com/office/drawing/2014/main" id="{5D1F8010-6559-7A07-A274-592FB8AA92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17000" y="1711916"/>
            <a:ext cx="7081837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获取二值信号量函数：</a:t>
            </a:r>
            <a:r>
              <a:rPr lang="en-US" altLang="zh-CN" sz="140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BaseType_t   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xSemaphoreTake( </a:t>
            </a:r>
            <a:r>
              <a:rPr lang="en-US" altLang="zh-CN" sz="140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xSemaphore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, </a:t>
            </a:r>
            <a:r>
              <a:rPr lang="en-US" altLang="zh-CN" sz="140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xBlockTime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) </a:t>
            </a:r>
            <a:endParaRPr lang="zh-CN" altLang="en-US" sz="14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graphicFrame>
        <p:nvGraphicFramePr>
          <p:cNvPr id="10" name="表格 7">
            <a:extLst>
              <a:ext uri="{FF2B5EF4-FFF2-40B4-BE49-F238E27FC236}">
                <a16:creationId xmlns:a16="http://schemas.microsoft.com/office/drawing/2014/main" id="{51781699-50B4-B994-5F19-B0507F5B43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6343231"/>
              </p:ext>
            </p:extLst>
          </p:nvPr>
        </p:nvGraphicFramePr>
        <p:xfrm>
          <a:off x="2315425" y="3497854"/>
          <a:ext cx="5448300" cy="849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81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10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返回值</a:t>
                      </a:r>
                    </a:p>
                  </a:txBody>
                  <a:tcPr marT="45641" marB="4564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</a:p>
                  </a:txBody>
                  <a:tcPr marT="45641" marB="45641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104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pdTRUE</a:t>
                      </a:r>
                      <a:endParaRPr lang="en-US" sz="1300" b="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41" marB="45641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获取信号量成功</a:t>
                      </a:r>
                      <a:endParaRPr lang="zh-CN" altLang="en-US" sz="1300" b="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41" marB="45641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104">
                <a:tc>
                  <a:txBody>
                    <a:bodyPr/>
                    <a:lstStyle/>
                    <a:p>
                      <a:r>
                        <a:rPr lang="en-US" altLang="zh-CN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pdFALSE</a:t>
                      </a:r>
                      <a:endParaRPr lang="en-US" altLang="zh-CN" sz="1100" b="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41" marB="45641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超时，获取信号量失败</a:t>
                      </a:r>
                      <a:endParaRPr lang="zh-CN" altLang="en-US" sz="1300" b="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41" marB="45641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1" name="表格 7">
            <a:extLst>
              <a:ext uri="{FF2B5EF4-FFF2-40B4-BE49-F238E27FC236}">
                <a16:creationId xmlns:a16="http://schemas.microsoft.com/office/drawing/2014/main" id="{11566A26-8840-E6FF-66DB-2BC96E6D78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8987503"/>
              </p:ext>
            </p:extLst>
          </p:nvPr>
        </p:nvGraphicFramePr>
        <p:xfrm>
          <a:off x="2315425" y="2261191"/>
          <a:ext cx="5448300" cy="8508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81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63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形参</a:t>
                      </a:r>
                    </a:p>
                  </a:txBody>
                  <a:tcPr marT="45727" marB="45727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</a:p>
                  </a:txBody>
                  <a:tcPr marT="45727" marB="45727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633">
                <a:tc>
                  <a:txBody>
                    <a:bodyPr/>
                    <a:lstStyle/>
                    <a:p>
                      <a:r>
                        <a:rPr lang="en-US" altLang="zh-CN" sz="12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xSemaphore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27" marB="45727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要获取的信号量句柄</a:t>
                      </a:r>
                      <a:endParaRPr lang="en-US" altLang="zh-CN" sz="1100" b="0" i="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27" marB="45727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633">
                <a:tc>
                  <a:txBody>
                    <a:bodyPr/>
                    <a:lstStyle/>
                    <a:p>
                      <a:r>
                        <a:rPr lang="en-US" altLang="zh-CN" sz="12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xBlockTime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27" marB="45727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阻塞时间</a:t>
                      </a:r>
                      <a:endParaRPr lang="en-US" altLang="zh-CN" sz="1100" b="0" i="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27" marB="45727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651845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534374-2005-88E2-704A-D7F42F693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E3CFB46A-E4F3-A525-A85D-D5E06D0DAE68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信号量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34" name="文本框 9">
            <a:extLst>
              <a:ext uri="{FF2B5EF4-FFF2-40B4-BE49-F238E27FC236}">
                <a16:creationId xmlns:a16="http://schemas.microsoft.com/office/drawing/2014/main" id="{056FE34B-2803-E451-B92F-8CDF363F75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12912" y="1058235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，计数型信号量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35" name="文本框 32">
            <a:extLst>
              <a:ext uri="{FF2B5EF4-FFF2-40B4-BE49-F238E27FC236}">
                <a16:creationId xmlns:a16="http://schemas.microsoft.com/office/drawing/2014/main" id="{5B10D437-C40A-9D18-E5DF-20D33E8E36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47874" y="1523373"/>
            <a:ext cx="7997825" cy="70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计数型信号量相当于队列长度大于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1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的队列，因此计数型信号量能够容纳多个资源，这在计数型信号量被创建的时候确定的 </a:t>
            </a:r>
          </a:p>
        </p:txBody>
      </p:sp>
      <p:sp>
        <p:nvSpPr>
          <p:cNvPr id="36" name="文本框 1">
            <a:extLst>
              <a:ext uri="{FF2B5EF4-FFF2-40B4-BE49-F238E27FC236}">
                <a16:creationId xmlns:a16="http://schemas.microsoft.com/office/drawing/2014/main" id="{8EB1B1E7-090E-E723-CF20-521FBBDC65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5499" y="2458410"/>
            <a:ext cx="216058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计数型信号量适用场合：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7281FCE9-2E45-C2FD-A444-68FF265B2033}"/>
              </a:ext>
            </a:extLst>
          </p:cNvPr>
          <p:cNvSpPr/>
          <p:nvPr/>
        </p:nvSpPr>
        <p:spPr>
          <a:xfrm>
            <a:off x="1928849" y="3110873"/>
            <a:ext cx="1279525" cy="35242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事件计数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BB4819A1-1737-CBF5-3866-006F69464FB9}"/>
              </a:ext>
            </a:extLst>
          </p:cNvPr>
          <p:cNvSpPr/>
          <p:nvPr/>
        </p:nvSpPr>
        <p:spPr>
          <a:xfrm>
            <a:off x="1928849" y="4214185"/>
            <a:ext cx="1279525" cy="35242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资源管理</a:t>
            </a:r>
          </a:p>
        </p:txBody>
      </p:sp>
      <p:sp>
        <p:nvSpPr>
          <p:cNvPr id="39" name="文本框 12">
            <a:extLst>
              <a:ext uri="{FF2B5EF4-FFF2-40B4-BE49-F238E27FC236}">
                <a16:creationId xmlns:a16="http://schemas.microsoft.com/office/drawing/2014/main" id="{EE821485-3201-0F5F-F52C-FF8F67A792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08374" y="2860048"/>
            <a:ext cx="6845300" cy="70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当每次事件发生后，在事件处理函数中释放计数型信号量（计数值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+1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），其他任务</a:t>
            </a:r>
            <a:endParaRPr lang="en-US" altLang="zh-CN" sz="14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会获取计数型信号量（计数值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-1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） ，这种场合一般在创建时将初始计数值设置为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0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</a:p>
        </p:txBody>
      </p:sp>
      <p:sp>
        <p:nvSpPr>
          <p:cNvPr id="40" name="文本框 16">
            <a:extLst>
              <a:ext uri="{FF2B5EF4-FFF2-40B4-BE49-F238E27FC236}">
                <a16:creationId xmlns:a16="http://schemas.microsoft.com/office/drawing/2014/main" id="{682680F7-D523-068A-ADEF-A2D2B23769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6474" y="3876048"/>
            <a:ext cx="6807200" cy="1028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信号量表示有效的资源数目。任务必须先获取信号量（信号量计数值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-1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）才能获取资源控制权。当计数值减为零时表示没有的资源。当任务使用完资源后，必须释放信号量（信号量计数值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+1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）。信号量创建时计数值应等于最大资源数目</a:t>
            </a:r>
          </a:p>
        </p:txBody>
      </p:sp>
    </p:spTree>
    <p:extLst>
      <p:ext uri="{BB962C8B-B14F-4D97-AF65-F5344CB8AC3E}">
        <p14:creationId xmlns:p14="http://schemas.microsoft.com/office/powerpoint/2010/main" val="64199612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6" grpId="0"/>
      <p:bldP spid="37" grpId="0" animBg="1"/>
      <p:bldP spid="38" grpId="0" animBg="1"/>
      <p:bldP spid="39" grpId="0"/>
      <p:bldP spid="40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EFDDC-1C1D-3FFF-26A2-275F838F1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C6A9C970-FAC8-A345-77E1-CD677A637E5B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信号量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2FFF6886-30AC-8A7D-C57C-A65C389883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73994" y="1233672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      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计数型信号量相关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函数（熟悉）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159">
            <a:extLst>
              <a:ext uri="{FF2B5EF4-FFF2-40B4-BE49-F238E27FC236}">
                <a16:creationId xmlns:a16="http://schemas.microsoft.com/office/drawing/2014/main" id="{86C887B4-BBD2-A00A-34C5-B14840B732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45469" y="1828985"/>
            <a:ext cx="752951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使用计数型信号量的过程：创建计数型信号量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sym typeface="Wingdings" panose="05000000000000000000" pitchFamily="2" charset="2"/>
              </a:rPr>
              <a:t>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释放信号量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sym typeface="Wingdings" panose="05000000000000000000" pitchFamily="2" charset="2"/>
              </a:rPr>
              <a:t>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sym typeface="Wingdings" panose="05000000000000000000" pitchFamily="2" charset="2"/>
              </a:rPr>
              <a:t>获取信号量</a:t>
            </a:r>
            <a:endParaRPr lang="zh-CN" altLang="en-US" sz="14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graphicFrame>
        <p:nvGraphicFramePr>
          <p:cNvPr id="10" name="表格 7">
            <a:extLst>
              <a:ext uri="{FF2B5EF4-FFF2-40B4-BE49-F238E27FC236}">
                <a16:creationId xmlns:a16="http://schemas.microsoft.com/office/drawing/2014/main" id="{47F7E0DD-C910-46D5-4D95-F264B6F8B5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0627520"/>
              </p:ext>
            </p:extLst>
          </p:nvPr>
        </p:nvGraphicFramePr>
        <p:xfrm>
          <a:off x="1854994" y="2373497"/>
          <a:ext cx="5448300" cy="1135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4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4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766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函数</a:t>
                      </a:r>
                    </a:p>
                  </a:txBody>
                  <a:tcPr marT="45748" marB="45748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</a:p>
                  </a:txBody>
                  <a:tcPr marT="45748" marB="45748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766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xSemaphoreCreateCounting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48" marB="45748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使用动态方法创建计数型信号量。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48" marB="4574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766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xSemaphoreCreateCountingStatic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48" marB="45748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使用静态方法创建计数型信号量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48" marB="45748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766">
                <a:tc>
                  <a:txBody>
                    <a:bodyPr/>
                    <a:lstStyle/>
                    <a:p>
                      <a:r>
                        <a:rPr lang="en-US" sz="110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uxSemaphoreGetCount</a:t>
                      </a:r>
                      <a:r>
                        <a:rPr lang="en-US" sz="110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</a:t>
                      </a:r>
                    </a:p>
                  </a:txBody>
                  <a:tcPr marT="45748" marB="45748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获取信号量的计数值</a:t>
                      </a:r>
                    </a:p>
                  </a:txBody>
                  <a:tcPr marT="45748" marB="45748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文本框 7">
            <a:extLst>
              <a:ext uri="{FF2B5EF4-FFF2-40B4-BE49-F238E27FC236}">
                <a16:creationId xmlns:a16="http://schemas.microsoft.com/office/drawing/2014/main" id="{BED85DB9-E3DD-5FB4-BF1D-FED0BC21BD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54994" y="4181660"/>
            <a:ext cx="46196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计数型信号量的释放和获取与二值信号量相同 ！</a:t>
            </a:r>
          </a:p>
        </p:txBody>
      </p:sp>
    </p:spTree>
    <p:extLst>
      <p:ext uri="{BB962C8B-B14F-4D97-AF65-F5344CB8AC3E}">
        <p14:creationId xmlns:p14="http://schemas.microsoft.com/office/powerpoint/2010/main" val="271514520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81B715-F610-A31E-4EA1-54D1DCEA5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9F67538F-00CF-6565-A38F-0DFC3D51AE16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信号量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7C3EEE65-C880-CC6B-A1C3-B5D6763AB8F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73994" y="1161177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      </a:t>
            </a:r>
            <a:r>
              <a:rPr lang="zh-CN" altLang="en-US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计数型信号量创建</a:t>
            </a:r>
            <a:r>
              <a:rPr lang="en-US" altLang="zh-CN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</a:t>
            </a:r>
            <a:endParaRPr lang="en-US" altLang="zh-CN" b="1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159">
            <a:extLst>
              <a:ext uri="{FF2B5EF4-FFF2-40B4-BE49-F238E27FC236}">
                <a16:creationId xmlns:a16="http://schemas.microsoft.com/office/drawing/2014/main" id="{1B1CA89A-CF2B-BCCB-B5F7-670E2294C6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45469" y="1756489"/>
            <a:ext cx="9419810" cy="7077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CN" sz="140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#define 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xSemaphoreCreateCounting(  </a:t>
            </a:r>
            <a:r>
              <a:rPr lang="en-US" altLang="zh-CN" sz="140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uxMaxCount  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,  </a:t>
            </a:r>
            <a:r>
              <a:rPr lang="en-US" altLang="zh-CN" sz="140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uxInitialCount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 )   		\</a:t>
            </a:r>
            <a:b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</a:b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	xQueueCreateCountingSemaphore( (  </a:t>
            </a:r>
            <a:r>
              <a:rPr lang="en-US" altLang="zh-CN" sz="140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uxMaxCount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 ) , (  </a:t>
            </a:r>
            <a:r>
              <a:rPr lang="en-US" altLang="zh-CN" sz="140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uxInitialCount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 ) ) </a:t>
            </a:r>
            <a:endParaRPr lang="zh-CN" altLang="en-US" sz="14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graphicFrame>
        <p:nvGraphicFramePr>
          <p:cNvPr id="10" name="表格 7">
            <a:extLst>
              <a:ext uri="{FF2B5EF4-FFF2-40B4-BE49-F238E27FC236}">
                <a16:creationId xmlns:a16="http://schemas.microsoft.com/office/drawing/2014/main" id="{E30E3B70-D328-8DEF-70B1-52800BDC62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9314301"/>
              </p:ext>
            </p:extLst>
          </p:nvPr>
        </p:nvGraphicFramePr>
        <p:xfrm>
          <a:off x="1845469" y="4112340"/>
          <a:ext cx="5448300" cy="8508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81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63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返回值</a:t>
                      </a:r>
                    </a:p>
                  </a:txBody>
                  <a:tcPr marT="45727" marB="45727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</a:p>
                  </a:txBody>
                  <a:tcPr marT="45727" marB="45727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633">
                <a:tc>
                  <a:txBody>
                    <a:bodyPr/>
                    <a:lstStyle/>
                    <a:p>
                      <a:r>
                        <a:rPr lang="en-US" sz="110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NULL</a:t>
                      </a:r>
                    </a:p>
                  </a:txBody>
                  <a:tcPr marT="45723" marB="45723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创建失败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23" marB="45723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633">
                <a:tc>
                  <a:txBody>
                    <a:bodyPr/>
                    <a:lstStyle/>
                    <a:p>
                      <a:r>
                        <a:rPr lang="zh-CN" altLang="en-US" sz="110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其他值</a:t>
                      </a:r>
                      <a:endParaRPr 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23" marB="45723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创建成功返回计数型信号量的句柄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23" marB="45723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1" name="表格 7">
            <a:extLst>
              <a:ext uri="{FF2B5EF4-FFF2-40B4-BE49-F238E27FC236}">
                <a16:creationId xmlns:a16="http://schemas.microsoft.com/office/drawing/2014/main" id="{D722D61D-B1B3-E659-FD9B-CED08554F9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5351127"/>
              </p:ext>
            </p:extLst>
          </p:nvPr>
        </p:nvGraphicFramePr>
        <p:xfrm>
          <a:off x="1845469" y="3056652"/>
          <a:ext cx="5448300" cy="849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81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10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形参</a:t>
                      </a:r>
                    </a:p>
                  </a:txBody>
                  <a:tcPr marT="45641" marB="4564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</a:p>
                  </a:txBody>
                  <a:tcPr marT="45641" marB="45641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104">
                <a:tc>
                  <a:txBody>
                    <a:bodyPr/>
                    <a:lstStyle/>
                    <a:p>
                      <a:r>
                        <a:rPr lang="en-US" altLang="zh-CN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uxMaxCount</a:t>
                      </a:r>
                      <a:endParaRPr 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41" marB="45641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计数值的最大值限定</a:t>
                      </a:r>
                    </a:p>
                  </a:txBody>
                  <a:tcPr marT="45641" marB="45641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104">
                <a:tc>
                  <a:txBody>
                    <a:bodyPr/>
                    <a:lstStyle/>
                    <a:p>
                      <a:r>
                        <a:rPr lang="en-US" altLang="zh-CN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uxInitialCount</a:t>
                      </a:r>
                      <a:endParaRPr 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41" marB="45641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计数值的初始值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41" marB="45641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" name="矩形 11">
            <a:extLst>
              <a:ext uri="{FF2B5EF4-FFF2-40B4-BE49-F238E27FC236}">
                <a16:creationId xmlns:a16="http://schemas.microsoft.com/office/drawing/2014/main" id="{108533C3-A121-8741-C349-E3B0C21CEE25}"/>
              </a:ext>
            </a:extLst>
          </p:cNvPr>
          <p:cNvSpPr/>
          <p:nvPr/>
        </p:nvSpPr>
        <p:spPr>
          <a:xfrm>
            <a:off x="1845468" y="1780301"/>
            <a:ext cx="9705499" cy="707717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13" name="文本框 2">
            <a:extLst>
              <a:ext uri="{FF2B5EF4-FFF2-40B4-BE49-F238E27FC236}">
                <a16:creationId xmlns:a16="http://schemas.microsoft.com/office/drawing/2014/main" id="{843C70B5-2DD7-29D4-DF51-C051BFF073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4506" y="2645490"/>
            <a:ext cx="309880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此函数用于创建一个计数型信号量 。</a:t>
            </a:r>
          </a:p>
        </p:txBody>
      </p:sp>
    </p:spTree>
    <p:extLst>
      <p:ext uri="{BB962C8B-B14F-4D97-AF65-F5344CB8AC3E}">
        <p14:creationId xmlns:p14="http://schemas.microsoft.com/office/powerpoint/2010/main" val="336048004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2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64EE1-04D0-0878-9F25-2D52F0A7D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469CD509-F82B-8D4B-5BFC-1FA9911B41EA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信号量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5FB88AC1-49F2-F1AC-421B-9173D24A32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19238" y="1161177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      </a:t>
            </a:r>
            <a:r>
              <a:rPr lang="zh-CN" altLang="en-US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计数型信号量创建</a:t>
            </a:r>
            <a:r>
              <a:rPr lang="en-US" altLang="zh-CN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</a:t>
            </a:r>
            <a:endParaRPr lang="en-US" altLang="zh-CN" b="1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159">
            <a:extLst>
              <a:ext uri="{FF2B5EF4-FFF2-40B4-BE49-F238E27FC236}">
                <a16:creationId xmlns:a16="http://schemas.microsoft.com/office/drawing/2014/main" id="{CF76CCA8-C8E2-BD38-E493-E187F28C64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0713" y="1756489"/>
            <a:ext cx="9568078" cy="7005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#define 	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uxSemaphoreGetCount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xSemaphore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) 						\</a:t>
            </a:r>
            <a:b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</a:b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	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uxQueueMessagesWaiting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 (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QueueHandle_t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) (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xSemaphore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) )</a:t>
            </a:r>
            <a:endParaRPr lang="zh-CN" altLang="en-US" sz="14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graphicFrame>
        <p:nvGraphicFramePr>
          <p:cNvPr id="10" name="表格 7">
            <a:extLst>
              <a:ext uri="{FF2B5EF4-FFF2-40B4-BE49-F238E27FC236}">
                <a16:creationId xmlns:a16="http://schemas.microsoft.com/office/drawing/2014/main" id="{80D8198F-BA90-2BEC-B0E3-168DFCF2B5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2372899"/>
              </p:ext>
            </p:extLst>
          </p:nvPr>
        </p:nvGraphicFramePr>
        <p:xfrm>
          <a:off x="1890713" y="3898027"/>
          <a:ext cx="5448300" cy="5667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81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36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返回值</a:t>
                      </a:r>
                    </a:p>
                  </a:txBody>
                  <a:tcPr marT="45684" marB="4568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</a:p>
                  </a:txBody>
                  <a:tcPr marT="45684" marB="4568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369">
                <a:tc>
                  <a:txBody>
                    <a:bodyPr/>
                    <a:lstStyle/>
                    <a:p>
                      <a:r>
                        <a:rPr lang="zh-CN" altLang="en-US" sz="110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整数</a:t>
                      </a:r>
                      <a:endParaRPr 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80" marB="45680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当前信号量的计数值大小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80" marB="4568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" name="表格 7">
            <a:extLst>
              <a:ext uri="{FF2B5EF4-FFF2-40B4-BE49-F238E27FC236}">
                <a16:creationId xmlns:a16="http://schemas.microsoft.com/office/drawing/2014/main" id="{1C0B4EF1-9039-5B79-EF11-FFA0500C32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726052"/>
              </p:ext>
            </p:extLst>
          </p:nvPr>
        </p:nvGraphicFramePr>
        <p:xfrm>
          <a:off x="1890713" y="3110627"/>
          <a:ext cx="5448300" cy="5667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81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36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形参</a:t>
                      </a:r>
                    </a:p>
                  </a:txBody>
                  <a:tcPr marT="45684" marB="4568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</a:p>
                  </a:txBody>
                  <a:tcPr marT="45684" marB="4568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369">
                <a:tc>
                  <a:txBody>
                    <a:bodyPr/>
                    <a:lstStyle/>
                    <a:p>
                      <a:r>
                        <a:rPr lang="en-US" altLang="zh-CN" sz="1100" dirty="0" err="1">
                          <a:solidFill>
                            <a:srgbClr val="002060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xSemaphore</a:t>
                      </a:r>
                      <a:endParaRPr 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84" marB="45684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信号量句柄</a:t>
                      </a:r>
                    </a:p>
                  </a:txBody>
                  <a:tcPr marT="45684" marB="4568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" name="矩形 11">
            <a:extLst>
              <a:ext uri="{FF2B5EF4-FFF2-40B4-BE49-F238E27FC236}">
                <a16:creationId xmlns:a16="http://schemas.microsoft.com/office/drawing/2014/main" id="{A13932F6-1D89-9FA8-1408-0AF40A0FDD5E}"/>
              </a:ext>
            </a:extLst>
          </p:cNvPr>
          <p:cNvSpPr/>
          <p:nvPr/>
        </p:nvSpPr>
        <p:spPr>
          <a:xfrm>
            <a:off x="1890713" y="1780302"/>
            <a:ext cx="9858264" cy="80852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13" name="文本框 2">
            <a:extLst>
              <a:ext uri="{FF2B5EF4-FFF2-40B4-BE49-F238E27FC236}">
                <a16:creationId xmlns:a16="http://schemas.microsoft.com/office/drawing/2014/main" id="{108CDC15-2C18-932E-D67B-8F1E6E8686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9750" y="2645490"/>
            <a:ext cx="3236913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此函数用于获取信号量当前计数值大小</a:t>
            </a:r>
          </a:p>
        </p:txBody>
      </p:sp>
    </p:spTree>
    <p:extLst>
      <p:ext uri="{BB962C8B-B14F-4D97-AF65-F5344CB8AC3E}">
        <p14:creationId xmlns:p14="http://schemas.microsoft.com/office/powerpoint/2010/main" val="281181321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2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C5D5D-A0C1-5CEF-A148-720E8803EB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39708C25-0C4A-2AF2-19E9-661EF16D92B5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A834FBAB-A429-B562-2461-F1473B227F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70383" y="1111398"/>
            <a:ext cx="4619625" cy="46355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defRPr/>
            </a:pPr>
            <a:r>
              <a:rPr lang="en-US" altLang="zh-CN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1</a:t>
            </a:r>
            <a:r>
              <a:rPr lang="zh-CN" altLang="en-US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，队列简介</a:t>
            </a:r>
            <a:endParaRPr lang="en-US" altLang="zh-CN" b="1" dirty="0">
              <a:solidFill>
                <a:schemeClr val="bg2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3843C7F-729B-D859-DDD9-8C79BE22C7C4}"/>
              </a:ext>
            </a:extLst>
          </p:cNvPr>
          <p:cNvSpPr txBox="1"/>
          <p:nvPr/>
        </p:nvSpPr>
        <p:spPr>
          <a:xfrm>
            <a:off x="1748208" y="1762273"/>
            <a:ext cx="7043737" cy="30797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/>
            </a:pPr>
            <a:r>
              <a:rPr lang="zh-CN" altLang="en-US" sz="1400" dirty="0">
                <a:solidFill>
                  <a:schemeClr val="bg2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队列是任务到任务、任务到中断、中断到任务数据交流的一种机制（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消息传递</a:t>
            </a:r>
            <a:r>
              <a:rPr lang="zh-CN" altLang="en-US" sz="1400" dirty="0">
                <a:solidFill>
                  <a:schemeClr val="bg2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）</a:t>
            </a:r>
            <a:r>
              <a:rPr lang="zh-CN" altLang="en-US" sz="1400" dirty="0">
                <a:solidFill>
                  <a:schemeClr val="accent5">
                    <a:lumMod val="50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</a:p>
        </p:txBody>
      </p:sp>
      <p:sp>
        <p:nvSpPr>
          <p:cNvPr id="10" name="文本框 160">
            <a:extLst>
              <a:ext uri="{FF2B5EF4-FFF2-40B4-BE49-F238E27FC236}">
                <a16:creationId xmlns:a16="http://schemas.microsoft.com/office/drawing/2014/main" id="{7660EA8A-AF5C-BCD2-9850-902B47CC96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3920" y="2251223"/>
            <a:ext cx="704373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类似全局变量？假设有一个全局变量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a = 0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，现有两个任务都在写这个变量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a</a:t>
            </a:r>
            <a:endParaRPr lang="zh-CN" altLang="en-US" sz="14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9205A39-7EC7-BBBA-C430-014F936F8606}"/>
              </a:ext>
            </a:extLst>
          </p:cNvPr>
          <p:cNvSpPr/>
          <p:nvPr/>
        </p:nvSpPr>
        <p:spPr bwMode="auto">
          <a:xfrm>
            <a:off x="1914895" y="2951310"/>
            <a:ext cx="3354387" cy="124854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zh-CN" altLang="en-US" sz="1400" dirty="0">
                <a:solidFill>
                  <a:schemeClr val="bg2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任务</a:t>
            </a:r>
            <a:r>
              <a:rPr lang="en-US" altLang="zh-CN" sz="1400" dirty="0">
                <a:solidFill>
                  <a:schemeClr val="bg2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1</a:t>
            </a:r>
            <a:r>
              <a:rPr lang="zh-CN" altLang="en-US" sz="1400" dirty="0">
                <a:solidFill>
                  <a:schemeClr val="bg2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（）</a:t>
            </a:r>
            <a:endParaRPr lang="en-US" altLang="zh-CN" sz="1400" dirty="0">
              <a:solidFill>
                <a:schemeClr val="bg2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pPr>
              <a:defRPr/>
            </a:pPr>
            <a:r>
              <a:rPr lang="en-US" altLang="zh-CN" sz="1400" dirty="0">
                <a:solidFill>
                  <a:schemeClr val="bg2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{</a:t>
            </a:r>
          </a:p>
          <a:p>
            <a:pPr>
              <a:defRPr/>
            </a:pPr>
            <a:r>
              <a:rPr lang="en-US" altLang="zh-CN" sz="1400" dirty="0">
                <a:solidFill>
                  <a:schemeClr val="bg2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a++;</a:t>
            </a:r>
          </a:p>
          <a:p>
            <a:pPr>
              <a:defRPr/>
            </a:pPr>
            <a:r>
              <a:rPr lang="en-US" altLang="zh-CN" sz="1400" dirty="0">
                <a:solidFill>
                  <a:schemeClr val="bg2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}</a:t>
            </a:r>
            <a:endParaRPr lang="zh-CN" altLang="en-US" sz="1400" dirty="0">
              <a:solidFill>
                <a:schemeClr val="bg2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2" name="左大括号 11">
            <a:extLst>
              <a:ext uri="{FF2B5EF4-FFF2-40B4-BE49-F238E27FC236}">
                <a16:creationId xmlns:a16="http://schemas.microsoft.com/office/drawing/2014/main" id="{8590A9CA-B8FA-4266-9559-9756C9608039}"/>
              </a:ext>
            </a:extLst>
          </p:cNvPr>
          <p:cNvSpPr/>
          <p:nvPr/>
        </p:nvSpPr>
        <p:spPr bwMode="auto">
          <a:xfrm>
            <a:off x="3327769" y="3348519"/>
            <a:ext cx="161925" cy="687387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3E84E9A-1ABF-B70B-FA99-B52BF1A9A17D}"/>
              </a:ext>
            </a:extLst>
          </p:cNvPr>
          <p:cNvSpPr txBox="1"/>
          <p:nvPr/>
        </p:nvSpPr>
        <p:spPr bwMode="auto">
          <a:xfrm>
            <a:off x="3445244" y="3267963"/>
            <a:ext cx="1316038" cy="26193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zh-CN" altLang="en-US" sz="1100" dirty="0">
                <a:solidFill>
                  <a:schemeClr val="accent5">
                    <a:lumMod val="50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①读数据：</a:t>
            </a:r>
            <a:r>
              <a:rPr lang="en-US" altLang="zh-CN" sz="1100" dirty="0">
                <a:solidFill>
                  <a:schemeClr val="accent5">
                    <a:lumMod val="50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r0 &lt;= a</a:t>
            </a:r>
            <a:endParaRPr lang="zh-CN" altLang="en-US" sz="1100" dirty="0">
              <a:solidFill>
                <a:schemeClr val="accent5">
                  <a:lumMod val="50000"/>
                </a:schemeClr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BCA28FD5-C80C-95F1-C542-72458940C557}"/>
              </a:ext>
            </a:extLst>
          </p:cNvPr>
          <p:cNvSpPr txBox="1"/>
          <p:nvPr/>
        </p:nvSpPr>
        <p:spPr bwMode="auto">
          <a:xfrm>
            <a:off x="3445244" y="3537838"/>
            <a:ext cx="1649413" cy="26193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zh-CN" altLang="en-US" sz="1100" dirty="0">
                <a:solidFill>
                  <a:schemeClr val="accent5">
                    <a:lumMod val="50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②修改数据：</a:t>
            </a:r>
            <a:r>
              <a:rPr lang="en-US" altLang="zh-CN" sz="1100" dirty="0">
                <a:solidFill>
                  <a:schemeClr val="accent5">
                    <a:lumMod val="50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r0 = r0 + 1</a:t>
            </a:r>
            <a:endParaRPr lang="zh-CN" altLang="en-US" sz="1100" dirty="0">
              <a:solidFill>
                <a:schemeClr val="accent5">
                  <a:lumMod val="50000"/>
                </a:schemeClr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0D8D38F-22D0-8192-4190-0DB9C8AA5EAF}"/>
              </a:ext>
            </a:extLst>
          </p:cNvPr>
          <p:cNvSpPr txBox="1"/>
          <p:nvPr/>
        </p:nvSpPr>
        <p:spPr bwMode="auto">
          <a:xfrm>
            <a:off x="3462707" y="3799775"/>
            <a:ext cx="1316037" cy="2619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zh-CN" altLang="en-US" sz="1100" dirty="0">
                <a:solidFill>
                  <a:schemeClr val="accent5">
                    <a:lumMod val="50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③写数据：</a:t>
            </a:r>
            <a:r>
              <a:rPr lang="en-US" altLang="zh-CN" sz="1100" dirty="0">
                <a:solidFill>
                  <a:schemeClr val="accent5">
                    <a:lumMod val="50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r0 =&gt; a</a:t>
            </a:r>
            <a:endParaRPr lang="zh-CN" altLang="en-US" sz="1100" dirty="0">
              <a:solidFill>
                <a:schemeClr val="accent5">
                  <a:lumMod val="50000"/>
                </a:schemeClr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5309AD9-0A0E-9B7F-2670-FFD175653ECB}"/>
              </a:ext>
            </a:extLst>
          </p:cNvPr>
          <p:cNvSpPr/>
          <p:nvPr/>
        </p:nvSpPr>
        <p:spPr bwMode="auto">
          <a:xfrm>
            <a:off x="5943970" y="2951311"/>
            <a:ext cx="4087849" cy="12065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zh-CN" altLang="en-US" sz="1400" dirty="0">
                <a:solidFill>
                  <a:schemeClr val="accent5">
                    <a:lumMod val="50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任务</a:t>
            </a:r>
            <a:r>
              <a:rPr lang="en-US" altLang="zh-CN" sz="1400" dirty="0">
                <a:solidFill>
                  <a:schemeClr val="accent5">
                    <a:lumMod val="50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2</a:t>
            </a:r>
            <a:r>
              <a:rPr lang="zh-CN" altLang="en-US" sz="1400" dirty="0">
                <a:solidFill>
                  <a:schemeClr val="accent5">
                    <a:lumMod val="50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（）</a:t>
            </a:r>
            <a:endParaRPr lang="en-US" altLang="zh-CN" sz="1400" dirty="0">
              <a:solidFill>
                <a:schemeClr val="accent5">
                  <a:lumMod val="50000"/>
                </a:schemeClr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pPr>
              <a:defRPr/>
            </a:pPr>
            <a:r>
              <a:rPr lang="en-US" altLang="zh-CN" sz="1400" dirty="0">
                <a:solidFill>
                  <a:schemeClr val="accent5">
                    <a:lumMod val="50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{</a:t>
            </a:r>
          </a:p>
          <a:p>
            <a:pPr>
              <a:defRPr/>
            </a:pPr>
            <a:r>
              <a:rPr lang="en-US" altLang="zh-CN" sz="1400" dirty="0">
                <a:solidFill>
                  <a:schemeClr val="accent5">
                    <a:lumMod val="50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a++;</a:t>
            </a:r>
          </a:p>
          <a:p>
            <a:pPr>
              <a:defRPr/>
            </a:pPr>
            <a:r>
              <a:rPr lang="en-US" altLang="zh-CN" sz="1400" dirty="0">
                <a:solidFill>
                  <a:schemeClr val="accent5">
                    <a:lumMod val="50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}</a:t>
            </a:r>
            <a:endParaRPr lang="zh-CN" altLang="en-US" sz="1400" dirty="0">
              <a:solidFill>
                <a:schemeClr val="accent5">
                  <a:lumMod val="50000"/>
                </a:schemeClr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7" name="左大括号 16">
            <a:extLst>
              <a:ext uri="{FF2B5EF4-FFF2-40B4-BE49-F238E27FC236}">
                <a16:creationId xmlns:a16="http://schemas.microsoft.com/office/drawing/2014/main" id="{FFB89442-9830-B490-E58B-71B938F766D4}"/>
              </a:ext>
            </a:extLst>
          </p:cNvPr>
          <p:cNvSpPr/>
          <p:nvPr/>
        </p:nvSpPr>
        <p:spPr bwMode="auto">
          <a:xfrm>
            <a:off x="7391918" y="3296022"/>
            <a:ext cx="161925" cy="687388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205CF29-1E3B-9DDB-E96F-FF8F6D6E0AD0}"/>
              </a:ext>
            </a:extLst>
          </p:cNvPr>
          <p:cNvSpPr txBox="1"/>
          <p:nvPr/>
        </p:nvSpPr>
        <p:spPr bwMode="auto">
          <a:xfrm>
            <a:off x="7536381" y="3242047"/>
            <a:ext cx="1317625" cy="2619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zh-CN" altLang="en-US" sz="1100" dirty="0">
                <a:solidFill>
                  <a:schemeClr val="accent5">
                    <a:lumMod val="50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①读数据：</a:t>
            </a:r>
            <a:r>
              <a:rPr lang="en-US" altLang="zh-CN" sz="1100" dirty="0">
                <a:solidFill>
                  <a:schemeClr val="accent5">
                    <a:lumMod val="50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r0 &lt;= a</a:t>
            </a:r>
            <a:endParaRPr lang="zh-CN" altLang="en-US" sz="1100" dirty="0">
              <a:solidFill>
                <a:schemeClr val="accent5">
                  <a:lumMod val="50000"/>
                </a:schemeClr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9EDDDFE2-E4E6-AA29-FDAB-A2C4B738EECC}"/>
              </a:ext>
            </a:extLst>
          </p:cNvPr>
          <p:cNvSpPr txBox="1"/>
          <p:nvPr/>
        </p:nvSpPr>
        <p:spPr bwMode="auto">
          <a:xfrm>
            <a:off x="7536381" y="3511922"/>
            <a:ext cx="1651000" cy="2619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zh-CN" altLang="en-US" sz="1100" dirty="0">
                <a:solidFill>
                  <a:schemeClr val="accent5">
                    <a:lumMod val="50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②修改数据：</a:t>
            </a:r>
            <a:r>
              <a:rPr lang="en-US" altLang="zh-CN" sz="1100" dirty="0">
                <a:solidFill>
                  <a:schemeClr val="accent5">
                    <a:lumMod val="50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r0 = r0 + 1</a:t>
            </a:r>
            <a:endParaRPr lang="zh-CN" altLang="en-US" sz="1100" dirty="0">
              <a:solidFill>
                <a:schemeClr val="accent5">
                  <a:lumMod val="50000"/>
                </a:schemeClr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ACE44DE-E11E-5377-BEA2-AB17C5F1FA30}"/>
              </a:ext>
            </a:extLst>
          </p:cNvPr>
          <p:cNvSpPr txBox="1"/>
          <p:nvPr/>
        </p:nvSpPr>
        <p:spPr bwMode="auto">
          <a:xfrm>
            <a:off x="7553843" y="3773860"/>
            <a:ext cx="1317625" cy="26193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zh-CN" altLang="en-US" sz="1100" dirty="0">
                <a:solidFill>
                  <a:schemeClr val="accent5">
                    <a:lumMod val="50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③写数据：</a:t>
            </a:r>
            <a:r>
              <a:rPr lang="en-US" altLang="zh-CN" sz="1100" dirty="0">
                <a:solidFill>
                  <a:schemeClr val="accent5">
                    <a:lumMod val="50000"/>
                  </a:schemeClr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r0 =&gt; a</a:t>
            </a:r>
            <a:endParaRPr lang="zh-CN" altLang="en-US" sz="1100" dirty="0">
              <a:solidFill>
                <a:schemeClr val="accent5">
                  <a:lumMod val="50000"/>
                </a:schemeClr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21" name="文本框 31">
            <a:extLst>
              <a:ext uri="{FF2B5EF4-FFF2-40B4-BE49-F238E27FC236}">
                <a16:creationId xmlns:a16="http://schemas.microsoft.com/office/drawing/2014/main" id="{90B3B075-84D4-6E8C-0D7F-1BCA192385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9020" y="4541986"/>
            <a:ext cx="838358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b="1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全局变量的弊端</a:t>
            </a:r>
            <a:r>
              <a:rPr lang="zh-CN" altLang="en-US" sz="1400" b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：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数据无保护，导致数据不安全，当多个任务同时对该变量操作时，数据易受损</a:t>
            </a:r>
            <a:endParaRPr lang="zh-CN" altLang="en-US" sz="1400" b="1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1425285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 animBg="1"/>
      <p:bldP spid="12" grpId="0" animBg="1"/>
      <p:bldP spid="13" grpId="0"/>
      <p:bldP spid="14" grpId="0"/>
      <p:bldP spid="15" grpId="0"/>
      <p:bldP spid="16" grpId="0" animBg="1"/>
      <p:bldP spid="17" grpId="0" animBg="1"/>
      <p:bldP spid="18" grpId="0"/>
      <p:bldP spid="19" grpId="0"/>
      <p:bldP spid="20" grpId="0"/>
      <p:bldP spid="21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F19A7-8635-87C6-505A-4AB76C657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3C6942DE-D91A-BE0B-5194-72D763D27CAA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6B3AB24C-D2C4-6C3C-412D-384608113B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91647" y="1223039"/>
            <a:ext cx="2346325" cy="46355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defRPr/>
            </a:pPr>
            <a:r>
              <a:rPr lang="en-US" altLang="zh-CN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1</a:t>
            </a:r>
            <a:r>
              <a:rPr lang="zh-CN" altLang="en-US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，队列简介</a:t>
            </a:r>
            <a:endParaRPr lang="en-US" altLang="zh-CN" b="1" dirty="0">
              <a:solidFill>
                <a:schemeClr val="bg2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FCBE863-F24D-37BB-EB1E-69BC1C59E8A1}"/>
              </a:ext>
            </a:extLst>
          </p:cNvPr>
          <p:cNvSpPr txBox="1"/>
          <p:nvPr/>
        </p:nvSpPr>
        <p:spPr>
          <a:xfrm>
            <a:off x="1769472" y="1873914"/>
            <a:ext cx="7043737" cy="30797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/>
            </a:pPr>
            <a:r>
              <a:rPr lang="zh-CN" altLang="en-US" sz="1400" dirty="0">
                <a:solidFill>
                  <a:schemeClr val="bg2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使用队列的情况如下：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B51CE4A6-6C4C-4EA3-ADE8-40A46CDE9315}"/>
              </a:ext>
            </a:extLst>
          </p:cNvPr>
          <p:cNvSpPr/>
          <p:nvPr/>
        </p:nvSpPr>
        <p:spPr>
          <a:xfrm>
            <a:off x="2075859" y="2380327"/>
            <a:ext cx="1317625" cy="78422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任务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A</a:t>
            </a:r>
          </a:p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{</a:t>
            </a:r>
          </a:p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      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写队列；</a:t>
            </a:r>
            <a:endParaRPr lang="en-US" altLang="zh-CN" sz="12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}</a:t>
            </a:r>
            <a:endParaRPr lang="zh-CN" altLang="en-US" sz="12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C5985A37-21F6-F3E4-A574-576C5A1B137B}"/>
              </a:ext>
            </a:extLst>
          </p:cNvPr>
          <p:cNvSpPr/>
          <p:nvPr/>
        </p:nvSpPr>
        <p:spPr>
          <a:xfrm>
            <a:off x="2075859" y="3272502"/>
            <a:ext cx="1317625" cy="782637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任务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B</a:t>
            </a:r>
          </a:p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{</a:t>
            </a:r>
          </a:p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      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写队列；</a:t>
            </a:r>
            <a:endParaRPr lang="en-US" altLang="zh-CN" sz="12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}</a:t>
            </a:r>
            <a:endParaRPr lang="zh-CN" altLang="en-US" sz="12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pic>
        <p:nvPicPr>
          <p:cNvPr id="12" name="图片 27">
            <a:extLst>
              <a:ext uri="{FF2B5EF4-FFF2-40B4-BE49-F238E27FC236}">
                <a16:creationId xmlns:a16="http://schemas.microsoft.com/office/drawing/2014/main" id="{743BAD2F-D1E5-F0F5-C6E8-1029721F4E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4209" y="2826414"/>
            <a:ext cx="2359025" cy="738188"/>
          </a:xfrm>
          <a:prstGeom prst="rect">
            <a:avLst/>
          </a:prstGeom>
          <a:noFill/>
          <a:ln w="9525">
            <a:solidFill>
              <a:srgbClr val="00206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38082795-34BC-01E0-5ADA-F62A6F582A95}"/>
              </a:ext>
            </a:extLst>
          </p:cNvPr>
          <p:cNvCxnSpPr>
            <a:cxnSpLocks/>
            <a:stCxn id="10" idx="3"/>
            <a:endCxn id="12" idx="1"/>
          </p:cNvCxnSpPr>
          <p:nvPr/>
        </p:nvCxnSpPr>
        <p:spPr>
          <a:xfrm>
            <a:off x="3393484" y="2772439"/>
            <a:ext cx="720725" cy="4238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4242CCF3-8BA3-C2DE-F674-CE9B262222AC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 flipV="1">
            <a:off x="3393484" y="3196302"/>
            <a:ext cx="720725" cy="4667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54CA922E-8494-9978-D653-E0222625AC03}"/>
              </a:ext>
            </a:extLst>
          </p:cNvPr>
          <p:cNvSpPr/>
          <p:nvPr/>
        </p:nvSpPr>
        <p:spPr>
          <a:xfrm>
            <a:off x="7139984" y="2797839"/>
            <a:ext cx="1317625" cy="784225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任务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C</a:t>
            </a:r>
          </a:p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{</a:t>
            </a:r>
          </a:p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      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读队列；</a:t>
            </a:r>
            <a:endParaRPr lang="en-US" altLang="zh-CN" sz="12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}</a:t>
            </a:r>
            <a:endParaRPr lang="zh-CN" altLang="en-US" sz="12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24689C35-1756-E78E-6A7E-5C680F9B8123}"/>
              </a:ext>
            </a:extLst>
          </p:cNvPr>
          <p:cNvCxnSpPr>
            <a:cxnSpLocks/>
            <a:stCxn id="12" idx="3"/>
            <a:endCxn id="15" idx="1"/>
          </p:cNvCxnSpPr>
          <p:nvPr/>
        </p:nvCxnSpPr>
        <p:spPr>
          <a:xfrm flipV="1">
            <a:off x="6473234" y="3189952"/>
            <a:ext cx="666750" cy="63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组合 46">
            <a:extLst>
              <a:ext uri="{FF2B5EF4-FFF2-40B4-BE49-F238E27FC236}">
                <a16:creationId xmlns:a16="http://schemas.microsoft.com/office/drawing/2014/main" id="{DE50D3CE-3924-FAF3-FAA2-FC6E31B2C8B2}"/>
              </a:ext>
            </a:extLst>
          </p:cNvPr>
          <p:cNvGrpSpPr>
            <a:grpSpLocks/>
          </p:cNvGrpSpPr>
          <p:nvPr/>
        </p:nvGrpSpPr>
        <p:grpSpPr bwMode="auto">
          <a:xfrm>
            <a:off x="2075859" y="4117052"/>
            <a:ext cx="1911350" cy="1277937"/>
            <a:chOff x="831151" y="3571619"/>
            <a:chExt cx="1912049" cy="1277273"/>
          </a:xfrm>
        </p:grpSpPr>
        <p:sp>
          <p:nvSpPr>
            <p:cNvPr id="18" name="文本框 50">
              <a:extLst>
                <a:ext uri="{FF2B5EF4-FFF2-40B4-BE49-F238E27FC236}">
                  <a16:creationId xmlns:a16="http://schemas.microsoft.com/office/drawing/2014/main" id="{350E0137-0029-768B-0FC2-F3E7F718B4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31151" y="3571619"/>
              <a:ext cx="1912049" cy="12772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en-US" altLang="zh-CN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  <a:r>
                <a:rPr lang="zh-CN" altLang="en-US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写队列：</a:t>
              </a:r>
              <a:endParaRPr lang="en-US" altLang="zh-CN" sz="11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r>
                <a:rPr lang="en-US" altLang="zh-CN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xQueueSend( )</a:t>
              </a:r>
            </a:p>
            <a:p>
              <a:r>
                <a:rPr lang="en-US" altLang="zh-CN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{</a:t>
              </a:r>
            </a:p>
            <a:p>
              <a:r>
                <a:rPr lang="en-US" altLang="zh-CN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  // </a:t>
              </a:r>
              <a:r>
                <a:rPr lang="zh-CN" altLang="en-US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进入临界区（关中断）</a:t>
              </a:r>
              <a:endParaRPr lang="en-US" altLang="zh-CN" sz="11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r>
                <a:rPr lang="en-US" altLang="zh-CN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   </a:t>
              </a:r>
              <a:r>
                <a:rPr lang="zh-CN" altLang="en-US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写队列实际操作</a:t>
              </a:r>
              <a:endParaRPr lang="en-US" altLang="zh-CN" sz="11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r>
                <a:rPr lang="en-US" altLang="zh-CN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 // </a:t>
              </a:r>
              <a:r>
                <a:rPr lang="zh-CN" altLang="en-US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退出临界区（开中断）</a:t>
              </a:r>
              <a:endParaRPr lang="en-US" altLang="zh-CN" sz="11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r>
                <a:rPr lang="en-US" altLang="zh-CN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}</a:t>
              </a:r>
              <a:endParaRPr lang="zh-CN" altLang="en-US" sz="1100"/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87402A7B-3E63-0837-16E5-C1AC600FC806}"/>
                </a:ext>
              </a:extLst>
            </p:cNvPr>
            <p:cNvSpPr/>
            <p:nvPr/>
          </p:nvSpPr>
          <p:spPr>
            <a:xfrm>
              <a:off x="831151" y="3571619"/>
              <a:ext cx="1912049" cy="1232846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grpSp>
        <p:nvGrpSpPr>
          <p:cNvPr id="20" name="组合 47">
            <a:extLst>
              <a:ext uri="{FF2B5EF4-FFF2-40B4-BE49-F238E27FC236}">
                <a16:creationId xmlns:a16="http://schemas.microsoft.com/office/drawing/2014/main" id="{5D710775-117A-7291-D8A1-A2CD949FAC50}"/>
              </a:ext>
            </a:extLst>
          </p:cNvPr>
          <p:cNvGrpSpPr>
            <a:grpSpLocks/>
          </p:cNvGrpSpPr>
          <p:nvPr/>
        </p:nvGrpSpPr>
        <p:grpSpPr bwMode="auto">
          <a:xfrm>
            <a:off x="4712697" y="4094827"/>
            <a:ext cx="1911350" cy="1277937"/>
            <a:chOff x="4767263" y="3521384"/>
            <a:chExt cx="1912049" cy="1277273"/>
          </a:xfrm>
        </p:grpSpPr>
        <p:sp>
          <p:nvSpPr>
            <p:cNvPr id="21" name="文本框 62">
              <a:extLst>
                <a:ext uri="{FF2B5EF4-FFF2-40B4-BE49-F238E27FC236}">
                  <a16:creationId xmlns:a16="http://schemas.microsoft.com/office/drawing/2014/main" id="{3D776DE0-E1E9-6D8B-C682-372C5C28BDA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67263" y="3521384"/>
              <a:ext cx="1912049" cy="12772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en-US" altLang="zh-CN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  <a:r>
                <a:rPr lang="zh-CN" altLang="en-US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读队列：</a:t>
              </a:r>
              <a:endParaRPr lang="en-US" altLang="zh-CN" sz="11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r>
                <a:rPr lang="en-US" altLang="zh-CN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xQueueReceive( )</a:t>
              </a:r>
            </a:p>
            <a:p>
              <a:r>
                <a:rPr lang="en-US" altLang="zh-CN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{</a:t>
              </a:r>
            </a:p>
            <a:p>
              <a:r>
                <a:rPr lang="en-US" altLang="zh-CN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  // </a:t>
              </a:r>
              <a:r>
                <a:rPr lang="zh-CN" altLang="en-US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进入临界区（关中断）</a:t>
              </a:r>
              <a:endParaRPr lang="en-US" altLang="zh-CN" sz="11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r>
                <a:rPr lang="en-US" altLang="zh-CN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   </a:t>
              </a:r>
              <a:r>
                <a:rPr lang="zh-CN" altLang="en-US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读队列实际操作</a:t>
              </a:r>
              <a:endParaRPr lang="en-US" altLang="zh-CN" sz="11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r>
                <a:rPr lang="en-US" altLang="zh-CN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 // </a:t>
              </a:r>
              <a:r>
                <a:rPr lang="zh-CN" altLang="en-US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退出临界区（开中断）</a:t>
              </a:r>
              <a:endParaRPr lang="en-US" altLang="zh-CN" sz="11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r>
                <a:rPr lang="en-US" altLang="zh-CN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}</a:t>
              </a:r>
              <a:endParaRPr lang="zh-CN" altLang="en-US" sz="1100"/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6FEB747D-5AC8-3682-F9A3-35C640C58E01}"/>
                </a:ext>
              </a:extLst>
            </p:cNvPr>
            <p:cNvSpPr/>
            <p:nvPr/>
          </p:nvSpPr>
          <p:spPr>
            <a:xfrm>
              <a:off x="4767263" y="3521384"/>
              <a:ext cx="1912049" cy="1232846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sp>
        <p:nvSpPr>
          <p:cNvPr id="23" name="文本框 48">
            <a:extLst>
              <a:ext uri="{FF2B5EF4-FFF2-40B4-BE49-F238E27FC236}">
                <a16:creationId xmlns:a16="http://schemas.microsoft.com/office/drawing/2014/main" id="{D1E6403F-6C83-0EDD-F2FC-F6530A1AAB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17722" y="4310727"/>
            <a:ext cx="3570287" cy="617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读写队列做好了保护，防止多任务同时访问冲突；</a:t>
            </a:r>
            <a:endParaRPr lang="en-US" altLang="zh-CN" sz="12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我们只需要直接调用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API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函数即可，简单易用！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E24C715A-1F66-608E-27AB-5C1897C9D0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87209" y="1796127"/>
            <a:ext cx="6126163" cy="617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FreeRTOS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基于队列， 实现了多种功能，其中包括队列集、互斥信号量、计数型信号量、</a:t>
            </a:r>
            <a:endParaRPr lang="en-US" altLang="zh-CN" sz="12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二值信号量、 递归互斥信号量，因此很有必要深入了解 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FreeRTOS 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的队列 。</a:t>
            </a:r>
          </a:p>
        </p:txBody>
      </p:sp>
    </p:spTree>
    <p:extLst>
      <p:ext uri="{BB962C8B-B14F-4D97-AF65-F5344CB8AC3E}">
        <p14:creationId xmlns:p14="http://schemas.microsoft.com/office/powerpoint/2010/main" val="261086755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 animBg="1"/>
      <p:bldP spid="11" grpId="0" animBg="1"/>
      <p:bldP spid="15" grpId="0" animBg="1"/>
      <p:bldP spid="23" grpId="0"/>
      <p:bldP spid="24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B05CD-CDF2-1F1E-1E15-C866E437F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C5F18164-4271-0F74-E983-B7C895033EBE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84917C5F-C324-99C4-1F79-E01118C42E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88350" y="1116714"/>
            <a:ext cx="4619625" cy="46355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defRPr/>
            </a:pPr>
            <a:r>
              <a:rPr lang="en-US" altLang="zh-CN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1</a:t>
            </a:r>
            <a:r>
              <a:rPr lang="zh-CN" altLang="en-US" b="1" dirty="0">
                <a:solidFill>
                  <a:schemeClr val="bg2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，队列简介</a:t>
            </a:r>
            <a:endParaRPr lang="en-US" altLang="zh-CN" b="1" dirty="0">
              <a:solidFill>
                <a:schemeClr val="bg2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32">
            <a:extLst>
              <a:ext uri="{FF2B5EF4-FFF2-40B4-BE49-F238E27FC236}">
                <a16:creationId xmlns:a16="http://schemas.microsoft.com/office/drawing/2014/main" id="{4C7F5821-E0FF-9C85-8627-00736BDEEA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23312" y="1562802"/>
            <a:ext cx="7997825" cy="70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在队列中可以存储数量有限、大小固定的数据。队列中的每一个数据叫做“队列项目”，队列能够存储“队列项目”的最大数量称为队列的长度 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ACC13AE1-222E-9806-B267-13BCFDD4A5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1425" y="2915352"/>
            <a:ext cx="2827337" cy="885825"/>
          </a:xfrm>
          <a:prstGeom prst="rect">
            <a:avLst/>
          </a:prstGeom>
          <a:noFill/>
          <a:ln w="9525">
            <a:solidFill>
              <a:srgbClr val="00206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文本框 12">
            <a:extLst>
              <a:ext uri="{FF2B5EF4-FFF2-40B4-BE49-F238E27FC236}">
                <a16:creationId xmlns:a16="http://schemas.microsoft.com/office/drawing/2014/main" id="{28FBA89D-275A-137C-9D49-9E842FC1EF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95162" y="3140777"/>
            <a:ext cx="181610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1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、队列长度为：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5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个</a:t>
            </a:r>
          </a:p>
        </p:txBody>
      </p:sp>
      <p:sp>
        <p:nvSpPr>
          <p:cNvPr id="12" name="文本框 36">
            <a:extLst>
              <a:ext uri="{FF2B5EF4-FFF2-40B4-BE49-F238E27FC236}">
                <a16:creationId xmlns:a16="http://schemas.microsoft.com/office/drawing/2014/main" id="{19D5F4ED-8FCA-8BE7-80CC-F2A41C8590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87225" y="3505902"/>
            <a:ext cx="245268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2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、队列项目大小为：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10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字节</a:t>
            </a:r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255A4F19-C860-C013-9DE6-31F4BE1D2CBC}"/>
              </a:ext>
            </a:extLst>
          </p:cNvPr>
          <p:cNvCxnSpPr>
            <a:cxnSpLocks/>
          </p:cNvCxnSpPr>
          <p:nvPr/>
        </p:nvCxnSpPr>
        <p:spPr>
          <a:xfrm>
            <a:off x="2250337" y="3448752"/>
            <a:ext cx="0" cy="56515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DABDFDDD-8102-1825-50B6-70EC9D8C2CD2}"/>
              </a:ext>
            </a:extLst>
          </p:cNvPr>
          <p:cNvCxnSpPr>
            <a:cxnSpLocks/>
          </p:cNvCxnSpPr>
          <p:nvPr/>
        </p:nvCxnSpPr>
        <p:spPr>
          <a:xfrm>
            <a:off x="2648800" y="3448752"/>
            <a:ext cx="0" cy="56515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5" name="文本框 17">
            <a:extLst>
              <a:ext uri="{FF2B5EF4-FFF2-40B4-BE49-F238E27FC236}">
                <a16:creationId xmlns:a16="http://schemas.microsoft.com/office/drawing/2014/main" id="{3403BF95-B4EC-F6EC-059D-D4E710EBA9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75725" y="3931352"/>
            <a:ext cx="542925" cy="230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9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10</a:t>
            </a:r>
            <a:r>
              <a:rPr lang="zh-CN" altLang="en-US" sz="9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字节</a:t>
            </a:r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0C4EB1A-8747-264D-AFDB-9D5444D619FE}"/>
              </a:ext>
            </a:extLst>
          </p:cNvPr>
          <p:cNvCxnSpPr/>
          <p:nvPr/>
        </p:nvCxnSpPr>
        <p:spPr>
          <a:xfrm>
            <a:off x="2245575" y="2667702"/>
            <a:ext cx="0" cy="94615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0F4552E-BD75-0729-3D4A-F0521985DF3F}"/>
              </a:ext>
            </a:extLst>
          </p:cNvPr>
          <p:cNvCxnSpPr/>
          <p:nvPr/>
        </p:nvCxnSpPr>
        <p:spPr>
          <a:xfrm>
            <a:off x="4672862" y="2667702"/>
            <a:ext cx="0" cy="94615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文本框 20">
            <a:extLst>
              <a:ext uri="{FF2B5EF4-FFF2-40B4-BE49-F238E27FC236}">
                <a16:creationId xmlns:a16="http://schemas.microsoft.com/office/drawing/2014/main" id="{833E8C6E-A2A6-443D-63CB-B98738E793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4275" y="2274002"/>
            <a:ext cx="401637" cy="261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1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5</a:t>
            </a:r>
            <a:r>
              <a:rPr lang="zh-CN" altLang="en-US" sz="11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个</a:t>
            </a:r>
          </a:p>
        </p:txBody>
      </p:sp>
      <p:sp>
        <p:nvSpPr>
          <p:cNvPr id="19" name="左大括号 18">
            <a:extLst>
              <a:ext uri="{FF2B5EF4-FFF2-40B4-BE49-F238E27FC236}">
                <a16:creationId xmlns:a16="http://schemas.microsoft.com/office/drawing/2014/main" id="{E2C3A7FA-8922-18D3-E461-88957F4A495C}"/>
              </a:ext>
            </a:extLst>
          </p:cNvPr>
          <p:cNvSpPr/>
          <p:nvPr/>
        </p:nvSpPr>
        <p:spPr>
          <a:xfrm rot="5400000">
            <a:off x="3332219" y="1377858"/>
            <a:ext cx="249237" cy="2416175"/>
          </a:xfrm>
          <a:prstGeom prst="leftBrace">
            <a:avLst>
              <a:gd name="adj1" fmla="val 8333"/>
              <a:gd name="adj2" fmla="val 49243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20" name="文本框 50">
            <a:extLst>
              <a:ext uri="{FF2B5EF4-FFF2-40B4-BE49-F238E27FC236}">
                <a16:creationId xmlns:a16="http://schemas.microsoft.com/office/drawing/2014/main" id="{FB740FDA-66F3-FFBE-8BB8-36B7B54BCE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1425" y="4520314"/>
            <a:ext cx="527526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在创建队列时，就要指定队列长度以及队列项目的大小！</a:t>
            </a:r>
          </a:p>
        </p:txBody>
      </p:sp>
    </p:spTree>
    <p:extLst>
      <p:ext uri="{BB962C8B-B14F-4D97-AF65-F5344CB8AC3E}">
        <p14:creationId xmlns:p14="http://schemas.microsoft.com/office/powerpoint/2010/main" val="198862961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12" grpId="0"/>
      <p:bldP spid="15" grpId="0"/>
      <p:bldP spid="18" grpId="0"/>
      <p:bldP spid="19" grpId="0" animBg="1"/>
      <p:bldP spid="20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BA0B2-7A17-5D49-66AA-2102132212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E3C4EF69-8F5D-24E9-192B-75BA736D051D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7137EB34-2F30-A240-90FB-DDE73BFC7D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33168" y="1161177"/>
            <a:ext cx="4619625" cy="46355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defRPr/>
            </a:pPr>
            <a:r>
              <a:rPr lang="en-US" altLang="zh-CN" b="1" dirty="0">
                <a:solidFill>
                  <a:schemeClr val="accent5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1</a:t>
            </a:r>
            <a:r>
              <a:rPr lang="zh-CN" altLang="en-US" b="1" dirty="0">
                <a:solidFill>
                  <a:schemeClr val="accent5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，队列简介（了解）</a:t>
            </a:r>
            <a:endParaRPr lang="en-US" altLang="zh-CN" b="1" dirty="0">
              <a:solidFill>
                <a:schemeClr val="accent5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18">
            <a:extLst>
              <a:ext uri="{FF2B5EF4-FFF2-40B4-BE49-F238E27FC236}">
                <a16:creationId xmlns:a16="http://schemas.microsoft.com/office/drawing/2014/main" id="{545667B8-CE6C-5CE4-C0F5-8B67101B95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45893" y="1705690"/>
            <a:ext cx="18891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FreeRTOS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队列特点：</a:t>
            </a:r>
          </a:p>
        </p:txBody>
      </p:sp>
      <p:sp>
        <p:nvSpPr>
          <p:cNvPr id="10" name="文本框 91">
            <a:extLst>
              <a:ext uri="{FF2B5EF4-FFF2-40B4-BE49-F238E27FC236}">
                <a16:creationId xmlns:a16="http://schemas.microsoft.com/office/drawing/2014/main" id="{D3A508A9-C5F3-C819-0372-04371449F4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63580" y="1989852"/>
            <a:ext cx="6927850" cy="552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30000"/>
              </a:lnSpc>
            </a:pP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队列通常采用“先进先出”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(FIFO)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的数据存储缓冲机制，即先入队的数据会先从队列中被读取，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FreeRTOS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中也可以配置为“后进先出”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LIFO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方式；</a:t>
            </a:r>
          </a:p>
        </p:txBody>
      </p:sp>
      <p:sp>
        <p:nvSpPr>
          <p:cNvPr id="11" name="文本框 92">
            <a:extLst>
              <a:ext uri="{FF2B5EF4-FFF2-40B4-BE49-F238E27FC236}">
                <a16:creationId xmlns:a16="http://schemas.microsoft.com/office/drawing/2014/main" id="{FFA39ED8-0585-6137-FBAA-E20D777876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63580" y="2581990"/>
            <a:ext cx="6927850" cy="554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30000"/>
              </a:lnSpc>
            </a:pP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FreeRTOS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中队列采用实际值传递，即将数据拷贝到队列中进行传递，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FreeRTOS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采用拷贝数据传递，也可以传递指针，所以在传递较大的数据的时候采用指针传递</a:t>
            </a:r>
          </a:p>
        </p:txBody>
      </p:sp>
      <p:sp>
        <p:nvSpPr>
          <p:cNvPr id="12" name="文本框 93">
            <a:extLst>
              <a:ext uri="{FF2B5EF4-FFF2-40B4-BE49-F238E27FC236}">
                <a16:creationId xmlns:a16="http://schemas.microsoft.com/office/drawing/2014/main" id="{918B6C90-FF05-59F2-E696-99F73C2DF9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52468" y="3313827"/>
            <a:ext cx="6280150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队列不属于某个任务，任何任务和中断都可以向队列发送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/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读取消息</a:t>
            </a:r>
          </a:p>
        </p:txBody>
      </p:sp>
      <p:sp>
        <p:nvSpPr>
          <p:cNvPr id="13" name="文本框 94">
            <a:extLst>
              <a:ext uri="{FF2B5EF4-FFF2-40B4-BE49-F238E27FC236}">
                <a16:creationId xmlns:a16="http://schemas.microsoft.com/office/drawing/2014/main" id="{4312B61E-88DE-C903-A6D4-4CE95ABEF2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17330" y="4359990"/>
            <a:ext cx="8285163" cy="793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30000"/>
              </a:lnSpc>
              <a:buFontTx/>
              <a:buAutoNum type="circleNumDbPlain"/>
            </a:pP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若阻塞时间为0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			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：直接返回不会等待；</a:t>
            </a:r>
            <a:endParaRPr lang="en-US" altLang="zh-CN" sz="12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pPr>
              <a:lnSpc>
                <a:spcPct val="130000"/>
              </a:lnSpc>
              <a:buFontTx/>
              <a:buAutoNum type="circleNumDbPlain"/>
            </a:pP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若阻塞时间为0~port_MAX_DELAY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：等待设定的阻塞时间，若在该时间内还无法入队，超时后直接返回不再等待；</a:t>
            </a:r>
            <a:endParaRPr lang="en-US" altLang="zh-CN" sz="12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pPr>
              <a:lnSpc>
                <a:spcPct val="130000"/>
              </a:lnSpc>
              <a:buFontTx/>
              <a:buAutoNum type="circleNumDbPlain"/>
            </a:pP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若阻塞时间为port_MAX_DELAY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：死等，一直等到可以入队为止。出队阻塞与入队阻塞类似；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560446CA-3912-A602-6B13-47D62D4452C5}"/>
              </a:ext>
            </a:extLst>
          </p:cNvPr>
          <p:cNvSpPr/>
          <p:nvPr/>
        </p:nvSpPr>
        <p:spPr>
          <a:xfrm>
            <a:off x="1617330" y="2113677"/>
            <a:ext cx="1746250" cy="319088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、数据入队出队方式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1283554E-1E43-994C-4678-28114A046DE9}"/>
              </a:ext>
            </a:extLst>
          </p:cNvPr>
          <p:cNvSpPr/>
          <p:nvPr/>
        </p:nvSpPr>
        <p:spPr>
          <a:xfrm>
            <a:off x="1617330" y="3848815"/>
            <a:ext cx="1746250" cy="319087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4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、出队、入队阻塞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BE88DB42-2179-A9FD-3AE7-269D94878FFB}"/>
              </a:ext>
            </a:extLst>
          </p:cNvPr>
          <p:cNvSpPr/>
          <p:nvPr/>
        </p:nvSpPr>
        <p:spPr>
          <a:xfrm>
            <a:off x="1617330" y="2691527"/>
            <a:ext cx="1746250" cy="319088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、数据传递方式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AC424319-55F8-C5D9-D849-CEE0C1B2043A}"/>
              </a:ext>
            </a:extLst>
          </p:cNvPr>
          <p:cNvSpPr/>
          <p:nvPr/>
        </p:nvSpPr>
        <p:spPr>
          <a:xfrm>
            <a:off x="1617330" y="3270965"/>
            <a:ext cx="1746250" cy="319087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>
              <a:defRPr/>
            </a:pP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3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、多任务访问</a:t>
            </a:r>
          </a:p>
        </p:txBody>
      </p:sp>
      <p:sp>
        <p:nvSpPr>
          <p:cNvPr id="18" name="文本框 100">
            <a:extLst>
              <a:ext uri="{FF2B5EF4-FFF2-40B4-BE49-F238E27FC236}">
                <a16:creationId xmlns:a16="http://schemas.microsoft.com/office/drawing/2014/main" id="{2883B820-66EC-2E62-B518-1A2227AEB2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52468" y="3850402"/>
            <a:ext cx="6194425" cy="31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30000"/>
              </a:lnSpc>
            </a:pP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当任务向一个队列发送消息时，可以指定一个阻塞时间，假设此时当队列已满无法入队</a:t>
            </a:r>
            <a:endParaRPr lang="en-US" altLang="zh-CN" sz="12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4549496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 animBg="1"/>
      <p:bldP spid="15" grpId="0" animBg="1"/>
      <p:bldP spid="16" grpId="0" animBg="1"/>
      <p:bldP spid="17" grpId="0" animBg="1"/>
      <p:bldP spid="18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D2279-D8C2-303F-133A-7BD03CBA2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4F43ED7F-4D8A-2B1B-A147-1CCA8537B83A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5C4CD27F-A6BD-9CFB-E775-88BE4F5C39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13682" y="1095449"/>
            <a:ext cx="4619625" cy="46355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defRPr/>
            </a:pPr>
            <a:r>
              <a:rPr lang="en-US" altLang="zh-CN" b="1" dirty="0">
                <a:solidFill>
                  <a:schemeClr val="accent5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1</a:t>
            </a:r>
            <a:r>
              <a:rPr lang="zh-CN" altLang="en-US" b="1" dirty="0">
                <a:solidFill>
                  <a:schemeClr val="accent5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，队列简介（了解）</a:t>
            </a:r>
            <a:endParaRPr lang="en-US" altLang="zh-CN" b="1" dirty="0">
              <a:solidFill>
                <a:schemeClr val="accent5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18">
            <a:extLst>
              <a:ext uri="{FF2B5EF4-FFF2-40B4-BE49-F238E27FC236}">
                <a16:creationId xmlns:a16="http://schemas.microsoft.com/office/drawing/2014/main" id="{2C07CF82-9B3F-8107-4558-59F75B5DF6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7844" y="1649487"/>
            <a:ext cx="108267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入队阻塞：</a:t>
            </a:r>
            <a:endParaRPr lang="en-US" altLang="zh-CN" sz="14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grpSp>
        <p:nvGrpSpPr>
          <p:cNvPr id="10" name="组合 7">
            <a:extLst>
              <a:ext uri="{FF2B5EF4-FFF2-40B4-BE49-F238E27FC236}">
                <a16:creationId xmlns:a16="http://schemas.microsoft.com/office/drawing/2014/main" id="{3F6DE06C-68D0-6D36-34DF-8200DF188513}"/>
              </a:ext>
            </a:extLst>
          </p:cNvPr>
          <p:cNvGrpSpPr>
            <a:grpSpLocks/>
          </p:cNvGrpSpPr>
          <p:nvPr/>
        </p:nvGrpSpPr>
        <p:grpSpPr bwMode="auto">
          <a:xfrm>
            <a:off x="3380582" y="2249562"/>
            <a:ext cx="2314575" cy="463550"/>
            <a:chOff x="1971676" y="1396469"/>
            <a:chExt cx="2314574" cy="463551"/>
          </a:xfrm>
        </p:grpSpPr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57D1EE27-7801-D1F9-417A-522F5D706126}"/>
                </a:ext>
              </a:extLst>
            </p:cNvPr>
            <p:cNvSpPr/>
            <p:nvPr/>
          </p:nvSpPr>
          <p:spPr>
            <a:xfrm>
              <a:off x="1971676" y="1396469"/>
              <a:ext cx="2314574" cy="463551"/>
            </a:xfrm>
            <a:prstGeom prst="rect">
              <a:avLst/>
            </a:prstGeom>
            <a:ln>
              <a:solidFill>
                <a:srgbClr val="00206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  <p:cxnSp>
          <p:nvCxnSpPr>
            <p:cNvPr id="12" name="直接连接符 11">
              <a:extLst>
                <a:ext uri="{FF2B5EF4-FFF2-40B4-BE49-F238E27FC236}">
                  <a16:creationId xmlns:a16="http://schemas.microsoft.com/office/drawing/2014/main" id="{20F7F40E-69A0-B416-B0B8-F86BE53712BF}"/>
                </a:ext>
              </a:extLst>
            </p:cNvPr>
            <p:cNvCxnSpPr/>
            <p:nvPr/>
          </p:nvCxnSpPr>
          <p:spPr>
            <a:xfrm>
              <a:off x="2438401" y="1404406"/>
              <a:ext cx="0" cy="45561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A9673A9A-D0F9-D228-BC9C-1AA5E57D8898}"/>
                </a:ext>
              </a:extLst>
            </p:cNvPr>
            <p:cNvCxnSpPr/>
            <p:nvPr/>
          </p:nvCxnSpPr>
          <p:spPr>
            <a:xfrm>
              <a:off x="2889251" y="1404406"/>
              <a:ext cx="0" cy="45561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9F8646F9-67C5-D904-780E-64B7F857A35D}"/>
                </a:ext>
              </a:extLst>
            </p:cNvPr>
            <p:cNvCxnSpPr/>
            <p:nvPr/>
          </p:nvCxnSpPr>
          <p:spPr>
            <a:xfrm>
              <a:off x="3359150" y="1404406"/>
              <a:ext cx="0" cy="45561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BF7FBA7E-F5EF-80F8-64E3-F2AE5AA46907}"/>
                </a:ext>
              </a:extLst>
            </p:cNvPr>
            <p:cNvCxnSpPr/>
            <p:nvPr/>
          </p:nvCxnSpPr>
          <p:spPr>
            <a:xfrm>
              <a:off x="3816350" y="1396469"/>
              <a:ext cx="0" cy="45561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47D07094-2788-617C-D852-33F09FB7A7D6}"/>
              </a:ext>
            </a:extLst>
          </p:cNvPr>
          <p:cNvCxnSpPr>
            <a:endCxn id="11" idx="1"/>
          </p:cNvCxnSpPr>
          <p:nvPr/>
        </p:nvCxnSpPr>
        <p:spPr>
          <a:xfrm>
            <a:off x="2666207" y="2478162"/>
            <a:ext cx="714375" cy="31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本框 15">
            <a:extLst>
              <a:ext uri="{FF2B5EF4-FFF2-40B4-BE49-F238E27FC236}">
                <a16:creationId xmlns:a16="http://schemas.microsoft.com/office/drawing/2014/main" id="{4562F0B2-9809-AEC0-B50B-13E844C135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50344" y="2213049"/>
            <a:ext cx="544513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入队</a:t>
            </a:r>
          </a:p>
        </p:txBody>
      </p:sp>
      <p:sp>
        <p:nvSpPr>
          <p:cNvPr id="18" name="文本框 34">
            <a:extLst>
              <a:ext uri="{FF2B5EF4-FFF2-40B4-BE49-F238E27FC236}">
                <a16:creationId xmlns:a16="http://schemas.microsoft.com/office/drawing/2014/main" id="{D5FB68D3-A92E-00C1-669F-15971CDD2E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7844" y="2479749"/>
            <a:ext cx="1638300" cy="261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1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任务</a:t>
            </a:r>
            <a:r>
              <a:rPr lang="en-US" altLang="zh-CN" sz="11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A</a:t>
            </a:r>
            <a:r>
              <a:rPr lang="zh-CN" altLang="en-US" sz="11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往队列写入数据</a:t>
            </a:r>
          </a:p>
        </p:txBody>
      </p:sp>
      <p:sp>
        <p:nvSpPr>
          <p:cNvPr id="19" name="文本框 35">
            <a:extLst>
              <a:ext uri="{FF2B5EF4-FFF2-40B4-BE49-F238E27FC236}">
                <a16:creationId xmlns:a16="http://schemas.microsoft.com/office/drawing/2014/main" id="{2E2F87A4-E333-3917-15C8-97E1B5E3FF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23444" y="2340049"/>
            <a:ext cx="365125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有</a:t>
            </a:r>
          </a:p>
        </p:txBody>
      </p:sp>
      <p:sp>
        <p:nvSpPr>
          <p:cNvPr id="20" name="文本框 36">
            <a:extLst>
              <a:ext uri="{FF2B5EF4-FFF2-40B4-BE49-F238E27FC236}">
                <a16:creationId xmlns:a16="http://schemas.microsoft.com/office/drawing/2014/main" id="{38B1143E-2E5F-D603-6517-00C8ABAB78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1757" y="2340049"/>
            <a:ext cx="363537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有</a:t>
            </a:r>
          </a:p>
        </p:txBody>
      </p:sp>
      <p:sp>
        <p:nvSpPr>
          <p:cNvPr id="21" name="文本框 37">
            <a:extLst>
              <a:ext uri="{FF2B5EF4-FFF2-40B4-BE49-F238E27FC236}">
                <a16:creationId xmlns:a16="http://schemas.microsoft.com/office/drawing/2014/main" id="{805703EE-496A-6EE0-79F4-18EAE8B74B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58482" y="2340049"/>
            <a:ext cx="363537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有</a:t>
            </a:r>
          </a:p>
        </p:txBody>
      </p:sp>
      <p:sp>
        <p:nvSpPr>
          <p:cNvPr id="22" name="文本框 38">
            <a:extLst>
              <a:ext uri="{FF2B5EF4-FFF2-40B4-BE49-F238E27FC236}">
                <a16:creationId xmlns:a16="http://schemas.microsoft.com/office/drawing/2014/main" id="{25675B1F-B017-BABE-00D8-0768CE2046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25207" y="2340049"/>
            <a:ext cx="365125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有</a:t>
            </a:r>
          </a:p>
        </p:txBody>
      </p:sp>
      <p:sp>
        <p:nvSpPr>
          <p:cNvPr id="23" name="文本框 39">
            <a:extLst>
              <a:ext uri="{FF2B5EF4-FFF2-40B4-BE49-F238E27FC236}">
                <a16:creationId xmlns:a16="http://schemas.microsoft.com/office/drawing/2014/main" id="{08C750AC-EB1E-8ABD-FBC0-1596199AE0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93519" y="2340049"/>
            <a:ext cx="363538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有</a:t>
            </a:r>
          </a:p>
        </p:txBody>
      </p:sp>
      <p:sp>
        <p:nvSpPr>
          <p:cNvPr id="24" name="文本框 20">
            <a:extLst>
              <a:ext uri="{FF2B5EF4-FFF2-40B4-BE49-F238E27FC236}">
                <a16:creationId xmlns:a16="http://schemas.microsoft.com/office/drawing/2014/main" id="{8056E1FF-5D31-A9AC-DDFF-1BFFAF67B5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15607" y="1941587"/>
            <a:ext cx="5429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队列</a:t>
            </a:r>
          </a:p>
        </p:txBody>
      </p:sp>
      <p:sp>
        <p:nvSpPr>
          <p:cNvPr id="25" name="右大括号 24">
            <a:extLst>
              <a:ext uri="{FF2B5EF4-FFF2-40B4-BE49-F238E27FC236}">
                <a16:creationId xmlns:a16="http://schemas.microsoft.com/office/drawing/2014/main" id="{E3BC1BC7-650F-1109-7DF0-E728E584D02A}"/>
              </a:ext>
            </a:extLst>
          </p:cNvPr>
          <p:cNvSpPr/>
          <p:nvPr/>
        </p:nvSpPr>
        <p:spPr>
          <a:xfrm rot="5400000">
            <a:off x="4421188" y="1702668"/>
            <a:ext cx="233363" cy="231457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26" name="文本框 44">
            <a:extLst>
              <a:ext uri="{FF2B5EF4-FFF2-40B4-BE49-F238E27FC236}">
                <a16:creationId xmlns:a16="http://schemas.microsoft.com/office/drawing/2014/main" id="{3B0A48BF-2869-5002-4C4D-CD7FB72004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72732" y="3009974"/>
            <a:ext cx="90328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队列已满</a:t>
            </a:r>
          </a:p>
        </p:txBody>
      </p:sp>
      <p:sp>
        <p:nvSpPr>
          <p:cNvPr id="27" name="文本框 45">
            <a:extLst>
              <a:ext uri="{FF2B5EF4-FFF2-40B4-BE49-F238E27FC236}">
                <a16:creationId xmlns:a16="http://schemas.microsoft.com/office/drawing/2014/main" id="{CD18EBCD-778B-C8F5-D31B-E2E87C64DB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7844" y="3405262"/>
            <a:ext cx="108267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出队阻塞：</a:t>
            </a:r>
            <a:endParaRPr lang="en-US" altLang="zh-CN" sz="14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grpSp>
        <p:nvGrpSpPr>
          <p:cNvPr id="28" name="组合 47">
            <a:extLst>
              <a:ext uri="{FF2B5EF4-FFF2-40B4-BE49-F238E27FC236}">
                <a16:creationId xmlns:a16="http://schemas.microsoft.com/office/drawing/2014/main" id="{2DB21542-FD87-5C38-4541-94207286287E}"/>
              </a:ext>
            </a:extLst>
          </p:cNvPr>
          <p:cNvGrpSpPr>
            <a:grpSpLocks/>
          </p:cNvGrpSpPr>
          <p:nvPr/>
        </p:nvGrpSpPr>
        <p:grpSpPr bwMode="auto">
          <a:xfrm>
            <a:off x="1859757" y="4156149"/>
            <a:ext cx="2314575" cy="463550"/>
            <a:chOff x="1971676" y="1396469"/>
            <a:chExt cx="2314574" cy="463551"/>
          </a:xfrm>
        </p:grpSpPr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578C44C7-B72C-50E6-F165-C45961EA0295}"/>
                </a:ext>
              </a:extLst>
            </p:cNvPr>
            <p:cNvSpPr/>
            <p:nvPr/>
          </p:nvSpPr>
          <p:spPr>
            <a:xfrm>
              <a:off x="1971676" y="1396469"/>
              <a:ext cx="2314574" cy="463551"/>
            </a:xfrm>
            <a:prstGeom prst="rect">
              <a:avLst/>
            </a:prstGeom>
            <a:ln>
              <a:solidFill>
                <a:srgbClr val="00206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E647CA2E-C758-E2A4-C8AA-55F62EB133DF}"/>
                </a:ext>
              </a:extLst>
            </p:cNvPr>
            <p:cNvCxnSpPr/>
            <p:nvPr/>
          </p:nvCxnSpPr>
          <p:spPr>
            <a:xfrm>
              <a:off x="2438401" y="1404407"/>
              <a:ext cx="0" cy="45561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42FEC9A5-C84A-54A8-F2AA-802DEB27E617}"/>
                </a:ext>
              </a:extLst>
            </p:cNvPr>
            <p:cNvCxnSpPr/>
            <p:nvPr/>
          </p:nvCxnSpPr>
          <p:spPr>
            <a:xfrm>
              <a:off x="2889251" y="1404407"/>
              <a:ext cx="0" cy="45561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884B0EEE-D99A-0D0A-E501-A4DC524A7B5F}"/>
                </a:ext>
              </a:extLst>
            </p:cNvPr>
            <p:cNvCxnSpPr/>
            <p:nvPr/>
          </p:nvCxnSpPr>
          <p:spPr>
            <a:xfrm>
              <a:off x="3359150" y="1404407"/>
              <a:ext cx="0" cy="45561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DD954652-7BD3-F5D7-AFFE-AD1CA1D1760E}"/>
                </a:ext>
              </a:extLst>
            </p:cNvPr>
            <p:cNvCxnSpPr/>
            <p:nvPr/>
          </p:nvCxnSpPr>
          <p:spPr>
            <a:xfrm>
              <a:off x="3816350" y="1396469"/>
              <a:ext cx="0" cy="45561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C726C57D-8F97-C613-91E9-7E56840B16E8}"/>
              </a:ext>
            </a:extLst>
          </p:cNvPr>
          <p:cNvCxnSpPr>
            <a:cxnSpLocks/>
          </p:cNvCxnSpPr>
          <p:nvPr/>
        </p:nvCxnSpPr>
        <p:spPr>
          <a:xfrm>
            <a:off x="4171157" y="4392687"/>
            <a:ext cx="714375" cy="47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本框 54">
            <a:extLst>
              <a:ext uri="{FF2B5EF4-FFF2-40B4-BE49-F238E27FC236}">
                <a16:creationId xmlns:a16="http://schemas.microsoft.com/office/drawing/2014/main" id="{E2DD471E-34B2-1989-0E0E-67BA4BFEBD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55294" y="4135512"/>
            <a:ext cx="544513" cy="306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出队</a:t>
            </a:r>
          </a:p>
        </p:txBody>
      </p:sp>
      <p:sp>
        <p:nvSpPr>
          <p:cNvPr id="36" name="文本框 55">
            <a:extLst>
              <a:ext uri="{FF2B5EF4-FFF2-40B4-BE49-F238E27FC236}">
                <a16:creationId xmlns:a16="http://schemas.microsoft.com/office/drawing/2014/main" id="{DC39D221-20A5-CDBF-AC0D-C4555CF50F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26707" y="4399037"/>
            <a:ext cx="1638300" cy="261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1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任务</a:t>
            </a:r>
            <a:r>
              <a:rPr lang="en-US" altLang="zh-CN" sz="11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B</a:t>
            </a:r>
            <a:r>
              <a:rPr lang="zh-CN" altLang="en-US" sz="11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从队列读取数据</a:t>
            </a:r>
          </a:p>
        </p:txBody>
      </p:sp>
      <p:sp>
        <p:nvSpPr>
          <p:cNvPr id="37" name="文本框 56">
            <a:extLst>
              <a:ext uri="{FF2B5EF4-FFF2-40B4-BE49-F238E27FC236}">
                <a16:creationId xmlns:a16="http://schemas.microsoft.com/office/drawing/2014/main" id="{791A6E36-5DC8-EF7C-68C4-A4410E88BF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4207" y="4245049"/>
            <a:ext cx="36353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空</a:t>
            </a:r>
          </a:p>
        </p:txBody>
      </p:sp>
      <p:sp>
        <p:nvSpPr>
          <p:cNvPr id="38" name="文本框 57">
            <a:extLst>
              <a:ext uri="{FF2B5EF4-FFF2-40B4-BE49-F238E27FC236}">
                <a16:creationId xmlns:a16="http://schemas.microsoft.com/office/drawing/2014/main" id="{07688E44-6C1C-4EC5-067C-A03648FCE9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70932" y="4245049"/>
            <a:ext cx="36353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空</a:t>
            </a:r>
          </a:p>
        </p:txBody>
      </p:sp>
      <p:sp>
        <p:nvSpPr>
          <p:cNvPr id="39" name="文本框 58">
            <a:extLst>
              <a:ext uri="{FF2B5EF4-FFF2-40B4-BE49-F238E27FC236}">
                <a16:creationId xmlns:a16="http://schemas.microsoft.com/office/drawing/2014/main" id="{B4F02892-9799-9C5A-B779-9CD26EC1E1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37657" y="4245049"/>
            <a:ext cx="3651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空</a:t>
            </a:r>
          </a:p>
        </p:txBody>
      </p:sp>
      <p:sp>
        <p:nvSpPr>
          <p:cNvPr id="40" name="文本框 59">
            <a:extLst>
              <a:ext uri="{FF2B5EF4-FFF2-40B4-BE49-F238E27FC236}">
                <a16:creationId xmlns:a16="http://schemas.microsoft.com/office/drawing/2014/main" id="{96F2004B-1C46-80B9-FA11-5748DDB8D5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5969" y="4245049"/>
            <a:ext cx="36353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空</a:t>
            </a:r>
          </a:p>
        </p:txBody>
      </p:sp>
      <p:sp>
        <p:nvSpPr>
          <p:cNvPr id="41" name="文本框 60">
            <a:extLst>
              <a:ext uri="{FF2B5EF4-FFF2-40B4-BE49-F238E27FC236}">
                <a16:creationId xmlns:a16="http://schemas.microsoft.com/office/drawing/2014/main" id="{C12743DB-3599-CE38-ED99-DD8991A10C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72694" y="4245049"/>
            <a:ext cx="3651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空</a:t>
            </a:r>
          </a:p>
        </p:txBody>
      </p:sp>
      <p:sp>
        <p:nvSpPr>
          <p:cNvPr id="42" name="文本框 61">
            <a:extLst>
              <a:ext uri="{FF2B5EF4-FFF2-40B4-BE49-F238E27FC236}">
                <a16:creationId xmlns:a16="http://schemas.microsoft.com/office/drawing/2014/main" id="{0FFCF975-0ADC-ABE6-BA50-70C6EBCEF4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94782" y="3848174"/>
            <a:ext cx="54451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队列</a:t>
            </a:r>
          </a:p>
        </p:txBody>
      </p:sp>
      <p:sp>
        <p:nvSpPr>
          <p:cNvPr id="43" name="右大括号 42">
            <a:extLst>
              <a:ext uri="{FF2B5EF4-FFF2-40B4-BE49-F238E27FC236}">
                <a16:creationId xmlns:a16="http://schemas.microsoft.com/office/drawing/2014/main" id="{EDA76494-1B58-C00A-E1E1-B0B505BBE4E1}"/>
              </a:ext>
            </a:extLst>
          </p:cNvPr>
          <p:cNvSpPr/>
          <p:nvPr/>
        </p:nvSpPr>
        <p:spPr>
          <a:xfrm rot="5400000">
            <a:off x="2900364" y="3609255"/>
            <a:ext cx="233362" cy="231457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44" name="文本框 63">
            <a:extLst>
              <a:ext uri="{FF2B5EF4-FFF2-40B4-BE49-F238E27FC236}">
                <a16:creationId xmlns:a16="http://schemas.microsoft.com/office/drawing/2014/main" id="{21A13B03-3EE1-D750-9E43-4A5AE6FB77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53494" y="4916562"/>
            <a:ext cx="108267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队列无数据</a:t>
            </a:r>
          </a:p>
        </p:txBody>
      </p:sp>
      <p:sp>
        <p:nvSpPr>
          <p:cNvPr id="45" name="文本框 72">
            <a:extLst>
              <a:ext uri="{FF2B5EF4-FFF2-40B4-BE49-F238E27FC236}">
                <a16:creationId xmlns:a16="http://schemas.microsoft.com/office/drawing/2014/main" id="{3095990B-EA25-44EC-00A3-EDD2E40D50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3619" y="1965399"/>
            <a:ext cx="4651375" cy="895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队列满了，此时写不进去数据；</a:t>
            </a:r>
            <a:endParaRPr lang="en-US" altLang="zh-CN" sz="1200">
              <a:solidFill>
                <a:srgbClr val="FF000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①将该任务的状态列表项挂载在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pxDelayedTaskList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；</a:t>
            </a:r>
            <a:endParaRPr lang="en-US" altLang="zh-CN" sz="12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②将该任务的事件列表项挂载在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xTasksWaitingToSend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；</a:t>
            </a:r>
            <a:endParaRPr lang="en-US" altLang="zh-CN" sz="12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46" name="文本框 73">
            <a:extLst>
              <a:ext uri="{FF2B5EF4-FFF2-40B4-BE49-F238E27FC236}">
                <a16:creationId xmlns:a16="http://schemas.microsoft.com/office/drawing/2014/main" id="{961D3F8E-01AB-FB5B-E006-D9FBA966D7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3619" y="3954537"/>
            <a:ext cx="4651375" cy="895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队列为空，此时读取不了数据；</a:t>
            </a:r>
            <a:endParaRPr lang="en-US" altLang="zh-CN" sz="1200">
              <a:solidFill>
                <a:srgbClr val="FF000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①将该任务的状态列表项挂载在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pxDelayedTaskList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；</a:t>
            </a:r>
            <a:endParaRPr lang="en-US" altLang="zh-CN" sz="12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②将该任务的事件列表项挂载在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xTasksWaitingToReceive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；</a:t>
            </a:r>
            <a:endParaRPr lang="en-US" altLang="zh-CN" sz="12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9996147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 animBg="1"/>
      <p:bldP spid="26" grpId="0"/>
      <p:bldP spid="27" grpId="0"/>
      <p:bldP spid="35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3" grpId="0" animBg="1"/>
      <p:bldP spid="44" grpId="0"/>
      <p:bldP spid="45" grpId="0"/>
      <p:bldP spid="46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C805B-6B28-231F-7C26-786059D7A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5EC359DA-F119-5436-A779-D59DFA7B8B7B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C995ACD3-ACEF-61EF-6D9B-69BB508199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14931" y="1161177"/>
            <a:ext cx="4619625" cy="46355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defRPr/>
            </a:pPr>
            <a:r>
              <a:rPr lang="en-US" altLang="zh-CN" b="1" dirty="0">
                <a:solidFill>
                  <a:schemeClr val="accent5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     </a:t>
            </a:r>
            <a:r>
              <a:rPr lang="zh-CN" altLang="en-US" b="1" dirty="0">
                <a:solidFill>
                  <a:schemeClr val="accent5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队列操作基本过程</a:t>
            </a:r>
            <a:endParaRPr lang="en-US" altLang="zh-CN" b="1" dirty="0">
              <a:solidFill>
                <a:schemeClr val="accent5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067F2FAE-8812-E15F-33F8-06EBD2333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2281" y="1899365"/>
            <a:ext cx="3624262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图片 12">
            <a:extLst>
              <a:ext uri="{FF2B5EF4-FFF2-40B4-BE49-F238E27FC236}">
                <a16:creationId xmlns:a16="http://schemas.microsoft.com/office/drawing/2014/main" id="{1D195F4A-CDA9-1055-3BC9-6F84CF2C20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2281" y="2989977"/>
            <a:ext cx="3624262" cy="863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图片 14">
            <a:extLst>
              <a:ext uri="{FF2B5EF4-FFF2-40B4-BE49-F238E27FC236}">
                <a16:creationId xmlns:a16="http://schemas.microsoft.com/office/drawing/2014/main" id="{621269D2-1B0A-643A-3CB2-FB96CEA4C3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2281" y="4250452"/>
            <a:ext cx="3624262" cy="877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图片 16">
            <a:extLst>
              <a:ext uri="{FF2B5EF4-FFF2-40B4-BE49-F238E27FC236}">
                <a16:creationId xmlns:a16="http://schemas.microsoft.com/office/drawing/2014/main" id="{B16C02A9-1071-7EBA-9D5C-9EA687EBD3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4406" y="2647077"/>
            <a:ext cx="4087812" cy="1808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文本框 17">
            <a:extLst>
              <a:ext uri="{FF2B5EF4-FFF2-40B4-BE49-F238E27FC236}">
                <a16:creationId xmlns:a16="http://schemas.microsoft.com/office/drawing/2014/main" id="{05D1A07B-B5E1-6422-448E-9478582CD7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19731" y="1645365"/>
            <a:ext cx="977900" cy="277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 b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①创建队列</a:t>
            </a:r>
          </a:p>
        </p:txBody>
      </p:sp>
      <p:sp>
        <p:nvSpPr>
          <p:cNvPr id="14" name="文本框 70">
            <a:extLst>
              <a:ext uri="{FF2B5EF4-FFF2-40B4-BE49-F238E27FC236}">
                <a16:creationId xmlns:a16="http://schemas.microsoft.com/office/drawing/2014/main" id="{38F99A6C-301B-11DD-BBD7-4F06534348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19731" y="2731215"/>
            <a:ext cx="1928812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 b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②往队列写入第一个消息</a:t>
            </a:r>
          </a:p>
        </p:txBody>
      </p:sp>
      <p:sp>
        <p:nvSpPr>
          <p:cNvPr id="15" name="文本框 71">
            <a:extLst>
              <a:ext uri="{FF2B5EF4-FFF2-40B4-BE49-F238E27FC236}">
                <a16:creationId xmlns:a16="http://schemas.microsoft.com/office/drawing/2014/main" id="{2250F6ED-3A04-9097-2EEA-446213629C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2431" y="4005977"/>
            <a:ext cx="1930400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 b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③往队列写入第二个消息</a:t>
            </a:r>
          </a:p>
        </p:txBody>
      </p:sp>
      <p:sp>
        <p:nvSpPr>
          <p:cNvPr id="16" name="文本框 72">
            <a:extLst>
              <a:ext uri="{FF2B5EF4-FFF2-40B4-BE49-F238E27FC236}">
                <a16:creationId xmlns:a16="http://schemas.microsoft.com/office/drawing/2014/main" id="{E8FA7827-E48B-F99B-8BA7-AFCC4BC180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4556" y="2370852"/>
            <a:ext cx="1930400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 b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④从队列读取第一个消息</a:t>
            </a:r>
          </a:p>
        </p:txBody>
      </p:sp>
    </p:spTree>
    <p:extLst>
      <p:ext uri="{BB962C8B-B14F-4D97-AF65-F5344CB8AC3E}">
        <p14:creationId xmlns:p14="http://schemas.microsoft.com/office/powerpoint/2010/main" val="4062811092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16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0367F-E035-6920-881F-B3814FD1C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71D9A851-2233-1614-D370-A6E0C4CB0B63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0B6F8427-7833-9EFF-BEE1-AC9449A6DD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7205" y="929978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2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，队列结构体介绍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grpSp>
        <p:nvGrpSpPr>
          <p:cNvPr id="9" name="组合 12">
            <a:extLst>
              <a:ext uri="{FF2B5EF4-FFF2-40B4-BE49-F238E27FC236}">
                <a16:creationId xmlns:a16="http://schemas.microsoft.com/office/drawing/2014/main" id="{9B5627FD-E3EA-D741-B1C3-E22C48B17031}"/>
              </a:ext>
            </a:extLst>
          </p:cNvPr>
          <p:cNvGrpSpPr>
            <a:grpSpLocks/>
          </p:cNvGrpSpPr>
          <p:nvPr/>
        </p:nvGrpSpPr>
        <p:grpSpPr bwMode="auto">
          <a:xfrm>
            <a:off x="3718242" y="937916"/>
            <a:ext cx="7832726" cy="4062332"/>
            <a:chOff x="301752" y="1252526"/>
            <a:chExt cx="7832349" cy="4061489"/>
          </a:xfrm>
        </p:grpSpPr>
        <p:sp>
          <p:nvSpPr>
            <p:cNvPr id="10" name="文本框 68">
              <a:extLst>
                <a:ext uri="{FF2B5EF4-FFF2-40B4-BE49-F238E27FC236}">
                  <a16:creationId xmlns:a16="http://schemas.microsoft.com/office/drawing/2014/main" id="{999C870E-1A24-2C69-7033-5E79DC81D2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8617" y="1252527"/>
              <a:ext cx="7765484" cy="40614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typedef struct QueueDefinition </a:t>
              </a:r>
              <a:endPara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{</a:t>
              </a:r>
              <a:endPara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20000"/>
                </a:lnSpc>
              </a:pP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int8_t * pcHead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	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存储区域的起始地址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</a:p>
            <a:p>
              <a:pPr>
                <a:lnSpc>
                  <a:spcPct val="120000"/>
                </a:lnSpc>
              </a:pP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int8_t * pcWriteTo;   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下一个写入的位置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  <a:endParaRPr lang="zh-CN" altLang="en-US" sz="1200" dirty="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union</a:t>
              </a:r>
            </a:p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{</a:t>
              </a:r>
            </a:p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QueuePointers_t     xQueue; </a:t>
              </a:r>
              <a:endPara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20000"/>
                </a:lnSpc>
              </a:pP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SemaphoreData_t  xSemaphore; </a:t>
              </a:r>
              <a:endPara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20000"/>
                </a:lnSpc>
              </a:pP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} u ;</a:t>
              </a:r>
              <a:endPara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20000"/>
                </a:lnSpc>
              </a:pP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List_t xTasksWaitingToSend;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等待发送列表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</a:p>
            <a:p>
              <a:pPr>
                <a:lnSpc>
                  <a:spcPct val="120000"/>
                </a:lnSpc>
              </a:pP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List_t xTasksWaitingToReceive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;		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等待接收列表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  <a:endParaRPr lang="zh-CN" altLang="en-US" sz="1200" dirty="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volatile UBaseType_t uxMessagesWaiting;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非空闲队列项目的数量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</a:p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UBaseType_t uxLength；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队列长度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  <a:endParaRPr lang="zh-CN" altLang="en-US" sz="1200" dirty="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UBaseType_t uxItemSize;            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队列项目的大小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  <a:endParaRPr lang="zh-CN" altLang="en-US" sz="1200" dirty="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volatile int8_t cRxLock;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读取上锁计数器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</a:p>
            <a:p>
              <a:pPr>
                <a:lnSpc>
                  <a:spcPct val="120000"/>
                </a:lnSpc>
              </a:pP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volatile int8_t cTxLock；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写入上锁计数器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</a:p>
            <a:p>
              <a:pPr>
                <a:lnSpc>
                  <a:spcPct val="120000"/>
                </a:lnSpc>
              </a:pP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/* 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其他的一些条件编译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  <a:endPara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2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} xQUEUE;</a:t>
              </a: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7CA21E6A-1784-C33E-0447-35F75C94F9C3}"/>
                </a:ext>
              </a:extLst>
            </p:cNvPr>
            <p:cNvSpPr/>
            <p:nvPr/>
          </p:nvSpPr>
          <p:spPr>
            <a:xfrm>
              <a:off x="301752" y="1252526"/>
              <a:ext cx="7593128" cy="4061488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71417939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453C9-ECEE-F24B-CCE8-90E896220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8236BAF5-29F9-B5DC-C5DC-7F9A91C905D0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B6AB8B8C-F19F-EBA4-368A-D4F8F03D05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5833" y="1095449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2</a:t>
            </a:r>
            <a:r>
              <a:rPr lang="zh-CN" altLang="en-US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，队列结构体介绍（熟悉）</a:t>
            </a:r>
            <a:endParaRPr lang="en-US" altLang="zh-CN" b="1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grpSp>
        <p:nvGrpSpPr>
          <p:cNvPr id="9" name="组合 6">
            <a:extLst>
              <a:ext uri="{FF2B5EF4-FFF2-40B4-BE49-F238E27FC236}">
                <a16:creationId xmlns:a16="http://schemas.microsoft.com/office/drawing/2014/main" id="{2BF2E804-F3F4-EEF3-116D-79237F5C5E44}"/>
              </a:ext>
            </a:extLst>
          </p:cNvPr>
          <p:cNvGrpSpPr>
            <a:grpSpLocks/>
          </p:cNvGrpSpPr>
          <p:nvPr/>
        </p:nvGrpSpPr>
        <p:grpSpPr bwMode="auto">
          <a:xfrm>
            <a:off x="1573508" y="1955873"/>
            <a:ext cx="7815041" cy="1063773"/>
            <a:chOff x="577523" y="1391731"/>
            <a:chExt cx="5228917" cy="1015663"/>
          </a:xfrm>
        </p:grpSpPr>
        <p:sp>
          <p:nvSpPr>
            <p:cNvPr id="10" name="文本框 69">
              <a:extLst>
                <a:ext uri="{FF2B5EF4-FFF2-40B4-BE49-F238E27FC236}">
                  <a16:creationId xmlns:a16="http://schemas.microsoft.com/office/drawing/2014/main" id="{3587111A-1707-1C54-5752-CB329960D4D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7523" y="1391731"/>
              <a:ext cx="5091757" cy="10156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typedef struct QueuePointers</a:t>
              </a:r>
            </a:p>
            <a:p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{</a:t>
              </a:r>
            </a:p>
            <a:p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 int8_t * pcTail; </a:t>
              </a:r>
              <a:r>
                <a:rPr lang="en-US" altLang="zh-CN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	</a:t>
              </a:r>
              <a:r>
                <a:rPr lang="en-US" altLang="zh-CN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存储区的结束地址</a:t>
              </a:r>
              <a:r>
                <a:rPr lang="en-US" altLang="zh-CN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</a:p>
            <a:p>
              <a:r>
                <a:rPr lang="en-US" altLang="zh-CN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 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int8_t * pcReadFrom;</a:t>
              </a:r>
              <a:r>
                <a:rPr lang="en-US" altLang="zh-CN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</a:t>
              </a:r>
              <a:r>
                <a:rPr lang="en-US" altLang="zh-CN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最后一个读取队列的地址</a:t>
              </a:r>
              <a:r>
                <a:rPr lang="en-US" altLang="zh-CN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</a:p>
            <a:p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} QueuePointers_t;</a:t>
              </a: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3B586F6C-8B85-2F11-8563-ABF9386CE0BE}"/>
                </a:ext>
              </a:extLst>
            </p:cNvPr>
            <p:cNvSpPr/>
            <p:nvPr/>
          </p:nvSpPr>
          <p:spPr>
            <a:xfrm>
              <a:off x="577523" y="1391731"/>
              <a:ext cx="5228917" cy="1015663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grpSp>
        <p:nvGrpSpPr>
          <p:cNvPr id="12" name="组合 7">
            <a:extLst>
              <a:ext uri="{FF2B5EF4-FFF2-40B4-BE49-F238E27FC236}">
                <a16:creationId xmlns:a16="http://schemas.microsoft.com/office/drawing/2014/main" id="{51486E00-B446-C92E-079F-4F60AD6EC5D7}"/>
              </a:ext>
            </a:extLst>
          </p:cNvPr>
          <p:cNvGrpSpPr>
            <a:grpSpLocks/>
          </p:cNvGrpSpPr>
          <p:nvPr/>
        </p:nvGrpSpPr>
        <p:grpSpPr bwMode="auto">
          <a:xfrm>
            <a:off x="1573508" y="3470349"/>
            <a:ext cx="7974529" cy="1034209"/>
            <a:chOff x="577522" y="2712195"/>
            <a:chExt cx="7974545" cy="1034971"/>
          </a:xfrm>
        </p:grpSpPr>
        <p:sp>
          <p:nvSpPr>
            <p:cNvPr id="13" name="文本框 70">
              <a:extLst>
                <a:ext uri="{FF2B5EF4-FFF2-40B4-BE49-F238E27FC236}">
                  <a16:creationId xmlns:a16="http://schemas.microsoft.com/office/drawing/2014/main" id="{E3352118-EECE-1DAA-B97B-0A61F84D674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7524" y="2730755"/>
              <a:ext cx="7974543" cy="10164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typedef struct SemaphoreData</a:t>
              </a:r>
            </a:p>
            <a:p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{</a:t>
              </a:r>
            </a:p>
            <a:p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TaskHandle_t xMutexHolder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;	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互斥信号量持有者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  <a:endParaRPr lang="zh-CN" altLang="en-US" sz="1200" dirty="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UBaseType_t uxRecursiveCallCount;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递归互斥信号量的获取计数器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</a:p>
            <a:p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} SemaphoreData_t;</a:t>
              </a: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C1EF1EE6-E640-9709-634A-5A0568CFADD5}"/>
                </a:ext>
              </a:extLst>
            </p:cNvPr>
            <p:cNvSpPr/>
            <p:nvPr/>
          </p:nvSpPr>
          <p:spPr>
            <a:xfrm>
              <a:off x="577522" y="2712195"/>
              <a:ext cx="7815056" cy="967006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sp>
        <p:nvSpPr>
          <p:cNvPr id="15" name="文本框 8">
            <a:extLst>
              <a:ext uri="{FF2B5EF4-FFF2-40B4-BE49-F238E27FC236}">
                <a16:creationId xmlns:a16="http://schemas.microsoft.com/office/drawing/2014/main" id="{2E154D2D-F952-11AC-E5D6-7B3FAE9BE6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4133" y="1620912"/>
            <a:ext cx="18002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当用于队列使用时：</a:t>
            </a:r>
          </a:p>
        </p:txBody>
      </p:sp>
      <p:sp>
        <p:nvSpPr>
          <p:cNvPr id="16" name="文本框 19">
            <a:extLst>
              <a:ext uri="{FF2B5EF4-FFF2-40B4-BE49-F238E27FC236}">
                <a16:creationId xmlns:a16="http://schemas.microsoft.com/office/drawing/2014/main" id="{688738AF-B60D-B9CA-3745-5EB0DA5104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4133" y="3152849"/>
            <a:ext cx="461645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当用于互斥信号量和递归互斥信号量时 ：</a:t>
            </a:r>
          </a:p>
        </p:txBody>
      </p:sp>
    </p:spTree>
    <p:extLst>
      <p:ext uri="{BB962C8B-B14F-4D97-AF65-F5344CB8AC3E}">
        <p14:creationId xmlns:p14="http://schemas.microsoft.com/office/powerpoint/2010/main" val="77596312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39726-26AF-449A-B835-1855D170C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37D072C5-0850-5F06-3E1B-B249A21E4DAB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3" name="文本框 9">
            <a:extLst>
              <a:ext uri="{FF2B5EF4-FFF2-40B4-BE49-F238E27FC236}">
                <a16:creationId xmlns:a16="http://schemas.microsoft.com/office/drawing/2014/main" id="{D0609884-CEEA-9A0A-1333-BFEE5E976D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4447" y="799842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2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，队列结构体介绍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grpSp>
        <p:nvGrpSpPr>
          <p:cNvPr id="4" name="组合 117">
            <a:extLst>
              <a:ext uri="{FF2B5EF4-FFF2-40B4-BE49-F238E27FC236}">
                <a16:creationId xmlns:a16="http://schemas.microsoft.com/office/drawing/2014/main" id="{3D506C79-C2CE-D84A-1B82-89B4B06991F7}"/>
              </a:ext>
            </a:extLst>
          </p:cNvPr>
          <p:cNvGrpSpPr>
            <a:grpSpLocks/>
          </p:cNvGrpSpPr>
          <p:nvPr/>
        </p:nvGrpSpPr>
        <p:grpSpPr bwMode="auto">
          <a:xfrm>
            <a:off x="3609384" y="1814254"/>
            <a:ext cx="4359275" cy="3832225"/>
            <a:chOff x="3244469" y="912528"/>
            <a:chExt cx="4359793" cy="3832652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9667836D-8B0D-5263-0F98-E62CCD55808A}"/>
                </a:ext>
              </a:extLst>
            </p:cNvPr>
            <p:cNvSpPr/>
            <p:nvPr/>
          </p:nvSpPr>
          <p:spPr>
            <a:xfrm>
              <a:off x="3666794" y="917292"/>
              <a:ext cx="1873473" cy="3815187"/>
            </a:xfrm>
            <a:prstGeom prst="rect">
              <a:avLst/>
            </a:prstGeom>
            <a:ln>
              <a:solidFill>
                <a:srgbClr val="00206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CC879C8F-876E-9EF5-8F6C-C3EBA591BA41}"/>
                </a:ext>
              </a:extLst>
            </p:cNvPr>
            <p:cNvSpPr/>
            <p:nvPr/>
          </p:nvSpPr>
          <p:spPr>
            <a:xfrm>
              <a:off x="3658856" y="1869898"/>
              <a:ext cx="1881411" cy="2872107"/>
            </a:xfrm>
            <a:prstGeom prst="rect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 sz="11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3BC48361-C68D-1EA2-2811-642334F10E98}"/>
                </a:ext>
              </a:extLst>
            </p:cNvPr>
            <p:cNvSpPr/>
            <p:nvPr/>
          </p:nvSpPr>
          <p:spPr>
            <a:xfrm>
              <a:off x="3669970" y="912528"/>
              <a:ext cx="1875061" cy="949431"/>
            </a:xfrm>
            <a:prstGeom prst="rect">
              <a:avLst/>
            </a:prstGeom>
            <a:solidFill>
              <a:schemeClr val="accent4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 sz="11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8" name="文本框 56">
              <a:extLst>
                <a:ext uri="{FF2B5EF4-FFF2-40B4-BE49-F238E27FC236}">
                  <a16:creationId xmlns:a16="http://schemas.microsoft.com/office/drawing/2014/main" id="{269EE17E-A568-7C80-5F86-B65687F9A65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34144" y="2808966"/>
              <a:ext cx="1382360" cy="2616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/>
              <a:r>
                <a:rPr lang="en-US" altLang="zh-CN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uxLength = 4</a:t>
              </a:r>
              <a:endParaRPr lang="zh-CN" altLang="en-US" sz="11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9" name="文本框 57">
              <a:extLst>
                <a:ext uri="{FF2B5EF4-FFF2-40B4-BE49-F238E27FC236}">
                  <a16:creationId xmlns:a16="http://schemas.microsoft.com/office/drawing/2014/main" id="{D72F96CC-8D35-11E7-FFD0-FC8BF8E8FF6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08854" y="4498959"/>
              <a:ext cx="1382360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/>
              <a:r>
                <a:rPr lang="en-US" altLang="zh-CN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pcHead</a:t>
              </a:r>
              <a:endParaRPr lang="zh-CN" altLang="en-US" sz="10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10" name="文本框 58">
              <a:extLst>
                <a:ext uri="{FF2B5EF4-FFF2-40B4-BE49-F238E27FC236}">
                  <a16:creationId xmlns:a16="http://schemas.microsoft.com/office/drawing/2014/main" id="{52693A80-4D0D-3F1E-1AC6-67D0961CAD6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34144" y="4227499"/>
              <a:ext cx="1382360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/>
              <a:r>
                <a:rPr lang="en-US" altLang="zh-CN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pcWriteTo</a:t>
              </a:r>
              <a:endParaRPr lang="zh-CN" altLang="en-US" sz="10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11" name="文本框 59">
              <a:extLst>
                <a:ext uri="{FF2B5EF4-FFF2-40B4-BE49-F238E27FC236}">
                  <a16:creationId xmlns:a16="http://schemas.microsoft.com/office/drawing/2014/main" id="{7E64A56D-86B6-32F9-0F7C-5764A405083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34144" y="3981278"/>
              <a:ext cx="1382360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/>
              <a:r>
                <a:rPr lang="en-US" altLang="zh-CN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xQueue.pcTail </a:t>
              </a:r>
              <a:endParaRPr lang="zh-CN" altLang="en-US" sz="10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12" name="文本框 61">
              <a:extLst>
                <a:ext uri="{FF2B5EF4-FFF2-40B4-BE49-F238E27FC236}">
                  <a16:creationId xmlns:a16="http://schemas.microsoft.com/office/drawing/2014/main" id="{FF612846-0A73-3352-7DA7-08914C7108F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08854" y="3743099"/>
              <a:ext cx="1568196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en-US" altLang="zh-CN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xQueue.pcReadFrom </a:t>
              </a:r>
              <a:endParaRPr lang="zh-CN" altLang="en-US" sz="10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13" name="文本框 63">
              <a:extLst>
                <a:ext uri="{FF2B5EF4-FFF2-40B4-BE49-F238E27FC236}">
                  <a16:creationId xmlns:a16="http://schemas.microsoft.com/office/drawing/2014/main" id="{03211B4A-843E-8CC6-8B15-4823BC135C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36035" y="3518929"/>
              <a:ext cx="1578578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zh-CN" altLang="en-US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xTasksWaitingToSend</a:t>
              </a:r>
            </a:p>
          </p:txBody>
        </p:sp>
        <p:sp>
          <p:nvSpPr>
            <p:cNvPr id="14" name="文本框 65">
              <a:extLst>
                <a:ext uri="{FF2B5EF4-FFF2-40B4-BE49-F238E27FC236}">
                  <a16:creationId xmlns:a16="http://schemas.microsoft.com/office/drawing/2014/main" id="{CEA0DB6A-5D4B-49F7-9E3A-999CB9D4BFC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42451" y="3296594"/>
              <a:ext cx="1765745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zh-CN" altLang="en-US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xTasksWaitingToReceive</a:t>
              </a:r>
            </a:p>
          </p:txBody>
        </p:sp>
        <p:sp>
          <p:nvSpPr>
            <p:cNvPr id="15" name="文本框 67">
              <a:extLst>
                <a:ext uri="{FF2B5EF4-FFF2-40B4-BE49-F238E27FC236}">
                  <a16:creationId xmlns:a16="http://schemas.microsoft.com/office/drawing/2014/main" id="{1DA21FE1-FD93-0105-F846-066E6A7697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36035" y="3057976"/>
              <a:ext cx="1682149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en-US" altLang="zh-CN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uxMessagesWaiting = 0 </a:t>
              </a:r>
              <a:endParaRPr lang="zh-CN" altLang="en-US" sz="10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16" name="文本框 68">
              <a:extLst>
                <a:ext uri="{FF2B5EF4-FFF2-40B4-BE49-F238E27FC236}">
                  <a16:creationId xmlns:a16="http://schemas.microsoft.com/office/drawing/2014/main" id="{7711A3AD-8535-E86B-529E-8449FD184D8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36140" y="2556312"/>
              <a:ext cx="1382360" cy="2616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/>
              <a:r>
                <a:rPr lang="en-US" altLang="zh-CN" sz="11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uxItemSize = 32</a:t>
              </a:r>
              <a:endParaRPr lang="zh-CN" altLang="en-US" sz="11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17" name="文本框 70">
              <a:extLst>
                <a:ext uri="{FF2B5EF4-FFF2-40B4-BE49-F238E27FC236}">
                  <a16:creationId xmlns:a16="http://schemas.microsoft.com/office/drawing/2014/main" id="{4FE4B0D7-2FC0-FE3D-7A09-550126F9BB4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66410" y="2336350"/>
              <a:ext cx="2153412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zh-CN" altLang="en-US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cRxLock </a:t>
              </a:r>
              <a:r>
                <a:rPr lang="en-US" altLang="zh-CN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= queueUNLOCKED </a:t>
              </a:r>
              <a:endParaRPr lang="zh-CN" altLang="en-US" sz="10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18" name="文本框 71">
              <a:extLst>
                <a:ext uri="{FF2B5EF4-FFF2-40B4-BE49-F238E27FC236}">
                  <a16:creationId xmlns:a16="http://schemas.microsoft.com/office/drawing/2014/main" id="{CC04F579-FFAC-787F-DD01-4D4FBBD876C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66410" y="2110503"/>
              <a:ext cx="2153412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en-US" altLang="zh-CN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cTxLock</a:t>
              </a:r>
              <a:r>
                <a:rPr lang="zh-CN" altLang="en-US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  <a:r>
                <a:rPr lang="en-US" altLang="zh-CN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= queueUNLOCKED </a:t>
              </a:r>
              <a:endParaRPr lang="zh-CN" altLang="en-US" sz="10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19" name="文本框 72">
              <a:extLst>
                <a:ext uri="{FF2B5EF4-FFF2-40B4-BE49-F238E27FC236}">
                  <a16:creationId xmlns:a16="http://schemas.microsoft.com/office/drawing/2014/main" id="{6901528C-C405-16E7-67FB-2C55055EED6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08499" y="1896413"/>
              <a:ext cx="2153412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zh-CN" altLang="en-US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其他成员变量（视条件编译而定）</a:t>
              </a:r>
            </a:p>
          </p:txBody>
        </p:sp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A1BAC16D-4708-D7BD-6E3D-39243A4BCF0C}"/>
                </a:ext>
              </a:extLst>
            </p:cNvPr>
            <p:cNvCxnSpPr>
              <a:cxnSpLocks/>
            </p:cNvCxnSpPr>
            <p:nvPr/>
          </p:nvCxnSpPr>
          <p:spPr>
            <a:xfrm>
              <a:off x="3666794" y="4006911"/>
              <a:ext cx="186712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0BF617C1-7B49-6985-AC14-DD2FE434B458}"/>
                </a:ext>
              </a:extLst>
            </p:cNvPr>
            <p:cNvCxnSpPr>
              <a:cxnSpLocks/>
            </p:cNvCxnSpPr>
            <p:nvPr/>
          </p:nvCxnSpPr>
          <p:spPr>
            <a:xfrm>
              <a:off x="3666794" y="3532195"/>
              <a:ext cx="186712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连接符 21">
              <a:extLst>
                <a:ext uri="{FF2B5EF4-FFF2-40B4-BE49-F238E27FC236}">
                  <a16:creationId xmlns:a16="http://schemas.microsoft.com/office/drawing/2014/main" id="{B22A8986-522E-4781-CDC3-1ADB55D0349D}"/>
                </a:ext>
              </a:extLst>
            </p:cNvPr>
            <p:cNvCxnSpPr>
              <a:cxnSpLocks/>
            </p:cNvCxnSpPr>
            <p:nvPr/>
          </p:nvCxnSpPr>
          <p:spPr>
            <a:xfrm>
              <a:off x="3666794" y="3294043"/>
              <a:ext cx="186712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 22">
              <a:extLst>
                <a:ext uri="{FF2B5EF4-FFF2-40B4-BE49-F238E27FC236}">
                  <a16:creationId xmlns:a16="http://schemas.microsoft.com/office/drawing/2014/main" id="{D217F215-BE9B-9540-1A3A-46D8C32D4CFE}"/>
                </a:ext>
              </a:extLst>
            </p:cNvPr>
            <p:cNvCxnSpPr>
              <a:cxnSpLocks/>
            </p:cNvCxnSpPr>
            <p:nvPr/>
          </p:nvCxnSpPr>
          <p:spPr>
            <a:xfrm>
              <a:off x="3666794" y="3768759"/>
              <a:ext cx="186712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接连接符 23">
              <a:extLst>
                <a:ext uri="{FF2B5EF4-FFF2-40B4-BE49-F238E27FC236}">
                  <a16:creationId xmlns:a16="http://schemas.microsoft.com/office/drawing/2014/main" id="{C52779A7-1ADE-BF79-B78B-6F229C6EB961}"/>
                </a:ext>
              </a:extLst>
            </p:cNvPr>
            <p:cNvCxnSpPr>
              <a:cxnSpLocks/>
            </p:cNvCxnSpPr>
            <p:nvPr/>
          </p:nvCxnSpPr>
          <p:spPr>
            <a:xfrm>
              <a:off x="3666794" y="4245062"/>
              <a:ext cx="186712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接连接符 24">
              <a:extLst>
                <a:ext uri="{FF2B5EF4-FFF2-40B4-BE49-F238E27FC236}">
                  <a16:creationId xmlns:a16="http://schemas.microsoft.com/office/drawing/2014/main" id="{D5432CD4-ABBB-C1C6-3706-45F5E1A27CA8}"/>
                </a:ext>
              </a:extLst>
            </p:cNvPr>
            <p:cNvCxnSpPr>
              <a:cxnSpLocks/>
            </p:cNvCxnSpPr>
            <p:nvPr/>
          </p:nvCxnSpPr>
          <p:spPr>
            <a:xfrm>
              <a:off x="3666794" y="4481626"/>
              <a:ext cx="186712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B650E55C-8EBB-BE31-8DA2-252340C5D2AC}"/>
                </a:ext>
              </a:extLst>
            </p:cNvPr>
            <p:cNvCxnSpPr>
              <a:cxnSpLocks/>
            </p:cNvCxnSpPr>
            <p:nvPr/>
          </p:nvCxnSpPr>
          <p:spPr>
            <a:xfrm>
              <a:off x="3666794" y="2343025"/>
              <a:ext cx="186712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接连接符 26">
              <a:extLst>
                <a:ext uri="{FF2B5EF4-FFF2-40B4-BE49-F238E27FC236}">
                  <a16:creationId xmlns:a16="http://schemas.microsoft.com/office/drawing/2014/main" id="{B6257BB9-E370-AB78-3FBE-726A52B4C0C9}"/>
                </a:ext>
              </a:extLst>
            </p:cNvPr>
            <p:cNvCxnSpPr>
              <a:cxnSpLocks/>
            </p:cNvCxnSpPr>
            <p:nvPr/>
          </p:nvCxnSpPr>
          <p:spPr>
            <a:xfrm>
              <a:off x="3666794" y="2819328"/>
              <a:ext cx="186712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接连接符 27">
              <a:extLst>
                <a:ext uri="{FF2B5EF4-FFF2-40B4-BE49-F238E27FC236}">
                  <a16:creationId xmlns:a16="http://schemas.microsoft.com/office/drawing/2014/main" id="{1FE162A6-CDD0-8B4E-66DC-5B7E277A3333}"/>
                </a:ext>
              </a:extLst>
            </p:cNvPr>
            <p:cNvCxnSpPr>
              <a:cxnSpLocks/>
            </p:cNvCxnSpPr>
            <p:nvPr/>
          </p:nvCxnSpPr>
          <p:spPr>
            <a:xfrm>
              <a:off x="3666794" y="1631746"/>
              <a:ext cx="186712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B023EB67-9FB1-64A4-EA66-C190C208CA20}"/>
                </a:ext>
              </a:extLst>
            </p:cNvPr>
            <p:cNvCxnSpPr>
              <a:cxnSpLocks/>
            </p:cNvCxnSpPr>
            <p:nvPr/>
          </p:nvCxnSpPr>
          <p:spPr>
            <a:xfrm>
              <a:off x="3673145" y="1163381"/>
              <a:ext cx="186712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AB12265A-EAEC-6B62-E28D-AD478B11774E}"/>
                </a:ext>
              </a:extLst>
            </p:cNvPr>
            <p:cNvCxnSpPr>
              <a:cxnSpLocks/>
            </p:cNvCxnSpPr>
            <p:nvPr/>
          </p:nvCxnSpPr>
          <p:spPr>
            <a:xfrm>
              <a:off x="3666794" y="1393595"/>
              <a:ext cx="186712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44D2FA73-5A6A-93C8-6DDC-9F92C8549CB5}"/>
                </a:ext>
              </a:extLst>
            </p:cNvPr>
            <p:cNvCxnSpPr>
              <a:cxnSpLocks/>
            </p:cNvCxnSpPr>
            <p:nvPr/>
          </p:nvCxnSpPr>
          <p:spPr>
            <a:xfrm>
              <a:off x="3666794" y="1868309"/>
              <a:ext cx="186712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5A8AFCED-1F81-B16F-2D5A-42CEED53B127}"/>
                </a:ext>
              </a:extLst>
            </p:cNvPr>
            <p:cNvCxnSpPr>
              <a:cxnSpLocks/>
            </p:cNvCxnSpPr>
            <p:nvPr/>
          </p:nvCxnSpPr>
          <p:spPr>
            <a:xfrm>
              <a:off x="3666794" y="2106461"/>
              <a:ext cx="186712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3ACC60F3-5A59-CE7B-EDE1-602EDCF22D52}"/>
                </a:ext>
              </a:extLst>
            </p:cNvPr>
            <p:cNvCxnSpPr>
              <a:cxnSpLocks/>
            </p:cNvCxnSpPr>
            <p:nvPr/>
          </p:nvCxnSpPr>
          <p:spPr>
            <a:xfrm>
              <a:off x="3666794" y="2581177"/>
              <a:ext cx="186712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B22CCC03-F9DE-6FD7-7AE6-EFDF05189D7E}"/>
                </a:ext>
              </a:extLst>
            </p:cNvPr>
            <p:cNvCxnSpPr>
              <a:cxnSpLocks/>
            </p:cNvCxnSpPr>
            <p:nvPr/>
          </p:nvCxnSpPr>
          <p:spPr>
            <a:xfrm>
              <a:off x="3666794" y="3055892"/>
              <a:ext cx="186712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文本框 91">
              <a:extLst>
                <a:ext uri="{FF2B5EF4-FFF2-40B4-BE49-F238E27FC236}">
                  <a16:creationId xmlns:a16="http://schemas.microsoft.com/office/drawing/2014/main" id="{44AD63F6-3C8D-81FE-F6CC-D86CF79D62D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88522" y="1621809"/>
              <a:ext cx="1327982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zh-CN" altLang="en-US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队列项</a:t>
              </a:r>
              <a:r>
                <a:rPr lang="en-US" altLang="zh-CN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1</a:t>
              </a:r>
              <a:r>
                <a:rPr lang="zh-CN" altLang="en-US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（</a:t>
              </a:r>
              <a:r>
                <a:rPr lang="en-US" altLang="zh-CN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32</a:t>
              </a:r>
              <a:r>
                <a:rPr lang="zh-CN" altLang="en-US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字节）</a:t>
              </a:r>
            </a:p>
          </p:txBody>
        </p:sp>
        <p:sp>
          <p:nvSpPr>
            <p:cNvPr id="36" name="文本框 92">
              <a:extLst>
                <a:ext uri="{FF2B5EF4-FFF2-40B4-BE49-F238E27FC236}">
                  <a16:creationId xmlns:a16="http://schemas.microsoft.com/office/drawing/2014/main" id="{9268711E-85B3-7715-F1A3-E487E4338FD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88522" y="1391924"/>
              <a:ext cx="2153412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zh-CN" altLang="en-US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队列项</a:t>
              </a:r>
              <a:r>
                <a:rPr lang="en-US" altLang="zh-CN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2</a:t>
              </a:r>
              <a:r>
                <a:rPr lang="zh-CN" altLang="en-US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（</a:t>
              </a:r>
              <a:r>
                <a:rPr lang="en-US" altLang="zh-CN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32</a:t>
              </a:r>
              <a:r>
                <a:rPr lang="zh-CN" altLang="en-US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字节）</a:t>
              </a:r>
            </a:p>
          </p:txBody>
        </p:sp>
        <p:sp>
          <p:nvSpPr>
            <p:cNvPr id="37" name="文本框 93">
              <a:extLst>
                <a:ext uri="{FF2B5EF4-FFF2-40B4-BE49-F238E27FC236}">
                  <a16:creationId xmlns:a16="http://schemas.microsoft.com/office/drawing/2014/main" id="{63A4B2AF-FDEA-96D2-386B-689F9375787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88522" y="1164735"/>
              <a:ext cx="1686313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zh-CN" altLang="en-US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队列项</a:t>
              </a:r>
              <a:r>
                <a:rPr lang="en-US" altLang="zh-CN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3</a:t>
              </a:r>
              <a:r>
                <a:rPr lang="zh-CN" altLang="en-US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（</a:t>
              </a:r>
              <a:r>
                <a:rPr lang="en-US" altLang="zh-CN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32</a:t>
              </a:r>
              <a:r>
                <a:rPr lang="zh-CN" altLang="en-US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字节）</a:t>
              </a:r>
            </a:p>
          </p:txBody>
        </p:sp>
        <p:sp>
          <p:nvSpPr>
            <p:cNvPr id="38" name="文本框 94">
              <a:extLst>
                <a:ext uri="{FF2B5EF4-FFF2-40B4-BE49-F238E27FC236}">
                  <a16:creationId xmlns:a16="http://schemas.microsoft.com/office/drawing/2014/main" id="{A6BF8FBE-55A5-FAB7-3A3B-E56F64A363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88522" y="935665"/>
              <a:ext cx="1628399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zh-CN" altLang="en-US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队列项</a:t>
              </a:r>
              <a:r>
                <a:rPr lang="en-US" altLang="zh-CN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4</a:t>
              </a:r>
              <a:r>
                <a:rPr lang="zh-CN" altLang="en-US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（</a:t>
              </a:r>
              <a:r>
                <a:rPr lang="en-US" altLang="zh-CN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32</a:t>
              </a:r>
              <a:r>
                <a:rPr lang="zh-CN" altLang="en-US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字节）</a:t>
              </a:r>
            </a:p>
          </p:txBody>
        </p: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BFB8DB18-DB2A-DC48-0C8C-A585C9F1DC1A}"/>
                </a:ext>
              </a:extLst>
            </p:cNvPr>
            <p:cNvCxnSpPr/>
            <p:nvPr/>
          </p:nvCxnSpPr>
          <p:spPr>
            <a:xfrm flipH="1">
              <a:off x="3261934" y="4589588"/>
              <a:ext cx="411211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1E5C18CA-39BF-C8CE-87E8-A52949DF95E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244469" y="1861959"/>
              <a:ext cx="17465" cy="2727629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箭头连接符 40">
              <a:extLst>
                <a:ext uri="{FF2B5EF4-FFF2-40B4-BE49-F238E27FC236}">
                  <a16:creationId xmlns:a16="http://schemas.microsoft.com/office/drawing/2014/main" id="{4A40E642-B54F-12D2-AD15-D5312B0E8768}"/>
                </a:ext>
              </a:extLst>
            </p:cNvPr>
            <p:cNvCxnSpPr>
              <a:cxnSpLocks/>
            </p:cNvCxnSpPr>
            <p:nvPr/>
          </p:nvCxnSpPr>
          <p:spPr>
            <a:xfrm>
              <a:off x="3244469" y="1861959"/>
              <a:ext cx="422325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50E8D46C-260A-5C0D-0CC3-031C269711F3}"/>
                </a:ext>
              </a:extLst>
            </p:cNvPr>
            <p:cNvCxnSpPr>
              <a:cxnSpLocks/>
            </p:cNvCxnSpPr>
            <p:nvPr/>
          </p:nvCxnSpPr>
          <p:spPr>
            <a:xfrm>
              <a:off x="3434992" y="4359375"/>
              <a:ext cx="238153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箭头连接符 42">
              <a:extLst>
                <a:ext uri="{FF2B5EF4-FFF2-40B4-BE49-F238E27FC236}">
                  <a16:creationId xmlns:a16="http://schemas.microsoft.com/office/drawing/2014/main" id="{EDA6D661-562B-9B36-3CE7-0F9C1887F1F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33916" y="1163381"/>
              <a:ext cx="361993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连接符 43">
              <a:extLst>
                <a:ext uri="{FF2B5EF4-FFF2-40B4-BE49-F238E27FC236}">
                  <a16:creationId xmlns:a16="http://schemas.microsoft.com/office/drawing/2014/main" id="{8FD8FAF9-39AA-B6A8-9DBF-80D65DBE76E0}"/>
                </a:ext>
              </a:extLst>
            </p:cNvPr>
            <p:cNvCxnSpPr>
              <a:cxnSpLocks/>
            </p:cNvCxnSpPr>
            <p:nvPr/>
          </p:nvCxnSpPr>
          <p:spPr>
            <a:xfrm>
              <a:off x="3434992" y="1869898"/>
              <a:ext cx="0" cy="2489477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9B5851FC-E0A3-2F9B-E018-E68220819093}"/>
                </a:ext>
              </a:extLst>
            </p:cNvPr>
            <p:cNvCxnSpPr/>
            <p:nvPr/>
          </p:nvCxnSpPr>
          <p:spPr>
            <a:xfrm>
              <a:off x="5533916" y="3897361"/>
              <a:ext cx="355642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FBFAB43D-FB2C-2CD7-BE8A-33F076AD8D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89558" y="1163381"/>
              <a:ext cx="6351" cy="273398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2E7F98B9-3844-830E-3DBD-DC547F7F905F}"/>
                </a:ext>
              </a:extLst>
            </p:cNvPr>
            <p:cNvCxnSpPr>
              <a:cxnSpLocks/>
            </p:cNvCxnSpPr>
            <p:nvPr/>
          </p:nvCxnSpPr>
          <p:spPr>
            <a:xfrm>
              <a:off x="5540267" y="4137100"/>
              <a:ext cx="601734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AA8C540B-5E25-4C63-A449-014906D32C08}"/>
                </a:ext>
              </a:extLst>
            </p:cNvPr>
            <p:cNvCxnSpPr/>
            <p:nvPr/>
          </p:nvCxnSpPr>
          <p:spPr>
            <a:xfrm flipV="1">
              <a:off x="6142001" y="912528"/>
              <a:ext cx="0" cy="322457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箭头连接符 48">
              <a:extLst>
                <a:ext uri="{FF2B5EF4-FFF2-40B4-BE49-F238E27FC236}">
                  <a16:creationId xmlns:a16="http://schemas.microsoft.com/office/drawing/2014/main" id="{130EE8B4-BE6C-3911-4BC7-B0505ABAC2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33916" y="912528"/>
              <a:ext cx="608085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右大括号 49">
              <a:extLst>
                <a:ext uri="{FF2B5EF4-FFF2-40B4-BE49-F238E27FC236}">
                  <a16:creationId xmlns:a16="http://schemas.microsoft.com/office/drawing/2014/main" id="{63C562F6-A2BD-DD18-ABB0-31429A088D2A}"/>
                </a:ext>
              </a:extLst>
            </p:cNvPr>
            <p:cNvSpPr/>
            <p:nvPr/>
          </p:nvSpPr>
          <p:spPr>
            <a:xfrm>
              <a:off x="6321410" y="912528"/>
              <a:ext cx="271495" cy="949431"/>
            </a:xfrm>
            <a:prstGeom prst="rightBrace">
              <a:avLst/>
            </a:prstGeom>
            <a:ln>
              <a:solidFill>
                <a:schemeClr val="accent5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  <p:sp>
          <p:nvSpPr>
            <p:cNvPr id="51" name="右大括号 50">
              <a:extLst>
                <a:ext uri="{FF2B5EF4-FFF2-40B4-BE49-F238E27FC236}">
                  <a16:creationId xmlns:a16="http://schemas.microsoft.com/office/drawing/2014/main" id="{E7138E41-3742-D9D4-330D-9465715BEC44}"/>
                </a:ext>
              </a:extLst>
            </p:cNvPr>
            <p:cNvSpPr/>
            <p:nvPr/>
          </p:nvSpPr>
          <p:spPr>
            <a:xfrm>
              <a:off x="6327760" y="1869898"/>
              <a:ext cx="339765" cy="2862581"/>
            </a:xfrm>
            <a:prstGeom prst="rightBrace">
              <a:avLst/>
            </a:prstGeom>
            <a:ln>
              <a:solidFill>
                <a:schemeClr val="accent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 dirty="0">
                <a:solidFill>
                  <a:srgbClr val="FFC000"/>
                </a:solidFill>
              </a:endParaRPr>
            </a:p>
          </p:txBody>
        </p:sp>
        <p:cxnSp>
          <p:nvCxnSpPr>
            <p:cNvPr id="52" name="直接连接符 51">
              <a:extLst>
                <a:ext uri="{FF2B5EF4-FFF2-40B4-BE49-F238E27FC236}">
                  <a16:creationId xmlns:a16="http://schemas.microsoft.com/office/drawing/2014/main" id="{ACCA475F-AE66-8AC3-9123-2CF80950EA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18039" y="912528"/>
              <a:ext cx="803370" cy="7939"/>
            </a:xfrm>
            <a:prstGeom prst="line">
              <a:avLst/>
            </a:prstGeom>
            <a:ln w="9525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3" name="直接连接符 52">
              <a:extLst>
                <a:ext uri="{FF2B5EF4-FFF2-40B4-BE49-F238E27FC236}">
                  <a16:creationId xmlns:a16="http://schemas.microsoft.com/office/drawing/2014/main" id="{62506DDE-0386-BD32-493C-60EBF17E527B}"/>
                </a:ext>
              </a:extLst>
            </p:cNvPr>
            <p:cNvCxnSpPr>
              <a:cxnSpLocks/>
              <a:endCxn id="51" idx="0"/>
            </p:cNvCxnSpPr>
            <p:nvPr/>
          </p:nvCxnSpPr>
          <p:spPr>
            <a:xfrm>
              <a:off x="5524390" y="1869898"/>
              <a:ext cx="803370" cy="0"/>
            </a:xfrm>
            <a:prstGeom prst="line">
              <a:avLst/>
            </a:prstGeom>
            <a:ln w="9525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4" name="直接连接符 53">
              <a:extLst>
                <a:ext uri="{FF2B5EF4-FFF2-40B4-BE49-F238E27FC236}">
                  <a16:creationId xmlns:a16="http://schemas.microsoft.com/office/drawing/2014/main" id="{E5E89467-1432-3CC5-3D1F-8EFBFBC7BD5F}"/>
                </a:ext>
              </a:extLst>
            </p:cNvPr>
            <p:cNvCxnSpPr>
              <a:cxnSpLocks/>
            </p:cNvCxnSpPr>
            <p:nvPr/>
          </p:nvCxnSpPr>
          <p:spPr>
            <a:xfrm>
              <a:off x="5548206" y="4732479"/>
              <a:ext cx="803370" cy="0"/>
            </a:xfrm>
            <a:prstGeom prst="line">
              <a:avLst/>
            </a:prstGeom>
            <a:ln w="9525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55" name="文本框 155">
              <a:extLst>
                <a:ext uri="{FF2B5EF4-FFF2-40B4-BE49-F238E27FC236}">
                  <a16:creationId xmlns:a16="http://schemas.microsoft.com/office/drawing/2014/main" id="{645BB20A-DE0C-7207-EDFF-7925697DEDD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13920" y="1210901"/>
              <a:ext cx="1090342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/>
              <a:r>
                <a:rPr lang="zh-CN" altLang="en-US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队列项（消息）</a:t>
              </a:r>
              <a:endParaRPr lang="en-US" altLang="zh-CN" sz="10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 algn="ctr"/>
              <a:r>
                <a:rPr lang="zh-CN" altLang="en-US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存储区</a:t>
              </a:r>
            </a:p>
          </p:txBody>
        </p:sp>
        <p:sp>
          <p:nvSpPr>
            <p:cNvPr id="56" name="文本框 156">
              <a:extLst>
                <a:ext uri="{FF2B5EF4-FFF2-40B4-BE49-F238E27FC236}">
                  <a16:creationId xmlns:a16="http://schemas.microsoft.com/office/drawing/2014/main" id="{6918AEAF-F9A7-8750-C929-6B52C935908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86471" y="3146808"/>
              <a:ext cx="1090342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/>
              <a:r>
                <a:rPr lang="zh-CN" altLang="en-US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队列结构体</a:t>
              </a:r>
              <a:endParaRPr lang="en-US" altLang="zh-CN" sz="10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 algn="ctr"/>
              <a:r>
                <a:rPr lang="zh-CN" altLang="en-US" sz="10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存储区</a:t>
              </a:r>
            </a:p>
          </p:txBody>
        </p:sp>
      </p:grpSp>
      <p:sp>
        <p:nvSpPr>
          <p:cNvPr id="57" name="文本框 2">
            <a:extLst>
              <a:ext uri="{FF2B5EF4-FFF2-40B4-BE49-F238E27FC236}">
                <a16:creationId xmlns:a16="http://schemas.microsoft.com/office/drawing/2014/main" id="{CD8007CC-F620-19A2-1312-59F8F92942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20209" y="1336417"/>
            <a:ext cx="215900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队列结构体整体示意图：</a:t>
            </a:r>
          </a:p>
        </p:txBody>
      </p:sp>
    </p:spTree>
    <p:extLst>
      <p:ext uri="{BB962C8B-B14F-4D97-AF65-F5344CB8AC3E}">
        <p14:creationId xmlns:p14="http://schemas.microsoft.com/office/powerpoint/2010/main" val="178044345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10E65E-2551-DC5C-FDD7-2336B072D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3F09A099-4858-B0DE-46AE-6E339219A773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E1CD1D32-EDC5-2460-CFB4-FBE3B8502F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18229" y="1058235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graphicFrame>
        <p:nvGraphicFramePr>
          <p:cNvPr id="9" name="表格 6">
            <a:extLst>
              <a:ext uri="{FF2B5EF4-FFF2-40B4-BE49-F238E27FC236}">
                <a16:creationId xmlns:a16="http://schemas.microsoft.com/office/drawing/2014/main" id="{DCD7B97E-EF2A-A748-4237-091E7881FA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6115434"/>
              </p:ext>
            </p:extLst>
          </p:nvPr>
        </p:nvGraphicFramePr>
        <p:xfrm>
          <a:off x="1800816" y="2639385"/>
          <a:ext cx="5065713" cy="7921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24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733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405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函数</a:t>
                      </a:r>
                    </a:p>
                  </a:txBody>
                  <a:tcPr marL="68585" marR="68585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68585" marR="6858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054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xQueueCreate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00" marB="45700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动态方式创建队列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00" marB="457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054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xQueueCreateStatic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00" marB="45700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静态方式创建队列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00" marB="457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文本框 14">
            <a:extLst>
              <a:ext uri="{FF2B5EF4-FFF2-40B4-BE49-F238E27FC236}">
                <a16:creationId xmlns:a16="http://schemas.microsoft.com/office/drawing/2014/main" id="{B9ADF6DB-E528-C9C1-F8A3-6DF6B6635E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0654" y="1664660"/>
            <a:ext cx="551021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使用队列的主要流程：创建队列 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sym typeface="Wingdings" panose="05000000000000000000" pitchFamily="2" charset="2"/>
              </a:rPr>
              <a:t> 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写队列 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  <a:sym typeface="Wingdings" panose="05000000000000000000" pitchFamily="2" charset="2"/>
              </a:rPr>
              <a:t> 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读队列。</a:t>
            </a:r>
          </a:p>
        </p:txBody>
      </p:sp>
      <p:sp>
        <p:nvSpPr>
          <p:cNvPr id="11" name="文本框 16">
            <a:extLst>
              <a:ext uri="{FF2B5EF4-FFF2-40B4-BE49-F238E27FC236}">
                <a16:creationId xmlns:a16="http://schemas.microsoft.com/office/drawing/2014/main" id="{65CAEC98-4112-7A21-03F6-76D93110C9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1129" y="2101223"/>
            <a:ext cx="461803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创建队列相关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API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函数介绍：</a:t>
            </a:r>
            <a:endParaRPr lang="zh-CN" altLang="en-US" sz="1400">
              <a:solidFill>
                <a:srgbClr val="002060"/>
              </a:solidFill>
            </a:endParaRPr>
          </a:p>
        </p:txBody>
      </p:sp>
      <p:sp>
        <p:nvSpPr>
          <p:cNvPr id="12" name="文本框 12">
            <a:extLst>
              <a:ext uri="{FF2B5EF4-FFF2-40B4-BE49-F238E27FC236}">
                <a16:creationId xmlns:a16="http://schemas.microsoft.com/office/drawing/2014/main" id="{84CDBC1F-8926-C8B4-7D04-250EC82D4F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1129" y="3645860"/>
            <a:ext cx="8140700" cy="70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动态和静态创建队列之间的区别：队列所需的内存空间由 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FreeRTOS 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从 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FreeRTOS 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管理的堆中分配，而静态创建需要用户自行分配内存。</a:t>
            </a:r>
          </a:p>
        </p:txBody>
      </p:sp>
    </p:spTree>
    <p:extLst>
      <p:ext uri="{BB962C8B-B14F-4D97-AF65-F5344CB8AC3E}">
        <p14:creationId xmlns:p14="http://schemas.microsoft.com/office/powerpoint/2010/main" val="352409635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F31C9-70DC-6B18-786D-3E09FF3A3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3A2C3C96-0711-73B3-00A4-5FB2C361DE42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38D2262F-E83A-80A8-3CDD-7666A2D8B5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06587" y="1161177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grpSp>
        <p:nvGrpSpPr>
          <p:cNvPr id="9" name="组合 12">
            <a:extLst>
              <a:ext uri="{FF2B5EF4-FFF2-40B4-BE49-F238E27FC236}">
                <a16:creationId xmlns:a16="http://schemas.microsoft.com/office/drawing/2014/main" id="{73AF8695-624D-03A2-9864-E92D43E0E17D}"/>
              </a:ext>
            </a:extLst>
          </p:cNvPr>
          <p:cNvGrpSpPr>
            <a:grpSpLocks/>
          </p:cNvGrpSpPr>
          <p:nvPr/>
        </p:nvGrpSpPr>
        <p:grpSpPr bwMode="auto">
          <a:xfrm>
            <a:off x="1738387" y="1723152"/>
            <a:ext cx="9712878" cy="982834"/>
            <a:chOff x="376238" y="3227832"/>
            <a:chExt cx="8767762" cy="1012007"/>
          </a:xfrm>
        </p:grpSpPr>
        <p:sp>
          <p:nvSpPr>
            <p:cNvPr id="10" name="文本框 13">
              <a:extLst>
                <a:ext uri="{FF2B5EF4-FFF2-40B4-BE49-F238E27FC236}">
                  <a16:creationId xmlns:a16="http://schemas.microsoft.com/office/drawing/2014/main" id="{F8844139-7C1F-AB90-C196-71BC59A07D4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6238" y="3334849"/>
              <a:ext cx="8767762" cy="9049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</a:t>
              </a:r>
              <a:r>
                <a:rPr lang="en-US" altLang="zh-CN" sz="12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xQueueCreate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(  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uxQueueLength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   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uxItemSize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)   						 \</a:t>
              </a:r>
              <a:b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			</a:t>
              </a:r>
            </a:p>
            <a:p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   </a:t>
              </a:r>
              <a:r>
                <a:rPr lang="en-US" altLang="zh-CN" sz="12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xQueueGenericCreate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( 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uxQueueLength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), ( 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uxItemSize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), (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queueQUEUE_TYPE_BASE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)) </a:t>
              </a:r>
              <a:b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endPara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825FFB89-73E4-3941-5BFB-557F695FE218}"/>
                </a:ext>
              </a:extLst>
            </p:cNvPr>
            <p:cNvSpPr/>
            <p:nvPr/>
          </p:nvSpPr>
          <p:spPr>
            <a:xfrm>
              <a:off x="376238" y="3227832"/>
              <a:ext cx="8685804" cy="899754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graphicFrame>
        <p:nvGraphicFramePr>
          <p:cNvPr id="12" name="表格 6">
            <a:extLst>
              <a:ext uri="{FF2B5EF4-FFF2-40B4-BE49-F238E27FC236}">
                <a16:creationId xmlns:a16="http://schemas.microsoft.com/office/drawing/2014/main" id="{93B0DFD7-2D9D-D516-541D-DDF3D85628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317061"/>
              </p:ext>
            </p:extLst>
          </p:nvPr>
        </p:nvGraphicFramePr>
        <p:xfrm>
          <a:off x="1738387" y="3159840"/>
          <a:ext cx="5065712" cy="7921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24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733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405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形参</a:t>
                      </a:r>
                    </a:p>
                  </a:txBody>
                  <a:tcPr marL="68585" marR="68585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68585" marR="6858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054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uxQueueLength </a:t>
                      </a:r>
                      <a:endParaRPr lang="en-US" sz="13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00" marB="45700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队列长度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00" marB="457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054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uxItemSize </a:t>
                      </a:r>
                      <a:endParaRPr lang="en-US" sz="13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00" marB="45700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队列项目的大小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00" marB="457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3" name="表格 6">
            <a:extLst>
              <a:ext uri="{FF2B5EF4-FFF2-40B4-BE49-F238E27FC236}">
                <a16:creationId xmlns:a16="http://schemas.microsoft.com/office/drawing/2014/main" id="{CE7B5067-CC8F-F565-E2DC-F0BDD61A2A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240839"/>
              </p:ext>
            </p:extLst>
          </p:nvPr>
        </p:nvGraphicFramePr>
        <p:xfrm>
          <a:off x="1738387" y="4185365"/>
          <a:ext cx="5065712" cy="7937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24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733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458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返回值</a:t>
                      </a:r>
                    </a:p>
                  </a:txBody>
                  <a:tcPr marL="68585" marR="68585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68585" marR="6858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NULL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92" marB="45792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队列创建失败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92" marB="45792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其他值 </a:t>
                      </a:r>
                      <a:endParaRPr lang="zh-CN" alt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92" marB="45792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队列创建成功，返回队列句柄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92" marB="45792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" name="文本框 13">
            <a:extLst>
              <a:ext uri="{FF2B5EF4-FFF2-40B4-BE49-F238E27FC236}">
                <a16:creationId xmlns:a16="http://schemas.microsoft.com/office/drawing/2014/main" id="{48410A78-6E24-E459-5F5D-D18AFD8600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70124" y="2629615"/>
            <a:ext cx="8385175" cy="3825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此函数用于使用动态方式</a:t>
            </a:r>
            <a:r>
              <a:rPr lang="zh-CN" altLang="en-US" sz="1400" b="1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创建队列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，队列所需的内存空间由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FreeRTOS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从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FreeRTOS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管理的堆中分配 </a:t>
            </a:r>
          </a:p>
        </p:txBody>
      </p:sp>
    </p:spTree>
    <p:extLst>
      <p:ext uri="{BB962C8B-B14F-4D97-AF65-F5344CB8AC3E}">
        <p14:creationId xmlns:p14="http://schemas.microsoft.com/office/powerpoint/2010/main" val="210701066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49AB1-1C92-166F-B404-9AA2A4645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83251BE4-42C0-E9C4-6C74-017E71707CFF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6B8FB2E3-1DAA-B616-8586-CE89224324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555" y="1042286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C594C9FF-CDC4-AB91-6899-5BE1DC1DD70F}"/>
              </a:ext>
            </a:extLst>
          </p:cNvPr>
          <p:cNvGrpSpPr>
            <a:grpSpLocks/>
          </p:cNvGrpSpPr>
          <p:nvPr/>
        </p:nvGrpSpPr>
        <p:grpSpPr bwMode="auto">
          <a:xfrm>
            <a:off x="1937305" y="2128136"/>
            <a:ext cx="9662816" cy="1727200"/>
            <a:chOff x="542131" y="1235022"/>
            <a:chExt cx="9661791" cy="1725665"/>
          </a:xfrm>
        </p:grpSpPr>
        <p:sp>
          <p:nvSpPr>
            <p:cNvPr id="10" name="文本框 12">
              <a:extLst>
                <a:ext uri="{FF2B5EF4-FFF2-40B4-BE49-F238E27FC236}">
                  <a16:creationId xmlns:a16="http://schemas.microsoft.com/office/drawing/2014/main" id="{456A1227-F5A7-5866-0633-B101EFAEF46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2131" y="1235022"/>
              <a:ext cx="9661791" cy="172016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queueQUEUE_TYPE_BASE             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( uint8_t ) 0U )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队列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queueQUEUE_TYPE_SET             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( uint8_t ) 0U )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队列集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  <a:endPara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queueQUEUE_TYPE_MUTEX            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( uint8_t ) 1U )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互斥信号量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  <a:endPara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queueQUEUE_TYPE_COUNTING_SEMAPHORE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( uint8_t ) 2U )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计数型信号量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  <a:endPara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queueQUEUE_TYPE_BINARY_SEMAPHORE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( uint8_t ) 3U )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二值信号量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  <a:endPara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queueQUEUE_TYPE_RECURSIVE_MUTEX      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</a:t>
              </a:r>
              <a:r>
                <a:rPr lang="zh-CN" altLang="en-US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( uint8_t ) 4U )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递归互斥信号量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  <a:endPara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FAF7B742-FECE-CEAE-2FAF-69D2612C5614}"/>
                </a:ext>
              </a:extLst>
            </p:cNvPr>
            <p:cNvSpPr/>
            <p:nvPr/>
          </p:nvSpPr>
          <p:spPr>
            <a:xfrm>
              <a:off x="542131" y="1235022"/>
              <a:ext cx="9225902" cy="1725665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sp>
        <p:nvSpPr>
          <p:cNvPr id="12" name="文本框 17">
            <a:extLst>
              <a:ext uri="{FF2B5EF4-FFF2-40B4-BE49-F238E27FC236}">
                <a16:creationId xmlns:a16="http://schemas.microsoft.com/office/drawing/2014/main" id="{9C659063-89EF-AA71-18E8-4C01C7EEA8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67455" y="1610611"/>
            <a:ext cx="816292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前面说 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FreeRTOS 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基于队列实现了多种功能，每一种功能对应一种队列类型，队列类型的 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queue.h 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文件中有定义：</a:t>
            </a:r>
          </a:p>
        </p:txBody>
      </p:sp>
    </p:spTree>
    <p:extLst>
      <p:ext uri="{BB962C8B-B14F-4D97-AF65-F5344CB8AC3E}">
        <p14:creationId xmlns:p14="http://schemas.microsoft.com/office/powerpoint/2010/main" val="4274986043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77B05-A88A-5606-C335-C6543D187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C85CE65B-2BF1-6D6B-B7B7-B0AEE3C1F99D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AF7EA9A0-86FA-6779-19D0-7A02BB71CFF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4810" y="1015704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14">
            <a:extLst>
              <a:ext uri="{FF2B5EF4-FFF2-40B4-BE49-F238E27FC236}">
                <a16:creationId xmlns:a16="http://schemas.microsoft.com/office/drawing/2014/main" id="{8CCBE80E-59C1-4412-9FBA-E56C964642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7235" y="1591967"/>
            <a:ext cx="551021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往队列</a:t>
            </a:r>
            <a:r>
              <a:rPr lang="zh-CN" altLang="en-US" sz="1400" b="1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写入消息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API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函数：</a:t>
            </a:r>
          </a:p>
        </p:txBody>
      </p:sp>
      <p:graphicFrame>
        <p:nvGraphicFramePr>
          <p:cNvPr id="10" name="表格 6">
            <a:extLst>
              <a:ext uri="{FF2B5EF4-FFF2-40B4-BE49-F238E27FC236}">
                <a16:creationId xmlns:a16="http://schemas.microsoft.com/office/drawing/2014/main" id="{12B05674-9FB3-E05F-EF68-BC8C131EF9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3542934"/>
              </p:ext>
            </p:extLst>
          </p:nvPr>
        </p:nvGraphicFramePr>
        <p:xfrm>
          <a:off x="1875022" y="2012654"/>
          <a:ext cx="5784850" cy="23780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02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2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423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函数</a:t>
                      </a:r>
                    </a:p>
                  </a:txBody>
                  <a:tcPr marL="68593" marR="68593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68593" marR="68593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231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xQueueSend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31" marB="45731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往队列的尾部写入消息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31" marB="45731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231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xQueueSendToBack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31" marB="45731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同 </a:t>
                      </a:r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xQueueSend()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31" marB="45731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231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xQueueSendToFront()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31" marB="45731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往队列的头部写入消息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31" marB="45731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231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xQueueOverwrite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31" marB="45731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覆写队列消息（只用于队列长度为 </a:t>
                      </a:r>
                      <a:r>
                        <a:rPr lang="en-US" altLang="zh-CN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1 </a:t>
                      </a: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的情况）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31" marB="45731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231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xQueueSendFromISR()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31" marB="45731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在中断中往队列的尾部写入消息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31" marB="45731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231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xQueueSendToBackFromISR()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31" marB="45731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同 </a:t>
                      </a:r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xQueueSendFromISR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31" marB="45731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231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xQueueSendToFrontFromISR()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31" marB="45731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在中断中往队列的头部写入消息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31" marB="45731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231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xQueueOverwriteFromISR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31" marB="45731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在中断中覆写队列消息（只用于队列长度为 </a:t>
                      </a:r>
                      <a:r>
                        <a:rPr lang="en-US" altLang="zh-CN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1 </a:t>
                      </a: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的情况）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31" marB="45731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666724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6B72A-2477-52AC-D3DD-921B4A477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5263E4E3-49A2-CCED-F793-359E2FAA846F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E5126742-0A22-C886-722A-E5F4748D09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72670" y="1010388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14">
            <a:extLst>
              <a:ext uri="{FF2B5EF4-FFF2-40B4-BE49-F238E27FC236}">
                <a16:creationId xmlns:a16="http://schemas.microsoft.com/office/drawing/2014/main" id="{E240F00A-4219-F928-5CF3-889EA560E0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25095" y="1529501"/>
            <a:ext cx="180498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队列写入消息</a:t>
            </a:r>
          </a:p>
        </p:txBody>
      </p:sp>
      <p:sp>
        <p:nvSpPr>
          <p:cNvPr id="10" name="文本框 13">
            <a:extLst>
              <a:ext uri="{FF2B5EF4-FFF2-40B4-BE49-F238E27FC236}">
                <a16:creationId xmlns:a16="http://schemas.microsoft.com/office/drawing/2014/main" id="{C3808819-F494-6B53-3C9A-393D5E5435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3195" y="1843826"/>
            <a:ext cx="10498873" cy="613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#define  </a:t>
            </a:r>
            <a:r>
              <a:rPr lang="zh-CN" altLang="en-US" sz="1200" b="1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xQueueSend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  xQueue,   pvItemToQueue,   xTicksToWait  )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				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\    </a:t>
            </a:r>
            <a:endParaRPr lang="en-US" altLang="zh-CN" sz="12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    </a:t>
            </a:r>
            <a:r>
              <a:rPr lang="zh-CN" altLang="en-US" sz="1200" b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xQueueGenericSend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 ( xQueue ), ( pvItemToQueue ), ( xTicksToWait ), </a:t>
            </a:r>
            <a:r>
              <a:rPr lang="zh-CN" altLang="en-US" sz="120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queueSEND_TO_BACK 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)</a:t>
            </a:r>
          </a:p>
        </p:txBody>
      </p:sp>
      <p:sp>
        <p:nvSpPr>
          <p:cNvPr id="11" name="文本框 15">
            <a:extLst>
              <a:ext uri="{FF2B5EF4-FFF2-40B4-BE49-F238E27FC236}">
                <a16:creationId xmlns:a16="http://schemas.microsoft.com/office/drawing/2014/main" id="{67C318AA-915C-13AF-FC4A-F947185063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3195" y="2580426"/>
            <a:ext cx="10498873" cy="613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#define  </a:t>
            </a:r>
            <a:r>
              <a:rPr lang="zh-CN" altLang="en-US" sz="1200" b="1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xQueueSendToBack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  xQueue,   pvItemToQueue,   xTicksToWait  )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				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\    </a:t>
            </a:r>
            <a:endParaRPr lang="en-US" altLang="zh-CN" sz="12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    </a:t>
            </a:r>
            <a:r>
              <a:rPr lang="zh-CN" altLang="en-US" sz="1200" b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xQueueGenericSend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 ( xQueue ), ( pvItemToQueue ), ( xTicksToWait ), </a:t>
            </a:r>
            <a:r>
              <a:rPr lang="zh-CN" altLang="en-US" sz="120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queueSEND_TO_BACK 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)</a:t>
            </a:r>
          </a:p>
        </p:txBody>
      </p:sp>
      <p:sp>
        <p:nvSpPr>
          <p:cNvPr id="12" name="文本框 16">
            <a:extLst>
              <a:ext uri="{FF2B5EF4-FFF2-40B4-BE49-F238E27FC236}">
                <a16:creationId xmlns:a16="http://schemas.microsoft.com/office/drawing/2014/main" id="{80A6137D-F20D-E5CD-796D-41CA3827B2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3194" y="3315437"/>
            <a:ext cx="10599443" cy="613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#define  </a:t>
            </a:r>
            <a:r>
              <a:rPr lang="zh-CN" altLang="en-US" sz="1200" b="1" dirty="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xQueueSendToFront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  xQueue,   pvItemToQueue,   xTicksToWait  ) 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				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\   </a:t>
            </a:r>
            <a:endParaRPr lang="en-US" altLang="zh-CN" sz="12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  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 </a:t>
            </a:r>
            <a:r>
              <a:rPr lang="zh-CN" altLang="en-US" sz="1200" b="1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xQueueGenericSend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 ( xQueue ), ( pvItemToQueue ), ( xTicksToWait ), </a:t>
            </a:r>
            <a:r>
              <a:rPr lang="zh-CN" altLang="en-US" sz="1200" dirty="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queueSEND_TO_FRONT 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)</a:t>
            </a:r>
          </a:p>
        </p:txBody>
      </p:sp>
      <p:sp>
        <p:nvSpPr>
          <p:cNvPr id="13" name="文本框 17">
            <a:extLst>
              <a:ext uri="{FF2B5EF4-FFF2-40B4-BE49-F238E27FC236}">
                <a16:creationId xmlns:a16="http://schemas.microsoft.com/office/drawing/2014/main" id="{356DE051-AF03-899A-2925-3B3B51A4BD1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3195" y="4098742"/>
            <a:ext cx="11620168" cy="613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#define  </a:t>
            </a:r>
            <a:r>
              <a:rPr lang="zh-CN" altLang="en-US" sz="1200" b="1" dirty="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xQueueOverwrite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  xQueue,   pvItemToQueue  ) </a:t>
            </a: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					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\    </a:t>
            </a:r>
            <a:endParaRPr lang="en-US" altLang="zh-CN" sz="12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    </a:t>
            </a:r>
            <a:r>
              <a:rPr lang="zh-CN" altLang="en-US" sz="1200" b="1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xQueueGenericSend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 ( xQueue ), ( pvItemToQueue ), 0, </a:t>
            </a:r>
            <a:r>
              <a:rPr lang="zh-CN" altLang="en-US" sz="1200" dirty="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queueOVERWRITE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)</a:t>
            </a:r>
          </a:p>
        </p:txBody>
      </p:sp>
      <p:sp>
        <p:nvSpPr>
          <p:cNvPr id="14" name="文本框 18">
            <a:extLst>
              <a:ext uri="{FF2B5EF4-FFF2-40B4-BE49-F238E27FC236}">
                <a16:creationId xmlns:a16="http://schemas.microsoft.com/office/drawing/2014/main" id="{3D6C1035-5EAC-E588-F63E-9CC4C46D8D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3195" y="4871856"/>
            <a:ext cx="822483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可以看到这几个写入函数调用的是同一个函数xQueueGenericSend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 )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，只是指定了不同的写入位置！ 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CEA70B8-57F6-F2B2-F3EB-CCBD813242AE}"/>
              </a:ext>
            </a:extLst>
          </p:cNvPr>
          <p:cNvSpPr/>
          <p:nvPr/>
        </p:nvSpPr>
        <p:spPr>
          <a:xfrm>
            <a:off x="1463195" y="1843826"/>
            <a:ext cx="10588330" cy="646112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167F251-A569-4269-BCE2-DE933A4DFE2A}"/>
              </a:ext>
            </a:extLst>
          </p:cNvPr>
          <p:cNvSpPr/>
          <p:nvPr/>
        </p:nvSpPr>
        <p:spPr>
          <a:xfrm>
            <a:off x="1458432" y="2591538"/>
            <a:ext cx="10593093" cy="646113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021790A-2D53-F14F-D096-392F1D62CE60}"/>
              </a:ext>
            </a:extLst>
          </p:cNvPr>
          <p:cNvSpPr/>
          <p:nvPr/>
        </p:nvSpPr>
        <p:spPr>
          <a:xfrm>
            <a:off x="1464782" y="3320201"/>
            <a:ext cx="10593093" cy="646112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7F99332-1E27-A0A2-1876-F006E50EF5E6}"/>
              </a:ext>
            </a:extLst>
          </p:cNvPr>
          <p:cNvSpPr/>
          <p:nvPr/>
        </p:nvSpPr>
        <p:spPr>
          <a:xfrm>
            <a:off x="1458432" y="4095568"/>
            <a:ext cx="10599443" cy="646113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anchor="ctr"/>
          <a:lstStyle/>
          <a:p>
            <a:pPr algn="ctr">
              <a:defRPr/>
            </a:pP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3985770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3" grpId="0"/>
      <p:bldP spid="14" grpId="0"/>
      <p:bldP spid="17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C2EFD-B19A-99AA-8901-B8619F625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FBF41E33-A6DF-DD60-6A5B-260619DC19DB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786F93E9-C303-F551-C867-1686136C98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72400" y="1122030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14">
            <a:extLst>
              <a:ext uri="{FF2B5EF4-FFF2-40B4-BE49-F238E27FC236}">
                <a16:creationId xmlns:a16="http://schemas.microsoft.com/office/drawing/2014/main" id="{F8683536-FA3F-5935-8C9D-B17CAEA661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5775" y="1657018"/>
            <a:ext cx="551021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队列一共有 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3 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种写入位置 ：</a:t>
            </a:r>
          </a:p>
        </p:txBody>
      </p:sp>
      <p:grpSp>
        <p:nvGrpSpPr>
          <p:cNvPr id="10" name="组合 6">
            <a:extLst>
              <a:ext uri="{FF2B5EF4-FFF2-40B4-BE49-F238E27FC236}">
                <a16:creationId xmlns:a16="http://schemas.microsoft.com/office/drawing/2014/main" id="{EE43F1B7-8521-C0C3-D80B-0AC7BEE1FF9D}"/>
              </a:ext>
            </a:extLst>
          </p:cNvPr>
          <p:cNvGrpSpPr>
            <a:grpSpLocks/>
          </p:cNvGrpSpPr>
          <p:nvPr/>
        </p:nvGrpSpPr>
        <p:grpSpPr bwMode="auto">
          <a:xfrm>
            <a:off x="1966100" y="2193593"/>
            <a:ext cx="9687184" cy="1070602"/>
            <a:chOff x="642937" y="1542232"/>
            <a:chExt cx="6910388" cy="971550"/>
          </a:xfrm>
        </p:grpSpPr>
        <p:sp>
          <p:nvSpPr>
            <p:cNvPr id="11" name="文本框 12">
              <a:extLst>
                <a:ext uri="{FF2B5EF4-FFF2-40B4-BE49-F238E27FC236}">
                  <a16:creationId xmlns:a16="http://schemas.microsoft.com/office/drawing/2014/main" id="{55CE1302-B402-C4F1-0B3B-BD717876CF6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2937" y="1580673"/>
              <a:ext cx="6910388" cy="8946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queueSEND_TO_BACK                     </a:t>
              </a:r>
              <a:r>
                <a:rPr lang="en-US" altLang="zh-CN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( BaseType_t ) 0 )</a:t>
              </a:r>
              <a:r>
                <a:rPr lang="en-US" altLang="zh-CN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</a:t>
              </a:r>
              <a:r>
                <a:rPr lang="en-US" altLang="zh-CN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写入队列尾部</a:t>
              </a:r>
              <a:r>
                <a:rPr lang="en-US" altLang="zh-CN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</a:p>
            <a:p>
              <a:pPr>
                <a:lnSpc>
                  <a:spcPct val="150000"/>
                </a:lnSpc>
              </a:pP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queueSEND_TO_FRONT                    </a:t>
              </a:r>
              <a:r>
                <a:rPr lang="en-US" altLang="zh-CN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( BaseType_t ) 1 )</a:t>
              </a:r>
              <a:r>
                <a:rPr lang="en-US" altLang="zh-CN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</a:t>
              </a:r>
              <a:r>
                <a:rPr lang="en-US" altLang="zh-CN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写入队列头部</a:t>
              </a:r>
              <a:r>
                <a:rPr lang="en-US" altLang="zh-CN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*/</a:t>
              </a:r>
              <a:endPara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queueOVERWRITE                        </a:t>
              </a:r>
              <a:r>
                <a:rPr lang="en-US" altLang="zh-CN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( BaseType_t ) 2 )</a:t>
              </a:r>
              <a:r>
                <a:rPr lang="en-US" altLang="zh-CN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</a:t>
              </a:r>
              <a:r>
                <a:rPr lang="en-US" altLang="zh-CN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/* </a:t>
              </a:r>
              <a:r>
                <a:rPr lang="zh-CN" altLang="en-US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覆写队列</a:t>
              </a:r>
              <a:r>
                <a:rPr lang="en-US" altLang="zh-CN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*/</a:t>
              </a: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4668292C-9374-8B98-5297-F886CABB4D74}"/>
                </a:ext>
              </a:extLst>
            </p:cNvPr>
            <p:cNvSpPr/>
            <p:nvPr/>
          </p:nvSpPr>
          <p:spPr>
            <a:xfrm>
              <a:off x="642937" y="1542232"/>
              <a:ext cx="6886576" cy="971550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sp>
        <p:nvSpPr>
          <p:cNvPr id="13" name="文本框 16">
            <a:extLst>
              <a:ext uri="{FF2B5EF4-FFF2-40B4-BE49-F238E27FC236}">
                <a16:creationId xmlns:a16="http://schemas.microsoft.com/office/drawing/2014/main" id="{1436C034-830A-DE69-A574-BE168160B6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5775" y="3495343"/>
            <a:ext cx="721836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注意：覆写方式写入队列，只有在队列的队列长度为 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1 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时，才能够使用 </a:t>
            </a:r>
          </a:p>
        </p:txBody>
      </p:sp>
    </p:spTree>
    <p:extLst>
      <p:ext uri="{BB962C8B-B14F-4D97-AF65-F5344CB8AC3E}">
        <p14:creationId xmlns:p14="http://schemas.microsoft.com/office/powerpoint/2010/main" val="342840580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3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5B947-C4C8-76B5-F42D-660A55B3B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6E3EB0DF-C9D4-8451-85C4-E10AA25FABF5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69E616E1-3410-D22B-F672-B32EEB10FF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04299" y="872165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graphicFrame>
        <p:nvGraphicFramePr>
          <p:cNvPr id="9" name="表格 6">
            <a:extLst>
              <a:ext uri="{FF2B5EF4-FFF2-40B4-BE49-F238E27FC236}">
                <a16:creationId xmlns:a16="http://schemas.microsoft.com/office/drawing/2014/main" id="{F52F0858-24D4-BF08-B236-913BD89458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9407946"/>
              </p:ext>
            </p:extLst>
          </p:nvPr>
        </p:nvGraphicFramePr>
        <p:xfrm>
          <a:off x="2045624" y="3005765"/>
          <a:ext cx="4935537" cy="12700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8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070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345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形参</a:t>
                      </a:r>
                      <a:endParaRPr lang="en-US" altLang="zh-CN" sz="1100" dirty="0"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68591" marR="68591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68591" marR="68591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9138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 </a:t>
                      </a:r>
                      <a:endParaRPr lang="en-US" sz="12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09" marB="45709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待写入的队列</a:t>
                      </a:r>
                      <a:endParaRPr lang="zh-CN" altLang="en-US" sz="12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09" marB="45709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138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pvItemToQueue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 </a:t>
                      </a:r>
                      <a:endParaRPr lang="en-US" sz="12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09" marB="45709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待写入消息</a:t>
                      </a:r>
                      <a:endParaRPr lang="zh-CN" altLang="en-US" sz="12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09" marB="45709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138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xTicksToWait </a:t>
                      </a:r>
                      <a:endParaRPr lang="en-US" sz="12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09" marB="45709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阻塞超时时间</a:t>
                      </a:r>
                      <a:endParaRPr lang="zh-CN" altLang="en-US" sz="12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09" marB="45709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138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xCopyPosition </a:t>
                      </a:r>
                      <a:endParaRPr lang="en-US" sz="12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09" marB="45709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写入的位置</a:t>
                      </a:r>
                      <a:endParaRPr lang="zh-CN" altLang="en-US" sz="12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09" marB="45709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0" name="组合 2">
            <a:extLst>
              <a:ext uri="{FF2B5EF4-FFF2-40B4-BE49-F238E27FC236}">
                <a16:creationId xmlns:a16="http://schemas.microsoft.com/office/drawing/2014/main" id="{5D6650A6-AC83-9122-6390-07E2F378AC14}"/>
              </a:ext>
            </a:extLst>
          </p:cNvPr>
          <p:cNvGrpSpPr>
            <a:grpSpLocks/>
          </p:cNvGrpSpPr>
          <p:nvPr/>
        </p:nvGrpSpPr>
        <p:grpSpPr bwMode="auto">
          <a:xfrm>
            <a:off x="2045624" y="1686553"/>
            <a:ext cx="9505344" cy="1449387"/>
            <a:chOff x="500062" y="1198563"/>
            <a:chExt cx="6281928" cy="1448666"/>
          </a:xfrm>
        </p:grpSpPr>
        <p:sp>
          <p:nvSpPr>
            <p:cNvPr id="11" name="文本框 14">
              <a:extLst>
                <a:ext uri="{FF2B5EF4-FFF2-40B4-BE49-F238E27FC236}">
                  <a16:creationId xmlns:a16="http://schemas.microsoft.com/office/drawing/2014/main" id="{C80880D4-D844-B9BE-F1B1-E4A82145C3F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0062" y="1198563"/>
              <a:ext cx="5784849" cy="14486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altLang="zh-CN" sz="1200">
                  <a:solidFill>
                    <a:srgbClr val="0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BaseType_t     xQueueGenericSend</a:t>
              </a:r>
              <a:r>
                <a:rPr lang="en-US" altLang="zh-CN" sz="120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 </a:t>
              </a:r>
              <a:r>
                <a:rPr lang="en-US" altLang="zh-CN" sz="1200">
                  <a:solidFill>
                    <a:srgbClr val="0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QueueHandle_t 	</a:t>
              </a:r>
              <a:r>
                <a:rPr lang="en-US" altLang="zh-CN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xQueue</a:t>
              </a:r>
              <a:r>
                <a:rPr lang="en-US" altLang="zh-CN" sz="120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</a:t>
              </a:r>
              <a:br>
                <a:rPr lang="en-US" altLang="zh-CN" sz="120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		        </a:t>
              </a:r>
              <a:r>
                <a:rPr lang="en-US" altLang="zh-CN" sz="120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const void </a:t>
              </a:r>
              <a:r>
                <a:rPr lang="en-US" altLang="zh-CN" sz="120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* </a:t>
              </a:r>
              <a:r>
                <a:rPr lang="en-US" altLang="zh-CN" sz="120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const 	</a:t>
              </a:r>
              <a:r>
                <a:rPr lang="en-US" altLang="zh-CN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pvItemToQueue</a:t>
              </a:r>
              <a:r>
                <a:rPr lang="en-US" altLang="zh-CN" sz="120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</a:t>
              </a:r>
              <a:br>
                <a:rPr lang="en-US" altLang="zh-CN" sz="120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		        </a:t>
              </a:r>
              <a:r>
                <a:rPr lang="en-US" altLang="zh-CN" sz="1200">
                  <a:solidFill>
                    <a:srgbClr val="0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TickType_t 		</a:t>
              </a:r>
              <a:r>
                <a:rPr lang="en-US" altLang="zh-CN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xTicksToWait</a:t>
              </a:r>
              <a:r>
                <a:rPr lang="en-US" altLang="zh-CN" sz="120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</a:t>
              </a:r>
              <a:br>
                <a:rPr lang="en-US" altLang="zh-CN" sz="120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		        </a:t>
              </a:r>
              <a:r>
                <a:rPr lang="en-US" altLang="zh-CN" sz="120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const </a:t>
              </a:r>
              <a:r>
                <a:rPr lang="en-US" altLang="zh-CN" sz="1200">
                  <a:solidFill>
                    <a:srgbClr val="0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BaseType_t 	</a:t>
              </a:r>
              <a:r>
                <a:rPr lang="en-US" altLang="zh-CN" sz="120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xCopyPosition</a:t>
              </a:r>
              <a:r>
                <a:rPr lang="en-US" altLang="zh-CN" sz="1200">
                  <a:solidFill>
                    <a:srgbClr val="0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</a:t>
              </a:r>
              <a:r>
                <a:rPr lang="en-US" altLang="zh-CN" sz="120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);</a:t>
              </a:r>
              <a:r>
                <a:rPr lang="en-US" altLang="zh-CN" sz="1200"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  <a:br>
                <a:rPr lang="en-US" altLang="zh-CN" sz="1200"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endPara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25B98F57-F628-9972-8E3D-582D7E441023}"/>
                </a:ext>
              </a:extLst>
            </p:cNvPr>
            <p:cNvSpPr/>
            <p:nvPr/>
          </p:nvSpPr>
          <p:spPr>
            <a:xfrm>
              <a:off x="500062" y="1230297"/>
              <a:ext cx="6281928" cy="1205900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sp>
        <p:nvSpPr>
          <p:cNvPr id="13" name="文本框 6">
            <a:extLst>
              <a:ext uri="{FF2B5EF4-FFF2-40B4-BE49-F238E27FC236}">
                <a16:creationId xmlns:a16="http://schemas.microsoft.com/office/drawing/2014/main" id="{71992254-35C4-4186-205F-4D3E33A8C8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23386" y="1367465"/>
            <a:ext cx="3057525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往队列写入消息函数入口参数解析：</a:t>
            </a:r>
          </a:p>
        </p:txBody>
      </p:sp>
      <p:graphicFrame>
        <p:nvGraphicFramePr>
          <p:cNvPr id="14" name="表格 6">
            <a:extLst>
              <a:ext uri="{FF2B5EF4-FFF2-40B4-BE49-F238E27FC236}">
                <a16:creationId xmlns:a16="http://schemas.microsoft.com/office/drawing/2014/main" id="{500339A1-4D61-9D6B-49E1-C09BE84B0B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2682184"/>
              </p:ext>
            </p:extLst>
          </p:nvPr>
        </p:nvGraphicFramePr>
        <p:xfrm>
          <a:off x="2045624" y="4342440"/>
          <a:ext cx="4386262" cy="7270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5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7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936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返回值</a:t>
                      </a:r>
                    </a:p>
                  </a:txBody>
                  <a:tcPr marL="68572" marR="68572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68572" marR="68572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855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pdTRUE </a:t>
                      </a:r>
                      <a:endParaRPr lang="en-US" sz="13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3" marR="91423" marT="45612" marB="45612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队列写入成功</a:t>
                      </a:r>
                      <a:endParaRPr lang="zh-CN" altLang="en-US" sz="13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3" marR="91423" marT="45612" marB="45612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8855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errQUEUE_FULL </a:t>
                      </a:r>
                      <a:endParaRPr lang="en-US" sz="13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3" marR="91423" marT="45612" marB="45612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队列写入失败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3" marR="91423" marT="45612" marB="45612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6178903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5D92D-5E09-95DC-1895-0DA0335C9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4E9973AE-4FAD-36A5-D6C9-BEF356D85F4C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5238FC8E-E573-A455-E440-C29EA40DC5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33168" y="1052918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，队列相关</a:t>
            </a:r>
            <a:r>
              <a:rPr lang="en-US" altLang="zh-CN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函数介绍（掌握）</a:t>
            </a:r>
            <a:endParaRPr lang="en-US" altLang="zh-CN" b="1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14">
            <a:extLst>
              <a:ext uri="{FF2B5EF4-FFF2-40B4-BE49-F238E27FC236}">
                <a16:creationId xmlns:a16="http://schemas.microsoft.com/office/drawing/2014/main" id="{FCF72549-7A7F-57C5-609A-8359EEB167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5593" y="1629181"/>
            <a:ext cx="551021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从队列读取消息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API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函数：</a:t>
            </a:r>
          </a:p>
        </p:txBody>
      </p:sp>
      <p:graphicFrame>
        <p:nvGraphicFramePr>
          <p:cNvPr id="10" name="表格 6">
            <a:extLst>
              <a:ext uri="{FF2B5EF4-FFF2-40B4-BE49-F238E27FC236}">
                <a16:creationId xmlns:a16="http://schemas.microsoft.com/office/drawing/2014/main" id="{29FBD5B9-420D-FAC7-813D-7B834A609B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570302"/>
              </p:ext>
            </p:extLst>
          </p:nvPr>
        </p:nvGraphicFramePr>
        <p:xfrm>
          <a:off x="1763380" y="2049868"/>
          <a:ext cx="5784850" cy="132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02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2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函数</a:t>
                      </a:r>
                    </a:p>
                  </a:txBody>
                  <a:tcPr marL="68593" marR="68593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68593" marR="68593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xQueueReceive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18" marB="45718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从队列头部读取消息，并删除消息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18" marB="4571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xQueuePeek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18" marB="45718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从队列头部读取消息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18" marB="45718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xQueueReceiveFromISR() </a:t>
                      </a:r>
                      <a:endParaRPr lang="en-US" sz="13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18" marB="45718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在中断中从队列头部读取消息，并删除消息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18" marB="45718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xQueuePeekFromISR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18" marB="45718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在中断中从队列头部读取消息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8" marR="91448" marT="45718" marB="45718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3414152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0EBD7-D6BF-FDD2-741D-B29D59636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0CC71EF5-50FD-2DD3-4760-E9B62DEFD9C6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B971CAC1-5EB4-CE07-18B7-22BBC79150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03289" y="957226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，队列相关</a:t>
            </a:r>
            <a:r>
              <a:rPr lang="en-US" altLang="zh-CN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函数介绍（掌握）</a:t>
            </a:r>
            <a:endParaRPr lang="en-US" altLang="zh-CN" b="1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14">
            <a:extLst>
              <a:ext uri="{FF2B5EF4-FFF2-40B4-BE49-F238E27FC236}">
                <a16:creationId xmlns:a16="http://schemas.microsoft.com/office/drawing/2014/main" id="{B227D0B5-FFFA-B839-3098-FDDBEB17C82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55714" y="1924014"/>
            <a:ext cx="814387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此函数用于在任务中，从队列中</a:t>
            </a:r>
            <a:r>
              <a:rPr lang="zh-CN" altLang="en-US" sz="1400" b="1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读取消息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，并且消息读取成功后，会将消息从队列中移除。 </a:t>
            </a:r>
          </a:p>
        </p:txBody>
      </p:sp>
      <p:sp>
        <p:nvSpPr>
          <p:cNvPr id="10" name="文本框 13">
            <a:extLst>
              <a:ext uri="{FF2B5EF4-FFF2-40B4-BE49-F238E27FC236}">
                <a16:creationId xmlns:a16="http://schemas.microsoft.com/office/drawing/2014/main" id="{9320F854-E341-AA85-8B1D-7C955DC0F7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55714" y="1523964"/>
            <a:ext cx="8024812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BaseType_t    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xQueueReceive( QueueHandle_t   </a:t>
            </a:r>
            <a:r>
              <a:rPr lang="zh-CN" altLang="en-US" sz="120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xQueue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,  void *   const </a:t>
            </a:r>
            <a:r>
              <a:rPr lang="zh-CN" altLang="en-US" sz="120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pvBuffer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,  TickType_t   </a:t>
            </a:r>
            <a:r>
              <a:rPr lang="zh-CN" altLang="en-US" sz="120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xTicksToWait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)</a:t>
            </a:r>
          </a:p>
        </p:txBody>
      </p:sp>
      <p:graphicFrame>
        <p:nvGraphicFramePr>
          <p:cNvPr id="11" name="表格 6">
            <a:extLst>
              <a:ext uri="{FF2B5EF4-FFF2-40B4-BE49-F238E27FC236}">
                <a16:creationId xmlns:a16="http://schemas.microsoft.com/office/drawing/2014/main" id="{FB132B89-C362-6A75-3796-2506C46157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5532985"/>
              </p:ext>
            </p:extLst>
          </p:nvPr>
        </p:nvGraphicFramePr>
        <p:xfrm>
          <a:off x="1943026" y="2430426"/>
          <a:ext cx="5137150" cy="1055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03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76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39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形参</a:t>
                      </a:r>
                    </a:p>
                  </a:txBody>
                  <a:tcPr marL="68594" marR="68594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68594" marR="68594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922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677" marB="45677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待读取的队列</a:t>
                      </a:r>
                      <a:endParaRPr lang="zh-CN" alt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677" marB="45677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922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pvBuffer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677" marB="45677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信息读取缓冲区</a:t>
                      </a:r>
                      <a:endParaRPr lang="zh-CN" alt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677" marB="45677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922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xTicksToWait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677" marB="45677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阻塞超时时间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677" marB="45677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2" name="表格 6">
            <a:extLst>
              <a:ext uri="{FF2B5EF4-FFF2-40B4-BE49-F238E27FC236}">
                <a16:creationId xmlns:a16="http://schemas.microsoft.com/office/drawing/2014/main" id="{9C9ABAE9-C1B0-14D9-609F-4B22603D27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7218355"/>
              </p:ext>
            </p:extLst>
          </p:nvPr>
        </p:nvGraphicFramePr>
        <p:xfrm>
          <a:off x="1943026" y="3729001"/>
          <a:ext cx="5137150" cy="7921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03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76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405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返回值</a:t>
                      </a:r>
                    </a:p>
                  </a:txBody>
                  <a:tcPr marL="68594" marR="68594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68594" marR="68594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054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pdTRUE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00" marB="45700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读取成功</a:t>
                      </a:r>
                      <a:endParaRPr lang="zh-CN" altLang="en-US" sz="13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00" marB="457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054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pdFALSE </a:t>
                      </a:r>
                      <a:endParaRPr lang="en-US" sz="13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00" marB="45700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读取失败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00" marB="457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747843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C68E1-2C48-3F95-4E8E-C7A9C39A1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6BA293E2-A726-9477-2AC8-2D43DB2B76BB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116313F0-64E5-69E6-5611-7CA053320F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43800" y="1058235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3A4A6A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3</a:t>
            </a:r>
            <a:r>
              <a:rPr lang="zh-CN" altLang="en-US" b="1" dirty="0">
                <a:solidFill>
                  <a:srgbClr val="3A4A6A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，队列相关</a:t>
            </a:r>
            <a:r>
              <a:rPr lang="en-US" altLang="zh-CN" b="1" dirty="0">
                <a:solidFill>
                  <a:srgbClr val="3A4A6A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3A4A6A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</a:t>
            </a:r>
            <a:endParaRPr lang="en-US" altLang="zh-CN" b="1" dirty="0">
              <a:solidFill>
                <a:srgbClr val="3A4A6A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14">
            <a:extLst>
              <a:ext uri="{FF2B5EF4-FFF2-40B4-BE49-F238E27FC236}">
                <a16:creationId xmlns:a16="http://schemas.microsoft.com/office/drawing/2014/main" id="{4D977033-B760-205E-B25A-4E2CC2C63D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6550" y="2032960"/>
            <a:ext cx="8521700" cy="70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此函数用于在任务中，从</a:t>
            </a:r>
            <a:r>
              <a:rPr lang="zh-CN" altLang="en-US" sz="1400" b="1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队列中读取消息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， 但与函数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xQueueReceive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()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不同，此函数在成功读取消息后，并不会移除已读取的消息！ </a:t>
            </a:r>
          </a:p>
        </p:txBody>
      </p:sp>
      <p:sp>
        <p:nvSpPr>
          <p:cNvPr id="10" name="文本框 13">
            <a:extLst>
              <a:ext uri="{FF2B5EF4-FFF2-40B4-BE49-F238E27FC236}">
                <a16:creationId xmlns:a16="http://schemas.microsoft.com/office/drawing/2014/main" id="{F69A1B7A-75D5-C754-0720-9210455FBA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6550" y="1634498"/>
            <a:ext cx="8023225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20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BaseType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_t   xQueuePeek( QueueHandle_t   </a:t>
            </a:r>
            <a:r>
              <a:rPr lang="en-US" altLang="zh-CN" sz="120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xQueue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,   void * const   </a:t>
            </a:r>
            <a:r>
              <a:rPr lang="en-US" altLang="zh-CN" sz="120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pvBuffer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,   TickType_t   </a:t>
            </a:r>
            <a:r>
              <a:rPr lang="en-US" altLang="zh-CN" sz="120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xTicksToWait</a:t>
            </a: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)</a:t>
            </a:r>
            <a:endParaRPr lang="zh-CN" altLang="en-US" sz="12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graphicFrame>
        <p:nvGraphicFramePr>
          <p:cNvPr id="11" name="表格 6">
            <a:extLst>
              <a:ext uri="{FF2B5EF4-FFF2-40B4-BE49-F238E27FC236}">
                <a16:creationId xmlns:a16="http://schemas.microsoft.com/office/drawing/2014/main" id="{CF517E64-222F-03A6-6E10-4778A02E2D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1997030"/>
              </p:ext>
            </p:extLst>
          </p:nvPr>
        </p:nvGraphicFramePr>
        <p:xfrm>
          <a:off x="1783537" y="2860048"/>
          <a:ext cx="5137150" cy="10572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03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76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431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形参</a:t>
                      </a:r>
                    </a:p>
                  </a:txBody>
                  <a:tcPr marL="68594" marR="68594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68594" marR="68594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319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46" marB="45746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待读取的队列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46" marB="45746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319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pvBuffer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46" marB="45746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信息读取缓冲区</a:t>
                      </a:r>
                      <a:endParaRPr lang="zh-CN" alt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46" marB="45746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319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xTicksToWait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46" marB="45746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阻塞超时时间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46" marB="45746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2" name="表格 6">
            <a:extLst>
              <a:ext uri="{FF2B5EF4-FFF2-40B4-BE49-F238E27FC236}">
                <a16:creationId xmlns:a16="http://schemas.microsoft.com/office/drawing/2014/main" id="{33396CB3-920E-FDDD-E293-DDA6E4598E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4330027"/>
              </p:ext>
            </p:extLst>
          </p:nvPr>
        </p:nvGraphicFramePr>
        <p:xfrm>
          <a:off x="1783537" y="4244348"/>
          <a:ext cx="5137150" cy="7937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03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76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458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返回值</a:t>
                      </a:r>
                    </a:p>
                  </a:txBody>
                  <a:tcPr marL="68594" marR="68594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68594" marR="68594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pdTRUE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92" marB="45792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读取成功</a:t>
                      </a:r>
                      <a:endParaRPr lang="zh-CN" alt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92" marB="45792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pdFALSE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92" marB="45792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读取失败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49" marR="91449" marT="45792" marB="45792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8209192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CF9F2-25B5-9DD7-1E22-79B760C44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1D10F992-9493-6F36-B208-C51B4EE35989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D17A24F7-C068-AC0A-4569-E596A76124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82024" y="1161177"/>
            <a:ext cx="4619625" cy="46355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defRPr/>
            </a:pPr>
            <a:r>
              <a:rPr lang="en-US" altLang="zh-CN" b="1" dirty="0">
                <a:solidFill>
                  <a:schemeClr val="bg1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4</a:t>
            </a:r>
            <a:r>
              <a:rPr lang="zh-CN" altLang="en-US" b="1" dirty="0">
                <a:solidFill>
                  <a:schemeClr val="bg1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，队列集简介（了解）</a:t>
            </a:r>
            <a:endParaRPr lang="en-US" altLang="zh-CN" b="1" dirty="0">
              <a:solidFill>
                <a:schemeClr val="bg1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C5B0650-C0AB-9C55-8146-8DBE9D2E0F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59849" y="1697752"/>
            <a:ext cx="8591550" cy="706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一个队列只允许任务间传递的消息为同一种数据类型，如果需要在任务间传递不同数据类型的消息时，那么就可以使用队列集 ！</a:t>
            </a:r>
          </a:p>
        </p:txBody>
      </p:sp>
      <p:sp>
        <p:nvSpPr>
          <p:cNvPr id="10" name="文本框 2">
            <a:extLst>
              <a:ext uri="{FF2B5EF4-FFF2-40B4-BE49-F238E27FC236}">
                <a16:creationId xmlns:a16="http://schemas.microsoft.com/office/drawing/2014/main" id="{D82B8560-3A8E-C35E-A3E3-A4E5F80BB0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59849" y="2483565"/>
            <a:ext cx="872490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作用：用于对多个队列或信号量进行“监听”，其中不管哪一个消息到来，都可让任务退出阻塞状态</a:t>
            </a:r>
          </a:p>
        </p:txBody>
      </p: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4F5B0F30-E6B2-361C-79C8-CF9BB5659157}"/>
              </a:ext>
            </a:extLst>
          </p:cNvPr>
          <p:cNvGrpSpPr>
            <a:grpSpLocks/>
          </p:cNvGrpSpPr>
          <p:nvPr/>
        </p:nvGrpSpPr>
        <p:grpSpPr bwMode="auto">
          <a:xfrm>
            <a:off x="2069399" y="3442415"/>
            <a:ext cx="3124606" cy="1725008"/>
            <a:chOff x="758756" y="2675746"/>
            <a:chExt cx="1955261" cy="1618441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131ECC05-8B7A-E844-61A3-F912CB9DF34F}"/>
                </a:ext>
              </a:extLst>
            </p:cNvPr>
            <p:cNvSpPr/>
            <p:nvPr/>
          </p:nvSpPr>
          <p:spPr>
            <a:xfrm>
              <a:off x="758756" y="2675746"/>
              <a:ext cx="1955261" cy="1618441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 dirty="0"/>
            </a:p>
          </p:txBody>
        </p:sp>
        <p:sp>
          <p:nvSpPr>
            <p:cNvPr id="13" name="文本框 2">
              <a:extLst>
                <a:ext uri="{FF2B5EF4-FFF2-40B4-BE49-F238E27FC236}">
                  <a16:creationId xmlns:a16="http://schemas.microsoft.com/office/drawing/2014/main" id="{1B6D1E7E-3751-89D1-5276-DDD337DD784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56034" y="2767734"/>
              <a:ext cx="1857983" cy="14486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接收任务</a:t>
              </a:r>
              <a:r>
                <a:rPr lang="en-US" altLang="zh-CN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)</a:t>
              </a:r>
            </a:p>
            <a:p>
              <a:pPr>
                <a:lnSpc>
                  <a:spcPct val="150000"/>
                </a:lnSpc>
              </a:pPr>
              <a:r>
                <a:rPr lang="en-US" altLang="zh-CN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{</a:t>
              </a:r>
            </a:p>
            <a:p>
              <a:pPr>
                <a:lnSpc>
                  <a:spcPct val="150000"/>
                </a:lnSpc>
              </a:pPr>
              <a:r>
                <a:rPr lang="en-US" altLang="zh-CN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等待接收队列；</a:t>
              </a:r>
              <a:r>
                <a:rPr lang="en-US" altLang="zh-CN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</a:p>
            <a:p>
              <a:pPr lvl="1">
                <a:lnSpc>
                  <a:spcPct val="150000"/>
                </a:lnSpc>
              </a:pP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获取信号量</a:t>
              </a:r>
              <a:r>
                <a:rPr lang="en-US" altLang="zh-CN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；</a:t>
              </a:r>
              <a:endPara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}</a:t>
              </a:r>
              <a:endPara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874C288A-B41E-29B8-F43B-C6797EFB1730}"/>
              </a:ext>
            </a:extLst>
          </p:cNvPr>
          <p:cNvGrpSpPr>
            <a:grpSpLocks/>
          </p:cNvGrpSpPr>
          <p:nvPr/>
        </p:nvGrpSpPr>
        <p:grpSpPr bwMode="auto">
          <a:xfrm>
            <a:off x="6574724" y="3395392"/>
            <a:ext cx="3185964" cy="1857092"/>
            <a:chOff x="5239964" y="2675746"/>
            <a:chExt cx="2882632" cy="1905982"/>
          </a:xfrm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C501F9AB-8AA5-7B99-2125-128CD7B87533}"/>
                </a:ext>
              </a:extLst>
            </p:cNvPr>
            <p:cNvSpPr/>
            <p:nvPr/>
          </p:nvSpPr>
          <p:spPr>
            <a:xfrm>
              <a:off x="5239964" y="2675746"/>
              <a:ext cx="2600083" cy="1905982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 dirty="0"/>
            </a:p>
          </p:txBody>
        </p:sp>
        <p:sp>
          <p:nvSpPr>
            <p:cNvPr id="16" name="文本框 7">
              <a:extLst>
                <a:ext uri="{FF2B5EF4-FFF2-40B4-BE49-F238E27FC236}">
                  <a16:creationId xmlns:a16="http://schemas.microsoft.com/office/drawing/2014/main" id="{13ECF3F6-1E85-1E40-2845-5F75643A30A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37242" y="2767734"/>
              <a:ext cx="2785354" cy="1725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接收任务</a:t>
              </a:r>
              <a:r>
                <a:rPr lang="en-US" altLang="zh-CN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)</a:t>
              </a:r>
            </a:p>
            <a:p>
              <a:pPr>
                <a:lnSpc>
                  <a:spcPct val="150000"/>
                </a:lnSpc>
              </a:pPr>
              <a:r>
                <a:rPr lang="en-US" altLang="zh-CN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{</a:t>
              </a:r>
            </a:p>
            <a:p>
              <a:pPr>
                <a:lnSpc>
                  <a:spcPct val="150000"/>
                </a:lnSpc>
              </a:pPr>
              <a:r>
                <a:rPr lang="en-US" altLang="zh-CN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等待队列集中消息；</a:t>
              </a:r>
              <a:endPara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if(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队列还是信号量</a:t>
              </a:r>
              <a:r>
                <a:rPr lang="en-US" altLang="zh-CN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) </a:t>
              </a:r>
              <a:r>
                <a:rPr lang="zh-CN" altLang="en-US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；</a:t>
              </a:r>
              <a:endPara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… …</a:t>
              </a:r>
            </a:p>
            <a:p>
              <a:pPr>
                <a:lnSpc>
                  <a:spcPct val="150000"/>
                </a:lnSpc>
              </a:pPr>
              <a:r>
                <a:rPr lang="en-US" altLang="zh-CN" sz="120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}</a:t>
              </a:r>
              <a:endPara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</p:grpSp>
      <p:sp>
        <p:nvSpPr>
          <p:cNvPr id="17" name="文本框 2">
            <a:extLst>
              <a:ext uri="{FF2B5EF4-FFF2-40B4-BE49-F238E27FC236}">
                <a16:creationId xmlns:a16="http://schemas.microsoft.com/office/drawing/2014/main" id="{20CC870C-D95F-1A82-13B3-FF24008C4C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59849" y="2861390"/>
            <a:ext cx="859155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假设：有个接收任务，使用到队列接收和信号量的获取，如下：</a:t>
            </a:r>
          </a:p>
        </p:txBody>
      </p:sp>
    </p:spTree>
    <p:extLst>
      <p:ext uri="{BB962C8B-B14F-4D97-AF65-F5344CB8AC3E}">
        <p14:creationId xmlns:p14="http://schemas.microsoft.com/office/powerpoint/2010/main" val="178961714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7" grpId="0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1412E-5700-E867-82E0-82EE72FDD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61DBB70B-F98C-75B3-A157-D849906CFBC6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F7E4D035-14D9-0715-E273-4D48DDA1B9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72400" y="1334682"/>
            <a:ext cx="5232400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3A4A6A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5</a:t>
            </a:r>
            <a:r>
              <a:rPr lang="zh-CN" altLang="en-US" b="1" dirty="0">
                <a:solidFill>
                  <a:srgbClr val="3A4A6A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，队列集相关</a:t>
            </a:r>
            <a:r>
              <a:rPr lang="en-US" altLang="zh-CN" b="1" dirty="0">
                <a:solidFill>
                  <a:srgbClr val="3A4A6A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3A4A6A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</a:t>
            </a:r>
            <a:endParaRPr lang="en-US" altLang="zh-CN" b="1" dirty="0">
              <a:solidFill>
                <a:srgbClr val="3A4A6A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graphicFrame>
        <p:nvGraphicFramePr>
          <p:cNvPr id="9" name="表格 13">
            <a:extLst>
              <a:ext uri="{FF2B5EF4-FFF2-40B4-BE49-F238E27FC236}">
                <a16:creationId xmlns:a16="http://schemas.microsoft.com/office/drawing/2014/main" id="{940C83FF-69E4-8BF8-BBF0-CC8D8BECD8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5930056"/>
              </p:ext>
            </p:extLst>
          </p:nvPr>
        </p:nvGraphicFramePr>
        <p:xfrm>
          <a:off x="1991500" y="2003020"/>
          <a:ext cx="5232400" cy="16700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4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8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834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0" i="0" dirty="0">
                          <a:solidFill>
                            <a:schemeClr val="bg1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函数 </a:t>
                      </a:r>
                      <a:endParaRPr lang="zh-CN" altLang="en-US" sz="1300" dirty="0">
                        <a:solidFill>
                          <a:schemeClr val="bg1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0" i="0" dirty="0">
                          <a:solidFill>
                            <a:schemeClr val="bg1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  <a:endParaRPr lang="zh-CN" altLang="en-US" sz="1300" dirty="0">
                        <a:solidFill>
                          <a:schemeClr val="bg1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342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xQueueCreateSet() </a:t>
                      </a:r>
                      <a:endParaRPr lang="en-US" sz="13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创建队列集</a:t>
                      </a:r>
                      <a:endParaRPr lang="zh-CN" altLang="en-US" sz="13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342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xQueueAddToSet() </a:t>
                      </a:r>
                      <a:endParaRPr lang="en-US" sz="13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队列添加到队列集中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342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xQueueRemoveFromSet() </a:t>
                      </a:r>
                      <a:endParaRPr lang="en-US" sz="13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从队列集中移除队列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342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xQueueSelectFromSet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获取队列集中有有效消息的队列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8342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xQueueSelectFromSetFromISR() </a:t>
                      </a:r>
                      <a:endParaRPr lang="en-US" sz="13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在中断中获取队列集中有有效消息的队列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69678173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A856E-644C-BC36-A4DF-BCF39003D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912ACD35-1740-38D9-63E4-9223A712F653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E978FED0-C47C-EA3F-CE54-D16102413A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36466" y="1161177"/>
            <a:ext cx="5232400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5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，队列集相关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2">
            <a:extLst>
              <a:ext uri="{FF2B5EF4-FFF2-40B4-BE49-F238E27FC236}">
                <a16:creationId xmlns:a16="http://schemas.microsoft.com/office/drawing/2014/main" id="{9CF15878-DCFB-0DC2-C756-B8FA608602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0478" y="1780302"/>
            <a:ext cx="75660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QueueSetHandle_t     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xQueueCreateSet( const  UBaseType_t   </a:t>
            </a:r>
            <a:r>
              <a:rPr lang="en-US" altLang="zh-CN" sz="140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uxEventQueueLength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); </a:t>
            </a:r>
            <a:endParaRPr lang="zh-CN" altLang="en-US" sz="14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graphicFrame>
        <p:nvGraphicFramePr>
          <p:cNvPr id="10" name="表格 7">
            <a:extLst>
              <a:ext uri="{FF2B5EF4-FFF2-40B4-BE49-F238E27FC236}">
                <a16:creationId xmlns:a16="http://schemas.microsoft.com/office/drawing/2014/main" id="{FAFC262F-F9E9-5D17-8EBE-03976A14C4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2111986"/>
              </p:ext>
            </p:extLst>
          </p:nvPr>
        </p:nvGraphicFramePr>
        <p:xfrm>
          <a:off x="1615891" y="2543890"/>
          <a:ext cx="5448300" cy="5667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81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36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形参</a:t>
                      </a:r>
                    </a:p>
                  </a:txBody>
                  <a:tcPr marT="45684" marB="45684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</a:p>
                  </a:txBody>
                  <a:tcPr marT="45684" marB="4568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369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uxEventQueueLength </a:t>
                      </a:r>
                      <a:endParaRPr lang="en-US" sz="13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队列集可容纳的队列数量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95B12A7B-0B62-255B-14AB-844C5F21EF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6575237"/>
              </p:ext>
            </p:extLst>
          </p:nvPr>
        </p:nvGraphicFramePr>
        <p:xfrm>
          <a:off x="1615891" y="3440827"/>
          <a:ext cx="5448300" cy="8508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81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63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返回值</a:t>
                      </a:r>
                    </a:p>
                  </a:txBody>
                  <a:tcPr marT="45727" marB="45727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</a:p>
                  </a:txBody>
                  <a:tcPr marT="45727" marB="45727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633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NULL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队列集创建失败</a:t>
                      </a:r>
                      <a:endParaRPr lang="zh-CN" alt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633"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其他值 </a:t>
                      </a:r>
                      <a:endParaRPr lang="zh-CN" alt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队列集创建成功，返回队列集句柄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" name="文本框 11">
            <a:extLst>
              <a:ext uri="{FF2B5EF4-FFF2-40B4-BE49-F238E27FC236}">
                <a16:creationId xmlns:a16="http://schemas.microsoft.com/office/drawing/2014/main" id="{527170A0-D38F-E671-12E8-EED2E5E215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0478" y="2167652"/>
            <a:ext cx="244633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此函数用于创建队列集。</a:t>
            </a:r>
          </a:p>
        </p:txBody>
      </p:sp>
    </p:spTree>
    <p:extLst>
      <p:ext uri="{BB962C8B-B14F-4D97-AF65-F5344CB8AC3E}">
        <p14:creationId xmlns:p14="http://schemas.microsoft.com/office/powerpoint/2010/main" val="1177582759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2" grpId="0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C2E1E-46EC-CD48-6DD2-FBC162549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51575A70-8381-9CC9-D63F-563EFF8A5A6A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2105F927-0356-AF07-BF7E-D238ABE644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1405" y="1106081"/>
            <a:ext cx="5232400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5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，队列集相关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2">
            <a:extLst>
              <a:ext uri="{FF2B5EF4-FFF2-40B4-BE49-F238E27FC236}">
                <a16:creationId xmlns:a16="http://schemas.microsoft.com/office/drawing/2014/main" id="{5AC95565-8CD3-C01E-0C7A-7D2F2887ED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86367" y="1598206"/>
            <a:ext cx="10410456" cy="70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CN" sz="1400" dirty="0" err="1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BaseType_t</a:t>
            </a:r>
            <a:r>
              <a:rPr lang="en-US" altLang="zh-CN" sz="1400" dirty="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xQueueAddToSet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QueueSetMemberHandle_t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  	</a:t>
            </a:r>
            <a:r>
              <a:rPr lang="en-US" altLang="zh-CN" sz="1400" dirty="0" err="1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xQueueOrSemaphore</a:t>
            </a:r>
            <a:r>
              <a:rPr lang="en-US" altLang="zh-CN" sz="1400" dirty="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,</a:t>
            </a:r>
          </a:p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				     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QueueSetHandle_t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  		</a:t>
            </a:r>
            <a:r>
              <a:rPr lang="en-US" altLang="zh-CN" sz="1400" dirty="0" err="1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xQueueSet</a:t>
            </a:r>
            <a:r>
              <a:rPr lang="en-US" altLang="zh-CN" sz="1400" dirty="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 	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); </a:t>
            </a:r>
            <a:endParaRPr lang="zh-CN" altLang="en-US" sz="14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graphicFrame>
        <p:nvGraphicFramePr>
          <p:cNvPr id="10" name="表格 7">
            <a:extLst>
              <a:ext uri="{FF2B5EF4-FFF2-40B4-BE49-F238E27FC236}">
                <a16:creationId xmlns:a16="http://schemas.microsoft.com/office/drawing/2014/main" id="{45551900-8ADF-A465-D7D4-AE8431B86D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4021877"/>
              </p:ext>
            </p:extLst>
          </p:nvPr>
        </p:nvGraphicFramePr>
        <p:xfrm>
          <a:off x="1530830" y="2928531"/>
          <a:ext cx="5448300" cy="8508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81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63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形参</a:t>
                      </a:r>
                    </a:p>
                  </a:txBody>
                  <a:tcPr marT="45727" marB="45727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</a:p>
                  </a:txBody>
                  <a:tcPr marT="45727" marB="45727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633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xQueueOrSemaphore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63" marB="45763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待添加的队列句柄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63" marB="45763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633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xQueueSet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63" marB="45763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队列集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63" marB="45763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76B67D76-5FDB-EE92-CE1E-1FC483B37A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8474421"/>
              </p:ext>
            </p:extLst>
          </p:nvPr>
        </p:nvGraphicFramePr>
        <p:xfrm>
          <a:off x="1530830" y="4087406"/>
          <a:ext cx="5448300" cy="8508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81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63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返回值</a:t>
                      </a:r>
                    </a:p>
                  </a:txBody>
                  <a:tcPr marT="45727" marB="45727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</a:p>
                  </a:txBody>
                  <a:tcPr marT="45727" marB="45727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633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pdPASS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队列集添加队列成功</a:t>
                      </a:r>
                      <a:endParaRPr lang="zh-CN" alt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633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pdFAIL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队列集添加队列失败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" name="文本框 11">
            <a:extLst>
              <a:ext uri="{FF2B5EF4-FFF2-40B4-BE49-F238E27FC236}">
                <a16:creationId xmlns:a16="http://schemas.microsoft.com/office/drawing/2014/main" id="{4BD0214B-3233-9044-23AC-FC2FECC377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68905" y="2425294"/>
            <a:ext cx="821372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此函数用于往队列集中添加队列，要注意的时，队列在被添加到队列集之前，队列中不能有有效的消息 </a:t>
            </a:r>
          </a:p>
        </p:txBody>
      </p:sp>
    </p:spTree>
    <p:extLst>
      <p:ext uri="{BB962C8B-B14F-4D97-AF65-F5344CB8AC3E}">
        <p14:creationId xmlns:p14="http://schemas.microsoft.com/office/powerpoint/2010/main" val="293546264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2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D5137-69CE-E1F9-8596-5A191E031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7CCB331A-C618-1264-448C-D6AF42C23ED9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A627E758-DA0D-4BE4-2238-E2C74D2069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53424" y="1161177"/>
            <a:ext cx="5232400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5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，队列集相关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2">
            <a:extLst>
              <a:ext uri="{FF2B5EF4-FFF2-40B4-BE49-F238E27FC236}">
                <a16:creationId xmlns:a16="http://schemas.microsoft.com/office/drawing/2014/main" id="{780D6024-21BA-14E3-D080-B7926BF926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7984" y="1624727"/>
            <a:ext cx="10567951" cy="1028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CN" sz="1400" dirty="0" err="1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BaseType_t</a:t>
            </a:r>
            <a:r>
              <a:rPr lang="en-US" altLang="zh-CN" sz="1400" dirty="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 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xQueueRemoveFromSet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QueueSetMemberHandle_t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 	</a:t>
            </a:r>
            <a:r>
              <a:rPr lang="en-US" altLang="zh-CN" sz="1400" dirty="0" err="1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xQueueOrSemaphore</a:t>
            </a:r>
            <a:r>
              <a:rPr lang="en-US" altLang="zh-CN" sz="1400" dirty="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,</a:t>
            </a:r>
            <a:b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</a:b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						         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QueueSetHandle_t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  		</a:t>
            </a:r>
            <a:r>
              <a:rPr lang="en-US" altLang="zh-CN" sz="1400" dirty="0" err="1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xQueueSet</a:t>
            </a:r>
            <a:r>
              <a:rPr lang="en-US" altLang="zh-CN" sz="1400" dirty="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); </a:t>
            </a:r>
            <a:b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</a:br>
            <a:endParaRPr lang="zh-CN" altLang="en-US" sz="14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graphicFrame>
        <p:nvGraphicFramePr>
          <p:cNvPr id="10" name="表格 7">
            <a:extLst>
              <a:ext uri="{FF2B5EF4-FFF2-40B4-BE49-F238E27FC236}">
                <a16:creationId xmlns:a16="http://schemas.microsoft.com/office/drawing/2014/main" id="{A5ADF540-5834-78F9-CA81-FE2E975F90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5913646"/>
              </p:ext>
            </p:extLst>
          </p:nvPr>
        </p:nvGraphicFramePr>
        <p:xfrm>
          <a:off x="2094356" y="2902665"/>
          <a:ext cx="5448300" cy="8508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81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63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形参</a:t>
                      </a:r>
                    </a:p>
                  </a:txBody>
                  <a:tcPr marT="45727" marB="45727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</a:p>
                  </a:txBody>
                  <a:tcPr marT="45727" marB="45727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633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xQueueOrSemaphore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63" marB="45763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待移除的队列句柄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63" marB="45763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633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xQueueSet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63" marB="45763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队列集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63" marB="45763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FD8BA830-71C4-FE48-9FE7-9FC59242BD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6600560"/>
              </p:ext>
            </p:extLst>
          </p:nvPr>
        </p:nvGraphicFramePr>
        <p:xfrm>
          <a:off x="2094356" y="4109165"/>
          <a:ext cx="5448300" cy="849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81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10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返回值</a:t>
                      </a:r>
                    </a:p>
                  </a:txBody>
                  <a:tcPr marT="45642" marB="45642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</a:p>
                  </a:txBody>
                  <a:tcPr marT="45642" marB="45642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104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pdPASS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35" marB="45635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队列集移除队列成功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35" marB="4563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104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pdFAIL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35" marB="45635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队列集移除队列失败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35" marB="4563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" name="文本框 11">
            <a:extLst>
              <a:ext uri="{FF2B5EF4-FFF2-40B4-BE49-F238E27FC236}">
                <a16:creationId xmlns:a16="http://schemas.microsoft.com/office/drawing/2014/main" id="{8BFDD3F1-0722-361A-2EA9-68E334BC9C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78468" y="2451815"/>
            <a:ext cx="835818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此函数用于从队列集中移除队列， 要注意的是，队列在从队列集移除之前，必须没有有效的消息</a:t>
            </a:r>
          </a:p>
        </p:txBody>
      </p:sp>
    </p:spTree>
    <p:extLst>
      <p:ext uri="{BB962C8B-B14F-4D97-AF65-F5344CB8AC3E}">
        <p14:creationId xmlns:p14="http://schemas.microsoft.com/office/powerpoint/2010/main" val="336195552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2" grpId="0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ED1F2-337D-817D-704A-988DDBB57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6B4331B8-7E90-469B-A0A9-1B0B9B91A152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队列和队列集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9F734BBA-685D-3A46-6E55-396A6AFAD4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89609" y="989123"/>
            <a:ext cx="5232400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5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，队列集相关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函数介绍（熟悉）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2">
            <a:extLst>
              <a:ext uri="{FF2B5EF4-FFF2-40B4-BE49-F238E27FC236}">
                <a16:creationId xmlns:a16="http://schemas.microsoft.com/office/drawing/2014/main" id="{F2FBB97A-403A-119D-9649-DF1F330024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89609" y="1624123"/>
            <a:ext cx="10798600" cy="7005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CN" sz="1400" dirty="0" err="1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QueueSetMemberHandle_t</a:t>
            </a:r>
            <a:r>
              <a:rPr lang="en-US" altLang="zh-CN" sz="1400" dirty="0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   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xQueueSelectFromSet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(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QueueSetHandle_t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		</a:t>
            </a:r>
            <a:r>
              <a:rPr lang="en-US" altLang="zh-CN" sz="1400" dirty="0" err="1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xQueueSet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,</a:t>
            </a:r>
          </a:p>
          <a:p>
            <a:pPr>
              <a:lnSpc>
                <a:spcPct val="150000"/>
              </a:lnSpc>
            </a:pP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                                               					     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TickType_t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const 		</a:t>
            </a:r>
            <a:r>
              <a:rPr lang="en-US" altLang="zh-CN" sz="1400" dirty="0" err="1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xTicksToWait</a:t>
            </a:r>
            <a:r>
              <a:rPr lang="en-US" altLang="zh-CN" sz="1400" dirty="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)</a:t>
            </a:r>
            <a:endParaRPr lang="zh-CN" altLang="en-US" sz="14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graphicFrame>
        <p:nvGraphicFramePr>
          <p:cNvPr id="10" name="表格 7">
            <a:extLst>
              <a:ext uri="{FF2B5EF4-FFF2-40B4-BE49-F238E27FC236}">
                <a16:creationId xmlns:a16="http://schemas.microsoft.com/office/drawing/2014/main" id="{1FBD0648-8C47-CB0C-3D61-0F2AA83EDC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7443652"/>
              </p:ext>
            </p:extLst>
          </p:nvPr>
        </p:nvGraphicFramePr>
        <p:xfrm>
          <a:off x="2048669" y="2962386"/>
          <a:ext cx="5448300" cy="8508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81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63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形参</a:t>
                      </a:r>
                    </a:p>
                  </a:txBody>
                  <a:tcPr marT="45727" marB="45727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</a:p>
                  </a:txBody>
                  <a:tcPr marT="45727" marB="45727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633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xQueueSet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63" marB="45763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队列集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63" marB="45763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633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xTicksToWait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63" marB="45763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阻塞超时时间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63" marB="45763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DBB7C7D9-45B5-8156-9424-45B1AEA793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2618946"/>
              </p:ext>
            </p:extLst>
          </p:nvPr>
        </p:nvGraphicFramePr>
        <p:xfrm>
          <a:off x="2048669" y="4037123"/>
          <a:ext cx="5448300" cy="8508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6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81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63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返回值</a:t>
                      </a:r>
                    </a:p>
                  </a:txBody>
                  <a:tcPr marT="45727" marB="45727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/>
                        <a:t>描述</a:t>
                      </a:r>
                    </a:p>
                  </a:txBody>
                  <a:tcPr marT="45727" marB="45727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633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NULL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获取消息失败</a:t>
                      </a:r>
                      <a:endParaRPr lang="zh-CN" alt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633"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其他值 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获取到消息的队列句柄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" name="文本框 11">
            <a:extLst>
              <a:ext uri="{FF2B5EF4-FFF2-40B4-BE49-F238E27FC236}">
                <a16:creationId xmlns:a16="http://schemas.microsoft.com/office/drawing/2014/main" id="{6C439926-207A-01E3-4A40-FBE3E9EAE0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23256" y="2482961"/>
            <a:ext cx="4618038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此函数用于在任务中获取队列集中有有效消息的队列</a:t>
            </a:r>
          </a:p>
        </p:txBody>
      </p:sp>
    </p:spTree>
    <p:extLst>
      <p:ext uri="{BB962C8B-B14F-4D97-AF65-F5344CB8AC3E}">
        <p14:creationId xmlns:p14="http://schemas.microsoft.com/office/powerpoint/2010/main" val="290889390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2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7B1D05-E5E6-611F-2D77-11D82AD2E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6770537B-86F7-2848-E479-D650E059AA62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事件标志组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9035CF38-3FBD-EDB2-4DE0-F86CE6E4D7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85322" y="1161177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1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，事件标志组简介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C7BF0D7-FC34-CD19-AFFE-28EE97BDA3A1}"/>
              </a:ext>
            </a:extLst>
          </p:cNvPr>
          <p:cNvSpPr txBox="1"/>
          <p:nvPr/>
        </p:nvSpPr>
        <p:spPr>
          <a:xfrm>
            <a:off x="1663147" y="1812052"/>
            <a:ext cx="4854575" cy="30797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/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事件标志位：用一个位，来表示事件是否发生</a:t>
            </a:r>
          </a:p>
        </p:txBody>
      </p:sp>
      <p:sp>
        <p:nvSpPr>
          <p:cNvPr id="10" name="文本框 160">
            <a:extLst>
              <a:ext uri="{FF2B5EF4-FFF2-40B4-BE49-F238E27FC236}">
                <a16:creationId xmlns:a16="http://schemas.microsoft.com/office/drawing/2014/main" id="{2AC55BAD-C709-8F19-5D85-5ED95BBFC7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3147" y="2162890"/>
            <a:ext cx="7043737" cy="306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事件标志组是一组事件标志位的集合， 可以简单的理解事件标志组，就是一个整数。</a:t>
            </a:r>
          </a:p>
        </p:txBody>
      </p:sp>
      <p:sp>
        <p:nvSpPr>
          <p:cNvPr id="11" name="文本框 31">
            <a:extLst>
              <a:ext uri="{FF2B5EF4-FFF2-40B4-BE49-F238E27FC236}">
                <a16:creationId xmlns:a16="http://schemas.microsoft.com/office/drawing/2014/main" id="{390E8A69-33BC-FF06-5B7B-858F60F03C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3147" y="4621927"/>
            <a:ext cx="591820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可以等待某一位成立，或者等待多位同时成立</a:t>
            </a:r>
          </a:p>
        </p:txBody>
      </p:sp>
      <p:sp>
        <p:nvSpPr>
          <p:cNvPr id="12" name="文本框 6">
            <a:extLst>
              <a:ext uri="{FF2B5EF4-FFF2-40B4-BE49-F238E27FC236}">
                <a16:creationId xmlns:a16="http://schemas.microsoft.com/office/drawing/2014/main" id="{7C39FA26-C1F1-E3D4-96DD-3DCF636FC8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3147" y="2980452"/>
            <a:ext cx="461803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它的每一个位表示一个事件（高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8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位不算）</a:t>
            </a:r>
          </a:p>
        </p:txBody>
      </p:sp>
      <p:sp>
        <p:nvSpPr>
          <p:cNvPr id="13" name="文本框 7">
            <a:extLst>
              <a:ext uri="{FF2B5EF4-FFF2-40B4-BE49-F238E27FC236}">
                <a16:creationId xmlns:a16="http://schemas.microsoft.com/office/drawing/2014/main" id="{C92B49DA-6C76-F5C4-3666-0C217FE7F5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3147" y="3421777"/>
            <a:ext cx="8253412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每一位事件的含义，由用户自己决定，如：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bit0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表示按键是否按下，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bit1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表示是否接受到消息 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… …</a:t>
            </a:r>
            <a:endParaRPr lang="zh-CN" altLang="en-US" sz="140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sp>
        <p:nvSpPr>
          <p:cNvPr id="14" name="文本框 9">
            <a:extLst>
              <a:ext uri="{FF2B5EF4-FFF2-40B4-BE49-F238E27FC236}">
                <a16:creationId xmlns:a16="http://schemas.microsoft.com/office/drawing/2014/main" id="{35F3F8D1-8CB0-AF3A-996B-C6C4B9702D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67947" y="3801190"/>
            <a:ext cx="4759325" cy="277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这些位的值为</a:t>
            </a:r>
            <a:r>
              <a:rPr lang="en-US" altLang="zh-CN" sz="12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1</a:t>
            </a:r>
            <a:r>
              <a:rPr lang="zh-CN" altLang="en-US" sz="12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：表示事件发生了；值为</a:t>
            </a:r>
            <a:r>
              <a:rPr lang="en-US" altLang="zh-CN" sz="12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0</a:t>
            </a:r>
            <a:r>
              <a:rPr lang="zh-CN" altLang="en-US" sz="12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：表示事件未发生</a:t>
            </a:r>
          </a:p>
        </p:txBody>
      </p:sp>
      <p:sp>
        <p:nvSpPr>
          <p:cNvPr id="15" name="文本框 12">
            <a:extLst>
              <a:ext uri="{FF2B5EF4-FFF2-40B4-BE49-F238E27FC236}">
                <a16:creationId xmlns:a16="http://schemas.microsoft.com/office/drawing/2014/main" id="{ED47883E-07C0-8700-464D-9928C0884F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3147" y="4175840"/>
            <a:ext cx="4129087" cy="306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buFont typeface="Wingdings" panose="05000000000000000000" pitchFamily="2" charset="2"/>
              <a:buChar char="l"/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任意任务或中断都可以读写这些位</a:t>
            </a:r>
          </a:p>
        </p:txBody>
      </p:sp>
      <p:sp>
        <p:nvSpPr>
          <p:cNvPr id="16" name="文本框 160">
            <a:extLst>
              <a:ext uri="{FF2B5EF4-FFF2-40B4-BE49-F238E27FC236}">
                <a16:creationId xmlns:a16="http://schemas.microsoft.com/office/drawing/2014/main" id="{B4D0CBC4-C943-4728-2B5D-9B6FFE8E80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3147" y="2562940"/>
            <a:ext cx="2336800" cy="306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事件标志组的特点：</a:t>
            </a:r>
          </a:p>
        </p:txBody>
      </p:sp>
    </p:spTree>
    <p:extLst>
      <p:ext uri="{BB962C8B-B14F-4D97-AF65-F5344CB8AC3E}">
        <p14:creationId xmlns:p14="http://schemas.microsoft.com/office/powerpoint/2010/main" val="2660393352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4BC55D-E8DF-A0B3-3020-59356DE7D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35028735-BAC0-001C-D74B-6EC3946CE66E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事件标志组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A780C428-4C3F-AB44-7CB7-6FCBE46000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64056" y="989123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1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，事件标志组简介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35B474C-173C-8F75-5425-2A06B1A32B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1881" y="1639998"/>
            <a:ext cx="8216900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一个事件组就包含了一个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EventBits_t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数据类型的变量，变量类型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EventBits_t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的定义如下所示： </a:t>
            </a:r>
          </a:p>
        </p:txBody>
      </p:sp>
      <p:grpSp>
        <p:nvGrpSpPr>
          <p:cNvPr id="10" name="组合 13">
            <a:extLst>
              <a:ext uri="{FF2B5EF4-FFF2-40B4-BE49-F238E27FC236}">
                <a16:creationId xmlns:a16="http://schemas.microsoft.com/office/drawing/2014/main" id="{BED9A65E-D225-1BE9-00E4-3B4B8FA98F74}"/>
              </a:ext>
            </a:extLst>
          </p:cNvPr>
          <p:cNvGrpSpPr>
            <a:grpSpLocks/>
          </p:cNvGrpSpPr>
          <p:nvPr/>
        </p:nvGrpSpPr>
        <p:grpSpPr bwMode="auto">
          <a:xfrm>
            <a:off x="1700617" y="2094023"/>
            <a:ext cx="6885173" cy="2093913"/>
            <a:chOff x="685800" y="1855183"/>
            <a:chExt cx="4694238" cy="2095025"/>
          </a:xfrm>
        </p:grpSpPr>
        <p:sp>
          <p:nvSpPr>
            <p:cNvPr id="11" name="文本框 2">
              <a:extLst>
                <a:ext uri="{FF2B5EF4-FFF2-40B4-BE49-F238E27FC236}">
                  <a16:creationId xmlns:a16="http://schemas.microsoft.com/office/drawing/2014/main" id="{E12A6968-8318-A012-81EC-21C9AAF2E10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2318" y="1855183"/>
              <a:ext cx="4617720" cy="200824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typedef </a:t>
              </a:r>
              <a:r>
                <a:rPr lang="en-US" altLang="zh-CN" sz="1200" dirty="0" err="1">
                  <a:solidFill>
                    <a:srgbClr val="0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TickType_t</a:t>
              </a:r>
              <a:r>
                <a:rPr lang="en-US" altLang="zh-CN" sz="1200" dirty="0">
                  <a:solidFill>
                    <a:srgbClr val="0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  <a:r>
                <a:rPr lang="en-US" altLang="zh-CN" sz="1200" dirty="0" err="1">
                  <a:solidFill>
                    <a:srgbClr val="0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EventBits_t</a:t>
              </a:r>
              <a:r>
                <a:rPr lang="en-US" altLang="zh-CN" sz="1200" dirty="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;</a:t>
              </a:r>
              <a:br>
                <a:rPr lang="en-US" altLang="zh-CN" sz="1200" dirty="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#if ( 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configUSE_16_BIT_TICKS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= =  1 )</a:t>
              </a:r>
              <a:b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typedef   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uint16_t   </a:t>
              </a:r>
              <a:r>
                <a:rPr lang="en-US" altLang="zh-CN" sz="1200" dirty="0" err="1">
                  <a:solidFill>
                    <a:srgbClr val="0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TickType_t</a:t>
              </a:r>
              <a:r>
                <a:rPr lang="en-US" altLang="zh-CN" sz="1200" dirty="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;</a:t>
              </a:r>
              <a:br>
                <a:rPr lang="en-US" altLang="zh-CN" sz="1200" dirty="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#else</a:t>
              </a:r>
              <a:b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typedef   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uint32_t   </a:t>
              </a:r>
              <a:r>
                <a:rPr lang="en-US" altLang="zh-CN" sz="1200" dirty="0" err="1">
                  <a:solidFill>
                    <a:srgbClr val="0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TickType_t</a:t>
              </a:r>
              <a:r>
                <a:rPr lang="en-US" altLang="zh-CN" sz="1200" dirty="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;</a:t>
              </a:r>
              <a:br>
                <a:rPr lang="en-US" altLang="zh-CN" sz="1200" dirty="0">
                  <a:solidFill>
                    <a:srgbClr val="00008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#endif</a:t>
              </a:r>
              <a:b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#define  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configUSE_16_BIT_TICKS    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0</a:t>
              </a:r>
              <a:r>
                <a:rPr lang="en-US" altLang="zh-CN" sz="1200" dirty="0"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  <a:endParaRPr lang="zh-CN" altLang="en-US" sz="1200" dirty="0"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7A8AF5B8-37EE-2A12-A0D3-D2451C43F583}"/>
                </a:ext>
              </a:extLst>
            </p:cNvPr>
            <p:cNvSpPr/>
            <p:nvPr/>
          </p:nvSpPr>
          <p:spPr>
            <a:xfrm>
              <a:off x="685800" y="1855183"/>
              <a:ext cx="4694238" cy="2095025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  <p:sp>
        <p:nvSpPr>
          <p:cNvPr id="13" name="文本框 15">
            <a:extLst>
              <a:ext uri="{FF2B5EF4-FFF2-40B4-BE49-F238E27FC236}">
                <a16:creationId xmlns:a16="http://schemas.microsoft.com/office/drawing/2014/main" id="{8A3B5DE6-D2F7-090D-A752-2071EBDA1B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00618" y="4357798"/>
            <a:ext cx="5132388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EventBits_t 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实际上是一个 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16 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位或 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32 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位无符号的数据类型 </a:t>
            </a:r>
          </a:p>
        </p:txBody>
      </p:sp>
    </p:spTree>
    <p:extLst>
      <p:ext uri="{BB962C8B-B14F-4D97-AF65-F5344CB8AC3E}">
        <p14:creationId xmlns:p14="http://schemas.microsoft.com/office/powerpoint/2010/main" val="400079010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3" grpId="0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DC0E5-889D-BE0F-5C70-615BFBFEE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8B1406CA-B757-1047-9850-872DE1584923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事件标志组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4273E3A3-AF4B-062F-30DB-CF5E0F681C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19238" y="1068867"/>
            <a:ext cx="4424362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1</a:t>
            </a:r>
            <a:r>
              <a:rPr lang="zh-CN" altLang="en-US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，事件标志组简介（了解）</a:t>
            </a:r>
            <a:endParaRPr lang="en-US" altLang="zh-CN" b="1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pic>
        <p:nvPicPr>
          <p:cNvPr id="9" name="图片 7">
            <a:extLst>
              <a:ext uri="{FF2B5EF4-FFF2-40B4-BE49-F238E27FC236}">
                <a16:creationId xmlns:a16="http://schemas.microsoft.com/office/drawing/2014/main" id="{005D89D0-4B11-6162-D537-389DEE596E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1663" y="2640492"/>
            <a:ext cx="6035675" cy="1189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541D8962-6E7A-0CEE-782E-C251787091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35150" y="1670530"/>
            <a:ext cx="8296275" cy="70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虽然使用了 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32 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位无符号的数据类型变量来存储事件标志， 但其中的高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8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位用作存储事件标志组的控制信息，低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24</a:t>
            </a:r>
            <a:r>
              <a: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位用作存储事件标志 ，所以说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一个事件组最多可以存储 </a:t>
            </a:r>
            <a:r>
              <a:rPr lang="en-US" altLang="zh-CN" sz="1400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24 </a:t>
            </a:r>
            <a:r>
              <a:rPr lang="zh-CN" altLang="en-US" sz="1400" dirty="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个事件标志！</a:t>
            </a:r>
          </a:p>
        </p:txBody>
      </p:sp>
    </p:spTree>
    <p:extLst>
      <p:ext uri="{BB962C8B-B14F-4D97-AF65-F5344CB8AC3E}">
        <p14:creationId xmlns:p14="http://schemas.microsoft.com/office/powerpoint/2010/main" val="387986862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82A83-F714-5B95-6DB0-400AF94F8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3E5F0855-0748-6164-0761-45151565EC21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事件标志组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E9C327FB-7817-BB81-8213-2B894177D1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78996" y="1015705"/>
            <a:ext cx="4424362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     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事件标志组与队列、信号量的区别？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graphicFrame>
        <p:nvGraphicFramePr>
          <p:cNvPr id="9" name="表格 13">
            <a:extLst>
              <a:ext uri="{FF2B5EF4-FFF2-40B4-BE49-F238E27FC236}">
                <a16:creationId xmlns:a16="http://schemas.microsoft.com/office/drawing/2014/main" id="{5B325AD2-3563-CE8D-80DC-C6F2928762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8326025"/>
              </p:ext>
            </p:extLst>
          </p:nvPr>
        </p:nvGraphicFramePr>
        <p:xfrm>
          <a:off x="1590158" y="2168230"/>
          <a:ext cx="8024813" cy="15938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19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22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705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751">
                <a:tc>
                  <a:txBody>
                    <a:bodyPr/>
                    <a:lstStyle/>
                    <a:p>
                      <a:pPr lvl="0"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功能</a:t>
                      </a:r>
                    </a:p>
                  </a:txBody>
                  <a:tcPr marL="91438" marR="91438" marT="45709" marB="45709" anchor="ctr"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唤醒对象</a:t>
                      </a:r>
                    </a:p>
                  </a:txBody>
                  <a:tcPr marL="91438" marR="91438" marT="45709" marB="45709" anchor="ctr"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事件清除</a:t>
                      </a:r>
                    </a:p>
                  </a:txBody>
                  <a:tcPr marL="91438" marR="91438" marT="45709" marB="45709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1549">
                <a:tc>
                  <a:txBody>
                    <a:bodyPr/>
                    <a:lstStyle/>
                    <a:p>
                      <a:pPr lvl="0" algn="ctr"/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队列、信号量</a:t>
                      </a:r>
                    </a:p>
                  </a:txBody>
                  <a:tcPr marL="91438" marR="91438" marT="45709" marB="45709" anchor="ctr"/>
                </a:tc>
                <a:tc>
                  <a:txBody>
                    <a:bodyPr/>
                    <a:lstStyle/>
                    <a:p>
                      <a:pPr lvl="0" algn="l"/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+mn-cs"/>
                        </a:rPr>
                        <a:t>事件发生时，只会唤醒一个任务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8" marR="91438" marT="45709" marB="45709" anchor="ctr"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</a:pPr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+mn-cs"/>
                        </a:rPr>
                        <a:t>是消耗型的资源，队列的数据被读走就没了；信号量被获取后就减少了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8" marR="91438" marT="45709" marB="45709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1549">
                <a:tc>
                  <a:txBody>
                    <a:bodyPr/>
                    <a:lstStyle/>
                    <a:p>
                      <a:pPr lvl="0" algn="ctr"/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事件标志组</a:t>
                      </a:r>
                    </a:p>
                  </a:txBody>
                  <a:tcPr marL="91438" marR="91438" marT="45709" marB="45709" anchor="ctr"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</a:pPr>
                      <a:r>
                        <a:rPr lang="zh-CN" altLang="en-US" sz="1100" dirty="0">
                          <a:solidFill>
                            <a:srgbClr val="002060"/>
                          </a:solidFill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事件发生时，会唤醒所有符合条件的任务，可以理解为“广播”的作用</a:t>
                      </a:r>
                    </a:p>
                  </a:txBody>
                  <a:tcPr marL="91438" marR="91438" marT="45709" marB="45709" anchor="ctr"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</a:pPr>
                      <a:r>
                        <a:rPr lang="zh-CN" altLang="en-US" sz="1100" b="0" i="0" kern="120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  <a:cs typeface="+mn-cs"/>
                        </a:rPr>
                        <a:t>被唤醒的任务有两个选择，可以让事件保留不动，也可以清除事件</a:t>
                      </a:r>
                      <a:endParaRPr lang="zh-CN" altLang="en-US" sz="1100" dirty="0">
                        <a:solidFill>
                          <a:srgbClr val="002060"/>
                        </a:solidFill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8" marR="91438" marT="45709" marB="45709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9578282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710D27-FD07-F471-C428-A3FDA83DC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FD9101E7-FBBD-A025-F495-F237E271DD04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事件标志组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9544FD1C-BFDA-302C-387E-B70AEDA1E92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34178" y="1161177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2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，事件标志组相关</a:t>
            </a: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函数介绍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graphicFrame>
        <p:nvGraphicFramePr>
          <p:cNvPr id="9" name="表格 2">
            <a:extLst>
              <a:ext uri="{FF2B5EF4-FFF2-40B4-BE49-F238E27FC236}">
                <a16:creationId xmlns:a16="http://schemas.microsoft.com/office/drawing/2014/main" id="{CD2291A8-3B36-D87E-A9CE-8C40EC0309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9443865"/>
              </p:ext>
            </p:extLst>
          </p:nvPr>
        </p:nvGraphicFramePr>
        <p:xfrm>
          <a:off x="1853278" y="1840627"/>
          <a:ext cx="4973638" cy="25479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868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68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860"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chemeClr val="bg1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函数 </a:t>
                      </a:r>
                      <a:endParaRPr lang="zh-CN" altLang="en-US" sz="1300" dirty="0">
                        <a:solidFill>
                          <a:schemeClr val="bg1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8" marR="91428" marT="45695" marB="45695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chemeClr val="bg1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  <a:endParaRPr lang="zh-CN" altLang="en-US" sz="1300" dirty="0">
                        <a:solidFill>
                          <a:schemeClr val="bg1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8" marR="91428" marT="45695" marB="4569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860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xEventGroupCreate() </a:t>
                      </a:r>
                      <a:endParaRPr lang="en-US" sz="13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8" marR="91428" marT="45695" marB="45695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使用动态方式创建事件标志组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8" marR="91428" marT="45695" marB="4569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860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xEventGroupCreateStatic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8" marR="91428" marT="45695" marB="45695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使用静态方式创建事件标志组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8" marR="91428" marT="45695" marB="4569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860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xEventGroupClearBits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10" marB="45710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清零事件标志位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10" marB="4571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860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xEventGroupClearBitsFromISR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10" marB="45710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在中断中清零事件标志位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10" marB="4571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860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xEventGroupSetBits() </a:t>
                      </a:r>
                      <a:endParaRPr lang="en-US" sz="13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8" marR="91428" marT="45695" marB="45695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设置事件标志位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8" marR="91428" marT="45695" marB="4569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860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xEventGroupSetBitsFromISR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8" marR="91428" marT="45695" marB="45695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在中断中设置事件标志位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8" marR="91428" marT="45695" marB="4569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860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xEventGroupWaitBits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8" marR="91428" marT="45695" marB="45695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等待事件标志位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8" marR="91428" marT="45695" marB="45695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9061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xEventGroupSync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() </a:t>
                      </a:r>
                      <a:endParaRPr 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8" marR="91428" marT="45695" marB="45695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设置事件标志位，并等待事件标志位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8" marR="91428" marT="45695" marB="45695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0" name="文本框 2">
            <a:extLst>
              <a:ext uri="{FF2B5EF4-FFF2-40B4-BE49-F238E27FC236}">
                <a16:creationId xmlns:a16="http://schemas.microsoft.com/office/drawing/2014/main" id="{644A9CD4-BF51-C286-18CC-F62B4AA2A7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53278" y="4674315"/>
            <a:ext cx="8334375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更多事件标志组相关的</a:t>
            </a:r>
            <a:r>
              <a:rPr lang="en-US" altLang="zh-CN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API</a:t>
            </a:r>
            <a:r>
              <a:rPr lang="zh-CN" altLang="en-US" sz="14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函数介绍请查阅</a:t>
            </a:r>
            <a:r>
              <a:rPr lang="en-US" altLang="zh-CN" sz="14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《FreeRTOS</a:t>
            </a:r>
            <a:r>
              <a:rPr lang="zh-CN" altLang="en-US" sz="14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开发指南</a:t>
            </a:r>
            <a:r>
              <a:rPr lang="en-US" altLang="zh-CN" sz="14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》-- </a:t>
            </a:r>
            <a:r>
              <a:rPr lang="zh-CN" altLang="en-US" sz="14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第十六章“</a:t>
            </a:r>
            <a:r>
              <a:rPr lang="en-US" altLang="zh-CN" sz="14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FreeRTOS</a:t>
            </a:r>
            <a:r>
              <a:rPr lang="zh-CN" altLang="en-US" sz="1400">
                <a:solidFill>
                  <a:srgbClr val="FF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事件标志组”</a:t>
            </a:r>
          </a:p>
        </p:txBody>
      </p:sp>
    </p:spTree>
    <p:extLst>
      <p:ext uri="{BB962C8B-B14F-4D97-AF65-F5344CB8AC3E}">
        <p14:creationId xmlns:p14="http://schemas.microsoft.com/office/powerpoint/2010/main" val="70304831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C1576-32D3-B92D-464C-110BB2FE1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2F9F5FA8-DE12-E7DF-D326-B51B3316B754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事件标志组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21ECE0EF-288F-082C-6689-9BE9A4722C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7247" y="1052918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      </a:t>
            </a:r>
            <a:r>
              <a:rPr lang="zh-CN" altLang="en-US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动态方式创建事件标志组</a:t>
            </a:r>
            <a:r>
              <a:rPr lang="en-US" altLang="zh-CN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</a:t>
            </a:r>
            <a:endParaRPr lang="en-US" altLang="zh-CN" b="1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9" name="文本框 6">
            <a:extLst>
              <a:ext uri="{FF2B5EF4-FFF2-40B4-BE49-F238E27FC236}">
                <a16:creationId xmlns:a16="http://schemas.microsoft.com/office/drawing/2014/main" id="{C1E56D05-9991-9C99-B2E7-49870415F0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1097" y="1729193"/>
            <a:ext cx="4618037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en-US" altLang="zh-CN" sz="1400" dirty="0" err="1">
                <a:solidFill>
                  <a:srgbClr val="0000FF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EventGroupHandle_t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   </a:t>
            </a:r>
            <a:r>
              <a:rPr lang="en-US" altLang="zh-CN" sz="1400" dirty="0" err="1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xEventGroupCreate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( </a:t>
            </a:r>
            <a:r>
              <a:rPr lang="en-US" altLang="zh-CN" sz="1400" dirty="0">
                <a:solidFill>
                  <a:srgbClr val="C0000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void</a:t>
            </a:r>
            <a:r>
              <a:rPr lang="en-US" altLang="zh-CN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 ) ; </a:t>
            </a:r>
            <a:endParaRPr lang="zh-CN" altLang="en-US" sz="1400" dirty="0">
              <a:solidFill>
                <a:srgbClr val="002060"/>
              </a:solidFill>
              <a:latin typeface="思源黑体 CN Normal" panose="020B0400000000000000" pitchFamily="34" charset="-122"/>
              <a:ea typeface="思源黑体 CN Normal" panose="020B0400000000000000" pitchFamily="34" charset="-122"/>
            </a:endParaRPr>
          </a:p>
        </p:txBody>
      </p:sp>
      <p:graphicFrame>
        <p:nvGraphicFramePr>
          <p:cNvPr id="10" name="表格 6">
            <a:extLst>
              <a:ext uri="{FF2B5EF4-FFF2-40B4-BE49-F238E27FC236}">
                <a16:creationId xmlns:a16="http://schemas.microsoft.com/office/drawing/2014/main" id="{6CCC1859-1E92-E929-73FE-BEA9A9F8DF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5126802"/>
              </p:ext>
            </p:extLst>
          </p:nvPr>
        </p:nvGraphicFramePr>
        <p:xfrm>
          <a:off x="891584" y="2291168"/>
          <a:ext cx="5065713" cy="7937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24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733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458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返回值</a:t>
                      </a:r>
                    </a:p>
                  </a:txBody>
                  <a:tcPr marL="68585" marR="68585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68585" marR="6858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NULL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92" marB="45792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事件标志组创建失败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92" marB="45792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其他值 </a:t>
                      </a:r>
                      <a:endParaRPr lang="zh-CN" alt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92" marB="45792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事件标志组创建成功，返回其句柄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37" marR="91437" marT="45792" marB="45792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文本框 9">
            <a:extLst>
              <a:ext uri="{FF2B5EF4-FFF2-40B4-BE49-F238E27FC236}">
                <a16:creationId xmlns:a16="http://schemas.microsoft.com/office/drawing/2014/main" id="{88AE6EEA-7DDB-F6E3-868C-2508E36B39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7247" y="3152849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      </a:t>
            </a:r>
            <a:r>
              <a:rPr lang="zh-CN" altLang="en-US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清除事件标志位</a:t>
            </a:r>
            <a:r>
              <a:rPr lang="en-US" altLang="zh-CN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graphicFrame>
        <p:nvGraphicFramePr>
          <p:cNvPr id="12" name="表格 6">
            <a:extLst>
              <a:ext uri="{FF2B5EF4-FFF2-40B4-BE49-F238E27FC236}">
                <a16:creationId xmlns:a16="http://schemas.microsoft.com/office/drawing/2014/main" id="{25280AF7-EF90-DF79-9B86-DF913BDF6D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2155204"/>
              </p:ext>
            </p:extLst>
          </p:nvPr>
        </p:nvGraphicFramePr>
        <p:xfrm>
          <a:off x="869845" y="4556568"/>
          <a:ext cx="5065712" cy="8794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24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733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469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形参</a:t>
                      </a:r>
                    </a:p>
                  </a:txBody>
                  <a:tcPr marL="68585" marR="68585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68585" marR="6858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077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xEventGroup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40" marB="45740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待操作的事件标志组句柄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40" marB="4574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699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uxBitsToSet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40" marB="45740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待清零的事件标志位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40" marB="4574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3" name="表格 6">
            <a:extLst>
              <a:ext uri="{FF2B5EF4-FFF2-40B4-BE49-F238E27FC236}">
                <a16:creationId xmlns:a16="http://schemas.microsoft.com/office/drawing/2014/main" id="{E948467D-E438-5E21-806F-0F2148C758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6446121"/>
              </p:ext>
            </p:extLst>
          </p:nvPr>
        </p:nvGraphicFramePr>
        <p:xfrm>
          <a:off x="869845" y="5763068"/>
          <a:ext cx="5065712" cy="5286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24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733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431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返回值</a:t>
                      </a:r>
                    </a:p>
                  </a:txBody>
                  <a:tcPr marL="68585" marR="68585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68585" marR="6858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319"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整数 </a:t>
                      </a:r>
                      <a:endParaRPr lang="zh-CN" altLang="en-US" sz="13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74" marB="45674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清零事件标志位之前事件组中事件标志位的值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74" marB="4567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4" name="组合 13">
            <a:extLst>
              <a:ext uri="{FF2B5EF4-FFF2-40B4-BE49-F238E27FC236}">
                <a16:creationId xmlns:a16="http://schemas.microsoft.com/office/drawing/2014/main" id="{423885BF-4CD0-911C-B2A4-B70DE86F7275}"/>
              </a:ext>
            </a:extLst>
          </p:cNvPr>
          <p:cNvGrpSpPr>
            <a:grpSpLocks/>
          </p:cNvGrpSpPr>
          <p:nvPr/>
        </p:nvGrpSpPr>
        <p:grpSpPr bwMode="auto">
          <a:xfrm>
            <a:off x="801097" y="3684331"/>
            <a:ext cx="10841554" cy="617538"/>
            <a:chOff x="510335" y="1316831"/>
            <a:chExt cx="7510462" cy="617538"/>
          </a:xfrm>
        </p:grpSpPr>
        <p:sp>
          <p:nvSpPr>
            <p:cNvPr id="15" name="文本框 6">
              <a:extLst>
                <a:ext uri="{FF2B5EF4-FFF2-40B4-BE49-F238E27FC236}">
                  <a16:creationId xmlns:a16="http://schemas.microsoft.com/office/drawing/2014/main" id="{9EC54D35-9666-D424-01A5-31F7147E2E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10335" y="1316831"/>
              <a:ext cx="7510462" cy="6175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altLang="zh-CN" sz="1200" dirty="0" err="1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EventBits_t</a:t>
              </a:r>
              <a:r>
                <a:rPr lang="en-US" altLang="zh-CN" sz="12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</a:t>
              </a:r>
              <a:r>
                <a:rPr lang="en-US" altLang="zh-CN" sz="12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xEventGroupClearBits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</a:t>
              </a:r>
              <a:r>
                <a:rPr lang="en-US" altLang="zh-CN" sz="12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EventGroupHandle_t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	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xEventGroup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</a:t>
              </a:r>
              <a:b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		      const </a:t>
              </a:r>
              <a:r>
                <a:rPr lang="en-US" altLang="zh-CN" sz="12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EventBits_t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	</a:t>
              </a:r>
              <a:r>
                <a:rPr lang="en-US" altLang="zh-CN" sz="12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uxBitsToClear</a:t>
              </a:r>
              <a:r>
                <a:rPr lang="en-US" altLang="zh-CN" sz="12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</a:t>
              </a:r>
              <a:r>
                <a:rPr lang="en-US" altLang="zh-CN" sz="12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) </a:t>
              </a:r>
              <a:endPara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BD6E6E7B-E7B0-781A-8ED5-449920E76625}"/>
                </a:ext>
              </a:extLst>
            </p:cNvPr>
            <p:cNvSpPr/>
            <p:nvPr/>
          </p:nvSpPr>
          <p:spPr>
            <a:xfrm>
              <a:off x="557960" y="1316831"/>
              <a:ext cx="5459412" cy="617538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066609669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6A599-CDE5-4A17-EE0D-E1F5738F0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4AC5C6D1-E995-E38E-960B-EBDCC883FF31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事件标志组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9446197F-B95F-5B0E-1115-8382BA5FE9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8931" y="1361263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      </a:t>
            </a:r>
            <a:r>
              <a:rPr lang="zh-CN" altLang="en-US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设置事件标志位</a:t>
            </a:r>
            <a:r>
              <a:rPr lang="en-US" altLang="zh-CN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</a:t>
            </a:r>
            <a:endParaRPr lang="en-US" altLang="zh-CN" b="1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graphicFrame>
        <p:nvGraphicFramePr>
          <p:cNvPr id="9" name="表格 6">
            <a:extLst>
              <a:ext uri="{FF2B5EF4-FFF2-40B4-BE49-F238E27FC236}">
                <a16:creationId xmlns:a16="http://schemas.microsoft.com/office/drawing/2014/main" id="{F9424F76-4DD9-6971-D3F9-A16113EE3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5343659"/>
              </p:ext>
            </p:extLst>
          </p:nvPr>
        </p:nvGraphicFramePr>
        <p:xfrm>
          <a:off x="852806" y="4287026"/>
          <a:ext cx="5065712" cy="5381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24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733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058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返回值</a:t>
                      </a:r>
                    </a:p>
                  </a:txBody>
                  <a:tcPr marL="68585" marR="68585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68585" marR="6858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5104"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整数 </a:t>
                      </a:r>
                      <a:endParaRPr lang="zh-CN" alt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810" marB="45810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函数返回时，事件组中的事件标志位值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810" marB="4581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表格 6">
            <a:extLst>
              <a:ext uri="{FF2B5EF4-FFF2-40B4-BE49-F238E27FC236}">
                <a16:creationId xmlns:a16="http://schemas.microsoft.com/office/drawing/2014/main" id="{85AC8498-3E7E-2D89-F231-A0847EA4C8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2472906"/>
              </p:ext>
            </p:extLst>
          </p:nvPr>
        </p:nvGraphicFramePr>
        <p:xfrm>
          <a:off x="852806" y="3132913"/>
          <a:ext cx="5065712" cy="7937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24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733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458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形参</a:t>
                      </a:r>
                    </a:p>
                  </a:txBody>
                  <a:tcPr marL="68585" marR="68585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68585" marR="6858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xEventGroup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待操作的事件标志组句柄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uxBitsToSet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待设置的事件标志位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11" name="组合 6">
            <a:extLst>
              <a:ext uri="{FF2B5EF4-FFF2-40B4-BE49-F238E27FC236}">
                <a16:creationId xmlns:a16="http://schemas.microsoft.com/office/drawing/2014/main" id="{3684A259-98A2-5CC6-9B1E-1408C3D1D64F}"/>
              </a:ext>
            </a:extLst>
          </p:cNvPr>
          <p:cNvGrpSpPr>
            <a:grpSpLocks/>
          </p:cNvGrpSpPr>
          <p:nvPr/>
        </p:nvGrpSpPr>
        <p:grpSpPr bwMode="auto">
          <a:xfrm>
            <a:off x="743267" y="1980388"/>
            <a:ext cx="9644741" cy="1028700"/>
            <a:chOff x="561974" y="1241425"/>
            <a:chExt cx="9644741" cy="1028700"/>
          </a:xfrm>
        </p:grpSpPr>
        <p:sp>
          <p:nvSpPr>
            <p:cNvPr id="12" name="文本框 6">
              <a:extLst>
                <a:ext uri="{FF2B5EF4-FFF2-40B4-BE49-F238E27FC236}">
                  <a16:creationId xmlns:a16="http://schemas.microsoft.com/office/drawing/2014/main" id="{53FA6D67-D495-0FEB-E861-8EC3FB043A2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1974" y="1241425"/>
              <a:ext cx="9644741" cy="10287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altLang="zh-CN" sz="1400" dirty="0" err="1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EventBits_t</a:t>
              </a:r>
              <a:r>
                <a:rPr lang="en-US" altLang="zh-CN" sz="14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</a:t>
              </a:r>
              <a:r>
                <a:rPr lang="en-US" altLang="zh-CN" sz="14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xEventGroupSetBits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 </a:t>
              </a:r>
              <a:r>
                <a:rPr lang="en-US" altLang="zh-CN" sz="14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EventGroupHandle_t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	</a:t>
              </a:r>
              <a:r>
                <a:rPr lang="en-US" altLang="zh-CN" sz="14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xEventGroup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</a:t>
              </a:r>
              <a:b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			  const </a:t>
              </a:r>
              <a:r>
                <a:rPr lang="en-US" altLang="zh-CN" sz="14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EventBits_t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		</a:t>
              </a:r>
              <a:r>
                <a:rPr lang="en-US" altLang="zh-CN" sz="14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uxBitsToSet</a:t>
              </a:r>
              <a:r>
                <a:rPr lang="en-US" altLang="zh-CN" sz="1400" dirty="0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) </a:t>
              </a:r>
              <a:b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endPara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8EE3D81E-0A80-4B41-B71D-602B72D502C3}"/>
                </a:ext>
              </a:extLst>
            </p:cNvPr>
            <p:cNvSpPr/>
            <p:nvPr/>
          </p:nvSpPr>
          <p:spPr>
            <a:xfrm>
              <a:off x="561975" y="1316038"/>
              <a:ext cx="6469063" cy="649287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952124322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07B36-BBC4-8466-03D4-333F984F7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8A98A258-B0DB-7A2B-583E-29CE4DBC7B21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事件标志组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3" name="文本框 9">
            <a:extLst>
              <a:ext uri="{FF2B5EF4-FFF2-40B4-BE49-F238E27FC236}">
                <a16:creationId xmlns:a16="http://schemas.microsoft.com/office/drawing/2014/main" id="{A2100AE0-D692-BA6A-2686-B9C28D75AE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5424" y="787622"/>
            <a:ext cx="371157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      </a:t>
            </a:r>
            <a:r>
              <a:rPr lang="zh-CN" altLang="en-US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等待事件标志位</a:t>
            </a:r>
            <a:r>
              <a:rPr lang="en-US" altLang="zh-CN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API</a:t>
            </a:r>
            <a:r>
              <a:rPr lang="zh-CN" altLang="en-US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函数</a:t>
            </a:r>
            <a:endParaRPr lang="en-US" altLang="zh-CN" b="1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graphicFrame>
        <p:nvGraphicFramePr>
          <p:cNvPr id="4" name="表格 6">
            <a:extLst>
              <a:ext uri="{FF2B5EF4-FFF2-40B4-BE49-F238E27FC236}">
                <a16:creationId xmlns:a16="http://schemas.microsoft.com/office/drawing/2014/main" id="{D7D42552-ADEC-723B-2ED7-76477EBA86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8431993"/>
              </p:ext>
            </p:extLst>
          </p:nvPr>
        </p:nvGraphicFramePr>
        <p:xfrm>
          <a:off x="957374" y="4716685"/>
          <a:ext cx="5543550" cy="8985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2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242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0178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返回值</a:t>
                      </a:r>
                    </a:p>
                  </a:txBody>
                  <a:tcPr marL="68585" marR="68585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68585" marR="6858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018"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等待的事件标志位值 </a:t>
                      </a:r>
                      <a:endParaRPr lang="zh-CN" altLang="en-US" sz="13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61" marB="45661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等待事件标志位成功，返回等待到的事件标志位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61" marB="45661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5328"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其他值 </a:t>
                      </a:r>
                      <a:endParaRPr lang="zh-CN" altLang="en-US" sz="13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61" marB="45661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等待事件标志位失败，返回事件组中的事件标志位</a:t>
                      </a:r>
                      <a:endParaRPr lang="zh-CN" altLang="en-US" sz="13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661" marB="45661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35B0155A-DB06-8A59-31AC-5781F7DF90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6161383"/>
              </p:ext>
            </p:extLst>
          </p:nvPr>
        </p:nvGraphicFramePr>
        <p:xfrm>
          <a:off x="957374" y="2410047"/>
          <a:ext cx="5543550" cy="22256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12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12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914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0" i="0" dirty="0">
                          <a:solidFill>
                            <a:schemeClr val="bg1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形参</a:t>
                      </a:r>
                      <a:endParaRPr lang="zh-CN" altLang="en-US" sz="1300" dirty="0">
                        <a:solidFill>
                          <a:schemeClr val="bg1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8" marR="91428" marT="45730" marB="4573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b="0" i="0" dirty="0">
                          <a:solidFill>
                            <a:schemeClr val="bg1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  <a:endParaRPr lang="zh-CN" altLang="en-US" sz="1300" dirty="0">
                        <a:solidFill>
                          <a:schemeClr val="bg1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L="91428" marR="91428" marT="45730" marB="4573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9155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xEvenrGroup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33" marB="45733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等待的事件标志组句柄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33" marB="45733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155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uxBitsToWaitFor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33" marB="45733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等待的事件标志位，可以用逻辑或等待多个事件标志位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33" marB="45733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531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xClearOnExit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33" marB="45733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成功等待到事件标志位后，清除事件组中对应的事件标志位，</a:t>
                      </a:r>
                      <a:endParaRPr lang="en-US" altLang="zh-CN" sz="1100" b="0" i="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  <a:p>
                      <a:r>
                        <a:rPr lang="en-US" altLang="zh-CN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pdTRUE</a:t>
                      </a:r>
                      <a:r>
                        <a:rPr lang="en-US" altLang="zh-CN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  </a:t>
                      </a: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：清除</a:t>
                      </a:r>
                      <a:r>
                        <a:rPr lang="en-US" altLang="zh-CN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uxBitsToWaitFor</a:t>
                      </a: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指定位；</a:t>
                      </a:r>
                      <a:endParaRPr lang="en-US" altLang="zh-CN" sz="1100" b="0" i="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  <a:p>
                      <a:r>
                        <a:rPr lang="en-US" altLang="zh-CN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pdFALSE</a:t>
                      </a: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：不清除</a:t>
                      </a:r>
                      <a:endParaRPr lang="zh-CN" altLang="en-US" sz="11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33" marB="45733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4531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xWaitForAllBits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33" marB="45733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等待 </a:t>
                      </a:r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uxBitsToWaitFor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 </a:t>
                      </a: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中的所有事件标志位（逻辑与）</a:t>
                      </a:r>
                      <a:endParaRPr lang="en-US" altLang="zh-CN" sz="1100" b="0" i="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  <a:p>
                      <a:r>
                        <a:rPr lang="en-US" altLang="zh-CN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pdTRUE</a:t>
                      </a: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：等待的位，全部为</a:t>
                      </a:r>
                      <a:r>
                        <a:rPr lang="en-US" altLang="zh-CN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1</a:t>
                      </a: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pdFALSE</a:t>
                      </a:r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：等待的位，某个为</a:t>
                      </a:r>
                      <a:r>
                        <a:rPr lang="en-US" altLang="zh-CN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1</a:t>
                      </a:r>
                    </a:p>
                  </a:txBody>
                  <a:tcPr marT="45733" marB="45733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9155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xTicksToWait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33" marB="45733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等待的阻塞时间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33" marB="45733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文本框 8">
            <a:extLst>
              <a:ext uri="{FF2B5EF4-FFF2-40B4-BE49-F238E27FC236}">
                <a16:creationId xmlns:a16="http://schemas.microsoft.com/office/drawing/2014/main" id="{311B3DBC-6F31-85CC-72C4-3B5B85A1C1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21574" y="3132360"/>
            <a:ext cx="1047750" cy="341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特点：</a:t>
            </a:r>
          </a:p>
        </p:txBody>
      </p:sp>
      <p:sp>
        <p:nvSpPr>
          <p:cNvPr id="7" name="文本框 12">
            <a:extLst>
              <a:ext uri="{FF2B5EF4-FFF2-40B4-BE49-F238E27FC236}">
                <a16:creationId xmlns:a16="http://schemas.microsoft.com/office/drawing/2014/main" id="{C25EAF6C-4E8A-3D96-925E-78D28334F9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21574" y="3521297"/>
            <a:ext cx="3009900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可以等待某一位、也可以等待多位</a:t>
            </a:r>
            <a:endParaRPr lang="zh-CN" altLang="en-US" sz="1200"/>
          </a:p>
        </p:txBody>
      </p:sp>
      <p:sp>
        <p:nvSpPr>
          <p:cNvPr id="8" name="文本框 14">
            <a:extLst>
              <a:ext uri="{FF2B5EF4-FFF2-40B4-BE49-F238E27FC236}">
                <a16:creationId xmlns:a16="http://schemas.microsoft.com/office/drawing/2014/main" id="{E65F4F83-4312-596E-FD8E-A7E7155AEF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21574" y="3892772"/>
            <a:ext cx="3152775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等到期望的事件后，还可以清除某些位</a:t>
            </a:r>
            <a:endParaRPr lang="zh-CN" altLang="en-US" sz="1200"/>
          </a:p>
        </p:txBody>
      </p:sp>
      <p:grpSp>
        <p:nvGrpSpPr>
          <p:cNvPr id="9" name="组合 3">
            <a:extLst>
              <a:ext uri="{FF2B5EF4-FFF2-40B4-BE49-F238E27FC236}">
                <a16:creationId xmlns:a16="http://schemas.microsoft.com/office/drawing/2014/main" id="{0309E0AC-48D0-8648-853F-088A22A8506B}"/>
              </a:ext>
            </a:extLst>
          </p:cNvPr>
          <p:cNvGrpSpPr>
            <a:grpSpLocks/>
          </p:cNvGrpSpPr>
          <p:nvPr/>
        </p:nvGrpSpPr>
        <p:grpSpPr bwMode="auto">
          <a:xfrm>
            <a:off x="957374" y="1235297"/>
            <a:ext cx="9643286" cy="1174750"/>
            <a:chOff x="361950" y="501650"/>
            <a:chExt cx="9643286" cy="1174750"/>
          </a:xfrm>
        </p:grpSpPr>
        <p:sp>
          <p:nvSpPr>
            <p:cNvPr id="10" name="文本框 6">
              <a:extLst>
                <a:ext uri="{FF2B5EF4-FFF2-40B4-BE49-F238E27FC236}">
                  <a16:creationId xmlns:a16="http://schemas.microsoft.com/office/drawing/2014/main" id="{6E7C7352-2202-8D3E-0602-6D190920B8F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1950" y="501650"/>
              <a:ext cx="9643286" cy="1174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30000"/>
                </a:lnSpc>
              </a:pPr>
              <a:r>
                <a:rPr lang="en-US" altLang="zh-CN" sz="1100" dirty="0" err="1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EventBits_t</a:t>
              </a:r>
              <a:r>
                <a:rPr lang="en-US" altLang="zh-CN" sz="11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</a:t>
              </a:r>
              <a:r>
                <a:rPr lang="en-US" altLang="zh-CN" sz="11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xEventGroupWaitBits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       </a:t>
              </a:r>
              <a:r>
                <a:rPr lang="en-US" altLang="zh-CN" sz="11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EventGroupHandle_t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	</a:t>
              </a:r>
              <a:r>
                <a:rPr lang="en-US" altLang="zh-CN" sz="11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xEventGroup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</a:t>
              </a:r>
            </a:p>
            <a:p>
              <a:pPr>
                <a:lnSpc>
                  <a:spcPct val="130000"/>
                </a:lnSpc>
              </a:pP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                             			       const </a:t>
              </a:r>
              <a:r>
                <a:rPr lang="en-US" altLang="zh-CN" sz="11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EventBits_t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	</a:t>
              </a:r>
              <a:r>
                <a:rPr lang="en-US" altLang="zh-CN" sz="11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uxBitsToWaitFor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</a:t>
              </a:r>
            </a:p>
            <a:p>
              <a:pPr>
                <a:lnSpc>
                  <a:spcPct val="130000"/>
                </a:lnSpc>
              </a:pP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                             			       const </a:t>
              </a:r>
              <a:r>
                <a:rPr lang="en-US" altLang="zh-CN" sz="11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BaseType_t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	</a:t>
              </a:r>
              <a:r>
                <a:rPr lang="en-US" altLang="zh-CN" sz="11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xClearOnExit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</a:t>
              </a:r>
            </a:p>
            <a:p>
              <a:pPr>
                <a:lnSpc>
                  <a:spcPct val="130000"/>
                </a:lnSpc>
              </a:pP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                             			       const </a:t>
              </a:r>
              <a:r>
                <a:rPr lang="en-US" altLang="zh-CN" sz="11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BaseType_t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	</a:t>
              </a:r>
              <a:r>
                <a:rPr lang="en-US" altLang="zh-CN" sz="11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xWaitForAllBits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</a:t>
              </a:r>
            </a:p>
            <a:p>
              <a:pPr>
                <a:lnSpc>
                  <a:spcPct val="130000"/>
                </a:lnSpc>
              </a:pP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                             			       </a:t>
              </a:r>
              <a:r>
                <a:rPr lang="en-US" altLang="zh-CN" sz="11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TickType_t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		</a:t>
              </a:r>
              <a:r>
                <a:rPr lang="en-US" altLang="zh-CN" sz="11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xTicksToWait</a:t>
              </a:r>
              <a:r>
                <a:rPr lang="en-US" altLang="zh-CN" sz="11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     )</a:t>
              </a:r>
              <a:endParaRPr lang="zh-CN" altLang="en-US" sz="11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B08BB60E-2C0C-144D-8328-92B61D59E8C2}"/>
                </a:ext>
              </a:extLst>
            </p:cNvPr>
            <p:cNvSpPr/>
            <p:nvPr/>
          </p:nvSpPr>
          <p:spPr>
            <a:xfrm>
              <a:off x="361950" y="517525"/>
              <a:ext cx="8712938" cy="1111250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36592853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5653A-4B76-923E-D329-FBEF6D943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文本框 3">
            <a:extLst>
              <a:ext uri="{FF2B5EF4-FFF2-40B4-BE49-F238E27FC236}">
                <a16:creationId xmlns:a16="http://schemas.microsoft.com/office/drawing/2014/main" id="{A98F3F03-F986-BCD8-8721-8D8C4B3F456B}"/>
              </a:ext>
            </a:extLst>
          </p:cNvPr>
          <p:cNvSpPr txBox="1"/>
          <p:nvPr/>
        </p:nvSpPr>
        <p:spPr>
          <a:xfrm>
            <a:off x="181293" y="169545"/>
            <a:ext cx="11369675" cy="369332"/>
          </a:xfrm>
          <a:prstGeom prst="rect">
            <a:avLst/>
          </a:prstGeom>
          <a:noFill/>
          <a:ln w="9525">
            <a:noFill/>
          </a:ln>
        </p:spPr>
        <p:txBody>
          <a:bodyPr wrap="square" anchor="t" anchorCtr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ea typeface="思源黑体 CN Bold" panose="020B0800000000000000" pitchFamily="34" charset="-122"/>
              </a:rPr>
              <a:t>事件标志组</a:t>
            </a:r>
            <a:endParaRPr lang="zh-CN" alt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8" name="文本框 9">
            <a:extLst>
              <a:ext uri="{FF2B5EF4-FFF2-40B4-BE49-F238E27FC236}">
                <a16:creationId xmlns:a16="http://schemas.microsoft.com/office/drawing/2014/main" id="{F106ABB6-9A54-D7A8-036C-832A5D58EA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019" y="1104027"/>
            <a:ext cx="4619625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en-US" altLang="zh-CN" b="1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      </a:t>
            </a:r>
            <a:r>
              <a:rPr lang="zh-CN" altLang="en-US" dirty="0">
                <a:solidFill>
                  <a:srgbClr val="002060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同步函数</a:t>
            </a:r>
            <a:endParaRPr lang="en-US" altLang="zh-CN" b="1" dirty="0">
              <a:solidFill>
                <a:srgbClr val="002060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graphicFrame>
        <p:nvGraphicFramePr>
          <p:cNvPr id="9" name="表格 6">
            <a:extLst>
              <a:ext uri="{FF2B5EF4-FFF2-40B4-BE49-F238E27FC236}">
                <a16:creationId xmlns:a16="http://schemas.microsoft.com/office/drawing/2014/main" id="{09DD4E25-837E-6EDE-1291-78F72C44A2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1011357"/>
              </p:ext>
            </p:extLst>
          </p:nvPr>
        </p:nvGraphicFramePr>
        <p:xfrm>
          <a:off x="1264831" y="4398090"/>
          <a:ext cx="5065713" cy="7937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76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780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458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返回值</a:t>
                      </a:r>
                    </a:p>
                  </a:txBody>
                  <a:tcPr marL="68585" marR="68585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68585" marR="6858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等待的事件标志位值 </a:t>
                      </a:r>
                      <a:endParaRPr lang="zh-CN" alt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等待事件标志位成功，返回等待到的事件标志位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583">
                <a:tc>
                  <a:txBody>
                    <a:bodyPr/>
                    <a:lstStyle/>
                    <a:p>
                      <a:r>
                        <a:rPr lang="zh-CN" alt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其他值 </a:t>
                      </a:r>
                      <a:endParaRPr lang="zh-CN" alt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等待事件标志位失败，返回事件组中的事件标志位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96092E71-EA37-8961-1C2F-E361A3E01E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2048833"/>
              </p:ext>
            </p:extLst>
          </p:nvPr>
        </p:nvGraphicFramePr>
        <p:xfrm>
          <a:off x="1264831" y="2893140"/>
          <a:ext cx="5065713" cy="13239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24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733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479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形参</a:t>
                      </a:r>
                    </a:p>
                  </a:txBody>
                  <a:tcPr marL="68585" marR="68585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100" dirty="0"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描述</a:t>
                      </a:r>
                    </a:p>
                  </a:txBody>
                  <a:tcPr marL="68585" marR="6858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795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xEventGroup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57" marB="45757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等待事件标志所在事件组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57" marB="45757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795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uxBitsToSet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57" marB="45757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达到同步点后，要设置的事件标志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57" marB="45757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795">
                <a:tc>
                  <a:txBody>
                    <a:bodyPr/>
                    <a:lstStyle/>
                    <a:p>
                      <a:r>
                        <a:rPr lang="en-US" sz="1100" b="0" i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uxBitsToWaitFor </a:t>
                      </a:r>
                      <a:endParaRPr lang="en-US" sz="140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57" marB="45757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等待的事件标志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57" marB="45757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795">
                <a:tc>
                  <a:txBody>
                    <a:bodyPr/>
                    <a:lstStyle/>
                    <a:p>
                      <a:r>
                        <a:rPr lang="en-US" sz="1100" b="0" i="0" dirty="0" err="1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xTicksToWait</a:t>
                      </a:r>
                      <a:r>
                        <a:rPr 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 </a:t>
                      </a:r>
                      <a:endParaRPr 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57" marB="45757" anchor="ctr"/>
                </a:tc>
                <a:tc>
                  <a:txBody>
                    <a:bodyPr/>
                    <a:lstStyle/>
                    <a:p>
                      <a:r>
                        <a:rPr lang="zh-CN" altLang="en-US" sz="1100" b="0" i="0" dirty="0">
                          <a:solidFill>
                            <a:srgbClr val="002060"/>
                          </a:solidFill>
                          <a:effectLst/>
                          <a:latin typeface="思源黑体 CN Normal" panose="020B0400000000000000" pitchFamily="34" charset="-122"/>
                          <a:ea typeface="思源黑体 CN Normal" panose="020B0400000000000000" pitchFamily="34" charset="-122"/>
                        </a:rPr>
                        <a:t>等待的阻塞时间</a:t>
                      </a:r>
                      <a:endParaRPr lang="zh-CN" altLang="en-US" sz="1400" dirty="0">
                        <a:solidFill>
                          <a:srgbClr val="002060"/>
                        </a:solidFill>
                        <a:effectLst/>
                        <a:latin typeface="思源黑体 CN Normal" panose="020B0400000000000000" pitchFamily="34" charset="-122"/>
                        <a:ea typeface="思源黑体 CN Normal" panose="020B0400000000000000" pitchFamily="34" charset="-122"/>
                      </a:endParaRPr>
                    </a:p>
                  </a:txBody>
                  <a:tcPr marT="45757" marB="45757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文本框 9">
            <a:extLst>
              <a:ext uri="{FF2B5EF4-FFF2-40B4-BE49-F238E27FC236}">
                <a16:creationId xmlns:a16="http://schemas.microsoft.com/office/drawing/2014/main" id="{B80E22F7-57F8-5DEB-4FE6-C7E0F1D010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44856" y="3431302"/>
            <a:ext cx="1501775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CN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Task1</a:t>
            </a: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：做饭</a:t>
            </a:r>
          </a:p>
        </p:txBody>
      </p:sp>
      <p:sp>
        <p:nvSpPr>
          <p:cNvPr id="12" name="文本框 12">
            <a:extLst>
              <a:ext uri="{FF2B5EF4-FFF2-40B4-BE49-F238E27FC236}">
                <a16:creationId xmlns:a16="http://schemas.microsoft.com/office/drawing/2014/main" id="{970DD4DE-7712-01E6-B237-39EBDB5D2E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54381" y="3771027"/>
            <a:ext cx="1501775" cy="341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Task2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：做菜</a:t>
            </a:r>
          </a:p>
        </p:txBody>
      </p:sp>
      <p:sp>
        <p:nvSpPr>
          <p:cNvPr id="13" name="文本框 13">
            <a:extLst>
              <a:ext uri="{FF2B5EF4-FFF2-40B4-BE49-F238E27FC236}">
                <a16:creationId xmlns:a16="http://schemas.microsoft.com/office/drawing/2014/main" id="{68C5AA03-41F9-F3B7-43CC-68634BD6B7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54381" y="4144090"/>
            <a:ext cx="3397250" cy="617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CN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Task1</a:t>
            </a:r>
            <a:r>
              <a:rPr lang="zh-CN" altLang="en-US" sz="12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做好自己的事之后，需要等待菜也做好，大家在一起吃饭。</a:t>
            </a:r>
          </a:p>
        </p:txBody>
      </p:sp>
      <p:sp>
        <p:nvSpPr>
          <p:cNvPr id="14" name="文本框 15">
            <a:extLst>
              <a:ext uri="{FF2B5EF4-FFF2-40B4-BE49-F238E27FC236}">
                <a16:creationId xmlns:a16="http://schemas.microsoft.com/office/drawing/2014/main" id="{3B0AD023-4F13-A8E4-FC33-77AE65C38A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44856" y="4829890"/>
            <a:ext cx="1404938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特点：同步！</a:t>
            </a:r>
          </a:p>
        </p:txBody>
      </p:sp>
      <p:sp>
        <p:nvSpPr>
          <p:cNvPr id="15" name="文本框 16">
            <a:extLst>
              <a:ext uri="{FF2B5EF4-FFF2-40B4-BE49-F238E27FC236}">
                <a16:creationId xmlns:a16="http://schemas.microsoft.com/office/drawing/2014/main" id="{13886F3D-4DA5-DD2C-648E-E727B036B0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44856" y="3055065"/>
            <a:ext cx="1047750" cy="341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20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rPr>
              <a:t>例子：</a:t>
            </a:r>
          </a:p>
        </p:txBody>
      </p:sp>
      <p:grpSp>
        <p:nvGrpSpPr>
          <p:cNvPr id="16" name="组合 2">
            <a:extLst>
              <a:ext uri="{FF2B5EF4-FFF2-40B4-BE49-F238E27FC236}">
                <a16:creationId xmlns:a16="http://schemas.microsoft.com/office/drawing/2014/main" id="{595E7CD6-2C6D-B4FD-5612-4CE0B3D857BA}"/>
              </a:ext>
            </a:extLst>
          </p:cNvPr>
          <p:cNvGrpSpPr>
            <a:grpSpLocks/>
          </p:cNvGrpSpPr>
          <p:nvPr/>
        </p:nvGrpSpPr>
        <p:grpSpPr bwMode="auto">
          <a:xfrm>
            <a:off x="1264831" y="1467565"/>
            <a:ext cx="10213016" cy="1674812"/>
            <a:chOff x="552450" y="928688"/>
            <a:chExt cx="6543675" cy="1674812"/>
          </a:xfrm>
        </p:grpSpPr>
        <p:sp>
          <p:nvSpPr>
            <p:cNvPr id="17" name="文本框 6">
              <a:extLst>
                <a:ext uri="{FF2B5EF4-FFF2-40B4-BE49-F238E27FC236}">
                  <a16:creationId xmlns:a16="http://schemas.microsoft.com/office/drawing/2014/main" id="{4878A134-2183-EF09-CA1E-94B63E939E5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52450" y="928688"/>
              <a:ext cx="6543675" cy="16748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en-US" altLang="zh-CN" sz="1400" dirty="0" err="1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EventBits_t</a:t>
              </a:r>
              <a:r>
                <a:rPr lang="en-US" altLang="zh-CN" sz="1400" dirty="0">
                  <a:solidFill>
                    <a:srgbClr val="0000FF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   </a:t>
              </a:r>
              <a:r>
                <a:rPr lang="en-US" altLang="zh-CN" sz="14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xEventGroupSync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(   </a:t>
              </a:r>
              <a:r>
                <a:rPr lang="en-US" altLang="zh-CN" sz="14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EventGroupHandle_t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	</a:t>
              </a:r>
              <a:r>
                <a:rPr lang="en-US" altLang="zh-CN" sz="14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xEventGroup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</a:t>
              </a:r>
              <a:b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			const </a:t>
              </a:r>
              <a:r>
                <a:rPr lang="en-US" altLang="zh-CN" sz="14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EventBits_t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	</a:t>
              </a:r>
              <a:r>
                <a:rPr lang="en-US" altLang="zh-CN" sz="14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uxBitsToSet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</a:t>
              </a:r>
              <a:b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			const </a:t>
              </a:r>
              <a:r>
                <a:rPr lang="en-US" altLang="zh-CN" sz="14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EventBits_t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	</a:t>
              </a:r>
              <a:r>
                <a:rPr lang="en-US" altLang="zh-CN" sz="14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uxBitsToWaitFor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,</a:t>
              </a:r>
              <a:b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						</a:t>
              </a:r>
              <a:r>
                <a:rPr lang="en-US" altLang="zh-CN" sz="1400" dirty="0" err="1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TickType_t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 		</a:t>
              </a:r>
              <a:r>
                <a:rPr lang="en-US" altLang="zh-CN" sz="1400" dirty="0" err="1">
                  <a:solidFill>
                    <a:srgbClr val="C0000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xTicksToWait</a:t>
              </a:r>
              <a: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  <a:t>) </a:t>
              </a:r>
              <a:br>
                <a:rPr lang="en-US" altLang="zh-CN" sz="1400" dirty="0">
                  <a:solidFill>
                    <a:srgbClr val="002060"/>
                  </a:solidFill>
                  <a:latin typeface="思源黑体 CN Normal" panose="020B0400000000000000" pitchFamily="34" charset="-122"/>
                  <a:ea typeface="思源黑体 CN Normal" panose="020B0400000000000000" pitchFamily="34" charset="-122"/>
                </a:rPr>
              </a:br>
              <a:endParaRPr lang="zh-CN" altLang="en-US" sz="1400" dirty="0">
                <a:solidFill>
                  <a:srgbClr val="002060"/>
                </a:solidFill>
                <a:latin typeface="思源黑体 CN Normal" panose="020B0400000000000000" pitchFamily="34" charset="-122"/>
                <a:ea typeface="思源黑体 CN Normal" panose="020B0400000000000000" pitchFamily="34" charset="-122"/>
              </a:endParaRPr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300A9725-C1F5-1CA2-AF2C-A9780434DBFA}"/>
                </a:ext>
              </a:extLst>
            </p:cNvPr>
            <p:cNvSpPr/>
            <p:nvPr/>
          </p:nvSpPr>
          <p:spPr>
            <a:xfrm>
              <a:off x="552450" y="995363"/>
              <a:ext cx="6327775" cy="1323975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15113928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/>
      <p:bldP spid="15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3*i*1"/>
  <p:tag name="KSO_WM_UNIT_LAYERLEVEL" val="1"/>
  <p:tag name="KSO_WM_TAG_VERSION" val="3.0"/>
  <p:tag name="KSO_WM_UNIT_TYPE" val="i"/>
  <p:tag name="KSO_WM_UNIT_INDEX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3*i*2"/>
  <p:tag name="KSO_WM_UNIT_LAYERLEVEL" val="1"/>
  <p:tag name="KSO_WM_TAG_VERSION" val="3.0"/>
  <p:tag name="KSO_WM_UNIT_TYPE" val="i"/>
  <p:tag name="KSO_WM_UNIT_INDEX" val="2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a*1"/>
  <p:tag name="KSO_WM_UNIT_LAYERLEVEL" val="1"/>
  <p:tag name="KSO_WM_TAG_VERSION" val="1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  <p:tag name="KSO_WM_TEMPLATE_CATEGORY" val="custom"/>
  <p:tag name="KSO_WM_TEMPLATE_INDEX" val="20230980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f*1"/>
  <p:tag name="KSO_WM_UNIT_LAYERLEVEL" val="1"/>
  <p:tag name="KSO_WM_TAG_VERSION" val="1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40"/>
  <p:tag name="KSO_WM_UNIT_TYPE" val="f"/>
  <p:tag name="KSO_WM_UNIT_INDEX" val="1"/>
  <p:tag name="KSO_WM_TEMPLATE_CATEGORY" val="custom"/>
  <p:tag name="KSO_WM_TEMPLATE_INDEX" val="20230980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SUBCATEGORY" val="29"/>
  <p:tag name="KSO_WM_TEMPLATE_MASTER_TYPE" val="0"/>
  <p:tag name="KSO_WM_TEMPLATE_COLOR_TYPE" val="0"/>
  <p:tag name="KSO_WM_TAG_VERSION" val="3.0"/>
  <p:tag name="KSO_WM_BEAUTIFY_FLAG" val="#wm#"/>
  <p:tag name="KSO_WM_TEMPLATE_CATEGORY" val="custom"/>
  <p:tag name="KSO_WM_TEMPLATE_INDEX" val="20230980"/>
  <p:tag name="KSO_WM_TEMPLATE_THUMBS_INDEX" val="1、9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*i*2"/>
  <p:tag name="KSO_WM_UNIT_LAYERLEVEL" val="1"/>
  <p:tag name="KSO_WM_TAG_VERSION" val="3.0"/>
  <p:tag name="KSO_WM_UNIT_TYPE" val="i"/>
  <p:tag name="KSO_WM_UNIT_INDEX" val="2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TYPE" val="a"/>
  <p:tag name="KSO_WM_UNIT_INDEX" val="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f*4"/>
  <p:tag name="KSO_WM_UNIT_LAYERLEVEL" val="1"/>
  <p:tag name="KSO_WM_TAG_VERSION" val="3.0"/>
  <p:tag name="KSO_WM_BEAUTIFY_FLAG" val="#wm#"/>
  <p:tag name="KSO_WM_UNIT_SUBTYPE" val="b"/>
  <p:tag name="KSO_WM_UNIT_PRESET_TEXT" val="署名占位符"/>
  <p:tag name="KSO_WM_UNIT_NOCLEAR" val="0"/>
  <p:tag name="KSO_WM_UNIT_VALUE" val="8"/>
  <p:tag name="KSO_WM_UNIT_TYPE" val="f"/>
  <p:tag name="KSO_WM_UNIT_INDEX" val="4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TYPE" val="f"/>
  <p:tag name="KSO_WM_UNIT_INDEX" val="1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TYPE" val="a"/>
  <p:tag name="KSO_WM_UNIT_INDEX" val="1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3*i*1"/>
  <p:tag name="KSO_WM_UNIT_LAYERLEVEL" val="1"/>
  <p:tag name="KSO_WM_TAG_VERSION" val="3.0"/>
  <p:tag name="KSO_WM_UNIT_TYPE" val="i"/>
  <p:tag name="KSO_WM_UNIT_INDEX" val="1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a*1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TYPE" val="a"/>
  <p:tag name="KSO_WM_UNIT_INDEX" val="1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3*i*2"/>
  <p:tag name="KSO_WM_UNIT_LAYERLEVEL" val="1"/>
  <p:tag name="KSO_WM_TAG_VERSION" val="3.0"/>
  <p:tag name="KSO_WM_UNIT_TYPE" val="i"/>
  <p:tag name="KSO_WM_UNIT_INDEX" val="2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4*i*1"/>
  <p:tag name="KSO_WM_UNIT_LAYERLEVEL" val="1"/>
  <p:tag name="KSO_WM_TAG_VERSION" val="3.0"/>
  <p:tag name="KSO_WM_UNIT_TYPE" val="i"/>
  <p:tag name="KSO_WM_UNIT_INDEX" val="1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4*i*1"/>
  <p:tag name="KSO_WM_UNIT_LAYERLEVEL" val="1"/>
  <p:tag name="KSO_WM_TAG_VERSION" val="3.0"/>
  <p:tag name="KSO_WM_UNIT_TYPE" val="i"/>
  <p:tag name="KSO_WM_UNIT_INDEX" val="1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14"/>
  <p:tag name="KSO_WM_UNIT_TYPE" val="a"/>
  <p:tag name="KSO_WM_UNIT_INDEX" val="1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1"/>
  <p:tag name="KSO_WM_UNIT_DIAGRAM_ISNUMVISUAL" val="0"/>
  <p:tag name="KSO_WM_UNIT_DIAGRAM_ISREFERUNIT" val="0"/>
  <p:tag name="KSO_WM_UNIT_ID" val="_4*e*1"/>
  <p:tag name="KSO_WM_UNIT_LAYERLEVEL" val="1"/>
  <p:tag name="KSO_WM_TAG_VERSION" val="3.0"/>
  <p:tag name="KSO_WM_BEAUTIFY_FLAG" val="#wm#"/>
  <p:tag name="KSO_WM_UNIT_PRESET_TEXT" val="节编号"/>
  <p:tag name="KSO_WM_UNIT_NOCLEAR" val="0"/>
  <p:tag name="KSO_WM_UNIT_VALUE" val="13"/>
  <p:tag name="KSO_WM_UNIT_TYPE" val="e"/>
  <p:tag name="KSO_WM_UNIT_INDEX" val="1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160"/>
  <p:tag name="KSO_WM_UNIT_TYPE" val="f"/>
  <p:tag name="KSO_WM_UNIT_INDEX" val="1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f*2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160"/>
  <p:tag name="KSO_WM_UNIT_TYPE" val="f"/>
  <p:tag name="KSO_WM_UNIT_INDEX" val="2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a*1_1"/>
  <p:tag name="KSO_WM_UNIT_LAYERLEVEL" val="1_1"/>
  <p:tag name="KSO_WM_TAG_VERSION" val="3.0"/>
  <p:tag name="KSO_WM_BEAUTIFY_FLAG" val="#wm#"/>
  <p:tag name="KSO_WM_UNIT_PRESET_TEXT" val="单击此处编辑母版文本样式"/>
  <p:tag name="KSO_WM_UNIT_NOCLEAR" val="0"/>
  <p:tag name="KSO_WM_UNIT_TYPE" val="h_a"/>
  <p:tag name="KSO_WM_UNIT_INDEX" val="1_1"/>
  <p:tag name="KSO_WM_UNIT_ISCONTENTSTITLE" val="0"/>
  <p:tag name="KSO_WM_UNIT_ISNUMDGMTITLE" val="0"/>
  <p:tag name="KSO_WM_UNIT_VALUE" val="19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f*1_1"/>
  <p:tag name="KSO_WM_UNIT_LAYERLEVEL" val="1_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TYPE" val="h_f"/>
  <p:tag name="KSO_WM_UNIT_INDEX" val="1_1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a*2_1"/>
  <p:tag name="KSO_WM_UNIT_LAYERLEVEL" val="1_1"/>
  <p:tag name="KSO_WM_TAG_VERSION" val="3.0"/>
  <p:tag name="KSO_WM_BEAUTIFY_FLAG" val="#wm#"/>
  <p:tag name="KSO_WM_UNIT_PRESET_TEXT" val="单击此处编辑母版文本样式"/>
  <p:tag name="KSO_WM_UNIT_NOCLEAR" val="0"/>
  <p:tag name="KSO_WM_UNIT_TYPE" val="h_a"/>
  <p:tag name="KSO_WM_UNIT_INDEX" val="2_1"/>
  <p:tag name="KSO_WM_UNIT_ISCONTENTSTITLE" val="0"/>
  <p:tag name="KSO_WM_UNIT_ISNUMDGMTITLE" val="0"/>
  <p:tag name="KSO_WM_UNIT_VALUE" val="19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h_f*2_1"/>
  <p:tag name="KSO_WM_UNIT_LAYERLEVEL" val="1_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TYPE" val="h_f"/>
  <p:tag name="KSO_WM_UNIT_INDEX" val="2_1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TYPE" val="a"/>
  <p:tag name="KSO_WM_UNIT_INDEX" val="1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f*1"/>
  <p:tag name="KSO_WM_UNIT_LAYERLEVEL" val="1"/>
  <p:tag name="KSO_WM_TAG_VERSION" val="3.0"/>
  <p:tag name="KSO_WM_BEAUTIFY_FLAG" val="#wm#"/>
  <p:tag name="KSO_WM_UNIT_SUBTYPE" val="a"/>
  <p:tag name="KSO_WM_UNIT_PRESET_TEXT" val="单击此处编辑母版文本样式&#10;二级&#10;三级&#10;四级&#10;五级"/>
  <p:tag name="KSO_WM_UNIT_NOCLEAR" val="0"/>
  <p:tag name="KSO_WM_UNIT_VALUE" val="396"/>
  <p:tag name="KSO_WM_UNIT_TYPE" val="f"/>
  <p:tag name="KSO_WM_UNIT_INDEX" val="1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b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副标题样式"/>
  <p:tag name="KSO_WM_UNIT_NOCLEAR" val="0"/>
  <p:tag name="KSO_WM_UNIT_VALUE" val="40"/>
  <p:tag name="KSO_WM_UNIT_TYPE" val="b"/>
  <p:tag name="KSO_WM_UNIT_INDEX" val="1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TYPE" val="a"/>
  <p:tag name="KSO_WM_UNIT_INDEX" val="1"/>
  <p:tag name="KSO_WM_UNIT_VALUE" val="29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i*2"/>
  <p:tag name="KSO_WM_UNIT_LAYERLEVEL" val="1"/>
  <p:tag name="KSO_WM_TAG_VERSION" val="3.0"/>
  <p:tag name="KSO_WM_BEAUTIFY_FLAG" val="#wm#"/>
  <p:tag name="KSO_WM_UNIT_TYPE" val="i"/>
  <p:tag name="KSO_WM_UNIT_INDEX" val="2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11*i*2"/>
  <p:tag name="KSO_WM_UNIT_LAYERLEVEL" val="1"/>
  <p:tag name="KSO_WM_TAG_VERSION" val="3.0"/>
  <p:tag name="KSO_WM_UNIT_TYPE" val="i"/>
  <p:tag name="KSO_WM_UNIT_INDEX" val="2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TYPE" val="a"/>
  <p:tag name="KSO_WM_UNIT_INDEX" val="1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  <p:tag name="KSO_WM_UNIT_NOCLEAR" val="0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f*5"/>
  <p:tag name="KSO_WM_UNIT_LAYERLEVEL" val="1"/>
  <p:tag name="KSO_WM_TAG_VERSION" val="3.0"/>
  <p:tag name="KSO_WM_BEAUTIFY_FLAG" val="#wm#"/>
  <p:tag name="KSO_WM_UNIT_SUBTYPE" val="b"/>
  <p:tag name="KSO_WM_UNIT_PRESET_TEXT" val="署名占位符"/>
  <p:tag name="KSO_WM_UNIT_NOCLEAR" val="0"/>
  <p:tag name="KSO_WM_UNIT_VALUE" val="8"/>
  <p:tag name="KSO_WM_UNIT_TYPE" val="f"/>
  <p:tag name="KSO_WM_UNIT_INDEX" val="5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30980_4"/>
  <p:tag name="KSO_WM_TEMPLATE_SUBCATEGORY" val="29"/>
  <p:tag name="KSO_WM_TEMPLATE_MASTER_TYPE" val="0"/>
  <p:tag name="KSO_WM_TEMPLATE_COLOR_TYPE" val="0"/>
  <p:tag name="KSO_WM_SLIDE_ITEM_CNT" val="4"/>
  <p:tag name="KSO_WM_SLIDE_INDEX" val="4"/>
  <p:tag name="KSO_WM_TAG_VERSION" val="3.0"/>
  <p:tag name="KSO_WM_BEAUTIFY_FLAG" val="#wm#"/>
  <p:tag name="KSO_WM_TEMPLATE_CATEGORY" val="custom"/>
  <p:tag name="KSO_WM_TEMPLATE_INDEX" val="20230980"/>
  <p:tag name="KSO_WM_SLIDE_LAYOUT" val="a_l"/>
  <p:tag name="KSO_WM_SLIDE_LAYOUT_CNT" val="1_1"/>
  <p:tag name="KSO_WM_SLIDE_TYPE" val="contents"/>
  <p:tag name="KSO_WM_SLIDE_SUBTYPE" val="diag"/>
  <p:tag name="KSO_WM_DIAGRAM_GROUP_CODE" val="l1-1"/>
  <p:tag name="KSO_WM_SLIDE_DIAGTYPE" val="l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0980_4*a*1"/>
  <p:tag name="KSO_WM_TEMPLATE_CATEGORY" val="custom"/>
  <p:tag name="KSO_WM_TEMPLATE_INDEX" val="20230980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NOCLEAR" val="0"/>
  <p:tag name="KSO_WM_UNIT_VALUE" val="3"/>
  <p:tag name="KSO_WM_UNIT_TYPE" val="a"/>
  <p:tag name="KSO_WM_UNIT_INDEX" val="1"/>
  <p:tag name="KSO_WM_DIAGRAM_GROUP_CODE" val="l1-1"/>
  <p:tag name="KSO_WM_UNIT_TEXT_FILL_FORE_SCHEMECOLOR_INDEX" val="5"/>
  <p:tag name="KSO_WM_UNIT_TEXT_FILL_TYPE" val="1"/>
  <p:tag name="KSO_WM_UNIT_USESOURCEFORMAT_APPLY" val="1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1_1"/>
  <p:tag name="KSO_WM_UNIT_ID" val="custom20230980_4*l_h_i*1_1_1"/>
  <p:tag name="KSO_WM_TEMPLATE_CATEGORY" val="custom"/>
  <p:tag name="KSO_WM_TEMPLATE_INDEX" val="20230980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2.0862992125984,&quot;top&quot;:136.7815354330709,&quot;width&quot;:463.0337007874016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400000005960464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5"/>
  <p:tag name="KSO_WM_UNIT_TEXT_FILL_TYPE" val="1"/>
  <p:tag name="KSO_WM_UNIT_USESOURCEFORMAT_APPLY" val="1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1_1"/>
  <p:tag name="KSO_WM_UNIT_ID" val="custom20230980_4*l_h_a*1_1_1"/>
  <p:tag name="KSO_WM_TEMPLATE_CATEGORY" val="custom"/>
  <p:tag name="KSO_WM_TEMPLATE_INDEX" val="20230980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2.0862992125984,&quot;top&quot;:136.7815354330709,&quot;width&quot;:463.0337007874016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添加目录项标题"/>
  <p:tag name="KSO_WM_UNIT_TEXT_TYPE" val="1"/>
  <p:tag name="KSO_WM_UNIT_TEXT_FILL_FORE_SCHEMECOLOR_INDEX" val="5"/>
  <p:tag name="KSO_WM_UNIT_TEXT_FILL_TYPE" val="1"/>
  <p:tag name="KSO_WM_UNIT_USESOURCEFORMAT_APPLY" val="1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2_1"/>
  <p:tag name="KSO_WM_UNIT_ID" val="custom20230980_4*l_h_i*1_2_1"/>
  <p:tag name="KSO_WM_TEMPLATE_CATEGORY" val="custom"/>
  <p:tag name="KSO_WM_TEMPLATE_INDEX" val="20230980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2.0862992125984,&quot;top&quot;:136.7815354330709,&quot;width&quot;:463.0337007874016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400000005960464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5"/>
  <p:tag name="KSO_WM_UNIT_TEXT_FILL_TYPE" val="1"/>
  <p:tag name="KSO_WM_UNIT_USESOURCEFORMAT_APPLY" val="1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2_1"/>
  <p:tag name="KSO_WM_UNIT_ID" val="custom20230980_4*l_h_a*1_2_1"/>
  <p:tag name="KSO_WM_TEMPLATE_CATEGORY" val="custom"/>
  <p:tag name="KSO_WM_TEMPLATE_INDEX" val="20230980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2.0862992125984,&quot;top&quot;:136.7815354330709,&quot;width&quot;:463.0337007874016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添加目录项标题"/>
  <p:tag name="KSO_WM_UNIT_TEXT_TYPE" val="1"/>
  <p:tag name="KSO_WM_UNIT_TEXT_FILL_FORE_SCHEMECOLOR_INDEX" val="5"/>
  <p:tag name="KSO_WM_UNIT_TEXT_FILL_TYPE" val="1"/>
  <p:tag name="KSO_WM_UNIT_USESOURCEFORMAT_APPLY" val="1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3_1"/>
  <p:tag name="KSO_WM_UNIT_ID" val="custom20230980_4*l_h_i*1_3_1"/>
  <p:tag name="KSO_WM_TEMPLATE_CATEGORY" val="custom"/>
  <p:tag name="KSO_WM_TEMPLATE_INDEX" val="20230980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2.0862992125984,&quot;top&quot;:136.7815354330709,&quot;width&quot;:463.0337007874016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400000005960464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5"/>
  <p:tag name="KSO_WM_UNIT_TEXT_FILL_TYPE" val="1"/>
  <p:tag name="KSO_WM_UNIT_USESOURCEFORMAT_APPLY" val="1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3_1"/>
  <p:tag name="KSO_WM_UNIT_ID" val="custom20230980_4*l_h_a*1_3_1"/>
  <p:tag name="KSO_WM_TEMPLATE_CATEGORY" val="custom"/>
  <p:tag name="KSO_WM_TEMPLATE_INDEX" val="20230980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2.0862992125984,&quot;top&quot;:136.7815354330709,&quot;width&quot;:463.0337007874016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添加目录项标题"/>
  <p:tag name="KSO_WM_UNIT_TEXT_TYPE" val="1"/>
  <p:tag name="KSO_WM_UNIT_TEXT_FILL_FORE_SCHEMECOLOR_INDEX" val="5"/>
  <p:tag name="KSO_WM_UNIT_TEXT_FILL_TYPE" val="1"/>
  <p:tag name="KSO_WM_UNIT_USESOURCEFORMAT_APPLY" val="1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4_1"/>
  <p:tag name="KSO_WM_UNIT_ID" val="custom20230980_4*l_h_i*1_4_1"/>
  <p:tag name="KSO_WM_TEMPLATE_CATEGORY" val="custom"/>
  <p:tag name="KSO_WM_TEMPLATE_INDEX" val="20230980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2.0862992125984,&quot;top&quot;:136.7815354330709,&quot;width&quot;:463.0337007874016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400000005960464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5"/>
  <p:tag name="KSO_WM_UNIT_TEXT_FILL_TYPE" val="1"/>
  <p:tag name="KSO_WM_UNIT_USESOURCEFORMAT_APPLY" val="1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4_1"/>
  <p:tag name="KSO_WM_UNIT_ID" val="custom20230980_4*l_h_a*1_4_1"/>
  <p:tag name="KSO_WM_TEMPLATE_CATEGORY" val="custom"/>
  <p:tag name="KSO_WM_TEMPLATE_INDEX" val="20230980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2.0862992125984,&quot;top&quot;:136.7815354330709,&quot;width&quot;:463.03370078740164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添加目录项标题"/>
  <p:tag name="KSO_WM_UNIT_TEXT_TYPE" val="1"/>
  <p:tag name="KSO_WM_UNIT_TEXT_FILL_FORE_SCHEMECOLOR_INDEX" val="5"/>
  <p:tag name="KSO_WM_UNIT_TEXT_FILL_TYPE" val="1"/>
  <p:tag name="KSO_WM_UNIT_USESOURCEFORMAT_APPLY" val="1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4_1"/>
  <p:tag name="KSO_WM_UNIT_ID" val="custom20230980_4*l_h_i*1_4_1"/>
  <p:tag name="KSO_WM_TEMPLATE_CATEGORY" val="custom"/>
  <p:tag name="KSO_WM_TEMPLATE_INDEX" val="20230980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3.28629921259846,&quot;top&quot;:136.7815354330709,&quot;width&quot;:461.8337007874016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400000005960464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5"/>
  <p:tag name="KSO_WM_UNIT_TEXT_FILL_TYPE" val="1"/>
  <p:tag name="KSO_WM_UNIT_USESOURCEFORMAT_APPLY" val="1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4_1"/>
  <p:tag name="KSO_WM_UNIT_ID" val="custom20230980_4*l_h_a*1_4_1"/>
  <p:tag name="KSO_WM_TEMPLATE_CATEGORY" val="custom"/>
  <p:tag name="KSO_WM_TEMPLATE_INDEX" val="20230980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3.28629921259846,&quot;top&quot;:136.7815354330709,&quot;width&quot;:461.8337007874016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添加目录项标题"/>
  <p:tag name="KSO_WM_UNIT_TEXT_TYPE" val="1"/>
  <p:tag name="KSO_WM_UNIT_TEXT_FILL_FORE_SCHEMECOLOR_INDEX" val="5"/>
  <p:tag name="KSO_WM_UNIT_TEXT_FILL_TYPE" val="1"/>
  <p:tag name="KSO_WM_UNIT_USESOURCEFORMAT_APPLY" val="1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4_1"/>
  <p:tag name="KSO_WM_UNIT_ID" val="custom20230980_4*l_h_i*1_4_1"/>
  <p:tag name="KSO_WM_TEMPLATE_CATEGORY" val="custom"/>
  <p:tag name="KSO_WM_TEMPLATE_INDEX" val="20230980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3.28629921259846,&quot;top&quot;:136.7815354330709,&quot;width&quot;:461.8337007874016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400000005960464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5"/>
  <p:tag name="KSO_WM_UNIT_TEXT_FILL_TYPE" val="1"/>
  <p:tag name="KSO_WM_UNIT_USESOURCEFORMAT_APPLY" val="1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4_1"/>
  <p:tag name="KSO_WM_UNIT_ID" val="custom20230980_4*l_h_i*1_4_1"/>
  <p:tag name="KSO_WM_TEMPLATE_CATEGORY" val="custom"/>
  <p:tag name="KSO_WM_TEMPLATE_INDEX" val="20230980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3.28629921259846,&quot;top&quot;:136.7815354330709,&quot;width&quot;:461.8337007874016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400000005960464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5"/>
  <p:tag name="KSO_WM_UNIT_TEXT_FILL_TYPE" val="1"/>
  <p:tag name="KSO_WM_UNIT_USESOURCEFORMAT_APPLY" val="1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4_1"/>
  <p:tag name="KSO_WM_UNIT_ID" val="custom20230980_4*l_h_a*1_4_1"/>
  <p:tag name="KSO_WM_TEMPLATE_CATEGORY" val="custom"/>
  <p:tag name="KSO_WM_TEMPLATE_INDEX" val="20230980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3.28629921259846,&quot;top&quot;:136.7815354330709,&quot;width&quot;:461.8337007874016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添加目录项标题"/>
  <p:tag name="KSO_WM_UNIT_TEXT_TYPE" val="1"/>
  <p:tag name="KSO_WM_UNIT_TEXT_FILL_FORE_SCHEMECOLOR_INDEX" val="5"/>
  <p:tag name="KSO_WM_UNIT_TEXT_FILL_TYPE" val="1"/>
  <p:tag name="KSO_WM_UNIT_USESOURCEFORMAT_APPLY" val="1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SUBTYPE" val="d"/>
  <p:tag name="KSO_WM_UNIT_TYPE" val="l_h_i"/>
  <p:tag name="KSO_WM_UNIT_INDEX" val="1_4_1"/>
  <p:tag name="KSO_WM_UNIT_ID" val="custom20230980_4*l_h_i*1_4_1"/>
  <p:tag name="KSO_WM_TEMPLATE_CATEGORY" val="custom"/>
  <p:tag name="KSO_WM_TEMPLATE_INDEX" val="20230980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3.28629921259846,&quot;top&quot;:136.7815354330709,&quot;width&quot;:461.8337007874016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.4000000059604645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TEXT_FILL_FORE_SCHEMECOLOR_INDEX" val="5"/>
  <p:tag name="KSO_WM_UNIT_TEXT_FILL_TYPE" val="1"/>
  <p:tag name="KSO_WM_UNIT_USESOURCEFORMAT_APPLY" val="1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VALUE" val="10"/>
  <p:tag name="KSO_WM_UNIT_HIGHLIGHT" val="0"/>
  <p:tag name="KSO_WM_UNIT_COMPATIBLE" val="0"/>
  <p:tag name="KSO_WM_UNIT_DIAGRAM_ISNUMVISUAL" val="0"/>
  <p:tag name="KSO_WM_UNIT_DIAGRAM_ISREFERUNIT" val="0"/>
  <p:tag name="KSO_WM_UNIT_TYPE" val="l_h_a"/>
  <p:tag name="KSO_WM_UNIT_INDEX" val="1_4_1"/>
  <p:tag name="KSO_WM_UNIT_ID" val="custom20230980_4*l_h_a*1_4_1"/>
  <p:tag name="KSO_WM_TEMPLATE_CATEGORY" val="custom"/>
  <p:tag name="KSO_WM_TEMPLATE_INDEX" val="20230980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DIAGRAM_GROUP_CODE" val="l1-1"/>
  <p:tag name="KSO_WM_DIAGRAM_MAX_ITEMCNT" val="6"/>
  <p:tag name="KSO_WM_DIAGRAM_MIN_ITEMCNT" val="2"/>
  <p:tag name="KSO_WM_DIAGRAM_VIRTUALLY_FRAME" val="{&quot;height&quot;:380.5,&quot;left&quot;:443.28629921259846,&quot;top&quot;:136.7815354330709,&quot;width&quot;:461.8337007874016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  <p:tag name="KSO_WM_UNIT_PRESET_TEXT" val="添加目录项标题"/>
  <p:tag name="KSO_WM_UNIT_TEXT_TYPE" val="1"/>
  <p:tag name="KSO_WM_UNIT_TEXT_FILL_FORE_SCHEMECOLOR_INDEX" val="5"/>
  <p:tag name="KSO_WM_UNIT_TEXT_FILL_TYPE" val="1"/>
  <p:tag name="KSO_WM_UNIT_USESOURCEFORMAT_APPLY" val="1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30980_4"/>
  <p:tag name="KSO_WM_TEMPLATE_SUBCATEGORY" val="29"/>
  <p:tag name="KSO_WM_TEMPLATE_MASTER_TYPE" val="0"/>
  <p:tag name="KSO_WM_TEMPLATE_COLOR_TYPE" val="0"/>
  <p:tag name="KSO_WM_SLIDE_ITEM_CNT" val="4"/>
  <p:tag name="KSO_WM_SLIDE_INDEX" val="4"/>
  <p:tag name="KSO_WM_TAG_VERSION" val="3.0"/>
  <p:tag name="KSO_WM_BEAUTIFY_FLAG" val="#wm#"/>
  <p:tag name="KSO_WM_TEMPLATE_CATEGORY" val="custom"/>
  <p:tag name="KSO_WM_TEMPLATE_INDEX" val="20230980"/>
  <p:tag name="KSO_WM_SLIDE_LAYOUT" val="a_l"/>
  <p:tag name="KSO_WM_SLIDE_LAYOUT_CNT" val="1_1"/>
  <p:tag name="KSO_WM_SLIDE_TYPE" val="contents"/>
  <p:tag name="KSO_WM_SLIDE_SUBTYPE" val="diag"/>
  <p:tag name="KSO_WM_DIAGRAM_GROUP_CODE" val="l1-1"/>
  <p:tag name="KSO_WM_SLIDE_DIAGTYPE" val="l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0980_4*a*1"/>
  <p:tag name="KSO_WM_TEMPLATE_CATEGORY" val="custom"/>
  <p:tag name="KSO_WM_TEMPLATE_INDEX" val="20230980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NOCLEAR" val="0"/>
  <p:tag name="KSO_WM_UNIT_VALUE" val="3"/>
  <p:tag name="KSO_WM_UNIT_TYPE" val="a"/>
  <p:tag name="KSO_WM_UNIT_INDEX" val="1"/>
  <p:tag name="KSO_WM_DIAGRAM_GROUP_CODE" val="l1-1"/>
  <p:tag name="KSO_WM_UNIT_TEXT_FILL_FORE_SCHEMECOLOR_INDEX" val="5"/>
  <p:tag name="KSO_WM_UNIT_TEXT_FILL_TYPE" val="1"/>
  <p:tag name="KSO_WM_UNIT_USESOURCEFORMAT_APPLY" val="1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30980_4"/>
  <p:tag name="KSO_WM_TEMPLATE_SUBCATEGORY" val="29"/>
  <p:tag name="KSO_WM_TEMPLATE_MASTER_TYPE" val="0"/>
  <p:tag name="KSO_WM_TEMPLATE_COLOR_TYPE" val="0"/>
  <p:tag name="KSO_WM_SLIDE_ITEM_CNT" val="4"/>
  <p:tag name="KSO_WM_SLIDE_INDEX" val="4"/>
  <p:tag name="KSO_WM_TAG_VERSION" val="3.0"/>
  <p:tag name="KSO_WM_BEAUTIFY_FLAG" val="#wm#"/>
  <p:tag name="KSO_WM_TEMPLATE_CATEGORY" val="custom"/>
  <p:tag name="KSO_WM_TEMPLATE_INDEX" val="20230980"/>
  <p:tag name="KSO_WM_SLIDE_LAYOUT" val="a_l"/>
  <p:tag name="KSO_WM_SLIDE_LAYOUT_CNT" val="1_1"/>
  <p:tag name="KSO_WM_SLIDE_TYPE" val="contents"/>
  <p:tag name="KSO_WM_SLIDE_SUBTYPE" val="diag"/>
  <p:tag name="KSO_WM_DIAGRAM_GROUP_CODE" val="l1-1"/>
  <p:tag name="KSO_WM_SLIDE_DIAGTYPE" val="l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0980_4*a*1"/>
  <p:tag name="KSO_WM_TEMPLATE_CATEGORY" val="custom"/>
  <p:tag name="KSO_WM_TEMPLATE_INDEX" val="20230980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NOCLEAR" val="0"/>
  <p:tag name="KSO_WM_UNIT_VALUE" val="3"/>
  <p:tag name="KSO_WM_UNIT_TYPE" val="a"/>
  <p:tag name="KSO_WM_UNIT_INDEX" val="1"/>
  <p:tag name="KSO_WM_DIAGRAM_GROUP_CODE" val="l1-1"/>
  <p:tag name="KSO_WM_UNIT_TEXT_FILL_FORE_SCHEMECOLOR_INDEX" val="5"/>
  <p:tag name="KSO_WM_UNIT_TEXT_FILL_TYPE" val="1"/>
  <p:tag name="KSO_WM_UNIT_USESOURCEFORMAT_APPLY" val="1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1.0250393700788,&quot;left&quot;:130.25,&quot;top&quot;:194.5,&quot;width&quot;:683.1250393700788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1.0250393700788,&quot;left&quot;:130.25,&quot;top&quot;:194.5,&quot;width&quot;:683.1250393700788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1.0250393700788,&quot;left&quot;:130.25,&quot;top&quot;:194.5,&quot;width&quot;:683.1250393700788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1.0250393700788,&quot;left&quot;:130.25,&quot;top&quot;:194.5,&quot;width&quot;:683.1250393700788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1.0250393700788,&quot;left&quot;:130.25,&quot;top&quot;:194.5,&quot;width&quot;:683.1250393700788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1.0250393700788,&quot;left&quot;:130.25,&quot;top&quot;:194.5,&quot;width&quot;:683.1250393700788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1.0250393700788,&quot;left&quot;:130.25,&quot;top&quot;:194.5,&quot;width&quot;:683.1250393700788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1.0250393700788,&quot;left&quot;:130.25,&quot;top&quot;:194.5,&quot;width&quot;:683.1250393700788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1.0250393700788,&quot;left&quot;:130.25,&quot;top&quot;:194.5,&quot;width&quot;:683.1250393700788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1.0250393700788,&quot;left&quot;:130.25,&quot;top&quot;:194.5,&quot;width&quot;:683.1250393700788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79.37496062992128,&quot;left&quot;:41.25,&quot;top&quot;:163.37503937007872,&quot;width&quot;:660.75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79.37496062992128,&quot;left&quot;:41.25,&quot;top&quot;:163.37503937007872,&quot;width&quot;:660.75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79.37496062992128,&quot;left&quot;:41.25,&quot;top&quot;:163.37503937007872,&quot;width&quot;:660.75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79.37496062992128,&quot;left&quot;:41.25,&quot;top&quot;:163.37503937007872,&quot;width&quot;:660.75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79.37496062992128,&quot;left&quot;:41.25,&quot;top&quot;:163.37503937007872,&quot;width&quot;:660.75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179.37496062992128,&quot;left&quot;:41.25,&quot;top&quot;:163.37503937007872,&quot;width&quot;:660.75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425,&quot;left&quot;:49.375,&quot;top&quot;:148.375,&quot;width&quot;:707.6256437367183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425,&quot;left&quot;:49.375,&quot;top&quot;:148.375,&quot;width&quot;:707.6256437367183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425,&quot;left&quot;:49.375,&quot;top&quot;:148.375,&quot;width&quot;:707.6256437367183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425,&quot;left&quot;:49.375,&quot;top&quot;:148.375,&quot;width&quot;:707.6256437367183}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425,&quot;left&quot;:49.375,&quot;top&quot;:148.375,&quot;width&quot;:707.6256437367183}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53.425,&quot;left&quot;:49.375,&quot;top&quot;:148.375,&quot;width&quot;:707.6256437367183}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30980_4"/>
  <p:tag name="KSO_WM_TEMPLATE_SUBCATEGORY" val="29"/>
  <p:tag name="KSO_WM_TEMPLATE_MASTER_TYPE" val="0"/>
  <p:tag name="KSO_WM_TEMPLATE_COLOR_TYPE" val="0"/>
  <p:tag name="KSO_WM_SLIDE_ITEM_CNT" val="4"/>
  <p:tag name="KSO_WM_SLIDE_INDEX" val="4"/>
  <p:tag name="KSO_WM_TAG_VERSION" val="3.0"/>
  <p:tag name="KSO_WM_BEAUTIFY_FLAG" val="#wm#"/>
  <p:tag name="KSO_WM_TEMPLATE_CATEGORY" val="custom"/>
  <p:tag name="KSO_WM_TEMPLATE_INDEX" val="20230980"/>
  <p:tag name="KSO_WM_SLIDE_LAYOUT" val="a_l"/>
  <p:tag name="KSO_WM_SLIDE_LAYOUT_CNT" val="1_1"/>
  <p:tag name="KSO_WM_SLIDE_TYPE" val="contents"/>
  <p:tag name="KSO_WM_SLIDE_SUBTYPE" val="diag"/>
  <p:tag name="KSO_WM_DIAGRAM_GROUP_CODE" val="l1-1"/>
  <p:tag name="KSO_WM_SLIDE_DIAGTYPE" val="l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0980_4*a*1"/>
  <p:tag name="KSO_WM_TEMPLATE_CATEGORY" val="custom"/>
  <p:tag name="KSO_WM_TEMPLATE_INDEX" val="20230980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NOCLEAR" val="0"/>
  <p:tag name="KSO_WM_UNIT_VALUE" val="3"/>
  <p:tag name="KSO_WM_UNIT_TYPE" val="a"/>
  <p:tag name="KSO_WM_UNIT_INDEX" val="1"/>
  <p:tag name="KSO_WM_DIAGRAM_GROUP_CODE" val="l1-1"/>
  <p:tag name="KSO_WM_UNIT_TEXT_FILL_FORE_SCHEMECOLOR_INDEX" val="5"/>
  <p:tag name="KSO_WM_UNIT_TEXT_FILL_TYPE" val="1"/>
  <p:tag name="KSO_WM_UNIT_USESOURCEFORMAT_APPLY" val="1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30980_4"/>
  <p:tag name="KSO_WM_TEMPLATE_SUBCATEGORY" val="29"/>
  <p:tag name="KSO_WM_TEMPLATE_MASTER_TYPE" val="0"/>
  <p:tag name="KSO_WM_TEMPLATE_COLOR_TYPE" val="0"/>
  <p:tag name="KSO_WM_SLIDE_ITEM_CNT" val="4"/>
  <p:tag name="KSO_WM_SLIDE_INDEX" val="4"/>
  <p:tag name="KSO_WM_TAG_VERSION" val="3.0"/>
  <p:tag name="KSO_WM_BEAUTIFY_FLAG" val="#wm#"/>
  <p:tag name="KSO_WM_TEMPLATE_CATEGORY" val="custom"/>
  <p:tag name="KSO_WM_TEMPLATE_INDEX" val="20230980"/>
  <p:tag name="KSO_WM_SLIDE_LAYOUT" val="a_l"/>
  <p:tag name="KSO_WM_SLIDE_LAYOUT_CNT" val="1_1"/>
  <p:tag name="KSO_WM_SLIDE_TYPE" val="contents"/>
  <p:tag name="KSO_WM_SLIDE_SUBTYPE" val="diag"/>
  <p:tag name="KSO_WM_DIAGRAM_GROUP_CODE" val="l1-1"/>
  <p:tag name="KSO_WM_SLIDE_DIAGTYPE" val="l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0980_4*a*1"/>
  <p:tag name="KSO_WM_TEMPLATE_CATEGORY" val="custom"/>
  <p:tag name="KSO_WM_TEMPLATE_INDEX" val="20230980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NOCLEAR" val="0"/>
  <p:tag name="KSO_WM_UNIT_VALUE" val="3"/>
  <p:tag name="KSO_WM_UNIT_TYPE" val="a"/>
  <p:tag name="KSO_WM_UNIT_INDEX" val="1"/>
  <p:tag name="KSO_WM_DIAGRAM_GROUP_CODE" val="l1-1"/>
  <p:tag name="KSO_WM_UNIT_TEXT_FILL_FORE_SCHEMECOLOR_INDEX" val="5"/>
  <p:tag name="KSO_WM_UNIT_TEXT_FILL_TYPE" val="1"/>
  <p:tag name="KSO_WM_UNIT_USESOURCEFORMAT_APPLY" val="1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30980_4"/>
  <p:tag name="KSO_WM_TEMPLATE_SUBCATEGORY" val="29"/>
  <p:tag name="KSO_WM_TEMPLATE_MASTER_TYPE" val="0"/>
  <p:tag name="KSO_WM_TEMPLATE_COLOR_TYPE" val="0"/>
  <p:tag name="KSO_WM_SLIDE_ITEM_CNT" val="4"/>
  <p:tag name="KSO_WM_SLIDE_INDEX" val="4"/>
  <p:tag name="KSO_WM_TAG_VERSION" val="3.0"/>
  <p:tag name="KSO_WM_BEAUTIFY_FLAG" val="#wm#"/>
  <p:tag name="KSO_WM_TEMPLATE_CATEGORY" val="custom"/>
  <p:tag name="KSO_WM_TEMPLATE_INDEX" val="20230980"/>
  <p:tag name="KSO_WM_SLIDE_LAYOUT" val="a_l"/>
  <p:tag name="KSO_WM_SLIDE_LAYOUT_CNT" val="1_1"/>
  <p:tag name="KSO_WM_SLIDE_TYPE" val="contents"/>
  <p:tag name="KSO_WM_SLIDE_SUBTYPE" val="diag"/>
  <p:tag name="KSO_WM_DIAGRAM_GROUP_CODE" val="l1-1"/>
  <p:tag name="KSO_WM_SLIDE_DIAGTYPE" val="l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0980_4*a*1"/>
  <p:tag name="KSO_WM_TEMPLATE_CATEGORY" val="custom"/>
  <p:tag name="KSO_WM_TEMPLATE_INDEX" val="20230980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NOCLEAR" val="0"/>
  <p:tag name="KSO_WM_UNIT_VALUE" val="3"/>
  <p:tag name="KSO_WM_UNIT_TYPE" val="a"/>
  <p:tag name="KSO_WM_UNIT_INDEX" val="1"/>
  <p:tag name="KSO_WM_DIAGRAM_GROUP_CODE" val="l1-1"/>
  <p:tag name="KSO_WM_UNIT_TEXT_FILL_FORE_SCHEMECOLOR_INDEX" val="5"/>
  <p:tag name="KSO_WM_UNIT_TEXT_FILL_TYPE" val="1"/>
  <p:tag name="KSO_WM_UNIT_USESOURCEFORMAT_APPLY" val="1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30980_4"/>
  <p:tag name="KSO_WM_TEMPLATE_SUBCATEGORY" val="29"/>
  <p:tag name="KSO_WM_TEMPLATE_MASTER_TYPE" val="0"/>
  <p:tag name="KSO_WM_TEMPLATE_COLOR_TYPE" val="0"/>
  <p:tag name="KSO_WM_SLIDE_ITEM_CNT" val="4"/>
  <p:tag name="KSO_WM_SLIDE_INDEX" val="4"/>
  <p:tag name="KSO_WM_TAG_VERSION" val="3.0"/>
  <p:tag name="KSO_WM_BEAUTIFY_FLAG" val="#wm#"/>
  <p:tag name="KSO_WM_TEMPLATE_CATEGORY" val="custom"/>
  <p:tag name="KSO_WM_TEMPLATE_INDEX" val="20230980"/>
  <p:tag name="KSO_WM_SLIDE_LAYOUT" val="a_l"/>
  <p:tag name="KSO_WM_SLIDE_LAYOUT_CNT" val="1_1"/>
  <p:tag name="KSO_WM_SLIDE_TYPE" val="contents"/>
  <p:tag name="KSO_WM_SLIDE_SUBTYPE" val="diag"/>
  <p:tag name="KSO_WM_DIAGRAM_GROUP_CODE" val="l1-1"/>
  <p:tag name="KSO_WM_SLIDE_DIAGTYPE" val="l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230980_4*a*1"/>
  <p:tag name="KSO_WM_TEMPLATE_CATEGORY" val="custom"/>
  <p:tag name="KSO_WM_TEMPLATE_INDEX" val="20230980"/>
  <p:tag name="KSO_WM_UNIT_LAYERLEVEL" val="1"/>
  <p:tag name="KSO_WM_TAG_VERSION" val="3.0"/>
  <p:tag name="KSO_WM_BEAUTIFY_FLAG" val="#wm#"/>
  <p:tag name="KSO_WM_UNIT_ISCONTENTSTITLE" val="1"/>
  <p:tag name="KSO_WM_UNIT_ISNUMDGMTITLE" val="0"/>
  <p:tag name="KSO_WM_UNIT_NOCLEAR" val="0"/>
  <p:tag name="KSO_WM_UNIT_VALUE" val="3"/>
  <p:tag name="KSO_WM_UNIT_TYPE" val="a"/>
  <p:tag name="KSO_WM_UNIT_INDEX" val="1"/>
  <p:tag name="KSO_WM_DIAGRAM_GROUP_CODE" val="l1-1"/>
  <p:tag name="KSO_WM_UNIT_TEXT_FILL_FORE_SCHEMECOLOR_INDEX" val="5"/>
  <p:tag name="KSO_WM_UNIT_TEXT_FILL_TYPE" val="1"/>
  <p:tag name="KSO_WM_UNIT_USESOURCEFORMAT_APPLY" val="1"/>
</p:tagLst>
</file>

<file path=ppt/theme/theme1.xml><?xml version="1.0" encoding="utf-8"?>
<a:theme xmlns:a="http://schemas.openxmlformats.org/drawingml/2006/main" name="Default Design">
  <a:themeElements>
    <a:clrScheme name="WSU Brand HEX">
      <a:dk1>
        <a:srgbClr val="000000"/>
      </a:dk1>
      <a:lt1>
        <a:srgbClr val="FFFFFF"/>
      </a:lt1>
      <a:dk2>
        <a:srgbClr val="003C69"/>
      </a:dk2>
      <a:lt2>
        <a:srgbClr val="DBCEAC"/>
      </a:lt2>
      <a:accent1>
        <a:srgbClr val="981E32"/>
      </a:accent1>
      <a:accent2>
        <a:srgbClr val="5E6A71"/>
      </a:accent2>
      <a:accent3>
        <a:srgbClr val="C60C30"/>
      </a:accent3>
      <a:accent4>
        <a:srgbClr val="EC7A08"/>
      </a:accent4>
      <a:accent5>
        <a:srgbClr val="3CB6CE"/>
      </a:accent5>
      <a:accent6>
        <a:srgbClr val="B6BF00"/>
      </a:accent6>
      <a:hlink>
        <a:srgbClr val="452325"/>
      </a:hlink>
      <a:folHlink>
        <a:srgbClr val="FF00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3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CC003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2AAAD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14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CC0033"/>
        </a:accent1>
        <a:accent2>
          <a:srgbClr val="000099"/>
        </a:accent2>
        <a:accent3>
          <a:srgbClr val="FFFFFF"/>
        </a:accent3>
        <a:accent4>
          <a:srgbClr val="000000"/>
        </a:accent4>
        <a:accent5>
          <a:srgbClr val="E2AAAD"/>
        </a:accent5>
        <a:accent6>
          <a:srgbClr val="00008A"/>
        </a:accent6>
        <a:hlink>
          <a:srgbClr val="009999"/>
        </a:hlink>
        <a:folHlink>
          <a:srgbClr val="33CC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15">
        <a:dk1>
          <a:srgbClr val="000000"/>
        </a:dk1>
        <a:lt1>
          <a:srgbClr val="FFFFFF"/>
        </a:lt1>
        <a:dk2>
          <a:srgbClr val="000099"/>
        </a:dk2>
        <a:lt2>
          <a:srgbClr val="FFFFFF"/>
        </a:lt2>
        <a:accent1>
          <a:srgbClr val="CC0033"/>
        </a:accent1>
        <a:accent2>
          <a:srgbClr val="000099"/>
        </a:accent2>
        <a:accent3>
          <a:srgbClr val="AAAACA"/>
        </a:accent3>
        <a:accent4>
          <a:srgbClr val="DADADA"/>
        </a:accent4>
        <a:accent5>
          <a:srgbClr val="E2AAAD"/>
        </a:accent5>
        <a:accent6>
          <a:srgbClr val="00008A"/>
        </a:accent6>
        <a:hlink>
          <a:srgbClr val="009999"/>
        </a:hlink>
        <a:folHlink>
          <a:srgbClr val="33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6">
        <a:dk1>
          <a:srgbClr val="000000"/>
        </a:dk1>
        <a:lt1>
          <a:srgbClr val="FFFFFF"/>
        </a:lt1>
        <a:dk2>
          <a:srgbClr val="009999"/>
        </a:dk2>
        <a:lt2>
          <a:srgbClr val="FFFFFF"/>
        </a:lt2>
        <a:accent1>
          <a:srgbClr val="CC0033"/>
        </a:accent1>
        <a:accent2>
          <a:srgbClr val="000099"/>
        </a:accent2>
        <a:accent3>
          <a:srgbClr val="AACACA"/>
        </a:accent3>
        <a:accent4>
          <a:srgbClr val="DADADA"/>
        </a:accent4>
        <a:accent5>
          <a:srgbClr val="E2AAAD"/>
        </a:accent5>
        <a:accent6>
          <a:srgbClr val="00008A"/>
        </a:accent6>
        <a:hlink>
          <a:srgbClr val="009999"/>
        </a:hlink>
        <a:folHlink>
          <a:srgbClr val="33CC0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Default Design">
  <a:themeElements>
    <a:clrScheme name="WSU Brand HEX">
      <a:dk1>
        <a:srgbClr val="000000"/>
      </a:dk1>
      <a:lt1>
        <a:srgbClr val="FFFFFF"/>
      </a:lt1>
      <a:dk2>
        <a:srgbClr val="003C69"/>
      </a:dk2>
      <a:lt2>
        <a:srgbClr val="DBCEAC"/>
      </a:lt2>
      <a:accent1>
        <a:srgbClr val="981E32"/>
      </a:accent1>
      <a:accent2>
        <a:srgbClr val="5E6A71"/>
      </a:accent2>
      <a:accent3>
        <a:srgbClr val="C60C30"/>
      </a:accent3>
      <a:accent4>
        <a:srgbClr val="EC7A08"/>
      </a:accent4>
      <a:accent5>
        <a:srgbClr val="3CB6CE"/>
      </a:accent5>
      <a:accent6>
        <a:srgbClr val="B6BF00"/>
      </a:accent6>
      <a:hlink>
        <a:srgbClr val="452325"/>
      </a:hlink>
      <a:folHlink>
        <a:srgbClr val="FF00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3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CC003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2AAAD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14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CC0033"/>
        </a:accent1>
        <a:accent2>
          <a:srgbClr val="000099"/>
        </a:accent2>
        <a:accent3>
          <a:srgbClr val="FFFFFF"/>
        </a:accent3>
        <a:accent4>
          <a:srgbClr val="000000"/>
        </a:accent4>
        <a:accent5>
          <a:srgbClr val="E2AAAD"/>
        </a:accent5>
        <a:accent6>
          <a:srgbClr val="00008A"/>
        </a:accent6>
        <a:hlink>
          <a:srgbClr val="009999"/>
        </a:hlink>
        <a:folHlink>
          <a:srgbClr val="33CC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15">
        <a:dk1>
          <a:srgbClr val="000000"/>
        </a:dk1>
        <a:lt1>
          <a:srgbClr val="FFFFFF"/>
        </a:lt1>
        <a:dk2>
          <a:srgbClr val="000099"/>
        </a:dk2>
        <a:lt2>
          <a:srgbClr val="FFFFFF"/>
        </a:lt2>
        <a:accent1>
          <a:srgbClr val="CC0033"/>
        </a:accent1>
        <a:accent2>
          <a:srgbClr val="000099"/>
        </a:accent2>
        <a:accent3>
          <a:srgbClr val="AAAACA"/>
        </a:accent3>
        <a:accent4>
          <a:srgbClr val="DADADA"/>
        </a:accent4>
        <a:accent5>
          <a:srgbClr val="E2AAAD"/>
        </a:accent5>
        <a:accent6>
          <a:srgbClr val="00008A"/>
        </a:accent6>
        <a:hlink>
          <a:srgbClr val="009999"/>
        </a:hlink>
        <a:folHlink>
          <a:srgbClr val="33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6">
        <a:dk1>
          <a:srgbClr val="000000"/>
        </a:dk1>
        <a:lt1>
          <a:srgbClr val="FFFFFF"/>
        </a:lt1>
        <a:dk2>
          <a:srgbClr val="009999"/>
        </a:dk2>
        <a:lt2>
          <a:srgbClr val="FFFFFF"/>
        </a:lt2>
        <a:accent1>
          <a:srgbClr val="CC0033"/>
        </a:accent1>
        <a:accent2>
          <a:srgbClr val="000099"/>
        </a:accent2>
        <a:accent3>
          <a:srgbClr val="AACACA"/>
        </a:accent3>
        <a:accent4>
          <a:srgbClr val="DADADA"/>
        </a:accent4>
        <a:accent5>
          <a:srgbClr val="E2AAAD"/>
        </a:accent5>
        <a:accent6>
          <a:srgbClr val="00008A"/>
        </a:accent6>
        <a:hlink>
          <a:srgbClr val="009999"/>
        </a:hlink>
        <a:folHlink>
          <a:srgbClr val="33CC0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">
      <a:dk1>
        <a:srgbClr val="000000"/>
      </a:dk1>
      <a:lt1>
        <a:srgbClr val="FFFFFF"/>
      </a:lt1>
      <a:dk2>
        <a:srgbClr val="003C69"/>
      </a:dk2>
      <a:lt2>
        <a:srgbClr val="DBCEAC"/>
      </a:lt2>
      <a:accent1>
        <a:srgbClr val="981E32"/>
      </a:accent1>
      <a:accent2>
        <a:srgbClr val="5E6A71"/>
      </a:accent2>
      <a:accent3>
        <a:srgbClr val="C60C30"/>
      </a:accent3>
      <a:accent4>
        <a:srgbClr val="EC7A08"/>
      </a:accent4>
      <a:accent5>
        <a:srgbClr val="3CB6CE"/>
      </a:accent5>
      <a:accent6>
        <a:srgbClr val="B6BF00"/>
      </a:accent6>
      <a:hlink>
        <a:srgbClr val="452325"/>
      </a:hlink>
      <a:folHlink>
        <a:srgbClr val="FF0000"/>
      </a:folHlink>
    </a:clrScheme>
    <a:fontScheme name="主题字体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lumMod val="75000"/>
          </a:schemeClr>
        </a:lnRef>
        <a:fillRef idx="1">
          <a:schemeClr val="accent1"/>
        </a:fillRef>
        <a:effectRef idx="0">
          <a:srgbClr val="FFFFFF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dirty="0" err="1" smtClean="0">
            <a:solidFill>
              <a:schemeClr val="accent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25656</TotalTime>
  <Words>15349</Words>
  <Application>Microsoft Office PowerPoint</Application>
  <PresentationFormat>自定义</PresentationFormat>
  <Paragraphs>1800</Paragraphs>
  <Slides>138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4</vt:i4>
      </vt:variant>
      <vt:variant>
        <vt:lpstr>幻灯片标题</vt:lpstr>
      </vt:variant>
      <vt:variant>
        <vt:i4>138</vt:i4>
      </vt:variant>
    </vt:vector>
  </HeadingPairs>
  <TitlesOfParts>
    <vt:vector size="159" baseType="lpstr">
      <vt:lpstr>CourierNewPSMT</vt:lpstr>
      <vt:lpstr>Menlo</vt:lpstr>
      <vt:lpstr>PingFang SC</vt:lpstr>
      <vt:lpstr>quote-cjk-patch</vt:lpstr>
      <vt:lpstr>冬青黑体简体中文 W6</vt:lpstr>
      <vt:lpstr>仿宋</vt:lpstr>
      <vt:lpstr>思源黑体 CN Bold</vt:lpstr>
      <vt:lpstr>思源黑体 CN Normal</vt:lpstr>
      <vt:lpstr>宋体</vt:lpstr>
      <vt:lpstr>微软雅黑</vt:lpstr>
      <vt:lpstr>Arial</vt:lpstr>
      <vt:lpstr>Calibri</vt:lpstr>
      <vt:lpstr>Candara</vt:lpstr>
      <vt:lpstr>Courier New</vt:lpstr>
      <vt:lpstr>Lucida Sans</vt:lpstr>
      <vt:lpstr>Times New Roman</vt:lpstr>
      <vt:lpstr>Wingdings</vt:lpstr>
      <vt:lpstr>Default Design</vt:lpstr>
      <vt:lpstr>自定义设计方案</vt:lpstr>
      <vt:lpstr>1_Default Design</vt:lpstr>
      <vt:lpstr>Office 主题​​</vt:lpstr>
      <vt:lpstr>PowerPoint 演示文稿</vt:lpstr>
      <vt:lpstr>PowerPoint 演示文稿</vt:lpstr>
      <vt:lpstr>FreeRTOS</vt:lpstr>
      <vt:lpstr>RTOS 基本概念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任务与调度机制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时间管理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内存管理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中断管理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任务间通信与同步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Washington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Marketing</dc:creator>
  <cp:lastModifiedBy>1 1</cp:lastModifiedBy>
  <cp:revision>828</cp:revision>
  <cp:lastPrinted>2014-04-21T18:27:00Z</cp:lastPrinted>
  <dcterms:created xsi:type="dcterms:W3CDTF">2001-10-04T20:08:00Z</dcterms:created>
  <dcterms:modified xsi:type="dcterms:W3CDTF">2026-01-11T15:14:50Z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C3CCAF5F06344E72BC95475314ED453F_12</vt:lpwstr>
  </property>
  <property fmtid="{D5CDD505-2E9C-101B-9397-08002B2CF9AE}" pid="3" name="KSOProductBuildVer">
    <vt:lpwstr>2052-12.1.0.22529</vt:lpwstr>
  </property>
</Properties>
</file>