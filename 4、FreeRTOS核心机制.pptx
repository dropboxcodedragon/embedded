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4" r:id="rId3"/>
    <p:sldMasterId id="2147483676" r:id="rId4"/>
    <p:sldMasterId id="2147483691" r:id="rId5"/>
  </p:sldMasterIdLst>
  <p:notesMasterIdLst>
    <p:notesMasterId r:id="rId16"/>
  </p:notesMasterIdLst>
  <p:handoutMasterIdLst>
    <p:handoutMasterId r:id="rId157"/>
  </p:handoutMasterIdLst>
  <p:sldIdLst>
    <p:sldId id="316" r:id="rId6"/>
    <p:sldId id="310" r:id="rId7"/>
    <p:sldId id="321" r:id="rId8"/>
    <p:sldId id="374" r:id="rId9"/>
    <p:sldId id="318" r:id="rId10"/>
    <p:sldId id="548" r:id="rId11"/>
    <p:sldId id="547" r:id="rId12"/>
    <p:sldId id="549" r:id="rId13"/>
    <p:sldId id="371" r:id="rId14"/>
    <p:sldId id="372" r:id="rId15"/>
    <p:sldId id="373" r:id="rId17"/>
    <p:sldId id="375" r:id="rId18"/>
    <p:sldId id="377" r:id="rId19"/>
    <p:sldId id="378" r:id="rId20"/>
    <p:sldId id="380" r:id="rId21"/>
    <p:sldId id="382" r:id="rId22"/>
    <p:sldId id="379" r:id="rId23"/>
    <p:sldId id="394" r:id="rId24"/>
    <p:sldId id="383" r:id="rId25"/>
    <p:sldId id="376" r:id="rId26"/>
    <p:sldId id="407" r:id="rId27"/>
    <p:sldId id="411" r:id="rId28"/>
    <p:sldId id="412" r:id="rId29"/>
    <p:sldId id="413" r:id="rId30"/>
    <p:sldId id="414" r:id="rId31"/>
    <p:sldId id="415" r:id="rId32"/>
    <p:sldId id="416" r:id="rId33"/>
    <p:sldId id="417" r:id="rId34"/>
    <p:sldId id="418" r:id="rId35"/>
    <p:sldId id="419" r:id="rId36"/>
    <p:sldId id="420" r:id="rId37"/>
    <p:sldId id="423" r:id="rId38"/>
    <p:sldId id="424" r:id="rId39"/>
    <p:sldId id="402" r:id="rId40"/>
    <p:sldId id="403" r:id="rId41"/>
    <p:sldId id="396" r:id="rId42"/>
    <p:sldId id="398" r:id="rId43"/>
    <p:sldId id="399" r:id="rId44"/>
    <p:sldId id="400" r:id="rId45"/>
    <p:sldId id="401" r:id="rId46"/>
    <p:sldId id="404" r:id="rId47"/>
    <p:sldId id="405" r:id="rId48"/>
    <p:sldId id="611" r:id="rId49"/>
    <p:sldId id="429" r:id="rId50"/>
    <p:sldId id="430" r:id="rId51"/>
    <p:sldId id="433" r:id="rId52"/>
    <p:sldId id="434" r:id="rId53"/>
    <p:sldId id="435" r:id="rId54"/>
    <p:sldId id="436" r:id="rId55"/>
    <p:sldId id="437" r:id="rId56"/>
    <p:sldId id="438" r:id="rId57"/>
    <p:sldId id="384" r:id="rId58"/>
    <p:sldId id="385" r:id="rId59"/>
    <p:sldId id="445" r:id="rId60"/>
    <p:sldId id="444" r:id="rId61"/>
    <p:sldId id="446" r:id="rId62"/>
    <p:sldId id="455" r:id="rId63"/>
    <p:sldId id="388" r:id="rId64"/>
    <p:sldId id="389" r:id="rId65"/>
    <p:sldId id="447" r:id="rId66"/>
    <p:sldId id="461" r:id="rId67"/>
    <p:sldId id="452" r:id="rId68"/>
    <p:sldId id="450" r:id="rId69"/>
    <p:sldId id="451" r:id="rId70"/>
    <p:sldId id="454" r:id="rId71"/>
    <p:sldId id="448" r:id="rId72"/>
    <p:sldId id="449" r:id="rId73"/>
    <p:sldId id="612" r:id="rId74"/>
    <p:sldId id="458" r:id="rId75"/>
    <p:sldId id="390" r:id="rId76"/>
    <p:sldId id="391" r:id="rId77"/>
    <p:sldId id="462" r:id="rId78"/>
    <p:sldId id="463" r:id="rId79"/>
    <p:sldId id="464" r:id="rId80"/>
    <p:sldId id="465" r:id="rId81"/>
    <p:sldId id="466" r:id="rId82"/>
    <p:sldId id="467" r:id="rId83"/>
    <p:sldId id="468" r:id="rId84"/>
    <p:sldId id="469" r:id="rId85"/>
    <p:sldId id="470" r:id="rId86"/>
    <p:sldId id="471" r:id="rId87"/>
    <p:sldId id="613" r:id="rId88"/>
    <p:sldId id="614" r:id="rId89"/>
    <p:sldId id="386" r:id="rId90"/>
    <p:sldId id="387" r:id="rId91"/>
    <p:sldId id="472" r:id="rId92"/>
    <p:sldId id="473" r:id="rId93"/>
    <p:sldId id="474" r:id="rId94"/>
    <p:sldId id="475" r:id="rId95"/>
    <p:sldId id="476" r:id="rId96"/>
    <p:sldId id="477" r:id="rId97"/>
    <p:sldId id="478" r:id="rId98"/>
    <p:sldId id="479" r:id="rId99"/>
    <p:sldId id="481" r:id="rId100"/>
    <p:sldId id="482" r:id="rId101"/>
    <p:sldId id="483" r:id="rId102"/>
    <p:sldId id="484" r:id="rId103"/>
    <p:sldId id="546" r:id="rId104"/>
    <p:sldId id="493" r:id="rId105"/>
    <p:sldId id="494" r:id="rId106"/>
    <p:sldId id="495" r:id="rId107"/>
    <p:sldId id="496" r:id="rId108"/>
    <p:sldId id="497" r:id="rId109"/>
    <p:sldId id="498" r:id="rId110"/>
    <p:sldId id="499" r:id="rId111"/>
    <p:sldId id="500" r:id="rId112"/>
    <p:sldId id="501" r:id="rId113"/>
    <p:sldId id="502" r:id="rId114"/>
    <p:sldId id="503" r:id="rId115"/>
    <p:sldId id="504" r:id="rId116"/>
    <p:sldId id="512" r:id="rId117"/>
    <p:sldId id="513" r:id="rId118"/>
    <p:sldId id="514" r:id="rId119"/>
    <p:sldId id="515" r:id="rId120"/>
    <p:sldId id="516" r:id="rId121"/>
    <p:sldId id="517" r:id="rId122"/>
    <p:sldId id="518" r:id="rId123"/>
    <p:sldId id="519" r:id="rId124"/>
    <p:sldId id="520" r:id="rId125"/>
    <p:sldId id="521" r:id="rId126"/>
    <p:sldId id="522" r:id="rId127"/>
    <p:sldId id="523" r:id="rId128"/>
    <p:sldId id="524" r:id="rId129"/>
    <p:sldId id="525" r:id="rId130"/>
    <p:sldId id="526" r:id="rId131"/>
    <p:sldId id="527" r:id="rId132"/>
    <p:sldId id="528" r:id="rId133"/>
    <p:sldId id="529" r:id="rId134"/>
    <p:sldId id="530" r:id="rId135"/>
    <p:sldId id="531" r:id="rId136"/>
    <p:sldId id="532" r:id="rId137"/>
    <p:sldId id="533" r:id="rId138"/>
    <p:sldId id="534" r:id="rId139"/>
    <p:sldId id="536" r:id="rId140"/>
    <p:sldId id="537" r:id="rId141"/>
    <p:sldId id="535" r:id="rId142"/>
    <p:sldId id="538" r:id="rId143"/>
    <p:sldId id="539" r:id="rId144"/>
    <p:sldId id="540" r:id="rId145"/>
    <p:sldId id="541" r:id="rId146"/>
    <p:sldId id="542" r:id="rId147"/>
    <p:sldId id="543" r:id="rId148"/>
    <p:sldId id="544" r:id="rId149"/>
    <p:sldId id="545" r:id="rId150"/>
    <p:sldId id="550" r:id="rId151"/>
    <p:sldId id="551" r:id="rId152"/>
    <p:sldId id="615" r:id="rId153"/>
    <p:sldId id="616" r:id="rId154"/>
    <p:sldId id="617" r:id="rId155"/>
    <p:sldId id="618" r:id="rId156"/>
  </p:sldIdLst>
  <p:sldSz cx="12186920" cy="7021195"/>
  <p:notesSz cx="9296400" cy="7010400"/>
  <p:defaultTextStyle>
    <a:defPPr>
      <a:defRPr lang="en-US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614680" lvl="1" indent="-15748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1228725" lvl="2" indent="-314325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843405" lvl="3" indent="-471805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2457450" lvl="4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lvl="5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lvl="6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lvl="7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lvl="8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始" id="{BDA4800E-9FE8-4A58-95A9-FF0B4842C136}">
          <p14:sldIdLst>
            <p14:sldId id="316"/>
            <p14:sldId id="310"/>
            <p14:sldId id="321"/>
          </p14:sldIdLst>
        </p14:section>
        <p14:section name="基本概念" id="{CF107FFD-BCD7-4352-A419-318898244DD1}">
          <p14:sldIdLst>
            <p14:sldId id="374"/>
            <p14:sldId id="318"/>
            <p14:sldId id="548"/>
            <p14:sldId id="547"/>
            <p14:sldId id="549"/>
            <p14:sldId id="371"/>
            <p14:sldId id="372"/>
            <p14:sldId id="373"/>
            <p14:sldId id="375"/>
            <p14:sldId id="377"/>
            <p14:sldId id="378"/>
            <p14:sldId id="380"/>
            <p14:sldId id="382"/>
            <p14:sldId id="379"/>
            <p14:sldId id="394"/>
          </p14:sldIdLst>
        </p14:section>
        <p14:section name="任务调度机制" id="{068F4FDB-FC7A-471D-A965-61E76C38DA07}">
          <p14:sldIdLst>
            <p14:sldId id="383"/>
            <p14:sldId id="376"/>
            <p14:sldId id="407"/>
            <p14:sldId id="411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  <p14:sldId id="420"/>
            <p14:sldId id="423"/>
            <p14:sldId id="424"/>
            <p14:sldId id="402"/>
            <p14:sldId id="403"/>
            <p14:sldId id="396"/>
            <p14:sldId id="398"/>
            <p14:sldId id="399"/>
            <p14:sldId id="400"/>
            <p14:sldId id="401"/>
            <p14:sldId id="404"/>
            <p14:sldId id="405"/>
            <p14:sldId id="611"/>
            <p14:sldId id="429"/>
            <p14:sldId id="430"/>
            <p14:sldId id="433"/>
            <p14:sldId id="434"/>
            <p14:sldId id="435"/>
            <p14:sldId id="436"/>
            <p14:sldId id="437"/>
            <p14:sldId id="438"/>
          </p14:sldIdLst>
        </p14:section>
        <p14:section name="时间管理" id="{205170D9-50F4-43C8-9762-EE77CED99376}">
          <p14:sldIdLst>
            <p14:sldId id="384"/>
            <p14:sldId id="385"/>
            <p14:sldId id="445"/>
            <p14:sldId id="444"/>
            <p14:sldId id="446"/>
            <p14:sldId id="455"/>
          </p14:sldIdLst>
        </p14:section>
        <p14:section name="内存管理" id="{3A42E8DA-BA1A-4BCF-B439-A12562891896}">
          <p14:sldIdLst>
            <p14:sldId id="388"/>
            <p14:sldId id="389"/>
            <p14:sldId id="447"/>
            <p14:sldId id="461"/>
            <p14:sldId id="452"/>
            <p14:sldId id="450"/>
            <p14:sldId id="451"/>
            <p14:sldId id="454"/>
            <p14:sldId id="448"/>
            <p14:sldId id="449"/>
            <p14:sldId id="612"/>
            <p14:sldId id="458"/>
          </p14:sldIdLst>
        </p14:section>
        <p14:section name="中断管理" id="{C0011E4B-5406-4100-BDB8-DD2074C93EAE}">
          <p14:sldIdLst>
            <p14:sldId id="390"/>
            <p14:sldId id="391"/>
            <p14:sldId id="462"/>
            <p14:sldId id="463"/>
            <p14:sldId id="464"/>
            <p14:sldId id="465"/>
            <p14:sldId id="466"/>
            <p14:sldId id="467"/>
            <p14:sldId id="468"/>
            <p14:sldId id="469"/>
            <p14:sldId id="470"/>
            <p14:sldId id="471"/>
            <p14:sldId id="613"/>
            <p14:sldId id="614"/>
          </p14:sldIdLst>
        </p14:section>
        <p14:section name="任务间通信与同步" id="{ADD82A3D-093B-48C9-AF00-075FEA54568C}">
          <p14:sldIdLst>
            <p14:sldId id="386"/>
            <p14:sldId id="387"/>
            <p14:sldId id="472"/>
            <p14:sldId id="473"/>
            <p14:sldId id="474"/>
            <p14:sldId id="475"/>
            <p14:sldId id="476"/>
            <p14:sldId id="477"/>
            <p14:sldId id="478"/>
            <p14:sldId id="479"/>
            <p14:sldId id="481"/>
            <p14:sldId id="482"/>
            <p14:sldId id="483"/>
            <p14:sldId id="484"/>
            <p14:sldId id="546"/>
            <p14:sldId id="493"/>
            <p14:sldId id="494"/>
            <p14:sldId id="495"/>
            <p14:sldId id="496"/>
            <p14:sldId id="497"/>
            <p14:sldId id="498"/>
            <p14:sldId id="499"/>
            <p14:sldId id="500"/>
            <p14:sldId id="501"/>
            <p14:sldId id="502"/>
            <p14:sldId id="503"/>
            <p14:sldId id="504"/>
            <p14:sldId id="512"/>
            <p14:sldId id="513"/>
            <p14:sldId id="514"/>
            <p14:sldId id="515"/>
            <p14:sldId id="516"/>
            <p14:sldId id="517"/>
            <p14:sldId id="518"/>
            <p14:sldId id="519"/>
            <p14:sldId id="520"/>
            <p14:sldId id="521"/>
            <p14:sldId id="522"/>
            <p14:sldId id="523"/>
            <p14:sldId id="524"/>
            <p14:sldId id="525"/>
            <p14:sldId id="526"/>
            <p14:sldId id="527"/>
            <p14:sldId id="528"/>
            <p14:sldId id="529"/>
            <p14:sldId id="530"/>
            <p14:sldId id="531"/>
            <p14:sldId id="532"/>
            <p14:sldId id="533"/>
            <p14:sldId id="534"/>
            <p14:sldId id="536"/>
            <p14:sldId id="537"/>
            <p14:sldId id="535"/>
            <p14:sldId id="538"/>
            <p14:sldId id="539"/>
            <p14:sldId id="540"/>
            <p14:sldId id="541"/>
            <p14:sldId id="542"/>
            <p14:sldId id="543"/>
            <p14:sldId id="544"/>
            <p14:sldId id="545"/>
          </p14:sldIdLst>
        </p14:section>
        <p14:section name="低功耗" id="{7A679B72-4F37-41A2-8BDB-3B8A68A54709}">
          <p14:sldIdLst>
            <p14:sldId id="550"/>
            <p14:sldId id="551"/>
            <p14:sldId id="615"/>
            <p14:sldId id="616"/>
            <p14:sldId id="617"/>
            <p14:sldId id="61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503" userDrawn="1">
          <p15:clr>
            <a:srgbClr val="A4A3A4"/>
          </p15:clr>
        </p15:guide>
        <p15:guide id="2" orient="horz" pos="685" userDrawn="1">
          <p15:clr>
            <a:srgbClr val="A4A3A4"/>
          </p15:clr>
        </p15:guide>
        <p15:guide id="3" pos="2657" userDrawn="1">
          <p15:clr>
            <a:srgbClr val="A4A3A4"/>
          </p15:clr>
        </p15:guide>
        <p15:guide id="4" pos="5159" userDrawn="1">
          <p15:clr>
            <a:srgbClr val="A4A3A4"/>
          </p15:clr>
        </p15:guide>
        <p15:guide id="5" pos="36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A4A6A"/>
    <a:srgbClr val="7A8287"/>
    <a:srgbClr val="717171"/>
    <a:srgbClr val="B30000"/>
    <a:srgbClr val="7E0000"/>
    <a:srgbClr val="9E0A26"/>
    <a:srgbClr val="0D9342"/>
    <a:srgbClr val="747474"/>
    <a:srgbClr val="7C7C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9" autoAdjust="0"/>
    <p:restoredTop sz="95625" autoAdjust="0"/>
  </p:normalViewPr>
  <p:slideViewPr>
    <p:cSldViewPr snapToGrid="0" showGuides="1">
      <p:cViewPr>
        <p:scale>
          <a:sx n="100" d="100"/>
          <a:sy n="100" d="100"/>
        </p:scale>
        <p:origin x="36" y="111"/>
      </p:cViewPr>
      <p:guideLst>
        <p:guide orient="horz" pos="1503"/>
        <p:guide orient="horz" pos="685"/>
        <p:guide pos="2657"/>
        <p:guide pos="5159"/>
        <p:guide pos="367"/>
      </p:guideLst>
    </p:cSldViewPr>
  </p:slideViewPr>
  <p:outlineViewPr>
    <p:cViewPr>
      <p:scale>
        <a:sx n="33" d="100"/>
        <a:sy n="33" d="100"/>
      </p:scale>
      <p:origin x="0" y="-32526"/>
    </p:cViewPr>
  </p:outlineViewPr>
  <p:notesTextViewPr>
    <p:cViewPr>
      <p:scale>
        <a:sx n="100" d="100"/>
        <a:sy n="100" d="100"/>
      </p:scale>
      <p:origin x="0" y="0"/>
    </p:cViewPr>
  </p:notesTextViewPr>
  <p:sorterViewPr showFormatting="0">
    <p:cViewPr>
      <p:scale>
        <a:sx n="50" d="100"/>
        <a:sy n="50" d="100"/>
      </p:scale>
      <p:origin x="0" y="0"/>
    </p:cViewPr>
  </p:sorterViewPr>
  <p:gridSpacing cx="76198" cy="76198"/>
</p:viewPr>
</file>

<file path=ppt/_rels/presentation.xml.rels><?xml version="1.0" encoding="UTF-8" standalone="yes"?>
<Relationships xmlns="http://schemas.openxmlformats.org/package/2006/relationships"><Relationship Id="rId99" Type="http://schemas.openxmlformats.org/officeDocument/2006/relationships/slide" Target="slides/slide93.xml"/><Relationship Id="rId98" Type="http://schemas.openxmlformats.org/officeDocument/2006/relationships/slide" Target="slides/slide92.xml"/><Relationship Id="rId97" Type="http://schemas.openxmlformats.org/officeDocument/2006/relationships/slide" Target="slides/slide91.xml"/><Relationship Id="rId96" Type="http://schemas.openxmlformats.org/officeDocument/2006/relationships/slide" Target="slides/slide90.xml"/><Relationship Id="rId95" Type="http://schemas.openxmlformats.org/officeDocument/2006/relationships/slide" Target="slides/slide89.xml"/><Relationship Id="rId94" Type="http://schemas.openxmlformats.org/officeDocument/2006/relationships/slide" Target="slides/slide88.xml"/><Relationship Id="rId93" Type="http://schemas.openxmlformats.org/officeDocument/2006/relationships/slide" Target="slides/slide87.xml"/><Relationship Id="rId92" Type="http://schemas.openxmlformats.org/officeDocument/2006/relationships/slide" Target="slides/slide86.xml"/><Relationship Id="rId91" Type="http://schemas.openxmlformats.org/officeDocument/2006/relationships/slide" Target="slides/slide85.xml"/><Relationship Id="rId90" Type="http://schemas.openxmlformats.org/officeDocument/2006/relationships/slide" Target="slides/slide84.xml"/><Relationship Id="rId9" Type="http://schemas.openxmlformats.org/officeDocument/2006/relationships/slide" Target="slides/slide4.xml"/><Relationship Id="rId89" Type="http://schemas.openxmlformats.org/officeDocument/2006/relationships/slide" Target="slides/slide83.xml"/><Relationship Id="rId88" Type="http://schemas.openxmlformats.org/officeDocument/2006/relationships/slide" Target="slides/slide82.xml"/><Relationship Id="rId87" Type="http://schemas.openxmlformats.org/officeDocument/2006/relationships/slide" Target="slides/slide81.xml"/><Relationship Id="rId86" Type="http://schemas.openxmlformats.org/officeDocument/2006/relationships/slide" Target="slides/slide80.xml"/><Relationship Id="rId85" Type="http://schemas.openxmlformats.org/officeDocument/2006/relationships/slide" Target="slides/slide79.xml"/><Relationship Id="rId84" Type="http://schemas.openxmlformats.org/officeDocument/2006/relationships/slide" Target="slides/slide78.xml"/><Relationship Id="rId83" Type="http://schemas.openxmlformats.org/officeDocument/2006/relationships/slide" Target="slides/slide77.xml"/><Relationship Id="rId82" Type="http://schemas.openxmlformats.org/officeDocument/2006/relationships/slide" Target="slides/slide76.xml"/><Relationship Id="rId81" Type="http://schemas.openxmlformats.org/officeDocument/2006/relationships/slide" Target="slides/slide75.xml"/><Relationship Id="rId80" Type="http://schemas.openxmlformats.org/officeDocument/2006/relationships/slide" Target="slides/slide74.xml"/><Relationship Id="rId8" Type="http://schemas.openxmlformats.org/officeDocument/2006/relationships/slide" Target="slides/slide3.xml"/><Relationship Id="rId79" Type="http://schemas.openxmlformats.org/officeDocument/2006/relationships/slide" Target="slides/slide73.xml"/><Relationship Id="rId78" Type="http://schemas.openxmlformats.org/officeDocument/2006/relationships/slide" Target="slides/slide72.xml"/><Relationship Id="rId77" Type="http://schemas.openxmlformats.org/officeDocument/2006/relationships/slide" Target="slides/slide71.xml"/><Relationship Id="rId76" Type="http://schemas.openxmlformats.org/officeDocument/2006/relationships/slide" Target="slides/slide70.xml"/><Relationship Id="rId75" Type="http://schemas.openxmlformats.org/officeDocument/2006/relationships/slide" Target="slides/slide69.xml"/><Relationship Id="rId74" Type="http://schemas.openxmlformats.org/officeDocument/2006/relationships/slide" Target="slides/slide68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7" Type="http://schemas.openxmlformats.org/officeDocument/2006/relationships/slide" Target="slides/slide2.xml"/><Relationship Id="rId69" Type="http://schemas.openxmlformats.org/officeDocument/2006/relationships/slide" Target="slides/slide63.xml"/><Relationship Id="rId68" Type="http://schemas.openxmlformats.org/officeDocument/2006/relationships/slide" Target="slides/slide62.xml"/><Relationship Id="rId67" Type="http://schemas.openxmlformats.org/officeDocument/2006/relationships/slide" Target="slides/slide61.xml"/><Relationship Id="rId66" Type="http://schemas.openxmlformats.org/officeDocument/2006/relationships/slide" Target="slides/slide60.xml"/><Relationship Id="rId65" Type="http://schemas.openxmlformats.org/officeDocument/2006/relationships/slide" Target="slides/slide59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60" Type="http://schemas.openxmlformats.org/officeDocument/2006/relationships/slide" Target="slides/slide54.xml"/><Relationship Id="rId6" Type="http://schemas.openxmlformats.org/officeDocument/2006/relationships/slide" Target="slides/slide1.xml"/><Relationship Id="rId59" Type="http://schemas.openxmlformats.org/officeDocument/2006/relationships/slide" Target="slides/slide53.xml"/><Relationship Id="rId58" Type="http://schemas.openxmlformats.org/officeDocument/2006/relationships/slide" Target="slides/slide52.xml"/><Relationship Id="rId57" Type="http://schemas.openxmlformats.org/officeDocument/2006/relationships/slide" Target="slides/slide51.xml"/><Relationship Id="rId56" Type="http://schemas.openxmlformats.org/officeDocument/2006/relationships/slide" Target="slides/slide50.xml"/><Relationship Id="rId55" Type="http://schemas.openxmlformats.org/officeDocument/2006/relationships/slide" Target="slides/slide49.xml"/><Relationship Id="rId54" Type="http://schemas.openxmlformats.org/officeDocument/2006/relationships/slide" Target="slides/slide48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" Type="http://schemas.openxmlformats.org/officeDocument/2006/relationships/slideMaster" Target="slideMasters/slideMaster4.xml"/><Relationship Id="rId49" Type="http://schemas.openxmlformats.org/officeDocument/2006/relationships/slide" Target="slides/slide4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0" Type="http://schemas.openxmlformats.org/officeDocument/2006/relationships/slide" Target="slides/slide34.xml"/><Relationship Id="rId4" Type="http://schemas.openxmlformats.org/officeDocument/2006/relationships/slideMaster" Target="slideMasters/slideMaster3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3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0" Type="http://schemas.openxmlformats.org/officeDocument/2006/relationships/slide" Target="slides/slide14.xml"/><Relationship Id="rId2" Type="http://schemas.openxmlformats.org/officeDocument/2006/relationships/theme" Target="theme/theme1.xml"/><Relationship Id="rId19" Type="http://schemas.openxmlformats.org/officeDocument/2006/relationships/slide" Target="slides/slide13.xml"/><Relationship Id="rId18" Type="http://schemas.openxmlformats.org/officeDocument/2006/relationships/slide" Target="slides/slide12.xml"/><Relationship Id="rId17" Type="http://schemas.openxmlformats.org/officeDocument/2006/relationships/slide" Target="slides/slide11.xml"/><Relationship Id="rId161" Type="http://schemas.openxmlformats.org/officeDocument/2006/relationships/commentAuthors" Target="commentAuthors.xml"/><Relationship Id="rId160" Type="http://schemas.openxmlformats.org/officeDocument/2006/relationships/tableStyles" Target="tableStyles.xml"/><Relationship Id="rId16" Type="http://schemas.openxmlformats.org/officeDocument/2006/relationships/notesMaster" Target="notesMasters/notesMaster1.xml"/><Relationship Id="rId159" Type="http://schemas.openxmlformats.org/officeDocument/2006/relationships/viewProps" Target="viewProps.xml"/><Relationship Id="rId158" Type="http://schemas.openxmlformats.org/officeDocument/2006/relationships/presProps" Target="presProps.xml"/><Relationship Id="rId157" Type="http://schemas.openxmlformats.org/officeDocument/2006/relationships/handoutMaster" Target="handoutMasters/handoutMaster1.xml"/><Relationship Id="rId156" Type="http://schemas.openxmlformats.org/officeDocument/2006/relationships/slide" Target="slides/slide150.xml"/><Relationship Id="rId155" Type="http://schemas.openxmlformats.org/officeDocument/2006/relationships/slide" Target="slides/slide149.xml"/><Relationship Id="rId154" Type="http://schemas.openxmlformats.org/officeDocument/2006/relationships/slide" Target="slides/slide148.xml"/><Relationship Id="rId153" Type="http://schemas.openxmlformats.org/officeDocument/2006/relationships/slide" Target="slides/slide147.xml"/><Relationship Id="rId152" Type="http://schemas.openxmlformats.org/officeDocument/2006/relationships/slide" Target="slides/slide146.xml"/><Relationship Id="rId151" Type="http://schemas.openxmlformats.org/officeDocument/2006/relationships/slide" Target="slides/slide145.xml"/><Relationship Id="rId150" Type="http://schemas.openxmlformats.org/officeDocument/2006/relationships/slide" Target="slides/slide144.xml"/><Relationship Id="rId15" Type="http://schemas.openxmlformats.org/officeDocument/2006/relationships/slide" Target="slides/slide10.xml"/><Relationship Id="rId149" Type="http://schemas.openxmlformats.org/officeDocument/2006/relationships/slide" Target="slides/slide143.xml"/><Relationship Id="rId148" Type="http://schemas.openxmlformats.org/officeDocument/2006/relationships/slide" Target="slides/slide142.xml"/><Relationship Id="rId147" Type="http://schemas.openxmlformats.org/officeDocument/2006/relationships/slide" Target="slides/slide141.xml"/><Relationship Id="rId146" Type="http://schemas.openxmlformats.org/officeDocument/2006/relationships/slide" Target="slides/slide140.xml"/><Relationship Id="rId145" Type="http://schemas.openxmlformats.org/officeDocument/2006/relationships/slide" Target="slides/slide139.xml"/><Relationship Id="rId144" Type="http://schemas.openxmlformats.org/officeDocument/2006/relationships/slide" Target="slides/slide138.xml"/><Relationship Id="rId143" Type="http://schemas.openxmlformats.org/officeDocument/2006/relationships/slide" Target="slides/slide137.xml"/><Relationship Id="rId142" Type="http://schemas.openxmlformats.org/officeDocument/2006/relationships/slide" Target="slides/slide136.xml"/><Relationship Id="rId141" Type="http://schemas.openxmlformats.org/officeDocument/2006/relationships/slide" Target="slides/slide135.xml"/><Relationship Id="rId140" Type="http://schemas.openxmlformats.org/officeDocument/2006/relationships/slide" Target="slides/slide134.xml"/><Relationship Id="rId14" Type="http://schemas.openxmlformats.org/officeDocument/2006/relationships/slide" Target="slides/slide9.xml"/><Relationship Id="rId139" Type="http://schemas.openxmlformats.org/officeDocument/2006/relationships/slide" Target="slides/slide133.xml"/><Relationship Id="rId138" Type="http://schemas.openxmlformats.org/officeDocument/2006/relationships/slide" Target="slides/slide132.xml"/><Relationship Id="rId137" Type="http://schemas.openxmlformats.org/officeDocument/2006/relationships/slide" Target="slides/slide131.xml"/><Relationship Id="rId136" Type="http://schemas.openxmlformats.org/officeDocument/2006/relationships/slide" Target="slides/slide130.xml"/><Relationship Id="rId135" Type="http://schemas.openxmlformats.org/officeDocument/2006/relationships/slide" Target="slides/slide129.xml"/><Relationship Id="rId134" Type="http://schemas.openxmlformats.org/officeDocument/2006/relationships/slide" Target="slides/slide128.xml"/><Relationship Id="rId133" Type="http://schemas.openxmlformats.org/officeDocument/2006/relationships/slide" Target="slides/slide127.xml"/><Relationship Id="rId132" Type="http://schemas.openxmlformats.org/officeDocument/2006/relationships/slide" Target="slides/slide126.xml"/><Relationship Id="rId131" Type="http://schemas.openxmlformats.org/officeDocument/2006/relationships/slide" Target="slides/slide125.xml"/><Relationship Id="rId130" Type="http://schemas.openxmlformats.org/officeDocument/2006/relationships/slide" Target="slides/slide124.xml"/><Relationship Id="rId13" Type="http://schemas.openxmlformats.org/officeDocument/2006/relationships/slide" Target="slides/slide8.xml"/><Relationship Id="rId129" Type="http://schemas.openxmlformats.org/officeDocument/2006/relationships/slide" Target="slides/slide123.xml"/><Relationship Id="rId128" Type="http://schemas.openxmlformats.org/officeDocument/2006/relationships/slide" Target="slides/slide122.xml"/><Relationship Id="rId127" Type="http://schemas.openxmlformats.org/officeDocument/2006/relationships/slide" Target="slides/slide121.xml"/><Relationship Id="rId126" Type="http://schemas.openxmlformats.org/officeDocument/2006/relationships/slide" Target="slides/slide120.xml"/><Relationship Id="rId125" Type="http://schemas.openxmlformats.org/officeDocument/2006/relationships/slide" Target="slides/slide119.xml"/><Relationship Id="rId124" Type="http://schemas.openxmlformats.org/officeDocument/2006/relationships/slide" Target="slides/slide118.xml"/><Relationship Id="rId123" Type="http://schemas.openxmlformats.org/officeDocument/2006/relationships/slide" Target="slides/slide117.xml"/><Relationship Id="rId122" Type="http://schemas.openxmlformats.org/officeDocument/2006/relationships/slide" Target="slides/slide116.xml"/><Relationship Id="rId121" Type="http://schemas.openxmlformats.org/officeDocument/2006/relationships/slide" Target="slides/slide115.xml"/><Relationship Id="rId120" Type="http://schemas.openxmlformats.org/officeDocument/2006/relationships/slide" Target="slides/slide114.xml"/><Relationship Id="rId12" Type="http://schemas.openxmlformats.org/officeDocument/2006/relationships/slide" Target="slides/slide7.xml"/><Relationship Id="rId119" Type="http://schemas.openxmlformats.org/officeDocument/2006/relationships/slide" Target="slides/slide113.xml"/><Relationship Id="rId118" Type="http://schemas.openxmlformats.org/officeDocument/2006/relationships/slide" Target="slides/slide112.xml"/><Relationship Id="rId117" Type="http://schemas.openxmlformats.org/officeDocument/2006/relationships/slide" Target="slides/slide111.xml"/><Relationship Id="rId116" Type="http://schemas.openxmlformats.org/officeDocument/2006/relationships/slide" Target="slides/slide110.xml"/><Relationship Id="rId115" Type="http://schemas.openxmlformats.org/officeDocument/2006/relationships/slide" Target="slides/slide109.xml"/><Relationship Id="rId114" Type="http://schemas.openxmlformats.org/officeDocument/2006/relationships/slide" Target="slides/slide108.xml"/><Relationship Id="rId113" Type="http://schemas.openxmlformats.org/officeDocument/2006/relationships/slide" Target="slides/slide107.xml"/><Relationship Id="rId112" Type="http://schemas.openxmlformats.org/officeDocument/2006/relationships/slide" Target="slides/slide106.xml"/><Relationship Id="rId111" Type="http://schemas.openxmlformats.org/officeDocument/2006/relationships/slide" Target="slides/slide105.xml"/><Relationship Id="rId110" Type="http://schemas.openxmlformats.org/officeDocument/2006/relationships/slide" Target="slides/slide104.xml"/><Relationship Id="rId11" Type="http://schemas.openxmlformats.org/officeDocument/2006/relationships/slide" Target="slides/slide6.xml"/><Relationship Id="rId109" Type="http://schemas.openxmlformats.org/officeDocument/2006/relationships/slide" Target="slides/slide103.xml"/><Relationship Id="rId108" Type="http://schemas.openxmlformats.org/officeDocument/2006/relationships/slide" Target="slides/slide102.xml"/><Relationship Id="rId107" Type="http://schemas.openxmlformats.org/officeDocument/2006/relationships/slide" Target="slides/slide101.xml"/><Relationship Id="rId106" Type="http://schemas.openxmlformats.org/officeDocument/2006/relationships/slide" Target="slides/slide100.xml"/><Relationship Id="rId105" Type="http://schemas.openxmlformats.org/officeDocument/2006/relationships/slide" Target="slides/slide99.xml"/><Relationship Id="rId104" Type="http://schemas.openxmlformats.org/officeDocument/2006/relationships/slide" Target="slides/slide98.xml"/><Relationship Id="rId103" Type="http://schemas.openxmlformats.org/officeDocument/2006/relationships/slide" Target="slides/slide97.xml"/><Relationship Id="rId102" Type="http://schemas.openxmlformats.org/officeDocument/2006/relationships/slide" Target="slides/slide96.xml"/><Relationship Id="rId101" Type="http://schemas.openxmlformats.org/officeDocument/2006/relationships/slide" Target="slides/slide95.xml"/><Relationship Id="rId100" Type="http://schemas.openxmlformats.org/officeDocument/2006/relationships/slide" Target="slides/slide94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886200" y="0"/>
            <a:ext cx="4376738" cy="349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>
            <a:lvl1pPr defTabSz="92265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529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8277225" y="0"/>
            <a:ext cx="1017588" cy="349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>
            <a:lvl1pPr algn="r" defTabSz="92265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F236681-7156-4480-AE64-29C68A5EE95B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530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657975"/>
            <a:ext cx="4027488" cy="35083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b" anchorCtr="0" compatLnSpc="1"/>
          <a:lstStyle>
            <a:lvl1pPr defTabSz="92392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2392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Template-WSU Hrz 201.ppt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530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265738" y="6657975"/>
            <a:ext cx="4029075" cy="35083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b" anchorCtr="0" compatLnSpc="1"/>
          <a:lstStyle>
            <a:lvl1pPr algn="r" defTabSz="922655" eaLnBrk="1" hangingPunct="1">
              <a:defRPr sz="1200"/>
            </a:lvl1pPr>
          </a:lstStyle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CA73A3-3EE7-4293-867F-9B8FBD0D7801}" type="slidenum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0" y="7938"/>
            <a:ext cx="3757613" cy="275590"/>
          </a:xfrm>
          <a:prstGeom prst="rect">
            <a:avLst/>
          </a:prstGeom>
          <a:noFill/>
        </p:spPr>
        <p:txBody>
          <a:bodyPr lIns="91650" tIns="45825" rIns="91650" bIns="45825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301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WASHINGTON STATE UNIVERSITY</a:t>
            </a:r>
            <a:endParaRPr kumimoji="0" lang="en-US" sz="1200" b="0" i="0" u="none" strike="noStrike" kern="1200" cap="none" spc="301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027488" cy="349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>
            <a:lvl1pPr defTabSz="92265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265738" y="0"/>
            <a:ext cx="4029075" cy="349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>
            <a:lvl1pPr algn="r" defTabSz="92265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412" name="Rectangle 4"/>
          <p:cNvSpPr>
            <a:spLocks noGrp="1" noRot="1" noChangeAspect="1" noTextEdit="1"/>
          </p:cNvSpPr>
          <p:nvPr>
            <p:ph type="sldImg"/>
          </p:nvPr>
        </p:nvSpPr>
        <p:spPr>
          <a:xfrm>
            <a:off x="2370138" y="527050"/>
            <a:ext cx="4562475" cy="26289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9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0275" y="3330575"/>
            <a:ext cx="7435850" cy="31527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Click to edit Master text styles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61468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Second level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1228725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Third level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1843405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Fourth level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245745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Fifth level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229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657975"/>
            <a:ext cx="4027488" cy="35083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b" anchorCtr="0" compatLnSpc="1"/>
          <a:lstStyle>
            <a:lvl1pPr defTabSz="92392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2392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Template-WSU Hrz 201.ppt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265738" y="6657975"/>
            <a:ext cx="4029075" cy="35083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b" anchorCtr="0" compatLnSpc="1"/>
          <a:lstStyle>
            <a:lvl1pPr algn="r" defTabSz="922655" eaLnBrk="1" hangingPunct="1">
              <a:defRPr sz="1200"/>
            </a:lvl1pPr>
          </a:lstStyle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2BAE9E6-DFE7-48C6-84B7-49545C10A24D}" type="slidenum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6146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1228725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843405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245745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3073400" algn="l" defTabSz="122936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88080" algn="l" defTabSz="122936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02760" algn="l" defTabSz="122936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17440" algn="l" defTabSz="122936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操作系统的本身是一个比较复杂的东西，任务的管理和调度实现的底层是很复杂和困难的。但是呢，我们一般都是把操作系统本身作为一个工具一个平台，我们的目的是使用它的功能而不是开发一个操作系统。</a:t>
            </a:r>
            <a:endParaRPr lang="en-US" altLang="zh-CN"/>
          </a:p>
          <a:p>
            <a:r>
              <a:rPr lang="zh-CN" altLang="zh-CN"/>
              <a:t>实际上真正能使用操作系统的人并不多，反而是跑裸机的占大多数，这也和产品的具体要求有关，很多简单的系统只需要裸机即可满足。</a:t>
            </a:r>
            <a:endParaRPr lang="en-US" altLang="zh-CN"/>
          </a:p>
          <a:p>
            <a:endParaRPr lang="en-US" altLang="zh-CN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>
                <a:sym typeface="+mn-ea"/>
              </a:rPr>
              <a:t>FreeRTOS 的优点：小巧、支持多平台、功能模块化。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>
                <a:sym typeface="+mn-ea"/>
              </a:rPr>
              <a:t>FreeRTOS 是开源的，下载后可以自由修改和使用。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dirty="0" err="1">
                <a:solidFill>
                  <a:srgbClr val="002060"/>
                </a:solidFill>
                <a:effectLst/>
                <a:latin typeface="思源黑体 CN Normal" pitchFamily="34" charset="-122"/>
                <a:ea typeface="思源黑体 CN Normal" pitchFamily="34" charset="-122"/>
                <a:sym typeface="+mn-ea"/>
              </a:rPr>
              <a:t>xSemaphoreCreateBinaryStatic</a:t>
            </a:r>
            <a:r>
              <a:rPr lang="en-US" dirty="0">
                <a:solidFill>
                  <a:srgbClr val="002060"/>
                </a:solidFill>
                <a:effectLst/>
                <a:latin typeface="思源黑体 CN Normal" pitchFamily="34" charset="-122"/>
                <a:ea typeface="思源黑体 CN Normal" pitchFamily="34" charset="-122"/>
                <a:sym typeface="+mn-ea"/>
              </a:rPr>
              <a:t>() </a:t>
            </a:r>
            <a:endParaRPr lang="en-US" dirty="0">
              <a:solidFill>
                <a:srgbClr val="002060"/>
              </a:solidFill>
              <a:effectLst/>
              <a:latin typeface="思源黑体 CN Normal" pitchFamily="34" charset="-122"/>
              <a:ea typeface="思源黑体 CN Normal" pitchFamily="34" charset="-122"/>
            </a:endParaRPr>
          </a:p>
          <a:p>
            <a:r>
              <a:rPr lang="zh-CN" altLang="en-US"/>
              <a:t>动态和静态信号量的</a:t>
            </a:r>
            <a:r>
              <a:rPr lang="zh-CN" altLang="en-US"/>
              <a:t>区别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0.xml"/><Relationship Id="rId7" Type="http://schemas.openxmlformats.org/officeDocument/2006/relationships/tags" Target="../tags/tag9.xml"/><Relationship Id="rId6" Type="http://schemas.openxmlformats.org/officeDocument/2006/relationships/tags" Target="../tags/tag8.xml"/><Relationship Id="rId5" Type="http://schemas.openxmlformats.org/officeDocument/2006/relationships/image" Target="../media/image5.png"/><Relationship Id="rId4" Type="http://schemas.openxmlformats.org/officeDocument/2006/relationships/tags" Target="../tags/tag7.xml"/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9" Type="http://schemas.openxmlformats.org/officeDocument/2006/relationships/tags" Target="../tags/tag21.xml"/><Relationship Id="rId8" Type="http://schemas.openxmlformats.org/officeDocument/2006/relationships/tags" Target="../tags/tag20.xml"/><Relationship Id="rId7" Type="http://schemas.openxmlformats.org/officeDocument/2006/relationships/tags" Target="../tags/tag19.xml"/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image" Target="../media/image7.png"/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8" Type="http://schemas.openxmlformats.org/officeDocument/2006/relationships/tags" Target="../tags/tag32.xml"/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image" Target="../media/image5.png"/><Relationship Id="rId4" Type="http://schemas.openxmlformats.org/officeDocument/2006/relationships/tags" Target="../tags/tag29.xml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tags" Target="../tags/tag37.xml"/><Relationship Id="rId6" Type="http://schemas.openxmlformats.org/officeDocument/2006/relationships/tags" Target="../tags/tag36.xml"/><Relationship Id="rId5" Type="http://schemas.openxmlformats.org/officeDocument/2006/relationships/tags" Target="../tags/tag35.xml"/><Relationship Id="rId4" Type="http://schemas.openxmlformats.org/officeDocument/2006/relationships/image" Target="../media/image8.png"/><Relationship Id="rId3" Type="http://schemas.openxmlformats.org/officeDocument/2006/relationships/tags" Target="../tags/tag34.xml"/><Relationship Id="rId2" Type="http://schemas.openxmlformats.org/officeDocument/2006/relationships/tags" Target="../tags/tag33.xml"/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7" Type="http://schemas.openxmlformats.org/officeDocument/2006/relationships/tags" Target="../tags/tag45.xml"/><Relationship Id="rId6" Type="http://schemas.openxmlformats.org/officeDocument/2006/relationships/tags" Target="../tags/tag44.xml"/><Relationship Id="rId5" Type="http://schemas.openxmlformats.org/officeDocument/2006/relationships/tags" Target="../tags/tag43.xml"/><Relationship Id="rId4" Type="http://schemas.openxmlformats.org/officeDocument/2006/relationships/tags" Target="../tags/tag42.xml"/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9" Type="http://schemas.openxmlformats.org/officeDocument/2006/relationships/tags" Target="../tags/tag53.xml"/><Relationship Id="rId8" Type="http://schemas.openxmlformats.org/officeDocument/2006/relationships/tags" Target="../tags/tag52.xml"/><Relationship Id="rId7" Type="http://schemas.openxmlformats.org/officeDocument/2006/relationships/tags" Target="../tags/tag51.xml"/><Relationship Id="rId6" Type="http://schemas.openxmlformats.org/officeDocument/2006/relationships/tags" Target="../tags/tag50.xml"/><Relationship Id="rId5" Type="http://schemas.openxmlformats.org/officeDocument/2006/relationships/tags" Target="../tags/tag49.xml"/><Relationship Id="rId4" Type="http://schemas.openxmlformats.org/officeDocument/2006/relationships/tags" Target="../tags/tag48.xml"/><Relationship Id="rId3" Type="http://schemas.openxmlformats.org/officeDocument/2006/relationships/tags" Target="../tags/tag47.xml"/><Relationship Id="rId2" Type="http://schemas.openxmlformats.org/officeDocument/2006/relationships/tags" Target="../tags/tag46.xml"/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5" Type="http://schemas.openxmlformats.org/officeDocument/2006/relationships/tags" Target="../tags/tag57.xml"/><Relationship Id="rId4" Type="http://schemas.openxmlformats.org/officeDocument/2006/relationships/tags" Target="../tags/tag56.xml"/><Relationship Id="rId3" Type="http://schemas.openxmlformats.org/officeDocument/2006/relationships/tags" Target="../tags/tag55.xml"/><Relationship Id="rId2" Type="http://schemas.openxmlformats.org/officeDocument/2006/relationships/tags" Target="../tags/tag54.xml"/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4" Type="http://schemas.openxmlformats.org/officeDocument/2006/relationships/tags" Target="../tags/tag60.xml"/><Relationship Id="rId3" Type="http://schemas.openxmlformats.org/officeDocument/2006/relationships/tags" Target="../tags/tag59.xml"/><Relationship Id="rId2" Type="http://schemas.openxmlformats.org/officeDocument/2006/relationships/tags" Target="../tags/tag58.xml"/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9" Type="http://schemas.openxmlformats.org/officeDocument/2006/relationships/tags" Target="../tags/tag76.xml"/><Relationship Id="rId8" Type="http://schemas.openxmlformats.org/officeDocument/2006/relationships/tags" Target="../tags/tag75.xml"/><Relationship Id="rId7" Type="http://schemas.openxmlformats.org/officeDocument/2006/relationships/tags" Target="../tags/tag74.xml"/><Relationship Id="rId6" Type="http://schemas.openxmlformats.org/officeDocument/2006/relationships/tags" Target="../tags/tag73.xml"/><Relationship Id="rId5" Type="http://schemas.openxmlformats.org/officeDocument/2006/relationships/tags" Target="../tags/tag72.xml"/><Relationship Id="rId4" Type="http://schemas.openxmlformats.org/officeDocument/2006/relationships/image" Target="../media/image9.png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flipH="1">
            <a:off x="0" y="0"/>
            <a:ext cx="646113" cy="7021513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3079" name="Picture 11"/>
          <p:cNvPicPr>
            <a:picLocks noChangeAspect="1"/>
          </p:cNvPicPr>
          <p:nvPr userDrawn="1"/>
        </p:nvPicPr>
        <p:blipFill>
          <a:blip r:embed="rId2"/>
          <a:srcRect r="36736"/>
          <a:stretch>
            <a:fillRect/>
          </a:stretch>
        </p:blipFill>
        <p:spPr>
          <a:xfrm>
            <a:off x="-9525" y="0"/>
            <a:ext cx="12196763" cy="693738"/>
          </a:xfrm>
          <a:prstGeom prst="rect">
            <a:avLst/>
          </a:prstGeom>
          <a:solidFill>
            <a:srgbClr val="FF0000"/>
          </a:solidFill>
          <a:ln w="9525">
            <a:noFill/>
          </a:ln>
        </p:spPr>
      </p:pic>
      <p:sp>
        <p:nvSpPr>
          <p:cNvPr id="13" name="Rectangle 13"/>
          <p:cNvSpPr/>
          <p:nvPr/>
        </p:nvSpPr>
        <p:spPr bwMode="gray">
          <a:xfrm flipH="1">
            <a:off x="-9525" y="0"/>
            <a:ext cx="644525" cy="693738"/>
          </a:xfrm>
          <a:prstGeom prst="rect">
            <a:avLst/>
          </a:prstGeom>
          <a:gradFill>
            <a:gsLst>
              <a:gs pos="0">
                <a:schemeClr val="tx1">
                  <a:lumMod val="85000"/>
                </a:schemeClr>
              </a:gs>
              <a:gs pos="100000">
                <a:schemeClr val="tx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3081" name="图片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8575" y="61913"/>
            <a:ext cx="568325" cy="56991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  <a:endParaRPr lang="en-US" strike="noStrike" noProof="1"/>
          </a:p>
        </p:txBody>
      </p:sp>
      <p:sp>
        <p:nvSpPr>
          <p:cNvPr id="15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6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7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1C31438-4DFE-43A2-9E78-3724DF25393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771356" y="-5772944"/>
            <a:ext cx="64452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5399087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  <a:endParaRPr lang="en-US" strike="noStrike" noProof="1"/>
          </a:p>
        </p:txBody>
      </p:sp>
      <p:sp>
        <p:nvSpPr>
          <p:cNvPr id="13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D388FB5-9160-4F34-A476-BD340846AC9E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107781" y="-5107781"/>
            <a:ext cx="197167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4070350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5128" name="图片 1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23625" y="257175"/>
            <a:ext cx="728663" cy="7286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4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2B26C6D9-AAF1-4BF0-937E-892E43D18C84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0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4691063" y="-3157537"/>
            <a:ext cx="2805113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1703387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6152" name="图片 1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23625" y="257175"/>
            <a:ext cx="728663" cy="7286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5FD804A-F784-4013-AD92-560D09364AB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145088" y="-20637"/>
            <a:ext cx="1897063" cy="12187238"/>
          </a:xfrm>
          <a:prstGeom prst="rect">
            <a:avLst/>
          </a:prstGeom>
          <a:gradFill flip="none" rotWithShape="1">
            <a:gsLst>
              <a:gs pos="0">
                <a:srgbClr val="C00000"/>
              </a:gs>
              <a:gs pos="100000">
                <a:srgbClr val="9E0A26"/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5991225" y="-1066800"/>
            <a:ext cx="204788" cy="1218723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  <a:endParaRPr lang="en-US" strike="noStrike" noProof="1"/>
          </a:p>
        </p:txBody>
      </p:sp>
      <p:sp>
        <p:nvSpPr>
          <p:cNvPr id="13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CF970104-7198-4BD1-AC36-68873D2D364E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8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448" y="1404676"/>
            <a:ext cx="11531790" cy="579812"/>
          </a:xfrm>
        </p:spPr>
        <p:txBody>
          <a:bodyPr/>
          <a:lstStyle>
            <a:lvl1pPr>
              <a:defRPr sz="3200"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41767" y="2341682"/>
            <a:ext cx="10359152" cy="2155714"/>
          </a:xfrm>
        </p:spPr>
        <p:txBody>
          <a:bodyPr lIns="614660" rIns="614660"/>
          <a:lstStyle>
            <a:lvl1pPr marL="462915" indent="-241300">
              <a:spcBef>
                <a:spcPts val="1615"/>
              </a:spcBef>
              <a:buSzPct val="100000"/>
              <a:buFont typeface="Arial" panose="020B0604020202020204" pitchFamily="34" charset="0"/>
              <a:buChar char="•"/>
              <a:defRPr sz="2700" b="0"/>
            </a:lvl1pPr>
            <a:lvl2pPr marL="685165" indent="-222250">
              <a:spcBef>
                <a:spcPts val="540"/>
              </a:spcBef>
              <a:buSzPct val="75000"/>
              <a:buFont typeface="Lucida Sans" pitchFamily="34" charset="0"/>
              <a:buChar char="–"/>
              <a:defRPr sz="2700"/>
            </a:lvl2pPr>
            <a:lvl3pPr marL="1069340" indent="-295275">
              <a:spcBef>
                <a:spcPts val="540"/>
              </a:spcBef>
              <a:buSzPct val="100000"/>
              <a:buFont typeface="Arial" panose="020B0604020202020204" pitchFamily="34" charset="0"/>
              <a:buChar char="•"/>
              <a:defRPr sz="2200"/>
            </a:lvl3pPr>
            <a:lvl4pPr marL="1229360" indent="-222250">
              <a:spcBef>
                <a:spcPts val="540"/>
              </a:spcBef>
              <a:buSzPct val="100000"/>
              <a:buFont typeface="Lucida Sans" pitchFamily="34" charset="0"/>
              <a:buChar char="–"/>
              <a:defRPr sz="2200"/>
            </a:lvl4pPr>
            <a:lvl5pPr marL="1450975" indent="-222250">
              <a:spcBef>
                <a:spcPts val="540"/>
              </a:spcBef>
              <a:buSzPct val="100000"/>
              <a:buFont typeface="Arial" panose="020B0604020202020204" pitchFamily="34" charset="0"/>
              <a:buChar char="•"/>
              <a:defRPr sz="2200"/>
            </a:lvl5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  <a:p>
            <a:pPr lvl="1" fontAlgn="base"/>
            <a:r>
              <a:rPr lang="en-US" strike="noStrike" noProof="1"/>
              <a:t>Second level</a:t>
            </a:r>
            <a:endParaRPr lang="en-US" strike="noStrike" noProof="1"/>
          </a:p>
          <a:p>
            <a:pPr lvl="2" fontAlgn="base"/>
            <a:r>
              <a:rPr lang="en-US" strike="noStrike" noProof="1"/>
              <a:t>Third level</a:t>
            </a:r>
            <a:endParaRPr lang="en-US" strike="noStrike" noProof="1"/>
          </a:p>
          <a:p>
            <a:pPr lvl="3" fontAlgn="base"/>
            <a:r>
              <a:rPr lang="en-US" strike="noStrike" noProof="1"/>
              <a:t>Fourth level</a:t>
            </a:r>
            <a:endParaRPr lang="en-US" strike="noStrike" noProof="1"/>
          </a:p>
          <a:p>
            <a:pPr lvl="4" fontAlgn="base"/>
            <a:r>
              <a:rPr lang="en-US" strike="noStrike" noProof="1"/>
              <a:t>Fifth level</a:t>
            </a:r>
            <a:endParaRPr lang="en-US" strike="noStrike" noProof="1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81250" y="7516813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ADA95E-ED9E-482F-ABFD-6CE64A2D4A2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22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55448" y="864757"/>
            <a:ext cx="11531790" cy="630230"/>
          </a:xfrm>
        </p:spPr>
        <p:txBody>
          <a:bodyPr/>
          <a:lstStyle>
            <a:lvl1pPr algn="ctr">
              <a:lnSpc>
                <a:spcPct val="100000"/>
              </a:lnSpc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655448" y="1532366"/>
            <a:ext cx="11531790" cy="588214"/>
          </a:xfrm>
        </p:spPr>
        <p:txBody>
          <a:bodyPr rIns="0"/>
          <a:lstStyle>
            <a:lvl1pPr marL="0" indent="0" algn="ctr">
              <a:buFontTx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  <a:endParaRPr lang="en-US" strike="noStrike" noProof="1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E4A2AC8-C6EE-4E10-A998-D15131537773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0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6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208" y="1476597"/>
            <a:ext cx="11542033" cy="579812"/>
          </a:xfrm>
        </p:spPr>
        <p:txBody>
          <a:bodyPr/>
          <a:lstStyle/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67057" y="2330051"/>
            <a:ext cx="5334344" cy="2815025"/>
          </a:xfrm>
        </p:spPr>
        <p:txBody>
          <a:bodyPr anchorCtr="0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7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  <a:p>
            <a:pPr lvl="1" fontAlgn="base"/>
            <a:r>
              <a:rPr lang="en-US" strike="noStrike" noProof="1"/>
              <a:t>Second level</a:t>
            </a:r>
            <a:endParaRPr lang="en-US" strike="noStrike" noProof="1"/>
          </a:p>
          <a:p>
            <a:pPr lvl="2" fontAlgn="base"/>
            <a:r>
              <a:rPr lang="en-US" strike="noStrike" noProof="1"/>
              <a:t>Third level</a:t>
            </a:r>
            <a:endParaRPr lang="en-US" strike="noStrike" noProof="1"/>
          </a:p>
          <a:p>
            <a:pPr lvl="3" fontAlgn="base"/>
            <a:r>
              <a:rPr lang="en-US" strike="noStrike" noProof="1"/>
              <a:t>Fourth level</a:t>
            </a:r>
            <a:endParaRPr lang="en-US" strike="noStrike" noProof="1"/>
          </a:p>
          <a:p>
            <a:pPr lvl="4" fontAlgn="base"/>
            <a:r>
              <a:rPr lang="en-US" strike="noStrike" noProof="1"/>
              <a:t>Fifth level</a:t>
            </a:r>
            <a:endParaRPr lang="en-US" strike="noStrike" noProof="1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4518" y="2330051"/>
            <a:ext cx="5291197" cy="2815025"/>
          </a:xfrm>
        </p:spPr>
        <p:txBody>
          <a:bodyPr anchorCtr="0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7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  <a:p>
            <a:pPr lvl="1" fontAlgn="base"/>
            <a:r>
              <a:rPr lang="en-US" strike="noStrike" noProof="1"/>
              <a:t>Second level</a:t>
            </a:r>
            <a:endParaRPr lang="en-US" strike="noStrike" noProof="1"/>
          </a:p>
          <a:p>
            <a:pPr lvl="2" fontAlgn="base"/>
            <a:r>
              <a:rPr lang="en-US" strike="noStrike" noProof="1"/>
              <a:t>Third level</a:t>
            </a:r>
            <a:endParaRPr lang="en-US" strike="noStrike" noProof="1"/>
          </a:p>
          <a:p>
            <a:pPr lvl="3" fontAlgn="base"/>
            <a:r>
              <a:rPr lang="en-US" strike="noStrike" noProof="1"/>
              <a:t>Fourth level</a:t>
            </a:r>
            <a:endParaRPr lang="en-US" strike="noStrike" noProof="1"/>
          </a:p>
          <a:p>
            <a:pPr lvl="4" fontAlgn="base"/>
            <a:r>
              <a:rPr lang="en-US" strike="noStrike" noProof="1"/>
              <a:t>Fifth level</a:t>
            </a:r>
            <a:endParaRPr lang="en-US" strike="noStrike" noProof="1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67A510D-99EA-450F-A733-49970FAE03E3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0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362" y="1245917"/>
            <a:ext cx="11577876" cy="579812"/>
          </a:xfrm>
        </p:spPr>
        <p:txBody>
          <a:bodyPr/>
          <a:lstStyle>
            <a:lvl1pPr>
              <a:defRPr/>
            </a:lvl1pPr>
          </a:lstStyle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6605" y="2092378"/>
            <a:ext cx="5384813" cy="504184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614680" indent="0">
              <a:buNone/>
              <a:defRPr sz="2700" b="1"/>
            </a:lvl2pPr>
            <a:lvl3pPr marL="1229360" indent="0">
              <a:buNone/>
              <a:defRPr sz="2400" b="1"/>
            </a:lvl3pPr>
            <a:lvl4pPr marL="1844040" indent="0">
              <a:buNone/>
              <a:defRPr sz="2200" b="1"/>
            </a:lvl4pPr>
            <a:lvl5pPr marL="2458720" indent="0">
              <a:buNone/>
              <a:defRPr sz="2200" b="1"/>
            </a:lvl5pPr>
            <a:lvl6pPr marL="3073400" indent="0">
              <a:buNone/>
              <a:defRPr sz="2200" b="1"/>
            </a:lvl6pPr>
            <a:lvl7pPr marL="3688080" indent="0">
              <a:buNone/>
              <a:defRPr sz="2200" b="1"/>
            </a:lvl7pPr>
            <a:lvl8pPr marL="4302760" indent="0">
              <a:buNone/>
              <a:defRPr sz="2200" b="1"/>
            </a:lvl8pPr>
            <a:lvl9pPr marL="4917440" indent="0">
              <a:buNone/>
              <a:defRPr sz="2200" b="1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6603" y="2683987"/>
            <a:ext cx="5384813" cy="1827666"/>
          </a:xfrm>
        </p:spPr>
        <p:txBody>
          <a:bodyPr/>
          <a:lstStyle>
            <a:lvl1pPr>
              <a:defRPr lang="en-US" sz="24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defRPr lang="en-US" sz="19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defRPr lang="en-US" sz="19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  <a:p>
            <a:pPr lvl="1" fontAlgn="base"/>
            <a:r>
              <a:rPr lang="en-US" strike="noStrike" noProof="1"/>
              <a:t>Second level</a:t>
            </a:r>
            <a:endParaRPr lang="en-US" strike="noStrike" noProof="1"/>
          </a:p>
          <a:p>
            <a:pPr lvl="2" fontAlgn="base"/>
            <a:r>
              <a:rPr lang="en-US" strike="noStrike" noProof="1"/>
              <a:t>Third level</a:t>
            </a:r>
            <a:endParaRPr lang="en-US" strike="noStrike" noProof="1"/>
          </a:p>
          <a:p>
            <a:pPr lvl="3" fontAlgn="base"/>
            <a:r>
              <a:rPr lang="en-US" strike="noStrike" noProof="1"/>
              <a:t>Fourth level</a:t>
            </a:r>
            <a:endParaRPr lang="en-US" strike="noStrike" noProof="1"/>
          </a:p>
          <a:p>
            <a:pPr lvl="4" fontAlgn="base"/>
            <a:r>
              <a:rPr lang="en-US" strike="noStrike" noProof="1"/>
              <a:t>Fifth level</a:t>
            </a:r>
            <a:endParaRPr lang="en-US" strike="noStrike" noProof="1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8192" y="2092378"/>
            <a:ext cx="5386928" cy="504184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614680" indent="0">
              <a:buNone/>
              <a:defRPr sz="2700" b="1"/>
            </a:lvl2pPr>
            <a:lvl3pPr marL="1229360" indent="0">
              <a:buNone/>
              <a:defRPr sz="2400" b="1"/>
            </a:lvl3pPr>
            <a:lvl4pPr marL="1844040" indent="0">
              <a:buNone/>
              <a:defRPr sz="2200" b="1"/>
            </a:lvl4pPr>
            <a:lvl5pPr marL="2458720" indent="0">
              <a:buNone/>
              <a:defRPr sz="2200" b="1"/>
            </a:lvl5pPr>
            <a:lvl6pPr marL="3073400" indent="0">
              <a:buNone/>
              <a:defRPr sz="2200" b="1"/>
            </a:lvl6pPr>
            <a:lvl7pPr marL="3688080" indent="0">
              <a:buNone/>
              <a:defRPr sz="2200" b="1"/>
            </a:lvl7pPr>
            <a:lvl8pPr marL="4302760" indent="0">
              <a:buNone/>
              <a:defRPr sz="2200" b="1"/>
            </a:lvl8pPr>
            <a:lvl9pPr marL="4917440" indent="0">
              <a:buNone/>
              <a:defRPr sz="2200" b="1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98191" y="2683987"/>
            <a:ext cx="5386928" cy="1827666"/>
          </a:xfrm>
        </p:spPr>
        <p:txBody>
          <a:bodyPr/>
          <a:lstStyle>
            <a:lvl1pPr>
              <a:defRPr lang="en-US" sz="24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defRPr lang="en-US" sz="19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defRPr lang="en-US" sz="19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  <a:p>
            <a:pPr lvl="1" fontAlgn="base"/>
            <a:r>
              <a:rPr lang="en-US" strike="noStrike" noProof="1"/>
              <a:t>Second level</a:t>
            </a:r>
            <a:endParaRPr lang="en-US" strike="noStrike" noProof="1"/>
          </a:p>
          <a:p>
            <a:pPr lvl="2" fontAlgn="base"/>
            <a:r>
              <a:rPr lang="en-US" strike="noStrike" noProof="1"/>
              <a:t>Third level</a:t>
            </a:r>
            <a:endParaRPr lang="en-US" strike="noStrike" noProof="1"/>
          </a:p>
          <a:p>
            <a:pPr lvl="3" fontAlgn="base"/>
            <a:r>
              <a:rPr lang="en-US" strike="noStrike" noProof="1"/>
              <a:t>Fourth level</a:t>
            </a:r>
            <a:endParaRPr lang="en-US" strike="noStrike" noProof="1"/>
          </a:p>
          <a:p>
            <a:pPr lvl="4" fontAlgn="base"/>
            <a:r>
              <a:rPr lang="en-US" strike="noStrike" noProof="1"/>
              <a:t>Fifth level</a:t>
            </a:r>
            <a:endParaRPr lang="en-US" strike="noStrike" noProof="1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1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1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1436D3D-CAEA-4384-88C1-9AC1E84A4E98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4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4724" y="2042479"/>
            <a:ext cx="11562514" cy="579812"/>
          </a:xfrm>
        </p:spPr>
        <p:txBody>
          <a:bodyPr/>
          <a:lstStyle/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70F4618-6A8D-4B87-BA21-9E1344F61FF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8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625664E-C931-454D-B62B-E550BCDD2E89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42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365" y="804272"/>
            <a:ext cx="4009517" cy="1260460"/>
          </a:xfrm>
        </p:spPr>
        <p:txBody>
          <a:bodyPr/>
          <a:lstStyle>
            <a:lvl1pPr algn="l">
              <a:defRPr sz="2700" b="1"/>
            </a:lvl1pPr>
          </a:lstStyle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4873" y="1402991"/>
            <a:ext cx="6813006" cy="2483104"/>
          </a:xfrm>
        </p:spPr>
        <p:txBody>
          <a:bodyPr/>
          <a:lstStyle>
            <a:lvl1pPr marL="222250" indent="-222250">
              <a:buSzPct val="125000"/>
              <a:buFont typeface="Arial" panose="020B0604020202020204" pitchFamily="34" charset="0"/>
              <a:buChar char="•"/>
              <a:defRPr lang="en-US" sz="32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 marL="614680" indent="-222250" defTabSz="1229360">
              <a:buSzPct val="125000"/>
              <a:buFont typeface="Arial" panose="020B0604020202020204" pitchFamily="34" charset="0"/>
              <a:buChar char="•"/>
              <a:defRPr lang="en-US" sz="30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buSzPct val="125000"/>
              <a:buFont typeface="Arial" panose="020B0604020202020204" pitchFamily="34" charset="0"/>
              <a:buChar char="•"/>
              <a:defRPr lang="en-US" sz="30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 marL="1310640" indent="-243205">
              <a:buSzPct val="125000"/>
              <a:buFont typeface="Arial" panose="020B0604020202020204" pitchFamily="34" charset="0"/>
              <a:buChar char="•"/>
              <a:defRPr lang="en-US" sz="27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buSzPct val="125000"/>
              <a:buFont typeface="Arial" panose="020B0604020202020204" pitchFamily="34" charset="0"/>
              <a:buChar char="•"/>
              <a:defRPr lang="en-US" sz="27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  <a:p>
            <a:pPr lvl="1" fontAlgn="base"/>
            <a:r>
              <a:rPr lang="en-US" strike="noStrike" noProof="1"/>
              <a:t>Second level</a:t>
            </a:r>
            <a:endParaRPr lang="en-US" strike="noStrike" noProof="1"/>
          </a:p>
          <a:p>
            <a:pPr lvl="2" fontAlgn="base"/>
            <a:r>
              <a:rPr lang="en-US" strike="noStrike" noProof="1"/>
              <a:t>Third level</a:t>
            </a:r>
            <a:endParaRPr lang="en-US" strike="noStrike" noProof="1"/>
          </a:p>
          <a:p>
            <a:pPr lvl="3" fontAlgn="base"/>
            <a:r>
              <a:rPr lang="en-US" strike="noStrike" noProof="1"/>
              <a:t>Fourth level</a:t>
            </a:r>
            <a:endParaRPr lang="en-US" strike="noStrike" noProof="1"/>
          </a:p>
          <a:p>
            <a:pPr lvl="4" fontAlgn="base"/>
            <a:r>
              <a:rPr lang="en-US" strike="noStrike" noProof="1"/>
              <a:t>Fifth level</a:t>
            </a:r>
            <a:endParaRPr lang="en-US" strike="noStrike" noProof="1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365" y="2592747"/>
            <a:ext cx="4009517" cy="420154"/>
          </a:xfrm>
        </p:spPr>
        <p:txBody>
          <a:bodyPr/>
          <a:lstStyle>
            <a:lvl1pPr marL="0" indent="0">
              <a:buNone/>
              <a:defRPr sz="1900"/>
            </a:lvl1pPr>
            <a:lvl2pPr marL="614680" indent="0">
              <a:buNone/>
              <a:defRPr sz="1600"/>
            </a:lvl2pPr>
            <a:lvl3pPr marL="1229360" indent="0">
              <a:buNone/>
              <a:defRPr sz="1300"/>
            </a:lvl3pPr>
            <a:lvl4pPr marL="1844040" indent="0">
              <a:buNone/>
              <a:defRPr sz="1200"/>
            </a:lvl4pPr>
            <a:lvl5pPr marL="2458720" indent="0">
              <a:buNone/>
              <a:defRPr sz="1200"/>
            </a:lvl5pPr>
            <a:lvl6pPr marL="3073400" indent="0">
              <a:buNone/>
              <a:defRPr sz="1200"/>
            </a:lvl6pPr>
            <a:lvl7pPr marL="3688080" indent="0">
              <a:buNone/>
              <a:defRPr sz="1200"/>
            </a:lvl7pPr>
            <a:lvl8pPr marL="4302760" indent="0">
              <a:buNone/>
              <a:defRPr sz="1200"/>
            </a:lvl8pPr>
            <a:lvl9pPr marL="4917440" indent="0">
              <a:buNone/>
              <a:defRPr sz="1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201577E-4725-42A5-AEB8-A6992A795B0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6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8784" y="5426260"/>
            <a:ext cx="7312343" cy="504184"/>
          </a:xfrm>
        </p:spPr>
        <p:txBody>
          <a:bodyPr/>
          <a:lstStyle>
            <a:lvl1pPr algn="l">
              <a:defRPr sz="2700" b="1"/>
            </a:lvl1pPr>
          </a:lstStyle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8784" y="1221672"/>
            <a:ext cx="7312343" cy="798290"/>
          </a:xfrm>
        </p:spPr>
        <p:txBody>
          <a:bodyPr vert="horz" wrap="square" lIns="122932" tIns="61466" rIns="122932" bIns="61466" numCol="1" anchor="t" anchorCtr="1" compatLnSpc="1">
            <a:spAutoFit/>
          </a:bodyPr>
          <a:lstStyle>
            <a:lvl1pPr marL="0" indent="0">
              <a:buNone/>
              <a:defRPr sz="4300"/>
            </a:lvl1pPr>
            <a:lvl2pPr marL="614680" indent="0">
              <a:buNone/>
              <a:defRPr sz="3800"/>
            </a:lvl2pPr>
            <a:lvl3pPr marL="1229360" indent="0">
              <a:buNone/>
              <a:defRPr sz="3200"/>
            </a:lvl3pPr>
            <a:lvl4pPr marL="1844040" indent="0">
              <a:buNone/>
              <a:defRPr sz="2700"/>
            </a:lvl4pPr>
            <a:lvl5pPr marL="2458720" indent="0">
              <a:buNone/>
              <a:defRPr sz="2700"/>
            </a:lvl5pPr>
            <a:lvl6pPr marL="3073400" indent="0">
              <a:buNone/>
              <a:defRPr sz="2700"/>
            </a:lvl6pPr>
            <a:lvl7pPr marL="3688080" indent="0">
              <a:buNone/>
              <a:defRPr sz="2700"/>
            </a:lvl7pPr>
            <a:lvl8pPr marL="4302760" indent="0">
              <a:buNone/>
              <a:defRPr sz="2700"/>
            </a:lvl8pPr>
            <a:lvl9pPr marL="4917440" indent="0">
              <a:buNone/>
              <a:defRPr sz="27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5000"/>
              </a:spcBef>
              <a:spcAft>
                <a:spcPct val="0"/>
              </a:spcAft>
              <a:buClr>
                <a:srgbClr val="C60C30"/>
              </a:buClr>
              <a:buSzPct val="100000"/>
              <a:buFont typeface="Arial" panose="020B0604020202020204" pitchFamily="34" charset="0"/>
              <a:buNone/>
              <a:defRPr/>
            </a:pPr>
            <a:endParaRPr kumimoji="0" lang="en-US" sz="43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Lucida Sans" pitchFamily="34" charset="0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8784" y="6006682"/>
            <a:ext cx="7312343" cy="420154"/>
          </a:xfrm>
        </p:spPr>
        <p:txBody>
          <a:bodyPr/>
          <a:lstStyle>
            <a:lvl1pPr marL="0" indent="0">
              <a:buNone/>
              <a:defRPr sz="1900"/>
            </a:lvl1pPr>
            <a:lvl2pPr marL="614680" indent="0">
              <a:buNone/>
              <a:defRPr sz="1600"/>
            </a:lvl2pPr>
            <a:lvl3pPr marL="1229360" indent="0">
              <a:buNone/>
              <a:defRPr sz="1300"/>
            </a:lvl3pPr>
            <a:lvl4pPr marL="1844040" indent="0">
              <a:buNone/>
              <a:defRPr sz="1200"/>
            </a:lvl4pPr>
            <a:lvl5pPr marL="2458720" indent="0">
              <a:buNone/>
              <a:defRPr sz="1200"/>
            </a:lvl5pPr>
            <a:lvl6pPr marL="3073400" indent="0">
              <a:buNone/>
              <a:defRPr sz="1200"/>
            </a:lvl6pPr>
            <a:lvl7pPr marL="3688080" indent="0">
              <a:buNone/>
              <a:defRPr sz="1200"/>
            </a:lvl7pPr>
            <a:lvl8pPr marL="4302760" indent="0">
              <a:buNone/>
              <a:defRPr sz="1200"/>
            </a:lvl8pPr>
            <a:lvl9pPr marL="4917440" indent="0">
              <a:buNone/>
              <a:defRPr sz="1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A44C1F32-AE4F-4177-AF49-BDA05C8112D2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标题 5"/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/>
          <p:cNvSpPr/>
          <p:nvPr>
            <p:custDataLst>
              <p:tags r:id="rId2"/>
            </p:custDataLst>
          </p:nvPr>
        </p:nvSpPr>
        <p:spPr bwMode="auto">
          <a:xfrm>
            <a:off x="837260" y="3395387"/>
            <a:ext cx="3970477" cy="3522330"/>
          </a:xfrm>
          <a:custGeom>
            <a:avLst/>
            <a:gdLst>
              <a:gd name="T0" fmla="*/ 1557 w 2458"/>
              <a:gd name="T1" fmla="*/ 0 h 2180"/>
              <a:gd name="T2" fmla="*/ 1529 w 2458"/>
              <a:gd name="T3" fmla="*/ 0 h 2180"/>
              <a:gd name="T4" fmla="*/ 618 w 2458"/>
              <a:gd name="T5" fmla="*/ 140 h 2180"/>
              <a:gd name="T6" fmla="*/ 233 w 2458"/>
              <a:gd name="T7" fmla="*/ 281 h 2180"/>
              <a:gd name="T8" fmla="*/ 13 w 2458"/>
              <a:gd name="T9" fmla="*/ 831 h 2180"/>
              <a:gd name="T10" fmla="*/ 81 w 2458"/>
              <a:gd name="T11" fmla="*/ 1775 h 2180"/>
              <a:gd name="T12" fmla="*/ 215 w 2458"/>
              <a:gd name="T13" fmla="*/ 2066 h 2180"/>
              <a:gd name="T14" fmla="*/ 645 w 2458"/>
              <a:gd name="T15" fmla="*/ 2180 h 2180"/>
              <a:gd name="T16" fmla="*/ 1805 w 2458"/>
              <a:gd name="T17" fmla="*/ 2180 h 2180"/>
              <a:gd name="T18" fmla="*/ 2036 w 2458"/>
              <a:gd name="T19" fmla="*/ 2135 h 2180"/>
              <a:gd name="T20" fmla="*/ 2235 w 2458"/>
              <a:gd name="T21" fmla="*/ 1964 h 2180"/>
              <a:gd name="T22" fmla="*/ 2251 w 2458"/>
              <a:gd name="T23" fmla="*/ 1448 h 2180"/>
              <a:gd name="T24" fmla="*/ 2343 w 2458"/>
              <a:gd name="T25" fmla="*/ 1155 h 2180"/>
              <a:gd name="T26" fmla="*/ 2419 w 2458"/>
              <a:gd name="T27" fmla="*/ 820 h 2180"/>
              <a:gd name="T28" fmla="*/ 1896 w 2458"/>
              <a:gd name="T29" fmla="*/ 61 h 2180"/>
              <a:gd name="T30" fmla="*/ 1557 w 2458"/>
              <a:gd name="T31" fmla="*/ 0 h 21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58" h="2180">
                <a:moveTo>
                  <a:pt x="1557" y="0"/>
                </a:moveTo>
                <a:cubicBezTo>
                  <a:pt x="1548" y="0"/>
                  <a:pt x="1539" y="0"/>
                  <a:pt x="1529" y="0"/>
                </a:cubicBezTo>
                <a:cubicBezTo>
                  <a:pt x="1222" y="9"/>
                  <a:pt x="917" y="75"/>
                  <a:pt x="618" y="140"/>
                </a:cubicBezTo>
                <a:cubicBezTo>
                  <a:pt x="482" y="170"/>
                  <a:pt x="340" y="202"/>
                  <a:pt x="233" y="281"/>
                </a:cubicBezTo>
                <a:cubicBezTo>
                  <a:pt x="56" y="411"/>
                  <a:pt x="21" y="631"/>
                  <a:pt x="13" y="831"/>
                </a:cubicBezTo>
                <a:cubicBezTo>
                  <a:pt x="0" y="1146"/>
                  <a:pt x="23" y="1463"/>
                  <a:pt x="81" y="1775"/>
                </a:cubicBezTo>
                <a:cubicBezTo>
                  <a:pt x="100" y="1880"/>
                  <a:pt x="128" y="1991"/>
                  <a:pt x="215" y="2066"/>
                </a:cubicBezTo>
                <a:cubicBezTo>
                  <a:pt x="323" y="2159"/>
                  <a:pt x="491" y="2172"/>
                  <a:pt x="645" y="2180"/>
                </a:cubicBezTo>
                <a:cubicBezTo>
                  <a:pt x="1805" y="2180"/>
                  <a:pt x="1805" y="2180"/>
                  <a:pt x="1805" y="2180"/>
                </a:cubicBezTo>
                <a:cubicBezTo>
                  <a:pt x="1884" y="2180"/>
                  <a:pt x="1963" y="2165"/>
                  <a:pt x="2036" y="2135"/>
                </a:cubicBezTo>
                <a:cubicBezTo>
                  <a:pt x="2124" y="2098"/>
                  <a:pt x="2197" y="2043"/>
                  <a:pt x="2235" y="1964"/>
                </a:cubicBezTo>
                <a:cubicBezTo>
                  <a:pt x="2313" y="1804"/>
                  <a:pt x="2230" y="1621"/>
                  <a:pt x="2251" y="1448"/>
                </a:cubicBezTo>
                <a:cubicBezTo>
                  <a:pt x="2262" y="1347"/>
                  <a:pt x="2309" y="1252"/>
                  <a:pt x="2343" y="1155"/>
                </a:cubicBezTo>
                <a:cubicBezTo>
                  <a:pt x="2382" y="1045"/>
                  <a:pt x="2405" y="934"/>
                  <a:pt x="2419" y="820"/>
                </a:cubicBezTo>
                <a:cubicBezTo>
                  <a:pt x="2458" y="497"/>
                  <a:pt x="2247" y="189"/>
                  <a:pt x="1896" y="61"/>
                </a:cubicBezTo>
                <a:cubicBezTo>
                  <a:pt x="1789" y="21"/>
                  <a:pt x="1674" y="0"/>
                  <a:pt x="1557" y="0"/>
                </a:cubicBezTo>
              </a:path>
            </a:pathLst>
          </a:custGeom>
          <a:solidFill>
            <a:schemeClr val="accent1">
              <a:alpha val="17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06" tIns="45703" rIns="91406" bIns="45703" numCol="1" anchor="t" anchorCtr="0" compatLnSpc="1"/>
          <a:lstStyle/>
          <a:p>
            <a:endParaRPr lang="zh-CN" altLang="en-US" sz="1800">
              <a:cs typeface="微软雅黑" panose="020B050302020402020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837260" y="648109"/>
            <a:ext cx="2129014" cy="1081011"/>
          </a:xfrm>
        </p:spPr>
        <p:txBody>
          <a:bodyPr wrap="square" anchor="ctr" anchorCtr="0">
            <a:normAutofit/>
          </a:bodyPr>
          <a:lstStyle>
            <a:lvl1pPr algn="l">
              <a:defRPr sz="4915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4"/>
            </p:custDataLst>
          </p:nvPr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50" r="27352"/>
          <a:stretch>
            <a:fillRect/>
          </a:stretch>
        </p:blipFill>
        <p:spPr>
          <a:xfrm>
            <a:off x="1197808" y="2099825"/>
            <a:ext cx="3554704" cy="4829953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81225"/>
            <a:ext cx="10358438" cy="1504950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978275"/>
            <a:ext cx="8529638" cy="179546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2025" y="4511675"/>
            <a:ext cx="10360025" cy="1395413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2025" y="2976563"/>
            <a:ext cx="10360025" cy="1535112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38300"/>
            <a:ext cx="5407025" cy="463391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69025" y="1638300"/>
            <a:ext cx="5408613" cy="463391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71625"/>
            <a:ext cx="5384800" cy="6556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227263"/>
            <a:ext cx="5384800" cy="40449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1250" y="1571625"/>
            <a:ext cx="5386388" cy="6556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1250" y="2227263"/>
            <a:ext cx="5386388" cy="40449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9400"/>
            <a:ext cx="4010025" cy="1190625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4088" y="279400"/>
            <a:ext cx="6813550" cy="59928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0" y="1470025"/>
            <a:ext cx="4010025" cy="480218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188" y="4914900"/>
            <a:ext cx="7312025" cy="581025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188" y="627063"/>
            <a:ext cx="7312025" cy="4213225"/>
          </a:xfrm>
        </p:spPr>
        <p:txBody>
          <a:bodyPr vert="horz" wrap="square" lIns="91440" tIns="45720" rIns="91440" bIns="45720" numCol="1" rtlCol="0" anchor="t" anchorCtr="0" compatLnSpc="1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188" y="5495925"/>
            <a:ext cx="7312025" cy="82391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6025" y="280988"/>
            <a:ext cx="2741613" cy="5991225"/>
          </a:xfrm>
          <a:prstGeom prst="rect">
            <a:avLst/>
          </a:prstGeo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80988"/>
            <a:ext cx="8074025" cy="5991225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flipH="1">
            <a:off x="0" y="0"/>
            <a:ext cx="646113" cy="7021513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3079" name="Picture 11"/>
          <p:cNvPicPr>
            <a:picLocks noChangeAspect="1"/>
          </p:cNvPicPr>
          <p:nvPr userDrawn="1"/>
        </p:nvPicPr>
        <p:blipFill>
          <a:blip r:embed="rId2"/>
          <a:srcRect r="36736"/>
          <a:stretch>
            <a:fillRect/>
          </a:stretch>
        </p:blipFill>
        <p:spPr>
          <a:xfrm>
            <a:off x="-9525" y="0"/>
            <a:ext cx="12196763" cy="693738"/>
          </a:xfrm>
          <a:prstGeom prst="rect">
            <a:avLst/>
          </a:prstGeom>
          <a:solidFill>
            <a:srgbClr val="FF0000"/>
          </a:solidFill>
          <a:ln w="9525">
            <a:noFill/>
          </a:ln>
        </p:spPr>
      </p:pic>
      <p:sp>
        <p:nvSpPr>
          <p:cNvPr id="13" name="Rectangle 13"/>
          <p:cNvSpPr/>
          <p:nvPr/>
        </p:nvSpPr>
        <p:spPr bwMode="gray">
          <a:xfrm flipH="1">
            <a:off x="-9525" y="0"/>
            <a:ext cx="644525" cy="693738"/>
          </a:xfrm>
          <a:prstGeom prst="rect">
            <a:avLst/>
          </a:prstGeom>
          <a:gradFill>
            <a:gsLst>
              <a:gs pos="0">
                <a:schemeClr val="tx1">
                  <a:lumMod val="85000"/>
                </a:schemeClr>
              </a:gs>
              <a:gs pos="100000">
                <a:schemeClr val="tx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3081" name="图片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8575" y="61913"/>
            <a:ext cx="568325" cy="56991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  <a:endParaRPr lang="en-US" strike="noStrike" noProof="1"/>
          </a:p>
        </p:txBody>
      </p:sp>
      <p:sp>
        <p:nvSpPr>
          <p:cNvPr id="15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6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7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1C31438-4DFE-43A2-9E78-3724DF25393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771356" y="-5772944"/>
            <a:ext cx="64452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5399087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  <a:endParaRPr lang="en-US" strike="noStrike" noProof="1"/>
          </a:p>
        </p:txBody>
      </p:sp>
      <p:sp>
        <p:nvSpPr>
          <p:cNvPr id="13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D388FB5-9160-4F34-A476-BD340846AC9E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107781" y="-5107781"/>
            <a:ext cx="197167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4070350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5128" name="图片 1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23625" y="257175"/>
            <a:ext cx="728663" cy="7286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4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2B26C6D9-AAF1-4BF0-937E-892E43D18C84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0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4691063" y="-3157537"/>
            <a:ext cx="2805113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1703387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6152" name="图片 1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23625" y="257175"/>
            <a:ext cx="728663" cy="7286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5FD804A-F784-4013-AD92-560D09364AB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145088" y="-20637"/>
            <a:ext cx="1897063" cy="12187238"/>
          </a:xfrm>
          <a:prstGeom prst="rect">
            <a:avLst/>
          </a:prstGeom>
          <a:gradFill flip="none" rotWithShape="1">
            <a:gsLst>
              <a:gs pos="0">
                <a:srgbClr val="C00000"/>
              </a:gs>
              <a:gs pos="100000">
                <a:srgbClr val="9E0A26"/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5991225" y="-1066800"/>
            <a:ext cx="204788" cy="1218723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  <a:endParaRPr lang="en-US" strike="noStrike" noProof="1"/>
          </a:p>
        </p:txBody>
      </p:sp>
      <p:sp>
        <p:nvSpPr>
          <p:cNvPr id="13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CF970104-7198-4BD1-AC36-68873D2D364E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8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448" y="1404676"/>
            <a:ext cx="11531790" cy="579812"/>
          </a:xfrm>
        </p:spPr>
        <p:txBody>
          <a:bodyPr/>
          <a:lstStyle>
            <a:lvl1pPr>
              <a:defRPr sz="3200"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41767" y="2341682"/>
            <a:ext cx="10359152" cy="2155714"/>
          </a:xfrm>
        </p:spPr>
        <p:txBody>
          <a:bodyPr lIns="614660" rIns="614660"/>
          <a:lstStyle>
            <a:lvl1pPr marL="462915" indent="-241300">
              <a:spcBef>
                <a:spcPts val="1615"/>
              </a:spcBef>
              <a:buSzPct val="100000"/>
              <a:buFont typeface="Arial" panose="020B0604020202020204" pitchFamily="34" charset="0"/>
              <a:buChar char="•"/>
              <a:defRPr sz="2700" b="0"/>
            </a:lvl1pPr>
            <a:lvl2pPr marL="685165" indent="-222250">
              <a:spcBef>
                <a:spcPts val="540"/>
              </a:spcBef>
              <a:buSzPct val="75000"/>
              <a:buFont typeface="Lucida Sans" pitchFamily="34" charset="0"/>
              <a:buChar char="–"/>
              <a:defRPr sz="2700"/>
            </a:lvl2pPr>
            <a:lvl3pPr marL="1069340" indent="-295275">
              <a:spcBef>
                <a:spcPts val="540"/>
              </a:spcBef>
              <a:buSzPct val="100000"/>
              <a:buFont typeface="Arial" panose="020B0604020202020204" pitchFamily="34" charset="0"/>
              <a:buChar char="•"/>
              <a:defRPr sz="2200"/>
            </a:lvl3pPr>
            <a:lvl4pPr marL="1229360" indent="-222250">
              <a:spcBef>
                <a:spcPts val="540"/>
              </a:spcBef>
              <a:buSzPct val="100000"/>
              <a:buFont typeface="Lucida Sans" pitchFamily="34" charset="0"/>
              <a:buChar char="–"/>
              <a:defRPr sz="2200"/>
            </a:lvl4pPr>
            <a:lvl5pPr marL="1450975" indent="-222250">
              <a:spcBef>
                <a:spcPts val="540"/>
              </a:spcBef>
              <a:buSzPct val="100000"/>
              <a:buFont typeface="Arial" panose="020B0604020202020204" pitchFamily="34" charset="0"/>
              <a:buChar char="•"/>
              <a:defRPr sz="2200"/>
            </a:lvl5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  <a:p>
            <a:pPr lvl="1" fontAlgn="base"/>
            <a:r>
              <a:rPr lang="en-US" strike="noStrike" noProof="1"/>
              <a:t>Second level</a:t>
            </a:r>
            <a:endParaRPr lang="en-US" strike="noStrike" noProof="1"/>
          </a:p>
          <a:p>
            <a:pPr lvl="2" fontAlgn="base"/>
            <a:r>
              <a:rPr lang="en-US" strike="noStrike" noProof="1"/>
              <a:t>Third level</a:t>
            </a:r>
            <a:endParaRPr lang="en-US" strike="noStrike" noProof="1"/>
          </a:p>
          <a:p>
            <a:pPr lvl="3" fontAlgn="base"/>
            <a:r>
              <a:rPr lang="en-US" strike="noStrike" noProof="1"/>
              <a:t>Fourth level</a:t>
            </a:r>
            <a:endParaRPr lang="en-US" strike="noStrike" noProof="1"/>
          </a:p>
          <a:p>
            <a:pPr lvl="4" fontAlgn="base"/>
            <a:r>
              <a:rPr lang="en-US" strike="noStrike" noProof="1"/>
              <a:t>Fifth level</a:t>
            </a:r>
            <a:endParaRPr lang="en-US" strike="noStrike" noProof="1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81250" y="7516813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ADA95E-ED9E-482F-ABFD-6CE64A2D4A2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22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55448" y="864757"/>
            <a:ext cx="11531790" cy="630230"/>
          </a:xfrm>
        </p:spPr>
        <p:txBody>
          <a:bodyPr/>
          <a:lstStyle>
            <a:lvl1pPr algn="ctr">
              <a:lnSpc>
                <a:spcPct val="100000"/>
              </a:lnSpc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655448" y="1532366"/>
            <a:ext cx="11531790" cy="588214"/>
          </a:xfrm>
        </p:spPr>
        <p:txBody>
          <a:bodyPr rIns="0"/>
          <a:lstStyle>
            <a:lvl1pPr marL="0" indent="0" algn="ctr">
              <a:buFontTx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  <a:endParaRPr lang="en-US" strike="noStrike" noProof="1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E4A2AC8-C6EE-4E10-A998-D15131537773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0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6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208" y="1476597"/>
            <a:ext cx="11542033" cy="579812"/>
          </a:xfrm>
        </p:spPr>
        <p:txBody>
          <a:bodyPr/>
          <a:lstStyle/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67057" y="2330051"/>
            <a:ext cx="5334344" cy="2815025"/>
          </a:xfrm>
        </p:spPr>
        <p:txBody>
          <a:bodyPr anchorCtr="0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7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  <a:p>
            <a:pPr lvl="1" fontAlgn="base"/>
            <a:r>
              <a:rPr lang="en-US" strike="noStrike" noProof="1"/>
              <a:t>Second level</a:t>
            </a:r>
            <a:endParaRPr lang="en-US" strike="noStrike" noProof="1"/>
          </a:p>
          <a:p>
            <a:pPr lvl="2" fontAlgn="base"/>
            <a:r>
              <a:rPr lang="en-US" strike="noStrike" noProof="1"/>
              <a:t>Third level</a:t>
            </a:r>
            <a:endParaRPr lang="en-US" strike="noStrike" noProof="1"/>
          </a:p>
          <a:p>
            <a:pPr lvl="3" fontAlgn="base"/>
            <a:r>
              <a:rPr lang="en-US" strike="noStrike" noProof="1"/>
              <a:t>Fourth level</a:t>
            </a:r>
            <a:endParaRPr lang="en-US" strike="noStrike" noProof="1"/>
          </a:p>
          <a:p>
            <a:pPr lvl="4" fontAlgn="base"/>
            <a:r>
              <a:rPr lang="en-US" strike="noStrike" noProof="1"/>
              <a:t>Fifth level</a:t>
            </a:r>
            <a:endParaRPr lang="en-US" strike="noStrike" noProof="1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4518" y="2330051"/>
            <a:ext cx="5291197" cy="2815025"/>
          </a:xfrm>
        </p:spPr>
        <p:txBody>
          <a:bodyPr anchorCtr="0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7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  <a:p>
            <a:pPr lvl="1" fontAlgn="base"/>
            <a:r>
              <a:rPr lang="en-US" strike="noStrike" noProof="1"/>
              <a:t>Second level</a:t>
            </a:r>
            <a:endParaRPr lang="en-US" strike="noStrike" noProof="1"/>
          </a:p>
          <a:p>
            <a:pPr lvl="2" fontAlgn="base"/>
            <a:r>
              <a:rPr lang="en-US" strike="noStrike" noProof="1"/>
              <a:t>Third level</a:t>
            </a:r>
            <a:endParaRPr lang="en-US" strike="noStrike" noProof="1"/>
          </a:p>
          <a:p>
            <a:pPr lvl="3" fontAlgn="base"/>
            <a:r>
              <a:rPr lang="en-US" strike="noStrike" noProof="1"/>
              <a:t>Fourth level</a:t>
            </a:r>
            <a:endParaRPr lang="en-US" strike="noStrike" noProof="1"/>
          </a:p>
          <a:p>
            <a:pPr lvl="4" fontAlgn="base"/>
            <a:r>
              <a:rPr lang="en-US" strike="noStrike" noProof="1"/>
              <a:t>Fifth level</a:t>
            </a:r>
            <a:endParaRPr lang="en-US" strike="noStrike" noProof="1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67A510D-99EA-450F-A733-49970FAE03E3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0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362" y="1245917"/>
            <a:ext cx="11577876" cy="579812"/>
          </a:xfrm>
        </p:spPr>
        <p:txBody>
          <a:bodyPr/>
          <a:lstStyle>
            <a:lvl1pPr>
              <a:defRPr/>
            </a:lvl1pPr>
          </a:lstStyle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6605" y="2092378"/>
            <a:ext cx="5384813" cy="504184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614680" indent="0">
              <a:buNone/>
              <a:defRPr sz="2700" b="1"/>
            </a:lvl2pPr>
            <a:lvl3pPr marL="1229360" indent="0">
              <a:buNone/>
              <a:defRPr sz="2400" b="1"/>
            </a:lvl3pPr>
            <a:lvl4pPr marL="1844040" indent="0">
              <a:buNone/>
              <a:defRPr sz="2200" b="1"/>
            </a:lvl4pPr>
            <a:lvl5pPr marL="2458720" indent="0">
              <a:buNone/>
              <a:defRPr sz="2200" b="1"/>
            </a:lvl5pPr>
            <a:lvl6pPr marL="3073400" indent="0">
              <a:buNone/>
              <a:defRPr sz="2200" b="1"/>
            </a:lvl6pPr>
            <a:lvl7pPr marL="3688080" indent="0">
              <a:buNone/>
              <a:defRPr sz="2200" b="1"/>
            </a:lvl7pPr>
            <a:lvl8pPr marL="4302760" indent="0">
              <a:buNone/>
              <a:defRPr sz="2200" b="1"/>
            </a:lvl8pPr>
            <a:lvl9pPr marL="4917440" indent="0">
              <a:buNone/>
              <a:defRPr sz="2200" b="1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6603" y="2683987"/>
            <a:ext cx="5384813" cy="1827666"/>
          </a:xfrm>
        </p:spPr>
        <p:txBody>
          <a:bodyPr/>
          <a:lstStyle>
            <a:lvl1pPr>
              <a:defRPr lang="en-US" sz="24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defRPr lang="en-US" sz="19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defRPr lang="en-US" sz="19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  <a:p>
            <a:pPr lvl="1" fontAlgn="base"/>
            <a:r>
              <a:rPr lang="en-US" strike="noStrike" noProof="1"/>
              <a:t>Second level</a:t>
            </a:r>
            <a:endParaRPr lang="en-US" strike="noStrike" noProof="1"/>
          </a:p>
          <a:p>
            <a:pPr lvl="2" fontAlgn="base"/>
            <a:r>
              <a:rPr lang="en-US" strike="noStrike" noProof="1"/>
              <a:t>Third level</a:t>
            </a:r>
            <a:endParaRPr lang="en-US" strike="noStrike" noProof="1"/>
          </a:p>
          <a:p>
            <a:pPr lvl="3" fontAlgn="base"/>
            <a:r>
              <a:rPr lang="en-US" strike="noStrike" noProof="1"/>
              <a:t>Fourth level</a:t>
            </a:r>
            <a:endParaRPr lang="en-US" strike="noStrike" noProof="1"/>
          </a:p>
          <a:p>
            <a:pPr lvl="4" fontAlgn="base"/>
            <a:r>
              <a:rPr lang="en-US" strike="noStrike" noProof="1"/>
              <a:t>Fifth level</a:t>
            </a:r>
            <a:endParaRPr lang="en-US" strike="noStrike" noProof="1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8192" y="2092378"/>
            <a:ext cx="5386928" cy="504184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614680" indent="0">
              <a:buNone/>
              <a:defRPr sz="2700" b="1"/>
            </a:lvl2pPr>
            <a:lvl3pPr marL="1229360" indent="0">
              <a:buNone/>
              <a:defRPr sz="2400" b="1"/>
            </a:lvl3pPr>
            <a:lvl4pPr marL="1844040" indent="0">
              <a:buNone/>
              <a:defRPr sz="2200" b="1"/>
            </a:lvl4pPr>
            <a:lvl5pPr marL="2458720" indent="0">
              <a:buNone/>
              <a:defRPr sz="2200" b="1"/>
            </a:lvl5pPr>
            <a:lvl6pPr marL="3073400" indent="0">
              <a:buNone/>
              <a:defRPr sz="2200" b="1"/>
            </a:lvl6pPr>
            <a:lvl7pPr marL="3688080" indent="0">
              <a:buNone/>
              <a:defRPr sz="2200" b="1"/>
            </a:lvl7pPr>
            <a:lvl8pPr marL="4302760" indent="0">
              <a:buNone/>
              <a:defRPr sz="2200" b="1"/>
            </a:lvl8pPr>
            <a:lvl9pPr marL="4917440" indent="0">
              <a:buNone/>
              <a:defRPr sz="2200" b="1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98191" y="2683987"/>
            <a:ext cx="5386928" cy="1827666"/>
          </a:xfrm>
        </p:spPr>
        <p:txBody>
          <a:bodyPr/>
          <a:lstStyle>
            <a:lvl1pPr>
              <a:defRPr lang="en-US" sz="24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defRPr lang="en-US" sz="19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defRPr lang="en-US" sz="19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  <a:p>
            <a:pPr lvl="1" fontAlgn="base"/>
            <a:r>
              <a:rPr lang="en-US" strike="noStrike" noProof="1"/>
              <a:t>Second level</a:t>
            </a:r>
            <a:endParaRPr lang="en-US" strike="noStrike" noProof="1"/>
          </a:p>
          <a:p>
            <a:pPr lvl="2" fontAlgn="base"/>
            <a:r>
              <a:rPr lang="en-US" strike="noStrike" noProof="1"/>
              <a:t>Third level</a:t>
            </a:r>
            <a:endParaRPr lang="en-US" strike="noStrike" noProof="1"/>
          </a:p>
          <a:p>
            <a:pPr lvl="3" fontAlgn="base"/>
            <a:r>
              <a:rPr lang="en-US" strike="noStrike" noProof="1"/>
              <a:t>Fourth level</a:t>
            </a:r>
            <a:endParaRPr lang="en-US" strike="noStrike" noProof="1"/>
          </a:p>
          <a:p>
            <a:pPr lvl="4" fontAlgn="base"/>
            <a:r>
              <a:rPr lang="en-US" strike="noStrike" noProof="1"/>
              <a:t>Fifth level</a:t>
            </a:r>
            <a:endParaRPr lang="en-US" strike="noStrike" noProof="1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1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1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1436D3D-CAEA-4384-88C1-9AC1E84A4E98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4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4724" y="2042479"/>
            <a:ext cx="11562514" cy="579812"/>
          </a:xfrm>
        </p:spPr>
        <p:txBody>
          <a:bodyPr/>
          <a:lstStyle/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70F4618-6A8D-4B87-BA21-9E1344F61FF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8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625664E-C931-454D-B62B-E550BCDD2E89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42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365" y="804272"/>
            <a:ext cx="4009517" cy="1260460"/>
          </a:xfrm>
        </p:spPr>
        <p:txBody>
          <a:bodyPr/>
          <a:lstStyle>
            <a:lvl1pPr algn="l">
              <a:defRPr sz="2700" b="1"/>
            </a:lvl1pPr>
          </a:lstStyle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4873" y="1402991"/>
            <a:ext cx="6813006" cy="2483104"/>
          </a:xfrm>
        </p:spPr>
        <p:txBody>
          <a:bodyPr/>
          <a:lstStyle>
            <a:lvl1pPr marL="222250" indent="-222250">
              <a:buSzPct val="125000"/>
              <a:buFont typeface="Arial" panose="020B0604020202020204" pitchFamily="34" charset="0"/>
              <a:buChar char="•"/>
              <a:defRPr lang="en-US" sz="32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 marL="614680" indent="-222250" defTabSz="1229360">
              <a:buSzPct val="125000"/>
              <a:buFont typeface="Arial" panose="020B0604020202020204" pitchFamily="34" charset="0"/>
              <a:buChar char="•"/>
              <a:defRPr lang="en-US" sz="30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buSzPct val="125000"/>
              <a:buFont typeface="Arial" panose="020B0604020202020204" pitchFamily="34" charset="0"/>
              <a:buChar char="•"/>
              <a:defRPr lang="en-US" sz="30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 marL="1310640" indent="-243205">
              <a:buSzPct val="125000"/>
              <a:buFont typeface="Arial" panose="020B0604020202020204" pitchFamily="34" charset="0"/>
              <a:buChar char="•"/>
              <a:defRPr lang="en-US" sz="27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buSzPct val="125000"/>
              <a:buFont typeface="Arial" panose="020B0604020202020204" pitchFamily="34" charset="0"/>
              <a:buChar char="•"/>
              <a:defRPr lang="en-US" sz="27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  <a:p>
            <a:pPr lvl="1" fontAlgn="base"/>
            <a:r>
              <a:rPr lang="en-US" strike="noStrike" noProof="1"/>
              <a:t>Second level</a:t>
            </a:r>
            <a:endParaRPr lang="en-US" strike="noStrike" noProof="1"/>
          </a:p>
          <a:p>
            <a:pPr lvl="2" fontAlgn="base"/>
            <a:r>
              <a:rPr lang="en-US" strike="noStrike" noProof="1"/>
              <a:t>Third level</a:t>
            </a:r>
            <a:endParaRPr lang="en-US" strike="noStrike" noProof="1"/>
          </a:p>
          <a:p>
            <a:pPr lvl="3" fontAlgn="base"/>
            <a:r>
              <a:rPr lang="en-US" strike="noStrike" noProof="1"/>
              <a:t>Fourth level</a:t>
            </a:r>
            <a:endParaRPr lang="en-US" strike="noStrike" noProof="1"/>
          </a:p>
          <a:p>
            <a:pPr lvl="4" fontAlgn="base"/>
            <a:r>
              <a:rPr lang="en-US" strike="noStrike" noProof="1"/>
              <a:t>Fifth level</a:t>
            </a:r>
            <a:endParaRPr lang="en-US" strike="noStrike" noProof="1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365" y="2592747"/>
            <a:ext cx="4009517" cy="420154"/>
          </a:xfrm>
        </p:spPr>
        <p:txBody>
          <a:bodyPr/>
          <a:lstStyle>
            <a:lvl1pPr marL="0" indent="0">
              <a:buNone/>
              <a:defRPr sz="1900"/>
            </a:lvl1pPr>
            <a:lvl2pPr marL="614680" indent="0">
              <a:buNone/>
              <a:defRPr sz="1600"/>
            </a:lvl2pPr>
            <a:lvl3pPr marL="1229360" indent="0">
              <a:buNone/>
              <a:defRPr sz="1300"/>
            </a:lvl3pPr>
            <a:lvl4pPr marL="1844040" indent="0">
              <a:buNone/>
              <a:defRPr sz="1200"/>
            </a:lvl4pPr>
            <a:lvl5pPr marL="2458720" indent="0">
              <a:buNone/>
              <a:defRPr sz="1200"/>
            </a:lvl5pPr>
            <a:lvl6pPr marL="3073400" indent="0">
              <a:buNone/>
              <a:defRPr sz="1200"/>
            </a:lvl6pPr>
            <a:lvl7pPr marL="3688080" indent="0">
              <a:buNone/>
              <a:defRPr sz="1200"/>
            </a:lvl7pPr>
            <a:lvl8pPr marL="4302760" indent="0">
              <a:buNone/>
              <a:defRPr sz="1200"/>
            </a:lvl8pPr>
            <a:lvl9pPr marL="4917440" indent="0">
              <a:buNone/>
              <a:defRPr sz="1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201577E-4725-42A5-AEB8-A6992A795B0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6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8784" y="5426260"/>
            <a:ext cx="7312343" cy="504184"/>
          </a:xfrm>
        </p:spPr>
        <p:txBody>
          <a:bodyPr/>
          <a:lstStyle>
            <a:lvl1pPr algn="l">
              <a:defRPr sz="2700" b="1"/>
            </a:lvl1pPr>
          </a:lstStyle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8784" y="1221672"/>
            <a:ext cx="7312343" cy="798290"/>
          </a:xfrm>
        </p:spPr>
        <p:txBody>
          <a:bodyPr vert="horz" wrap="square" lIns="122932" tIns="61466" rIns="122932" bIns="61466" numCol="1" anchor="t" anchorCtr="1" compatLnSpc="1">
            <a:spAutoFit/>
          </a:bodyPr>
          <a:lstStyle>
            <a:lvl1pPr marL="0" indent="0">
              <a:buNone/>
              <a:defRPr sz="4300"/>
            </a:lvl1pPr>
            <a:lvl2pPr marL="614680" indent="0">
              <a:buNone/>
              <a:defRPr sz="3800"/>
            </a:lvl2pPr>
            <a:lvl3pPr marL="1229360" indent="0">
              <a:buNone/>
              <a:defRPr sz="3200"/>
            </a:lvl3pPr>
            <a:lvl4pPr marL="1844040" indent="0">
              <a:buNone/>
              <a:defRPr sz="2700"/>
            </a:lvl4pPr>
            <a:lvl5pPr marL="2458720" indent="0">
              <a:buNone/>
              <a:defRPr sz="2700"/>
            </a:lvl5pPr>
            <a:lvl6pPr marL="3073400" indent="0">
              <a:buNone/>
              <a:defRPr sz="2700"/>
            </a:lvl6pPr>
            <a:lvl7pPr marL="3688080" indent="0">
              <a:buNone/>
              <a:defRPr sz="2700"/>
            </a:lvl7pPr>
            <a:lvl8pPr marL="4302760" indent="0">
              <a:buNone/>
              <a:defRPr sz="2700"/>
            </a:lvl8pPr>
            <a:lvl9pPr marL="4917440" indent="0">
              <a:buNone/>
              <a:defRPr sz="27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5000"/>
              </a:spcBef>
              <a:spcAft>
                <a:spcPct val="0"/>
              </a:spcAft>
              <a:buClr>
                <a:srgbClr val="C60C30"/>
              </a:buClr>
              <a:buSzPct val="100000"/>
              <a:buFont typeface="Arial" panose="020B0604020202020204" pitchFamily="34" charset="0"/>
              <a:buNone/>
              <a:defRPr/>
            </a:pPr>
            <a:endParaRPr kumimoji="0" lang="en-US" sz="43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Lucida Sans" pitchFamily="34" charset="0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8784" y="6006682"/>
            <a:ext cx="7312343" cy="420154"/>
          </a:xfrm>
        </p:spPr>
        <p:txBody>
          <a:bodyPr/>
          <a:lstStyle>
            <a:lvl1pPr marL="0" indent="0">
              <a:buNone/>
              <a:defRPr sz="1900"/>
            </a:lvl1pPr>
            <a:lvl2pPr marL="614680" indent="0">
              <a:buNone/>
              <a:defRPr sz="1600"/>
            </a:lvl2pPr>
            <a:lvl3pPr marL="1229360" indent="0">
              <a:buNone/>
              <a:defRPr sz="1300"/>
            </a:lvl3pPr>
            <a:lvl4pPr marL="1844040" indent="0">
              <a:buNone/>
              <a:defRPr sz="1200"/>
            </a:lvl4pPr>
            <a:lvl5pPr marL="2458720" indent="0">
              <a:buNone/>
              <a:defRPr sz="1200"/>
            </a:lvl5pPr>
            <a:lvl6pPr marL="3073400" indent="0">
              <a:buNone/>
              <a:defRPr sz="1200"/>
            </a:lvl6pPr>
            <a:lvl7pPr marL="3688080" indent="0">
              <a:buNone/>
              <a:defRPr sz="1200"/>
            </a:lvl7pPr>
            <a:lvl8pPr marL="4302760" indent="0">
              <a:buNone/>
              <a:defRPr sz="1200"/>
            </a:lvl8pPr>
            <a:lvl9pPr marL="4917440" indent="0">
              <a:buNone/>
              <a:defRPr sz="1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A44C1F32-AE4F-4177-AF49-BDA05C8112D2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标题 5"/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transition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: 形状 7"/>
          <p:cNvSpPr/>
          <p:nvPr userDrawn="1">
            <p:custDataLst>
              <p:tags r:id="rId2"/>
            </p:custDataLst>
          </p:nvPr>
        </p:nvSpPr>
        <p:spPr>
          <a:xfrm>
            <a:off x="6053753" y="909138"/>
            <a:ext cx="5907139" cy="5791822"/>
          </a:xfrm>
          <a:custGeom>
            <a:avLst/>
            <a:gdLst>
              <a:gd name="connsiteX0" fmla="*/ 3879682 w 5909293"/>
              <a:gd name="connsiteY0" fmla="*/ 175 h 5793934"/>
              <a:gd name="connsiteX1" fmla="*/ 4334567 w 5909293"/>
              <a:gd name="connsiteY1" fmla="*/ 60453 h 5793934"/>
              <a:gd name="connsiteX2" fmla="*/ 5246308 w 5909293"/>
              <a:gd name="connsiteY2" fmla="*/ 1122598 h 5793934"/>
              <a:gd name="connsiteX3" fmla="*/ 5872742 w 5909293"/>
              <a:gd name="connsiteY3" fmla="*/ 3288868 h 5793934"/>
              <a:gd name="connsiteX4" fmla="*/ 5819651 w 5909293"/>
              <a:gd name="connsiteY4" fmla="*/ 4125030 h 5793934"/>
              <a:gd name="connsiteX5" fmla="*/ 5157837 w 5909293"/>
              <a:gd name="connsiteY5" fmla="*/ 4912778 h 5793934"/>
              <a:gd name="connsiteX6" fmla="*/ 3379536 w 5909293"/>
              <a:gd name="connsiteY6" fmla="*/ 5735681 h 5793934"/>
              <a:gd name="connsiteX7" fmla="*/ 2078353 w 5909293"/>
              <a:gd name="connsiteY7" fmla="*/ 5726438 h 5793934"/>
              <a:gd name="connsiteX8" fmla="*/ 1489530 w 5909293"/>
              <a:gd name="connsiteY8" fmla="*/ 5363600 h 5793934"/>
              <a:gd name="connsiteX9" fmla="*/ 1035251 w 5909293"/>
              <a:gd name="connsiteY9" fmla="*/ 4220617 h 5793934"/>
              <a:gd name="connsiteX10" fmla="*/ 602247 w 5909293"/>
              <a:gd name="connsiteY10" fmla="*/ 3634929 h 5793934"/>
              <a:gd name="connsiteX11" fmla="*/ 169546 w 5909293"/>
              <a:gd name="connsiteY11" fmla="*/ 2942699 h 5793934"/>
              <a:gd name="connsiteX12" fmla="*/ 652478 w 5909293"/>
              <a:gd name="connsiteY12" fmla="*/ 842508 h 5793934"/>
              <a:gd name="connsiteX13" fmla="*/ 1316613 w 5909293"/>
              <a:gd name="connsiteY13" fmla="*/ 445895 h 5793934"/>
              <a:gd name="connsiteX14" fmla="*/ 1375567 w 5909293"/>
              <a:gd name="connsiteY14" fmla="*/ 424437 h 5793934"/>
              <a:gd name="connsiteX15" fmla="*/ 3408460 w 5909293"/>
              <a:gd name="connsiteY15" fmla="*/ 39296 h 5793934"/>
              <a:gd name="connsiteX16" fmla="*/ 3879682 w 5909293"/>
              <a:gd name="connsiteY16" fmla="*/ 175 h 5793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909293" h="5793934">
                <a:moveTo>
                  <a:pt x="3879682" y="175"/>
                </a:moveTo>
                <a:cubicBezTo>
                  <a:pt x="4036099" y="-1809"/>
                  <a:pt x="4189792" y="12773"/>
                  <a:pt x="4334567" y="60453"/>
                </a:cubicBezTo>
                <a:cubicBezTo>
                  <a:pt x="4813657" y="215756"/>
                  <a:pt x="5066087" y="681130"/>
                  <a:pt x="5246308" y="1122598"/>
                </a:cubicBezTo>
                <a:cubicBezTo>
                  <a:pt x="5530593" y="1818660"/>
                  <a:pt x="5740779" y="2546018"/>
                  <a:pt x="5872742" y="3288868"/>
                </a:cubicBezTo>
                <a:cubicBezTo>
                  <a:pt x="5918136" y="3538857"/>
                  <a:pt x="5941127" y="3794404"/>
                  <a:pt x="5819651" y="4125030"/>
                </a:cubicBezTo>
                <a:cubicBezTo>
                  <a:pt x="5698175" y="4455657"/>
                  <a:pt x="5555500" y="4602769"/>
                  <a:pt x="5157837" y="4912778"/>
                </a:cubicBezTo>
                <a:cubicBezTo>
                  <a:pt x="4760174" y="5222787"/>
                  <a:pt x="3749504" y="5653807"/>
                  <a:pt x="3379536" y="5735681"/>
                </a:cubicBezTo>
                <a:cubicBezTo>
                  <a:pt x="3009569" y="5817556"/>
                  <a:pt x="2330918" y="5811898"/>
                  <a:pt x="2078353" y="5726438"/>
                </a:cubicBezTo>
                <a:cubicBezTo>
                  <a:pt x="1825789" y="5640979"/>
                  <a:pt x="1633575" y="5511056"/>
                  <a:pt x="1489530" y="5363600"/>
                </a:cubicBezTo>
                <a:cubicBezTo>
                  <a:pt x="1194462" y="5065173"/>
                  <a:pt x="1220104" y="4592041"/>
                  <a:pt x="1035251" y="4220617"/>
                </a:cubicBezTo>
                <a:cubicBezTo>
                  <a:pt x="929927" y="4002824"/>
                  <a:pt x="753122" y="3825759"/>
                  <a:pt x="602247" y="3634929"/>
                </a:cubicBezTo>
                <a:cubicBezTo>
                  <a:pt x="430739" y="3418728"/>
                  <a:pt x="291908" y="3187171"/>
                  <a:pt x="169546" y="2942699"/>
                </a:cubicBezTo>
                <a:cubicBezTo>
                  <a:pt x="-176217" y="2249976"/>
                  <a:pt x="17688" y="1398039"/>
                  <a:pt x="652478" y="842508"/>
                </a:cubicBezTo>
                <a:cubicBezTo>
                  <a:pt x="844971" y="671207"/>
                  <a:pt x="1070014" y="535650"/>
                  <a:pt x="1316613" y="445895"/>
                </a:cubicBezTo>
                <a:cubicBezTo>
                  <a:pt x="1336025" y="438830"/>
                  <a:pt x="1354717" y="432026"/>
                  <a:pt x="1375567" y="424437"/>
                </a:cubicBezTo>
                <a:cubicBezTo>
                  <a:pt x="2029851" y="208795"/>
                  <a:pt x="2725822" y="123350"/>
                  <a:pt x="3408460" y="39296"/>
                </a:cubicBezTo>
                <a:cubicBezTo>
                  <a:pt x="3564127" y="20711"/>
                  <a:pt x="3723266" y="2160"/>
                  <a:pt x="3879682" y="175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vert="horz" wrap="square" lIns="91406" tIns="45703" rIns="91406" bIns="45703" numCol="1" anchor="t" anchorCtr="0" compatLnSpc="1"/>
          <a:lstStyle/>
          <a:p>
            <a:pPr lvl="0"/>
            <a:endParaRPr lang="zh-CN" altLang="en-US" sz="1800">
              <a:solidFill>
                <a:schemeClr val="tx1"/>
              </a:solidFill>
            </a:endParaRPr>
          </a:p>
        </p:txBody>
      </p:sp>
      <p:pic>
        <p:nvPicPr>
          <p:cNvPr id="27" name="图片 26" descr="无人机5资源 1@600x-8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5432349" y="1760224"/>
            <a:ext cx="6640948" cy="5178441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5"/>
            </p:custDataLst>
          </p:nvPr>
        </p:nvSpPr>
        <p:spPr>
          <a:xfrm>
            <a:off x="702689" y="1387615"/>
            <a:ext cx="5391089" cy="2151865"/>
          </a:xfrm>
        </p:spPr>
        <p:txBody>
          <a:bodyPr wrap="square" anchor="b" anchorCtr="0">
            <a:normAutofit/>
          </a:bodyPr>
          <a:lstStyle>
            <a:lvl1pPr algn="l">
              <a:lnSpc>
                <a:spcPct val="100000"/>
              </a:lnSpc>
              <a:defRPr sz="553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编辑母版标题</a:t>
            </a:r>
            <a:endParaRPr lang="zh-CN" altLang="en-US" dirty="0"/>
          </a:p>
        </p:txBody>
      </p:sp>
      <p:sp>
        <p:nvSpPr>
          <p:cNvPr id="24" name="文本占位符 23"/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01419" y="3821952"/>
            <a:ext cx="2879945" cy="58017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845" b="0">
                <a:solidFill>
                  <a:schemeClr val="lt1">
                    <a:lumMod val="100000"/>
                  </a:schemeClr>
                </a:solidFill>
              </a:defRPr>
            </a:lvl1pPr>
          </a:lstStyle>
          <a:p>
            <a:r>
              <a:rPr lang="zh-CN" altLang="en-US" dirty="0"/>
              <a:t>汇报人：</a:t>
            </a:r>
            <a:r>
              <a:rPr lang="en-US" altLang="zh-CN" dirty="0"/>
              <a:t>WPS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8"/>
            <p:custDataLst>
              <p:tags r:id="rId7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9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20"/>
            <p:custDataLst>
              <p:tags r:id="rId9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071" y="1359050"/>
            <a:ext cx="10795538" cy="4899778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标题 6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3275" b="1" i="0" u="none" strike="noStrike" kern="1200" cap="none" spc="0" normalizeH="0" baseline="0" noProof="1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11" name="日期占位符 10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12" name="页脚占位符 11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3" name="灯片编号占位符 12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/>
          <p:cNvSpPr/>
          <p:nvPr>
            <p:custDataLst>
              <p:tags r:id="rId2"/>
            </p:custDataLst>
          </p:nvPr>
        </p:nvSpPr>
        <p:spPr bwMode="auto">
          <a:xfrm>
            <a:off x="837260" y="3395387"/>
            <a:ext cx="3970477" cy="3522330"/>
          </a:xfrm>
          <a:custGeom>
            <a:avLst/>
            <a:gdLst>
              <a:gd name="T0" fmla="*/ 1557 w 2458"/>
              <a:gd name="T1" fmla="*/ 0 h 2180"/>
              <a:gd name="T2" fmla="*/ 1529 w 2458"/>
              <a:gd name="T3" fmla="*/ 0 h 2180"/>
              <a:gd name="T4" fmla="*/ 618 w 2458"/>
              <a:gd name="T5" fmla="*/ 140 h 2180"/>
              <a:gd name="T6" fmla="*/ 233 w 2458"/>
              <a:gd name="T7" fmla="*/ 281 h 2180"/>
              <a:gd name="T8" fmla="*/ 13 w 2458"/>
              <a:gd name="T9" fmla="*/ 831 h 2180"/>
              <a:gd name="T10" fmla="*/ 81 w 2458"/>
              <a:gd name="T11" fmla="*/ 1775 h 2180"/>
              <a:gd name="T12" fmla="*/ 215 w 2458"/>
              <a:gd name="T13" fmla="*/ 2066 h 2180"/>
              <a:gd name="T14" fmla="*/ 645 w 2458"/>
              <a:gd name="T15" fmla="*/ 2180 h 2180"/>
              <a:gd name="T16" fmla="*/ 1805 w 2458"/>
              <a:gd name="T17" fmla="*/ 2180 h 2180"/>
              <a:gd name="T18" fmla="*/ 2036 w 2458"/>
              <a:gd name="T19" fmla="*/ 2135 h 2180"/>
              <a:gd name="T20" fmla="*/ 2235 w 2458"/>
              <a:gd name="T21" fmla="*/ 1964 h 2180"/>
              <a:gd name="T22" fmla="*/ 2251 w 2458"/>
              <a:gd name="T23" fmla="*/ 1448 h 2180"/>
              <a:gd name="T24" fmla="*/ 2343 w 2458"/>
              <a:gd name="T25" fmla="*/ 1155 h 2180"/>
              <a:gd name="T26" fmla="*/ 2419 w 2458"/>
              <a:gd name="T27" fmla="*/ 820 h 2180"/>
              <a:gd name="T28" fmla="*/ 1896 w 2458"/>
              <a:gd name="T29" fmla="*/ 61 h 2180"/>
              <a:gd name="T30" fmla="*/ 1557 w 2458"/>
              <a:gd name="T31" fmla="*/ 0 h 21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58" h="2180">
                <a:moveTo>
                  <a:pt x="1557" y="0"/>
                </a:moveTo>
                <a:cubicBezTo>
                  <a:pt x="1548" y="0"/>
                  <a:pt x="1539" y="0"/>
                  <a:pt x="1529" y="0"/>
                </a:cubicBezTo>
                <a:cubicBezTo>
                  <a:pt x="1222" y="9"/>
                  <a:pt x="917" y="75"/>
                  <a:pt x="618" y="140"/>
                </a:cubicBezTo>
                <a:cubicBezTo>
                  <a:pt x="482" y="170"/>
                  <a:pt x="340" y="202"/>
                  <a:pt x="233" y="281"/>
                </a:cubicBezTo>
                <a:cubicBezTo>
                  <a:pt x="56" y="411"/>
                  <a:pt x="21" y="631"/>
                  <a:pt x="13" y="831"/>
                </a:cubicBezTo>
                <a:cubicBezTo>
                  <a:pt x="0" y="1146"/>
                  <a:pt x="23" y="1463"/>
                  <a:pt x="81" y="1775"/>
                </a:cubicBezTo>
                <a:cubicBezTo>
                  <a:pt x="100" y="1880"/>
                  <a:pt x="128" y="1991"/>
                  <a:pt x="215" y="2066"/>
                </a:cubicBezTo>
                <a:cubicBezTo>
                  <a:pt x="323" y="2159"/>
                  <a:pt x="491" y="2172"/>
                  <a:pt x="645" y="2180"/>
                </a:cubicBezTo>
                <a:cubicBezTo>
                  <a:pt x="1805" y="2180"/>
                  <a:pt x="1805" y="2180"/>
                  <a:pt x="1805" y="2180"/>
                </a:cubicBezTo>
                <a:cubicBezTo>
                  <a:pt x="1884" y="2180"/>
                  <a:pt x="1963" y="2165"/>
                  <a:pt x="2036" y="2135"/>
                </a:cubicBezTo>
                <a:cubicBezTo>
                  <a:pt x="2124" y="2098"/>
                  <a:pt x="2197" y="2043"/>
                  <a:pt x="2235" y="1964"/>
                </a:cubicBezTo>
                <a:cubicBezTo>
                  <a:pt x="2313" y="1804"/>
                  <a:pt x="2230" y="1621"/>
                  <a:pt x="2251" y="1448"/>
                </a:cubicBezTo>
                <a:cubicBezTo>
                  <a:pt x="2262" y="1347"/>
                  <a:pt x="2309" y="1252"/>
                  <a:pt x="2343" y="1155"/>
                </a:cubicBezTo>
                <a:cubicBezTo>
                  <a:pt x="2382" y="1045"/>
                  <a:pt x="2405" y="934"/>
                  <a:pt x="2419" y="820"/>
                </a:cubicBezTo>
                <a:cubicBezTo>
                  <a:pt x="2458" y="497"/>
                  <a:pt x="2247" y="189"/>
                  <a:pt x="1896" y="61"/>
                </a:cubicBezTo>
                <a:cubicBezTo>
                  <a:pt x="1789" y="21"/>
                  <a:pt x="1674" y="0"/>
                  <a:pt x="1557" y="0"/>
                </a:cubicBezTo>
              </a:path>
            </a:pathLst>
          </a:custGeom>
          <a:solidFill>
            <a:schemeClr val="accent1">
              <a:alpha val="17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06" tIns="45703" rIns="91406" bIns="45703" numCol="1" anchor="t" anchorCtr="0" compatLnSpc="1"/>
          <a:lstStyle/>
          <a:p>
            <a:endParaRPr lang="zh-CN" altLang="en-US" sz="1800">
              <a:cs typeface="微软雅黑" panose="020B050302020402020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837260" y="648109"/>
            <a:ext cx="2129014" cy="1081011"/>
          </a:xfrm>
        </p:spPr>
        <p:txBody>
          <a:bodyPr wrap="square" anchor="ctr" anchorCtr="0">
            <a:normAutofit/>
          </a:bodyPr>
          <a:lstStyle>
            <a:lvl1pPr algn="l">
              <a:defRPr sz="4915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4"/>
            </p:custDataLst>
          </p:nvPr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50" r="27352"/>
          <a:stretch>
            <a:fillRect/>
          </a:stretch>
        </p:blipFill>
        <p:spPr>
          <a:xfrm>
            <a:off x="1197808" y="2099825"/>
            <a:ext cx="3554704" cy="4829953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6"/>
          <p:cNvSpPr/>
          <p:nvPr userDrawn="1">
            <p:custDataLst>
              <p:tags r:id="rId2"/>
            </p:custDataLst>
          </p:nvPr>
        </p:nvSpPr>
        <p:spPr bwMode="auto">
          <a:xfrm rot="6240000" flipH="1">
            <a:off x="1155279" y="2458469"/>
            <a:ext cx="2942152" cy="3513444"/>
          </a:xfrm>
          <a:custGeom>
            <a:avLst/>
            <a:gdLst>
              <a:gd name="connsiteX0" fmla="*/ 4417 w 6611"/>
              <a:gd name="connsiteY0" fmla="*/ 31 h 6706"/>
              <a:gd name="connsiteX1" fmla="*/ 3525 w 6611"/>
              <a:gd name="connsiteY1" fmla="*/ 35 h 6706"/>
              <a:gd name="connsiteX2" fmla="*/ 1943 w 6611"/>
              <a:gd name="connsiteY2" fmla="*/ 444 h 6706"/>
              <a:gd name="connsiteX3" fmla="*/ 850 w 6611"/>
              <a:gd name="connsiteY3" fmla="*/ 1131 h 6706"/>
              <a:gd name="connsiteX4" fmla="*/ 7 w 6611"/>
              <a:gd name="connsiteY4" fmla="*/ 2491 h 6706"/>
              <a:gd name="connsiteX5" fmla="*/ 211 w 6611"/>
              <a:gd name="connsiteY5" fmla="*/ 4826 h 6706"/>
              <a:gd name="connsiteX6" fmla="*/ 752 w 6611"/>
              <a:gd name="connsiteY6" fmla="*/ 5937 h 6706"/>
              <a:gd name="connsiteX7" fmla="*/ 1926 w 6611"/>
              <a:gd name="connsiteY7" fmla="*/ 6575 h 6706"/>
              <a:gd name="connsiteX8" fmla="*/ 4060 w 6611"/>
              <a:gd name="connsiteY8" fmla="*/ 6611 h 6706"/>
              <a:gd name="connsiteX9" fmla="*/ 5547 w 6611"/>
              <a:gd name="connsiteY9" fmla="*/ 5965 h 6706"/>
              <a:gd name="connsiteX10" fmla="*/ 6120 w 6611"/>
              <a:gd name="connsiteY10" fmla="*/ 5119 h 6706"/>
              <a:gd name="connsiteX11" fmla="*/ 6193 w 6611"/>
              <a:gd name="connsiteY11" fmla="*/ 4057 h 6706"/>
              <a:gd name="connsiteX12" fmla="*/ 6398 w 6611"/>
              <a:gd name="connsiteY12" fmla="*/ 3222 h 6706"/>
              <a:gd name="connsiteX13" fmla="*/ 6599 w 6611"/>
              <a:gd name="connsiteY13" fmla="*/ 2281 h 6706"/>
              <a:gd name="connsiteX14" fmla="*/ 5278 w 6611"/>
              <a:gd name="connsiteY14" fmla="*/ 246 h 6706"/>
              <a:gd name="connsiteX15" fmla="*/ 4417 w 6611"/>
              <a:gd name="connsiteY15" fmla="*/ 31 h 67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0" t="0" r="r" b="b"/>
            <a:pathLst>
              <a:path w="6612" h="6706">
                <a:moveTo>
                  <a:pt x="4417" y="31"/>
                </a:moveTo>
                <a:cubicBezTo>
                  <a:pt x="4275" y="12"/>
                  <a:pt x="4045" y="-31"/>
                  <a:pt x="3525" y="35"/>
                </a:cubicBezTo>
                <a:cubicBezTo>
                  <a:pt x="3006" y="101"/>
                  <a:pt x="2368" y="252"/>
                  <a:pt x="1943" y="444"/>
                </a:cubicBezTo>
                <a:cubicBezTo>
                  <a:pt x="1518" y="636"/>
                  <a:pt x="1206" y="810"/>
                  <a:pt x="850" y="1131"/>
                </a:cubicBezTo>
                <a:cubicBezTo>
                  <a:pt x="494" y="1452"/>
                  <a:pt x="28" y="1938"/>
                  <a:pt x="7" y="2491"/>
                </a:cubicBezTo>
                <a:cubicBezTo>
                  <a:pt x="-27" y="3362"/>
                  <a:pt x="58" y="4271"/>
                  <a:pt x="211" y="4826"/>
                </a:cubicBezTo>
                <a:cubicBezTo>
                  <a:pt x="364" y="5381"/>
                  <a:pt x="482" y="5677"/>
                  <a:pt x="752" y="5937"/>
                </a:cubicBezTo>
                <a:cubicBezTo>
                  <a:pt x="1022" y="6197"/>
                  <a:pt x="1328" y="6417"/>
                  <a:pt x="1926" y="6575"/>
                </a:cubicBezTo>
                <a:cubicBezTo>
                  <a:pt x="2524" y="6733"/>
                  <a:pt x="3366" y="6751"/>
                  <a:pt x="4060" y="6611"/>
                </a:cubicBezTo>
                <a:cubicBezTo>
                  <a:pt x="4755" y="6471"/>
                  <a:pt x="5352" y="6115"/>
                  <a:pt x="5547" y="5965"/>
                </a:cubicBezTo>
                <a:cubicBezTo>
                  <a:pt x="5742" y="5815"/>
                  <a:pt x="6019" y="5562"/>
                  <a:pt x="6120" y="5119"/>
                </a:cubicBezTo>
                <a:cubicBezTo>
                  <a:pt x="6221" y="4677"/>
                  <a:pt x="6140" y="4535"/>
                  <a:pt x="6193" y="4057"/>
                </a:cubicBezTo>
                <a:cubicBezTo>
                  <a:pt x="6221" y="3778"/>
                  <a:pt x="6310" y="3490"/>
                  <a:pt x="6398" y="3222"/>
                </a:cubicBezTo>
                <a:cubicBezTo>
                  <a:pt x="6538" y="2812"/>
                  <a:pt x="6563" y="2596"/>
                  <a:pt x="6599" y="2281"/>
                </a:cubicBezTo>
                <a:cubicBezTo>
                  <a:pt x="6700" y="1390"/>
                  <a:pt x="6184" y="599"/>
                  <a:pt x="5278" y="246"/>
                </a:cubicBezTo>
                <a:cubicBezTo>
                  <a:pt x="5003" y="136"/>
                  <a:pt x="4559" y="50"/>
                  <a:pt x="4417" y="31"/>
                </a:cubicBezTo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vert="horz" wrap="square" lIns="91406" tIns="45703" rIns="91406" bIns="45703" numCol="1" anchor="t" anchorCtr="0" compatLnSpc="1"/>
          <a:lstStyle/>
          <a:p>
            <a:endParaRPr lang="zh-CN" altLang="en-US" sz="1800">
              <a:cs typeface="微软雅黑" panose="020B0503020204020204" charset="-122"/>
            </a:endParaRPr>
          </a:p>
        </p:txBody>
      </p:sp>
      <p:pic>
        <p:nvPicPr>
          <p:cNvPr id="7" name="图片 6" descr="D:\工作文件\临时素材\无人机5资源-1@600x-8.png无人机5资源-1@600x-8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/>
          <a:srcRect l="150" r="150"/>
          <a:stretch>
            <a:fillRect/>
          </a:stretch>
        </p:blipFill>
        <p:spPr>
          <a:xfrm>
            <a:off x="869633" y="1632635"/>
            <a:ext cx="3756560" cy="326144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459009" y="3489968"/>
            <a:ext cx="5890652" cy="1760848"/>
          </a:xfrm>
        </p:spPr>
        <p:txBody>
          <a:bodyPr wrap="square" lIns="0" tIns="0" rIns="0" bIns="0" anchor="t" anchorCtr="0">
            <a:normAutofit/>
          </a:bodyPr>
          <a:lstStyle>
            <a:lvl1pPr algn="l">
              <a:defRPr sz="4505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sp>
        <p:nvSpPr>
          <p:cNvPr id="8" name="文本占位符 7"/>
          <p:cNvSpPr>
            <a:spLocks noGrp="1"/>
          </p:cNvSpPr>
          <p:nvPr>
            <p:ph type="body" sz="quarter" idx="13" hasCustomPrompt="1"/>
            <p:custDataLst>
              <p:tags r:id="rId6"/>
            </p:custDataLst>
          </p:nvPr>
        </p:nvSpPr>
        <p:spPr>
          <a:xfrm>
            <a:off x="5459009" y="2447043"/>
            <a:ext cx="5890652" cy="959770"/>
          </a:xfrm>
          <a:prstGeom prst="roundRect">
            <a:avLst>
              <a:gd name="adj" fmla="val 0"/>
            </a:avLst>
          </a:prstGeom>
          <a:noFill/>
        </p:spPr>
        <p:txBody>
          <a:bodyPr wrap="square" anchor="b" anchorCtr="0">
            <a:noAutofit/>
          </a:bodyPr>
          <a:lstStyle>
            <a:lvl1pPr marL="0" indent="0" algn="l" eaLnBrk="1" fontAlgn="auto" latinLnBrk="0" hangingPunct="1">
              <a:lnSpc>
                <a:spcPct val="100000"/>
              </a:lnSpc>
              <a:spcBef>
                <a:spcPts val="0"/>
              </a:spcBef>
              <a:buNone/>
              <a:defRPr sz="4915" b="1" u="none" strike="noStrike" kern="1200" cap="none" spc="100" normalizeH="0">
                <a:solidFill>
                  <a:schemeClr val="accent1"/>
                </a:solidFill>
                <a:uFillTx/>
                <a:latin typeface="+mj-ea"/>
                <a:ea typeface="+mj-ea"/>
              </a:defRPr>
            </a:lvl1pPr>
          </a:lstStyle>
          <a:p>
            <a:pPr lvl="0"/>
            <a:r>
              <a:rPr lang="zh-CN" altLang="en-US" dirty="0"/>
              <a:t>编号</a:t>
            </a:r>
            <a:endParaRPr lang="zh-CN" altLang="en-US" dirty="0"/>
          </a:p>
        </p:txBody>
      </p:sp>
      <p:sp>
        <p:nvSpPr>
          <p:cNvPr id="12" name="日期占位符 11"/>
          <p:cNvSpPr>
            <a:spLocks noGrp="1"/>
          </p:cNvSpPr>
          <p:nvPr>
            <p:ph type="dt" sz="half" idx="14"/>
            <p:custDataLst>
              <p:tags r:id="rId7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13" name="页脚占位符 12"/>
          <p:cNvSpPr>
            <a:spLocks noGrp="1"/>
          </p:cNvSpPr>
          <p:nvPr>
            <p:ph type="ftr" sz="quarter" idx="15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4" name="灯片编号占位符 13"/>
          <p:cNvSpPr>
            <a:spLocks noGrp="1"/>
          </p:cNvSpPr>
          <p:nvPr>
            <p:ph type="sldNum" sz="quarter" idx="16"/>
            <p:custDataLst>
              <p:tags r:id="rId9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>
              <a:defRPr lang="zh-CN" altLang="en-US" dirty="0"/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95071" y="1359050"/>
            <a:ext cx="5322534" cy="4899463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169950" y="1359050"/>
            <a:ext cx="5320659" cy="4899463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695072" y="1359050"/>
            <a:ext cx="5300317" cy="463216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55" b="1"/>
            </a:lvl1pPr>
            <a:lvl2pPr marL="467995" indent="0">
              <a:buNone/>
              <a:defRPr sz="2050" b="1"/>
            </a:lvl2pPr>
            <a:lvl3pPr marL="935990" indent="0">
              <a:buNone/>
              <a:defRPr sz="1845" b="1"/>
            </a:lvl3pPr>
            <a:lvl4pPr marL="1404620" indent="0">
              <a:buNone/>
              <a:defRPr sz="1640" b="1"/>
            </a:lvl4pPr>
            <a:lvl5pPr marL="1872615" indent="0">
              <a:buNone/>
              <a:defRPr sz="1640" b="1"/>
            </a:lvl5pPr>
            <a:lvl6pPr marL="2340610" indent="0">
              <a:buNone/>
              <a:defRPr sz="1640" b="1"/>
            </a:lvl6pPr>
            <a:lvl7pPr marL="2808605" indent="0">
              <a:buNone/>
              <a:defRPr sz="1640" b="1"/>
            </a:lvl7pPr>
            <a:lvl8pPr marL="3276600" indent="0">
              <a:buNone/>
              <a:defRPr sz="1640" b="1"/>
            </a:lvl8pPr>
            <a:lvl9pPr marL="3745230" indent="0">
              <a:buNone/>
              <a:defRPr sz="164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95072" y="2143689"/>
            <a:ext cx="5300317" cy="4126883"/>
          </a:xfrm>
        </p:spPr>
        <p:txBody>
          <a:bodyPr wrap="square">
            <a:normAutofit/>
          </a:bodyPr>
          <a:lstStyle>
            <a:lvl1pPr>
              <a:defRPr sz="2255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>
          <a:xfrm>
            <a:off x="6169950" y="1359050"/>
            <a:ext cx="5327295" cy="463216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55" b="1"/>
            </a:lvl1pPr>
            <a:lvl2pPr marL="467995" indent="0">
              <a:buNone/>
              <a:defRPr sz="2050" b="1"/>
            </a:lvl2pPr>
            <a:lvl3pPr marL="935990" indent="0">
              <a:buNone/>
              <a:defRPr sz="1845" b="1"/>
            </a:lvl3pPr>
            <a:lvl4pPr marL="1404620" indent="0">
              <a:buNone/>
              <a:defRPr sz="1640" b="1"/>
            </a:lvl4pPr>
            <a:lvl5pPr marL="1872615" indent="0">
              <a:buNone/>
              <a:defRPr sz="1640" b="1"/>
            </a:lvl5pPr>
            <a:lvl6pPr marL="2340610" indent="0">
              <a:buNone/>
              <a:defRPr sz="1640" b="1"/>
            </a:lvl6pPr>
            <a:lvl7pPr marL="2808605" indent="0">
              <a:buNone/>
              <a:defRPr sz="1640" b="1"/>
            </a:lvl7pPr>
            <a:lvl8pPr marL="3276600" indent="0">
              <a:buNone/>
              <a:defRPr sz="1640" b="1"/>
            </a:lvl8pPr>
            <a:lvl9pPr marL="3745230" indent="0">
              <a:buNone/>
              <a:defRPr sz="164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169950" y="2143689"/>
            <a:ext cx="5327295" cy="4126883"/>
          </a:xfrm>
        </p:spPr>
        <p:txBody>
          <a:bodyPr wrap="square">
            <a:normAutofit/>
          </a:bodyPr>
          <a:lstStyle>
            <a:lvl1pPr>
              <a:defRPr sz="2255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3" name="标题 12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071" y="443034"/>
            <a:ext cx="10802173" cy="5815479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95071" y="1378693"/>
            <a:ext cx="10802173" cy="575790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55" b="0"/>
            </a:lvl1pPr>
            <a:lvl2pPr marL="467995" indent="0">
              <a:buNone/>
              <a:defRPr sz="2050" b="1"/>
            </a:lvl2pPr>
            <a:lvl3pPr marL="935990" indent="0">
              <a:buNone/>
              <a:defRPr sz="1845" b="1"/>
            </a:lvl3pPr>
            <a:lvl4pPr marL="1404620" indent="0">
              <a:buNone/>
              <a:defRPr sz="1640" b="1"/>
            </a:lvl4pPr>
            <a:lvl5pPr marL="1872615" indent="0">
              <a:buNone/>
              <a:defRPr sz="1640" b="1"/>
            </a:lvl5pPr>
            <a:lvl6pPr marL="2340610" indent="0">
              <a:buNone/>
              <a:defRPr sz="1640" b="1"/>
            </a:lvl6pPr>
            <a:lvl7pPr marL="2808605" indent="0">
              <a:buNone/>
              <a:defRPr sz="1640" b="1"/>
            </a:lvl7pPr>
            <a:lvl8pPr marL="3276600" indent="0">
              <a:buNone/>
              <a:defRPr sz="1640" b="1"/>
            </a:lvl8pPr>
            <a:lvl9pPr marL="3745230" indent="0">
              <a:buNone/>
              <a:defRPr sz="1640" b="1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/>
          <p:cNvSpPr/>
          <p:nvPr userDrawn="1">
            <p:custDataLst>
              <p:tags r:id="rId2"/>
            </p:custDataLst>
          </p:nvPr>
        </p:nvSpPr>
        <p:spPr>
          <a:xfrm>
            <a:off x="6214960" y="937752"/>
            <a:ext cx="5595525" cy="5915283"/>
          </a:xfrm>
          <a:custGeom>
            <a:avLst/>
            <a:gdLst>
              <a:gd name="connsiteX0" fmla="*/ 3604196 w 5597566"/>
              <a:gd name="connsiteY0" fmla="*/ 127 h 5917440"/>
              <a:gd name="connsiteX1" fmla="*/ 5020674 w 5597566"/>
              <a:gd name="connsiteY1" fmla="*/ 776538 h 5917440"/>
              <a:gd name="connsiteX2" fmla="*/ 5376373 w 5597566"/>
              <a:gd name="connsiteY2" fmla="*/ 1444944 h 5917440"/>
              <a:gd name="connsiteX3" fmla="*/ 5557177 w 5597566"/>
              <a:gd name="connsiteY3" fmla="*/ 2184215 h 5917440"/>
              <a:gd name="connsiteX4" fmla="*/ 5545132 w 5597566"/>
              <a:gd name="connsiteY4" fmla="*/ 3578297 h 5917440"/>
              <a:gd name="connsiteX5" fmla="*/ 5202018 w 5597566"/>
              <a:gd name="connsiteY5" fmla="*/ 4624938 h 5917440"/>
              <a:gd name="connsiteX6" fmla="*/ 4250176 w 5597566"/>
              <a:gd name="connsiteY6" fmla="*/ 5603523 h 5917440"/>
              <a:gd name="connsiteX7" fmla="*/ 2275095 w 5597566"/>
              <a:gd name="connsiteY7" fmla="*/ 5916586 h 5917440"/>
              <a:gd name="connsiteX8" fmla="*/ 1243715 w 5597566"/>
              <a:gd name="connsiteY8" fmla="*/ 5698027 h 5917440"/>
              <a:gd name="connsiteX9" fmla="*/ 473239 w 5597566"/>
              <a:gd name="connsiteY9" fmla="*/ 4857811 h 5917440"/>
              <a:gd name="connsiteX10" fmla="*/ 2965 w 5597566"/>
              <a:gd name="connsiteY10" fmla="*/ 3098601 h 5917440"/>
              <a:gd name="connsiteX11" fmla="*/ 230813 w 5597566"/>
              <a:gd name="connsiteY11" fmla="*/ 1734249 h 5917440"/>
              <a:gd name="connsiteX12" fmla="*/ 812883 w 5597566"/>
              <a:gd name="connsiteY12" fmla="*/ 1085274 h 5917440"/>
              <a:gd name="connsiteX13" fmla="*/ 1676967 w 5597566"/>
              <a:gd name="connsiteY13" fmla="*/ 805643 h 5917440"/>
              <a:gd name="connsiteX14" fmla="*/ 2325887 w 5597566"/>
              <a:gd name="connsiteY14" fmla="*/ 463589 h 5917440"/>
              <a:gd name="connsiteX15" fmla="*/ 3063384 w 5597566"/>
              <a:gd name="connsiteY15" fmla="*/ 102968 h 5917440"/>
              <a:gd name="connsiteX16" fmla="*/ 3604196 w 5597566"/>
              <a:gd name="connsiteY16" fmla="*/ 127 h 59174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597566" h="5917440">
                <a:moveTo>
                  <a:pt x="3604196" y="127"/>
                </a:moveTo>
                <a:cubicBezTo>
                  <a:pt x="4143157" y="-6764"/>
                  <a:pt x="4661253" y="268656"/>
                  <a:pt x="5020674" y="776538"/>
                </a:cubicBezTo>
                <a:cubicBezTo>
                  <a:pt x="5168497" y="981494"/>
                  <a:pt x="5331334" y="1331311"/>
                  <a:pt x="5376373" y="1444944"/>
                </a:cubicBezTo>
                <a:cubicBezTo>
                  <a:pt x="5421411" y="1558578"/>
                  <a:pt x="5504481" y="1740109"/>
                  <a:pt x="5557177" y="2184215"/>
                </a:cubicBezTo>
                <a:cubicBezTo>
                  <a:pt x="5609665" y="2627494"/>
                  <a:pt x="5616351" y="3186831"/>
                  <a:pt x="5545132" y="3578297"/>
                </a:cubicBezTo>
                <a:cubicBezTo>
                  <a:pt x="5473912" y="3969764"/>
                  <a:pt x="5394269" y="4263968"/>
                  <a:pt x="5202018" y="4624938"/>
                </a:cubicBezTo>
                <a:cubicBezTo>
                  <a:pt x="5009767" y="4985909"/>
                  <a:pt x="4703629" y="5471999"/>
                  <a:pt x="4250176" y="5603523"/>
                </a:cubicBezTo>
                <a:cubicBezTo>
                  <a:pt x="3536157" y="5811445"/>
                  <a:pt x="2766119" y="5928695"/>
                  <a:pt x="2275095" y="5916586"/>
                </a:cubicBezTo>
                <a:cubicBezTo>
                  <a:pt x="1784072" y="5904476"/>
                  <a:pt x="1514679" y="5867884"/>
                  <a:pt x="1243715" y="5698027"/>
                </a:cubicBezTo>
                <a:cubicBezTo>
                  <a:pt x="972750" y="5528171"/>
                  <a:pt x="727468" y="5320256"/>
                  <a:pt x="473239" y="4857811"/>
                </a:cubicBezTo>
                <a:cubicBezTo>
                  <a:pt x="219012" y="4395366"/>
                  <a:pt x="30316" y="3702028"/>
                  <a:pt x="2965" y="3098601"/>
                </a:cubicBezTo>
                <a:cubicBezTo>
                  <a:pt x="-24592" y="2494347"/>
                  <a:pt x="146889" y="1926640"/>
                  <a:pt x="230813" y="1734249"/>
                </a:cubicBezTo>
                <a:cubicBezTo>
                  <a:pt x="314738" y="1541857"/>
                  <a:pt x="467003" y="1260322"/>
                  <a:pt x="812883" y="1085274"/>
                </a:cubicBezTo>
                <a:cubicBezTo>
                  <a:pt x="1157935" y="910432"/>
                  <a:pt x="1292205" y="948179"/>
                  <a:pt x="1676967" y="805643"/>
                </a:cubicBezTo>
                <a:cubicBezTo>
                  <a:pt x="1902150" y="724878"/>
                  <a:pt x="2122194" y="591756"/>
                  <a:pt x="2325887" y="463589"/>
                </a:cubicBezTo>
                <a:cubicBezTo>
                  <a:pt x="2636399" y="263066"/>
                  <a:pt x="2810049" y="197787"/>
                  <a:pt x="3063384" y="102968"/>
                </a:cubicBezTo>
                <a:cubicBezTo>
                  <a:pt x="3242571" y="36089"/>
                  <a:pt x="3424543" y="2424"/>
                  <a:pt x="3604196" y="127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vert="horz" wrap="square" lIns="91406" tIns="45703" rIns="91406" bIns="45703" numCol="1" anchor="t" anchorCtr="0" compatLnSpc="1"/>
          <a:lstStyle/>
          <a:p>
            <a:pPr lvl="0"/>
            <a:endParaRPr lang="zh-CN" altLang="en-US" sz="1800">
              <a:solidFill>
                <a:schemeClr val="tx1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56" t="-1" r="15418" b="631"/>
          <a:stretch>
            <a:fillRect/>
          </a:stretch>
        </p:blipFill>
        <p:spPr>
          <a:xfrm>
            <a:off x="5988406" y="2504807"/>
            <a:ext cx="5415210" cy="44306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5"/>
            </p:custDataLst>
          </p:nvPr>
        </p:nvSpPr>
        <p:spPr>
          <a:xfrm>
            <a:off x="695071" y="1387615"/>
            <a:ext cx="5398706" cy="2151865"/>
          </a:xfrm>
        </p:spPr>
        <p:txBody>
          <a:bodyPr wrap="square" anchor="b" anchorCtr="0">
            <a:normAutofit/>
          </a:bodyPr>
          <a:lstStyle>
            <a:lvl1pPr algn="l">
              <a:lnSpc>
                <a:spcPct val="100000"/>
              </a:lnSpc>
              <a:defRPr sz="5530"/>
            </a:lvl1pPr>
          </a:lstStyle>
          <a:p>
            <a:r>
              <a:rPr lang="zh-CN" altLang="en-US" dirty="0"/>
              <a:t>编辑母版标题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8607461" y="6437198"/>
            <a:ext cx="2742200" cy="364992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文本占位符 23"/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01744" y="3822586"/>
            <a:ext cx="2878950" cy="57938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845">
                <a:solidFill>
                  <a:schemeClr val="lt1">
                    <a:lumMod val="100000"/>
                  </a:schemeClr>
                </a:solidFill>
              </a:defRPr>
            </a:lvl1pPr>
          </a:lstStyle>
          <a:p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image" Target="../media/image6.png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7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5.xml"/><Relationship Id="rId1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5.xml"/><Relationship Id="rId8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2.xml"/><Relationship Id="rId5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8.xml"/><Relationship Id="rId16" Type="http://schemas.openxmlformats.org/officeDocument/2006/relationships/theme" Target="../theme/theme3.xml"/><Relationship Id="rId15" Type="http://schemas.openxmlformats.org/officeDocument/2006/relationships/image" Target="../media/image6.png"/><Relationship Id="rId14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6.xml"/><Relationship Id="rId1" Type="http://schemas.openxmlformats.org/officeDocument/2006/relationships/slideLayout" Target="../slideLayouts/slideLayout27.xml"/></Relationships>
</file>

<file path=ppt/slideMasters/_rels/slideMaster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49.xml"/><Relationship Id="rId8" Type="http://schemas.openxmlformats.org/officeDocument/2006/relationships/slideLayout" Target="../slideLayouts/slideLayout48.xml"/><Relationship Id="rId7" Type="http://schemas.openxmlformats.org/officeDocument/2006/relationships/slideLayout" Target="../slideLayouts/slideLayout47.xml"/><Relationship Id="rId6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5.xml"/><Relationship Id="rId4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2.xml"/><Relationship Id="rId18" Type="http://schemas.openxmlformats.org/officeDocument/2006/relationships/theme" Target="../theme/theme4.xml"/><Relationship Id="rId17" Type="http://schemas.openxmlformats.org/officeDocument/2006/relationships/tags" Target="../tags/tag82.xml"/><Relationship Id="rId16" Type="http://schemas.openxmlformats.org/officeDocument/2006/relationships/tags" Target="../tags/tag81.xml"/><Relationship Id="rId15" Type="http://schemas.openxmlformats.org/officeDocument/2006/relationships/tags" Target="../tags/tag80.xml"/><Relationship Id="rId14" Type="http://schemas.openxmlformats.org/officeDocument/2006/relationships/tags" Target="../tags/tag79.xml"/><Relationship Id="rId13" Type="http://schemas.openxmlformats.org/officeDocument/2006/relationships/tags" Target="../tags/tag78.xml"/><Relationship Id="rId12" Type="http://schemas.openxmlformats.org/officeDocument/2006/relationships/tags" Target="../tags/tag77.xml"/><Relationship Id="rId11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 bwMode="gray">
          <a:xfrm rot="5400000" flipH="1">
            <a:off x="5882481" y="716756"/>
            <a:ext cx="42227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 bwMode="gray">
          <a:xfrm flipH="1">
            <a:off x="0" y="0"/>
            <a:ext cx="12187238" cy="6937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 bwMode="gray">
          <a:xfrm flipH="1">
            <a:off x="0" y="0"/>
            <a:ext cx="646113" cy="693738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50000"/>
                </a:schemeClr>
              </a:gs>
              <a:gs pos="100000">
                <a:schemeClr val="bg2">
                  <a:alpha val="2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29" name="Rectangle 3"/>
          <p:cNvSpPr>
            <a:spLocks noGrp="1"/>
          </p:cNvSpPr>
          <p:nvPr>
            <p:ph type="body"/>
          </p:nvPr>
        </p:nvSpPr>
        <p:spPr>
          <a:xfrm>
            <a:off x="1543050" y="2354263"/>
            <a:ext cx="9748838" cy="2182812"/>
          </a:xfrm>
          <a:prstGeom prst="rect">
            <a:avLst/>
          </a:prstGeom>
          <a:noFill/>
          <a:ln w="9525">
            <a:noFill/>
          </a:ln>
        </p:spPr>
        <p:txBody>
          <a:bodyPr lIns="122932" tIns="61466" rIns="122932" bIns="61466" anchor="t" anchorCtr="1">
            <a:spAutoFit/>
          </a:bodyPr>
          <a:lstStyle/>
          <a:p>
            <a:pPr lvl="0"/>
            <a:r>
              <a:rPr lang="en-US" altLang="en-US" dirty="0"/>
              <a:t>Click to edit Master text styles</a:t>
            </a:r>
            <a:endParaRPr lang="en-US" altLang="en-US" dirty="0"/>
          </a:p>
          <a:p>
            <a:pPr lvl="1"/>
            <a:r>
              <a:rPr lang="en-US" altLang="en-US" dirty="0"/>
              <a:t>Second level</a:t>
            </a:r>
            <a:endParaRPr lang="en-US" altLang="en-US" dirty="0"/>
          </a:p>
          <a:p>
            <a:pPr lvl="2"/>
            <a:r>
              <a:rPr lang="en-US" altLang="en-US" dirty="0"/>
              <a:t>Third level</a:t>
            </a:r>
            <a:endParaRPr lang="en-US" altLang="en-US" dirty="0"/>
          </a:p>
          <a:p>
            <a:pPr lvl="3"/>
            <a:r>
              <a:rPr lang="en-US" altLang="en-US" dirty="0"/>
              <a:t>Fourth level</a:t>
            </a:r>
            <a:endParaRPr lang="en-US" altLang="en-US" dirty="0"/>
          </a:p>
          <a:p>
            <a:pPr lvl="4"/>
            <a:r>
              <a:rPr lang="en-US" altLang="en-US" dirty="0"/>
              <a:t>Fifth level</a:t>
            </a:r>
            <a:endParaRPr lang="en-US" altLang="en-US" dirty="0"/>
          </a:p>
        </p:txBody>
      </p:sp>
      <p:sp>
        <p:nvSpPr>
          <p:cNvPr id="1030" name="Rectangle 2"/>
          <p:cNvSpPr>
            <a:spLocks noGrp="1"/>
          </p:cNvSpPr>
          <p:nvPr>
            <p:ph type="title"/>
          </p:nvPr>
        </p:nvSpPr>
        <p:spPr>
          <a:xfrm>
            <a:off x="646113" y="1404938"/>
            <a:ext cx="11541125" cy="579437"/>
          </a:xfrm>
          <a:prstGeom prst="rect">
            <a:avLst/>
          </a:prstGeom>
          <a:noFill/>
          <a:ln w="9525">
            <a:noFill/>
          </a:ln>
        </p:spPr>
        <p:txBody>
          <a:bodyPr lIns="614660" tIns="61466" rIns="614660" bIns="61466" anchor="b" anchorCtr="1">
            <a:spAutoFit/>
          </a:bodyPr>
          <a:lstStyle/>
          <a:p>
            <a:pPr lvl="0"/>
            <a:r>
              <a:rPr lang="en-US" altLang="en-US" dirty="0"/>
              <a:t>Click to edit Master title style</a:t>
            </a:r>
            <a:endParaRPr lang="en-US" altLang="en-US" dirty="0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eaLnBrk="1" hangingPunct="1">
              <a:defRPr sz="1300">
                <a:solidFill>
                  <a:schemeClr val="bg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algn="ctr" eaLnBrk="1" hangingPunct="1">
              <a:defRPr sz="1300">
                <a:solidFill>
                  <a:schemeClr val="bg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algn="r" eaLnBrk="1" hangingPunct="1">
              <a:defRPr sz="1300">
                <a:solidFill>
                  <a:schemeClr val="bg2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5FD804A-F784-4013-AD92-560D09364AB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1034" name="图片 11"/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65100" y="122238"/>
            <a:ext cx="328613" cy="373062"/>
          </a:xfrm>
          <a:prstGeom prst="rect">
            <a:avLst/>
          </a:prstGeom>
          <a:noFill/>
          <a:ln w="9525">
            <a:noFill/>
          </a:ln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ransition/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5pPr>
      <a:lvl6pPr marL="61468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6pPr>
      <a:lvl7pPr marL="122936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7pPr>
      <a:lvl8pPr marL="184404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8pPr>
      <a:lvl9pPr marL="245872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9pPr>
    </p:titleStyle>
    <p:bodyStyle>
      <a:lvl1pPr marL="220980" indent="-220980" algn="l" rtl="0" eaLnBrk="0" fontAlgn="base" hangingPunct="0">
        <a:spcBef>
          <a:spcPct val="25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3200" dirty="0">
          <a:solidFill>
            <a:schemeClr val="bg2"/>
          </a:solidFill>
          <a:latin typeface="Lucida Sans" pitchFamily="34" charset="0"/>
          <a:ea typeface="+mn-ea"/>
          <a:cs typeface="+mn-cs"/>
        </a:defRPr>
      </a:lvl1pPr>
      <a:lvl2pPr marL="462280" indent="-24003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Lucida Sans" pitchFamily="34" charset="0"/>
        <a:buChar char="–"/>
        <a:defRPr lang="en-US" sz="3000" dirty="0">
          <a:solidFill>
            <a:schemeClr val="bg2"/>
          </a:solidFill>
          <a:latin typeface="Lucida Sans" pitchFamily="34" charset="0"/>
          <a:ea typeface="+mn-ea"/>
          <a:cs typeface="+mn-cs"/>
        </a:defRPr>
      </a:lvl2pPr>
      <a:lvl3pPr marL="684530" indent="-22098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2700" dirty="0">
          <a:solidFill>
            <a:schemeClr val="bg2"/>
          </a:solidFill>
          <a:latin typeface="Lucida Sans" pitchFamily="34" charset="0"/>
          <a:ea typeface="+mn-ea"/>
          <a:cs typeface="+mn-cs"/>
        </a:defRPr>
      </a:lvl3pPr>
      <a:lvl4pPr marL="925830" indent="-24003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Lucida Sans" pitchFamily="34" charset="0"/>
        <a:buChar char="–"/>
        <a:defRPr lang="en-US" dirty="0">
          <a:solidFill>
            <a:schemeClr val="bg2"/>
          </a:solidFill>
          <a:latin typeface="Lucida Sans" pitchFamily="34" charset="0"/>
          <a:ea typeface="+mn-ea"/>
          <a:cs typeface="+mn-cs"/>
        </a:defRPr>
      </a:lvl4pPr>
      <a:lvl5pPr marL="1148080" indent="-22098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2200" dirty="0">
          <a:solidFill>
            <a:schemeClr val="bg2"/>
          </a:solidFill>
          <a:latin typeface="Lucida Sans" pitchFamily="34" charset="0"/>
          <a:ea typeface="+mn-ea"/>
          <a:cs typeface="+mn-cs"/>
        </a:defRPr>
      </a:lvl5pPr>
      <a:lvl6pPr marL="1534795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6pPr>
      <a:lvl7pPr marL="2149475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7pPr>
      <a:lvl8pPr marL="2763520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8pPr>
      <a:lvl9pPr marL="3378200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1468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2936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4404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5872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7340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8808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30276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91744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文本占位符 2"/>
          <p:cNvSpPr>
            <a:spLocks noGrp="1"/>
          </p:cNvSpPr>
          <p:nvPr>
            <p:ph type="body"/>
          </p:nvPr>
        </p:nvSpPr>
        <p:spPr>
          <a:xfrm>
            <a:off x="609600" y="1638300"/>
            <a:ext cx="10968038" cy="4633913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507163"/>
            <a:ext cx="2843213" cy="374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hangingPunct="1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4013" y="6507163"/>
            <a:ext cx="3859213" cy="374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hangingPunct="1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4425" y="6507163"/>
            <a:ext cx="2843213" cy="3746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 bwMode="gray">
          <a:xfrm rot="5400000" flipH="1">
            <a:off x="5882481" y="716756"/>
            <a:ext cx="42227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 bwMode="gray">
          <a:xfrm flipH="1">
            <a:off x="0" y="0"/>
            <a:ext cx="12187238" cy="6937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 bwMode="gray">
          <a:xfrm flipH="1">
            <a:off x="0" y="0"/>
            <a:ext cx="646113" cy="693738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50000"/>
                </a:schemeClr>
              </a:gs>
              <a:gs pos="100000">
                <a:schemeClr val="bg2">
                  <a:alpha val="2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29" name="Rectangle 3"/>
          <p:cNvSpPr>
            <a:spLocks noGrp="1"/>
          </p:cNvSpPr>
          <p:nvPr>
            <p:ph type="body"/>
          </p:nvPr>
        </p:nvSpPr>
        <p:spPr>
          <a:xfrm>
            <a:off x="1543050" y="2354263"/>
            <a:ext cx="9748838" cy="2182812"/>
          </a:xfrm>
          <a:prstGeom prst="rect">
            <a:avLst/>
          </a:prstGeom>
          <a:noFill/>
          <a:ln w="9525">
            <a:noFill/>
          </a:ln>
        </p:spPr>
        <p:txBody>
          <a:bodyPr lIns="122932" tIns="61466" rIns="122932" bIns="61466" anchor="t" anchorCtr="1">
            <a:spAutoFit/>
          </a:bodyPr>
          <a:lstStyle/>
          <a:p>
            <a:pPr lvl="0"/>
            <a:r>
              <a:rPr lang="en-US" altLang="en-US" dirty="0"/>
              <a:t>Click to edit Master text styles</a:t>
            </a:r>
            <a:endParaRPr lang="en-US" altLang="en-US" dirty="0"/>
          </a:p>
          <a:p>
            <a:pPr lvl="1"/>
            <a:r>
              <a:rPr lang="en-US" altLang="en-US" dirty="0"/>
              <a:t>Second level</a:t>
            </a:r>
            <a:endParaRPr lang="en-US" altLang="en-US" dirty="0"/>
          </a:p>
          <a:p>
            <a:pPr lvl="2"/>
            <a:r>
              <a:rPr lang="en-US" altLang="en-US" dirty="0"/>
              <a:t>Third level</a:t>
            </a:r>
            <a:endParaRPr lang="en-US" altLang="en-US" dirty="0"/>
          </a:p>
          <a:p>
            <a:pPr lvl="3"/>
            <a:r>
              <a:rPr lang="en-US" altLang="en-US" dirty="0"/>
              <a:t>Fourth level</a:t>
            </a:r>
            <a:endParaRPr lang="en-US" altLang="en-US" dirty="0"/>
          </a:p>
          <a:p>
            <a:pPr lvl="4"/>
            <a:r>
              <a:rPr lang="en-US" altLang="en-US" dirty="0"/>
              <a:t>Fifth level</a:t>
            </a:r>
            <a:endParaRPr lang="en-US" altLang="en-US" dirty="0"/>
          </a:p>
        </p:txBody>
      </p:sp>
      <p:sp>
        <p:nvSpPr>
          <p:cNvPr id="1030" name="Rectangle 2"/>
          <p:cNvSpPr>
            <a:spLocks noGrp="1"/>
          </p:cNvSpPr>
          <p:nvPr>
            <p:ph type="title"/>
          </p:nvPr>
        </p:nvSpPr>
        <p:spPr>
          <a:xfrm>
            <a:off x="646113" y="1404938"/>
            <a:ext cx="11541125" cy="579437"/>
          </a:xfrm>
          <a:prstGeom prst="rect">
            <a:avLst/>
          </a:prstGeom>
          <a:noFill/>
          <a:ln w="9525">
            <a:noFill/>
          </a:ln>
        </p:spPr>
        <p:txBody>
          <a:bodyPr lIns="614660" tIns="61466" rIns="614660" bIns="61466" anchor="b" anchorCtr="1">
            <a:spAutoFit/>
          </a:bodyPr>
          <a:lstStyle/>
          <a:p>
            <a:pPr lvl="0"/>
            <a:r>
              <a:rPr lang="en-US" altLang="en-US" dirty="0"/>
              <a:t>Click to edit Master title style</a:t>
            </a:r>
            <a:endParaRPr lang="en-US" altLang="en-US" dirty="0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eaLnBrk="1" hangingPunct="1">
              <a:defRPr sz="1300">
                <a:solidFill>
                  <a:schemeClr val="bg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algn="ctr" eaLnBrk="1" hangingPunct="1">
              <a:defRPr sz="1300">
                <a:solidFill>
                  <a:schemeClr val="bg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algn="r" eaLnBrk="1" hangingPunct="1">
              <a:defRPr sz="1300">
                <a:solidFill>
                  <a:schemeClr val="bg2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5FD804A-F784-4013-AD92-560D09364AB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1034" name="图片 11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65100" y="122238"/>
            <a:ext cx="328613" cy="373062"/>
          </a:xfrm>
          <a:prstGeom prst="rect">
            <a:avLst/>
          </a:prstGeom>
          <a:noFill/>
          <a:ln w="9525">
            <a:noFill/>
          </a:ln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</p:sldLayoutIdLst>
  <p:transition/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5pPr>
      <a:lvl6pPr marL="61468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6pPr>
      <a:lvl7pPr marL="122936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7pPr>
      <a:lvl8pPr marL="184404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8pPr>
      <a:lvl9pPr marL="245872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9pPr>
    </p:titleStyle>
    <p:bodyStyle>
      <a:lvl1pPr marL="220980" indent="-220980" algn="l" rtl="0" eaLnBrk="0" fontAlgn="base" hangingPunct="0">
        <a:spcBef>
          <a:spcPct val="25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3200" dirty="0">
          <a:solidFill>
            <a:schemeClr val="bg2"/>
          </a:solidFill>
          <a:latin typeface="Lucida Sans" pitchFamily="34" charset="0"/>
          <a:ea typeface="+mn-ea"/>
          <a:cs typeface="+mn-cs"/>
        </a:defRPr>
      </a:lvl1pPr>
      <a:lvl2pPr marL="462280" indent="-24003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Lucida Sans" pitchFamily="34" charset="0"/>
        <a:buChar char="–"/>
        <a:defRPr lang="en-US" sz="3000" dirty="0">
          <a:solidFill>
            <a:schemeClr val="bg2"/>
          </a:solidFill>
          <a:latin typeface="Lucida Sans" pitchFamily="34" charset="0"/>
          <a:ea typeface="+mn-ea"/>
          <a:cs typeface="+mn-cs"/>
        </a:defRPr>
      </a:lvl2pPr>
      <a:lvl3pPr marL="684530" indent="-22098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2700" dirty="0">
          <a:solidFill>
            <a:schemeClr val="bg2"/>
          </a:solidFill>
          <a:latin typeface="Lucida Sans" pitchFamily="34" charset="0"/>
          <a:ea typeface="+mn-ea"/>
          <a:cs typeface="+mn-cs"/>
        </a:defRPr>
      </a:lvl3pPr>
      <a:lvl4pPr marL="925830" indent="-24003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Lucida Sans" pitchFamily="34" charset="0"/>
        <a:buChar char="–"/>
        <a:defRPr lang="en-US" dirty="0">
          <a:solidFill>
            <a:schemeClr val="bg2"/>
          </a:solidFill>
          <a:latin typeface="Lucida Sans" pitchFamily="34" charset="0"/>
          <a:ea typeface="+mn-ea"/>
          <a:cs typeface="+mn-cs"/>
        </a:defRPr>
      </a:lvl4pPr>
      <a:lvl5pPr marL="1148080" indent="-22098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2200" dirty="0">
          <a:solidFill>
            <a:schemeClr val="bg2"/>
          </a:solidFill>
          <a:latin typeface="Lucida Sans" pitchFamily="34" charset="0"/>
          <a:ea typeface="+mn-ea"/>
          <a:cs typeface="+mn-cs"/>
        </a:defRPr>
      </a:lvl5pPr>
      <a:lvl6pPr marL="1534795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6pPr>
      <a:lvl7pPr marL="2149475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7pPr>
      <a:lvl8pPr marL="2763520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8pPr>
      <a:lvl9pPr marL="3378200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1468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2936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4404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5872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7340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8808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30276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91744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94547" y="443034"/>
            <a:ext cx="10796063" cy="719738"/>
          </a:xfrm>
          <a:prstGeom prst="rect">
            <a:avLst/>
          </a:prstGeom>
        </p:spPr>
        <p:txBody>
          <a:bodyPr vert="horz" wrap="square" lIns="0" tIns="0" rIns="0" bIns="0" rtlCol="0" anchor="b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95071" y="1366032"/>
            <a:ext cx="10797412" cy="4892796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95071" y="6437198"/>
            <a:ext cx="2885023" cy="3649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>
            <a:lvl1pPr algn="l">
              <a:defRPr sz="123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037128" y="6437198"/>
            <a:ext cx="4113300" cy="36499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23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607461" y="6437198"/>
            <a:ext cx="2883148" cy="3649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>
            <a:lvl1pPr algn="r">
              <a:defRPr sz="123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  <p:sp>
        <p:nvSpPr>
          <p:cNvPr id="8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83165"/>
            <a:ext cx="0" cy="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</p:sldLayoutIdLst>
  <p:txStyles>
    <p:titleStyle>
      <a:lvl1pPr algn="l" defTabSz="935990" rtl="0" eaLnBrk="1" latinLnBrk="0" hangingPunct="1">
        <a:lnSpc>
          <a:spcPct val="100000"/>
        </a:lnSpc>
        <a:spcBef>
          <a:spcPct val="0"/>
        </a:spcBef>
        <a:buNone/>
        <a:defRPr sz="3275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34315" indent="-234315" algn="l" defTabSz="935990" rtl="0" eaLnBrk="1" latinLnBrk="0" hangingPunct="1">
        <a:lnSpc>
          <a:spcPct val="130000"/>
        </a:lnSpc>
        <a:spcBef>
          <a:spcPct val="205000"/>
        </a:spcBef>
        <a:buFont typeface="Arial" panose="020B0604020202020204" pitchFamily="34" charset="0"/>
        <a:buChar char="•"/>
        <a:defRPr sz="2455" kern="1200">
          <a:solidFill>
            <a:schemeClr val="tx1"/>
          </a:solidFill>
          <a:latin typeface="+mn-lt"/>
          <a:ea typeface="+mn-ea"/>
          <a:cs typeface="+mn-cs"/>
        </a:defRPr>
      </a:lvl1pPr>
      <a:lvl2pPr marL="551180" indent="-211455" algn="l" defTabSz="93599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817880" indent="-165735" algn="l" defTabSz="93599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4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55370" indent="-153035" algn="l" defTabSz="93599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4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64285" indent="-130175" algn="l" defTabSz="93599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3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74925" indent="-234315" algn="l" defTabSz="935990" rtl="0" eaLnBrk="1" latinLnBrk="0" hangingPunct="1">
        <a:lnSpc>
          <a:spcPct val="90000"/>
        </a:lnSpc>
        <a:spcBef>
          <a:spcPct val="103000"/>
        </a:spcBef>
        <a:buFont typeface="Arial" panose="020B0604020202020204" pitchFamily="34" charset="0"/>
        <a:buChar char="•"/>
        <a:defRPr sz="1845" kern="1200">
          <a:solidFill>
            <a:schemeClr val="tx1"/>
          </a:solidFill>
          <a:latin typeface="+mn-lt"/>
          <a:ea typeface="+mn-ea"/>
          <a:cs typeface="+mn-cs"/>
        </a:defRPr>
      </a:lvl6pPr>
      <a:lvl7pPr marL="3042920" indent="-234315" algn="l" defTabSz="935990" rtl="0" eaLnBrk="1" latinLnBrk="0" hangingPunct="1">
        <a:lnSpc>
          <a:spcPct val="90000"/>
        </a:lnSpc>
        <a:spcBef>
          <a:spcPct val="103000"/>
        </a:spcBef>
        <a:buFont typeface="Arial" panose="020B0604020202020204" pitchFamily="34" charset="0"/>
        <a:buChar char="•"/>
        <a:defRPr sz="1845" kern="1200">
          <a:solidFill>
            <a:schemeClr val="tx1"/>
          </a:solidFill>
          <a:latin typeface="+mn-lt"/>
          <a:ea typeface="+mn-ea"/>
          <a:cs typeface="+mn-cs"/>
        </a:defRPr>
      </a:lvl7pPr>
      <a:lvl8pPr marL="3510915" indent="-234315" algn="l" defTabSz="935990" rtl="0" eaLnBrk="1" latinLnBrk="0" hangingPunct="1">
        <a:lnSpc>
          <a:spcPct val="90000"/>
        </a:lnSpc>
        <a:spcBef>
          <a:spcPct val="103000"/>
        </a:spcBef>
        <a:buFont typeface="Arial" panose="020B0604020202020204" pitchFamily="34" charset="0"/>
        <a:buChar char="•"/>
        <a:defRPr sz="1845" kern="1200">
          <a:solidFill>
            <a:schemeClr val="tx1"/>
          </a:solidFill>
          <a:latin typeface="+mn-lt"/>
          <a:ea typeface="+mn-ea"/>
          <a:cs typeface="+mn-cs"/>
        </a:defRPr>
      </a:lvl8pPr>
      <a:lvl9pPr marL="3978910" indent="-234315" algn="l" defTabSz="935990" rtl="0" eaLnBrk="1" latinLnBrk="0" hangingPunct="1">
        <a:lnSpc>
          <a:spcPct val="90000"/>
        </a:lnSpc>
        <a:spcBef>
          <a:spcPct val="103000"/>
        </a:spcBef>
        <a:buFont typeface="Arial" panose="020B0604020202020204" pitchFamily="34" charset="0"/>
        <a:buChar char="•"/>
        <a:defRPr sz="184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1pPr>
      <a:lvl2pPr marL="467995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2pPr>
      <a:lvl3pPr marL="93599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3pPr>
      <a:lvl4pPr marL="140462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4pPr>
      <a:lvl5pPr marL="1872615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5pPr>
      <a:lvl6pPr marL="234061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6pPr>
      <a:lvl7pPr marL="2808605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7pPr>
      <a:lvl8pPr marL="327660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8pPr>
      <a:lvl9pPr marL="374523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1.xml"/><Relationship Id="rId8" Type="http://schemas.openxmlformats.org/officeDocument/2006/relationships/tags" Target="../tags/tag90.xml"/><Relationship Id="rId7" Type="http://schemas.openxmlformats.org/officeDocument/2006/relationships/tags" Target="../tags/tag89.xml"/><Relationship Id="rId6" Type="http://schemas.openxmlformats.org/officeDocument/2006/relationships/tags" Target="../tags/tag88.xml"/><Relationship Id="rId5" Type="http://schemas.openxmlformats.org/officeDocument/2006/relationships/tags" Target="../tags/tag87.xml"/><Relationship Id="rId4" Type="http://schemas.openxmlformats.org/officeDocument/2006/relationships/tags" Target="../tags/tag86.xml"/><Relationship Id="rId3" Type="http://schemas.openxmlformats.org/officeDocument/2006/relationships/tags" Target="../tags/tag85.xml"/><Relationship Id="rId2" Type="http://schemas.openxmlformats.org/officeDocument/2006/relationships/tags" Target="../tags/tag84.xml"/><Relationship Id="rId18" Type="http://schemas.openxmlformats.org/officeDocument/2006/relationships/slideLayout" Target="../slideLayouts/slideLayout43.xml"/><Relationship Id="rId17" Type="http://schemas.openxmlformats.org/officeDocument/2006/relationships/tags" Target="../tags/tag99.xml"/><Relationship Id="rId16" Type="http://schemas.openxmlformats.org/officeDocument/2006/relationships/tags" Target="../tags/tag98.xml"/><Relationship Id="rId15" Type="http://schemas.openxmlformats.org/officeDocument/2006/relationships/tags" Target="../tags/tag97.xml"/><Relationship Id="rId14" Type="http://schemas.openxmlformats.org/officeDocument/2006/relationships/tags" Target="../tags/tag96.xml"/><Relationship Id="rId13" Type="http://schemas.openxmlformats.org/officeDocument/2006/relationships/tags" Target="../tags/tag95.xml"/><Relationship Id="rId12" Type="http://schemas.openxmlformats.org/officeDocument/2006/relationships/tags" Target="../tags/tag94.xml"/><Relationship Id="rId11" Type="http://schemas.openxmlformats.org/officeDocument/2006/relationships/tags" Target="../tags/tag93.xml"/><Relationship Id="rId10" Type="http://schemas.openxmlformats.org/officeDocument/2006/relationships/tags" Target="../tags/tag92.xml"/><Relationship Id="rId1" Type="http://schemas.openxmlformats.org/officeDocument/2006/relationships/tags" Target="../tags/tag8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2" Type="http://schemas.openxmlformats.org/officeDocument/2006/relationships/tags" Target="../tags/tag101.xml"/><Relationship Id="rId1" Type="http://schemas.openxmlformats.org/officeDocument/2006/relationships/tags" Target="../tags/tag10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2" Type="http://schemas.openxmlformats.org/officeDocument/2006/relationships/tags" Target="../tags/tag103.xml"/><Relationship Id="rId1" Type="http://schemas.openxmlformats.org/officeDocument/2006/relationships/tags" Target="../tags/tag10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9" Type="http://schemas.openxmlformats.org/officeDocument/2006/relationships/tags" Target="../tags/tag112.xml"/><Relationship Id="rId8" Type="http://schemas.openxmlformats.org/officeDocument/2006/relationships/tags" Target="../tags/tag111.xml"/><Relationship Id="rId7" Type="http://schemas.openxmlformats.org/officeDocument/2006/relationships/tags" Target="../tags/tag110.xml"/><Relationship Id="rId6" Type="http://schemas.openxmlformats.org/officeDocument/2006/relationships/tags" Target="../tags/tag109.xml"/><Relationship Id="rId5" Type="http://schemas.openxmlformats.org/officeDocument/2006/relationships/tags" Target="../tags/tag108.xml"/><Relationship Id="rId4" Type="http://schemas.openxmlformats.org/officeDocument/2006/relationships/tags" Target="../tags/tag107.xml"/><Relationship Id="rId3" Type="http://schemas.openxmlformats.org/officeDocument/2006/relationships/tags" Target="../tags/tag106.xml"/><Relationship Id="rId2" Type="http://schemas.openxmlformats.org/officeDocument/2006/relationships/tags" Target="../tags/tag105.xml"/><Relationship Id="rId11" Type="http://schemas.openxmlformats.org/officeDocument/2006/relationships/slideLayout" Target="../slideLayouts/slideLayout2.xml"/><Relationship Id="rId10" Type="http://schemas.openxmlformats.org/officeDocument/2006/relationships/tags" Target="../tags/tag113.xml"/><Relationship Id="rId1" Type="http://schemas.openxmlformats.org/officeDocument/2006/relationships/tags" Target="../tags/tag10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19.xml"/><Relationship Id="rId5" Type="http://schemas.openxmlformats.org/officeDocument/2006/relationships/tags" Target="../tags/tag118.xml"/><Relationship Id="rId4" Type="http://schemas.openxmlformats.org/officeDocument/2006/relationships/tags" Target="../tags/tag117.xml"/><Relationship Id="rId3" Type="http://schemas.openxmlformats.org/officeDocument/2006/relationships/tags" Target="../tags/tag116.xml"/><Relationship Id="rId2" Type="http://schemas.openxmlformats.org/officeDocument/2006/relationships/tags" Target="../tags/tag115.xml"/><Relationship Id="rId1" Type="http://schemas.openxmlformats.org/officeDocument/2006/relationships/tags" Target="../tags/tag11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tags" Target="../tags/tag120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7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2" Type="http://schemas.openxmlformats.org/officeDocument/2006/relationships/tags" Target="../tags/tag127.xml"/><Relationship Id="rId1" Type="http://schemas.openxmlformats.org/officeDocument/2006/relationships/tags" Target="../tags/tag12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8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2" Type="http://schemas.openxmlformats.org/officeDocument/2006/relationships/tags" Target="../tags/tag129.xml"/><Relationship Id="rId1" Type="http://schemas.openxmlformats.org/officeDocument/2006/relationships/tags" Target="../tags/tag12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2" Type="http://schemas.openxmlformats.org/officeDocument/2006/relationships/tags" Target="../tags/tag131.xml"/><Relationship Id="rId1" Type="http://schemas.openxmlformats.org/officeDocument/2006/relationships/tags" Target="../tags/tag13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0.png"/></Relationships>
</file>

<file path=ppt/slides/_rels/slide7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34.png"/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image" Target="../media/image31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5.png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6.png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tags" Target="../tags/tag133.xml"/><Relationship Id="rId1" Type="http://schemas.openxmlformats.org/officeDocument/2006/relationships/tags" Target="../tags/tag13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8.png"/><Relationship Id="rId1" Type="http://schemas.openxmlformats.org/officeDocument/2006/relationships/image" Target="../media/image37.png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2.png"/><Relationship Id="rId3" Type="http://schemas.openxmlformats.org/officeDocument/2006/relationships/image" Target="../media/image41.jpeg"/><Relationship Id="rId2" Type="http://schemas.openxmlformats.org/officeDocument/2006/relationships/image" Target="../media/image40.png"/><Relationship Id="rId1" Type="http://schemas.openxmlformats.org/officeDocument/2006/relationships/image" Target="../media/image39.jpeg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3.png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3.png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7.png"/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image" Target="../media/image44.png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8.png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tags" Target="../tags/tag135.xml"/><Relationship Id="rId1" Type="http://schemas.openxmlformats.org/officeDocument/2006/relationships/tags" Target="../tags/tag134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9.png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0" y="2941638"/>
            <a:ext cx="12187238" cy="1476375"/>
            <a:chOff x="-59690" y="3590200"/>
            <a:chExt cx="12246928" cy="1476406"/>
          </a:xfrm>
        </p:grpSpPr>
        <p:sp>
          <p:nvSpPr>
            <p:cNvPr id="6" name="TextBox 5"/>
            <p:cNvSpPr txBox="1"/>
            <p:nvPr/>
          </p:nvSpPr>
          <p:spPr>
            <a:xfrm>
              <a:off x="-59690" y="3590200"/>
              <a:ext cx="12187238" cy="614058"/>
            </a:xfrm>
            <a:prstGeom prst="rect">
              <a:avLst/>
            </a:prstGeom>
            <a:noFill/>
          </p:spPr>
          <p:txBody>
            <a:bodyPr lIns="122932" tIns="61466" rIns="122932" bIns="61466">
              <a:spAutoFit/>
            </a:bodyPr>
            <a:lstStyle/>
            <a:p>
              <a:pPr marR="0" algn="ctr" defTabSz="914400">
                <a:buClrTx/>
                <a:buSzTx/>
                <a:buFontTx/>
                <a:buNone/>
                <a:defRPr/>
              </a:pPr>
              <a:r>
                <a:rPr kumimoji="0" lang="en-US" altLang="zh-CN" sz="3200" kern="1200" cap="none" spc="134" normalizeH="0" baseline="0" noProof="0" dirty="0">
                  <a:solidFill>
                    <a:schemeClr val="bg2">
                      <a:lumMod val="65000"/>
                      <a:lumOff val="35000"/>
                    </a:schemeClr>
                  </a:solidFill>
                  <a:latin typeface="冬青黑体简体中文 W6" pitchFamily="34" charset="-122"/>
                  <a:ea typeface="冬青黑体简体中文 W6" pitchFamily="34" charset="-122"/>
                  <a:cs typeface="+mn-cs"/>
                </a:rPr>
                <a:t>FreeRTOS</a:t>
              </a:r>
              <a:r>
                <a:rPr kumimoji="0" lang="zh-CN" altLang="en-US" sz="3200" kern="1200" cap="none" spc="134" normalizeH="0" baseline="0" noProof="0" dirty="0">
                  <a:solidFill>
                    <a:schemeClr val="bg2">
                      <a:lumMod val="65000"/>
                      <a:lumOff val="35000"/>
                    </a:schemeClr>
                  </a:solidFill>
                  <a:latin typeface="冬青黑体简体中文 W6" pitchFamily="34" charset="-122"/>
                  <a:ea typeface="冬青黑体简体中文 W6" pitchFamily="34" charset="-122"/>
                  <a:cs typeface="+mn-cs"/>
                </a:rPr>
                <a:t>核心机制</a:t>
              </a:r>
              <a:endParaRPr kumimoji="0" lang="zh-CN" altLang="en-US" sz="3200" kern="1200" cap="none" spc="134" normalizeH="0" baseline="0" noProof="0" dirty="0">
                <a:solidFill>
                  <a:schemeClr val="bg2">
                    <a:lumMod val="65000"/>
                    <a:lumOff val="35000"/>
                  </a:schemeClr>
                </a:solidFill>
                <a:latin typeface="冬青黑体简体中文 W6" pitchFamily="34" charset="-122"/>
                <a:ea typeface="冬青黑体简体中文 W6" pitchFamily="34" charset="-122"/>
                <a:cs typeface="+mn-cs"/>
              </a:endParaRPr>
            </a:p>
          </p:txBody>
        </p:sp>
        <p:sp>
          <p:nvSpPr>
            <p:cNvPr id="18437" name="TextBox 6"/>
            <p:cNvSpPr txBox="1">
              <a:spLocks noChangeArrowheads="1"/>
            </p:cNvSpPr>
            <p:nvPr/>
          </p:nvSpPr>
          <p:spPr bwMode="auto">
            <a:xfrm>
              <a:off x="0" y="4421987"/>
              <a:ext cx="12187238" cy="6446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134" normalizeH="0" baseline="0" noProof="0" dirty="0">
                  <a:ln>
                    <a:noFill/>
                  </a:ln>
                  <a:solidFill>
                    <a:schemeClr val="bg2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仿宋" panose="02010609060101010101" pitchFamily="49" charset="-122"/>
                  <a:ea typeface="仿宋" panose="02010609060101010101" pitchFamily="49" charset="-122"/>
                  <a:cs typeface="+mn-cs"/>
                </a:rPr>
                <a:t>姓名：丰无界</a:t>
              </a:r>
              <a:endParaRPr kumimoji="0" lang="en-US" altLang="zh-CN" sz="1800" b="0" i="0" u="none" strike="noStrike" kern="1200" cap="none" spc="134" normalizeH="0" baseline="0" noProof="0" dirty="0">
                <a:ln>
                  <a:noFill/>
                </a:ln>
                <a:solidFill>
                  <a:schemeClr val="bg2">
                    <a:lumMod val="65000"/>
                    <a:lumOff val="35000"/>
                  </a:schemeClr>
                </a:solidFill>
                <a:effectLst/>
                <a:uLnTx/>
                <a:uFillTx/>
                <a:latin typeface="仿宋" panose="02010609060101010101" pitchFamily="49" charset="-122"/>
                <a:ea typeface="仿宋" panose="02010609060101010101" pitchFamily="49" charset="-122"/>
                <a:cs typeface="+mn-cs"/>
              </a:endParaRPr>
            </a:p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endParaRPr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338138" y="171450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>
                <a:latin typeface="Arial" panose="020B0604020202020204" pitchFamily="34" charset="0"/>
              </a:rPr>
              <a:t>课程目标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93090" y="860425"/>
            <a:ext cx="40627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93090" y="944245"/>
            <a:ext cx="10509885" cy="137365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 dirty="0" err="1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理解</a:t>
            </a:r>
            <a:r>
              <a:rPr sz="2000" dirty="0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 </a:t>
            </a:r>
            <a:r>
              <a:rPr sz="2000" dirty="0" err="1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FreeRTOS</a:t>
            </a:r>
            <a:r>
              <a:rPr sz="2000" dirty="0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 </a:t>
            </a:r>
            <a:r>
              <a:rPr sz="2000" dirty="0" err="1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核心机制与底层原理</a:t>
            </a:r>
            <a:endParaRPr sz="2000" dirty="0">
              <a:solidFill>
                <a:schemeClr val="bg2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 dirty="0" err="1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掌握任务调度、时间管理、同步通信等关键技术</a:t>
            </a:r>
            <a:endParaRPr sz="2000" dirty="0">
              <a:solidFill>
                <a:schemeClr val="bg2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 dirty="0" err="1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避免常见</a:t>
            </a:r>
            <a:r>
              <a:rPr sz="2000" dirty="0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 RTOS </a:t>
            </a:r>
            <a:r>
              <a:rPr sz="2000" dirty="0" err="1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开发陷阱</a:t>
            </a:r>
            <a:endParaRPr sz="2000" dirty="0">
              <a:solidFill>
                <a:schemeClr val="bg2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 dirty="0" err="1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结合实际案例加深理解</a:t>
            </a:r>
            <a:endParaRPr sz="2000" dirty="0">
              <a:solidFill>
                <a:schemeClr val="bg2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837565" y="648335"/>
            <a:ext cx="3763010" cy="1080770"/>
          </a:xfrm>
        </p:spPr>
        <p:txBody>
          <a:bodyPr wrap="square">
            <a:normAutofit/>
          </a:bodyPr>
          <a:lstStyle/>
          <a:p>
            <a:r>
              <a:rPr lang="en-US" spc="300" dirty="0">
                <a:latin typeface="+mj-ea"/>
                <a:sym typeface="+mn-ea"/>
              </a:rPr>
              <a:t>FreeRTOS</a:t>
            </a:r>
            <a:endParaRPr lang="en-US"/>
          </a:p>
        </p:txBody>
      </p:sp>
      <p:sp>
        <p:nvSpPr>
          <p:cNvPr id="6" name="序号"/>
          <p:cNvSpPr txBox="1"/>
          <p:nvPr>
            <p:custDataLst>
              <p:tags r:id="rId2"/>
            </p:custDataLst>
          </p:nvPr>
        </p:nvSpPr>
        <p:spPr>
          <a:xfrm>
            <a:off x="5646564" y="1651310"/>
            <a:ext cx="79121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lang="en-US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01.</a:t>
            </a:r>
            <a:endParaRPr lang="zh-CN" altLang="en-US" sz="28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7" name="项标题"/>
          <p:cNvSpPr txBox="1"/>
          <p:nvPr>
            <p:custDataLst>
              <p:tags r:id="rId3"/>
            </p:custDataLst>
          </p:nvPr>
        </p:nvSpPr>
        <p:spPr>
          <a:xfrm>
            <a:off x="6437948" y="1651310"/>
            <a:ext cx="479425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0000" lnSpcReduction="10000"/>
          </a:bodyPr>
          <a:lstStyle/>
          <a:p>
            <a:pPr>
              <a:lnSpc>
                <a:spcPct val="100000"/>
              </a:lnSpc>
            </a:pPr>
            <a:r>
              <a:rPr lang="en-US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RTOS 基本概念</a:t>
            </a:r>
            <a:endParaRPr lang="en-US" sz="28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>
        <p:nvSpPr>
          <p:cNvPr id="9" name="序号"/>
          <p:cNvSpPr txBox="1"/>
          <p:nvPr>
            <p:custDataLst>
              <p:tags r:id="rId4"/>
            </p:custDataLst>
          </p:nvPr>
        </p:nvSpPr>
        <p:spPr>
          <a:xfrm>
            <a:off x="5646564" y="2164056"/>
            <a:ext cx="79121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02.</a:t>
            </a:r>
            <a:endParaRPr 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0" name="项标题"/>
          <p:cNvSpPr txBox="1"/>
          <p:nvPr>
            <p:custDataLst>
              <p:tags r:id="rId5"/>
            </p:custDataLst>
          </p:nvPr>
        </p:nvSpPr>
        <p:spPr>
          <a:xfrm>
            <a:off x="6437948" y="2164056"/>
            <a:ext cx="479425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5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任务与调度机制</a:t>
            </a:r>
            <a:endParaRPr lang="en-US" sz="25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>
        <p:nvSpPr>
          <p:cNvPr id="12" name="序号"/>
          <p:cNvSpPr txBox="1"/>
          <p:nvPr>
            <p:custDataLst>
              <p:tags r:id="rId6"/>
            </p:custDataLst>
          </p:nvPr>
        </p:nvSpPr>
        <p:spPr>
          <a:xfrm>
            <a:off x="5646564" y="2676802"/>
            <a:ext cx="79121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03.</a:t>
            </a:r>
            <a:endParaRPr 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3" name="项标题"/>
          <p:cNvSpPr txBox="1"/>
          <p:nvPr>
            <p:custDataLst>
              <p:tags r:id="rId7"/>
            </p:custDataLst>
          </p:nvPr>
        </p:nvSpPr>
        <p:spPr>
          <a:xfrm>
            <a:off x="6437948" y="2676802"/>
            <a:ext cx="479425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5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时间管理</a:t>
            </a:r>
            <a:endParaRPr lang="en-US" sz="25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5" name="序号"/>
          <p:cNvSpPr txBox="1"/>
          <p:nvPr>
            <p:custDataLst>
              <p:tags r:id="rId8"/>
            </p:custDataLst>
          </p:nvPr>
        </p:nvSpPr>
        <p:spPr>
          <a:xfrm>
            <a:off x="5646564" y="3189548"/>
            <a:ext cx="79121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04.</a:t>
            </a:r>
            <a:endParaRPr 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6" name="项标题"/>
          <p:cNvSpPr txBox="1"/>
          <p:nvPr>
            <p:custDataLst>
              <p:tags r:id="rId9"/>
            </p:custDataLst>
          </p:nvPr>
        </p:nvSpPr>
        <p:spPr>
          <a:xfrm>
            <a:off x="6437948" y="3189548"/>
            <a:ext cx="479425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zh-CN" sz="25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内存管理</a:t>
            </a:r>
            <a:endParaRPr lang="zh-CN" altLang="en-US" sz="25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序号"/>
          <p:cNvSpPr txBox="1"/>
          <p:nvPr>
            <p:custDataLst>
              <p:tags r:id="rId10"/>
            </p:custDataLst>
          </p:nvPr>
        </p:nvSpPr>
        <p:spPr>
          <a:xfrm>
            <a:off x="5646564" y="3702294"/>
            <a:ext cx="79121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05.</a:t>
            </a:r>
            <a:endParaRPr 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" name="项标题"/>
          <p:cNvSpPr txBox="1"/>
          <p:nvPr>
            <p:custDataLst>
              <p:tags r:id="rId11"/>
            </p:custDataLst>
          </p:nvPr>
        </p:nvSpPr>
        <p:spPr>
          <a:xfrm>
            <a:off x="6437948" y="3702294"/>
            <a:ext cx="479425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90000"/>
              </a:lnSpc>
            </a:pPr>
            <a:r>
              <a:rPr lang="zh-CN" altLang="en-US" sz="25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中断管理</a:t>
            </a:r>
            <a:endParaRPr lang="zh-CN" altLang="en-US" sz="25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sym typeface="+mn-ea"/>
            </a:endParaRPr>
          </a:p>
          <a:p>
            <a:pPr>
              <a:lnSpc>
                <a:spcPct val="100000"/>
              </a:lnSpc>
            </a:pPr>
            <a:endParaRPr lang="en-US" sz="28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437948" y="5240533"/>
            <a:ext cx="3955415" cy="438582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>
              <a:lnSpc>
                <a:spcPct val="90000"/>
              </a:lnSpc>
              <a:buClrTx/>
              <a:buSzTx/>
            </a:pPr>
            <a:r>
              <a:rPr lang="en-US" sz="25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常见陷阱与调试技巧</a:t>
            </a:r>
            <a:endParaRPr lang="en-US" sz="25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>
        <p:nvSpPr>
          <p:cNvPr id="8" name="序号"/>
          <p:cNvSpPr txBox="1"/>
          <p:nvPr>
            <p:custDataLst>
              <p:tags r:id="rId12"/>
            </p:custDataLst>
          </p:nvPr>
        </p:nvSpPr>
        <p:spPr>
          <a:xfrm>
            <a:off x="5646564" y="5240533"/>
            <a:ext cx="79121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lang="en-US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08.</a:t>
            </a:r>
            <a:endParaRPr lang="en-US" sz="28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8" name="序号"/>
          <p:cNvSpPr txBox="1"/>
          <p:nvPr>
            <p:custDataLst>
              <p:tags r:id="rId13"/>
            </p:custDataLst>
          </p:nvPr>
        </p:nvSpPr>
        <p:spPr>
          <a:xfrm>
            <a:off x="5646564" y="4727786"/>
            <a:ext cx="79121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07.</a:t>
            </a:r>
            <a:endParaRPr 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9" name="项标题"/>
          <p:cNvSpPr txBox="1"/>
          <p:nvPr>
            <p:custDataLst>
              <p:tags r:id="rId14"/>
            </p:custDataLst>
          </p:nvPr>
        </p:nvSpPr>
        <p:spPr>
          <a:xfrm>
            <a:off x="6437948" y="4727786"/>
            <a:ext cx="479425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90000"/>
              </a:lnSpc>
            </a:pPr>
            <a:r>
              <a:rPr lang="zh-CN" altLang="en-US" sz="25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低功耗模式</a:t>
            </a:r>
            <a:endParaRPr lang="zh-CN" altLang="en-US" sz="25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0" name="序号"/>
          <p:cNvSpPr txBox="1"/>
          <p:nvPr>
            <p:custDataLst>
              <p:tags r:id="rId15"/>
            </p:custDataLst>
          </p:nvPr>
        </p:nvSpPr>
        <p:spPr>
          <a:xfrm>
            <a:off x="5646564" y="4215040"/>
            <a:ext cx="79121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06.</a:t>
            </a:r>
            <a:endParaRPr 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1" name="项标题"/>
          <p:cNvSpPr txBox="1"/>
          <p:nvPr>
            <p:custDataLst>
              <p:tags r:id="rId16"/>
            </p:custDataLst>
          </p:nvPr>
        </p:nvSpPr>
        <p:spPr>
          <a:xfrm>
            <a:off x="6437948" y="4215040"/>
            <a:ext cx="479425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zh-CN" sz="25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任务间通信与同步</a:t>
            </a:r>
            <a:endParaRPr lang="zh-CN" altLang="en-US" sz="25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sym typeface="+mn-ea"/>
            </a:endParaRPr>
          </a:p>
        </p:txBody>
      </p:sp>
    </p:spTree>
    <p:custDataLst>
      <p:tags r:id="rId17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sym typeface="+mn-ea"/>
              </a:rPr>
              <a:t>RTOS 基本概念</a:t>
            </a:r>
            <a:endParaRPr lang="en-US" dirty="0"/>
          </a:p>
        </p:txBody>
      </p:sp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 dirty="0">
                <a:latin typeface="Arial" panose="020B0604020202020204" pitchFamily="34" charset="0"/>
              </a:rPr>
              <a:t>RTOS </a:t>
            </a:r>
            <a:r>
              <a:rPr lang="zh-CN" altLang="en-US" dirty="0">
                <a:latin typeface="Arial" panose="020B0604020202020204" pitchFamily="34" charset="0"/>
              </a:rPr>
              <a:t>基本概念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50215" y="964565"/>
            <a:ext cx="8953500" cy="13220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buAutoNum type="arabicPeriod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RTOS vs </a:t>
            </a:r>
            <a:r>
              <a:rPr 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其它</a:t>
            </a:r>
            <a:endParaRPr sz="20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342900" indent="-342900">
              <a:buAutoNum type="arabicPeriod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 dirty="0" err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实时性的定义：硬实时</a:t>
            </a:r>
            <a:r>
              <a:rPr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 vs </a:t>
            </a:r>
            <a:r>
              <a:rPr sz="2000" dirty="0" err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软实时</a:t>
            </a:r>
            <a:endParaRPr sz="20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342900" indent="-342900">
              <a:buAutoNum type="arabicPeriod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FreeRTOS </a:t>
            </a:r>
            <a:r>
              <a:rPr sz="2000" dirty="0" err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架构概览</a:t>
            </a:r>
            <a:endParaRPr sz="20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342900" indent="-342900">
              <a:buAutoNum type="arabicPeriod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lang="en-US" sz="2000" dirty="0" err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freertos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使用</a:t>
            </a:r>
            <a:endParaRPr sz="20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29843" y="759040"/>
            <a:ext cx="1144369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 dirty="0">
                <a:solidFill>
                  <a:srgbClr val="D92142"/>
                </a:solidFill>
                <a:latin typeface="PingFang SC"/>
                <a:ea typeface="PingFang SC"/>
              </a:rPr>
              <a:t>裸机</a:t>
            </a:r>
            <a:endParaRPr lang="en-US" altLang="zh-CN" sz="1600" i="0" dirty="0">
              <a:solidFill>
                <a:srgbClr val="D92142"/>
              </a:solidFill>
              <a:latin typeface="PingFang SC"/>
              <a:ea typeface="PingFang SC"/>
            </a:endParaRPr>
          </a:p>
          <a:p>
            <a:r>
              <a:rPr lang="zh-CN" altLang="en-US" sz="1600" dirty="0">
                <a:solidFill>
                  <a:schemeClr val="bg2"/>
                </a:solidFill>
              </a:rPr>
              <a:t>主要是采用超级循环系统（前后台系统），应用程序是一个无限的循环，循环中调用相应的函数完成相应的操作，这部分可以看做后台行为；中断服务程序处理异步事件，这部分可以看做是前台行为。后台也可以叫做任务级，前台也叫作中断级。</a:t>
            </a:r>
            <a:endParaRPr lang="zh-CN" altLang="en-US" sz="1600" dirty="0">
              <a:solidFill>
                <a:schemeClr val="bg2"/>
              </a:solidFill>
            </a:endParaRPr>
          </a:p>
          <a:p>
            <a:r>
              <a:rPr lang="zh-CN" altLang="en-US" sz="1600" dirty="0">
                <a:solidFill>
                  <a:schemeClr val="bg2"/>
                </a:solidFill>
              </a:rPr>
              <a:t>前后台系统的编程思路有两种：轮询方式（实时性得不到保障，紧急与非紧急消息不能有效管理）、中断方式（可以保证一定的实时性，紧急消息可以得到响应）。</a:t>
            </a:r>
            <a:endParaRPr lang="zh-CN" altLang="en-US" sz="1600" dirty="0">
              <a:solidFill>
                <a:schemeClr val="bg2"/>
              </a:solidFill>
            </a:endParaRPr>
          </a:p>
        </p:txBody>
      </p:sp>
      <p:pic>
        <p:nvPicPr>
          <p:cNvPr id="1026" name="Picture 2" descr="图片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6600" y="1846964"/>
            <a:ext cx="4612574" cy="4936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文本框 2"/>
          <p:cNvSpPr txBox="1"/>
          <p:nvPr/>
        </p:nvSpPr>
        <p:spPr>
          <a:xfrm>
            <a:off x="223283" y="2507705"/>
            <a:ext cx="6624083" cy="4016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54000">
              <a:lnSpc>
                <a:spcPts val="1875"/>
              </a:lnSpc>
              <a:buNone/>
            </a:pPr>
            <a:r>
              <a:rPr lang="zh-CN" altLang="en-US" sz="1600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采用中断和查询结合的方式可以解决大部分裸机应用，但随着工程的复杂，裸机方式的缺点就暴露出来了：</a:t>
            </a:r>
            <a:endParaRPr lang="zh-CN" altLang="en-US" sz="1600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</a:endParaRPr>
          </a:p>
          <a:p>
            <a:pPr indent="254000">
              <a:lnSpc>
                <a:spcPts val="1875"/>
              </a:lnSpc>
              <a:buNone/>
            </a:pPr>
            <a:r>
              <a:rPr lang="en-US" altLang="zh-CN" sz="1600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1.</a:t>
            </a:r>
            <a:r>
              <a:rPr lang="zh-CN" altLang="en-US" sz="1600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必须在中断</a:t>
            </a:r>
            <a:r>
              <a:rPr lang="en-US" altLang="zh-CN" sz="1600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(ISR)</a:t>
            </a:r>
            <a:r>
              <a:rPr lang="zh-CN" altLang="en-US" sz="1600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内处理时间关键运算：</a:t>
            </a:r>
            <a:endParaRPr lang="zh-CN" altLang="en-US" sz="1600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sz="1600" b="0" i="0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ISR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函数变得非常复杂，并且需要很长执行时间。</a:t>
            </a:r>
            <a:endParaRPr lang="zh-CN" altLang="en-US" sz="1600" b="0" i="0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sz="1600" b="0" i="0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ISR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嵌套可能产生不可预测的执行时间和堆栈需求。</a:t>
            </a:r>
            <a:endParaRPr lang="zh-CN" altLang="en-US" sz="1600" b="0" i="0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</a:endParaRPr>
          </a:p>
          <a:p>
            <a:pPr indent="254000">
              <a:lnSpc>
                <a:spcPts val="1875"/>
              </a:lnSpc>
              <a:buNone/>
            </a:pPr>
            <a:r>
              <a:rPr lang="en-US" altLang="zh-CN" sz="1600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2.</a:t>
            </a:r>
            <a:r>
              <a:rPr lang="zh-CN" altLang="en-US" sz="1600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超级循环和 </a:t>
            </a:r>
            <a:r>
              <a:rPr lang="en-US" altLang="zh-CN" sz="1600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ISR </a:t>
            </a:r>
            <a:r>
              <a:rPr lang="zh-CN" altLang="en-US" sz="1600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之间的数据交换是通过全局共享变量进行的：</a:t>
            </a:r>
            <a:endParaRPr lang="zh-CN" altLang="en-US" sz="1600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zh-CN" altLang="en-US" sz="1600" b="0" i="0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应用程序的程序员必须确保数据一致性。</a:t>
            </a:r>
            <a:endParaRPr lang="zh-CN" altLang="en-US" sz="1600" b="0" i="0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</a:endParaRPr>
          </a:p>
          <a:p>
            <a:pPr indent="254000">
              <a:lnSpc>
                <a:spcPts val="1875"/>
              </a:lnSpc>
              <a:buNone/>
            </a:pPr>
            <a:r>
              <a:rPr lang="en-US" altLang="zh-CN" sz="1600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3.</a:t>
            </a:r>
            <a:r>
              <a:rPr lang="zh-CN" altLang="en-US" sz="1600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超级循环可以与系统计时器轻松同步，但：</a:t>
            </a:r>
            <a:endParaRPr lang="zh-CN" altLang="en-US" sz="1600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zh-CN" altLang="en-US" sz="1600" b="0" i="0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如果系统需要多种不同的周期时间，则会很难实现。</a:t>
            </a:r>
            <a:endParaRPr lang="zh-CN" altLang="en-US" sz="1600" b="0" i="0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zh-CN" altLang="en-US" sz="1600" b="0" i="0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超过超级循环周期的耗时函数需要做拆分。</a:t>
            </a:r>
            <a:endParaRPr lang="zh-CN" altLang="en-US" sz="1600" b="0" i="0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zh-CN" altLang="en-US" sz="1600" b="0" i="0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增加软件开销，应用程序难以理解。</a:t>
            </a:r>
            <a:endParaRPr lang="zh-CN" altLang="en-US" sz="1600" b="0" i="0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</a:endParaRPr>
          </a:p>
          <a:p>
            <a:pPr indent="254000">
              <a:lnSpc>
                <a:spcPts val="1875"/>
              </a:lnSpc>
              <a:buNone/>
            </a:pPr>
            <a:r>
              <a:rPr lang="en-US" altLang="zh-CN" sz="1600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4.</a:t>
            </a:r>
            <a:r>
              <a:rPr lang="zh-CN" altLang="en-US" sz="1600" b="0" i="0" u="none" strike="noStrike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超级循环使得应用程序变得非常复杂，因此难以扩展：</a:t>
            </a:r>
            <a:endParaRPr lang="zh-CN" altLang="en-US" sz="1600" b="0" i="0" u="none" strike="noStrike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zh-CN" altLang="en-US" sz="1600" b="0" i="0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一个简单的更改就可能产生不可预测的副作用，对这种副作用进行分析非常耗时。</a:t>
            </a:r>
            <a:endParaRPr lang="zh-CN" altLang="en-US" sz="1600" b="0" i="0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zh-CN" altLang="en-US" sz="1600" b="0" i="0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超级循环概念的这些缺点可以通过使用实时操作系统 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(RTOS)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来解决。</a:t>
            </a:r>
            <a:endParaRPr lang="zh-CN" altLang="en-US" sz="1600" b="0" i="0" dirty="0">
              <a:solidFill>
                <a:srgbClr val="000000"/>
              </a:solidFill>
              <a:effectLst/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29843" y="759040"/>
            <a:ext cx="1144369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chemeClr val="bg2"/>
                </a:solidFill>
              </a:rPr>
              <a:t>RTOS-</a:t>
            </a:r>
            <a:r>
              <a:rPr lang="zh-CN" altLang="en-US" sz="1600" dirty="0">
                <a:solidFill>
                  <a:schemeClr val="bg2"/>
                </a:solidFill>
              </a:rPr>
              <a:t>采用多任务系统可以以上的裸机开发遇到的</a:t>
            </a:r>
            <a:r>
              <a:rPr lang="en-US" altLang="zh-CN" sz="1600" dirty="0">
                <a:solidFill>
                  <a:schemeClr val="bg2"/>
                </a:solidFill>
              </a:rPr>
              <a:t>4</a:t>
            </a:r>
            <a:r>
              <a:rPr lang="zh-CN" altLang="en-US" sz="1600" dirty="0">
                <a:solidFill>
                  <a:schemeClr val="bg2"/>
                </a:solidFill>
              </a:rPr>
              <a:t>大缺点。</a:t>
            </a:r>
            <a:endParaRPr lang="en-US" altLang="zh-CN" sz="1600" dirty="0">
              <a:solidFill>
                <a:schemeClr val="bg2"/>
              </a:solidFill>
            </a:endParaRPr>
          </a:p>
        </p:txBody>
      </p:sp>
      <p:pic>
        <p:nvPicPr>
          <p:cNvPr id="1028" name="Picture 4" descr="图片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5981" y="1467643"/>
            <a:ext cx="4600575" cy="408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本框 4"/>
          <p:cNvSpPr txBox="1"/>
          <p:nvPr/>
        </p:nvSpPr>
        <p:spPr>
          <a:xfrm>
            <a:off x="129843" y="1258379"/>
            <a:ext cx="6624083" cy="1310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54000">
              <a:lnSpc>
                <a:spcPts val="1875"/>
              </a:lnSpc>
            </a:pPr>
            <a:r>
              <a:rPr lang="en-US" altLang="zh-CN" sz="1600" dirty="0">
                <a:solidFill>
                  <a:schemeClr val="bg2"/>
                </a:solidFill>
              </a:rPr>
              <a:t>RTOS</a:t>
            </a:r>
            <a:r>
              <a:rPr lang="zh-CN" altLang="en-US" sz="1600" dirty="0">
                <a:solidFill>
                  <a:schemeClr val="bg2"/>
                </a:solidFill>
              </a:rPr>
              <a:t>的实现重点就在这个</a:t>
            </a:r>
            <a:r>
              <a:rPr lang="en-US" altLang="zh-CN" sz="1600" dirty="0">
                <a:solidFill>
                  <a:schemeClr val="bg2"/>
                </a:solidFill>
              </a:rPr>
              <a:t>OS</a:t>
            </a:r>
            <a:r>
              <a:rPr lang="zh-CN" altLang="en-US" sz="1600" dirty="0">
                <a:solidFill>
                  <a:schemeClr val="bg2"/>
                </a:solidFill>
              </a:rPr>
              <a:t>任务调度器上，调度器的作用就是使用相关的调度算法来决定当前需要执行的任务。</a:t>
            </a:r>
            <a:r>
              <a:rPr lang="en-US" altLang="zh-CN" sz="1600" dirty="0">
                <a:solidFill>
                  <a:schemeClr val="bg2"/>
                </a:solidFill>
              </a:rPr>
              <a:t>FreeRTOS</a:t>
            </a:r>
            <a:r>
              <a:rPr lang="zh-CN" altLang="en-US" sz="1600" dirty="0">
                <a:solidFill>
                  <a:schemeClr val="bg2"/>
                </a:solidFill>
              </a:rPr>
              <a:t>就是一款支持多任务运行的实时操作系统，具有时间片、抢占式和合作式三种调度方式。通过 </a:t>
            </a:r>
            <a:r>
              <a:rPr lang="en-US" altLang="zh-CN" sz="1600" dirty="0">
                <a:solidFill>
                  <a:schemeClr val="bg2"/>
                </a:solidFill>
              </a:rPr>
              <a:t>FreeRTOS </a:t>
            </a:r>
            <a:r>
              <a:rPr lang="zh-CN" altLang="en-US" sz="1600" dirty="0">
                <a:solidFill>
                  <a:schemeClr val="bg2"/>
                </a:solidFill>
              </a:rPr>
              <a:t>实时操作系统可以将程序函数分成独立的任务，并为其提供合理的调度方式。</a:t>
            </a:r>
            <a:endParaRPr lang="zh-CN" altLang="en-US" sz="1600" b="0" i="0" dirty="0">
              <a:solidFill>
                <a:schemeClr val="bg2"/>
              </a:solidFill>
              <a:effectLst/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图片包含 图示&#10;&#10;AI 生成的内容可能不正确。"/>
          <p:cNvPicPr>
            <a:picLocks noChangeAspect="1"/>
          </p:cNvPicPr>
          <p:nvPr/>
        </p:nvPicPr>
        <p:blipFill>
          <a:blip r:embed="rId1"/>
          <a:srcRect l="21042" r="28373"/>
          <a:stretch>
            <a:fillRect/>
          </a:stretch>
        </p:blipFill>
        <p:spPr>
          <a:xfrm>
            <a:off x="3776897" y="296421"/>
            <a:ext cx="4828346" cy="2117043"/>
          </a:xfrm>
          <a:prstGeom prst="rect">
            <a:avLst/>
          </a:prstGeom>
        </p:spPr>
      </p:pic>
      <p:pic>
        <p:nvPicPr>
          <p:cNvPr id="8" name="图片 7" descr="图片包含 日历&#10;&#10;AI 生成的内容可能不正确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311" y="2703637"/>
            <a:ext cx="9961518" cy="38726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 dirty="0">
                <a:solidFill>
                  <a:srgbClr val="D92142"/>
                </a:solidFill>
                <a:latin typeface="PingFang SC"/>
                <a:ea typeface="PingFang SC"/>
              </a:rPr>
              <a:t>顺序执行的前后台系统</a:t>
            </a:r>
            <a:endParaRPr lang="zh-CN" altLang="en-US" sz="1600" i="0" dirty="0">
              <a:solidFill>
                <a:srgbClr val="D92142"/>
              </a:solidFill>
              <a:latin typeface="PingFang SC"/>
              <a:ea typeface="PingFang SC"/>
            </a:endParaRPr>
          </a:p>
        </p:txBody>
      </p:sp>
      <p:pic>
        <p:nvPicPr>
          <p:cNvPr id="3" name="图片 2"/>
          <p:cNvPicPr/>
          <p:nvPr/>
        </p:nvPicPr>
        <p:blipFill>
          <a:blip r:embed="rId1"/>
          <a:stretch>
            <a:fillRect/>
          </a:stretch>
        </p:blipFill>
        <p:spPr>
          <a:xfrm>
            <a:off x="755650" y="1348105"/>
            <a:ext cx="3550920" cy="3723640"/>
          </a:xfrm>
          <a:prstGeom prst="rect">
            <a:avLst/>
          </a:prstGeom>
        </p:spPr>
      </p:pic>
      <p:pic>
        <p:nvPicPr>
          <p:cNvPr id="5" name="图片 4"/>
          <p:cNvPicPr/>
          <p:nvPr/>
        </p:nvPicPr>
        <p:blipFill>
          <a:blip r:embed="rId2"/>
          <a:srcRect l="734" b="606"/>
          <a:stretch>
            <a:fillRect/>
          </a:stretch>
        </p:blipFill>
        <p:spPr>
          <a:xfrm>
            <a:off x="4761938" y="1348105"/>
            <a:ext cx="5493385" cy="270764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938848" y="5377498"/>
            <a:ext cx="1034229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/>
            <a:r>
              <a:rPr lang="zh-CN" altLang="en-US" sz="1600" b="0" i="0" dirty="0">
                <a:solidFill>
                  <a:schemeClr val="bg2"/>
                </a:solidFill>
                <a:latin typeface="PingFang SC"/>
                <a:ea typeface="PingFang SC"/>
              </a:rPr>
              <a:t>这种架构的优点是使用简单易于理解，而缺点是每个任务所占的</a:t>
            </a:r>
            <a:r>
              <a:rPr lang="en-US" altLang="zh-CN" sz="1600" b="0" i="0" dirty="0">
                <a:solidFill>
                  <a:schemeClr val="bg2"/>
                </a:solidFill>
                <a:latin typeface="PingFang SC"/>
                <a:ea typeface="PingFang SC"/>
              </a:rPr>
              <a:t>CPU</a:t>
            </a:r>
            <a:r>
              <a:rPr lang="zh-CN" altLang="en-US" sz="1600" b="0" i="0" dirty="0">
                <a:solidFill>
                  <a:schemeClr val="bg2"/>
                </a:solidFill>
                <a:latin typeface="PingFang SC"/>
                <a:ea typeface="PingFang SC"/>
              </a:rPr>
              <a:t>时间过长的话，会导致程序的实时性能差，就比如按键的检测等。</a:t>
            </a:r>
            <a:endParaRPr lang="zh-CN" altLang="en-US" sz="1600" b="0" i="0" dirty="0">
              <a:solidFill>
                <a:schemeClr val="bg2"/>
              </a:solidFill>
              <a:latin typeface="PingFang SC"/>
              <a:ea typeface="PingFang SC"/>
            </a:endParaRPr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 dirty="0">
                <a:solidFill>
                  <a:srgbClr val="D92142"/>
                </a:solidFill>
                <a:latin typeface="PingFang SC"/>
                <a:ea typeface="PingFang SC"/>
              </a:rPr>
              <a:t>时间片轮询系统</a:t>
            </a:r>
            <a:endParaRPr lang="zh-CN" altLang="en-US" sz="1600" i="0" dirty="0">
              <a:solidFill>
                <a:srgbClr val="D92142"/>
              </a:solidFill>
              <a:latin typeface="PingFang SC"/>
              <a:ea typeface="PingFang SC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013460" y="5670550"/>
            <a:ext cx="9574530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/>
            <a:r>
              <a:rPr lang="zh-CN" altLang="en-US" sz="1600" b="0" i="0" dirty="0">
                <a:solidFill>
                  <a:schemeClr val="bg2"/>
                </a:solidFill>
                <a:latin typeface="PingFang SC"/>
                <a:ea typeface="PingFang SC"/>
              </a:rPr>
              <a:t>时间片轮询法相比顺序执行还是有很大优势的，既有顺序执行法的优点，也有操作系统的部分优点。</a:t>
            </a:r>
            <a:endParaRPr lang="zh-CN" altLang="en-US" sz="1600" b="0" i="0" dirty="0">
              <a:solidFill>
                <a:schemeClr val="bg2"/>
              </a:solidFill>
              <a:latin typeface="PingFang SC"/>
              <a:ea typeface="PingFang SC"/>
            </a:endParaRPr>
          </a:p>
        </p:txBody>
      </p:sp>
      <p:pic>
        <p:nvPicPr>
          <p:cNvPr id="4" name="图片 3"/>
          <p:cNvPicPr/>
          <p:nvPr/>
        </p:nvPicPr>
        <p:blipFill>
          <a:blip r:embed="rId1"/>
          <a:stretch>
            <a:fillRect/>
          </a:stretch>
        </p:blipFill>
        <p:spPr>
          <a:xfrm>
            <a:off x="939165" y="1326515"/>
            <a:ext cx="3748405" cy="4119880"/>
          </a:xfrm>
          <a:prstGeom prst="rect">
            <a:avLst/>
          </a:prstGeom>
        </p:spPr>
      </p:pic>
      <p:pic>
        <p:nvPicPr>
          <p:cNvPr id="7" name="图片 6"/>
          <p:cNvPicPr/>
          <p:nvPr/>
        </p:nvPicPr>
        <p:blipFill>
          <a:blip r:embed="rId2"/>
          <a:stretch>
            <a:fillRect/>
          </a:stretch>
        </p:blipFill>
        <p:spPr>
          <a:xfrm>
            <a:off x="5092700" y="2091055"/>
            <a:ext cx="6458585" cy="194437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多任务操作系统</a:t>
            </a:r>
            <a:endParaRPr lang="zh-CN" altLang="en-US" sz="1600" i="0">
              <a:solidFill>
                <a:srgbClr val="D92142"/>
              </a:solidFill>
              <a:latin typeface="PingFang SC"/>
              <a:ea typeface="PingFang SC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57835" y="5523865"/>
            <a:ext cx="11092815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/>
            <a:r>
              <a:rPr lang="zh-CN" altLang="en-US" sz="1600" b="0" i="0">
                <a:solidFill>
                  <a:schemeClr val="bg2"/>
                </a:solidFill>
                <a:latin typeface="PingFang SC"/>
                <a:ea typeface="PingFang SC"/>
              </a:rPr>
              <a:t>在一些功能复杂，逻辑控制较为困难的系统中就适合选择多任务操作系统，比如视频监控系统、无人机等等应用场景。</a:t>
            </a:r>
            <a:endParaRPr lang="zh-CN" altLang="en-US" sz="1600" b="0" i="0">
              <a:solidFill>
                <a:schemeClr val="bg2"/>
              </a:solidFill>
              <a:latin typeface="PingFang SC"/>
              <a:ea typeface="PingFang SC"/>
            </a:endParaRPr>
          </a:p>
        </p:txBody>
      </p:sp>
      <p:pic>
        <p:nvPicPr>
          <p:cNvPr id="3" name="图片 2"/>
          <p:cNvPicPr/>
          <p:nvPr/>
        </p:nvPicPr>
        <p:blipFill>
          <a:blip r:embed="rId1"/>
          <a:stretch>
            <a:fillRect/>
          </a:stretch>
        </p:blipFill>
        <p:spPr>
          <a:xfrm>
            <a:off x="129540" y="1338580"/>
            <a:ext cx="5728970" cy="3941445"/>
          </a:xfrm>
          <a:prstGeom prst="rect">
            <a:avLst/>
          </a:prstGeom>
        </p:spPr>
      </p:pic>
      <p:pic>
        <p:nvPicPr>
          <p:cNvPr id="5" name="图片 4"/>
          <p:cNvPicPr/>
          <p:nvPr/>
        </p:nvPicPr>
        <p:blipFill>
          <a:blip r:embed="rId2"/>
          <a:stretch>
            <a:fillRect/>
          </a:stretch>
        </p:blipFill>
        <p:spPr>
          <a:xfrm>
            <a:off x="5858510" y="1310005"/>
            <a:ext cx="6329045" cy="391477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57835" y="5996305"/>
            <a:ext cx="10925810" cy="52197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0" indent="0" algn="just"/>
            <a:r>
              <a:rPr lang="zh-CN" altLang="en-US" sz="1600" b="0" i="0" dirty="0">
                <a:solidFill>
                  <a:srgbClr val="FF0000"/>
                </a:solidFill>
                <a:latin typeface="PingFang SC"/>
                <a:ea typeface="PingFang SC"/>
              </a:rPr>
              <a:t>没有最好的软件架构</a:t>
            </a:r>
            <a:r>
              <a:rPr lang="en-US" altLang="zh-CN" sz="1600" b="0" i="0" dirty="0">
                <a:solidFill>
                  <a:srgbClr val="FF0000"/>
                </a:solidFill>
                <a:latin typeface="PingFang SC"/>
                <a:ea typeface="PingFang SC"/>
              </a:rPr>
              <a:t>(</a:t>
            </a:r>
            <a:r>
              <a:rPr lang="zh-CN" altLang="en-US" sz="1600" b="0" i="0" dirty="0">
                <a:solidFill>
                  <a:srgbClr val="FF0000"/>
                </a:solidFill>
                <a:latin typeface="PingFang SC"/>
                <a:ea typeface="PingFang SC"/>
              </a:rPr>
              <a:t>程序架构</a:t>
            </a:r>
            <a:r>
              <a:rPr lang="en-US" altLang="zh-CN" sz="1600" b="0" i="0" dirty="0">
                <a:solidFill>
                  <a:srgbClr val="FF0000"/>
                </a:solidFill>
                <a:latin typeface="PingFang SC"/>
                <a:ea typeface="PingFang SC"/>
              </a:rPr>
              <a:t>)</a:t>
            </a:r>
            <a:r>
              <a:rPr lang="zh-CN" altLang="en-US" sz="1600" b="0" i="0" dirty="0">
                <a:solidFill>
                  <a:srgbClr val="FF0000"/>
                </a:solidFill>
                <a:latin typeface="PingFang SC"/>
                <a:ea typeface="PingFang SC"/>
              </a:rPr>
              <a:t>，而是只有最合适的。因为在不同的应用场景中适合采用不同的程序设计，而单纯的去比较哪种程序架构是最好的没有什么实际的意义。</a:t>
            </a:r>
            <a:endParaRPr lang="zh-CN" altLang="en-US" sz="1600" b="0" i="0" dirty="0">
              <a:solidFill>
                <a:srgbClr val="FF0000"/>
              </a:solidFill>
              <a:latin typeface="PingFang SC"/>
              <a:ea typeface="PingFang SC"/>
            </a:endParaRPr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RTOS vs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其它</a:t>
            </a:r>
            <a:endParaRPr lang="zh-CN" altLang="en-US" sz="1600" i="0">
              <a:solidFill>
                <a:srgbClr val="D92142"/>
              </a:solidFill>
              <a:latin typeface="PingFang SC"/>
              <a:ea typeface="PingFang SC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03885" y="1712595"/>
            <a:ext cx="10947400" cy="956177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dirty="0" err="1">
                <a:solidFill>
                  <a:schemeClr val="bg2"/>
                </a:solidFill>
                <a:sym typeface="+mn-ea"/>
              </a:rPr>
              <a:t>RTOS：</a:t>
            </a:r>
            <a:r>
              <a:rPr dirty="0" err="1">
                <a:solidFill>
                  <a:srgbClr val="FF0000"/>
                </a:solidFill>
                <a:sym typeface="+mn-ea"/>
              </a:rPr>
              <a:t>多任务、实时调度、可预测性</a:t>
            </a:r>
            <a:r>
              <a:rPr lang="zh-CN" dirty="0">
                <a:solidFill>
                  <a:schemeClr val="bg2"/>
                </a:solidFill>
                <a:ea typeface="宋体" panose="02010600030101010101" pitchFamily="2" charset="-122"/>
                <a:sym typeface="+mn-ea"/>
              </a:rPr>
              <a:t>（任务执行有规律，与及时性的区别）</a:t>
            </a:r>
            <a:endParaRPr dirty="0">
              <a:solidFill>
                <a:schemeClr val="bg2"/>
              </a:solidFill>
              <a:sym typeface="+mn-ea"/>
            </a:endParaRPr>
          </a:p>
          <a:p>
            <a:r>
              <a:rPr dirty="0" err="1">
                <a:solidFill>
                  <a:schemeClr val="bg2"/>
                </a:solidFill>
                <a:sym typeface="+mn-ea"/>
              </a:rPr>
              <a:t>裸机：简单控制，单任务，</a:t>
            </a:r>
            <a:r>
              <a:rPr dirty="0" err="1">
                <a:solidFill>
                  <a:srgbClr val="FF0000"/>
                </a:solidFill>
                <a:sym typeface="+mn-ea"/>
              </a:rPr>
              <a:t>实时性</a:t>
            </a:r>
            <a:r>
              <a:rPr dirty="0" err="1">
                <a:solidFill>
                  <a:schemeClr val="bg2"/>
                </a:solidFill>
                <a:sym typeface="+mn-ea"/>
              </a:rPr>
              <a:t>差</a:t>
            </a:r>
            <a:endParaRPr dirty="0">
              <a:solidFill>
                <a:schemeClr val="bg2"/>
              </a:solidFill>
              <a:sym typeface="+mn-ea"/>
            </a:endParaRPr>
          </a:p>
          <a:p>
            <a:r>
              <a:rPr dirty="0">
                <a:solidFill>
                  <a:schemeClr val="bg2"/>
                </a:solidFill>
                <a:sym typeface="+mn-ea"/>
              </a:rPr>
              <a:t>RTOS </a:t>
            </a:r>
            <a:r>
              <a:rPr dirty="0" err="1">
                <a:solidFill>
                  <a:schemeClr val="bg2"/>
                </a:solidFill>
                <a:sym typeface="+mn-ea"/>
              </a:rPr>
              <a:t>是为复杂系统设计，支持硬件抽象层、任务切换与中断管理</a:t>
            </a:r>
            <a:endParaRPr lang="zh-CN" altLang="en-US" dirty="0">
              <a:solidFill>
                <a:schemeClr val="bg2"/>
              </a:solidFill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3885" y="3510915"/>
            <a:ext cx="97282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>
                <a:solidFill>
                  <a:schemeClr val="bg2"/>
                </a:solidFill>
                <a:sym typeface="+mn-ea"/>
              </a:rPr>
              <a:t>RTOS vs 裸机的对比：</a:t>
            </a:r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裸机程序需要自己管理所有任务，RTOS 提供调度器和任务管理。</a:t>
            </a:r>
            <a:endParaRPr lang="zh-CN" altLang="en-US">
              <a:solidFill>
                <a:schemeClr val="bg2"/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硬实时</a:t>
            </a: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 vs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软实时</a:t>
            </a:r>
            <a:endParaRPr lang="zh-CN" altLang="en-US" sz="1600" i="0">
              <a:solidFill>
                <a:srgbClr val="D92142"/>
              </a:solidFill>
              <a:latin typeface="PingFang SC"/>
              <a:ea typeface="PingFang SC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03885" y="1712595"/>
            <a:ext cx="10947400" cy="1126298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dirty="0" err="1">
                <a:solidFill>
                  <a:schemeClr val="bg2"/>
                </a:solidFill>
                <a:sym typeface="+mn-ea"/>
              </a:rPr>
              <a:t>硬实时：任务必须在规定时间内完成，否则系统不可用</a:t>
            </a:r>
            <a:r>
              <a:rPr lang="en-US" dirty="0">
                <a:solidFill>
                  <a:schemeClr val="bg2"/>
                </a:solidFill>
                <a:sym typeface="+mn-ea"/>
              </a:rPr>
              <a:t>    ---</a:t>
            </a:r>
            <a:r>
              <a:rPr dirty="0" err="1">
                <a:solidFill>
                  <a:schemeClr val="bg2"/>
                </a:solidFill>
                <a:sym typeface="+mn-ea"/>
              </a:rPr>
              <a:t>工业控制、汽车刹车系统</a:t>
            </a:r>
            <a:r>
              <a:rPr dirty="0">
                <a:solidFill>
                  <a:schemeClr val="bg2"/>
                </a:solidFill>
                <a:sym typeface="+mn-ea"/>
              </a:rPr>
              <a:t>；</a:t>
            </a:r>
            <a:endParaRPr dirty="0">
              <a:solidFill>
                <a:schemeClr val="bg2"/>
              </a:solidFill>
              <a:sym typeface="+mn-ea"/>
            </a:endParaRPr>
          </a:p>
          <a:p>
            <a:endParaRPr dirty="0">
              <a:solidFill>
                <a:schemeClr val="bg2"/>
              </a:solidFill>
              <a:sym typeface="+mn-ea"/>
            </a:endParaRPr>
          </a:p>
          <a:p>
            <a:r>
              <a:rPr dirty="0" err="1">
                <a:solidFill>
                  <a:schemeClr val="bg2"/>
                </a:solidFill>
                <a:sym typeface="+mn-ea"/>
              </a:rPr>
              <a:t>软实时：任务完成的时间要求较宽松，尽量在规定时间内完成</a:t>
            </a:r>
            <a:r>
              <a:rPr lang="en-US" dirty="0">
                <a:solidFill>
                  <a:schemeClr val="bg2"/>
                </a:solidFill>
                <a:sym typeface="+mn-ea"/>
              </a:rPr>
              <a:t> ---</a:t>
            </a:r>
            <a:r>
              <a:rPr dirty="0" err="1">
                <a:solidFill>
                  <a:schemeClr val="bg2"/>
                </a:solidFill>
                <a:sym typeface="+mn-ea"/>
              </a:rPr>
              <a:t>视频播放、音频处理</a:t>
            </a:r>
            <a:r>
              <a:rPr dirty="0">
                <a:solidFill>
                  <a:schemeClr val="bg2"/>
                </a:solidFill>
                <a:sym typeface="+mn-ea"/>
              </a:rPr>
              <a:t>。</a:t>
            </a:r>
            <a:endParaRPr lang="en-US" dirty="0">
              <a:solidFill>
                <a:schemeClr val="bg2"/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FreeRTOS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架构概览</a:t>
            </a:r>
            <a:endParaRPr lang="zh-CN" altLang="en-US" sz="1600" i="0">
              <a:solidFill>
                <a:srgbClr val="D92142"/>
              </a:solidFill>
              <a:latin typeface="PingFang SC"/>
              <a:ea typeface="PingFang SC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03885" y="1712595"/>
            <a:ext cx="10947400" cy="1696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dirty="0" err="1">
                <a:solidFill>
                  <a:schemeClr val="bg2"/>
                </a:solidFill>
                <a:sym typeface="+mn-ea"/>
              </a:rPr>
              <a:t>FreeRTOS：开源、轻量、广泛应用于嵌入式系统</a:t>
            </a:r>
            <a:endParaRPr dirty="0">
              <a:solidFill>
                <a:schemeClr val="bg2"/>
              </a:solidFill>
              <a:sym typeface="+mn-ea"/>
            </a:endParaRPr>
          </a:p>
          <a:p>
            <a:endParaRPr dirty="0">
              <a:solidFill>
                <a:schemeClr val="bg2"/>
              </a:solidFill>
              <a:sym typeface="+mn-ea"/>
            </a:endParaRPr>
          </a:p>
          <a:p>
            <a:r>
              <a:rPr dirty="0" err="1">
                <a:solidFill>
                  <a:schemeClr val="bg2"/>
                </a:solidFill>
                <a:sym typeface="+mn-ea"/>
              </a:rPr>
              <a:t>核心：任务管理、时间管理、同步通信、内存管理、调度器</a:t>
            </a:r>
            <a:endParaRPr dirty="0">
              <a:solidFill>
                <a:schemeClr val="bg2"/>
              </a:solidFill>
              <a:sym typeface="+mn-ea"/>
            </a:endParaRPr>
          </a:p>
          <a:p>
            <a:endParaRPr dirty="0">
              <a:solidFill>
                <a:schemeClr val="bg2"/>
              </a:solidFill>
              <a:sym typeface="+mn-ea"/>
            </a:endParaRPr>
          </a:p>
          <a:p>
            <a:r>
              <a:rPr dirty="0">
                <a:solidFill>
                  <a:schemeClr val="bg2"/>
                </a:solidFill>
                <a:sym typeface="+mn-ea"/>
              </a:rPr>
              <a:t>可移植层：支持多种硬件架构（STM32、AVR、ARM、PIC）</a:t>
            </a:r>
            <a:endParaRPr lang="en-US" dirty="0">
              <a:solidFill>
                <a:schemeClr val="bg2"/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FreeRTOS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使用</a:t>
            </a: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 -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下载代码</a:t>
            </a:r>
            <a:endParaRPr lang="zh-CN" altLang="en-US" sz="1600" i="0">
              <a:solidFill>
                <a:srgbClr val="D92142"/>
              </a:solidFill>
              <a:latin typeface="PingFang SC"/>
              <a:ea typeface="PingFang SC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4830" y="1712595"/>
            <a:ext cx="10947400" cy="1696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dirty="0" err="1">
                <a:solidFill>
                  <a:schemeClr val="bg2"/>
                </a:solidFill>
                <a:sym typeface="+mn-ea"/>
              </a:rPr>
              <a:t>访问</a:t>
            </a:r>
            <a:r>
              <a:rPr dirty="0">
                <a:solidFill>
                  <a:schemeClr val="bg2"/>
                </a:solidFill>
                <a:sym typeface="+mn-ea"/>
              </a:rPr>
              <a:t> </a:t>
            </a:r>
            <a:r>
              <a:rPr dirty="0" err="1">
                <a:solidFill>
                  <a:schemeClr val="bg2"/>
                </a:solidFill>
                <a:sym typeface="+mn-ea"/>
              </a:rPr>
              <a:t>FreeRTOS</a:t>
            </a:r>
            <a:r>
              <a:rPr dirty="0">
                <a:solidFill>
                  <a:schemeClr val="bg2"/>
                </a:solidFill>
                <a:sym typeface="+mn-ea"/>
              </a:rPr>
              <a:t> </a:t>
            </a:r>
            <a:r>
              <a:rPr dirty="0" err="1">
                <a:solidFill>
                  <a:schemeClr val="bg2"/>
                </a:solidFill>
                <a:sym typeface="+mn-ea"/>
              </a:rPr>
              <a:t>官方网站（https</a:t>
            </a:r>
            <a:r>
              <a:rPr dirty="0">
                <a:solidFill>
                  <a:schemeClr val="bg2"/>
                </a:solidFill>
                <a:sym typeface="+mn-ea"/>
              </a:rPr>
              <a:t>://www.freertos.org）</a:t>
            </a:r>
            <a:endParaRPr dirty="0">
              <a:solidFill>
                <a:schemeClr val="bg2"/>
              </a:solidFill>
              <a:sym typeface="+mn-ea"/>
            </a:endParaRPr>
          </a:p>
          <a:p>
            <a:endParaRPr dirty="0">
              <a:solidFill>
                <a:schemeClr val="bg2"/>
              </a:solidFill>
              <a:sym typeface="+mn-ea"/>
            </a:endParaRPr>
          </a:p>
          <a:p>
            <a:r>
              <a:rPr dirty="0" err="1">
                <a:solidFill>
                  <a:schemeClr val="bg2"/>
                </a:solidFill>
                <a:sym typeface="+mn-ea"/>
              </a:rPr>
              <a:t>或者从</a:t>
            </a:r>
            <a:r>
              <a:rPr dirty="0">
                <a:solidFill>
                  <a:schemeClr val="bg2"/>
                </a:solidFill>
                <a:sym typeface="+mn-ea"/>
              </a:rPr>
              <a:t> GitHub </a:t>
            </a:r>
            <a:r>
              <a:rPr dirty="0" err="1">
                <a:solidFill>
                  <a:schemeClr val="bg2"/>
                </a:solidFill>
                <a:sym typeface="+mn-ea"/>
              </a:rPr>
              <a:t>下载源代码：https</a:t>
            </a:r>
            <a:r>
              <a:rPr dirty="0">
                <a:solidFill>
                  <a:schemeClr val="bg2"/>
                </a:solidFill>
                <a:sym typeface="+mn-ea"/>
              </a:rPr>
              <a:t>://github.com/</a:t>
            </a:r>
            <a:r>
              <a:rPr dirty="0" err="1">
                <a:solidFill>
                  <a:schemeClr val="bg2"/>
                </a:solidFill>
                <a:sym typeface="+mn-ea"/>
              </a:rPr>
              <a:t>FreeRTOS</a:t>
            </a:r>
            <a:endParaRPr dirty="0">
              <a:solidFill>
                <a:schemeClr val="bg2"/>
              </a:solidFill>
              <a:sym typeface="+mn-ea"/>
            </a:endParaRPr>
          </a:p>
          <a:p>
            <a:endParaRPr dirty="0">
              <a:solidFill>
                <a:schemeClr val="bg2"/>
              </a:solidFill>
              <a:sym typeface="+mn-ea"/>
            </a:endParaRPr>
          </a:p>
          <a:p>
            <a:r>
              <a:rPr dirty="0" err="1">
                <a:solidFill>
                  <a:schemeClr val="bg2"/>
                </a:solidFill>
                <a:sym typeface="+mn-ea"/>
              </a:rPr>
              <a:t>FreeRTOS</a:t>
            </a:r>
            <a:r>
              <a:rPr dirty="0">
                <a:solidFill>
                  <a:schemeClr val="bg2"/>
                </a:solidFill>
                <a:sym typeface="+mn-ea"/>
              </a:rPr>
              <a:t> </a:t>
            </a:r>
            <a:r>
              <a:rPr dirty="0" err="1">
                <a:solidFill>
                  <a:schemeClr val="bg2"/>
                </a:solidFill>
                <a:sym typeface="+mn-ea"/>
              </a:rPr>
              <a:t>中的</a:t>
            </a:r>
            <a:r>
              <a:rPr lang="zh-CN" dirty="0">
                <a:solidFill>
                  <a:schemeClr val="bg2"/>
                </a:solidFill>
                <a:sym typeface="+mn-ea"/>
              </a:rPr>
              <a:t>部分</a:t>
            </a:r>
            <a:r>
              <a:rPr dirty="0" err="1">
                <a:solidFill>
                  <a:schemeClr val="bg2"/>
                </a:solidFill>
                <a:sym typeface="+mn-ea"/>
              </a:rPr>
              <a:t>功能模块（任务管理、内存管理、通信机制</a:t>
            </a:r>
            <a:r>
              <a:rPr dirty="0">
                <a:solidFill>
                  <a:schemeClr val="bg2"/>
                </a:solidFill>
                <a:sym typeface="+mn-ea"/>
              </a:rPr>
              <a:t>）</a:t>
            </a:r>
            <a:endParaRPr lang="en-US" dirty="0">
              <a:solidFill>
                <a:schemeClr val="bg2"/>
              </a:solidFill>
              <a:sym typeface="+mn-ea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32200"/>
            <a:ext cx="6242685" cy="338963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243" y="3612197"/>
            <a:ext cx="6763102" cy="3409315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809365" y="116840"/>
            <a:ext cx="5125085" cy="4210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>
                <a:solidFill>
                  <a:schemeClr val="bg2"/>
                </a:solidFill>
                <a:sym typeface="+mn-ea"/>
              </a:rPr>
              <a:t>FreeRTOS 中的各个功能模块</a:t>
            </a:r>
            <a:endParaRPr lang="en-US">
              <a:solidFill>
                <a:schemeClr val="bg2"/>
              </a:solidFill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0" y="836295"/>
            <a:ext cx="12103100" cy="61863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dirty="0">
                <a:solidFill>
                  <a:schemeClr val="bg2"/>
                </a:solidFill>
                <a:sym typeface="+mn-ea"/>
              </a:rPr>
              <a:t>这些功能模块是设计成可选的，你可以根据实际需求选择性地使用其中的一部分，而不必强制引入所有功能。</a:t>
            </a:r>
            <a:endParaRPr lang="zh-CN" altLang="en-US" dirty="0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en-US" altLang="zh-CN" b="1" dirty="0">
                <a:solidFill>
                  <a:schemeClr val="bg2"/>
                </a:solidFill>
                <a:sym typeface="+mn-ea"/>
              </a:rPr>
              <a:t>1. </a:t>
            </a:r>
            <a:r>
              <a:rPr lang="zh-CN" altLang="en-US" b="1" dirty="0">
                <a:solidFill>
                  <a:schemeClr val="bg2"/>
                </a:solidFill>
                <a:sym typeface="+mn-ea"/>
              </a:rPr>
              <a:t>任务管理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：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FreeRTOS 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提供了任务（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Task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）创建、调度、删除、挂起等功能。你可以仅使用任务管理模块来实现基于任务的调度，无需使用其他模块。</a:t>
            </a:r>
            <a:endParaRPr lang="en-US" altLang="zh-CN" dirty="0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en-US" altLang="zh-CN" b="1" dirty="0">
                <a:solidFill>
                  <a:schemeClr val="bg2"/>
                </a:solidFill>
                <a:sym typeface="+mn-ea"/>
              </a:rPr>
              <a:t>2. </a:t>
            </a:r>
            <a:r>
              <a:rPr lang="zh-CN" altLang="en-US" b="1" dirty="0">
                <a:solidFill>
                  <a:schemeClr val="bg2"/>
                </a:solidFill>
                <a:sym typeface="+mn-ea"/>
              </a:rPr>
              <a:t>内存管理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：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FreeRTOS 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支持多种内存管理方案（如堆、栈管理）。你可以选择是否使用它的内存分配功能，比如你可以选择自己编写内存管理代码，或者直接使用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FreeRTOS 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提供的堆内存分配器。</a:t>
            </a:r>
            <a:endParaRPr lang="zh-CN" altLang="en-US" dirty="0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en-US" altLang="zh-CN" b="1" dirty="0">
                <a:solidFill>
                  <a:schemeClr val="bg2"/>
                </a:solidFill>
                <a:sym typeface="+mn-ea"/>
              </a:rPr>
              <a:t>3. </a:t>
            </a:r>
            <a:r>
              <a:rPr lang="zh-CN" altLang="en-US" b="1" dirty="0">
                <a:solidFill>
                  <a:schemeClr val="bg2"/>
                </a:solidFill>
                <a:sym typeface="+mn-ea"/>
              </a:rPr>
              <a:t>时间管理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：提供系统节拍计数、支持任务延时、软件定时机制，让任务可以基于时间进行调度或周期性执行，满足实时性需求。</a:t>
            </a:r>
            <a:endParaRPr lang="zh-CN" altLang="en-US" dirty="0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en-US" altLang="zh-CN" b="1" dirty="0">
                <a:solidFill>
                  <a:schemeClr val="bg2"/>
                </a:solidFill>
                <a:sym typeface="+mn-ea"/>
              </a:rPr>
              <a:t>4.</a:t>
            </a:r>
            <a:r>
              <a:rPr lang="zh-CN" altLang="en-US" b="1" dirty="0">
                <a:solidFill>
                  <a:schemeClr val="bg2"/>
                </a:solidFill>
                <a:sym typeface="+mn-ea"/>
              </a:rPr>
              <a:t>调度器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：根据任务优先级选择下一个运行的任务、支持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抢占式调度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和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时间片轮转调度、提供任务切换机制（上下文切换）</a:t>
            </a:r>
            <a:endParaRPr lang="zh-CN" altLang="en-US" dirty="0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en-US" altLang="zh-CN" b="1" dirty="0">
                <a:solidFill>
                  <a:schemeClr val="bg2"/>
                </a:solidFill>
                <a:sym typeface="+mn-ea"/>
              </a:rPr>
              <a:t>5.</a:t>
            </a:r>
            <a:r>
              <a:rPr lang="zh-CN" altLang="en-US" b="1" dirty="0">
                <a:solidFill>
                  <a:schemeClr val="bg2"/>
                </a:solidFill>
                <a:sym typeface="+mn-ea"/>
              </a:rPr>
              <a:t>任务间通信机制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：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FreeRTOS 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提供了多个通信机制，如消息队列、信号量、互斥量、事件组、消息流缓冲区等。这些模块可以独立于任务管理使用。你可以在任务间使用这些通信机制，但如果你的系统中不需要任务间通信，你完全可以选择不使用这些功能</a:t>
            </a:r>
            <a:endParaRPr lang="zh-CN" altLang="en-US" dirty="0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en-US" altLang="zh-CN" b="1" dirty="0">
                <a:solidFill>
                  <a:schemeClr val="bg2"/>
                </a:solidFill>
                <a:sym typeface="+mn-ea"/>
              </a:rPr>
              <a:t>6.</a:t>
            </a:r>
            <a:r>
              <a:rPr lang="zh-CN" altLang="en-US" b="1" dirty="0">
                <a:solidFill>
                  <a:schemeClr val="bg2"/>
                </a:solidFill>
                <a:sym typeface="+mn-ea"/>
              </a:rPr>
              <a:t>中断管理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：提供与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ISR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（中断服务例程）的交互接口（带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</a:t>
            </a:r>
            <a:r>
              <a:rPr lang="en-US" altLang="zh-CN" dirty="0" err="1">
                <a:solidFill>
                  <a:schemeClr val="bg2"/>
                </a:solidFill>
                <a:sym typeface="+mn-ea"/>
              </a:rPr>
              <a:t>FromISR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后缀的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API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）支持中断触发任务切换临界区管理（</a:t>
            </a:r>
            <a:r>
              <a:rPr lang="en-US" altLang="zh-CN" dirty="0" err="1">
                <a:solidFill>
                  <a:schemeClr val="bg2"/>
                </a:solidFill>
                <a:sym typeface="+mn-ea"/>
              </a:rPr>
              <a:t>taskENTER_CRITICAL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/ </a:t>
            </a:r>
            <a:r>
              <a:rPr lang="en-US" altLang="zh-CN" dirty="0" err="1">
                <a:solidFill>
                  <a:schemeClr val="bg2"/>
                </a:solidFill>
                <a:sym typeface="+mn-ea"/>
              </a:rPr>
              <a:t>taskEXIT_CRITICAL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）防止竞态条件，</a:t>
            </a:r>
            <a:r>
              <a:rPr lang="zh-CN" altLang="en-US" b="1" dirty="0">
                <a:solidFill>
                  <a:schemeClr val="bg2"/>
                </a:solidFill>
                <a:sym typeface="+mn-ea"/>
              </a:rPr>
              <a:t>将硬件中断与实时任务系统无缝结合，保证响应实时性</a:t>
            </a:r>
            <a:endParaRPr lang="zh-CN" altLang="en-US" b="1" dirty="0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en-US" altLang="zh-CN" b="1" dirty="0">
                <a:solidFill>
                  <a:schemeClr val="bg2"/>
                </a:solidFill>
                <a:sym typeface="+mn-ea"/>
              </a:rPr>
              <a:t>7.</a:t>
            </a:r>
            <a:r>
              <a:rPr lang="zh-CN" altLang="en-US" b="1" dirty="0">
                <a:solidFill>
                  <a:schemeClr val="bg2"/>
                </a:solidFill>
                <a:sym typeface="+mn-ea"/>
              </a:rPr>
              <a:t>钩子</a:t>
            </a:r>
            <a:r>
              <a:rPr lang="en-US" altLang="zh-CN" b="1" dirty="0">
                <a:solidFill>
                  <a:schemeClr val="bg2"/>
                </a:solidFill>
                <a:sym typeface="+mn-ea"/>
              </a:rPr>
              <a:t>/</a:t>
            </a:r>
            <a:r>
              <a:rPr lang="zh-CN" altLang="en-US" b="1" dirty="0">
                <a:solidFill>
                  <a:schemeClr val="bg2"/>
                </a:solidFill>
                <a:sym typeface="+mn-ea"/>
              </a:rPr>
              <a:t>回调函数：</a:t>
            </a:r>
            <a:r>
              <a:rPr lang="zh-CN" altLang="en-US" sz="1800" dirty="0">
                <a:solidFill>
                  <a:schemeClr val="bg2"/>
                </a:solidFill>
                <a:sym typeface="+mn-ea"/>
              </a:rPr>
              <a:t>Idle Hook：在系统空闲时执行用户代码（如省电操作）、Tick Hook：在每个系统节拍中执行用户代码</a:t>
            </a:r>
            <a:endParaRPr lang="zh-CN" altLang="en-US" sz="1800" dirty="0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zh-CN" altLang="en-US" sz="1800" dirty="0">
                <a:solidFill>
                  <a:schemeClr val="bg2"/>
                </a:solidFill>
                <a:sym typeface="+mn-ea"/>
              </a:rPr>
              <a:t>Malloc Failed Hook：内存分配失败时触发、Stack Overflow Hook：任务栈溢出时触发，提供用户自定义扩展机制，增强系统健壮性和可调试性。</a:t>
            </a:r>
            <a:endParaRPr lang="en-US" altLang="zh-CN" sz="1800" dirty="0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zh-CN" altLang="en-US" dirty="0">
                <a:solidFill>
                  <a:schemeClr val="bg2"/>
                </a:solidFill>
                <a:sym typeface="+mn-ea"/>
              </a:rPr>
              <a:t>假设你只需要使用任务调度功能来并行执行一些任务，那么你可以只开启任务管理相关的功能，而不需要使用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FreeRTOS 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的内存管理和通信机制。相反，如果你的应用程序中不需要多个任务并发，只需要通信机制来同步不同硬件或组件的状态，也可以仅引入信号量或消息队列模块。</a:t>
            </a:r>
            <a:endParaRPr lang="zh-CN" altLang="en-US" dirty="0">
              <a:solidFill>
                <a:schemeClr val="bg2"/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sz="1600">
                <a:solidFill>
                  <a:schemeClr val="bg2"/>
                </a:solidFill>
                <a:sym typeface="+mn-ea"/>
              </a:rPr>
              <a:t>FreeRTOS 使用 - STM32 生成代码</a:t>
            </a:r>
            <a:endParaRPr lang="zh-CN" altLang="en-US" sz="1600" i="0">
              <a:solidFill>
                <a:schemeClr val="bg2"/>
              </a:solidFill>
              <a:latin typeface="PingFang SC"/>
              <a:ea typeface="PingFang SC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4830" y="1455420"/>
            <a:ext cx="10947400" cy="1696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>
                <a:solidFill>
                  <a:schemeClr val="bg2"/>
                </a:solidFill>
                <a:sym typeface="+mn-ea"/>
              </a:rPr>
              <a:t>使用 STM32CubeMX 配置 FreeRTOS</a:t>
            </a:r>
            <a:endParaRPr>
              <a:solidFill>
                <a:schemeClr val="bg2"/>
              </a:solidFill>
              <a:sym typeface="+mn-ea"/>
            </a:endParaRPr>
          </a:p>
          <a:p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在 STM32CubeMX 中启用 FreeRTOS，配置任务、堆栈大小、优先级等</a:t>
            </a:r>
            <a:endParaRPr>
              <a:solidFill>
                <a:schemeClr val="bg2"/>
              </a:solidFill>
              <a:sym typeface="+mn-ea"/>
            </a:endParaRPr>
          </a:p>
          <a:p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生成代码后，使用 Keil 或 STM32CubeIDE 编译和调试</a:t>
            </a:r>
            <a:endParaRPr lang="en-US">
              <a:solidFill>
                <a:schemeClr val="bg2"/>
              </a:solidFill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224530"/>
            <a:ext cx="6735445" cy="32442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195" y="3224530"/>
            <a:ext cx="5639435" cy="351155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/>
          <p:nvPr/>
        </p:nvPicPr>
        <p:blipFill>
          <a:blip r:embed="rId1"/>
          <a:stretch>
            <a:fillRect/>
          </a:stretch>
        </p:blipFill>
        <p:spPr>
          <a:xfrm>
            <a:off x="228283" y="786765"/>
            <a:ext cx="5657850" cy="54483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 lang="zh-CN" altLang="en-US" dirty="0">
                <a:solidFill>
                  <a:srgbClr val="D92142"/>
                </a:solidFill>
                <a:latin typeface="PingFang SC"/>
                <a:ea typeface="PingFang SC"/>
                <a:sym typeface="+mn-ea"/>
              </a:rPr>
              <a:t>任务与调度机制</a:t>
            </a:r>
            <a:endParaRPr lang="en-US" dirty="0"/>
          </a:p>
        </p:txBody>
      </p:sp>
    </p:spTree>
    <p:custDataLst>
      <p:tags r:id="rId2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任务与调度机制</a:t>
            </a:r>
            <a:endParaRPr lang="zh-CN" altLang="en-US" sz="1600" i="0">
              <a:solidFill>
                <a:srgbClr val="D92142"/>
              </a:solidFill>
              <a:latin typeface="PingFang SC"/>
              <a:ea typeface="PingFang SC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dirty="0" err="1">
                <a:sym typeface="+mn-ea"/>
              </a:rPr>
              <a:t>任务</a:t>
            </a:r>
            <a:r>
              <a:rPr b="1" dirty="0" err="1">
                <a:sym typeface="+mn-ea"/>
              </a:rPr>
              <a:t>创建</a:t>
            </a:r>
            <a:r>
              <a:rPr dirty="0" err="1">
                <a:sym typeface="+mn-ea"/>
              </a:rPr>
              <a:t>与</a:t>
            </a:r>
            <a:r>
              <a:rPr b="1" dirty="0" err="1">
                <a:sym typeface="+mn-ea"/>
              </a:rPr>
              <a:t>删除</a:t>
            </a:r>
            <a:endParaRPr dirty="0"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dirty="0" err="1">
                <a:sym typeface="+mn-ea"/>
              </a:rPr>
              <a:t>优先级与调度</a:t>
            </a:r>
            <a:endParaRPr dirty="0"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dirty="0" err="1">
                <a:sym typeface="+mn-ea"/>
              </a:rPr>
              <a:t>任务状态转换</a:t>
            </a:r>
            <a:r>
              <a:rPr b="1" dirty="0" err="1">
                <a:sym typeface="+mn-ea"/>
              </a:rPr>
              <a:t>（就绪、运行、阻塞、挂起</a:t>
            </a:r>
            <a:r>
              <a:rPr b="1" dirty="0">
                <a:sym typeface="+mn-ea"/>
              </a:rPr>
              <a:t>）</a:t>
            </a:r>
            <a:endParaRPr dirty="0"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4" name="文本框 9"/>
          <p:cNvSpPr txBox="1"/>
          <p:nvPr/>
        </p:nvSpPr>
        <p:spPr>
          <a:xfrm>
            <a:off x="1693228" y="1498600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，任务创建和删除的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函数（熟悉）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2088515" y="2617788"/>
          <a:ext cx="5208588" cy="14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4294"/>
                <a:gridCol w="2604294"/>
              </a:tblGrid>
              <a:tr h="36274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API</a:t>
                      </a:r>
                      <a:r>
                        <a:rPr lang="zh-CN" altLang="en-US" sz="1400" dirty="0"/>
                        <a:t>函数</a:t>
                      </a:r>
                      <a:endParaRPr lang="zh-CN" altLang="en-US" sz="1400" dirty="0"/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  <a:endParaRPr lang="zh-CN" altLang="en-US" sz="1400" dirty="0"/>
                    </a:p>
                  </a:txBody>
                  <a:tcPr marL="91428" marR="91428" marT="45722" marB="45722" anchor="ctr"/>
                </a:tc>
              </a:tr>
              <a:tr h="362744">
                <a:tc>
                  <a:txBody>
                    <a:bodyPr/>
                    <a:lstStyle/>
                    <a:p>
                      <a:pPr algn="l"/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xTaskCreate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动态方式创建任务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</a:tr>
              <a:tr h="362744">
                <a:tc>
                  <a:txBody>
                    <a:bodyPr/>
                    <a:lstStyle/>
                    <a:p>
                      <a:pPr algn="l"/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xTaskCreateStatic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静态方式创建任务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</a:tr>
              <a:tr h="362744">
                <a:tc>
                  <a:txBody>
                    <a:bodyPr/>
                    <a:lstStyle/>
                    <a:p>
                      <a:pPr algn="l"/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vTaskDelete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删除任务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</a:tr>
            </a:tbl>
          </a:graphicData>
        </a:graphic>
      </p:graphicFrame>
      <p:sp>
        <p:nvSpPr>
          <p:cNvPr id="4122" name="文本框 6"/>
          <p:cNvSpPr txBox="1"/>
          <p:nvPr/>
        </p:nvSpPr>
        <p:spPr>
          <a:xfrm>
            <a:off x="2078990" y="2119313"/>
            <a:ext cx="4313238" cy="30638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任务的创建和删除本质就是调用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9" name="矩形: 圆角 8"/>
          <p:cNvSpPr/>
          <p:nvPr/>
        </p:nvSpPr>
        <p:spPr>
          <a:xfrm>
            <a:off x="2078990" y="4478338"/>
            <a:ext cx="1450975" cy="30638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动态创建任务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7" name="矩形: 圆角 26"/>
          <p:cNvSpPr/>
          <p:nvPr/>
        </p:nvSpPr>
        <p:spPr>
          <a:xfrm>
            <a:off x="2088515" y="5062538"/>
            <a:ext cx="14509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静态创建任务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4125" name="文本框 27"/>
          <p:cNvSpPr txBox="1"/>
          <p:nvPr/>
        </p:nvSpPr>
        <p:spPr>
          <a:xfrm>
            <a:off x="3539490" y="4295775"/>
            <a:ext cx="5705475" cy="6302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任务的任务控制块以及任务的栈空间所需的内存，均由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从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管理的堆中分配 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126" name="文本框 28"/>
          <p:cNvSpPr txBox="1"/>
          <p:nvPr/>
        </p:nvSpPr>
        <p:spPr>
          <a:xfrm>
            <a:off x="3539490" y="5021263"/>
            <a:ext cx="5705475" cy="3492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任务的任务控制块以及任务的栈空间所需的内存，需用户分配提供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22" grpId="0"/>
      <p:bldP spid="9" grpId="0" bldLvl="0" animBg="1"/>
      <p:bldP spid="27" grpId="0" bldLvl="0" animBg="1"/>
      <p:bldP spid="4125" grpId="0"/>
      <p:bldP spid="412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文本框 9"/>
          <p:cNvSpPr txBox="1"/>
          <p:nvPr/>
        </p:nvSpPr>
        <p:spPr>
          <a:xfrm>
            <a:off x="1542098" y="1200150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动态创建任务函数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129" name="文本框 15"/>
          <p:cNvSpPr txBox="1"/>
          <p:nvPr/>
        </p:nvSpPr>
        <p:spPr>
          <a:xfrm>
            <a:off x="462280" y="1865630"/>
            <a:ext cx="11802376" cy="310324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BaseType_t xTaskCreate</a:t>
            </a:r>
            <a:endParaRPr lang="en-US" altLang="zh-CN" sz="1200" dirty="0">
              <a:solidFill>
                <a:srgbClr val="00000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(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b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</a:b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TaskFunction_t 				pxTaskCode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指向任务函数的指针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		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		</a:t>
            </a:r>
            <a:b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</a:b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	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char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*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			pcName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任务名字，最大长度</a:t>
            </a:r>
            <a:r>
              <a:rPr lang="en-US" altLang="zh-CN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configMAX_TASK_NAME_LEN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	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configSTACK_DEPTH_TYPE 		usStackDepth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任务堆栈大小，</a:t>
            </a:r>
            <a:r>
              <a:rPr lang="zh-CN" altLang="en-US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注意字为单位</a:t>
            </a:r>
            <a:r>
              <a:rPr lang="en-US" altLang="zh-CN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	void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*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				pvParameters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传递给任务函数的参数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	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UBaseType_t 					uxPriority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任务优先级，范围：</a:t>
            </a:r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0 </a:t>
            </a:r>
            <a:r>
              <a:rPr lang="en-US" altLang="zh-CN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~ configMAX_PRIORITIES </a:t>
            </a:r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- 1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TaskHandle_t 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*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		pxCreatedTask 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任务句柄，</a:t>
            </a:r>
            <a:r>
              <a:rPr lang="zh-CN" altLang="en-US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就是任务的任务控制块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)</a:t>
            </a:r>
            <a:endParaRPr lang="en-US" altLang="zh-CN" sz="1200" dirty="0">
              <a:solidFill>
                <a:srgbClr val="000000"/>
              </a:solidFill>
              <a:latin typeface="Candara" panose="020E0502030303020204" pitchFamily="34" charset="0"/>
              <a:ea typeface="思源黑体 CN Normal" pitchFamily="34" charset="-122"/>
            </a:endParaRPr>
          </a:p>
        </p:txBody>
      </p:sp>
      <p:graphicFrame>
        <p:nvGraphicFramePr>
          <p:cNvPr id="8" name="表格 9"/>
          <p:cNvGraphicFramePr>
            <a:graphicFrameLocks noGrp="1"/>
          </p:cNvGraphicFramePr>
          <p:nvPr/>
        </p:nvGraphicFramePr>
        <p:xfrm>
          <a:off x="1627823" y="5104130"/>
          <a:ext cx="6742112" cy="1036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056"/>
                <a:gridCol w="3371056"/>
              </a:tblGrid>
              <a:tr h="3049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返回值</a:t>
                      </a:r>
                      <a:endParaRPr lang="zh-CN" altLang="en-US" sz="1400" dirty="0"/>
                    </a:p>
                  </a:txBody>
                  <a:tcPr marL="91426" marR="91426" marT="45755" marB="4575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  <a:endParaRPr lang="zh-CN" altLang="en-US" sz="1400" dirty="0"/>
                    </a:p>
                  </a:txBody>
                  <a:tcPr marL="91426" marR="91426" marT="45755" marB="45755" anchor="ctr"/>
                </a:tc>
              </a:tr>
              <a:tr h="27453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 err="1">
                          <a:solidFill>
                            <a:srgbClr val="002060"/>
                          </a:solidFill>
                        </a:rPr>
                        <a:t>pdPASS</a:t>
                      </a:r>
                      <a:endParaRPr lang="zh-CN" altLang="en-US" sz="1200" dirty="0">
                        <a:solidFill>
                          <a:srgbClr val="002060"/>
                        </a:solidFill>
                      </a:endParaRPr>
                    </a:p>
                  </a:txBody>
                  <a:tcPr marL="91426" marR="91426" marT="45755" marB="4575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rgbClr val="002060"/>
                          </a:solidFill>
                        </a:rPr>
                        <a:t>任务创建成功</a:t>
                      </a:r>
                      <a:endParaRPr lang="zh-CN" altLang="en-US" sz="1200" dirty="0">
                        <a:solidFill>
                          <a:srgbClr val="002060"/>
                        </a:solidFill>
                      </a:endParaRPr>
                    </a:p>
                  </a:txBody>
                  <a:tcPr marL="91426" marR="91426" marT="45755" marB="45755" anchor="ctr"/>
                </a:tc>
              </a:tr>
              <a:tr h="341259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 err="1">
                          <a:solidFill>
                            <a:srgbClr val="002060"/>
                          </a:solidFill>
                        </a:rPr>
                        <a:t>errCOULD_NOT_ALLOCATE_REQUIRED_MEMORY</a:t>
                      </a:r>
                      <a:endParaRPr lang="zh-CN" altLang="en-US" sz="1200" dirty="0">
                        <a:solidFill>
                          <a:srgbClr val="002060"/>
                        </a:solidFill>
                      </a:endParaRPr>
                    </a:p>
                  </a:txBody>
                  <a:tcPr marL="91426" marR="91426" marT="45755" marB="4575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rgbClr val="002060"/>
                          </a:solidFill>
                        </a:rPr>
                        <a:t>任务创建失败</a:t>
                      </a:r>
                      <a:endParaRPr lang="zh-CN" altLang="en-US" sz="1200" dirty="0">
                        <a:solidFill>
                          <a:srgbClr val="002060"/>
                        </a:solidFill>
                      </a:endParaRPr>
                    </a:p>
                  </a:txBody>
                  <a:tcPr marL="91426" marR="91426" marT="45755" marB="45755" anchor="ctr"/>
                </a:tc>
              </a:tr>
            </a:tbl>
          </a:graphicData>
        </a:graphic>
      </p:graphicFrame>
      <p:sp>
        <p:nvSpPr>
          <p:cNvPr id="2" name="矩形 1"/>
          <p:cNvSpPr/>
          <p:nvPr/>
        </p:nvSpPr>
        <p:spPr>
          <a:xfrm>
            <a:off x="178434" y="1865630"/>
            <a:ext cx="11708765" cy="310324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9" grpId="0"/>
      <p:bldP spid="2" grpId="0" bldLvl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2" name="文本框 9"/>
          <p:cNvSpPr txBox="1"/>
          <p:nvPr/>
        </p:nvSpPr>
        <p:spPr>
          <a:xfrm>
            <a:off x="1792605" y="1386840"/>
            <a:ext cx="4619625" cy="3683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实现动态创建任务流程</a:t>
            </a:r>
            <a:endParaRPr lang="zh-CN" altLang="en-US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2" name="矩形: 圆角 1"/>
          <p:cNvSpPr/>
          <p:nvPr/>
        </p:nvSpPr>
        <p:spPr>
          <a:xfrm>
            <a:off x="1854518" y="3958590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、申请堆栈内存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&amp;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任务控制块内存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" name="矩形: 圆角 12"/>
          <p:cNvSpPr/>
          <p:nvPr/>
        </p:nvSpPr>
        <p:spPr>
          <a:xfrm>
            <a:off x="1854518" y="4422140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TCB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结构体成员赋值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4" name="矩形: 圆角 13"/>
          <p:cNvSpPr/>
          <p:nvPr/>
        </p:nvSpPr>
        <p:spPr>
          <a:xfrm>
            <a:off x="1854518" y="4896803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、添加新任务到就绪列表中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1854518" y="2567940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、定义函数入口参数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6" name="矩形: 圆角 15"/>
          <p:cNvSpPr/>
          <p:nvPr/>
        </p:nvSpPr>
        <p:spPr>
          <a:xfrm>
            <a:off x="1854518" y="2985453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、编写任务函数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3" name="右大括号 2"/>
          <p:cNvSpPr/>
          <p:nvPr/>
        </p:nvSpPr>
        <p:spPr>
          <a:xfrm>
            <a:off x="6083618" y="2048828"/>
            <a:ext cx="257175" cy="1309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159" name="文本框 6"/>
          <p:cNvSpPr txBox="1"/>
          <p:nvPr/>
        </p:nvSpPr>
        <p:spPr>
          <a:xfrm>
            <a:off x="6412230" y="2566353"/>
            <a:ext cx="1416050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用起来只需这三步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0" name="右大括号 19"/>
          <p:cNvSpPr/>
          <p:nvPr/>
        </p:nvSpPr>
        <p:spPr>
          <a:xfrm>
            <a:off x="6062980" y="3945890"/>
            <a:ext cx="298450" cy="13160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9" name="直接连接符 8"/>
          <p:cNvCxnSpPr/>
          <p:nvPr/>
        </p:nvCxnSpPr>
        <p:spPr>
          <a:xfrm flipH="1">
            <a:off x="1792605" y="2050415"/>
            <a:ext cx="4291013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>
          <a:xfrm flipH="1">
            <a:off x="1854518" y="3358515"/>
            <a:ext cx="4291013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 flipH="1">
            <a:off x="1771968" y="3945890"/>
            <a:ext cx="4291013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H="1">
            <a:off x="1792605" y="5261928"/>
            <a:ext cx="4291013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165" name="文本框 24"/>
          <p:cNvSpPr txBox="1"/>
          <p:nvPr/>
        </p:nvSpPr>
        <p:spPr>
          <a:xfrm>
            <a:off x="6370955" y="4465003"/>
            <a:ext cx="2032000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动态创建任务函数内部实现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771968" y="3523615"/>
            <a:ext cx="4919663" cy="2762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zh-CN" sz="12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此函数创建的任务会立刻进入就绪态，由任务调度器调度运行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7" name="矩形: 圆角 26"/>
          <p:cNvSpPr/>
          <p:nvPr/>
        </p:nvSpPr>
        <p:spPr>
          <a:xfrm>
            <a:off x="1854518" y="2150428"/>
            <a:ext cx="42291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、将宏</a:t>
            </a:r>
            <a:r>
              <a:rPr kumimoji="0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configSUPPORT_DYNAMIC_ALLOCATION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 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配置为 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 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ldLvl="0" animBg="1"/>
      <p:bldP spid="13" grpId="0" bldLvl="0" animBg="1"/>
      <p:bldP spid="14" grpId="0" bldLvl="0" animBg="1"/>
      <p:bldP spid="19" grpId="0" bldLvl="0" animBg="1"/>
      <p:bldP spid="16" grpId="0" bldLvl="0" animBg="1"/>
      <p:bldP spid="3" grpId="0" bldLvl="0" animBg="1"/>
      <p:bldP spid="6159" grpId="0"/>
      <p:bldP spid="20" grpId="0" bldLvl="0" animBg="1"/>
      <p:bldP spid="6165" grpId="0"/>
      <p:bldP spid="26" grpId="0"/>
      <p:bldP spid="27" grpId="0" bldLvl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6" name="文本框 9"/>
          <p:cNvSpPr txBox="1"/>
          <p:nvPr/>
        </p:nvSpPr>
        <p:spPr>
          <a:xfrm>
            <a:off x="1808163" y="645795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任务控制块结构体成员介绍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177" name="文本框 15"/>
          <p:cNvSpPr txBox="1"/>
          <p:nvPr/>
        </p:nvSpPr>
        <p:spPr>
          <a:xfrm>
            <a:off x="137552" y="1104900"/>
            <a:ext cx="12580472" cy="3233420"/>
          </a:xfrm>
          <a:prstGeom prst="rect">
            <a:avLst/>
          </a:prstGeom>
          <a:noFill/>
          <a:ln w="9525">
            <a:noFill/>
          </a:ln>
        </p:spPr>
        <p:txBody>
          <a:bodyPr>
            <a:noAutofit/>
          </a:bodyPr>
          <a:lstStyle/>
          <a:p>
            <a:pPr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typedef </a:t>
            </a:r>
            <a:r>
              <a:rPr lang="en-US" altLang="zh-CN" sz="1200" dirty="0">
                <a:solidFill>
                  <a:srgbClr val="0000FF"/>
                </a:solidFill>
                <a:latin typeface="CourierNewPSMT"/>
                <a:ea typeface="等线" panose="02010600030101010101" pitchFamily="2" charset="-122"/>
              </a:rPr>
              <a:t>struct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tskTaskControlBlock       </a:t>
            </a:r>
            <a:endParaRPr lang="en-US" altLang="zh-CN" sz="1200" dirty="0">
              <a:solidFill>
                <a:srgbClr val="00000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{</a:t>
            </a:r>
            <a:endParaRPr lang="en-US" altLang="zh-CN" sz="1200" dirty="0">
              <a:solidFill>
                <a:srgbClr val="00000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 	volatile StackType_t 		* pxTopOfStack; 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任务栈栈顶，必须为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TCB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的第一个成员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	ListItem_t 			xStateListItem;           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任务状态列表项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      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ListItem_t 			xEventListItem;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任务事件列表项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     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 	UBaseType_t 			uxPriority;                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任务优先级，数值越大，优先级越大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 	StackType_t 			* pxStack;	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任务栈起始地址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 	char 				pcTaskName[ configMAX_TASK_NAME_LEN ]; 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任务名字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	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buNone/>
            </a:pP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	…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省略很多条件编译的成员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} tskTCB;</a:t>
            </a:r>
            <a:endParaRPr lang="en-US" altLang="zh-CN" sz="1200" dirty="0">
              <a:solidFill>
                <a:srgbClr val="000000"/>
              </a:solidFill>
              <a:latin typeface="Candara" panose="020E0502030303020204" pitchFamily="34" charset="0"/>
              <a:ea typeface="思源黑体 CN Normal" pitchFamily="34" charset="-122"/>
            </a:endParaRPr>
          </a:p>
        </p:txBody>
      </p:sp>
      <p:sp>
        <p:nvSpPr>
          <p:cNvPr id="7178" name="文本框 1"/>
          <p:cNvSpPr txBox="1"/>
          <p:nvPr/>
        </p:nvSpPr>
        <p:spPr>
          <a:xfrm>
            <a:off x="1808163" y="5892165"/>
            <a:ext cx="467360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注意：每个任务都有属于自己的任务控制块，类似身份证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179" name="文本框 2"/>
          <p:cNvSpPr txBox="1"/>
          <p:nvPr/>
        </p:nvSpPr>
        <p:spPr>
          <a:xfrm>
            <a:off x="1808163" y="5474653"/>
            <a:ext cx="539115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>
              <a:buNone/>
            </a:pPr>
            <a:r>
              <a:rPr lang="zh-CN" altLang="en-US" sz="14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任务栈栈顶，在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任务切换时的任务上下文保存、任务恢复息息相关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0" y="1104900"/>
            <a:ext cx="12238074" cy="400240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7" grpId="0"/>
      <p:bldP spid="7178" grpId="0"/>
      <p:bldP spid="7179" grpId="0"/>
      <p:bldP spid="2" grpId="0" bldLvl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0" name="文本框 9"/>
          <p:cNvSpPr txBox="1"/>
          <p:nvPr/>
        </p:nvSpPr>
        <p:spPr>
          <a:xfrm>
            <a:off x="1784033" y="752475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静态创建任务函数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603058" y="1289050"/>
            <a:ext cx="8359775" cy="24701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TaskHandle_t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xTaskCreateStatic</a:t>
            </a:r>
            <a:endParaRPr kumimoji="0" lang="en-US" altLang="zh-CN" sz="1200" kern="0" cap="none" spc="0" normalizeH="0" baseline="0" noProof="0" dirty="0">
              <a:solidFill>
                <a:srgbClr val="000000"/>
              </a:solidFill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(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TaskFunction_t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pxTaskCode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	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指向任务函数的指针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char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pcName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	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任务函数名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uint32_t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ulStackDepth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 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任务堆栈大小</a:t>
            </a:r>
            <a:r>
              <a:rPr kumimoji="0" lang="zh-CN" altLang="en-US" sz="1200" kern="1200" cap="none" spc="0" normalizeH="0" baseline="0" noProof="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  <a:cs typeface="+mn-cs"/>
              </a:rPr>
              <a:t>注意字为单位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void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pvParameters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 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传递的任务函数参数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UBaseType_t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uxPriority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 	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任务优先级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StackType_t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puxStackBuffer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 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任务堆栈，一般为数组，由用户分配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StaticTask_t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	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pxTaskBuffer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		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任务控制块指针，由用户分配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*/</a:t>
            </a:r>
            <a:endParaRPr kumimoji="0" lang="en-US" altLang="zh-CN" sz="1200" kern="0" cap="none" spc="0" normalizeH="0" baseline="0" noProof="0" dirty="0">
              <a:solidFill>
                <a:srgbClr val="000000"/>
              </a:solidFill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); 		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</p:txBody>
      </p:sp>
      <p:graphicFrame>
        <p:nvGraphicFramePr>
          <p:cNvPr id="15" name="表格 9"/>
          <p:cNvGraphicFramePr>
            <a:graphicFrameLocks noGrp="1"/>
          </p:cNvGraphicFramePr>
          <p:nvPr/>
        </p:nvGraphicFramePr>
        <p:xfrm>
          <a:off x="1922145" y="3910013"/>
          <a:ext cx="6742114" cy="9207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057"/>
                <a:gridCol w="3371057"/>
              </a:tblGrid>
              <a:tr h="3049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返回值</a:t>
                      </a:r>
                      <a:endParaRPr lang="zh-CN" altLang="en-US" sz="1400" dirty="0"/>
                    </a:p>
                  </a:txBody>
                  <a:tcPr marL="91426" marR="91426" marT="45755" marB="4575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  <a:endParaRPr lang="zh-CN" altLang="en-US" sz="1400" dirty="0"/>
                    </a:p>
                  </a:txBody>
                  <a:tcPr marL="91426" marR="91426" marT="45755" marB="45755" anchor="ctr"/>
                </a:tc>
              </a:tr>
              <a:tr h="274530">
                <a:tc>
                  <a:txBody>
                    <a:bodyPr/>
                    <a:lstStyle/>
                    <a:p>
                      <a:pPr indent="255905" algn="l"/>
                      <a:r>
                        <a:rPr lang="en-US" sz="1100" kern="10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NULL</a:t>
                      </a:r>
                      <a:endParaRPr lang="zh-CN" sz="1100" kern="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255905" algn="l"/>
                      <a:r>
                        <a:rPr lang="zh-CN" sz="1100" kern="10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用户没有提供相应的内存，任务创建失败</a:t>
                      </a:r>
                      <a:endParaRPr lang="zh-CN" sz="1100" kern="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</a:tr>
              <a:tr h="341259">
                <a:tc>
                  <a:txBody>
                    <a:bodyPr/>
                    <a:lstStyle/>
                    <a:p>
                      <a:pPr indent="255905" algn="l"/>
                      <a:r>
                        <a:rPr lang="zh-CN" sz="1100" kern="10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其他值</a:t>
                      </a:r>
                      <a:endParaRPr lang="zh-CN" sz="1100" kern="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255905" algn="l"/>
                      <a:r>
                        <a:rPr lang="zh-CN" sz="1100" kern="1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任务句柄，任务创建成功</a:t>
                      </a:r>
                      <a:endParaRPr lang="zh-CN" sz="1100" kern="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3" name="矩形 2"/>
          <p:cNvSpPr/>
          <p:nvPr/>
        </p:nvSpPr>
        <p:spPr>
          <a:xfrm>
            <a:off x="1784033" y="1358900"/>
            <a:ext cx="7583488" cy="2400300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" grpId="0" bldLvl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4" name="文本框 9"/>
          <p:cNvSpPr txBox="1"/>
          <p:nvPr/>
        </p:nvSpPr>
        <p:spPr>
          <a:xfrm>
            <a:off x="1818005" y="1395095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静态创建任务使用流程</a:t>
            </a:r>
            <a:endParaRPr lang="zh-CN" altLang="en-US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20" name="矩形: 圆角 19"/>
          <p:cNvSpPr/>
          <p:nvPr/>
        </p:nvSpPr>
        <p:spPr>
          <a:xfrm>
            <a:off x="1922780" y="2912745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、实现两个接口函数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4" name="矩形: 圆角 23"/>
          <p:cNvSpPr/>
          <p:nvPr/>
        </p:nvSpPr>
        <p:spPr>
          <a:xfrm>
            <a:off x="1913255" y="2482533"/>
            <a:ext cx="35814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、定义空闲任务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&amp;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定时器任务的任务堆栈及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TCB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" name="左大括号 1"/>
          <p:cNvSpPr/>
          <p:nvPr/>
        </p:nvSpPr>
        <p:spPr>
          <a:xfrm>
            <a:off x="5423218" y="2776220"/>
            <a:ext cx="204788" cy="50641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228" name="文本框 24"/>
          <p:cNvSpPr txBox="1"/>
          <p:nvPr/>
        </p:nvSpPr>
        <p:spPr>
          <a:xfrm>
            <a:off x="5724843" y="2665095"/>
            <a:ext cx="2951162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vApplicationGetIdleTaskMemory( ) 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9229" name="文本框 25"/>
          <p:cNvSpPr txBox="1"/>
          <p:nvPr/>
        </p:nvSpPr>
        <p:spPr>
          <a:xfrm>
            <a:off x="5723255" y="3047683"/>
            <a:ext cx="295910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vApplicationGetTimerTaskMemory ( )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1867218" y="4233545"/>
            <a:ext cx="5978525" cy="277813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zh-CN" sz="12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此函数创建的任务会立刻进入就绪态，由任务调度器调度运行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3" name="矩形: 圆角 22"/>
          <p:cNvSpPr/>
          <p:nvPr/>
        </p:nvSpPr>
        <p:spPr>
          <a:xfrm>
            <a:off x="1930718" y="3774758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5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、编写任务函数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5" name="矩形: 圆角 24"/>
          <p:cNvSpPr/>
          <p:nvPr/>
        </p:nvSpPr>
        <p:spPr>
          <a:xfrm>
            <a:off x="1930718" y="4643120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TCB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结构体成员赋值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6" name="矩形: 圆角 25"/>
          <p:cNvSpPr/>
          <p:nvPr/>
        </p:nvSpPr>
        <p:spPr>
          <a:xfrm>
            <a:off x="1930718" y="5143183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、添加新任务到就绪列表中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7" name="矩形: 圆角 26"/>
          <p:cNvSpPr/>
          <p:nvPr/>
        </p:nvSpPr>
        <p:spPr>
          <a:xfrm>
            <a:off x="1913255" y="3344545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4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、定义函数入口参数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7" name="右大括号 6"/>
          <p:cNvSpPr/>
          <p:nvPr/>
        </p:nvSpPr>
        <p:spPr>
          <a:xfrm>
            <a:off x="8533130" y="2025333"/>
            <a:ext cx="373063" cy="2111375"/>
          </a:xfrm>
          <a:prstGeom prst="rightBrace">
            <a:avLst>
              <a:gd name="adj1" fmla="val 12934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28" name="直接连接符 27"/>
          <p:cNvCxnSpPr/>
          <p:nvPr/>
        </p:nvCxnSpPr>
        <p:spPr>
          <a:xfrm flipH="1">
            <a:off x="1913255" y="2025333"/>
            <a:ext cx="6610350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 flipH="1">
            <a:off x="1965643" y="4136708"/>
            <a:ext cx="6610350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38" name="文本框 29"/>
          <p:cNvSpPr txBox="1"/>
          <p:nvPr/>
        </p:nvSpPr>
        <p:spPr>
          <a:xfrm>
            <a:off x="8871268" y="2942908"/>
            <a:ext cx="1416050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用起来只需这五步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1" name="右大括号 30"/>
          <p:cNvSpPr/>
          <p:nvPr/>
        </p:nvSpPr>
        <p:spPr>
          <a:xfrm>
            <a:off x="8533130" y="4581208"/>
            <a:ext cx="395288" cy="893763"/>
          </a:xfrm>
          <a:prstGeom prst="rightBrace">
            <a:avLst>
              <a:gd name="adj1" fmla="val 12934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32" name="直接连接符 31"/>
          <p:cNvCxnSpPr/>
          <p:nvPr/>
        </p:nvCxnSpPr>
        <p:spPr>
          <a:xfrm flipH="1">
            <a:off x="1913255" y="4585970"/>
            <a:ext cx="6610350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 flipH="1">
            <a:off x="1913255" y="5474970"/>
            <a:ext cx="6610350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42" name="文本框 33"/>
          <p:cNvSpPr txBox="1"/>
          <p:nvPr/>
        </p:nvSpPr>
        <p:spPr>
          <a:xfrm>
            <a:off x="8871268" y="4882833"/>
            <a:ext cx="1416050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静态创建内部实现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5" name="矩形: 圆角 34"/>
          <p:cNvSpPr/>
          <p:nvPr/>
        </p:nvSpPr>
        <p:spPr>
          <a:xfrm>
            <a:off x="1908493" y="2052320"/>
            <a:ext cx="461962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、需将宏</a:t>
            </a:r>
            <a:r>
              <a:rPr kumimoji="0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configSUPPORT_STATIC_ALLOCATION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 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配置为 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 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9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  <p:bldP spid="24" grpId="0" bldLvl="0" animBg="1"/>
      <p:bldP spid="2" grpId="0" bldLvl="0" animBg="1"/>
      <p:bldP spid="9228" grpId="0"/>
      <p:bldP spid="9229" grpId="0"/>
      <p:bldP spid="19" grpId="0"/>
      <p:bldP spid="23" grpId="0" bldLvl="0" animBg="1"/>
      <p:bldP spid="25" grpId="0" bldLvl="0" animBg="1"/>
      <p:bldP spid="26" grpId="0" bldLvl="0" animBg="1"/>
      <p:bldP spid="27" grpId="0" bldLvl="0" animBg="1"/>
      <p:bldP spid="7" grpId="0" bldLvl="0" animBg="1"/>
      <p:bldP spid="9238" grpId="0"/>
      <p:bldP spid="31" grpId="0" bldLvl="0" animBg="1"/>
      <p:bldP spid="9242" grpId="0"/>
      <p:bldP spid="35" grpId="0" bldLvl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8" name="文本框 9"/>
          <p:cNvSpPr txBox="1"/>
          <p:nvPr/>
        </p:nvSpPr>
        <p:spPr>
          <a:xfrm>
            <a:off x="1892618" y="1403985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任务删除函数</a:t>
            </a:r>
            <a:endParaRPr lang="zh-CN" altLang="en-US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225" name="文本框 13"/>
          <p:cNvSpPr txBox="1">
            <a:spLocks noChangeArrowheads="1"/>
          </p:cNvSpPr>
          <p:nvPr/>
        </p:nvSpPr>
        <p:spPr bwMode="auto">
          <a:xfrm>
            <a:off x="1556068" y="2015173"/>
            <a:ext cx="6873875" cy="3079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255905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void</a:t>
            </a: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vTaskDelete</a:t>
            </a: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(</a:t>
            </a:r>
            <a:r>
              <a:rPr kumimoji="0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TaskHandle_t</a:t>
            </a: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xTaskToDelete</a:t>
            </a: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);</a:t>
            </a:r>
            <a:endParaRPr kumimoji="0" lang="zh-CN" altLang="zh-CN" sz="1400" b="0" i="0" u="none" strike="noStrike" kern="1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graphicFrame>
        <p:nvGraphicFramePr>
          <p:cNvPr id="3" name="表格 6"/>
          <p:cNvGraphicFramePr>
            <a:graphicFrameLocks noGrp="1"/>
          </p:cNvGraphicFramePr>
          <p:nvPr/>
        </p:nvGraphicFramePr>
        <p:xfrm>
          <a:off x="1892618" y="2491423"/>
          <a:ext cx="6096000" cy="741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</a:tblGrid>
              <a:tr h="370681">
                <a:tc>
                  <a:txBody>
                    <a:bodyPr/>
                    <a:lstStyle/>
                    <a:p>
                      <a:pPr indent="255905" algn="ctr"/>
                      <a:r>
                        <a:rPr lang="zh-CN" altLang="en-US" sz="1100" kern="100" dirty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形参</a:t>
                      </a:r>
                      <a:endParaRPr lang="zh-CN" sz="1100" kern="100" dirty="0">
                        <a:solidFill>
                          <a:schemeClr val="bg1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255905" algn="ctr"/>
                      <a:r>
                        <a:rPr lang="zh-CN" sz="1100" kern="100" dirty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sz="1100" kern="100" dirty="0">
                        <a:solidFill>
                          <a:schemeClr val="bg1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</a:tr>
              <a:tr h="370681">
                <a:tc>
                  <a:txBody>
                    <a:bodyPr/>
                    <a:lstStyle/>
                    <a:p>
                      <a:pPr indent="255905" algn="ctr"/>
                      <a:r>
                        <a:rPr lang="en-US" sz="1200" kern="10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xTaskToDelete</a:t>
                      </a:r>
                      <a:endParaRPr lang="zh-CN" sz="1200" kern="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255905" algn="ctr"/>
                      <a:r>
                        <a:rPr lang="zh-CN" sz="1200" kern="1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待删除任务的任务句柄</a:t>
                      </a:r>
                      <a:endParaRPr lang="zh-CN" sz="1200" kern="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19" name="文本框 18"/>
          <p:cNvSpPr txBox="1"/>
          <p:nvPr/>
        </p:nvSpPr>
        <p:spPr>
          <a:xfrm>
            <a:off x="1892618" y="3693160"/>
            <a:ext cx="7413625" cy="3825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zh-CN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被删除的任务将从就绪态任务列表、阻塞态任务列表、挂起态任务列表和事件列表中移除</a:t>
            </a:r>
            <a:endParaRPr kumimoji="0" lang="zh-CN" altLang="en-US" sz="14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1892618" y="3315335"/>
            <a:ext cx="2749550" cy="3825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zh-CN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用于删除已被创建的任务</a:t>
            </a:r>
            <a:endParaRPr kumimoji="0" lang="en-US" altLang="zh-CN" sz="1400" kern="1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263" name="文本框 8"/>
          <p:cNvSpPr txBox="1"/>
          <p:nvPr/>
        </p:nvSpPr>
        <p:spPr>
          <a:xfrm>
            <a:off x="1892618" y="4109085"/>
            <a:ext cx="544512" cy="3063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注意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892618" y="4340860"/>
            <a:ext cx="5915025" cy="381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en-US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1</a:t>
            </a:r>
            <a:r>
              <a:rPr kumimoji="0" lang="zh-CN" altLang="en-US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、当传入的参数为</a:t>
            </a:r>
            <a:r>
              <a:rPr kumimoji="0" lang="en-US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NULL</a:t>
            </a:r>
            <a:r>
              <a:rPr kumimoji="0" lang="zh-CN" altLang="en-US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，则代表删除任务自身（当前正在运行的任务）</a:t>
            </a:r>
            <a:endParaRPr kumimoji="0" lang="en-US" altLang="zh-CN" sz="1400" kern="1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265" name="文本框 25"/>
          <p:cNvSpPr txBox="1"/>
          <p:nvPr/>
        </p:nvSpPr>
        <p:spPr>
          <a:xfrm>
            <a:off x="1892618" y="4742498"/>
            <a:ext cx="8428037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、空闲任务会负责释放被删除任务中由系统分配的内存，但是由用户在任务删除前申请的内存， 则需要由用户在任务被删除前提前释放，否则将导致内存泄露 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5" grpId="0"/>
      <p:bldP spid="19" grpId="0"/>
      <p:bldP spid="23" grpId="0"/>
      <p:bldP spid="10263" grpId="0"/>
      <p:bldP spid="25" grpId="0"/>
      <p:bldP spid="1026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2" name="文本框 9"/>
          <p:cNvSpPr txBox="1"/>
          <p:nvPr/>
        </p:nvSpPr>
        <p:spPr>
          <a:xfrm>
            <a:off x="1619885" y="1473200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删除任务流程</a:t>
            </a:r>
            <a:endParaRPr lang="zh-CN" altLang="en-US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1273" name="文本框 13"/>
          <p:cNvSpPr txBox="1"/>
          <p:nvPr/>
        </p:nvSpPr>
        <p:spPr>
          <a:xfrm>
            <a:off x="1619885" y="2149475"/>
            <a:ext cx="479425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、使用删除任务函数，需将宏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INCLUDE_vTaskDelete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配置为 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0" name="矩形: 圆角 19"/>
          <p:cNvSpPr/>
          <p:nvPr/>
        </p:nvSpPr>
        <p:spPr>
          <a:xfrm>
            <a:off x="1637348" y="3851275"/>
            <a:ext cx="2503488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、将被删除任务，移除所在列表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1" name="矩形: 圆角 20"/>
          <p:cNvSpPr/>
          <p:nvPr/>
        </p:nvSpPr>
        <p:spPr>
          <a:xfrm>
            <a:off x="1637348" y="4443413"/>
            <a:ext cx="2503488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、判断所需要删除的任务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2" name="矩形: 圆角 21"/>
          <p:cNvSpPr/>
          <p:nvPr/>
        </p:nvSpPr>
        <p:spPr>
          <a:xfrm>
            <a:off x="1627823" y="5035550"/>
            <a:ext cx="25050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4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、更新下个任务的阻塞时间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4" name="矩形: 圆角 23"/>
          <p:cNvSpPr/>
          <p:nvPr/>
        </p:nvSpPr>
        <p:spPr>
          <a:xfrm>
            <a:off x="1637348" y="3259138"/>
            <a:ext cx="2503488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、获取所要删除任务的控制块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1278" name="文本框 24"/>
          <p:cNvSpPr txBox="1"/>
          <p:nvPr/>
        </p:nvSpPr>
        <p:spPr>
          <a:xfrm>
            <a:off x="4140835" y="3286125"/>
            <a:ext cx="5095875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通过传入的任务句柄，判断所需要删除哪个任务，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NULL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代表删除自身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279" name="文本框 25"/>
          <p:cNvSpPr txBox="1"/>
          <p:nvPr/>
        </p:nvSpPr>
        <p:spPr>
          <a:xfrm>
            <a:off x="4140835" y="3868738"/>
            <a:ext cx="4965700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将该任务在所在列表中移除，包括：就绪、阻塞、挂起、事件等列表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280" name="文本框 25"/>
          <p:cNvSpPr txBox="1"/>
          <p:nvPr/>
        </p:nvSpPr>
        <p:spPr>
          <a:xfrm>
            <a:off x="4299585" y="4314825"/>
            <a:ext cx="4964113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删除任务自身，需先添加到等待删除列表，内存释放将在空闲任务执行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281" name="文本框 22"/>
          <p:cNvSpPr txBox="1"/>
          <p:nvPr/>
        </p:nvSpPr>
        <p:spPr>
          <a:xfrm>
            <a:off x="4299585" y="4656138"/>
            <a:ext cx="4618038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删除其他任务，释放内存，任务数量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--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7" name="左大括号 6"/>
          <p:cNvSpPr/>
          <p:nvPr/>
        </p:nvSpPr>
        <p:spPr>
          <a:xfrm>
            <a:off x="4140835" y="4400550"/>
            <a:ext cx="158750" cy="41910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283" name="文本框 25"/>
          <p:cNvSpPr txBox="1"/>
          <p:nvPr/>
        </p:nvSpPr>
        <p:spPr>
          <a:xfrm>
            <a:off x="4129723" y="5011738"/>
            <a:ext cx="5562600" cy="3413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更新下一个任务的阻塞超时时间，以防被删除的任务就是下一个阻塞超时的任务 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8" name="右大括号 7"/>
          <p:cNvSpPr/>
          <p:nvPr/>
        </p:nvSpPr>
        <p:spPr>
          <a:xfrm>
            <a:off x="6102985" y="2116138"/>
            <a:ext cx="220663" cy="6683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285" name="文本框 13"/>
          <p:cNvSpPr txBox="1"/>
          <p:nvPr/>
        </p:nvSpPr>
        <p:spPr>
          <a:xfrm>
            <a:off x="1627823" y="2547938"/>
            <a:ext cx="4535487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、入口参数输入需要删除的任务句柄（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NULL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代表删除本身）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cxnSp>
        <p:nvCxnSpPr>
          <p:cNvPr id="10" name="直接连接符 9"/>
          <p:cNvCxnSpPr/>
          <p:nvPr/>
        </p:nvCxnSpPr>
        <p:spPr>
          <a:xfrm flipH="1" flipV="1">
            <a:off x="1619885" y="2116138"/>
            <a:ext cx="4533900" cy="952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H="1" flipV="1">
            <a:off x="1627823" y="2782888"/>
            <a:ext cx="4535488" cy="952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右大括号 28"/>
          <p:cNvSpPr/>
          <p:nvPr/>
        </p:nvSpPr>
        <p:spPr>
          <a:xfrm>
            <a:off x="9582785" y="3168650"/>
            <a:ext cx="220663" cy="22733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32" name="直接连接符 31"/>
          <p:cNvCxnSpPr/>
          <p:nvPr/>
        </p:nvCxnSpPr>
        <p:spPr>
          <a:xfrm flipH="1" flipV="1">
            <a:off x="1619885" y="3136900"/>
            <a:ext cx="7962900" cy="317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 flipH="1" flipV="1">
            <a:off x="1619885" y="5410200"/>
            <a:ext cx="7962900" cy="317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291" name="文本框 16"/>
          <p:cNvSpPr txBox="1"/>
          <p:nvPr/>
        </p:nvSpPr>
        <p:spPr>
          <a:xfrm>
            <a:off x="6299835" y="2327275"/>
            <a:ext cx="1416050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用起来只要这两步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292" name="文本框 35"/>
          <p:cNvSpPr txBox="1"/>
          <p:nvPr/>
        </p:nvSpPr>
        <p:spPr>
          <a:xfrm>
            <a:off x="9814560" y="3808413"/>
            <a:ext cx="368300" cy="1014412"/>
          </a:xfrm>
          <a:prstGeom prst="rect">
            <a:avLst/>
          </a:prstGeom>
          <a:noFill/>
          <a:ln w="9525">
            <a:noFill/>
          </a:ln>
        </p:spPr>
        <p:txBody>
          <a:bodyPr vert="eaVert"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内部实现过程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2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1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73" grpId="0"/>
      <p:bldP spid="20" grpId="0" bldLvl="0" animBg="1"/>
      <p:bldP spid="21" grpId="0" bldLvl="0" animBg="1"/>
      <p:bldP spid="22" grpId="0" bldLvl="0" animBg="1"/>
      <p:bldP spid="24" grpId="0" bldLvl="0" animBg="1"/>
      <p:bldP spid="11278" grpId="0"/>
      <p:bldP spid="11279" grpId="0"/>
      <p:bldP spid="11280" grpId="0"/>
      <p:bldP spid="11281" grpId="0"/>
      <p:bldP spid="7" grpId="0" bldLvl="0" animBg="1"/>
      <p:bldP spid="11283" grpId="0"/>
      <p:bldP spid="8" grpId="0" bldLvl="0" animBg="1"/>
      <p:bldP spid="11285" grpId="0"/>
      <p:bldP spid="29" grpId="0" bldLvl="0" animBg="1"/>
      <p:bldP spid="11291" grpId="0"/>
      <p:bldP spid="1129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0" name="文本框 9"/>
          <p:cNvSpPr txBox="1"/>
          <p:nvPr/>
        </p:nvSpPr>
        <p:spPr>
          <a:xfrm>
            <a:off x="1367473" y="152273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任务创建和删除（动态方法）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702435" y="2256155"/>
            <a:ext cx="424688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600" kern="1200" cap="none" spc="0" normalizeH="0" baseline="0" noProof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xTaskCreate</a:t>
            </a:r>
            <a:r>
              <a:rPr kumimoji="0" lang="en-US" altLang="zh-CN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( )</a:t>
            </a:r>
            <a:r>
              <a:rPr kumimoji="0" lang="zh-CN" altLang="en-US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  和 </a:t>
            </a:r>
            <a:r>
              <a:rPr kumimoji="0" lang="en-US" altLang="zh-CN" sz="1600" kern="0" cap="none" spc="0" normalizeH="0" baseline="0" noProof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vTaskDelete</a:t>
            </a:r>
            <a:r>
              <a:rPr kumimoji="0" lang="en-US" altLang="zh-CN" sz="1600" kern="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( ) </a:t>
            </a:r>
            <a:r>
              <a:rPr kumimoji="0" lang="zh-CN" altLang="en-US" sz="1600" kern="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的使用</a:t>
            </a:r>
            <a:endParaRPr kumimoji="0" lang="zh-CN" altLang="en-US" sz="16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322" name="文本框 6"/>
          <p:cNvSpPr txBox="1"/>
          <p:nvPr/>
        </p:nvSpPr>
        <p:spPr>
          <a:xfrm>
            <a:off x="1702435" y="2883218"/>
            <a:ext cx="6894513" cy="33718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设计四个任务：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start_task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endParaRPr lang="zh-CN" altLang="en-US" sz="16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8" name="矩形: 圆角 7"/>
          <p:cNvSpPr/>
          <p:nvPr/>
        </p:nvSpPr>
        <p:spPr>
          <a:xfrm>
            <a:off x="2023110" y="3715068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start_task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2023110" y="4248468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2023110" y="4812030"/>
            <a:ext cx="1417638" cy="33813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326" name="文本框 12"/>
          <p:cNvSpPr txBox="1"/>
          <p:nvPr/>
        </p:nvSpPr>
        <p:spPr>
          <a:xfrm>
            <a:off x="1989773" y="3326130"/>
            <a:ext cx="2236787" cy="33813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四个任务的功能如下：</a:t>
            </a:r>
            <a:endParaRPr lang="zh-CN" altLang="en-US" sz="16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327" name="文本框 13"/>
          <p:cNvSpPr txBox="1"/>
          <p:nvPr/>
        </p:nvSpPr>
        <p:spPr>
          <a:xfrm>
            <a:off x="3447098" y="3734118"/>
            <a:ext cx="215900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用来创建其他的三个任务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328" name="文本框 22"/>
          <p:cNvSpPr txBox="1"/>
          <p:nvPr/>
        </p:nvSpPr>
        <p:spPr>
          <a:xfrm>
            <a:off x="3447098" y="4264343"/>
            <a:ext cx="24034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LED0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每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500ms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闪烁一次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329" name="文本框 23"/>
          <p:cNvSpPr txBox="1"/>
          <p:nvPr/>
        </p:nvSpPr>
        <p:spPr>
          <a:xfrm>
            <a:off x="3447098" y="4827905"/>
            <a:ext cx="24034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LED1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每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500ms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闪烁一次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6" name="矩形: 圆角 25"/>
          <p:cNvSpPr/>
          <p:nvPr/>
        </p:nvSpPr>
        <p:spPr>
          <a:xfrm>
            <a:off x="2029460" y="5324793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331" name="文本框 27"/>
          <p:cNvSpPr txBox="1"/>
          <p:nvPr/>
        </p:nvSpPr>
        <p:spPr>
          <a:xfrm>
            <a:off x="3447098" y="5340668"/>
            <a:ext cx="3551237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判断按键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KEY0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是否按下，按下则删掉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3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3322" grpId="0"/>
      <p:bldP spid="8" grpId="0" bldLvl="0" animBg="1"/>
      <p:bldP spid="18" grpId="0" bldLvl="0" animBg="1"/>
      <p:bldP spid="19" grpId="0" bldLvl="0" animBg="1"/>
      <p:bldP spid="13326" grpId="0"/>
      <p:bldP spid="13327" grpId="0"/>
      <p:bldP spid="13328" grpId="0"/>
      <p:bldP spid="13329" grpId="0"/>
      <p:bldP spid="26" grpId="0" bldLvl="0" animBg="1"/>
      <p:bldP spid="1333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9"/>
          <p:cNvSpPr txBox="1"/>
          <p:nvPr/>
        </p:nvSpPr>
        <p:spPr>
          <a:xfrm>
            <a:off x="1991043" y="1335405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任务创建和删除（动态方法）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4" name="左大括号 13"/>
          <p:cNvSpPr/>
          <p:nvPr/>
        </p:nvSpPr>
        <p:spPr>
          <a:xfrm>
            <a:off x="4134168" y="2208530"/>
            <a:ext cx="223838" cy="1911350"/>
          </a:xfrm>
          <a:prstGeom prst="leftBrace">
            <a:avLst>
              <a:gd name="adj1" fmla="val 8333"/>
              <a:gd name="adj2" fmla="val 4744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5" name="矩形: 圆角 33"/>
          <p:cNvSpPr/>
          <p:nvPr/>
        </p:nvSpPr>
        <p:spPr>
          <a:xfrm>
            <a:off x="4791393" y="2157730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[31]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6" name="矩形: 圆角 34"/>
          <p:cNvSpPr/>
          <p:nvPr/>
        </p:nvSpPr>
        <p:spPr>
          <a:xfrm>
            <a:off x="4791393" y="2510155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[30]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7" name="矩形: 圆角 35"/>
          <p:cNvSpPr/>
          <p:nvPr/>
        </p:nvSpPr>
        <p:spPr>
          <a:xfrm>
            <a:off x="4791393" y="3569018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[1]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36"/>
          <p:cNvSpPr/>
          <p:nvPr/>
        </p:nvSpPr>
        <p:spPr>
          <a:xfrm>
            <a:off x="4791393" y="2864168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[29]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37"/>
          <p:cNvSpPr/>
          <p:nvPr/>
        </p:nvSpPr>
        <p:spPr>
          <a:xfrm>
            <a:off x="4791393" y="3916680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[0]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0" name="矩形: 圆角 38"/>
          <p:cNvSpPr/>
          <p:nvPr/>
        </p:nvSpPr>
        <p:spPr>
          <a:xfrm>
            <a:off x="4791393" y="3208655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… …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4411980" y="2159318"/>
            <a:ext cx="307975" cy="1984375"/>
          </a:xfrm>
          <a:prstGeom prst="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22" name="直接连接符 21"/>
          <p:cNvCxnSpPr/>
          <p:nvPr/>
        </p:nvCxnSpPr>
        <p:spPr>
          <a:xfrm>
            <a:off x="4411980" y="2424430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>
            <a:off x="4411980" y="2721293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>
            <a:off x="4411980" y="3081655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>
            <a:off x="4411980" y="3461068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>
            <a:off x="4411980" y="3845243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4351655" y="2179955"/>
            <a:ext cx="427038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bit31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351655" y="2478405"/>
            <a:ext cx="427038" cy="2301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bit30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351655" y="2807018"/>
            <a:ext cx="427038" cy="23018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bit29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377055" y="3168968"/>
            <a:ext cx="377825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… …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4381818" y="3561080"/>
            <a:ext cx="368300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bit1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4381818" y="3897630"/>
            <a:ext cx="368300" cy="2301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bit0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52" name="文本框 1"/>
          <p:cNvSpPr txBox="1"/>
          <p:nvPr/>
        </p:nvSpPr>
        <p:spPr>
          <a:xfrm>
            <a:off x="2430780" y="2967355"/>
            <a:ext cx="1620838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就绪列表的初始化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ldLvl="0" animBg="1"/>
      <p:bldP spid="15" grpId="0" bldLvl="0" animBg="1"/>
      <p:bldP spid="16" grpId="0" bldLvl="0" animBg="1"/>
      <p:bldP spid="17" grpId="0" bldLvl="0" animBg="1"/>
      <p:bldP spid="18" grpId="0" bldLvl="0" animBg="1"/>
      <p:bldP spid="19" grpId="0" bldLvl="0" animBg="1"/>
      <p:bldP spid="20" grpId="0" bldLvl="0" animBg="1"/>
      <p:bldP spid="21" grpId="0" bldLvl="0" animBg="1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2" name="文本框 9"/>
          <p:cNvSpPr txBox="1"/>
          <p:nvPr/>
        </p:nvSpPr>
        <p:spPr>
          <a:xfrm>
            <a:off x="1665923" y="125476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任务创建和删除（静态方法）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000885" y="1988185"/>
            <a:ext cx="536448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en-US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学会 </a:t>
            </a:r>
            <a:r>
              <a:rPr kumimoji="0" lang="en-US" altLang="zh-CN" sz="1600" kern="1200" cap="none" spc="0" normalizeH="0" baseline="0" noProof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xTaskCreateStatic</a:t>
            </a:r>
            <a:r>
              <a:rPr kumimoji="0" lang="en-US" altLang="zh-CN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( )</a:t>
            </a:r>
            <a:r>
              <a:rPr kumimoji="0" lang="zh-CN" altLang="en-US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  和 </a:t>
            </a:r>
            <a:r>
              <a:rPr kumimoji="0" lang="en-US" altLang="zh-CN" sz="1600" kern="0" cap="none" spc="0" normalizeH="0" baseline="0" noProof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vTaskDelete</a:t>
            </a:r>
            <a:r>
              <a:rPr kumimoji="0" lang="en-US" altLang="zh-CN" sz="1600" kern="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( ) </a:t>
            </a:r>
            <a:r>
              <a:rPr kumimoji="0" lang="zh-CN" altLang="en-US" sz="1600" kern="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的使用</a:t>
            </a:r>
            <a:endParaRPr kumimoji="0" lang="zh-CN" altLang="en-US" sz="16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5370" name="文本框 6"/>
          <p:cNvSpPr txBox="1"/>
          <p:nvPr/>
        </p:nvSpPr>
        <p:spPr>
          <a:xfrm>
            <a:off x="2000885" y="2615248"/>
            <a:ext cx="6894513" cy="33718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设计四个任务：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start_task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endParaRPr lang="zh-CN" altLang="en-US" sz="16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8" name="矩形: 圆角 7"/>
          <p:cNvSpPr/>
          <p:nvPr/>
        </p:nvSpPr>
        <p:spPr>
          <a:xfrm>
            <a:off x="2321560" y="3447098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start_task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2321560" y="3980498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2321560" y="4544060"/>
            <a:ext cx="1417638" cy="33813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5374" name="文本框 12"/>
          <p:cNvSpPr txBox="1"/>
          <p:nvPr/>
        </p:nvSpPr>
        <p:spPr>
          <a:xfrm>
            <a:off x="2288223" y="3058160"/>
            <a:ext cx="2236787" cy="33813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四个任务的功能如下：</a:t>
            </a:r>
            <a:endParaRPr lang="zh-CN" altLang="en-US" sz="16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375" name="文本框 13"/>
          <p:cNvSpPr txBox="1"/>
          <p:nvPr/>
        </p:nvSpPr>
        <p:spPr>
          <a:xfrm>
            <a:off x="3745548" y="3466148"/>
            <a:ext cx="215900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用来创建其他的三个任务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376" name="文本框 22"/>
          <p:cNvSpPr txBox="1"/>
          <p:nvPr/>
        </p:nvSpPr>
        <p:spPr>
          <a:xfrm>
            <a:off x="3745548" y="3996373"/>
            <a:ext cx="24034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LED0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每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500ms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闪烁一次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377" name="文本框 23"/>
          <p:cNvSpPr txBox="1"/>
          <p:nvPr/>
        </p:nvSpPr>
        <p:spPr>
          <a:xfrm>
            <a:off x="3745548" y="4559935"/>
            <a:ext cx="24034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LED1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每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500ms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闪烁一次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6" name="矩形: 圆角 25"/>
          <p:cNvSpPr/>
          <p:nvPr/>
        </p:nvSpPr>
        <p:spPr>
          <a:xfrm>
            <a:off x="2327910" y="5056823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5379" name="文本框 27"/>
          <p:cNvSpPr txBox="1"/>
          <p:nvPr/>
        </p:nvSpPr>
        <p:spPr>
          <a:xfrm>
            <a:off x="3745548" y="5072698"/>
            <a:ext cx="3551237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判断按键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KEY0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是否按下，按下则删掉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3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3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3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3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5370" grpId="0"/>
      <p:bldP spid="8" grpId="0" bldLvl="0" animBg="1"/>
      <p:bldP spid="18" grpId="0" bldLvl="0" animBg="1"/>
      <p:bldP spid="19" grpId="0" bldLvl="0" animBg="1"/>
      <p:bldP spid="15374" grpId="0"/>
      <p:bldP spid="15375" grpId="0"/>
      <p:bldP spid="15376" grpId="0"/>
      <p:bldP spid="15377" grpId="0"/>
      <p:bldP spid="26" grpId="0" bldLvl="0" animBg="1"/>
      <p:bldP spid="1537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6" name="文本框 9"/>
          <p:cNvSpPr txBox="1"/>
          <p:nvPr/>
        </p:nvSpPr>
        <p:spPr>
          <a:xfrm>
            <a:off x="1501775" y="1689100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任务挂起函数内部实现</a:t>
            </a:r>
            <a:endParaRPr lang="zh-CN" altLang="en-US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20" name="矩形: 圆角 19"/>
          <p:cNvSpPr/>
          <p:nvPr>
            <p:custDataLst>
              <p:tags r:id="rId1"/>
            </p:custDataLst>
          </p:nvPr>
        </p:nvSpPr>
        <p:spPr>
          <a:xfrm>
            <a:off x="1663700" y="2998788"/>
            <a:ext cx="26320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、移除所在列表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4" name="矩形: 圆角 23"/>
          <p:cNvSpPr/>
          <p:nvPr>
            <p:custDataLst>
              <p:tags r:id="rId2"/>
            </p:custDataLst>
          </p:nvPr>
        </p:nvSpPr>
        <p:spPr>
          <a:xfrm>
            <a:off x="1654175" y="2470150"/>
            <a:ext cx="26416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、获取所要挂起任务的控制块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3" name="矩形: 圆角 22"/>
          <p:cNvSpPr/>
          <p:nvPr>
            <p:custDataLst>
              <p:tags r:id="rId3"/>
            </p:custDataLst>
          </p:nvPr>
        </p:nvSpPr>
        <p:spPr>
          <a:xfrm>
            <a:off x="1668463" y="4057650"/>
            <a:ext cx="262255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4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、判断任务调度器是否运行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7" name="矩形: 圆角 26"/>
          <p:cNvSpPr/>
          <p:nvPr>
            <p:custDataLst>
              <p:tags r:id="rId4"/>
            </p:custDataLst>
          </p:nvPr>
        </p:nvSpPr>
        <p:spPr>
          <a:xfrm>
            <a:off x="1654175" y="3529013"/>
            <a:ext cx="26320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、插入挂起任务列表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2301" name="文本框 29"/>
          <p:cNvSpPr txBox="1"/>
          <p:nvPr>
            <p:custDataLst>
              <p:tags r:id="rId5"/>
            </p:custDataLst>
          </p:nvPr>
        </p:nvSpPr>
        <p:spPr>
          <a:xfrm>
            <a:off x="4286250" y="2478088"/>
            <a:ext cx="5741988" cy="27559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通过传入的任务句柄，判断所需要挂起哪个任务，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NULL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代表挂起自身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302" name="文本框 33"/>
          <p:cNvSpPr txBox="1"/>
          <p:nvPr>
            <p:custDataLst>
              <p:tags r:id="rId6"/>
            </p:custDataLst>
          </p:nvPr>
        </p:nvSpPr>
        <p:spPr>
          <a:xfrm>
            <a:off x="4260850" y="3000375"/>
            <a:ext cx="6069013" cy="27559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将要挂起的任务从相应的状态列表和事件列表中移除（就绪或阻塞列表）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303" name="文本框 35"/>
          <p:cNvSpPr txBox="1"/>
          <p:nvPr>
            <p:custDataLst>
              <p:tags r:id="rId7"/>
            </p:custDataLst>
          </p:nvPr>
        </p:nvSpPr>
        <p:spPr>
          <a:xfrm>
            <a:off x="4260850" y="3524250"/>
            <a:ext cx="5248275" cy="27559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将待挂起任务的任务状态列表向插入到挂起态任务列表末尾 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304" name="文本框 36"/>
          <p:cNvSpPr txBox="1"/>
          <p:nvPr>
            <p:custDataLst>
              <p:tags r:id="rId8"/>
            </p:custDataLst>
          </p:nvPr>
        </p:nvSpPr>
        <p:spPr>
          <a:xfrm>
            <a:off x="4260850" y="4046538"/>
            <a:ext cx="5900738" cy="33083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在运行，更新下一次阻塞时间，防止被挂起任务为下一次阻塞超时任务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8" name="矩形: 圆角 37"/>
          <p:cNvSpPr/>
          <p:nvPr>
            <p:custDataLst>
              <p:tags r:id="rId9"/>
            </p:custDataLst>
          </p:nvPr>
        </p:nvSpPr>
        <p:spPr>
          <a:xfrm>
            <a:off x="1674813" y="4608513"/>
            <a:ext cx="2624138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5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、判断待挂起任务是否为当前任务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2306" name="文本框 38"/>
          <p:cNvSpPr txBox="1"/>
          <p:nvPr>
            <p:custDataLst>
              <p:tags r:id="rId10"/>
            </p:custDataLst>
          </p:nvPr>
        </p:nvSpPr>
        <p:spPr>
          <a:xfrm>
            <a:off x="4310063" y="4557713"/>
            <a:ext cx="5532437" cy="27559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如果挂起的是任务自身，且调度器正在运行，需要进行一次任务切换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307" name="文本框 39"/>
          <p:cNvSpPr txBox="1"/>
          <p:nvPr/>
        </p:nvSpPr>
        <p:spPr>
          <a:xfrm>
            <a:off x="4286250" y="4795838"/>
            <a:ext cx="5908675" cy="5540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调度器没有运行，判断挂起任务数是否等于任务总数，是：当前控制块赋值为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NULL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，否：寻找下一个最高优先级任务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0" name="文本框 9"/>
          <p:cNvSpPr txBox="1"/>
          <p:nvPr/>
        </p:nvSpPr>
        <p:spPr>
          <a:xfrm>
            <a:off x="2053590" y="1304290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任务恢复函数内部实现</a:t>
            </a:r>
            <a:endParaRPr lang="zh-CN" altLang="en-US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20" name="矩形: 圆角 19"/>
          <p:cNvSpPr/>
          <p:nvPr/>
        </p:nvSpPr>
        <p:spPr>
          <a:xfrm>
            <a:off x="2163128" y="2660015"/>
            <a:ext cx="2717800" cy="3206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、判断任务是否在挂起列表中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4" name="矩形: 圆角 23"/>
          <p:cNvSpPr/>
          <p:nvPr/>
        </p:nvSpPr>
        <p:spPr>
          <a:xfrm>
            <a:off x="2153603" y="2131378"/>
            <a:ext cx="2727325" cy="3206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、恢复任务不能是正在运行任务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7" name="矩形: 圆角 26"/>
          <p:cNvSpPr/>
          <p:nvPr/>
        </p:nvSpPr>
        <p:spPr>
          <a:xfrm>
            <a:off x="2153603" y="3188653"/>
            <a:ext cx="2717800" cy="3206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、判断恢复任务优先级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324" name="文本框 33"/>
          <p:cNvSpPr txBox="1"/>
          <p:nvPr/>
        </p:nvSpPr>
        <p:spPr>
          <a:xfrm>
            <a:off x="4876165" y="2675890"/>
            <a:ext cx="4899025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是：就会将该任务在挂起列表中移除， 将该任务添加到就绪列表中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325" name="文本框 35"/>
          <p:cNvSpPr txBox="1"/>
          <p:nvPr/>
        </p:nvSpPr>
        <p:spPr>
          <a:xfrm>
            <a:off x="4868228" y="3233103"/>
            <a:ext cx="4906962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判断恢复的任务优先级是否大于当前正在运行的 是的话执行任务切换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/>
          <p:cNvSpPr>
            <a:spLocks noGrp="1" noChangeArrowheads="1"/>
          </p:cNvSpPr>
          <p:nvPr>
            <p:ph type="subTitle" idx="1"/>
          </p:nvPr>
        </p:nvSpPr>
        <p:spPr>
          <a:xfrm>
            <a:off x="380912" y="716361"/>
            <a:ext cx="11542029" cy="6743065"/>
          </a:xfrm>
        </p:spPr>
        <p:txBody>
          <a:bodyPr/>
          <a:lstStyle/>
          <a:p>
            <a:pPr algn="l"/>
            <a:r>
              <a:rPr lang="zh-CN" altLang="en-US" sz="1400" b="1" dirty="0"/>
              <a:t>最高优先级</a:t>
            </a:r>
            <a:r>
              <a:rPr lang="en-US" altLang="zh-CN" sz="1400" b="1" dirty="0"/>
              <a:t> (Highest Priority - </a:t>
            </a:r>
            <a:r>
              <a:rPr lang="zh-CN" altLang="en-US" sz="1400" b="1" dirty="0"/>
              <a:t>时间关键</a:t>
            </a:r>
            <a:r>
              <a:rPr lang="en-US" altLang="zh-CN" sz="1400" b="1" dirty="0"/>
              <a:t>/</a:t>
            </a:r>
            <a:r>
              <a:rPr lang="zh-CN" altLang="en-US" sz="1400" b="1" dirty="0"/>
              <a:t>实时响应</a:t>
            </a:r>
            <a:r>
              <a:rPr lang="en-US" altLang="zh-CN" sz="1400" b="1" dirty="0"/>
              <a:t>)</a:t>
            </a:r>
            <a:r>
              <a:rPr lang="zh-CN" altLang="en-US" sz="1400" b="1" dirty="0"/>
              <a:t>：</a:t>
            </a:r>
            <a:endParaRPr lang="zh-CN" altLang="en-US" sz="1400" dirty="0"/>
          </a:p>
          <a:p>
            <a:pPr algn="l"/>
            <a:r>
              <a:rPr lang="zh-CN" altLang="en-US" sz="1400" dirty="0"/>
              <a:t>优先级数值：</a:t>
            </a:r>
            <a:r>
              <a:rPr lang="en-US" altLang="zh-CN" sz="1400" dirty="0"/>
              <a:t> </a:t>
            </a:r>
            <a:r>
              <a:rPr lang="zh-CN" altLang="en-US" sz="1400" dirty="0"/>
              <a:t>通常是配置允许的最高值</a:t>
            </a:r>
            <a:r>
              <a:rPr lang="en-US" altLang="zh-CN" sz="1400" dirty="0"/>
              <a:t> (</a:t>
            </a:r>
            <a:r>
              <a:rPr lang="zh-CN" altLang="en-US" sz="1400" dirty="0"/>
              <a:t>例如</a:t>
            </a:r>
            <a:r>
              <a:rPr lang="en-US" altLang="zh-CN" sz="1400" dirty="0"/>
              <a:t> </a:t>
            </a:r>
            <a:r>
              <a:rPr lang="en-US" altLang="zh-CN" sz="1400" dirty="0" err="1"/>
              <a:t>configMAX_PRIORITIES</a:t>
            </a:r>
            <a:r>
              <a:rPr lang="en-US" altLang="zh-CN" sz="1400" dirty="0"/>
              <a:t> - 1)</a:t>
            </a:r>
            <a:r>
              <a:rPr lang="zh-CN" altLang="en-US" sz="1400" dirty="0"/>
              <a:t>。</a:t>
            </a:r>
            <a:endParaRPr lang="zh-CN" altLang="en-US" sz="1400" dirty="0"/>
          </a:p>
          <a:p>
            <a:pPr algn="l"/>
            <a:r>
              <a:rPr lang="zh-CN" altLang="en-US" sz="1400" dirty="0"/>
              <a:t>功能角色：</a:t>
            </a:r>
            <a:endParaRPr lang="zh-CN" altLang="en-US" sz="1400" dirty="0"/>
          </a:p>
          <a:p>
            <a:pPr lvl="1" algn="l"/>
            <a:r>
              <a:rPr lang="zh-CN" altLang="en-US" sz="1400" dirty="0"/>
              <a:t>硬实时任务：</a:t>
            </a:r>
            <a:r>
              <a:rPr lang="en-US" altLang="zh-CN" sz="1400" dirty="0"/>
              <a:t> </a:t>
            </a:r>
            <a:r>
              <a:rPr lang="zh-CN" altLang="en-US" sz="1400" dirty="0"/>
              <a:t>对截止时间有严格要求，错过会导致系统失败的任务（如电机控制、安全关键状态监测）。</a:t>
            </a:r>
            <a:endParaRPr lang="zh-CN" altLang="en-US" sz="1400" dirty="0"/>
          </a:p>
          <a:p>
            <a:pPr lvl="1" algn="l"/>
            <a:r>
              <a:rPr lang="zh-CN" altLang="en-US" sz="1400" dirty="0"/>
              <a:t>中断延迟任务</a:t>
            </a:r>
            <a:r>
              <a:rPr lang="en-US" altLang="zh-CN" sz="1400" dirty="0"/>
              <a:t> (Deferred Interrupt Processing)</a:t>
            </a:r>
            <a:r>
              <a:rPr lang="zh-CN" altLang="en-US" sz="1400" dirty="0"/>
              <a:t>：</a:t>
            </a:r>
            <a:r>
              <a:rPr lang="en-US" altLang="zh-CN" sz="1400" dirty="0"/>
              <a:t> </a:t>
            </a:r>
            <a:r>
              <a:rPr lang="zh-CN" altLang="en-US" sz="1400" dirty="0"/>
              <a:t>由中断服务程序</a:t>
            </a:r>
            <a:r>
              <a:rPr lang="en-US" altLang="zh-CN" sz="1400" dirty="0"/>
              <a:t> (ISR) </a:t>
            </a:r>
            <a:r>
              <a:rPr lang="zh-CN" altLang="en-US" sz="1400" dirty="0"/>
              <a:t>唤醒，用于处理耗时较长或需要调用非</a:t>
            </a:r>
            <a:r>
              <a:rPr lang="en-US" altLang="zh-CN" sz="1400" dirty="0"/>
              <a:t> ISR </a:t>
            </a:r>
            <a:r>
              <a:rPr lang="zh-CN" altLang="en-US" sz="1400" dirty="0"/>
              <a:t>安全</a:t>
            </a:r>
            <a:r>
              <a:rPr lang="en-US" altLang="zh-CN" sz="1400" dirty="0"/>
              <a:t> API </a:t>
            </a:r>
            <a:r>
              <a:rPr lang="zh-CN" altLang="en-US" sz="1400" dirty="0"/>
              <a:t>的中断后续工作。它们必须能抢占几乎所有其他任务，以确保快速响应中断事件。</a:t>
            </a:r>
            <a:endParaRPr lang="zh-CN" altLang="en-US" sz="1400" dirty="0"/>
          </a:p>
          <a:p>
            <a:pPr lvl="1" algn="l"/>
            <a:r>
              <a:rPr lang="zh-CN" altLang="en-US" sz="1400" dirty="0"/>
              <a:t>系统关键任务：</a:t>
            </a:r>
            <a:r>
              <a:rPr lang="en-US" altLang="zh-CN" sz="1400" dirty="0"/>
              <a:t> </a:t>
            </a:r>
            <a:r>
              <a:rPr lang="zh-CN" altLang="en-US" sz="1400" dirty="0"/>
              <a:t>如某些通信协议栈的实时处理层、高优先级事件分发任务。</a:t>
            </a:r>
            <a:endParaRPr lang="zh-CN" altLang="en-US" sz="1400" dirty="0"/>
          </a:p>
          <a:p>
            <a:pPr algn="l"/>
            <a:r>
              <a:rPr lang="zh-CN" altLang="en-US" sz="1400" dirty="0"/>
              <a:t>特点：</a:t>
            </a:r>
            <a:r>
              <a:rPr lang="en-US" altLang="zh-CN" sz="1400" dirty="0"/>
              <a:t> </a:t>
            </a:r>
            <a:r>
              <a:rPr lang="zh-CN" altLang="en-US" sz="1400" dirty="0"/>
              <a:t>数量通常很少。一旦就绪，会立即抢占所有低优先级任务运行。执行时间应尽可能短。</a:t>
            </a:r>
            <a:endParaRPr lang="zh-CN" altLang="en-US" sz="1400" dirty="0"/>
          </a:p>
          <a:p>
            <a:pPr algn="l"/>
            <a:endParaRPr lang="en-US" altLang="zh-CN" sz="1400" dirty="0"/>
          </a:p>
          <a:p>
            <a:pPr algn="l"/>
            <a:r>
              <a:rPr lang="zh-CN" altLang="en-US" sz="1400" b="1" dirty="0"/>
              <a:t>高</a:t>
            </a:r>
            <a:r>
              <a:rPr lang="en-US" altLang="zh-CN" sz="1400" b="1" dirty="0"/>
              <a:t>/</a:t>
            </a:r>
            <a:r>
              <a:rPr lang="zh-CN" altLang="en-US" sz="1400" b="1" dirty="0"/>
              <a:t>中高优先级</a:t>
            </a:r>
            <a:r>
              <a:rPr lang="en-US" altLang="zh-CN" sz="1400" b="1" dirty="0"/>
              <a:t> (High/Medium-High Priority - </a:t>
            </a:r>
            <a:r>
              <a:rPr lang="zh-CN" altLang="en-US" sz="1400" b="1" dirty="0"/>
              <a:t>重要功能</a:t>
            </a:r>
            <a:r>
              <a:rPr lang="en-US" altLang="zh-CN" sz="1400" b="1" dirty="0"/>
              <a:t>/</a:t>
            </a:r>
            <a:r>
              <a:rPr lang="zh-CN" altLang="en-US" sz="1400" b="1" dirty="0"/>
              <a:t>及时响应</a:t>
            </a:r>
            <a:r>
              <a:rPr lang="en-US" altLang="zh-CN" sz="1400" b="1" dirty="0"/>
              <a:t>)</a:t>
            </a:r>
            <a:r>
              <a:rPr lang="zh-CN" altLang="en-US" sz="1400" b="1" dirty="0"/>
              <a:t>：</a:t>
            </a:r>
            <a:endParaRPr lang="zh-CN" altLang="en-US" sz="1400" b="1" dirty="0"/>
          </a:p>
          <a:p>
            <a:pPr algn="l"/>
            <a:r>
              <a:rPr lang="zh-CN" altLang="en-US" sz="1400" dirty="0"/>
              <a:t>优先级数值：</a:t>
            </a:r>
            <a:r>
              <a:rPr lang="en-US" altLang="zh-CN" sz="1400" dirty="0"/>
              <a:t> </a:t>
            </a:r>
            <a:r>
              <a:rPr lang="zh-CN" altLang="en-US" sz="1400" dirty="0"/>
              <a:t>介于最高优先级和普通优先级之间，数值相对较高。</a:t>
            </a:r>
            <a:endParaRPr lang="zh-CN" altLang="en-US" sz="1400" dirty="0"/>
          </a:p>
          <a:p>
            <a:pPr algn="l"/>
            <a:r>
              <a:rPr lang="zh-CN" altLang="en-US" sz="1400" dirty="0"/>
              <a:t>功能角色：</a:t>
            </a:r>
            <a:endParaRPr lang="zh-CN" altLang="en-US" sz="1400" dirty="0"/>
          </a:p>
          <a:p>
            <a:pPr lvl="1" algn="l"/>
            <a:r>
              <a:rPr lang="zh-CN" altLang="en-US" sz="1400" dirty="0"/>
              <a:t>软实时任务：</a:t>
            </a:r>
            <a:r>
              <a:rPr lang="en-US" altLang="zh-CN" sz="1400" dirty="0"/>
              <a:t> </a:t>
            </a:r>
            <a:r>
              <a:rPr lang="zh-CN" altLang="en-US" sz="1400" dirty="0"/>
              <a:t>有响应时间要求，但偶尔错过截止时间不会导致灾难性后果的任务（如用户界面刷新、非关键传感器数据处理、中等速度的通信协议处理）。</a:t>
            </a:r>
            <a:endParaRPr lang="zh-CN" altLang="en-US" sz="1400" dirty="0"/>
          </a:p>
          <a:p>
            <a:pPr lvl="1" algn="l"/>
            <a:r>
              <a:rPr lang="zh-CN" altLang="en-US" sz="1400" dirty="0"/>
              <a:t>重要的业务流程任务：</a:t>
            </a:r>
            <a:r>
              <a:rPr lang="en-US" altLang="zh-CN" sz="1400" dirty="0"/>
              <a:t> </a:t>
            </a:r>
            <a:r>
              <a:rPr lang="zh-CN" altLang="en-US" sz="1400" dirty="0"/>
              <a:t>执行系统核心功能链中较关键环节的任务。</a:t>
            </a:r>
            <a:endParaRPr lang="zh-CN" altLang="en-US" sz="1400" dirty="0"/>
          </a:p>
          <a:p>
            <a:pPr lvl="1" algn="l"/>
            <a:r>
              <a:rPr lang="zh-CN" altLang="en-US" sz="1400" dirty="0"/>
              <a:t>事件驱动任务：</a:t>
            </a:r>
            <a:r>
              <a:rPr lang="en-US" altLang="zh-CN" sz="1400" dirty="0"/>
              <a:t> </a:t>
            </a:r>
            <a:r>
              <a:rPr lang="zh-CN" altLang="en-US" sz="1400" dirty="0"/>
              <a:t>等待高优先级事件（如按键、重要消息）并需要较快响应的任务。</a:t>
            </a:r>
            <a:endParaRPr lang="zh-CN" altLang="en-US" sz="1400" dirty="0"/>
          </a:p>
          <a:p>
            <a:pPr algn="l"/>
            <a:r>
              <a:rPr lang="zh-CN" altLang="en-US" sz="1400" dirty="0"/>
              <a:t>特点：</a:t>
            </a:r>
            <a:r>
              <a:rPr lang="en-US" altLang="zh-CN" sz="1400" dirty="0"/>
              <a:t> </a:t>
            </a:r>
            <a:r>
              <a:rPr lang="zh-CN" altLang="en-US" sz="1400" dirty="0"/>
              <a:t>数量适中。能及时响应事件，抢占低优先级任务，但会被最高优先级任务抢占。执行时间需合理控制。</a:t>
            </a:r>
            <a:endParaRPr lang="zh-CN" altLang="en-US" sz="1400" dirty="0"/>
          </a:p>
          <a:p>
            <a:pPr algn="l"/>
            <a:endParaRPr lang="en-US" altLang="zh-CN" sz="1400" dirty="0"/>
          </a:p>
          <a:p>
            <a:pPr algn="l"/>
            <a:r>
              <a:rPr lang="zh-CN" altLang="en-US" sz="1400" b="1" dirty="0"/>
              <a:t>普通</a:t>
            </a:r>
            <a:r>
              <a:rPr lang="en-US" altLang="zh-CN" sz="1400" b="1" dirty="0"/>
              <a:t>/</a:t>
            </a:r>
            <a:r>
              <a:rPr lang="zh-CN" altLang="en-US" sz="1400" b="1" dirty="0"/>
              <a:t>中优先级</a:t>
            </a:r>
            <a:r>
              <a:rPr lang="en-US" altLang="zh-CN" sz="1400" b="1" dirty="0"/>
              <a:t> (Medium/Normal Priority - </a:t>
            </a:r>
            <a:r>
              <a:rPr lang="zh-CN" altLang="en-US" sz="1400" b="1" dirty="0"/>
              <a:t>常规业务逻辑</a:t>
            </a:r>
            <a:r>
              <a:rPr lang="en-US" altLang="zh-CN" sz="1400" b="1" dirty="0"/>
              <a:t>)</a:t>
            </a:r>
            <a:r>
              <a:rPr lang="zh-CN" altLang="en-US" sz="1400" b="1" dirty="0"/>
              <a:t>：</a:t>
            </a:r>
            <a:endParaRPr lang="zh-CN" altLang="en-US" sz="1400" b="1" dirty="0"/>
          </a:p>
          <a:p>
            <a:pPr algn="l"/>
            <a:r>
              <a:rPr lang="zh-CN" altLang="en-US" sz="1400" dirty="0"/>
              <a:t>优先级数值：</a:t>
            </a:r>
            <a:r>
              <a:rPr lang="en-US" altLang="zh-CN" sz="1400" dirty="0"/>
              <a:t> </a:t>
            </a:r>
            <a:r>
              <a:rPr lang="zh-CN" altLang="en-US" sz="1400" dirty="0"/>
              <a:t>在配置的优先级范围中间区域。</a:t>
            </a:r>
            <a:endParaRPr lang="zh-CN" altLang="en-US" sz="1400" dirty="0"/>
          </a:p>
          <a:p>
            <a:pPr lvl="1" algn="l"/>
            <a:r>
              <a:rPr lang="zh-CN" altLang="en-US" sz="1400" dirty="0"/>
              <a:t>功能角色：</a:t>
            </a:r>
            <a:endParaRPr lang="zh-CN" altLang="en-US" sz="1400" dirty="0"/>
          </a:p>
          <a:p>
            <a:pPr lvl="1" algn="l"/>
            <a:r>
              <a:rPr lang="zh-CN" altLang="en-US" sz="1400" dirty="0"/>
              <a:t>主要的应用程序逻辑：</a:t>
            </a:r>
            <a:r>
              <a:rPr lang="en-US" altLang="zh-CN" sz="1400" dirty="0"/>
              <a:t> </a:t>
            </a:r>
            <a:r>
              <a:rPr lang="zh-CN" altLang="en-US" sz="1400" dirty="0"/>
              <a:t>执行系统大部分常规业务处理的任务。</a:t>
            </a:r>
            <a:endParaRPr lang="zh-CN" altLang="en-US" sz="1400" dirty="0"/>
          </a:p>
          <a:p>
            <a:pPr lvl="1" algn="l"/>
            <a:r>
              <a:rPr lang="zh-CN" altLang="en-US" sz="1400" dirty="0"/>
              <a:t>后台计算</a:t>
            </a:r>
            <a:r>
              <a:rPr lang="en-US" altLang="zh-CN" sz="1400" dirty="0"/>
              <a:t>/</a:t>
            </a:r>
            <a:r>
              <a:rPr lang="zh-CN" altLang="en-US" sz="1400" dirty="0"/>
              <a:t>处理：</a:t>
            </a:r>
            <a:r>
              <a:rPr lang="en-US" altLang="zh-CN" sz="1400" dirty="0"/>
              <a:t> </a:t>
            </a:r>
            <a:r>
              <a:rPr lang="zh-CN" altLang="en-US" sz="1400" dirty="0"/>
              <a:t>不需要严格实时性，但需要持续运行的任务。</a:t>
            </a:r>
            <a:endParaRPr lang="zh-CN" altLang="en-US" sz="1400" dirty="0"/>
          </a:p>
          <a:p>
            <a:pPr lvl="1" algn="l"/>
            <a:r>
              <a:rPr lang="zh-CN" altLang="en-US" sz="1400" dirty="0"/>
              <a:t>较低速的通信处理。</a:t>
            </a:r>
            <a:endParaRPr lang="zh-CN" altLang="en-US" sz="1400" dirty="0"/>
          </a:p>
          <a:p>
            <a:pPr algn="l"/>
            <a:r>
              <a:rPr lang="zh-CN" altLang="en-US" sz="1400" dirty="0"/>
              <a:t>特点：</a:t>
            </a:r>
            <a:r>
              <a:rPr lang="en-US" altLang="zh-CN" sz="1400" dirty="0"/>
              <a:t> </a:t>
            </a:r>
            <a:r>
              <a:rPr lang="zh-CN" altLang="en-US" sz="1400" dirty="0"/>
              <a:t>通常是系统中数量最多的任务。按照调度策略（通常是时间片轮转）共享</a:t>
            </a:r>
            <a:r>
              <a:rPr lang="en-US" altLang="zh-CN" sz="1400" dirty="0"/>
              <a:t> CPU </a:t>
            </a:r>
            <a:r>
              <a:rPr lang="zh-CN" altLang="en-US" sz="1400" dirty="0"/>
              <a:t>时间。会被更高优先级的任务抢占。</a:t>
            </a:r>
            <a:endParaRPr lang="zh-CN" altLang="en-US" sz="1400" dirty="0"/>
          </a:p>
          <a:p>
            <a:pPr algn="l"/>
            <a:endParaRPr lang="en-US" altLang="zh-CN" sz="1400" dirty="0"/>
          </a:p>
          <a:p>
            <a:pPr algn="l"/>
            <a:endParaRPr lang="zh-CN" altLang="en-US" sz="1400" dirty="0"/>
          </a:p>
        </p:txBody>
      </p:sp>
    </p:spTree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/>
          <p:cNvSpPr>
            <a:spLocks noGrp="1" noChangeArrowheads="1"/>
          </p:cNvSpPr>
          <p:nvPr>
            <p:ph type="subTitle" idx="1"/>
          </p:nvPr>
        </p:nvSpPr>
        <p:spPr>
          <a:xfrm>
            <a:off x="500425" y="846935"/>
            <a:ext cx="11542029" cy="4332605"/>
          </a:xfrm>
        </p:spPr>
        <p:txBody>
          <a:bodyPr/>
          <a:lstStyle/>
          <a:p>
            <a:pPr algn="l"/>
            <a:r>
              <a:rPr lang="zh-CN" altLang="en-US" sz="1400" b="1" dirty="0">
                <a:sym typeface="+mn-ea"/>
              </a:rPr>
              <a:t>低优先级</a:t>
            </a:r>
            <a:r>
              <a:rPr altLang="zh-CN" sz="1400" b="1" dirty="0">
                <a:sym typeface="+mn-ea"/>
              </a:rPr>
              <a:t> (Low Priority - </a:t>
            </a:r>
            <a:r>
              <a:rPr lang="zh-CN" altLang="en-US" sz="1400" b="1" dirty="0">
                <a:sym typeface="+mn-ea"/>
              </a:rPr>
              <a:t>非实时</a:t>
            </a:r>
            <a:r>
              <a:rPr altLang="zh-CN" sz="1400" b="1" dirty="0">
                <a:sym typeface="+mn-ea"/>
              </a:rPr>
              <a:t>/</a:t>
            </a:r>
            <a:r>
              <a:rPr lang="zh-CN" altLang="en-US" sz="1400" b="1" dirty="0">
                <a:sym typeface="+mn-ea"/>
              </a:rPr>
              <a:t>后台任务</a:t>
            </a:r>
            <a:r>
              <a:rPr altLang="zh-CN" sz="1400" b="1" dirty="0">
                <a:sym typeface="+mn-ea"/>
              </a:rPr>
              <a:t>)</a:t>
            </a:r>
            <a:r>
              <a:rPr lang="zh-CN" altLang="en-US" sz="1400" b="1" dirty="0">
                <a:sym typeface="+mn-ea"/>
              </a:rPr>
              <a:t>：</a:t>
            </a:r>
            <a:endParaRPr lang="zh-CN" altLang="en-US" sz="1400" b="1" dirty="0"/>
          </a:p>
          <a:p>
            <a:pPr algn="l"/>
            <a:r>
              <a:rPr lang="zh-CN" altLang="en-US" sz="1400" dirty="0">
                <a:sym typeface="+mn-ea"/>
              </a:rPr>
              <a:t>优先级数值：</a:t>
            </a:r>
            <a:r>
              <a:rPr altLang="zh-CN" sz="1400" dirty="0">
                <a:sym typeface="+mn-ea"/>
              </a:rPr>
              <a:t> </a:t>
            </a:r>
            <a:r>
              <a:rPr lang="zh-CN" altLang="en-US" sz="1400" dirty="0">
                <a:sym typeface="+mn-ea"/>
              </a:rPr>
              <a:t>数值较低（接近</a:t>
            </a:r>
            <a:r>
              <a:rPr altLang="zh-CN" sz="1400" dirty="0">
                <a:sym typeface="+mn-ea"/>
              </a:rPr>
              <a:t> 0</a:t>
            </a:r>
            <a:r>
              <a:rPr lang="zh-CN" altLang="en-US" sz="1400" dirty="0">
                <a:sym typeface="+mn-ea"/>
              </a:rPr>
              <a:t>，但通常高于空闲任务）。</a:t>
            </a:r>
            <a:endParaRPr lang="zh-CN" altLang="en-US" sz="1400" dirty="0"/>
          </a:p>
          <a:p>
            <a:pPr algn="l"/>
            <a:r>
              <a:rPr lang="zh-CN" altLang="en-US" sz="1400" dirty="0">
                <a:sym typeface="+mn-ea"/>
              </a:rPr>
              <a:t>功能角色：</a:t>
            </a:r>
            <a:endParaRPr lang="zh-CN" altLang="en-US" sz="1400" dirty="0"/>
          </a:p>
          <a:p>
            <a:pPr lvl="1" algn="l"/>
            <a:r>
              <a:rPr lang="zh-CN" altLang="en-US" sz="1400" dirty="0">
                <a:sym typeface="+mn-ea"/>
              </a:rPr>
              <a:t>非实时后台任务：</a:t>
            </a:r>
            <a:r>
              <a:rPr altLang="zh-CN" sz="1400" dirty="0">
                <a:sym typeface="+mn-ea"/>
              </a:rPr>
              <a:t> </a:t>
            </a:r>
            <a:r>
              <a:rPr lang="zh-CN" altLang="en-US" sz="1400" dirty="0">
                <a:sym typeface="+mn-ea"/>
              </a:rPr>
              <a:t>如数据记录（非实时）、统计信息计算、非关键的定期自检。</a:t>
            </a:r>
            <a:endParaRPr lang="zh-CN" altLang="en-US" sz="1400" dirty="0"/>
          </a:p>
          <a:p>
            <a:pPr lvl="1" algn="l"/>
            <a:r>
              <a:rPr lang="zh-CN" altLang="en-US" sz="1400" dirty="0">
                <a:sym typeface="+mn-ea"/>
              </a:rPr>
              <a:t>低优先级事件处理：</a:t>
            </a:r>
            <a:r>
              <a:rPr altLang="zh-CN" sz="1400" dirty="0">
                <a:sym typeface="+mn-ea"/>
              </a:rPr>
              <a:t> </a:t>
            </a:r>
            <a:r>
              <a:rPr lang="zh-CN" altLang="en-US" sz="1400" dirty="0">
                <a:sym typeface="+mn-ea"/>
              </a:rPr>
              <a:t>处理不紧急的事件或消息。</a:t>
            </a:r>
            <a:endParaRPr lang="zh-CN" altLang="en-US" sz="1400" dirty="0"/>
          </a:p>
          <a:p>
            <a:pPr algn="l"/>
            <a:r>
              <a:rPr lang="zh-CN" altLang="en-US" sz="1400" dirty="0">
                <a:sym typeface="+mn-ea"/>
              </a:rPr>
              <a:t>特点：</a:t>
            </a:r>
            <a:r>
              <a:rPr altLang="zh-CN" sz="1400" dirty="0">
                <a:sym typeface="+mn-ea"/>
              </a:rPr>
              <a:t> </a:t>
            </a:r>
            <a:r>
              <a:rPr lang="zh-CN" altLang="en-US" sz="1400" dirty="0">
                <a:sym typeface="+mn-ea"/>
              </a:rPr>
              <a:t>只有在没有更高优先级任务就绪时才能运行。执行时间可以较长，对实时性要求很低。</a:t>
            </a:r>
            <a:endParaRPr lang="zh-CN" altLang="en-US" sz="1400" dirty="0"/>
          </a:p>
          <a:p>
            <a:pPr algn="l"/>
            <a:endParaRPr lang="en-US" altLang="zh-CN" sz="1400" dirty="0"/>
          </a:p>
          <a:p>
            <a:pPr algn="l"/>
            <a:r>
              <a:rPr lang="zh-CN" altLang="en-US" sz="1400" b="1" dirty="0">
                <a:sym typeface="+mn-ea"/>
              </a:rPr>
              <a:t>空闲优先级</a:t>
            </a:r>
            <a:r>
              <a:rPr altLang="zh-CN" sz="1400" b="1" dirty="0">
                <a:sym typeface="+mn-ea"/>
              </a:rPr>
              <a:t> (Idle Priority)</a:t>
            </a:r>
            <a:r>
              <a:rPr lang="zh-CN" altLang="en-US" sz="1400" b="1" dirty="0">
                <a:sym typeface="+mn-ea"/>
              </a:rPr>
              <a:t>：</a:t>
            </a:r>
            <a:endParaRPr lang="zh-CN" altLang="en-US" sz="1400" b="1" dirty="0"/>
          </a:p>
          <a:p>
            <a:pPr algn="l"/>
            <a:r>
              <a:rPr lang="zh-CN" altLang="en-US" sz="1400" dirty="0">
                <a:sym typeface="+mn-ea"/>
              </a:rPr>
              <a:t>优先级数值：</a:t>
            </a:r>
            <a:r>
              <a:rPr altLang="zh-CN" sz="1400" dirty="0">
                <a:sym typeface="+mn-ea"/>
              </a:rPr>
              <a:t> </a:t>
            </a:r>
            <a:r>
              <a:rPr lang="zh-CN" altLang="en-US" sz="1400" dirty="0">
                <a:sym typeface="+mn-ea"/>
              </a:rPr>
              <a:t>固定为</a:t>
            </a:r>
            <a:r>
              <a:rPr altLang="zh-CN" sz="1400" dirty="0">
                <a:sym typeface="+mn-ea"/>
              </a:rPr>
              <a:t> 0</a:t>
            </a:r>
            <a:r>
              <a:rPr lang="zh-CN" altLang="en-US" sz="1400" dirty="0">
                <a:sym typeface="+mn-ea"/>
              </a:rPr>
              <a:t>。这是系统中最低的优先级。</a:t>
            </a:r>
            <a:endParaRPr lang="zh-CN" altLang="en-US" sz="1400" dirty="0"/>
          </a:p>
          <a:p>
            <a:pPr algn="l"/>
            <a:r>
              <a:rPr lang="zh-CN" altLang="en-US" sz="1400" dirty="0">
                <a:sym typeface="+mn-ea"/>
              </a:rPr>
              <a:t>功能角色：</a:t>
            </a:r>
            <a:endParaRPr lang="zh-CN" altLang="en-US" sz="1400" dirty="0"/>
          </a:p>
          <a:p>
            <a:pPr indent="457200" algn="l"/>
            <a:r>
              <a:rPr lang="zh-CN" altLang="en-US" sz="1400" dirty="0">
                <a:sym typeface="+mn-ea"/>
              </a:rPr>
              <a:t>空闲任务</a:t>
            </a:r>
            <a:r>
              <a:rPr altLang="zh-CN" sz="1400" dirty="0">
                <a:sym typeface="+mn-ea"/>
              </a:rPr>
              <a:t> (Idle Task)</a:t>
            </a:r>
            <a:r>
              <a:rPr lang="zh-CN" altLang="en-US" sz="1400" dirty="0">
                <a:sym typeface="+mn-ea"/>
              </a:rPr>
              <a:t>：</a:t>
            </a:r>
            <a:r>
              <a:rPr altLang="zh-CN" sz="1400" dirty="0">
                <a:sym typeface="+mn-ea"/>
              </a:rPr>
              <a:t> FreeRTOS </a:t>
            </a:r>
            <a:r>
              <a:rPr lang="zh-CN" altLang="en-US" sz="1400" dirty="0">
                <a:sym typeface="+mn-ea"/>
              </a:rPr>
              <a:t>内核自动创建的一个特殊任务。当且仅当没有其他任务处于就绪状态</a:t>
            </a:r>
            <a:r>
              <a:rPr altLang="zh-CN" sz="1400" dirty="0">
                <a:sym typeface="+mn-ea"/>
              </a:rPr>
              <a:t> (Ready) </a:t>
            </a:r>
            <a:r>
              <a:rPr lang="zh-CN" altLang="en-US" sz="1400" dirty="0">
                <a:sym typeface="+mn-ea"/>
              </a:rPr>
              <a:t>时，它才会运行。</a:t>
            </a:r>
            <a:endParaRPr lang="zh-CN" altLang="en-US" sz="1400" dirty="0"/>
          </a:p>
          <a:p>
            <a:pPr algn="l"/>
            <a:r>
              <a:rPr lang="zh-CN" altLang="en-US" sz="1400" dirty="0">
                <a:sym typeface="+mn-ea"/>
              </a:rPr>
              <a:t>关键作用：</a:t>
            </a:r>
            <a:endParaRPr lang="zh-CN" altLang="en-US" sz="1400" dirty="0"/>
          </a:p>
          <a:p>
            <a:pPr lvl="1" algn="l"/>
            <a:r>
              <a:rPr lang="zh-CN" altLang="en-US" sz="1400" dirty="0">
                <a:sym typeface="+mn-ea"/>
              </a:rPr>
              <a:t>执行后台清理：</a:t>
            </a:r>
            <a:r>
              <a:rPr altLang="zh-CN" sz="1400" dirty="0">
                <a:sym typeface="+mn-ea"/>
              </a:rPr>
              <a:t> </a:t>
            </a:r>
            <a:r>
              <a:rPr lang="zh-CN" altLang="en-US" sz="1400" dirty="0">
                <a:sym typeface="+mn-ea"/>
              </a:rPr>
              <a:t>例如，回收被删除任务的内存（如果启用了</a:t>
            </a:r>
            <a:r>
              <a:rPr altLang="zh-CN" sz="1400" dirty="0">
                <a:sym typeface="+mn-ea"/>
              </a:rPr>
              <a:t> </a:t>
            </a:r>
            <a:r>
              <a:rPr altLang="zh-CN" sz="1400" dirty="0" err="1">
                <a:sym typeface="+mn-ea"/>
              </a:rPr>
              <a:t>configUSE_IDLE_HOOK</a:t>
            </a:r>
            <a:r>
              <a:rPr altLang="zh-CN" sz="1400" dirty="0">
                <a:sym typeface="+mn-ea"/>
              </a:rPr>
              <a:t> </a:t>
            </a:r>
            <a:r>
              <a:rPr lang="zh-CN" altLang="en-US" sz="1400" dirty="0">
                <a:sym typeface="+mn-ea"/>
              </a:rPr>
              <a:t>或</a:t>
            </a:r>
            <a:r>
              <a:rPr altLang="zh-CN" sz="1400" dirty="0">
                <a:sym typeface="+mn-ea"/>
              </a:rPr>
              <a:t> </a:t>
            </a:r>
            <a:r>
              <a:rPr altLang="zh-CN" sz="1400" dirty="0" err="1">
                <a:sym typeface="+mn-ea"/>
              </a:rPr>
              <a:t>configUSE_TICKLESS_IDLE</a:t>
            </a:r>
            <a:r>
              <a:rPr lang="zh-CN" altLang="en-US" sz="1400" dirty="0">
                <a:sym typeface="+mn-ea"/>
              </a:rPr>
              <a:t>）。</a:t>
            </a:r>
            <a:endParaRPr lang="zh-CN" altLang="en-US" sz="1400" dirty="0"/>
          </a:p>
          <a:p>
            <a:pPr lvl="1" algn="l"/>
            <a:r>
              <a:rPr lang="zh-CN" altLang="en-US" sz="1400" dirty="0">
                <a:sym typeface="+mn-ea"/>
              </a:rPr>
              <a:t>实现低功耗</a:t>
            </a:r>
            <a:r>
              <a:rPr altLang="zh-CN" sz="1400" dirty="0">
                <a:sym typeface="+mn-ea"/>
              </a:rPr>
              <a:t> (</a:t>
            </a:r>
            <a:r>
              <a:rPr altLang="zh-CN" sz="1400" dirty="0" err="1">
                <a:sym typeface="+mn-ea"/>
              </a:rPr>
              <a:t>Tickless</a:t>
            </a:r>
            <a:r>
              <a:rPr altLang="zh-CN" sz="1400" dirty="0">
                <a:sym typeface="+mn-ea"/>
              </a:rPr>
              <a:t> Idle)</a:t>
            </a:r>
            <a:r>
              <a:rPr lang="zh-CN" altLang="en-US" sz="1400" dirty="0">
                <a:sym typeface="+mn-ea"/>
              </a:rPr>
              <a:t>：</a:t>
            </a:r>
            <a:r>
              <a:rPr altLang="zh-CN" sz="1400" dirty="0">
                <a:sym typeface="+mn-ea"/>
              </a:rPr>
              <a:t> </a:t>
            </a:r>
            <a:r>
              <a:rPr lang="zh-CN" altLang="en-US" sz="1400" dirty="0">
                <a:sym typeface="+mn-ea"/>
              </a:rPr>
              <a:t>在空闲任务中，系统可以进入低功耗睡眠模式（如果配置了</a:t>
            </a:r>
            <a:r>
              <a:rPr altLang="zh-CN" sz="1400" dirty="0">
                <a:sym typeface="+mn-ea"/>
              </a:rPr>
              <a:t> </a:t>
            </a:r>
            <a:r>
              <a:rPr altLang="zh-CN" sz="1400" dirty="0" err="1">
                <a:sym typeface="+mn-ea"/>
              </a:rPr>
              <a:t>Tickless</a:t>
            </a:r>
            <a:r>
              <a:rPr altLang="zh-CN" sz="1400" dirty="0">
                <a:sym typeface="+mn-ea"/>
              </a:rPr>
              <a:t> Idle</a:t>
            </a:r>
            <a:r>
              <a:rPr lang="zh-CN" altLang="en-US" sz="1400" dirty="0">
                <a:sym typeface="+mn-ea"/>
              </a:rPr>
              <a:t>）。</a:t>
            </a:r>
            <a:endParaRPr lang="zh-CN" altLang="en-US" sz="1400" dirty="0"/>
          </a:p>
          <a:p>
            <a:pPr lvl="1" algn="l"/>
            <a:r>
              <a:rPr lang="zh-CN" altLang="en-US" sz="1400" dirty="0">
                <a:sym typeface="+mn-ea"/>
              </a:rPr>
              <a:t>运行用户钩子函数</a:t>
            </a:r>
            <a:r>
              <a:rPr altLang="zh-CN" sz="1400" dirty="0">
                <a:sym typeface="+mn-ea"/>
              </a:rPr>
              <a:t> (Idle Hook)</a:t>
            </a:r>
            <a:r>
              <a:rPr lang="zh-CN" altLang="en-US" sz="1400" dirty="0">
                <a:sym typeface="+mn-ea"/>
              </a:rPr>
              <a:t>：</a:t>
            </a:r>
            <a:r>
              <a:rPr altLang="zh-CN" sz="1400" dirty="0">
                <a:sym typeface="+mn-ea"/>
              </a:rPr>
              <a:t> </a:t>
            </a:r>
            <a:r>
              <a:rPr lang="zh-CN" altLang="en-US" sz="1400" dirty="0">
                <a:sym typeface="+mn-ea"/>
              </a:rPr>
              <a:t>开发者可以注册一个函数</a:t>
            </a:r>
            <a:r>
              <a:rPr altLang="zh-CN" sz="1400" dirty="0">
                <a:sym typeface="+mn-ea"/>
              </a:rPr>
              <a:t> (</a:t>
            </a:r>
            <a:r>
              <a:rPr altLang="zh-CN" sz="1400" dirty="0" err="1">
                <a:sym typeface="+mn-ea"/>
              </a:rPr>
              <a:t>vApplicationIdleHook</a:t>
            </a:r>
            <a:r>
              <a:rPr altLang="zh-CN" sz="1400" dirty="0">
                <a:sym typeface="+mn-ea"/>
              </a:rPr>
              <a:t>)</a:t>
            </a:r>
            <a:r>
              <a:rPr lang="zh-CN" altLang="en-US" sz="1400" dirty="0">
                <a:sym typeface="+mn-ea"/>
              </a:rPr>
              <a:t>，在空闲任务中执行自定义的低优先级后台操作（必须非常短，且不能阻塞！）。</a:t>
            </a:r>
            <a:endParaRPr lang="zh-CN" altLang="en-US" sz="1400" dirty="0"/>
          </a:p>
          <a:p>
            <a:pPr algn="l"/>
            <a:r>
              <a:rPr lang="zh-CN" altLang="en-US" sz="1400" dirty="0">
                <a:sym typeface="+mn-ea"/>
              </a:rPr>
              <a:t>特点：</a:t>
            </a:r>
            <a:r>
              <a:rPr altLang="zh-CN" sz="1400" dirty="0">
                <a:sym typeface="+mn-ea"/>
              </a:rPr>
              <a:t> </a:t>
            </a:r>
            <a:r>
              <a:rPr lang="zh-CN" altLang="en-US" sz="1400" dirty="0">
                <a:sym typeface="+mn-ea"/>
              </a:rPr>
              <a:t>优先级最低，不可改变。开发者不应手动创建优先级为</a:t>
            </a:r>
            <a:r>
              <a:rPr altLang="zh-CN" sz="1400" dirty="0">
                <a:sym typeface="+mn-ea"/>
              </a:rPr>
              <a:t> 0 </a:t>
            </a:r>
            <a:r>
              <a:rPr lang="zh-CN" altLang="en-US" sz="1400" dirty="0">
                <a:sym typeface="+mn-ea"/>
              </a:rPr>
              <a:t>的任务，以免干扰空闲任务的运行。</a:t>
            </a:r>
            <a:endParaRPr lang="zh-CN" altLang="en-US" sz="1400" dirty="0"/>
          </a:p>
        </p:txBody>
      </p:sp>
    </p:spTree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4" name="文本框 9"/>
          <p:cNvSpPr txBox="1"/>
          <p:nvPr/>
        </p:nvSpPr>
        <p:spPr>
          <a:xfrm>
            <a:off x="147638" y="62230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任务调度简介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4105" name="文本框 1"/>
          <p:cNvSpPr txBox="1"/>
          <p:nvPr/>
        </p:nvSpPr>
        <p:spPr>
          <a:xfrm>
            <a:off x="523875" y="1641475"/>
            <a:ext cx="3405188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一共支持三种任务调度方式：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" name="矩形: 圆角 2"/>
          <p:cNvSpPr/>
          <p:nvPr>
            <p:custDataLst>
              <p:tags r:id="rId1"/>
            </p:custDataLst>
          </p:nvPr>
        </p:nvSpPr>
        <p:spPr>
          <a:xfrm>
            <a:off x="523875" y="2214563"/>
            <a:ext cx="1257300" cy="40005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抢占式调度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" name="矩形: 圆角 12"/>
          <p:cNvSpPr/>
          <p:nvPr>
            <p:custDataLst>
              <p:tags r:id="rId2"/>
            </p:custDataLst>
          </p:nvPr>
        </p:nvSpPr>
        <p:spPr>
          <a:xfrm>
            <a:off x="523875" y="3800475"/>
            <a:ext cx="1257300" cy="40005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协程式调度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4" name="矩形: 圆角 13"/>
          <p:cNvSpPr/>
          <p:nvPr>
            <p:custDataLst>
              <p:tags r:id="rId3"/>
            </p:custDataLst>
          </p:nvPr>
        </p:nvSpPr>
        <p:spPr>
          <a:xfrm>
            <a:off x="523875" y="2997200"/>
            <a:ext cx="1257300" cy="40005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时间片调度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4110" name="文本框 15"/>
          <p:cNvSpPr txBox="1"/>
          <p:nvPr>
            <p:custDataLst>
              <p:tags r:id="rId4"/>
            </p:custDataLst>
          </p:nvPr>
        </p:nvSpPr>
        <p:spPr>
          <a:xfrm>
            <a:off x="1812925" y="2074863"/>
            <a:ext cx="6807200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主要是针对优先级不同的任务，每个任务都有一个优先级，优先级高的任务可以抢占优先级低的任务。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11" name="文本框 17"/>
          <p:cNvSpPr txBox="1"/>
          <p:nvPr>
            <p:custDataLst>
              <p:tags r:id="rId5"/>
            </p:custDataLst>
          </p:nvPr>
        </p:nvSpPr>
        <p:spPr>
          <a:xfrm>
            <a:off x="1781175" y="2886075"/>
            <a:ext cx="7134225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主要针对优先级相同的任务，当多个任务的优先级相同时， 任务调度器会在每一次系统时钟节拍到的时候切换任务。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12" name="文本框 19"/>
          <p:cNvSpPr txBox="1"/>
          <p:nvPr/>
        </p:nvSpPr>
        <p:spPr>
          <a:xfrm>
            <a:off x="523875" y="1203325"/>
            <a:ext cx="589597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调度器就是使用相关的调度算法来决定当前需要执行的哪个任务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" name="文本框 17"/>
          <p:cNvSpPr txBox="1"/>
          <p:nvPr>
            <p:custDataLst>
              <p:tags r:id="rId6"/>
            </p:custDataLst>
          </p:nvPr>
        </p:nvSpPr>
        <p:spPr>
          <a:xfrm>
            <a:off x="1781175" y="3648075"/>
            <a:ext cx="6286500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当前执行任务将会一直运行，同时高优先级的任务不会抢占低优先级任务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现在虽然还支持，但是官方已经表示不再更新协程式调度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05" grpId="0"/>
      <p:bldP spid="4" grpId="0" bldLvl="0" animBg="1"/>
      <p:bldP spid="13" grpId="0" bldLvl="0" animBg="1"/>
      <p:bldP spid="14" grpId="0" bldLvl="0" animBg="1"/>
      <p:bldP spid="4110" grpId="0"/>
      <p:bldP spid="4111" grpId="0"/>
      <p:bldP spid="4112" grpId="0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文本框 9"/>
          <p:cNvSpPr txBox="1"/>
          <p:nvPr/>
        </p:nvSpPr>
        <p:spPr>
          <a:xfrm>
            <a:off x="230188" y="898525"/>
            <a:ext cx="2874962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抢占式调度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cxnSp>
        <p:nvCxnSpPr>
          <p:cNvPr id="8" name="直接箭头连接符 7"/>
          <p:cNvCxnSpPr/>
          <p:nvPr/>
        </p:nvCxnSpPr>
        <p:spPr>
          <a:xfrm>
            <a:off x="952500" y="2906713"/>
            <a:ext cx="3095625" cy="9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/>
          <p:nvPr/>
        </p:nvCxnSpPr>
        <p:spPr>
          <a:xfrm flipH="1" flipV="1">
            <a:off x="952500" y="1601788"/>
            <a:ext cx="12700" cy="12985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31" name="文本框 12"/>
          <p:cNvSpPr txBox="1"/>
          <p:nvPr/>
        </p:nvSpPr>
        <p:spPr>
          <a:xfrm>
            <a:off x="230188" y="1528763"/>
            <a:ext cx="646112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优先级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2" name="文本框 15"/>
          <p:cNvSpPr txBox="1"/>
          <p:nvPr/>
        </p:nvSpPr>
        <p:spPr>
          <a:xfrm>
            <a:off x="3641725" y="2933700"/>
            <a:ext cx="492125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时间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矩形: 圆角 13"/>
          <p:cNvSpPr/>
          <p:nvPr/>
        </p:nvSpPr>
        <p:spPr>
          <a:xfrm>
            <a:off x="1073150" y="2620963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1631950" y="2384425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2181225" y="2155825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0" name="矩形: 圆角 19"/>
          <p:cNvSpPr/>
          <p:nvPr/>
        </p:nvSpPr>
        <p:spPr>
          <a:xfrm>
            <a:off x="2730500" y="2371725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2" name="矩形: 圆角 21"/>
          <p:cNvSpPr/>
          <p:nvPr/>
        </p:nvSpPr>
        <p:spPr>
          <a:xfrm>
            <a:off x="3289300" y="2162175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696913" y="2597150"/>
            <a:ext cx="255588" cy="2619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050" kern="1200" cap="none" spc="0" normalizeH="0" baseline="0" noProof="0" dirty="0">
                <a:solidFill>
                  <a:srgbClr val="002060"/>
                </a:solidFill>
                <a:latin typeface="Calibri" panose="020F0502020204030204" pitchFamily="34" charset="0"/>
                <a:ea typeface="+mn-ea"/>
                <a:cs typeface="+mn-cs"/>
              </a:rPr>
              <a:t>1</a:t>
            </a:r>
            <a:endParaRPr kumimoji="0" lang="zh-CN" altLang="en-US" sz="1050" kern="1200" cap="none" spc="0" normalizeH="0" baseline="0" noProof="0" dirty="0">
              <a:solidFill>
                <a:srgbClr val="002060"/>
              </a:solidFill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96913" y="2330450"/>
            <a:ext cx="252413" cy="2524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050" kern="1200" cap="none" spc="0" normalizeH="0" baseline="0" noProof="0" dirty="0">
                <a:solidFill>
                  <a:srgbClr val="002060"/>
                </a:solidFill>
                <a:latin typeface="Calibri" panose="020F0502020204030204" pitchFamily="34" charset="0"/>
                <a:ea typeface="+mn-ea"/>
                <a:cs typeface="+mn-cs"/>
              </a:rPr>
              <a:t>2</a:t>
            </a:r>
            <a:endParaRPr kumimoji="0" lang="zh-CN" altLang="en-US" sz="1050" kern="1200" cap="none" spc="0" normalizeH="0" baseline="0" noProof="0" dirty="0">
              <a:solidFill>
                <a:srgbClr val="002060"/>
              </a:solidFill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696913" y="2095500"/>
            <a:ext cx="252413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050" kern="1200" cap="none" spc="0" normalizeH="0" baseline="0" noProof="0" dirty="0">
                <a:solidFill>
                  <a:srgbClr val="002060"/>
                </a:solidFill>
                <a:latin typeface="Calibri" panose="020F0502020204030204" pitchFamily="34" charset="0"/>
                <a:ea typeface="+mn-ea"/>
                <a:cs typeface="+mn-cs"/>
              </a:rPr>
              <a:t>3</a:t>
            </a:r>
            <a:endParaRPr kumimoji="0" lang="zh-CN" altLang="en-US" sz="1050" kern="1200" cap="none" spc="0" normalizeH="0" baseline="0" noProof="0" dirty="0">
              <a:solidFill>
                <a:srgbClr val="002060"/>
              </a:solidFill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473575" y="2176463"/>
            <a:ext cx="4548188" cy="890372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的优先级分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别为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；在</a:t>
            </a:r>
            <a:r>
              <a:rPr kumimoji="0" lang="en-US" altLang="zh-CN" sz="1200" kern="1200" cap="none" spc="0" normalizeH="0" baseline="0" noProof="0" dirty="0" err="1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FreeRTOS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中任务设置的</a:t>
            </a:r>
            <a:r>
              <a:rPr kumimoji="0" lang="zh-CN" altLang="en-US" sz="1200" kern="1200" cap="none" spc="0" normalizeH="0" baseline="0" noProof="0" dirty="0">
                <a:solidFill>
                  <a:srgbClr val="FF0000"/>
                </a:solidFill>
                <a:latin typeface="+mn-lt"/>
                <a:ea typeface="思源黑体 CN Normal" pitchFamily="34" charset="-122"/>
                <a:cs typeface="+mn-cs"/>
              </a:rPr>
              <a:t>数值越大，优先级越高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，所以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的优先级最高。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495800" y="1528763"/>
            <a:ext cx="1173163" cy="2762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运行条件：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4473575" y="1917700"/>
            <a:ext cx="3633788" cy="277813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、创建三个任务：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cxnSp>
        <p:nvCxnSpPr>
          <p:cNvPr id="4096" name="直接箭头连接符 4095"/>
          <p:cNvCxnSpPr/>
          <p:nvPr/>
        </p:nvCxnSpPr>
        <p:spPr>
          <a:xfrm>
            <a:off x="1384300" y="2322513"/>
            <a:ext cx="241300" cy="2968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45" name="文本框 4096"/>
          <p:cNvSpPr txBox="1"/>
          <p:nvPr/>
        </p:nvSpPr>
        <p:spPr>
          <a:xfrm>
            <a:off x="1184275" y="2120900"/>
            <a:ext cx="415925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抢占</a:t>
            </a:r>
            <a:endParaRPr lang="zh-CN" altLang="en-US" sz="9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cxnSp>
        <p:nvCxnSpPr>
          <p:cNvPr id="36" name="直接箭头连接符 35"/>
          <p:cNvCxnSpPr/>
          <p:nvPr/>
        </p:nvCxnSpPr>
        <p:spPr>
          <a:xfrm>
            <a:off x="1938338" y="2092325"/>
            <a:ext cx="241300" cy="2968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47" name="文本框 36"/>
          <p:cNvSpPr txBox="1"/>
          <p:nvPr/>
        </p:nvSpPr>
        <p:spPr>
          <a:xfrm>
            <a:off x="1731963" y="1909763"/>
            <a:ext cx="415925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抢占</a:t>
            </a:r>
            <a:endParaRPr lang="zh-CN" altLang="en-US" sz="9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cxnSp>
        <p:nvCxnSpPr>
          <p:cNvPr id="4099" name="直接箭头连接符 4098"/>
          <p:cNvCxnSpPr/>
          <p:nvPr/>
        </p:nvCxnSpPr>
        <p:spPr>
          <a:xfrm flipH="1">
            <a:off x="2740025" y="2092325"/>
            <a:ext cx="257175" cy="279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49" name="文本框 39"/>
          <p:cNvSpPr txBox="1"/>
          <p:nvPr/>
        </p:nvSpPr>
        <p:spPr>
          <a:xfrm>
            <a:off x="2798763" y="1868488"/>
            <a:ext cx="415925" cy="23018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阻塞</a:t>
            </a:r>
            <a:endParaRPr lang="zh-CN" altLang="en-US" sz="9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50" name="文本框 4099"/>
          <p:cNvSpPr txBox="1"/>
          <p:nvPr/>
        </p:nvSpPr>
        <p:spPr>
          <a:xfrm>
            <a:off x="269875" y="3336925"/>
            <a:ext cx="144145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运行过程如下：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51" name="文本框 4100"/>
          <p:cNvSpPr txBox="1"/>
          <p:nvPr/>
        </p:nvSpPr>
        <p:spPr>
          <a:xfrm>
            <a:off x="290513" y="3736975"/>
            <a:ext cx="7319962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、首先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在运行中，在这个过程中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就绪了，在抢占式调度器的作用下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会抢占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的运行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52" name="文本框 4100"/>
          <p:cNvSpPr txBox="1"/>
          <p:nvPr/>
        </p:nvSpPr>
        <p:spPr>
          <a:xfrm>
            <a:off x="290513" y="4079875"/>
            <a:ext cx="6194425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运行过程中，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就绪了，在抢占式调度器的作用下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会抢占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的运行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53" name="文本框 4100"/>
          <p:cNvSpPr txBox="1"/>
          <p:nvPr/>
        </p:nvSpPr>
        <p:spPr>
          <a:xfrm>
            <a:off x="290513" y="4418013"/>
            <a:ext cx="7824787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运行过程中，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阻塞了（系统延时或等待信号量等），此时就绪态中，优先级最高的任务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执行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54" name="文本框 4100"/>
          <p:cNvSpPr txBox="1"/>
          <p:nvPr/>
        </p:nvSpPr>
        <p:spPr>
          <a:xfrm>
            <a:off x="290513" y="4719638"/>
            <a:ext cx="7035800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阻塞解除了（延时到了或者接收到信号量），此时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恢复到就绪态中，抢占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的运行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55" name="文本框 36"/>
          <p:cNvSpPr txBox="1"/>
          <p:nvPr/>
        </p:nvSpPr>
        <p:spPr>
          <a:xfrm>
            <a:off x="2633663" y="900113"/>
            <a:ext cx="655637" cy="3397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总结：</a:t>
            </a:r>
            <a:endParaRPr lang="en-US" altLang="zh-CN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56" name="文本框 37"/>
          <p:cNvSpPr txBox="1"/>
          <p:nvPr/>
        </p:nvSpPr>
        <p:spPr>
          <a:xfrm>
            <a:off x="5494338" y="965200"/>
            <a:ext cx="3665537" cy="2778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、高优先级任务不停止，低优先级任务无法执行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5157" name="文本框 39"/>
          <p:cNvSpPr txBox="1"/>
          <p:nvPr/>
        </p:nvSpPr>
        <p:spPr>
          <a:xfrm>
            <a:off x="3195638" y="960438"/>
            <a:ext cx="218440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、高优先级任务，优先执行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5487988" y="1246188"/>
            <a:ext cx="3665537" cy="2794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、被抢占的任务将会进入就绪态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5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5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5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5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31" grpId="0"/>
      <p:bldP spid="5132" grpId="0"/>
      <p:bldP spid="14" grpId="0" bldLvl="0" animBg="1"/>
      <p:bldP spid="18" grpId="0" bldLvl="0" animBg="1"/>
      <p:bldP spid="19" grpId="0" bldLvl="0" animBg="1"/>
      <p:bldP spid="20" grpId="0" bldLvl="0" animBg="1"/>
      <p:bldP spid="22" grpId="0" bldLvl="0" animBg="1"/>
      <p:bldP spid="23" grpId="0"/>
      <p:bldP spid="26" grpId="0"/>
      <p:bldP spid="27" grpId="0"/>
      <p:bldP spid="28" grpId="0"/>
      <p:bldP spid="30" grpId="0"/>
      <p:bldP spid="31" grpId="0"/>
      <p:bldP spid="5145" grpId="0"/>
      <p:bldP spid="5147" grpId="0"/>
      <p:bldP spid="5149" grpId="0"/>
      <p:bldP spid="5150" grpId="0"/>
      <p:bldP spid="5151" grpId="0"/>
      <p:bldP spid="5152" grpId="0"/>
      <p:bldP spid="5153" grpId="0"/>
      <p:bldP spid="5154" grpId="0"/>
      <p:bldP spid="5155" grpId="0"/>
      <p:bldP spid="5156" grpId="0"/>
      <p:bldP spid="5157" grpId="0"/>
      <p:bldP spid="3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2" name="文本框 9"/>
          <p:cNvSpPr txBox="1"/>
          <p:nvPr/>
        </p:nvSpPr>
        <p:spPr>
          <a:xfrm>
            <a:off x="999808" y="1508760"/>
            <a:ext cx="4619625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时间片调度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>
            <a:off x="1709420" y="3529648"/>
            <a:ext cx="32702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/>
          <p:nvPr/>
        </p:nvCxnSpPr>
        <p:spPr>
          <a:xfrm flipV="1">
            <a:off x="1722120" y="2327910"/>
            <a:ext cx="0" cy="1195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55" name="文本框 12"/>
          <p:cNvSpPr txBox="1"/>
          <p:nvPr/>
        </p:nvSpPr>
        <p:spPr>
          <a:xfrm>
            <a:off x="999808" y="2305685"/>
            <a:ext cx="722312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优先级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56" name="文本框 13"/>
          <p:cNvSpPr txBox="1"/>
          <p:nvPr/>
        </p:nvSpPr>
        <p:spPr>
          <a:xfrm>
            <a:off x="4436745" y="3567748"/>
            <a:ext cx="54292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时间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" name="矩形: 圆角 14"/>
          <p:cNvSpPr/>
          <p:nvPr/>
        </p:nvSpPr>
        <p:spPr>
          <a:xfrm>
            <a:off x="1944370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6" name="矩形: 圆角 15"/>
          <p:cNvSpPr/>
          <p:nvPr/>
        </p:nvSpPr>
        <p:spPr>
          <a:xfrm>
            <a:off x="2511108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7" name="矩形: 圆角 16"/>
          <p:cNvSpPr/>
          <p:nvPr/>
        </p:nvSpPr>
        <p:spPr>
          <a:xfrm>
            <a:off x="3077845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3642995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4209733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cxnSp>
        <p:nvCxnSpPr>
          <p:cNvPr id="21" name="直接连接符 20"/>
          <p:cNvCxnSpPr/>
          <p:nvPr/>
        </p:nvCxnSpPr>
        <p:spPr>
          <a:xfrm>
            <a:off x="2511108" y="3458210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>
            <a:off x="3077845" y="3458210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/>
          <p:cNvCxnSpPr/>
          <p:nvPr/>
        </p:nvCxnSpPr>
        <p:spPr>
          <a:xfrm>
            <a:off x="3642995" y="3459798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>
            <a:off x="4214495" y="3459798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>
            <a:off x="4765358" y="3456623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>
            <a:off x="1944370" y="3458210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68" name="文本框 23"/>
          <p:cNvSpPr txBox="1"/>
          <p:nvPr/>
        </p:nvSpPr>
        <p:spPr>
          <a:xfrm>
            <a:off x="1874520" y="3694748"/>
            <a:ext cx="711200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个时间片</a:t>
            </a:r>
            <a:endParaRPr lang="zh-CN" altLang="en-US" sz="9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1947545" y="3529648"/>
            <a:ext cx="0" cy="4127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2514283" y="3528060"/>
            <a:ext cx="0" cy="4127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5265420" y="2889885"/>
            <a:ext cx="4548188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的优先级均为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；即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个任务同等优先级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287645" y="2373948"/>
            <a:ext cx="1173163" cy="2762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运行条件：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5265420" y="2631123"/>
            <a:ext cx="3633788" cy="277813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、创建三个任务：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1450658" y="3110548"/>
            <a:ext cx="257175" cy="2619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050" kern="1200" cap="none" spc="0" normalizeH="0" baseline="0" noProof="0" dirty="0">
                <a:solidFill>
                  <a:srgbClr val="002060"/>
                </a:solidFill>
                <a:latin typeface="Calibri" panose="020F0502020204030204" pitchFamily="34" charset="0"/>
                <a:ea typeface="+mn-ea"/>
                <a:cs typeface="+mn-cs"/>
              </a:rPr>
              <a:t>1</a:t>
            </a:r>
            <a:endParaRPr kumimoji="0" lang="zh-CN" altLang="en-US" sz="1050" kern="1200" cap="none" spc="0" normalizeH="0" baseline="0" noProof="0" dirty="0">
              <a:solidFill>
                <a:srgbClr val="002060"/>
              </a:solidFill>
              <a:latin typeface="Calibri" panose="020F0502020204030204" pitchFamily="34" charset="0"/>
              <a:ea typeface="+mn-ea"/>
              <a:cs typeface="+mn-cs"/>
            </a:endParaRPr>
          </a:p>
        </p:txBody>
      </p:sp>
      <p:cxnSp>
        <p:nvCxnSpPr>
          <p:cNvPr id="4098" name="直接箭头连接符 4097"/>
          <p:cNvCxnSpPr>
            <a:endCxn id="17" idx="0"/>
          </p:cNvCxnSpPr>
          <p:nvPr/>
        </p:nvCxnSpPr>
        <p:spPr>
          <a:xfrm>
            <a:off x="3357245" y="2859723"/>
            <a:ext cx="0" cy="268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00" name="矩形: 圆角 4099"/>
          <p:cNvSpPr/>
          <p:nvPr/>
        </p:nvSpPr>
        <p:spPr>
          <a:xfrm>
            <a:off x="3119120" y="2631123"/>
            <a:ext cx="4746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阻塞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6177" name="文本框 4099"/>
          <p:cNvSpPr txBox="1"/>
          <p:nvPr/>
        </p:nvSpPr>
        <p:spPr>
          <a:xfrm>
            <a:off x="1039495" y="3947160"/>
            <a:ext cx="144145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运行过程如下：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78" name="文本框 4100"/>
          <p:cNvSpPr txBox="1"/>
          <p:nvPr/>
        </p:nvSpPr>
        <p:spPr>
          <a:xfrm>
            <a:off x="1060133" y="4347210"/>
            <a:ext cx="3848100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、首先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运行完一个时间片后，切换至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79" name="文本框 4100"/>
          <p:cNvSpPr txBox="1"/>
          <p:nvPr/>
        </p:nvSpPr>
        <p:spPr>
          <a:xfrm>
            <a:off x="1060133" y="4690110"/>
            <a:ext cx="455930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运行完一个时间片后，切换至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80" name="文本框 4100"/>
          <p:cNvSpPr txBox="1"/>
          <p:nvPr/>
        </p:nvSpPr>
        <p:spPr>
          <a:xfrm>
            <a:off x="1060133" y="5028248"/>
            <a:ext cx="8561387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运行过程中（还不到一个时间片），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阻塞了（系统延时或等待信号量等），此时直接切换到下一个任务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81" name="文本框 4100"/>
          <p:cNvSpPr txBox="1"/>
          <p:nvPr/>
        </p:nvSpPr>
        <p:spPr>
          <a:xfrm>
            <a:off x="1060133" y="5329873"/>
            <a:ext cx="3573462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运行完一个时间片后，切换至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82" name="文本框 42"/>
          <p:cNvSpPr txBox="1"/>
          <p:nvPr/>
        </p:nvSpPr>
        <p:spPr>
          <a:xfrm>
            <a:off x="999808" y="2000885"/>
            <a:ext cx="8683625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同等优先级任务</a:t>
            </a:r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轮流地享有相同的 </a:t>
            </a:r>
            <a:r>
              <a:rPr lang="en-US" altLang="zh-CN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CPU </a:t>
            </a:r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时间</a:t>
            </a:r>
            <a:r>
              <a:rPr lang="en-US" altLang="zh-CN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(</a:t>
            </a:r>
            <a:r>
              <a:rPr lang="zh-CN" altLang="en-US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可设置</a:t>
            </a:r>
            <a:r>
              <a:rPr lang="en-US" altLang="zh-CN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)</a:t>
            </a:r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， 叫时间片，在</a:t>
            </a:r>
            <a:r>
              <a:rPr lang="en-US" altLang="zh-CN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FreeRTOS</a:t>
            </a:r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中，</a:t>
            </a:r>
            <a:r>
              <a:rPr lang="zh-CN" altLang="en-US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一个时间片就等于</a:t>
            </a:r>
            <a:r>
              <a:rPr lang="en-US" altLang="zh-CN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SysTick </a:t>
            </a:r>
            <a:r>
              <a:rPr lang="zh-CN" altLang="en-US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中断周期</a:t>
            </a:r>
            <a:endParaRPr lang="zh-CN" altLang="en-US" sz="1200" dirty="0">
              <a:solidFill>
                <a:srgbClr val="FF000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6183" name="文本框 43"/>
          <p:cNvSpPr txBox="1"/>
          <p:nvPr/>
        </p:nvSpPr>
        <p:spPr>
          <a:xfrm>
            <a:off x="5268595" y="3999548"/>
            <a:ext cx="4545013" cy="6175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、注意没有用完的时间片不会再使用，下次任务</a:t>
            </a:r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得到执行</a:t>
            </a:r>
            <a:endParaRPr lang="en-US" altLang="zh-CN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还是按照一个时间片的时钟节拍运行</a:t>
            </a:r>
            <a:endParaRPr lang="zh-CN" altLang="en-US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84" name="文本框 44"/>
          <p:cNvSpPr txBox="1"/>
          <p:nvPr/>
        </p:nvSpPr>
        <p:spPr>
          <a:xfrm>
            <a:off x="5268595" y="3705860"/>
            <a:ext cx="3743325" cy="2778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、一个时间片大小，取决为</a:t>
            </a:r>
            <a:r>
              <a:rPr lang="zh-CN" altLang="en-US" sz="12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滴答定时器中断周期</a:t>
            </a:r>
            <a:endParaRPr lang="zh-CN" altLang="en-US" sz="12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" name="文本框 42"/>
          <p:cNvSpPr txBox="1"/>
          <p:nvPr/>
        </p:nvSpPr>
        <p:spPr>
          <a:xfrm>
            <a:off x="5260658" y="3382010"/>
            <a:ext cx="3282950" cy="2778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、同等优先级任务，轮流执行；时间片流转</a:t>
            </a:r>
            <a:endParaRPr lang="zh-CN" altLang="en-US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6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6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6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6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6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55" grpId="0"/>
      <p:bldP spid="6156" grpId="0"/>
      <p:bldP spid="15" grpId="0" bldLvl="0" animBg="1"/>
      <p:bldP spid="16" grpId="0" bldLvl="0" animBg="1"/>
      <p:bldP spid="17" grpId="0" bldLvl="0" animBg="1"/>
      <p:bldP spid="18" grpId="0" bldLvl="0" animBg="1"/>
      <p:bldP spid="19" grpId="0" bldLvl="0" animBg="1"/>
      <p:bldP spid="6168" grpId="0"/>
      <p:bldP spid="36" grpId="0"/>
      <p:bldP spid="37" grpId="0"/>
      <p:bldP spid="38" grpId="0"/>
      <p:bldP spid="39" grpId="0"/>
      <p:bldP spid="4100" grpId="0" bldLvl="0" animBg="1"/>
      <p:bldP spid="6177" grpId="0"/>
      <p:bldP spid="6178" grpId="0"/>
      <p:bldP spid="6179" grpId="0"/>
      <p:bldP spid="6180" grpId="0"/>
      <p:bldP spid="6181" grpId="0"/>
      <p:bldP spid="6182" grpId="0"/>
      <p:bldP spid="6183" grpId="0"/>
      <p:bldP spid="6184" grpId="0"/>
      <p:bldP spid="4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6" name="文本框 9"/>
          <p:cNvSpPr txBox="1"/>
          <p:nvPr/>
        </p:nvSpPr>
        <p:spPr>
          <a:xfrm>
            <a:off x="503238" y="127762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任务状态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177" name="文本框 1"/>
          <p:cNvSpPr txBox="1"/>
          <p:nvPr/>
        </p:nvSpPr>
        <p:spPr>
          <a:xfrm>
            <a:off x="858838" y="1907858"/>
            <a:ext cx="2884487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中任务共存在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种状态：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" name="矩形: 圆角 2"/>
          <p:cNvSpPr/>
          <p:nvPr>
            <p:custDataLst>
              <p:tags r:id="rId1"/>
            </p:custDataLst>
          </p:nvPr>
        </p:nvSpPr>
        <p:spPr>
          <a:xfrm>
            <a:off x="982663" y="2539683"/>
            <a:ext cx="1118715" cy="31362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、运行态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" name="矩形: 圆角 12"/>
          <p:cNvSpPr/>
          <p:nvPr>
            <p:custDataLst>
              <p:tags r:id="rId2"/>
            </p:custDataLst>
          </p:nvPr>
        </p:nvSpPr>
        <p:spPr>
          <a:xfrm>
            <a:off x="982663" y="3132990"/>
            <a:ext cx="1118715" cy="31362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、就绪态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4" name="矩形: 圆角 13"/>
          <p:cNvSpPr/>
          <p:nvPr>
            <p:custDataLst>
              <p:tags r:id="rId3"/>
            </p:custDataLst>
          </p:nvPr>
        </p:nvSpPr>
        <p:spPr>
          <a:xfrm>
            <a:off x="982663" y="3726297"/>
            <a:ext cx="1118715" cy="31362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、阻塞态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5" name="矩形: 圆角 14"/>
          <p:cNvSpPr/>
          <p:nvPr/>
        </p:nvSpPr>
        <p:spPr>
          <a:xfrm>
            <a:off x="982663" y="4338320"/>
            <a:ext cx="109855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4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、挂起态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7182" name="文本框 15"/>
          <p:cNvSpPr txBox="1"/>
          <p:nvPr>
            <p:custDataLst>
              <p:tags r:id="rId4"/>
            </p:custDataLst>
          </p:nvPr>
        </p:nvSpPr>
        <p:spPr>
          <a:xfrm>
            <a:off x="2101378" y="2544532"/>
            <a:ext cx="7512530" cy="30670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正在执行的任务，该任务就处于运行态，注意在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STM32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中，同一时间仅一个任务处于运行态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183" name="文本框 16"/>
          <p:cNvSpPr txBox="1"/>
          <p:nvPr>
            <p:custDataLst>
              <p:tags r:id="rId5"/>
            </p:custDataLst>
          </p:nvPr>
        </p:nvSpPr>
        <p:spPr>
          <a:xfrm>
            <a:off x="2101378" y="3142690"/>
            <a:ext cx="6039770" cy="30670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如果该任务已经能够被执行，但当前还未被执行，那么该任务处于就绪态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184" name="文本框 17"/>
          <p:cNvSpPr txBox="1"/>
          <p:nvPr>
            <p:custDataLst>
              <p:tags r:id="rId6"/>
            </p:custDataLst>
          </p:nvPr>
        </p:nvSpPr>
        <p:spPr>
          <a:xfrm>
            <a:off x="2101378" y="3740847"/>
            <a:ext cx="5895889" cy="30670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如果一个任务因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延时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或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等待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外部事件发生，那么这个任务就处于阻塞态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185" name="文本框 18"/>
          <p:cNvSpPr txBox="1"/>
          <p:nvPr/>
        </p:nvSpPr>
        <p:spPr>
          <a:xfrm>
            <a:off x="2081213" y="4174808"/>
            <a:ext cx="6942137" cy="70485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类似暂停，调用函数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vTaskSuspend()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进入挂起态，需要调用解挂函数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vTaskResume()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才可以进入就绪态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7" grpId="0"/>
      <p:bldP spid="7" grpId="0" bldLvl="0" animBg="1"/>
      <p:bldP spid="13" grpId="0" bldLvl="0" animBg="1"/>
      <p:bldP spid="14" grpId="0" bldLvl="0" animBg="1"/>
      <p:bldP spid="15" grpId="0" bldLvl="0" animBg="1"/>
      <p:bldP spid="7182" grpId="0"/>
      <p:bldP spid="7183" grpId="0"/>
      <p:bldP spid="7184" grpId="0"/>
      <p:bldP spid="718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 9"/>
          <p:cNvSpPr txBox="1"/>
          <p:nvPr/>
        </p:nvSpPr>
        <p:spPr>
          <a:xfrm>
            <a:off x="1114743" y="125222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任务状态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pic>
        <p:nvPicPr>
          <p:cNvPr id="28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8755" y="2190433"/>
            <a:ext cx="3689350" cy="314642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9" name="文本框 12"/>
          <p:cNvSpPr txBox="1"/>
          <p:nvPr/>
        </p:nvSpPr>
        <p:spPr>
          <a:xfrm>
            <a:off x="1468755" y="1882458"/>
            <a:ext cx="31623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四种任务状态之间的转换图：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0" name="文本框 12"/>
          <p:cNvSpPr txBox="1"/>
          <p:nvPr/>
        </p:nvSpPr>
        <p:spPr>
          <a:xfrm>
            <a:off x="5158105" y="1882458"/>
            <a:ext cx="31623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总结：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1" name="文本框 13"/>
          <p:cNvSpPr txBox="1"/>
          <p:nvPr/>
        </p:nvSpPr>
        <p:spPr>
          <a:xfrm>
            <a:off x="5158105" y="2319020"/>
            <a:ext cx="31623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、仅就绪态可转变成运行态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2" name="文本框 14"/>
          <p:cNvSpPr txBox="1"/>
          <p:nvPr/>
        </p:nvSpPr>
        <p:spPr>
          <a:xfrm>
            <a:off x="5162868" y="2776220"/>
            <a:ext cx="422592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、其他状态的任务想运行，必须先转变成就绪态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3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4" name="文本框 9"/>
          <p:cNvSpPr txBox="1"/>
          <p:nvPr/>
        </p:nvSpPr>
        <p:spPr>
          <a:xfrm>
            <a:off x="1051878" y="1282065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任务状态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225" name="文本框 12"/>
          <p:cNvSpPr txBox="1"/>
          <p:nvPr/>
        </p:nvSpPr>
        <p:spPr>
          <a:xfrm>
            <a:off x="1405890" y="1912303"/>
            <a:ext cx="5487988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中无非就四种状态，运行态，就绪态、阻塞态、挂起态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6" name="矩形: 圆角 15"/>
          <p:cNvSpPr/>
          <p:nvPr/>
        </p:nvSpPr>
        <p:spPr>
          <a:xfrm>
            <a:off x="1494790" y="2912428"/>
            <a:ext cx="1223963" cy="317500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就绪列表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+mn-lt"/>
              <a:ea typeface="思源黑体 CN Normal" panose="020B0400000000000000"/>
              <a:cs typeface="+mn-cs"/>
            </a:endParaRPr>
          </a:p>
        </p:txBody>
      </p:sp>
      <p:sp>
        <p:nvSpPr>
          <p:cNvPr id="17" name="矩形: 圆角 16"/>
          <p:cNvSpPr/>
          <p:nvPr/>
        </p:nvSpPr>
        <p:spPr>
          <a:xfrm>
            <a:off x="1494790" y="3393440"/>
            <a:ext cx="1223963" cy="317500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阻塞列表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+mn-lt"/>
              <a:ea typeface="思源黑体 CN Normal" panose="020B0400000000000000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1494790" y="3866515"/>
            <a:ext cx="1223963" cy="317500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挂起列表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+mn-lt"/>
              <a:ea typeface="思源黑体 CN Normal" panose="020B0400000000000000"/>
              <a:cs typeface="+mn-cs"/>
            </a:endParaRPr>
          </a:p>
        </p:txBody>
      </p:sp>
      <p:sp>
        <p:nvSpPr>
          <p:cNvPr id="9229" name="文本框 15"/>
          <p:cNvSpPr txBox="1"/>
          <p:nvPr/>
        </p:nvSpPr>
        <p:spPr>
          <a:xfrm>
            <a:off x="2718753" y="2891790"/>
            <a:ext cx="40640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[x]</a:t>
            </a:r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，其中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x</a:t>
            </a:r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代表任务优先级数值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9230" name="文本框 16"/>
          <p:cNvSpPr txBox="1"/>
          <p:nvPr/>
        </p:nvSpPr>
        <p:spPr>
          <a:xfrm>
            <a:off x="2718753" y="3387090"/>
            <a:ext cx="17526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pxDelayedTaskList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9231" name="文本框 17"/>
          <p:cNvSpPr txBox="1"/>
          <p:nvPr/>
        </p:nvSpPr>
        <p:spPr>
          <a:xfrm>
            <a:off x="2718753" y="3885565"/>
            <a:ext cx="185737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xSuspendedTaskList</a:t>
            </a:r>
            <a:endParaRPr lang="en-US" altLang="zh-CN" sz="14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9232" name="文本框 22"/>
          <p:cNvSpPr txBox="1"/>
          <p:nvPr/>
        </p:nvSpPr>
        <p:spPr>
          <a:xfrm>
            <a:off x="1405890" y="2282190"/>
            <a:ext cx="6916738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这四种状态中，除了运行态，其他三种任务状态的任务都有其对应的任务状态列表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" name="左大括号 1"/>
          <p:cNvSpPr/>
          <p:nvPr/>
        </p:nvSpPr>
        <p:spPr>
          <a:xfrm>
            <a:off x="6576378" y="2755265"/>
            <a:ext cx="223838" cy="1911350"/>
          </a:xfrm>
          <a:prstGeom prst="leftBrace">
            <a:avLst>
              <a:gd name="adj1" fmla="val 8333"/>
              <a:gd name="adj2" fmla="val 14759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矩形: 圆角 2"/>
          <p:cNvSpPr/>
          <p:nvPr/>
        </p:nvSpPr>
        <p:spPr>
          <a:xfrm>
            <a:off x="7233920" y="2704465"/>
            <a:ext cx="1689735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[31]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3" name="矩形: 圆角 22"/>
          <p:cNvSpPr/>
          <p:nvPr/>
        </p:nvSpPr>
        <p:spPr>
          <a:xfrm>
            <a:off x="7233920" y="3056890"/>
            <a:ext cx="1707515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[30]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4" name="矩形: 圆角 23"/>
          <p:cNvSpPr/>
          <p:nvPr/>
        </p:nvSpPr>
        <p:spPr>
          <a:xfrm>
            <a:off x="7233920" y="4116070"/>
            <a:ext cx="1725930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[1]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7" name="矩形: 圆角 26"/>
          <p:cNvSpPr/>
          <p:nvPr/>
        </p:nvSpPr>
        <p:spPr>
          <a:xfrm>
            <a:off x="7233920" y="3411220"/>
            <a:ext cx="1707515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[29]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8" name="矩形: 圆角 27"/>
          <p:cNvSpPr/>
          <p:nvPr/>
        </p:nvSpPr>
        <p:spPr>
          <a:xfrm>
            <a:off x="7233920" y="4463415"/>
            <a:ext cx="1717040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[0]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9" name="矩形: 圆角 28"/>
          <p:cNvSpPr/>
          <p:nvPr/>
        </p:nvSpPr>
        <p:spPr>
          <a:xfrm>
            <a:off x="7233920" y="3755390"/>
            <a:ext cx="1761490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… …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854190" y="2706053"/>
            <a:ext cx="307975" cy="1984375"/>
          </a:xfrm>
          <a:prstGeom prst="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6854190" y="2971165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6854190" y="3268028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6854190" y="3628390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854190" y="4007803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/>
          <p:cNvCxnSpPr/>
          <p:nvPr/>
        </p:nvCxnSpPr>
        <p:spPr>
          <a:xfrm>
            <a:off x="6854190" y="4391978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6793865" y="2726690"/>
            <a:ext cx="427038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bit31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6793865" y="3025140"/>
            <a:ext cx="427038" cy="2301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bit30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6793865" y="3353753"/>
            <a:ext cx="427038" cy="23018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bit29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6819265" y="3715703"/>
            <a:ext cx="377825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… …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6824028" y="4107815"/>
            <a:ext cx="368300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bit1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6824028" y="4444365"/>
            <a:ext cx="368300" cy="2301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bit0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4522153" y="5050790"/>
            <a:ext cx="5280025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>
              <a:buNone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位的变量，当某个位，置一时，代表所对应的优先级就绪列表有任务存在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5" grpId="0"/>
      <p:bldP spid="16" grpId="0" bldLvl="0" animBg="1"/>
      <p:bldP spid="17" grpId="0" bldLvl="0" animBg="1"/>
      <p:bldP spid="18" grpId="0" bldLvl="0" animBg="1"/>
      <p:bldP spid="9229" grpId="0"/>
      <p:bldP spid="9230" grpId="0"/>
      <p:bldP spid="9231" grpId="0"/>
      <p:bldP spid="9232" grpId="0"/>
      <p:bldP spid="2" grpId="0" bldLvl="0" animBg="1"/>
      <p:bldP spid="3" grpId="0" bldLvl="0" animBg="1"/>
      <p:bldP spid="23" grpId="0" bldLvl="0" animBg="1"/>
      <p:bldP spid="24" grpId="0" bldLvl="0" animBg="1"/>
      <p:bldP spid="27" grpId="0" bldLvl="0" animBg="1"/>
      <p:bldP spid="28" grpId="0" bldLvl="0" animBg="1"/>
      <p:bldP spid="29" grpId="0" bldLvl="0" animBg="1"/>
      <p:bldP spid="8" grpId="0" bldLvl="0" animBg="1"/>
      <p:bldP spid="13" grpId="0"/>
      <p:bldP spid="40" grpId="0"/>
      <p:bldP spid="41" grpId="0"/>
      <p:bldP spid="42" grpId="0"/>
      <p:bldP spid="43" grpId="0"/>
      <p:bldP spid="44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8" name="文本框 9"/>
          <p:cNvSpPr txBox="1"/>
          <p:nvPr/>
        </p:nvSpPr>
        <p:spPr>
          <a:xfrm>
            <a:off x="1233488" y="135255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任务状态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6" name="矩形: 圆角 15"/>
          <p:cNvSpPr/>
          <p:nvPr/>
        </p:nvSpPr>
        <p:spPr>
          <a:xfrm>
            <a:off x="1619250" y="3006725"/>
            <a:ext cx="1225550" cy="317500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就绪列表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+mn-lt"/>
              <a:ea typeface="思源黑体 CN Normal" panose="020B0400000000000000"/>
              <a:cs typeface="+mn-cs"/>
            </a:endParaRPr>
          </a:p>
        </p:txBody>
      </p:sp>
      <p:sp>
        <p:nvSpPr>
          <p:cNvPr id="17" name="矩形: 圆角 16"/>
          <p:cNvSpPr/>
          <p:nvPr/>
        </p:nvSpPr>
        <p:spPr>
          <a:xfrm>
            <a:off x="1619250" y="3922713"/>
            <a:ext cx="1225550" cy="315913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阻塞列表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+mn-lt"/>
              <a:ea typeface="思源黑体 CN Normal" panose="020B0400000000000000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1619250" y="4864100"/>
            <a:ext cx="1225550" cy="315913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挂起列表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+mn-lt"/>
              <a:ea typeface="思源黑体 CN Normal" panose="020B0400000000000000"/>
              <a:cs typeface="+mn-cs"/>
            </a:endParaRPr>
          </a:p>
        </p:txBody>
      </p:sp>
      <p:sp>
        <p:nvSpPr>
          <p:cNvPr id="19" name="文本框 15"/>
          <p:cNvSpPr txBox="1"/>
          <p:nvPr/>
        </p:nvSpPr>
        <p:spPr>
          <a:xfrm>
            <a:off x="2844800" y="2986088"/>
            <a:ext cx="1701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[x]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20" name="文本框 16"/>
          <p:cNvSpPr txBox="1"/>
          <p:nvPr/>
        </p:nvSpPr>
        <p:spPr>
          <a:xfrm>
            <a:off x="2844800" y="3914775"/>
            <a:ext cx="17526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pxDelayedTaskList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21" name="文本框 17"/>
          <p:cNvSpPr txBox="1"/>
          <p:nvPr/>
        </p:nvSpPr>
        <p:spPr>
          <a:xfrm>
            <a:off x="2844800" y="4883150"/>
            <a:ext cx="185737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xSuspendedTaskList</a:t>
            </a:r>
            <a:endParaRPr lang="en-US" altLang="zh-CN" sz="14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619250" y="1870075"/>
            <a:ext cx="62896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假设，创建三个任务分别是：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，优先级分别是：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4" name="矩形: 圆角 23"/>
          <p:cNvSpPr/>
          <p:nvPr/>
        </p:nvSpPr>
        <p:spPr>
          <a:xfrm>
            <a:off x="1676400" y="2359025"/>
            <a:ext cx="6016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8" name="矩形: 圆角 27"/>
          <p:cNvSpPr/>
          <p:nvPr/>
        </p:nvSpPr>
        <p:spPr>
          <a:xfrm>
            <a:off x="2705100" y="2349500"/>
            <a:ext cx="6016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9" name="矩形: 圆角 28"/>
          <p:cNvSpPr/>
          <p:nvPr/>
        </p:nvSpPr>
        <p:spPr>
          <a:xfrm>
            <a:off x="3733800" y="2349500"/>
            <a:ext cx="6000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" name="左大括号 1"/>
          <p:cNvSpPr/>
          <p:nvPr/>
        </p:nvSpPr>
        <p:spPr>
          <a:xfrm>
            <a:off x="4460875" y="2657475"/>
            <a:ext cx="176213" cy="88741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637088" y="2524125"/>
            <a:ext cx="1828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[3]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4637088" y="2927350"/>
            <a:ext cx="1828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[2]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4637088" y="3330575"/>
            <a:ext cx="1828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[1]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10263" name="文本框 24"/>
          <p:cNvSpPr txBox="1"/>
          <p:nvPr/>
        </p:nvSpPr>
        <p:spPr>
          <a:xfrm>
            <a:off x="4546600" y="3852863"/>
            <a:ext cx="5605463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调度器总是在所有处于就绪列表的任务中，选择具有最高优先级的任务来执行 </a:t>
            </a:r>
            <a:endParaRPr lang="zh-CN" altLang="en-US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4546600" y="4273550"/>
            <a:ext cx="373380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如果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，优先级均为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呢？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4546600" y="4675188"/>
            <a:ext cx="3262313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相同优先级的任务会连接在同一个就绪列表上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-3.08642E-6 L 0.14965 -3.08642E-6 C 0.21701 -3.08642E-6 0.29982 0.00988 0.29982 0.01821 L 0.29982 0.03642 " pathEditMode="relative" rAng="0" ptsTypes="AAAA">
                                      <p:cBhvr>
                                        <p:cTn id="66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00" y="18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-3.08642E-6 L 0.2059 -3.08642E-6 C 0.29843 -3.08642E-6 0.41232 0.03087 0.41232 0.05618 L 0.41232 0.11327 " pathEditMode="relative" rAng="0" ptsTypes="AAAA">
                                      <p:cBhvr>
                                        <p:cTn id="70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600" y="56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-4.93827E-6 L 0.26198 -4.93827E-6 C 0.37951 -4.93827E-6 0.52413 0.05247 0.52413 0.09507 L 0.52413 0.19044 " pathEditMode="relative" rAng="0" ptsTypes="AAAA">
                                      <p:cBhvr>
                                        <p:cTn id="74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200" y="9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0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1232 0.11327 L 0.45139 0.11327 C 0.46909 0.11327 0.4908 0.13519 0.4908 0.15309 L 0.4908 0.19352 " pathEditMode="relative" rAng="0" ptsTypes="AAAA">
                                      <p:cBhvr>
                                        <p:cTn id="88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00" y="4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9982 0.03148 L 0.37604 0.03148 C 0.41041 0.03148 0.45329 0.07562 0.45329 0.11173 L 0.45329 0.19321 " pathEditMode="relative" rAng="0" ptsTypes="AAAA">
                                      <p:cBhvr>
                                        <p:cTn id="92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700" y="81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ldLvl="0" animBg="1"/>
      <p:bldP spid="17" grpId="0" bldLvl="0" animBg="1"/>
      <p:bldP spid="18" grpId="0" bldLvl="0" animBg="1"/>
      <p:bldP spid="19" grpId="0"/>
      <p:bldP spid="20" grpId="0"/>
      <p:bldP spid="21" grpId="0"/>
      <p:bldP spid="22" grpId="0"/>
      <p:bldP spid="24" grpId="0" bldLvl="0" animBg="1"/>
      <p:bldP spid="24" grpId="1" bldLvl="0" animBg="1"/>
      <p:bldP spid="28" grpId="0" bldLvl="0" animBg="1"/>
      <p:bldP spid="28" grpId="1" bldLvl="0" animBg="1"/>
      <p:bldP spid="28" grpId="2" bldLvl="0" animBg="1"/>
      <p:bldP spid="29" grpId="0" bldLvl="0" animBg="1"/>
      <p:bldP spid="29" grpId="1" bldLvl="0" animBg="1"/>
      <p:bldP spid="29" grpId="2" bldLvl="0" animBg="1"/>
      <p:bldP spid="2" grpId="0" bldLvl="0" animBg="1"/>
      <p:bldP spid="30" grpId="0"/>
      <p:bldP spid="31" grpId="0"/>
      <p:bldP spid="32" grpId="0"/>
      <p:bldP spid="10263" grpId="0"/>
      <p:bldP spid="25" grpId="0"/>
      <p:bldP spid="2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373063" y="946150"/>
            <a:ext cx="5080000" cy="147637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 (Heap) 的作用</a:t>
            </a:r>
            <a:endParaRPr lang="zh-CN" altLang="en-US" sz="14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堆的作用是提供全</a:t>
            </a:r>
            <a:r>
              <a:rPr lang="zh-CN" altLang="en-US" sz="1400" b="0" i="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局的、动态的、生命周期可控的内存空间</a:t>
            </a: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。当你需要在多个函数间共享一块数据，或者需要的数据大小在编译时无法确定（比如根据用户输入决定数组大小），就必须使用堆。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401118" y="946150"/>
            <a:ext cx="5080000" cy="249174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栈 (Stack) 的作用</a:t>
            </a:r>
            <a:endParaRPr lang="zh-CN" altLang="en-US" sz="14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栈是为函数的执行而服务的，它的核心作用是</a:t>
            </a:r>
            <a:r>
              <a:rPr lang="zh-CN" altLang="en-US" sz="1400" b="0" i="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维护函数调用的上下文</a:t>
            </a: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。每当调用一个函数时，系统会在栈上为其分配一块称为 “栈帧 (Stack Frame)” 的内存区域，用于存放：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函数的返回地址：函数执行完后，应该回到调用它的下一条指令的地址。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函数的参数：调用函数时传入的实参。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函数的局部变量：在函数内部定义的非静态局部变量。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函数的调用上下文：一些需要保存的寄存器值。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9"/>
          <p:cNvSpPr txBox="1"/>
          <p:nvPr/>
        </p:nvSpPr>
        <p:spPr>
          <a:xfrm>
            <a:off x="181293" y="7366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任务是怎么调度的？</a:t>
            </a:r>
            <a:endParaRPr lang="zh-CN" altLang="en-US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45110" y="784225"/>
            <a:ext cx="8455025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/>
            <a:r>
              <a:rPr lang="zh-CN" altLang="en-US" sz="1600" b="0" i="0">
                <a:solidFill>
                  <a:srgbClr val="404040"/>
                </a:solidFill>
                <a:latin typeface="quote-cjk-patch"/>
                <a:ea typeface="quote-cjk-patch"/>
              </a:rPr>
              <a:t>调度器的核心任务是：始终让最高优先级的、就绪的任务运行。</a:t>
            </a:r>
            <a:endParaRPr lang="zh-CN" altLang="en-US" sz="1600" b="0" i="0">
              <a:solidFill>
                <a:srgbClr val="404040"/>
              </a:solidFill>
              <a:latin typeface="quote-cjk-patch"/>
              <a:ea typeface="quote-cjk-patch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6775" y="1151255"/>
            <a:ext cx="6088380" cy="461073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44475" y="1285875"/>
            <a:ext cx="5702300" cy="447611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altLang="zh-CN" sz="1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R0-R12</a:t>
            </a:r>
            <a:r>
              <a:rPr lang="zh-CN" altLang="en-US" sz="1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：通用寄存器 </a:t>
            </a:r>
            <a:endParaRPr lang="zh-CN" altLang="en-US" sz="10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R0‐R12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都是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32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位通用寄存器，用于数据操作。但是注意：绝大多数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16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位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Thumb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指令只能访 </a:t>
            </a:r>
            <a:endParaRPr lang="zh-CN" alt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问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R0‐R7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，而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32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位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Thumb‐2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指令可以访问所有寄存器。 </a:t>
            </a:r>
            <a:endParaRPr lang="en-US" altLang="zh-CN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lvl="1"/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R0	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通常存放堆内存地址（返回值）</a:t>
            </a:r>
            <a:endParaRPr lang="zh-CN" alt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lvl="1"/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R1-R3	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传递参数（如大小、标志）</a:t>
            </a:r>
            <a:endParaRPr lang="zh-CN" alt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lvl="1"/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R4-R11	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保存堆指针、临时存储堆地址</a:t>
            </a:r>
            <a:endParaRPr lang="zh-CN" alt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lvl="1"/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R12 (IP)	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临时寄存器，可能用于堆地址计算</a:t>
            </a:r>
            <a:endParaRPr lang="zh-CN" alt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en-US" altLang="zh-CN" sz="1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Banked R13: </a:t>
            </a:r>
            <a:r>
              <a:rPr lang="zh-CN" altLang="en-US" sz="1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两个堆栈指针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endParaRPr lang="zh-CN" alt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Cortex‐M3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拥有两个堆栈指针，然而它们是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banked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，因此任一时刻只能使用其中的一个。 </a:t>
            </a:r>
            <a:endParaRPr lang="zh-CN" alt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indent="457200"/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主堆栈指针（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MSP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）：复位后缺省使用的堆栈指针，用于操作系统内核以及异常处理例程（包括中断服务例程） </a:t>
            </a:r>
            <a:endParaRPr lang="zh-CN" alt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indent="457200"/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进程堆栈指针（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PSP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）：由用户的应用程序代码使用。 </a:t>
            </a:r>
            <a:endParaRPr lang="zh-CN" alt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堆栈指针的最低两位永远是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0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，这意味着堆栈总是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4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字节对齐的。 </a:t>
            </a:r>
            <a:endParaRPr lang="zh-CN" alt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在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ARM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编程领域中，凡是打断程序顺序执行的事件，都被称为异常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(exception)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。除了</a:t>
            </a:r>
            <a:r>
              <a:rPr lang="zh-CN" altLang="en-US" sz="1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外部中断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外，当有指令执 行了“非法操作”，或者</a:t>
            </a:r>
            <a:r>
              <a:rPr lang="zh-CN" altLang="en-US" sz="1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访问被禁的内存区间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，因各种错误产生的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fault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，以及不可屏蔽中断发生时，都会打断程序的 执行，这些情况统称为异常。在不严格的上下文中，异常与中断也可以混用。另外，程序代码也可以主动请求进入 异常状态的（常用于系统调用）。 </a:t>
            </a:r>
            <a:endParaRPr lang="zh-CN" alt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en-US" altLang="zh-CN" sz="1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R14</a:t>
            </a:r>
            <a:r>
              <a:rPr lang="zh-CN" altLang="en-US" sz="1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：连接寄存器 </a:t>
            </a:r>
            <a:endParaRPr lang="zh-CN" altLang="en-US" sz="10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当呼叫一个子程序时，由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R14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存储返回地址不像大多数其它处理器，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ARM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为了减少访问内存的次数（访问内存的操作往往要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3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个以上指令周期，带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MMU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和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cache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的就更加不确定了），把返回地址直接存储在寄存器中。这样足以使很多只有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1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级子程序调用的代码无需访问内存（堆栈内存），从而提高了子程序调用的效率。如果多于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1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级，则需要把前一级的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R14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值压到堆栈里。在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ARM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上编程时，应尽量只使用寄存器保存中间结果，迫不得以时才访问内存。在 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RISC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处理器中，为了强调访内操作越过了处理器的界线，并且带来了对性能的不利影响，给它取了一个专业的术语：溅出。 </a:t>
            </a:r>
            <a:endParaRPr lang="zh-CN" alt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en-US" altLang="zh-CN" sz="1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R15</a:t>
            </a:r>
            <a:r>
              <a:rPr lang="zh-CN" altLang="en-US" sz="1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：程序计数寄存器 </a:t>
            </a:r>
            <a:endParaRPr lang="zh-CN" altLang="en-US" sz="10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指向当前的程序地址。如果修改它的值，就能改变程序的执行流（很多高级技巧就在这里面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——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译注）。 </a:t>
            </a:r>
            <a:endParaRPr lang="zh-CN" alt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特殊功能寄存器 </a:t>
            </a:r>
            <a:endParaRPr lang="zh-CN" alt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Cortex‐M3 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还在内核水平上搭载了若干特殊功能寄存器，包括程序状态字寄存器组（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PSRs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）中断屏蔽寄存器组（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PRIMASK, FAULTMASK, BASEPRI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）控制寄存器（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CONTROL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  <a:endParaRPr lang="zh-CN" alt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文本框 9"/>
          <p:cNvSpPr txBox="1"/>
          <p:nvPr/>
        </p:nvSpPr>
        <p:spPr>
          <a:xfrm>
            <a:off x="240348" y="137795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开启任务调度器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4105" name="文本框 42"/>
          <p:cNvSpPr txBox="1"/>
          <p:nvPr/>
        </p:nvSpPr>
        <p:spPr>
          <a:xfrm>
            <a:off x="570548" y="674370"/>
            <a:ext cx="461645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vTaskStartScheduler()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06" name="文本框 17"/>
          <p:cNvSpPr txBox="1"/>
          <p:nvPr/>
        </p:nvSpPr>
        <p:spPr>
          <a:xfrm>
            <a:off x="570548" y="1025208"/>
            <a:ext cx="77231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作用：用于启动任务调度器，任务调度器启动后，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便会开始进行任务调度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07" name="文本框 19"/>
          <p:cNvSpPr txBox="1"/>
          <p:nvPr/>
        </p:nvSpPr>
        <p:spPr>
          <a:xfrm>
            <a:off x="570548" y="1847533"/>
            <a:ext cx="4003675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、创建空闲任务</a:t>
            </a:r>
            <a:endParaRPr lang="zh-CN" altLang="en-US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08" name="文本框 21"/>
          <p:cNvSpPr txBox="1"/>
          <p:nvPr/>
        </p:nvSpPr>
        <p:spPr>
          <a:xfrm>
            <a:off x="570548" y="2253933"/>
            <a:ext cx="4567237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、如果使能软件定时器，则创建定时器任务</a:t>
            </a:r>
            <a:endParaRPr lang="zh-CN" altLang="en-US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09" name="文本框 23"/>
          <p:cNvSpPr txBox="1"/>
          <p:nvPr/>
        </p:nvSpPr>
        <p:spPr>
          <a:xfrm>
            <a:off x="570548" y="2660333"/>
            <a:ext cx="6037262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、关闭中断，防止调度器开启之前或过程中，受中断干扰，会在运行第一个任务时打开中断</a:t>
            </a:r>
            <a:endParaRPr lang="zh-CN" altLang="en-US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10" name="文本框 25"/>
          <p:cNvSpPr txBox="1"/>
          <p:nvPr/>
        </p:nvSpPr>
        <p:spPr>
          <a:xfrm>
            <a:off x="570548" y="3066733"/>
            <a:ext cx="4289425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、初始化全局变量，并将任务调度器的运行标志设置为已运行</a:t>
            </a:r>
            <a:endParaRPr lang="en-US" altLang="zh-CN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11" name="文本框 27"/>
          <p:cNvSpPr txBox="1"/>
          <p:nvPr/>
        </p:nvSpPr>
        <p:spPr>
          <a:xfrm>
            <a:off x="570548" y="3474720"/>
            <a:ext cx="4129087" cy="2603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、初始化任务运行时间统计功能的时基定时器 </a:t>
            </a:r>
            <a:endParaRPr lang="en-US" altLang="zh-CN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12" name="文本框 29"/>
          <p:cNvSpPr txBox="1"/>
          <p:nvPr/>
        </p:nvSpPr>
        <p:spPr>
          <a:xfrm>
            <a:off x="570548" y="3881120"/>
            <a:ext cx="4129087" cy="2619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6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、调用函数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xPortStartScheduler() </a:t>
            </a:r>
            <a:endParaRPr lang="en-US" altLang="zh-CN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13" name="文本框 17"/>
          <p:cNvSpPr txBox="1"/>
          <p:nvPr/>
        </p:nvSpPr>
        <p:spPr>
          <a:xfrm>
            <a:off x="570548" y="1447483"/>
            <a:ext cx="24399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该函数内部实现，如下：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05" grpId="0"/>
      <p:bldP spid="4107" grpId="0"/>
      <p:bldP spid="4108" grpId="0"/>
      <p:bldP spid="4109" grpId="0"/>
      <p:bldP spid="4110" grpId="0"/>
      <p:bldP spid="4111" grpId="0"/>
      <p:bldP spid="4112" grpId="0"/>
      <p:bldP spid="411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4" name="文本框 9"/>
          <p:cNvSpPr txBox="1"/>
          <p:nvPr/>
        </p:nvSpPr>
        <p:spPr>
          <a:xfrm>
            <a:off x="1432878" y="803275"/>
            <a:ext cx="253523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任务切换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2297" name="文本框 9"/>
          <p:cNvSpPr txBox="1"/>
          <p:nvPr/>
        </p:nvSpPr>
        <p:spPr>
          <a:xfrm>
            <a:off x="1659890" y="1327150"/>
            <a:ext cx="7705725" cy="3825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任务切换的本质：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就是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CPU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寄存器的切换。</a:t>
            </a:r>
            <a:endParaRPr lang="en-US" altLang="zh-CN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298" name="文本框 12"/>
          <p:cNvSpPr txBox="1"/>
          <p:nvPr/>
        </p:nvSpPr>
        <p:spPr>
          <a:xfrm>
            <a:off x="1656715" y="3009900"/>
            <a:ext cx="6815138" cy="3063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保存现场，对任务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恢复现场，这个整体的过程称之为：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上下文切换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299" name="文本框 13"/>
          <p:cNvSpPr txBox="1"/>
          <p:nvPr/>
        </p:nvSpPr>
        <p:spPr>
          <a:xfrm>
            <a:off x="1656715" y="2128838"/>
            <a:ext cx="7962900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第一步：需暂停任务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的执行，并将此时任务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的寄存器保存到任务堆栈，这个过程叫做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保存现场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；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12300" name="文本框 14"/>
          <p:cNvSpPr txBox="1"/>
          <p:nvPr/>
        </p:nvSpPr>
        <p:spPr>
          <a:xfrm>
            <a:off x="1656715" y="2544763"/>
            <a:ext cx="8375650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第二步：将任务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的各个寄存器值（被存于任务堆栈中）恢复到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CPU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寄存器中，这个过程叫做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恢复现场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；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301" name="文本框 16"/>
          <p:cNvSpPr txBox="1"/>
          <p:nvPr/>
        </p:nvSpPr>
        <p:spPr>
          <a:xfrm>
            <a:off x="1656715" y="1789113"/>
            <a:ext cx="4622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假设当由任务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切换到任务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时，主要分为两步：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73063" y="3760788"/>
            <a:ext cx="5080000" cy="147637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 (Heap) 的作用</a:t>
            </a:r>
            <a:endParaRPr lang="zh-CN" altLang="en-US" sz="14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堆的作用是提供全局的、动态的、生命周期可控的内存空间。当你需要在多个函数间共享一块数据，或者需要的数据大小在编译时无法确定（比如根据用户输入决定数组大小），就必须使用堆。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6401118" y="3611880"/>
            <a:ext cx="5080000" cy="249174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栈 (Stack) 的作用</a:t>
            </a:r>
            <a:endParaRPr lang="zh-CN" altLang="en-US" sz="14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栈是为函数的执行而服务的，它的核心作用是维护函数调用的上下文。每当调用一个函数时，系统会在栈上为其分配一块称为 “栈帧 (Stack Frame)” 的内存区域，用于存放：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函数的返回地址：函数执行完后，应该回到调用它的下一条指令的地址。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函数的参数：调用函数时传入的实参。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函数的局部变量：在函数内部定义的非静态局部变量。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函数的调用上下文：一些需要保存的寄存器值。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7" grpId="0"/>
      <p:bldP spid="12298" grpId="0"/>
      <p:bldP spid="12299" grpId="0"/>
      <p:bldP spid="12300" grpId="0"/>
      <p:bldP spid="1230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文本框 9"/>
          <p:cNvSpPr txBox="1"/>
          <p:nvPr/>
        </p:nvSpPr>
        <p:spPr>
          <a:xfrm>
            <a:off x="1669733" y="584200"/>
            <a:ext cx="253523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任务切换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pSp>
        <p:nvGrpSpPr>
          <p:cNvPr id="13315" name="组合 18"/>
          <p:cNvGrpSpPr/>
          <p:nvPr/>
        </p:nvGrpSpPr>
        <p:grpSpPr>
          <a:xfrm>
            <a:off x="6648133" y="1768475"/>
            <a:ext cx="1263650" cy="3794125"/>
            <a:chOff x="3682471" y="835824"/>
            <a:chExt cx="1263487" cy="3794125"/>
          </a:xfrm>
        </p:grpSpPr>
        <p:sp>
          <p:nvSpPr>
            <p:cNvPr id="78" name="矩形 77"/>
            <p:cNvSpPr/>
            <p:nvPr/>
          </p:nvSpPr>
          <p:spPr>
            <a:xfrm>
              <a:off x="3711042" y="1078712"/>
              <a:ext cx="1199995" cy="3551237"/>
            </a:xfrm>
            <a:prstGeom prst="rect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425" name="文本框 112"/>
            <p:cNvSpPr txBox="1"/>
            <p:nvPr/>
          </p:nvSpPr>
          <p:spPr>
            <a:xfrm>
              <a:off x="3682471" y="835824"/>
              <a:ext cx="1263487" cy="26161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任务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B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的任务堆栈</a:t>
              </a:r>
              <a:endPara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cxnSp>
          <p:nvCxnSpPr>
            <p:cNvPr id="80" name="直接连接符 79"/>
            <p:cNvCxnSpPr/>
            <p:nvPr/>
          </p:nvCxnSpPr>
          <p:spPr>
            <a:xfrm>
              <a:off x="3701519" y="1278737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/>
            <p:cNvCxnSpPr/>
            <p:nvPr/>
          </p:nvCxnSpPr>
          <p:spPr>
            <a:xfrm>
              <a:off x="3701519" y="1499399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连接符 81"/>
            <p:cNvCxnSpPr/>
            <p:nvPr/>
          </p:nvCxnSpPr>
          <p:spPr>
            <a:xfrm>
              <a:off x="3701519" y="1720062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连接符 82"/>
            <p:cNvCxnSpPr/>
            <p:nvPr/>
          </p:nvCxnSpPr>
          <p:spPr>
            <a:xfrm>
              <a:off x="3701519" y="1940724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连接符 83"/>
            <p:cNvCxnSpPr/>
            <p:nvPr/>
          </p:nvCxnSpPr>
          <p:spPr>
            <a:xfrm>
              <a:off x="3701519" y="2161387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/>
            <p:cNvCxnSpPr/>
            <p:nvPr/>
          </p:nvCxnSpPr>
          <p:spPr>
            <a:xfrm>
              <a:off x="3701519" y="2382049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连接符 85"/>
            <p:cNvCxnSpPr/>
            <p:nvPr/>
          </p:nvCxnSpPr>
          <p:spPr>
            <a:xfrm>
              <a:off x="3701519" y="2602712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接连接符 86"/>
            <p:cNvCxnSpPr/>
            <p:nvPr/>
          </p:nvCxnSpPr>
          <p:spPr>
            <a:xfrm>
              <a:off x="3701519" y="2823374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接连接符 87"/>
            <p:cNvCxnSpPr/>
            <p:nvPr/>
          </p:nvCxnSpPr>
          <p:spPr>
            <a:xfrm>
              <a:off x="3701519" y="3044037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接连接符 88"/>
            <p:cNvCxnSpPr/>
            <p:nvPr/>
          </p:nvCxnSpPr>
          <p:spPr>
            <a:xfrm>
              <a:off x="3701519" y="3264699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接连接符 89"/>
            <p:cNvCxnSpPr/>
            <p:nvPr/>
          </p:nvCxnSpPr>
          <p:spPr>
            <a:xfrm>
              <a:off x="3701519" y="3485362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接连接符 90"/>
            <p:cNvCxnSpPr/>
            <p:nvPr/>
          </p:nvCxnSpPr>
          <p:spPr>
            <a:xfrm>
              <a:off x="3701519" y="3706024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接连接符 91"/>
            <p:cNvCxnSpPr/>
            <p:nvPr/>
          </p:nvCxnSpPr>
          <p:spPr>
            <a:xfrm>
              <a:off x="3711042" y="3926687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439" name="文本框 142"/>
            <p:cNvSpPr txBox="1"/>
            <p:nvPr/>
          </p:nvSpPr>
          <p:spPr>
            <a:xfrm>
              <a:off x="3877734" y="1066011"/>
              <a:ext cx="868362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xPSR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0" name="文本框 143"/>
            <p:cNvSpPr txBox="1"/>
            <p:nvPr/>
          </p:nvSpPr>
          <p:spPr>
            <a:xfrm>
              <a:off x="3965046" y="1285086"/>
              <a:ext cx="612668" cy="246221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Task_b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1" name="文本框 144"/>
            <p:cNvSpPr txBox="1"/>
            <p:nvPr/>
          </p:nvSpPr>
          <p:spPr>
            <a:xfrm>
              <a:off x="3938059" y="1513686"/>
              <a:ext cx="717550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LR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2" name="文本框 145"/>
            <p:cNvSpPr txBox="1"/>
            <p:nvPr/>
          </p:nvSpPr>
          <p:spPr>
            <a:xfrm>
              <a:off x="3919009" y="1721649"/>
              <a:ext cx="790575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R12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3" name="文本框 146"/>
            <p:cNvSpPr txBox="1"/>
            <p:nvPr/>
          </p:nvSpPr>
          <p:spPr>
            <a:xfrm>
              <a:off x="3936471" y="2170911"/>
              <a:ext cx="720725" cy="24765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R2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4" name="文本框 154"/>
            <p:cNvSpPr txBox="1"/>
            <p:nvPr/>
          </p:nvSpPr>
          <p:spPr>
            <a:xfrm>
              <a:off x="3925359" y="1959774"/>
              <a:ext cx="720725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R3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5" name="文本框 155"/>
            <p:cNvSpPr txBox="1"/>
            <p:nvPr/>
          </p:nvSpPr>
          <p:spPr>
            <a:xfrm>
              <a:off x="3944409" y="2404274"/>
              <a:ext cx="720725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R1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6" name="文本框 156"/>
            <p:cNvSpPr txBox="1"/>
            <p:nvPr/>
          </p:nvSpPr>
          <p:spPr>
            <a:xfrm>
              <a:off x="3934884" y="2623349"/>
              <a:ext cx="720725" cy="24765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R0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7" name="文本框 157"/>
            <p:cNvSpPr txBox="1"/>
            <p:nvPr/>
          </p:nvSpPr>
          <p:spPr>
            <a:xfrm>
              <a:off x="3780896" y="2839249"/>
              <a:ext cx="982663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EXC_RETURN</a:t>
              </a:r>
              <a:endParaRPr lang="en-US" altLang="zh-CN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8" name="文本框 158"/>
            <p:cNvSpPr txBox="1"/>
            <p:nvPr/>
          </p:nvSpPr>
          <p:spPr>
            <a:xfrm>
              <a:off x="3899959" y="3074199"/>
              <a:ext cx="790575" cy="24765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R11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9" name="文本框 159"/>
            <p:cNvSpPr txBox="1"/>
            <p:nvPr/>
          </p:nvSpPr>
          <p:spPr>
            <a:xfrm>
              <a:off x="3899959" y="3283749"/>
              <a:ext cx="790575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R10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50" name="文本框 160"/>
            <p:cNvSpPr txBox="1"/>
            <p:nvPr/>
          </p:nvSpPr>
          <p:spPr>
            <a:xfrm>
              <a:off x="4060296" y="3485361"/>
              <a:ext cx="469900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… …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51" name="文本框 161"/>
            <p:cNvSpPr txBox="1"/>
            <p:nvPr/>
          </p:nvSpPr>
          <p:spPr>
            <a:xfrm>
              <a:off x="3919009" y="3713961"/>
              <a:ext cx="719137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R5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52" name="文本框 162"/>
            <p:cNvSpPr txBox="1"/>
            <p:nvPr/>
          </p:nvSpPr>
          <p:spPr>
            <a:xfrm>
              <a:off x="3919009" y="3952086"/>
              <a:ext cx="719137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R4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cxnSp>
          <p:nvCxnSpPr>
            <p:cNvPr id="149" name="直接连接符 148"/>
            <p:cNvCxnSpPr/>
            <p:nvPr/>
          </p:nvCxnSpPr>
          <p:spPr>
            <a:xfrm>
              <a:off x="3701519" y="4182274"/>
              <a:ext cx="1209519" cy="15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454" name="文本框 162"/>
            <p:cNvSpPr txBox="1"/>
            <p:nvPr/>
          </p:nvSpPr>
          <p:spPr>
            <a:xfrm>
              <a:off x="3769947" y="4334912"/>
              <a:ext cx="1082348" cy="246221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其他任务栈空间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</p:grpSp>
      <p:grpSp>
        <p:nvGrpSpPr>
          <p:cNvPr id="13316" name="组合 21"/>
          <p:cNvGrpSpPr/>
          <p:nvPr/>
        </p:nvGrpSpPr>
        <p:grpSpPr>
          <a:xfrm>
            <a:off x="3743008" y="1762125"/>
            <a:ext cx="2994025" cy="3794125"/>
            <a:chOff x="654944" y="1034655"/>
            <a:chExt cx="2993947" cy="3794125"/>
          </a:xfrm>
        </p:grpSpPr>
        <p:grpSp>
          <p:nvGrpSpPr>
            <p:cNvPr id="15388" name="组合 16"/>
            <p:cNvGrpSpPr/>
            <p:nvPr/>
          </p:nvGrpSpPr>
          <p:grpSpPr>
            <a:xfrm>
              <a:off x="654944" y="1034655"/>
              <a:ext cx="1257300" cy="3794125"/>
              <a:chOff x="537361" y="931072"/>
              <a:chExt cx="1257300" cy="3794125"/>
            </a:xfrm>
          </p:grpSpPr>
          <p:sp>
            <p:nvSpPr>
              <p:cNvPr id="112" name="矩形 111"/>
              <p:cNvSpPr/>
              <p:nvPr/>
            </p:nvSpPr>
            <p:spPr>
              <a:xfrm>
                <a:off x="565935" y="1173960"/>
                <a:ext cx="1200119" cy="3551237"/>
              </a:xfrm>
              <a:prstGeom prst="rect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marL="0" marR="0" lvl="0" indent="0" algn="ctr" defTabSz="4572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5394" name="文本框 112"/>
              <p:cNvSpPr txBox="1"/>
              <p:nvPr/>
            </p:nvSpPr>
            <p:spPr>
              <a:xfrm>
                <a:off x="537361" y="931072"/>
                <a:ext cx="1257300" cy="261937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zh-CN" altLang="en-US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任务</a:t>
                </a:r>
                <a:r>
                  <a:rPr lang="en-US" altLang="zh-CN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A</a:t>
                </a:r>
                <a:r>
                  <a:rPr lang="zh-CN" altLang="en-US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的任务堆栈</a:t>
                </a:r>
                <a:endPara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cxnSp>
            <p:nvCxnSpPr>
              <p:cNvPr id="114" name="直接连接符 113"/>
              <p:cNvCxnSpPr/>
              <p:nvPr/>
            </p:nvCxnSpPr>
            <p:spPr>
              <a:xfrm>
                <a:off x="556411" y="1373985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/>
              <p:cNvCxnSpPr/>
              <p:nvPr/>
            </p:nvCxnSpPr>
            <p:spPr>
              <a:xfrm>
                <a:off x="556411" y="1594647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直接连接符 115"/>
              <p:cNvCxnSpPr/>
              <p:nvPr/>
            </p:nvCxnSpPr>
            <p:spPr>
              <a:xfrm>
                <a:off x="556411" y="1815310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接连接符 116"/>
              <p:cNvCxnSpPr/>
              <p:nvPr/>
            </p:nvCxnSpPr>
            <p:spPr>
              <a:xfrm>
                <a:off x="556411" y="2035972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接连接符 117"/>
              <p:cNvCxnSpPr/>
              <p:nvPr/>
            </p:nvCxnSpPr>
            <p:spPr>
              <a:xfrm>
                <a:off x="556411" y="2256635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接连接符 118"/>
              <p:cNvCxnSpPr/>
              <p:nvPr/>
            </p:nvCxnSpPr>
            <p:spPr>
              <a:xfrm>
                <a:off x="556411" y="2477297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接连接符 119"/>
              <p:cNvCxnSpPr/>
              <p:nvPr/>
            </p:nvCxnSpPr>
            <p:spPr>
              <a:xfrm>
                <a:off x="556411" y="2697960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接连接符 120"/>
              <p:cNvCxnSpPr/>
              <p:nvPr/>
            </p:nvCxnSpPr>
            <p:spPr>
              <a:xfrm>
                <a:off x="556411" y="2918622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接连接符 121"/>
              <p:cNvCxnSpPr/>
              <p:nvPr/>
            </p:nvCxnSpPr>
            <p:spPr>
              <a:xfrm>
                <a:off x="556411" y="3139285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接连接符 122"/>
              <p:cNvCxnSpPr/>
              <p:nvPr/>
            </p:nvCxnSpPr>
            <p:spPr>
              <a:xfrm>
                <a:off x="556411" y="3359947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直接连接符 123"/>
              <p:cNvCxnSpPr/>
              <p:nvPr/>
            </p:nvCxnSpPr>
            <p:spPr>
              <a:xfrm>
                <a:off x="556411" y="3580610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接连接符 124"/>
              <p:cNvCxnSpPr/>
              <p:nvPr/>
            </p:nvCxnSpPr>
            <p:spPr>
              <a:xfrm>
                <a:off x="556411" y="3801272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接连接符 125"/>
              <p:cNvCxnSpPr/>
              <p:nvPr/>
            </p:nvCxnSpPr>
            <p:spPr>
              <a:xfrm>
                <a:off x="565935" y="4021935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408" name="文本框 142"/>
              <p:cNvSpPr txBox="1"/>
              <p:nvPr/>
            </p:nvSpPr>
            <p:spPr>
              <a:xfrm>
                <a:off x="732624" y="1161259"/>
                <a:ext cx="868362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xPSR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09" name="文本框 143"/>
              <p:cNvSpPr txBox="1"/>
              <p:nvPr/>
            </p:nvSpPr>
            <p:spPr>
              <a:xfrm>
                <a:off x="819936" y="1380334"/>
                <a:ext cx="606256" cy="246221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Task_a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0" name="文本框 144"/>
              <p:cNvSpPr txBox="1"/>
              <p:nvPr/>
            </p:nvSpPr>
            <p:spPr>
              <a:xfrm>
                <a:off x="792949" y="1608934"/>
                <a:ext cx="717550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LR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1" name="文本框 145"/>
              <p:cNvSpPr txBox="1"/>
              <p:nvPr/>
            </p:nvSpPr>
            <p:spPr>
              <a:xfrm>
                <a:off x="773899" y="1816897"/>
                <a:ext cx="790575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R12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2" name="文本框 146"/>
              <p:cNvSpPr txBox="1"/>
              <p:nvPr/>
            </p:nvSpPr>
            <p:spPr>
              <a:xfrm>
                <a:off x="791361" y="2266159"/>
                <a:ext cx="720725" cy="2476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R2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3" name="文本框 154"/>
              <p:cNvSpPr txBox="1"/>
              <p:nvPr/>
            </p:nvSpPr>
            <p:spPr>
              <a:xfrm>
                <a:off x="780249" y="2055022"/>
                <a:ext cx="720725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R3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4" name="文本框 155"/>
              <p:cNvSpPr txBox="1"/>
              <p:nvPr/>
            </p:nvSpPr>
            <p:spPr>
              <a:xfrm>
                <a:off x="799299" y="2499522"/>
                <a:ext cx="720725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R1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5" name="文本框 156"/>
              <p:cNvSpPr txBox="1"/>
              <p:nvPr/>
            </p:nvSpPr>
            <p:spPr>
              <a:xfrm>
                <a:off x="789774" y="2718597"/>
                <a:ext cx="720725" cy="2476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R0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6" name="文本框 157"/>
              <p:cNvSpPr txBox="1"/>
              <p:nvPr/>
            </p:nvSpPr>
            <p:spPr>
              <a:xfrm>
                <a:off x="635786" y="2934497"/>
                <a:ext cx="982663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EXC_RETURN</a:t>
                </a:r>
                <a:endPara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7" name="文本框 158"/>
              <p:cNvSpPr txBox="1"/>
              <p:nvPr/>
            </p:nvSpPr>
            <p:spPr>
              <a:xfrm>
                <a:off x="754849" y="3169447"/>
                <a:ext cx="790575" cy="2476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R11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8" name="文本框 159"/>
              <p:cNvSpPr txBox="1"/>
              <p:nvPr/>
            </p:nvSpPr>
            <p:spPr>
              <a:xfrm>
                <a:off x="754849" y="3378997"/>
                <a:ext cx="790575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R10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9" name="文本框 160"/>
              <p:cNvSpPr txBox="1"/>
              <p:nvPr/>
            </p:nvSpPr>
            <p:spPr>
              <a:xfrm>
                <a:off x="915186" y="3580609"/>
                <a:ext cx="469900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… …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20" name="文本框 161"/>
              <p:cNvSpPr txBox="1"/>
              <p:nvPr/>
            </p:nvSpPr>
            <p:spPr>
              <a:xfrm>
                <a:off x="773899" y="3809209"/>
                <a:ext cx="719137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R5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21" name="文本框 162"/>
              <p:cNvSpPr txBox="1"/>
              <p:nvPr/>
            </p:nvSpPr>
            <p:spPr>
              <a:xfrm>
                <a:off x="773899" y="4047334"/>
                <a:ext cx="719137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R4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cxnSp>
            <p:nvCxnSpPr>
              <p:cNvPr id="3" name="直接连接符 2"/>
              <p:cNvCxnSpPr/>
              <p:nvPr/>
            </p:nvCxnSpPr>
            <p:spPr>
              <a:xfrm>
                <a:off x="556411" y="4277522"/>
                <a:ext cx="1209643" cy="15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423" name="文本框 162"/>
              <p:cNvSpPr txBox="1"/>
              <p:nvPr/>
            </p:nvSpPr>
            <p:spPr>
              <a:xfrm>
                <a:off x="624837" y="4430160"/>
                <a:ext cx="1082348" cy="246221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其他任务栈空间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</p:grpSp>
        <p:sp>
          <p:nvSpPr>
            <p:cNvPr id="14" name="右大括号 13"/>
            <p:cNvSpPr/>
            <p:nvPr/>
          </p:nvSpPr>
          <p:spPr>
            <a:xfrm>
              <a:off x="1912211" y="1350568"/>
              <a:ext cx="195257" cy="1557337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390" name="文本框 14"/>
            <p:cNvSpPr txBox="1"/>
            <p:nvPr/>
          </p:nvSpPr>
          <p:spPr>
            <a:xfrm>
              <a:off x="2053687" y="2002001"/>
              <a:ext cx="1595204" cy="246221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由硬件自动保存（压栈）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6" name="右大括号 15"/>
            <p:cNvSpPr/>
            <p:nvPr/>
          </p:nvSpPr>
          <p:spPr>
            <a:xfrm>
              <a:off x="1912211" y="3158730"/>
              <a:ext cx="185732" cy="1133475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392" name="文本框 151"/>
            <p:cNvSpPr txBox="1"/>
            <p:nvPr/>
          </p:nvSpPr>
          <p:spPr>
            <a:xfrm>
              <a:off x="2082107" y="3587354"/>
              <a:ext cx="1338740" cy="246221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需手动保存（压栈）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</p:grpSp>
      <p:sp>
        <p:nvSpPr>
          <p:cNvPr id="24" name="矩形 23"/>
          <p:cNvSpPr/>
          <p:nvPr/>
        </p:nvSpPr>
        <p:spPr>
          <a:xfrm>
            <a:off x="3771583" y="5108575"/>
            <a:ext cx="1209675" cy="45402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54" name="矩形 153"/>
          <p:cNvSpPr/>
          <p:nvPr/>
        </p:nvSpPr>
        <p:spPr>
          <a:xfrm>
            <a:off x="6684645" y="5121275"/>
            <a:ext cx="1209675" cy="45402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13319" name="组合 29"/>
          <p:cNvGrpSpPr/>
          <p:nvPr/>
        </p:nvGrpSpPr>
        <p:grpSpPr>
          <a:xfrm>
            <a:off x="1768158" y="1752600"/>
            <a:ext cx="1419225" cy="763588"/>
            <a:chOff x="6921572" y="319995"/>
            <a:chExt cx="1419225" cy="763742"/>
          </a:xfrm>
        </p:grpSpPr>
        <p:grpSp>
          <p:nvGrpSpPr>
            <p:cNvPr id="15383" name="组合 12"/>
            <p:cNvGrpSpPr/>
            <p:nvPr/>
          </p:nvGrpSpPr>
          <p:grpSpPr>
            <a:xfrm>
              <a:off x="6921572" y="319995"/>
              <a:ext cx="1419225" cy="763742"/>
              <a:chOff x="712788" y="1176338"/>
              <a:chExt cx="1419225" cy="3429000"/>
            </a:xfrm>
          </p:grpSpPr>
          <p:sp>
            <p:nvSpPr>
              <p:cNvPr id="7" name="矩形 6"/>
              <p:cNvSpPr/>
              <p:nvPr/>
            </p:nvSpPr>
            <p:spPr>
              <a:xfrm>
                <a:off x="712788" y="1176338"/>
                <a:ext cx="1419225" cy="3429000"/>
              </a:xfrm>
              <a:prstGeom prst="rect">
                <a:avLst/>
              </a:prstGeom>
              <a:ln>
                <a:solidFill>
                  <a:srgbClr val="00206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marL="0" marR="0" lvl="0" indent="0" algn="ctr" defTabSz="4572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5387" name="文本框 9"/>
              <p:cNvSpPr txBox="1"/>
              <p:nvPr/>
            </p:nvSpPr>
            <p:spPr>
              <a:xfrm>
                <a:off x="974247" y="1176338"/>
                <a:ext cx="886781" cy="26161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CPU</a:t>
                </a:r>
                <a:r>
                  <a:rPr lang="zh-CN" altLang="en-US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</p:grpSp>
        <p:sp>
          <p:nvSpPr>
            <p:cNvPr id="29" name="矩形 28"/>
            <p:cNvSpPr/>
            <p:nvPr/>
          </p:nvSpPr>
          <p:spPr>
            <a:xfrm>
              <a:off x="6966022" y="545465"/>
              <a:ext cx="1328737" cy="482697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385" name="文本框 154"/>
            <p:cNvSpPr txBox="1"/>
            <p:nvPr/>
          </p:nvSpPr>
          <p:spPr>
            <a:xfrm>
              <a:off x="6999486" y="693141"/>
              <a:ext cx="1253869" cy="26161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任务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A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各个寄存器</a:t>
              </a:r>
              <a:endPara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</p:grpSp>
      <p:sp>
        <p:nvSpPr>
          <p:cNvPr id="231" name="右大括号 230"/>
          <p:cNvSpPr/>
          <p:nvPr/>
        </p:nvSpPr>
        <p:spPr>
          <a:xfrm>
            <a:off x="7919720" y="2105025"/>
            <a:ext cx="195263" cy="15573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3321" name="文本框 231"/>
          <p:cNvSpPr txBox="1"/>
          <p:nvPr/>
        </p:nvSpPr>
        <p:spPr>
          <a:xfrm>
            <a:off x="8075295" y="2749550"/>
            <a:ext cx="1595438" cy="24765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由硬件自动恢复（出栈）</a:t>
            </a:r>
            <a:endParaRPr lang="zh-CN" altLang="en-US" sz="10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322" name="文本框 232"/>
          <p:cNvSpPr txBox="1"/>
          <p:nvPr/>
        </p:nvSpPr>
        <p:spPr>
          <a:xfrm>
            <a:off x="8075295" y="4286250"/>
            <a:ext cx="1339850" cy="246063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需手动恢复（出栈）</a:t>
            </a:r>
            <a:endParaRPr lang="zh-CN" altLang="en-US" sz="10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34" name="右大括号 233"/>
          <p:cNvSpPr/>
          <p:nvPr/>
        </p:nvSpPr>
        <p:spPr>
          <a:xfrm>
            <a:off x="7918133" y="3844925"/>
            <a:ext cx="185738" cy="113347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3324" name="文本框 1"/>
          <p:cNvSpPr txBox="1"/>
          <p:nvPr/>
        </p:nvSpPr>
        <p:spPr>
          <a:xfrm>
            <a:off x="1728470" y="1473200"/>
            <a:ext cx="1571625" cy="26193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①当前任务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在执行：</a:t>
            </a:r>
            <a:endParaRPr lang="zh-CN" altLang="en-US" sz="11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325" name="文本框 92"/>
          <p:cNvSpPr txBox="1"/>
          <p:nvPr/>
        </p:nvSpPr>
        <p:spPr>
          <a:xfrm>
            <a:off x="3344545" y="1355725"/>
            <a:ext cx="2003425" cy="430213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 algn="ctr"/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②切换至任务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的</a:t>
            </a:r>
            <a:endParaRPr lang="en-US" altLang="zh-CN" sz="11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algn="ctr"/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第一步：保存任务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的寄存器</a:t>
            </a:r>
            <a:endParaRPr lang="zh-CN" altLang="en-US" sz="11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326" name="文本框 93"/>
          <p:cNvSpPr txBox="1"/>
          <p:nvPr/>
        </p:nvSpPr>
        <p:spPr>
          <a:xfrm>
            <a:off x="6181408" y="1355725"/>
            <a:ext cx="2157412" cy="430213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 algn="ctr"/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③切换至任务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的</a:t>
            </a:r>
            <a:endParaRPr lang="en-US" altLang="zh-CN" sz="11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algn="ctr"/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第二步：将任务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的寄存器恢复</a:t>
            </a:r>
            <a:endParaRPr lang="zh-CN" altLang="en-US" sz="11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pSp>
        <p:nvGrpSpPr>
          <p:cNvPr id="13327" name="组合 29"/>
          <p:cNvGrpSpPr/>
          <p:nvPr/>
        </p:nvGrpSpPr>
        <p:grpSpPr>
          <a:xfrm>
            <a:off x="9057958" y="1739900"/>
            <a:ext cx="1419225" cy="763588"/>
            <a:chOff x="6921572" y="319995"/>
            <a:chExt cx="1419225" cy="763742"/>
          </a:xfrm>
        </p:grpSpPr>
        <p:grpSp>
          <p:nvGrpSpPr>
            <p:cNvPr id="15378" name="组合 12"/>
            <p:cNvGrpSpPr/>
            <p:nvPr/>
          </p:nvGrpSpPr>
          <p:grpSpPr>
            <a:xfrm>
              <a:off x="6921572" y="319995"/>
              <a:ext cx="1419225" cy="763742"/>
              <a:chOff x="712788" y="1176338"/>
              <a:chExt cx="1419225" cy="3429000"/>
            </a:xfrm>
          </p:grpSpPr>
          <p:sp>
            <p:nvSpPr>
              <p:cNvPr id="99" name="矩形 98"/>
              <p:cNvSpPr/>
              <p:nvPr/>
            </p:nvSpPr>
            <p:spPr>
              <a:xfrm>
                <a:off x="712788" y="1176338"/>
                <a:ext cx="1419225" cy="3429000"/>
              </a:xfrm>
              <a:prstGeom prst="rect">
                <a:avLst/>
              </a:prstGeom>
              <a:ln>
                <a:solidFill>
                  <a:srgbClr val="00206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marL="0" marR="0" lvl="0" indent="0" algn="ctr" defTabSz="4572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5382" name="文本框 9"/>
              <p:cNvSpPr txBox="1"/>
              <p:nvPr/>
            </p:nvSpPr>
            <p:spPr>
              <a:xfrm>
                <a:off x="974247" y="1176338"/>
                <a:ext cx="886781" cy="26161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CPU</a:t>
                </a:r>
                <a:r>
                  <a:rPr lang="zh-CN" altLang="en-US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</p:grpSp>
        <p:sp>
          <p:nvSpPr>
            <p:cNvPr id="97" name="矩形 96"/>
            <p:cNvSpPr/>
            <p:nvPr/>
          </p:nvSpPr>
          <p:spPr>
            <a:xfrm>
              <a:off x="6978722" y="545465"/>
              <a:ext cx="1328737" cy="482697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380" name="文本框 154"/>
            <p:cNvSpPr txBox="1"/>
            <p:nvPr/>
          </p:nvSpPr>
          <p:spPr>
            <a:xfrm>
              <a:off x="6999486" y="693141"/>
              <a:ext cx="1263487" cy="2616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任务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B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各个寄存器</a:t>
              </a:r>
              <a:endPara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</p:grpSp>
      <p:sp>
        <p:nvSpPr>
          <p:cNvPr id="13328" name="文本框 100"/>
          <p:cNvSpPr txBox="1"/>
          <p:nvPr/>
        </p:nvSpPr>
        <p:spPr>
          <a:xfrm>
            <a:off x="8892858" y="1420813"/>
            <a:ext cx="1771650" cy="26193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④任务切换后的寄存器：</a:t>
            </a:r>
            <a:endParaRPr lang="zh-CN" altLang="en-US" sz="11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377" name="文本框 1"/>
          <p:cNvSpPr txBox="1"/>
          <p:nvPr/>
        </p:nvSpPr>
        <p:spPr>
          <a:xfrm>
            <a:off x="5679758" y="776288"/>
            <a:ext cx="4719637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注意：任务切换的过程在</a:t>
            </a:r>
            <a:r>
              <a:rPr lang="en-US" altLang="zh-CN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PendSV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中断服务函数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里边完成</a:t>
            </a:r>
            <a:endParaRPr lang="zh-CN" altLang="en-US" sz="1400" b="1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3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ldLvl="0" animBg="1"/>
      <p:bldP spid="154" grpId="0" bldLvl="0" animBg="1"/>
      <p:bldP spid="231" grpId="0" bldLvl="0" animBg="1"/>
      <p:bldP spid="13321" grpId="0"/>
      <p:bldP spid="13322" grpId="0"/>
      <p:bldP spid="234" grpId="0" bldLvl="0" animBg="1"/>
      <p:bldP spid="13324" grpId="0"/>
      <p:bldP spid="13325" grpId="0"/>
      <p:bldP spid="13326" grpId="0"/>
      <p:bldP spid="13328" grpId="0"/>
      <p:bldP spid="15377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2" name="文本框 9"/>
          <p:cNvSpPr txBox="1"/>
          <p:nvPr/>
        </p:nvSpPr>
        <p:spPr>
          <a:xfrm>
            <a:off x="1767840" y="1274763"/>
            <a:ext cx="4846638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PendSV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中断是如何触发的？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2297" name="文本框 9"/>
          <p:cNvSpPr txBox="1"/>
          <p:nvPr/>
        </p:nvSpPr>
        <p:spPr>
          <a:xfrm>
            <a:off x="1771015" y="1781175"/>
            <a:ext cx="7705725" cy="3825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、滴答定时器中断调用</a:t>
            </a:r>
            <a:endParaRPr lang="en-US" altLang="zh-CN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301" name="文本框 16"/>
          <p:cNvSpPr txBox="1"/>
          <p:nvPr/>
        </p:nvSpPr>
        <p:spPr>
          <a:xfrm>
            <a:off x="1767840" y="2278063"/>
            <a:ext cx="4622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、执行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提供的相关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函数：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portYIELD() 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767840" y="2946400"/>
            <a:ext cx="4438650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本质：通过向中断控制和状态寄存器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ICSR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bit28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写入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挂起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PendSV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来启动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PendSV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中断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06490" y="1327150"/>
            <a:ext cx="4021138" cy="3989388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miter/>
            <a:headEnd type="none" w="med" len="med"/>
            <a:tailEnd type="none" w="med" len="med"/>
          </a:ln>
        </p:spPr>
      </p:pic>
      <p:sp>
        <p:nvSpPr>
          <p:cNvPr id="18" name="文本框 16"/>
          <p:cNvSpPr txBox="1"/>
          <p:nvPr/>
        </p:nvSpPr>
        <p:spPr>
          <a:xfrm>
            <a:off x="1731328" y="4102100"/>
            <a:ext cx="4622800" cy="3063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上表摘取于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《Cortex M3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权威指南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(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中文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)》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第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131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页。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7" grpId="0"/>
      <p:bldP spid="12301" grpId="0"/>
      <p:bldP spid="15" grpId="0"/>
      <p:bldP spid="1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4" name="文本框 9"/>
          <p:cNvSpPr txBox="1"/>
          <p:nvPr/>
        </p:nvSpPr>
        <p:spPr>
          <a:xfrm>
            <a:off x="1658938" y="1425575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任务的挂起与恢复的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2" name="表格 6"/>
          <p:cNvGraphicFramePr>
            <a:graphicFrameLocks noGrp="1"/>
          </p:cNvGraphicFramePr>
          <p:nvPr/>
        </p:nvGraphicFramePr>
        <p:xfrm>
          <a:off x="2054225" y="2274888"/>
          <a:ext cx="5208588" cy="14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4294"/>
                <a:gridCol w="2604294"/>
              </a:tblGrid>
              <a:tr h="36274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API</a:t>
                      </a:r>
                      <a:r>
                        <a:rPr lang="zh-CN" altLang="en-US" sz="1400" dirty="0"/>
                        <a:t>函数</a:t>
                      </a:r>
                      <a:endParaRPr lang="zh-CN" altLang="en-US" sz="1400" dirty="0"/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  <a:endParaRPr lang="zh-CN" altLang="en-US" sz="1400" dirty="0"/>
                    </a:p>
                  </a:txBody>
                  <a:tcPr marL="91428" marR="91428" marT="45722" marB="45722" anchor="ctr"/>
                </a:tc>
              </a:tr>
              <a:tr h="362744">
                <a:tc>
                  <a:txBody>
                    <a:bodyPr/>
                    <a:lstStyle/>
                    <a:p>
                      <a:r>
                        <a:rPr lang="en-US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vTaskSuspend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挂起任务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  <a:tr h="362744">
                <a:tc>
                  <a:txBody>
                    <a:bodyPr/>
                    <a:lstStyle/>
                    <a:p>
                      <a:r>
                        <a:rPr lang="en-US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vTaskResume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恢复被挂起的任务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  <a:tr h="362744">
                <a:tc>
                  <a:txBody>
                    <a:bodyPr/>
                    <a:lstStyle/>
                    <a:p>
                      <a:r>
                        <a:rPr lang="en-US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xTaskResumeFromISR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在中断中恢复被挂起的任务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" name="矩形: 圆角 8"/>
          <p:cNvSpPr/>
          <p:nvPr/>
        </p:nvSpPr>
        <p:spPr>
          <a:xfrm>
            <a:off x="2054225" y="4041775"/>
            <a:ext cx="1450975" cy="30638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挂起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7" name="矩形: 圆角 26"/>
          <p:cNvSpPr/>
          <p:nvPr/>
        </p:nvSpPr>
        <p:spPr>
          <a:xfrm>
            <a:off x="2054225" y="5016500"/>
            <a:ext cx="14509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“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FromISR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”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4124" name="文本框 2"/>
          <p:cNvSpPr txBox="1"/>
          <p:nvPr/>
        </p:nvSpPr>
        <p:spPr>
          <a:xfrm>
            <a:off x="3565525" y="4071938"/>
            <a:ext cx="579120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挂起任务类似暂停，可恢复； 删除任务，无法恢复，类似“人死两清”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25" name="文本框 16"/>
          <p:cNvSpPr txBox="1"/>
          <p:nvPr/>
        </p:nvSpPr>
        <p:spPr>
          <a:xfrm>
            <a:off x="3556000" y="5016500"/>
            <a:ext cx="4535488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带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FromISR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后缀是在中断函数中专用的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矩形: 圆角 13"/>
          <p:cNvSpPr/>
          <p:nvPr/>
        </p:nvSpPr>
        <p:spPr>
          <a:xfrm>
            <a:off x="2054225" y="4529138"/>
            <a:ext cx="1450975" cy="30638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恢复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4127" name="文本框 15"/>
          <p:cNvSpPr txBox="1"/>
          <p:nvPr/>
        </p:nvSpPr>
        <p:spPr>
          <a:xfrm>
            <a:off x="3565525" y="4527550"/>
            <a:ext cx="461962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恢复被挂起的任务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ldLvl="0" animBg="1"/>
      <p:bldP spid="27" grpId="0" bldLvl="0" animBg="1"/>
      <p:bldP spid="4124" grpId="0"/>
      <p:bldP spid="4125" grpId="0"/>
      <p:bldP spid="14" grpId="0" bldLvl="0" animBg="1"/>
      <p:bldP spid="4127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文本框 9"/>
          <p:cNvSpPr txBox="1"/>
          <p:nvPr/>
        </p:nvSpPr>
        <p:spPr>
          <a:xfrm>
            <a:off x="1876108" y="1362075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任务挂起函数介绍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129" name="文本框 15"/>
          <p:cNvSpPr txBox="1"/>
          <p:nvPr/>
        </p:nvSpPr>
        <p:spPr>
          <a:xfrm>
            <a:off x="1961833" y="1912938"/>
            <a:ext cx="6537325" cy="35718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sz="14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void </a:t>
            </a:r>
            <a:r>
              <a:rPr lang="en-US" altLang="zh-CN" sz="14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vTaskSuspend</a:t>
            </a:r>
            <a:r>
              <a:rPr lang="en-US" altLang="zh-CN" sz="14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(</a:t>
            </a:r>
            <a:r>
              <a:rPr lang="en-US" altLang="zh-CN" sz="14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TaskHandle_t xTaskToSuspend</a:t>
            </a:r>
            <a:r>
              <a:rPr lang="en-US" altLang="zh-CN" sz="14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)</a:t>
            </a:r>
            <a:r>
              <a:rPr lang="en-US" altLang="zh-CN" sz="1400" dirty="0"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en-US" altLang="zh-CN" sz="1400" dirty="0">
              <a:solidFill>
                <a:srgbClr val="00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8" name="表格 9"/>
          <p:cNvGraphicFramePr>
            <a:graphicFrameLocks noGrp="1"/>
          </p:cNvGraphicFramePr>
          <p:nvPr/>
        </p:nvGraphicFramePr>
        <p:xfrm>
          <a:off x="1961833" y="2490788"/>
          <a:ext cx="6742112" cy="5794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056"/>
                <a:gridCol w="3371056"/>
              </a:tblGrid>
              <a:tr h="30493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形参</a:t>
                      </a:r>
                      <a:endParaRPr lang="zh-CN" altLang="en-US" sz="1400" dirty="0"/>
                    </a:p>
                  </a:txBody>
                  <a:tcPr marL="91426" marR="91426" marT="45751" marB="4575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  <a:endParaRPr lang="zh-CN" altLang="en-US" sz="1400" dirty="0"/>
                    </a:p>
                  </a:txBody>
                  <a:tcPr marL="91426" marR="91426" marT="45751" marB="45751" anchor="ctr"/>
                </a:tc>
              </a:tr>
              <a:tr h="274505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xTaskToSuspend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16" marB="4571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待挂起任务的任务句柄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16" marB="45716" anchor="ctr"/>
                </a:tc>
              </a:tr>
            </a:tbl>
          </a:graphicData>
        </a:graphic>
      </p:graphicFrame>
      <p:sp>
        <p:nvSpPr>
          <p:cNvPr id="5141" name="文本框 12"/>
          <p:cNvSpPr txBox="1"/>
          <p:nvPr/>
        </p:nvSpPr>
        <p:spPr>
          <a:xfrm>
            <a:off x="1961833" y="3278188"/>
            <a:ext cx="6337300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此函数用于挂起任务，使用时需将宏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INCLUDE_vTaskSuspend 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配置为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 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1972945" y="4327525"/>
            <a:ext cx="6424613" cy="3825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zh-CN" altLang="en-US" sz="1400" kern="1200" cap="none" spc="0" normalizeH="0" baseline="0" noProof="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注意：</a:t>
            </a:r>
            <a:r>
              <a:rPr kumimoji="0" lang="zh-CN" altLang="en-US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当传入的参数为</a:t>
            </a:r>
            <a:r>
              <a:rPr kumimoji="0" lang="en-US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NULL</a:t>
            </a:r>
            <a:r>
              <a:rPr kumimoji="0" lang="zh-CN" altLang="en-US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，则代表挂起任务自身（当前正在运行的任务）</a:t>
            </a:r>
            <a:endParaRPr kumimoji="0" lang="en-US" altLang="zh-CN" sz="1400" kern="1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Times New Roman" panose="02020603050405020304" pitchFamily="18" charset="0"/>
            </a:endParaRPr>
          </a:p>
        </p:txBody>
      </p:sp>
      <p:sp>
        <p:nvSpPr>
          <p:cNvPr id="5143" name="文本框 14"/>
          <p:cNvSpPr txBox="1"/>
          <p:nvPr/>
        </p:nvSpPr>
        <p:spPr>
          <a:xfrm>
            <a:off x="1961833" y="3810000"/>
            <a:ext cx="6742112" cy="3825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无论优先级如何，被挂起的任务都将不再被执行，直到任务被恢复 。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9" grpId="0"/>
      <p:bldP spid="5141" grpId="0"/>
      <p:bldP spid="14" grpId="0"/>
      <p:bldP spid="514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2" name="文本框 9"/>
          <p:cNvSpPr txBox="1"/>
          <p:nvPr/>
        </p:nvSpPr>
        <p:spPr>
          <a:xfrm>
            <a:off x="1853248" y="1387475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任务恢复函数介绍（任务中恢复）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6153" name="文本框 15"/>
          <p:cNvSpPr txBox="1"/>
          <p:nvPr/>
        </p:nvSpPr>
        <p:spPr>
          <a:xfrm>
            <a:off x="1858010" y="1992313"/>
            <a:ext cx="7585075" cy="30638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buNone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任务中恢复被挂起函数：</a:t>
            </a:r>
            <a:r>
              <a:rPr lang="en-US" altLang="zh-CN" sz="14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void </a:t>
            </a:r>
            <a:r>
              <a:rPr lang="en-US" altLang="zh-CN" sz="14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vTaskResume</a:t>
            </a:r>
            <a:r>
              <a:rPr lang="en-US" altLang="zh-CN" sz="14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(</a:t>
            </a:r>
            <a:r>
              <a:rPr lang="en-US" altLang="zh-CN" sz="14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TaskHandle_t xTaskToResume</a:t>
            </a:r>
            <a:r>
              <a:rPr lang="en-US" altLang="zh-CN" sz="14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)</a:t>
            </a:r>
            <a:r>
              <a:rPr lang="en-US" altLang="zh-CN" sz="1400" dirty="0"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en-US" altLang="zh-CN" sz="1400" dirty="0">
              <a:solidFill>
                <a:srgbClr val="00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3" name="表格 9"/>
          <p:cNvGraphicFramePr>
            <a:graphicFrameLocks noGrp="1"/>
          </p:cNvGraphicFramePr>
          <p:nvPr/>
        </p:nvGraphicFramePr>
        <p:xfrm>
          <a:off x="1905635" y="2495550"/>
          <a:ext cx="6742114" cy="581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057"/>
                <a:gridCol w="3371057"/>
              </a:tblGrid>
              <a:tr h="305768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形参</a:t>
                      </a:r>
                      <a:endParaRPr lang="zh-CN" altLang="en-US" sz="1400" dirty="0"/>
                    </a:p>
                  </a:txBody>
                  <a:tcPr marL="91426" marR="91426" marT="45876" marB="4587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  <a:endParaRPr lang="zh-CN" altLang="en-US" sz="1400" dirty="0"/>
                    </a:p>
                  </a:txBody>
                  <a:tcPr marL="91426" marR="91426" marT="45876" marB="45876" anchor="ctr"/>
                </a:tc>
              </a:tr>
              <a:tr h="27525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 err="1">
                          <a:solidFill>
                            <a:srgbClr val="00000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xTaskToResume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2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841" marB="4584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待恢复任务的任务句柄</a:t>
                      </a:r>
                      <a:endParaRPr lang="zh-CN" altLang="en-US" sz="12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841" marB="45841" anchor="ctr"/>
                </a:tc>
              </a:tr>
            </a:tbl>
          </a:graphicData>
        </a:graphic>
      </p:graphicFrame>
      <p:sp>
        <p:nvSpPr>
          <p:cNvPr id="6166" name="文本框 20"/>
          <p:cNvSpPr txBox="1"/>
          <p:nvPr/>
        </p:nvSpPr>
        <p:spPr>
          <a:xfrm>
            <a:off x="1853248" y="3306763"/>
            <a:ext cx="61737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使用该函数注意宏：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INCLUDE_vTaskSuspend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必须定义为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67" name="文本框 22"/>
          <p:cNvSpPr txBox="1"/>
          <p:nvPr/>
        </p:nvSpPr>
        <p:spPr>
          <a:xfrm>
            <a:off x="1853248" y="3770313"/>
            <a:ext cx="8404225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注意：任务无论被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vTaskSuspend()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挂起多少次，只需在任务中调用 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vTakResume()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恢复一次，就可以继续运行。且被恢复的任务会进入就绪态！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53" grpId="0"/>
      <p:bldP spid="6166" grpId="0"/>
      <p:bldP spid="6167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 dirty="0">
                <a:sym typeface="+mn-ea"/>
              </a:rPr>
              <a:t>时间管理</a:t>
            </a:r>
            <a:endParaRPr lang="en-US" dirty="0"/>
          </a:p>
        </p:txBody>
      </p:sp>
    </p:spTree>
    <p:custDataLst>
      <p:tags r:id="rId2"/>
    </p:custData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时间管理</a:t>
            </a:r>
            <a:endParaRPr lang="zh-CN" altLang="en-US" sz="1600" i="0">
              <a:solidFill>
                <a:srgbClr val="D92142"/>
              </a:solidFill>
              <a:latin typeface="PingFang SC"/>
              <a:ea typeface="PingFang SC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 dirty="0"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dirty="0" err="1">
                <a:sym typeface="+mn-ea"/>
              </a:rPr>
              <a:t>系统时基（tick</a:t>
            </a:r>
            <a:r>
              <a:rPr dirty="0">
                <a:sym typeface="+mn-ea"/>
              </a:rPr>
              <a:t>）</a:t>
            </a:r>
            <a:br>
              <a:rPr dirty="0">
                <a:sym typeface="+mn-ea"/>
              </a:rPr>
            </a:br>
            <a:r>
              <a:rPr dirty="0" err="1">
                <a:sym typeface="+mn-ea"/>
              </a:rPr>
              <a:t>vTaskDelay</a:t>
            </a:r>
            <a:r>
              <a:rPr dirty="0">
                <a:sym typeface="+mn-ea"/>
              </a:rPr>
              <a:t> / </a:t>
            </a:r>
            <a:r>
              <a:rPr dirty="0" err="1">
                <a:sym typeface="+mn-ea"/>
              </a:rPr>
              <a:t>vTaskDelayUntil</a:t>
            </a:r>
            <a:endParaRPr dirty="0"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dirty="0" err="1">
                <a:sym typeface="+mn-ea"/>
              </a:rPr>
              <a:t>定时器（软件定时器、硬件定时器</a:t>
            </a:r>
            <a:r>
              <a:rPr dirty="0">
                <a:sym typeface="+mn-ea"/>
              </a:rPr>
              <a:t>）</a:t>
            </a:r>
            <a:endParaRPr dirty="0"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dirty="0" err="1">
                <a:sym typeface="+mn-ea"/>
              </a:rPr>
              <a:t>延时的精度与功耗影响</a:t>
            </a:r>
            <a:endParaRPr lang="zh-CN" altLang="en-US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815658" y="1128078"/>
            <a:ext cx="5080000" cy="50673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1" i="0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系统时基 (Tick)</a:t>
            </a:r>
            <a:endParaRPr lang="zh-CN" altLang="en-US" sz="1800" b="1" i="0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620520" y="1918970"/>
            <a:ext cx="7456805" cy="17532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是什么: 由硬件定时器产生的周期性中断，是FreeRTOS调度的时间基准。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作用: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驱动任务调度器（时间片轮转）。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实现任务延时 (vTaskDelay等)。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提供软件定时器的计时来源。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配置: configTICK_RATE_HZ in FreeRTOSConfig.h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例如 1000 Hz = 1个Tick是1ms。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4" name="文本框 9"/>
          <p:cNvSpPr txBox="1"/>
          <p:nvPr/>
        </p:nvSpPr>
        <p:spPr>
          <a:xfrm>
            <a:off x="1204913" y="125222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延时函数介绍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7" name="表格 2"/>
          <p:cNvGraphicFramePr>
            <a:graphicFrameLocks noGrp="1"/>
          </p:cNvGraphicFramePr>
          <p:nvPr/>
        </p:nvGraphicFramePr>
        <p:xfrm>
          <a:off x="1649413" y="1853883"/>
          <a:ext cx="5056187" cy="781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952"/>
                <a:gridCol w="2492235"/>
              </a:tblGrid>
              <a:tr h="2563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bg1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函数</a:t>
                      </a:r>
                      <a:endParaRPr lang="zh-CN" altLang="en-US" sz="1000" dirty="0">
                        <a:solidFill>
                          <a:schemeClr val="bg1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2" marR="91442" marT="45767" marB="4576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bg1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000" dirty="0">
                        <a:solidFill>
                          <a:schemeClr val="bg1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2" marR="91442" marT="45767" marB="45767"/>
                </a:tc>
              </a:tr>
              <a:tr h="274160">
                <a:tc>
                  <a:txBody>
                    <a:bodyPr/>
                    <a:lstStyle/>
                    <a:p>
                      <a:r>
                        <a:rPr lang="en-US" sz="10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vTaskDelay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0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2" marR="91442" marT="45767" marB="45767" anchor="ctr"/>
                </a:tc>
                <a:tc>
                  <a:txBody>
                    <a:bodyPr/>
                    <a:lstStyle/>
                    <a:p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相对延时</a:t>
                      </a:r>
                      <a:endParaRPr lang="zh-CN" altLang="en-US" sz="10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2" marR="91442" marT="45767" marB="45767" anchor="ctr"/>
                </a:tc>
              </a:tr>
              <a:tr h="250530">
                <a:tc>
                  <a:txBody>
                    <a:bodyPr/>
                    <a:lstStyle/>
                    <a:p>
                      <a:r>
                        <a:rPr lang="en-US" sz="10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xTaskDelayUntil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0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2" marR="91442" marT="45767" marB="45767" anchor="ctr"/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绝对延时</a:t>
                      </a:r>
                      <a:endParaRPr lang="zh-CN" altLang="en-US" sz="10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2" marR="91442" marT="45767" marB="45767" anchor="ctr"/>
                </a:tc>
              </a:tr>
            </a:tbl>
          </a:graphicData>
        </a:graphic>
      </p:graphicFrame>
      <p:sp>
        <p:nvSpPr>
          <p:cNvPr id="4119" name="文本框 12"/>
          <p:cNvSpPr txBox="1"/>
          <p:nvPr/>
        </p:nvSpPr>
        <p:spPr>
          <a:xfrm>
            <a:off x="1649413" y="2915920"/>
            <a:ext cx="7218362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相对延时：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指每次延时都是从执行函数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vTaskDelay()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开始，直到延时指定的时间结束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20" name="文本框 13"/>
          <p:cNvSpPr txBox="1"/>
          <p:nvPr/>
        </p:nvSpPr>
        <p:spPr>
          <a:xfrm>
            <a:off x="1649413" y="3344545"/>
            <a:ext cx="74945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绝对延时：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指将整个任务的运行周期看成一个整体，适用于需要按照一定频率运行的任务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pic>
        <p:nvPicPr>
          <p:cNvPr id="4121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7988" y="3916045"/>
            <a:ext cx="3951287" cy="1409700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miter/>
            <a:headEnd type="none" w="med" len="med"/>
            <a:tailEnd type="none" w="med" len="med"/>
          </a:ln>
        </p:spPr>
      </p:pic>
      <p:sp>
        <p:nvSpPr>
          <p:cNvPr id="4122" name="文本框 16"/>
          <p:cNvSpPr txBox="1"/>
          <p:nvPr/>
        </p:nvSpPr>
        <p:spPr>
          <a:xfrm>
            <a:off x="5951538" y="4009708"/>
            <a:ext cx="3281362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(1)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为任务主体，也就是任务真正要做的工作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23" name="文本框 18"/>
          <p:cNvSpPr txBox="1"/>
          <p:nvPr/>
        </p:nvSpPr>
        <p:spPr>
          <a:xfrm>
            <a:off x="5951538" y="4420870"/>
            <a:ext cx="3951287" cy="2778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(2)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是任务函数中调用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vTaskDelayUntil()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对任务进行延时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24" name="文本框 20"/>
          <p:cNvSpPr txBox="1"/>
          <p:nvPr/>
        </p:nvSpPr>
        <p:spPr>
          <a:xfrm>
            <a:off x="5951538" y="4873308"/>
            <a:ext cx="2519362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(3)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为其他任务在运行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484630" y="1863725"/>
            <a:ext cx="8387715" cy="26149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硬件定时器: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芯片外设，精度极高，几乎不占用CPU。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用于产生系统Tick、PWM、捕获输入等。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与RTOS无关，中断服务程序(ISR)应保持简短。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FreeRTOS软件定时器: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建立在系统Tick之上，由RTOS内核管理。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创建: xTimerCreate()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启动: xTimerStart() (不要在中断中直接启动！用 xTimerStartFromISR())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回调函数在定时器服务任务中执行，可以调用大多数FreeRTOS API。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优点: 使用方便，功能强大。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缺点: 精度受系统Tick限制，回调执行时间受任务调度影响。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04" name="文本框 9"/>
          <p:cNvSpPr txBox="1"/>
          <p:nvPr/>
        </p:nvSpPr>
        <p:spPr>
          <a:xfrm>
            <a:off x="1204913" y="125222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定时器：硬件与软件</a:t>
            </a:r>
            <a:endParaRPr lang="zh-CN" altLang="en-US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972628" y="51857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/>
            <a:r>
              <a:rPr lang="zh-CN" altLang="en-US" sz="1600" b="0" i="0" dirty="0">
                <a:solidFill>
                  <a:srgbClr val="0F1115"/>
                </a:solidFill>
                <a:latin typeface="quote-cjk-patch"/>
                <a:ea typeface="quote-cjk-patch"/>
              </a:rPr>
              <a:t>创建 </a:t>
            </a:r>
            <a:r>
              <a:rPr lang="en-US" altLang="zh-CN" sz="1600" b="0" i="0" dirty="0">
                <a:solidFill>
                  <a:srgbClr val="0F1115"/>
                </a:solidFill>
                <a:latin typeface="quote-cjk-patch"/>
                <a:ea typeface="quote-cjk-patch"/>
              </a:rPr>
              <a:t>-&gt; </a:t>
            </a:r>
            <a:r>
              <a:rPr lang="zh-CN" altLang="en-US" sz="1600" b="0" i="0" dirty="0">
                <a:solidFill>
                  <a:srgbClr val="0F1115"/>
                </a:solidFill>
                <a:latin typeface="quote-cjk-patch"/>
                <a:ea typeface="quote-cjk-patch"/>
              </a:rPr>
              <a:t>启动 </a:t>
            </a:r>
            <a:r>
              <a:rPr lang="en-US" altLang="zh-CN" sz="1600" b="0" i="0" dirty="0">
                <a:solidFill>
                  <a:srgbClr val="0F1115"/>
                </a:solidFill>
                <a:latin typeface="quote-cjk-patch"/>
                <a:ea typeface="quote-cjk-patch"/>
              </a:rPr>
              <a:t>-&gt; (</a:t>
            </a:r>
            <a:r>
              <a:rPr lang="zh-CN" altLang="en-US" sz="1600" b="0" i="0" dirty="0">
                <a:solidFill>
                  <a:srgbClr val="0F1115"/>
                </a:solidFill>
                <a:latin typeface="quote-cjk-patch"/>
                <a:ea typeface="quote-cjk-patch"/>
              </a:rPr>
              <a:t>自动运行</a:t>
            </a:r>
            <a:r>
              <a:rPr lang="en-US" altLang="zh-CN" sz="1600" b="0" i="0" dirty="0">
                <a:solidFill>
                  <a:srgbClr val="0F1115"/>
                </a:solidFill>
                <a:latin typeface="quote-cjk-patch"/>
                <a:ea typeface="quote-cjk-patch"/>
              </a:rPr>
              <a:t>...) -&gt; </a:t>
            </a:r>
            <a:r>
              <a:rPr lang="zh-CN" altLang="en-US" sz="1600" b="0" i="0" dirty="0">
                <a:solidFill>
                  <a:srgbClr val="0F1115"/>
                </a:solidFill>
                <a:latin typeface="quote-cjk-patch"/>
                <a:ea typeface="quote-cjk-patch"/>
              </a:rPr>
              <a:t>停止</a:t>
            </a:r>
            <a:r>
              <a:rPr lang="en-US" altLang="zh-CN" sz="1600" b="0" i="0" dirty="0">
                <a:solidFill>
                  <a:srgbClr val="0F1115"/>
                </a:solidFill>
                <a:latin typeface="quote-cjk-patch"/>
                <a:ea typeface="quote-cjk-patch"/>
              </a:rPr>
              <a:t>/</a:t>
            </a:r>
            <a:r>
              <a:rPr lang="zh-CN" altLang="en-US" sz="1600" b="0" i="0" dirty="0">
                <a:solidFill>
                  <a:srgbClr val="0F1115"/>
                </a:solidFill>
                <a:latin typeface="quote-cjk-patch"/>
                <a:ea typeface="quote-cjk-patch"/>
              </a:rPr>
              <a:t>删除。</a:t>
            </a:r>
            <a:endParaRPr lang="zh-CN" altLang="en-US" sz="1600" b="0" i="0" dirty="0">
              <a:solidFill>
                <a:srgbClr val="0F1115"/>
              </a:solidFill>
              <a:latin typeface="quote-cjk-patch"/>
              <a:ea typeface="quote-cjk-patch"/>
            </a:endParaRPr>
          </a:p>
        </p:txBody>
      </p:sp>
    </p:spTree>
  </p:cSld>
  <p:clrMapOvr>
    <a:masterClrMapping/>
  </p:clrMapOvr>
  <p:transition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842328" y="902653"/>
            <a:ext cx="5080000" cy="50673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1" i="0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关键考量：精度 vs 功耗</a:t>
            </a:r>
            <a:endParaRPr lang="zh-CN" altLang="en-US" sz="1800" b="1" i="0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149985" y="1464945"/>
            <a:ext cx="8414385" cy="25533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高精度 (High Precision):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手段: 提高 configTICK_RATE_HZ (如1000Hz -&gt; 1ms Tick)。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优点: 延时和定时器分辨率更高，响应更及时。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代价: 更频繁的Tick中断 -&gt; CPU功耗增加，更多时间花在上下文切换上。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低功耗 (Low Power):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手段: 降低 configTICK_RATE_HZ (如100Hz -&gt; 10ms Tick)，或启用 Tickless Idle 模式。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Tickless模式: 在空闲时暂停Tick中断，让CPU进入深度睡眠，仅在下一个任务到期时唤醒。大幅降低功耗。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代价: 延时和定时器的精度会下降，尤其在低Tick频率时。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结论: 没有完美方案，只有根据应用场景的权衡 (Trade-Off)！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49668" y="5279073"/>
            <a:ext cx="5080000" cy="52197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电池设备: 优先功耗，使用低Tick频率和Tickless模式。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实时控制: 优先精度，使用高Tick频率。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 dirty="0">
                <a:sym typeface="+mn-ea"/>
              </a:rPr>
              <a:t>内存管理</a:t>
            </a:r>
            <a:endParaRPr lang="en-US" dirty="0"/>
          </a:p>
        </p:txBody>
      </p:sp>
    </p:spTree>
    <p:custDataLst>
      <p:tags r:id="rId2"/>
    </p:custData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sz="1600" dirty="0">
                <a:solidFill>
                  <a:schemeClr val="bg2"/>
                </a:solidFill>
                <a:sym typeface="+mn-ea"/>
              </a:rPr>
              <a:t>内存管理</a:t>
            </a:r>
            <a:endParaRPr lang="zh-CN" altLang="en-US" sz="1600" i="0" dirty="0">
              <a:solidFill>
                <a:schemeClr val="bg2"/>
              </a:solidFill>
              <a:latin typeface="PingFang SC"/>
              <a:ea typeface="PingFang SC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11563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600" b="1" dirty="0" err="1">
                <a:sym typeface="+mn-ea"/>
              </a:rPr>
              <a:t>FreeRTOS</a:t>
            </a:r>
            <a:r>
              <a:rPr sz="1600" b="1" dirty="0">
                <a:sym typeface="+mn-ea"/>
              </a:rPr>
              <a:t> 提供的内存管理方案（heap_1 ~ heap_5）</a:t>
            </a:r>
            <a:endParaRPr sz="1600" b="1" dirty="0"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600" b="1" dirty="0" err="1">
                <a:sym typeface="+mn-ea"/>
              </a:rPr>
              <a:t>任务栈大小估算栈溢出检测</a:t>
            </a:r>
            <a:endParaRPr sz="1600" b="1" dirty="0"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600" b="1" dirty="0" err="1">
                <a:sym typeface="+mn-ea"/>
              </a:rPr>
              <a:t>动态分配</a:t>
            </a:r>
            <a:r>
              <a:rPr sz="1600" b="1" dirty="0">
                <a:sym typeface="+mn-ea"/>
              </a:rPr>
              <a:t> vs </a:t>
            </a:r>
            <a:r>
              <a:rPr sz="1600" b="1" dirty="0" err="1">
                <a:sym typeface="+mn-ea"/>
              </a:rPr>
              <a:t>静态分配</a:t>
            </a:r>
            <a:endParaRPr sz="1600" b="1" dirty="0"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600" b="1" dirty="0" err="1">
                <a:sym typeface="+mn-ea"/>
              </a:rPr>
              <a:t>内存碎片与泄漏问题</a:t>
            </a:r>
            <a:endParaRPr lang="zh-CN" altLang="en-US" sz="1600" b="1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文本框 9"/>
          <p:cNvSpPr txBox="1"/>
          <p:nvPr/>
        </p:nvSpPr>
        <p:spPr>
          <a:xfrm>
            <a:off x="1479868" y="1341120"/>
            <a:ext cx="390048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FreeRTOS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内存管理简介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4105" name="文本框 1"/>
          <p:cNvSpPr txBox="1"/>
          <p:nvPr/>
        </p:nvSpPr>
        <p:spPr>
          <a:xfrm>
            <a:off x="1897380" y="1880870"/>
            <a:ext cx="8021638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除了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提供的动态内存管理方法，标准的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C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库也提供了函数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malloc()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和函数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free()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来实现动态地申请和释放内存 。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" name="文本框 1"/>
          <p:cNvSpPr txBox="1"/>
          <p:nvPr/>
        </p:nvSpPr>
        <p:spPr>
          <a:xfrm>
            <a:off x="1897380" y="2577783"/>
            <a:ext cx="4378325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疑问：为啥不用标准的 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C 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库自带的内存管理算法？</a:t>
            </a:r>
            <a:endParaRPr lang="en-US" altLang="zh-CN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1" name="文本框 13"/>
          <p:cNvSpPr txBox="1"/>
          <p:nvPr/>
        </p:nvSpPr>
        <p:spPr>
          <a:xfrm>
            <a:off x="1897380" y="3004820"/>
            <a:ext cx="4621213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因为标准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C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库的动态内存管理方法有如下几个缺点：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2" name="文本框 14"/>
          <p:cNvSpPr txBox="1"/>
          <p:nvPr/>
        </p:nvSpPr>
        <p:spPr>
          <a:xfrm>
            <a:off x="1897380" y="3430270"/>
            <a:ext cx="533082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占用大量的代码空间 不适合用在资源紧缺的嵌入式系统中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3" name="文本框 15"/>
          <p:cNvSpPr txBox="1"/>
          <p:nvPr/>
        </p:nvSpPr>
        <p:spPr>
          <a:xfrm>
            <a:off x="1897380" y="3793808"/>
            <a:ext cx="621347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没有线程安全的相关机制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4" name="文本框 16"/>
          <p:cNvSpPr txBox="1"/>
          <p:nvPr/>
        </p:nvSpPr>
        <p:spPr>
          <a:xfrm>
            <a:off x="1897380" y="4158933"/>
            <a:ext cx="5497513" cy="30638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运行有不确定性，每次调用这些函数时花费的时间可能都不相同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5" name="文本框 18"/>
          <p:cNvSpPr txBox="1"/>
          <p:nvPr/>
        </p:nvSpPr>
        <p:spPr>
          <a:xfrm>
            <a:off x="1897380" y="4522470"/>
            <a:ext cx="4621213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内存碎片化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6" name="文本框 19"/>
          <p:cNvSpPr txBox="1"/>
          <p:nvPr/>
        </p:nvSpPr>
        <p:spPr>
          <a:xfrm>
            <a:off x="2165668" y="4886008"/>
            <a:ext cx="4621212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… …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7" name="文本框 21"/>
          <p:cNvSpPr txBox="1"/>
          <p:nvPr/>
        </p:nvSpPr>
        <p:spPr>
          <a:xfrm>
            <a:off x="1897380" y="5157470"/>
            <a:ext cx="8577263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因此，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提供了多种动态内存管理的算法，可针对不同的嵌入式系统！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05" grpId="0"/>
      <p:bldP spid="13" grpId="0"/>
      <p:bldP spid="5131" grpId="0"/>
      <p:bldP spid="5132" grpId="0"/>
      <p:bldP spid="5133" grpId="0"/>
      <p:bldP spid="5134" grpId="0"/>
      <p:bldP spid="5135" grpId="0"/>
      <p:bldP spid="5136" grpId="0"/>
      <p:bldP spid="5137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373063" y="1095058"/>
            <a:ext cx="5080000" cy="147637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 (Heap) 的作用</a:t>
            </a:r>
            <a:endParaRPr lang="zh-CN" altLang="en-US" sz="14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堆的作用是提供全</a:t>
            </a:r>
            <a:r>
              <a:rPr lang="zh-CN" altLang="en-US" sz="1400" b="0" i="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局的、动态的、生命周期可控的内存空间</a:t>
            </a: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。当你需要在多个函数间共享一块数据，或者需要的数据大小在编译时无法确定（比如根据用户输入决定数组大小），就必须使用堆。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401118" y="946150"/>
            <a:ext cx="5080000" cy="249174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栈 (Stack) 的作用</a:t>
            </a:r>
            <a:endParaRPr lang="zh-CN" altLang="en-US" sz="14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栈是为函数的执行而服务的，它的核心作用是</a:t>
            </a:r>
            <a:r>
              <a:rPr lang="zh-CN" altLang="en-US" sz="1400" b="0" i="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维护函数调用的上下文</a:t>
            </a: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。每当调用一个函数时，系统会在栈上为其分配一块称为 “栈帧 (Stack Frame)” 的内存区域，用于存放：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函数的返回地址：函数执行完后，应该回到调用它的下一条指令的地址。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函数的参数：调用函数时传入的实参。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函数的局部变量：在函数内部定义的非静态局部变量。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函数的调用上下文：一些需要保存的寄存器值。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2" name="文本框 9"/>
          <p:cNvSpPr txBox="1"/>
          <p:nvPr/>
        </p:nvSpPr>
        <p:spPr>
          <a:xfrm>
            <a:off x="1222693" y="1236980"/>
            <a:ext cx="390048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FreeRTOS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内存管理算法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129" name="文本框 1"/>
          <p:cNvSpPr txBox="1"/>
          <p:nvPr/>
        </p:nvSpPr>
        <p:spPr>
          <a:xfrm>
            <a:off x="1548130" y="1870393"/>
            <a:ext cx="8770938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提供了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种动态内存管理算法，分别为：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heap_1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heap_3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。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b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</a:b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如下所示：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2" name="表格 2"/>
          <p:cNvGraphicFramePr>
            <a:graphicFrameLocks noGrp="1"/>
          </p:cNvGraphicFramePr>
          <p:nvPr/>
        </p:nvGraphicFramePr>
        <p:xfrm>
          <a:off x="1629093" y="2722880"/>
          <a:ext cx="7361238" cy="17319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7291"/>
                <a:gridCol w="2885777"/>
                <a:gridCol w="3438170"/>
              </a:tblGrid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算法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优点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缺点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heap_1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分配简单，时间确定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只允许申请内存，不允许释放内存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heap_2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允许申请和释放内存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不能合并相邻的空闲内存块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会产生</a:t>
                      </a: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碎片、时间不定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heap_3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直接调用</a:t>
                      </a:r>
                      <a:r>
                        <a:rPr lang="en-US" altLang="zh-CN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C</a:t>
                      </a: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库函数</a:t>
                      </a:r>
                      <a:r>
                        <a:rPr lang="en-US" altLang="zh-CN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malloc()</a:t>
                      </a: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和 </a:t>
                      </a:r>
                      <a:r>
                        <a:rPr lang="en-US" altLang="zh-CN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free()</a:t>
                      </a:r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，简单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速度慢、时间不定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heap_4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相邻空闲内存可合并，减少内存碎片的产生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时间不定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heap_5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能够管理多个非连续内存区域的 </a:t>
                      </a:r>
                      <a:r>
                        <a:rPr lang="en-US" altLang="zh-CN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heap_4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时间不定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</a:tr>
            </a:tbl>
          </a:graphicData>
        </a:graphic>
      </p:graphicFrame>
      <p:sp>
        <p:nvSpPr>
          <p:cNvPr id="6184" name="文本框 2"/>
          <p:cNvSpPr txBox="1"/>
          <p:nvPr/>
        </p:nvSpPr>
        <p:spPr>
          <a:xfrm>
            <a:off x="1548130" y="4724718"/>
            <a:ext cx="6280150" cy="30670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内存管理算法最常用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9" grpId="0"/>
      <p:bldP spid="6184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4" name="文本框 9"/>
          <p:cNvSpPr txBox="1"/>
          <p:nvPr/>
        </p:nvSpPr>
        <p:spPr>
          <a:xfrm>
            <a:off x="1403668" y="1295400"/>
            <a:ext cx="390048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FreeRTOS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内存管理简介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4105" name="文本框 1"/>
          <p:cNvSpPr txBox="1"/>
          <p:nvPr/>
        </p:nvSpPr>
        <p:spPr>
          <a:xfrm>
            <a:off x="1821180" y="1835150"/>
            <a:ext cx="7786688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在使用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创建任务、队列、信号量等对象的时，一般都提供了两种方法：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07" name="文本框 27"/>
          <p:cNvSpPr txBox="1"/>
          <p:nvPr/>
        </p:nvSpPr>
        <p:spPr>
          <a:xfrm>
            <a:off x="3535680" y="2255838"/>
            <a:ext cx="6816725" cy="70485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自动地从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管理的内存堆中申请创建对象所需的内存，并且在对象删除后，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可将这块内存释放回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管理的内存堆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" name="矩形: 圆角 6"/>
          <p:cNvSpPr/>
          <p:nvPr/>
        </p:nvSpPr>
        <p:spPr>
          <a:xfrm>
            <a:off x="1930718" y="2432050"/>
            <a:ext cx="1604963" cy="3429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① 动态方法创建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1930718" y="3233738"/>
            <a:ext cx="1604963" cy="3429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② 静态方法创建 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0" name="文本框 27"/>
          <p:cNvSpPr txBox="1"/>
          <p:nvPr/>
        </p:nvSpPr>
        <p:spPr>
          <a:xfrm>
            <a:off x="3535680" y="3052763"/>
            <a:ext cx="6742113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需用户提供各种内存空间，并且使用静态方式占用的内存空间一般固定下来了，即使任务、队列等被删除后，这些被占用的内存空间一般没有其他用途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10" name="文本框 21"/>
          <p:cNvSpPr txBox="1"/>
          <p:nvPr/>
        </p:nvSpPr>
        <p:spPr>
          <a:xfrm>
            <a:off x="1821180" y="4086225"/>
            <a:ext cx="6497638" cy="3063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总结：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动态方式管理内存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相比与静态方式，更加灵活。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05" grpId="0"/>
      <p:bldP spid="4107" grpId="0"/>
      <p:bldP spid="7" grpId="0" bldLvl="0" animBg="1"/>
      <p:bldP spid="19" grpId="0" bldLvl="0" animBg="1"/>
      <p:bldP spid="20" grpId="0"/>
      <p:bldP spid="4110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6" name="文本框 9"/>
          <p:cNvSpPr txBox="1"/>
          <p:nvPr/>
        </p:nvSpPr>
        <p:spPr>
          <a:xfrm>
            <a:off x="1603058" y="1289050"/>
            <a:ext cx="3900487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en-US" altLang="zh-CN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r>
              <a:rPr lang="zh-CN" altLang="en-US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077720" y="2297113"/>
            <a:ext cx="763588" cy="2428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081145" y="2309813"/>
            <a:ext cx="763588" cy="2428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081145" y="2293938"/>
            <a:ext cx="752475" cy="8001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未分配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081145" y="44021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5" name="矩形 54"/>
          <p:cNvSpPr/>
          <p:nvPr/>
        </p:nvSpPr>
        <p:spPr>
          <a:xfrm>
            <a:off x="4092258" y="4056063"/>
            <a:ext cx="752475" cy="33813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4081145" y="3719513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4081145" y="3381375"/>
            <a:ext cx="752475" cy="33813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8" name="矩形 57"/>
          <p:cNvSpPr/>
          <p:nvPr/>
        </p:nvSpPr>
        <p:spPr>
          <a:xfrm>
            <a:off x="4092258" y="3060700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2090420" y="2297113"/>
            <a:ext cx="752475" cy="242887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未分配的内存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8224520" y="2309813"/>
            <a:ext cx="763588" cy="2428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8224520" y="2293938"/>
            <a:ext cx="752475" cy="8001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未分配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62" name="矩形 61"/>
          <p:cNvSpPr/>
          <p:nvPr/>
        </p:nvSpPr>
        <p:spPr>
          <a:xfrm>
            <a:off x="8224520" y="44021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8224520" y="3392488"/>
            <a:ext cx="752475" cy="100965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已释放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8224520" y="30559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67" name="箭头: 右 66"/>
          <p:cNvSpPr/>
          <p:nvPr/>
        </p:nvSpPr>
        <p:spPr>
          <a:xfrm>
            <a:off x="2868295" y="3421063"/>
            <a:ext cx="1201738" cy="1682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8" name="箭头: 右 67"/>
          <p:cNvSpPr/>
          <p:nvPr/>
        </p:nvSpPr>
        <p:spPr>
          <a:xfrm>
            <a:off x="4863783" y="3421063"/>
            <a:ext cx="1201738" cy="1682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313" name="文本框 68"/>
          <p:cNvSpPr txBox="1"/>
          <p:nvPr/>
        </p:nvSpPr>
        <p:spPr>
          <a:xfrm>
            <a:off x="2906395" y="3194050"/>
            <a:ext cx="1108075" cy="277813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多次分配内存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314" name="文本框 69"/>
          <p:cNvSpPr txBox="1"/>
          <p:nvPr/>
        </p:nvSpPr>
        <p:spPr>
          <a:xfrm>
            <a:off x="4879658" y="3186113"/>
            <a:ext cx="1108075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多次释放内存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1" name="右大括号 70"/>
          <p:cNvSpPr/>
          <p:nvPr/>
        </p:nvSpPr>
        <p:spPr>
          <a:xfrm>
            <a:off x="8988108" y="3378200"/>
            <a:ext cx="223838" cy="1020763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316" name="文本框 71"/>
          <p:cNvSpPr txBox="1"/>
          <p:nvPr/>
        </p:nvSpPr>
        <p:spPr>
          <a:xfrm>
            <a:off x="9211945" y="3676650"/>
            <a:ext cx="1436688" cy="4302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相邻空闲内存合并成一个大空闲内存</a:t>
            </a:r>
            <a:endParaRPr lang="zh-CN" altLang="en-US" sz="11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6132195" y="2309813"/>
            <a:ext cx="763588" cy="2428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6132195" y="2293938"/>
            <a:ext cx="752475" cy="8001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未分配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6132195" y="44021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6132195" y="4065588"/>
            <a:ext cx="752475" cy="33655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已释放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6132195" y="3719513"/>
            <a:ext cx="752475" cy="33655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已释放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78" name="矩形 77"/>
          <p:cNvSpPr/>
          <p:nvPr/>
        </p:nvSpPr>
        <p:spPr>
          <a:xfrm>
            <a:off x="6132195" y="3381375"/>
            <a:ext cx="752475" cy="33813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已释放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79" name="矩形 78"/>
          <p:cNvSpPr/>
          <p:nvPr/>
        </p:nvSpPr>
        <p:spPr>
          <a:xfrm>
            <a:off x="6132195" y="30559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80" name="右大括号 79"/>
          <p:cNvSpPr/>
          <p:nvPr/>
        </p:nvSpPr>
        <p:spPr>
          <a:xfrm>
            <a:off x="6895783" y="3378200"/>
            <a:ext cx="136525" cy="111125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325" name="文本框 80"/>
          <p:cNvSpPr txBox="1"/>
          <p:nvPr/>
        </p:nvSpPr>
        <p:spPr>
          <a:xfrm>
            <a:off x="7006908" y="3579813"/>
            <a:ext cx="368300" cy="708025"/>
          </a:xfrm>
          <a:prstGeom prst="rect">
            <a:avLst/>
          </a:prstGeom>
          <a:noFill/>
          <a:ln w="9525">
            <a:noFill/>
          </a:ln>
        </p:spPr>
        <p:txBody>
          <a:bodyPr vert="eaVert" wrap="none">
            <a:spAutoFit/>
          </a:bodyPr>
          <a:lstStyle/>
          <a:p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内存碎片</a:t>
            </a:r>
            <a:endParaRPr lang="zh-CN" altLang="en-US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82" name="箭头: 右 81"/>
          <p:cNvSpPr/>
          <p:nvPr/>
        </p:nvSpPr>
        <p:spPr>
          <a:xfrm>
            <a:off x="6960870" y="3289300"/>
            <a:ext cx="1243013" cy="1555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327" name="文本框 82"/>
          <p:cNvSpPr txBox="1"/>
          <p:nvPr/>
        </p:nvSpPr>
        <p:spPr>
          <a:xfrm>
            <a:off x="1990408" y="1852613"/>
            <a:ext cx="84089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内存管理算法会把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相邻的空闲内存合并为一个更大的空闲内存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，这有助于减少内存的碎片问题。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328" name="文本框 83"/>
          <p:cNvSpPr txBox="1"/>
          <p:nvPr/>
        </p:nvSpPr>
        <p:spPr>
          <a:xfrm>
            <a:off x="7198995" y="3055938"/>
            <a:ext cx="711200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" name="文本框 23"/>
          <p:cNvSpPr txBox="1"/>
          <p:nvPr/>
        </p:nvSpPr>
        <p:spPr>
          <a:xfrm>
            <a:off x="1990408" y="4922838"/>
            <a:ext cx="8301037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适用于这种场景：频繁地分配、释放不同大小的内存。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2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2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12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12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bldLvl="0" animBg="1"/>
      <p:bldP spid="52" grpId="0" bldLvl="0" animBg="1"/>
      <p:bldP spid="53" grpId="0" bldLvl="0" animBg="1"/>
      <p:bldP spid="54" grpId="0" bldLvl="0" animBg="1"/>
      <p:bldP spid="55" grpId="0" bldLvl="0" animBg="1"/>
      <p:bldP spid="56" grpId="0" bldLvl="0" animBg="1"/>
      <p:bldP spid="57" grpId="0" bldLvl="0" animBg="1"/>
      <p:bldP spid="58" grpId="0" bldLvl="0" animBg="1"/>
      <p:bldP spid="59" grpId="0" bldLvl="0" animBg="1"/>
      <p:bldP spid="60" grpId="0" bldLvl="0" animBg="1"/>
      <p:bldP spid="61" grpId="0" bldLvl="0" animBg="1"/>
      <p:bldP spid="62" grpId="0" bldLvl="0" animBg="1"/>
      <p:bldP spid="63" grpId="0" bldLvl="0" animBg="1"/>
      <p:bldP spid="66" grpId="0" bldLvl="0" animBg="1"/>
      <p:bldP spid="67" grpId="0" bldLvl="0" animBg="1"/>
      <p:bldP spid="68" grpId="0" bldLvl="0" animBg="1"/>
      <p:bldP spid="12313" grpId="0"/>
      <p:bldP spid="12314" grpId="0"/>
      <p:bldP spid="71" grpId="0" bldLvl="0" animBg="1"/>
      <p:bldP spid="12316" grpId="0"/>
      <p:bldP spid="73" grpId="0" bldLvl="0" animBg="1"/>
      <p:bldP spid="74" grpId="0" bldLvl="0" animBg="1"/>
      <p:bldP spid="75" grpId="0" bldLvl="0" animBg="1"/>
      <p:bldP spid="76" grpId="0" bldLvl="0" animBg="1"/>
      <p:bldP spid="77" grpId="0" bldLvl="0" animBg="1"/>
      <p:bldP spid="78" grpId="0" bldLvl="0" animBg="1"/>
      <p:bldP spid="79" grpId="0" bldLvl="0" animBg="1"/>
      <p:bldP spid="80" grpId="0" bldLvl="0" animBg="1"/>
      <p:bldP spid="12325" grpId="0"/>
      <p:bldP spid="82" grpId="0" bldLvl="0" animBg="1"/>
      <p:bldP spid="12327" grpId="0"/>
      <p:bldP spid="12328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0" name="文本框 9"/>
          <p:cNvSpPr txBox="1"/>
          <p:nvPr/>
        </p:nvSpPr>
        <p:spPr>
          <a:xfrm>
            <a:off x="1385888" y="1327150"/>
            <a:ext cx="3900487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en-US" altLang="zh-CN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</a:t>
            </a:r>
            <a:r>
              <a:rPr lang="zh-CN" altLang="en-US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3321" name="文本框 12"/>
          <p:cNvSpPr txBox="1"/>
          <p:nvPr/>
        </p:nvSpPr>
        <p:spPr>
          <a:xfrm>
            <a:off x="1770063" y="1893888"/>
            <a:ext cx="8464550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内存管理算法是在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内存管理算法的基础上实现的，但是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内存管理算法的基础上实现了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管理多个非连续内存区域的能力 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322" name="文本框 13"/>
          <p:cNvSpPr txBox="1"/>
          <p:nvPr/>
        </p:nvSpPr>
        <p:spPr>
          <a:xfrm>
            <a:off x="1770063" y="2701925"/>
            <a:ext cx="8301037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内存管理算法默认并没有定义内存堆 ， 需要用户手动指定内存区域的信息，对其进行初始化。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pSp>
        <p:nvGrpSpPr>
          <p:cNvPr id="13323" name="组合 14"/>
          <p:cNvGrpSpPr/>
          <p:nvPr/>
        </p:nvGrpSpPr>
        <p:grpSpPr>
          <a:xfrm>
            <a:off x="1830705" y="3876675"/>
            <a:ext cx="8544560" cy="2030095"/>
            <a:chOff x="387350" y="843642"/>
            <a:chExt cx="6800462" cy="2029783"/>
          </a:xfrm>
        </p:grpSpPr>
        <p:sp>
          <p:nvSpPr>
            <p:cNvPr id="13326" name="文本框 15"/>
            <p:cNvSpPr txBox="1"/>
            <p:nvPr/>
          </p:nvSpPr>
          <p:spPr>
            <a:xfrm>
              <a:off x="461576" y="843642"/>
              <a:ext cx="6726236" cy="2029783"/>
            </a:xfrm>
            <a:prstGeom prst="rect">
              <a:avLst/>
            </a:prstGeom>
            <a:noFill/>
            <a:ln w="9525">
              <a:noFill/>
            </a:ln>
          </p:spPr>
          <p:txBody>
            <a:bodyPr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typedef struct 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HeapRegion</a:t>
              </a:r>
              <a:b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{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uint8_t 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* 	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pucStartAddress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; 	</a:t>
              </a: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内存区域的起始地址 *</a:t>
              </a: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/</a:t>
              </a:r>
              <a:b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size_t 		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xSizeInBytes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; 	</a:t>
              </a: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内存区域的大小，单位：字节 *</a:t>
              </a: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/</a:t>
              </a:r>
              <a:b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} 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HeapRegion_t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;</a:t>
              </a:r>
              <a:r>
                <a:rPr lang="en-US" altLang="zh-CN" sz="1200" dirty="0"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br>
                <a:rPr lang="en-US" altLang="zh-CN" sz="1200" dirty="0">
                  <a:latin typeface="思源黑体 CN Normal" pitchFamily="34" charset="-122"/>
                  <a:ea typeface="思源黑体 CN Normal" pitchFamily="34" charset="-122"/>
                </a:rPr>
              </a:br>
              <a:endParaRPr lang="zh-CN" altLang="en-US" sz="1200" dirty="0"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>
            <a:xfrm>
              <a:off x="387350" y="843642"/>
              <a:ext cx="6368687" cy="1449432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6" name="文本框 15"/>
          <p:cNvSpPr txBox="1"/>
          <p:nvPr/>
        </p:nvSpPr>
        <p:spPr>
          <a:xfrm>
            <a:off x="1736725" y="3554413"/>
            <a:ext cx="461645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使用如下结构体：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21" grpId="0"/>
      <p:bldP spid="13322" grpId="0"/>
      <p:bldP spid="16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214645" y="95884"/>
            <a:ext cx="6096000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400" b="1" dirty="0" err="1">
                <a:sym typeface="+mn-ea"/>
              </a:rPr>
              <a:t>任务栈大小估算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30343" y="932189"/>
            <a:ext cx="10231120" cy="7683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2400"/>
              </a:spcBef>
              <a:spcAft>
                <a:spcPts val="1200"/>
              </a:spcAft>
            </a:pPr>
            <a:r>
              <a:rPr lang="en-US" altLang="zh-CN" sz="12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核心原则</a:t>
            </a:r>
            <a:endParaRPr lang="en-US" altLang="zh-CN" sz="12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堆栈分配的核心是在 “内存资源紧张” 和 “运行稳定性” 之间找到平衡。分配过小会导致堆栈溢出，系统崩溃；分配过大会浪费宝贵的RAM资源。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0343" y="1926324"/>
            <a:ext cx="10303510" cy="4261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2400"/>
              </a:spcBef>
              <a:spcAft>
                <a:spcPts val="1200"/>
              </a:spcAft>
            </a:pPr>
            <a:r>
              <a:rPr lang="en-US" altLang="zh-CN" sz="12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影响任务堆栈大小的主要因素</a:t>
            </a:r>
            <a:endParaRPr lang="en-US" altLang="zh-CN" sz="12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计算一个任务需要多少堆栈，需要考虑以下所有开销的总和：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函数调用深度 (Call Nesting Depth)：</a:t>
            </a:r>
            <a:endParaRPr lang="en-US" altLang="zh-CN" sz="12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这是最大的影响因素。任务从入口函数开始，调用函数A，A再调用函数B，B再调用函数C... 每一层调用都会将返回地址、参数等压栈。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提示：代码结构越复杂，调用层次越深，需要的堆栈越大。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局部变量 (Local Variables)：</a:t>
            </a:r>
            <a:endParaRPr lang="en-US" altLang="zh-CN" sz="12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任务函数及其所有子函数中声明的局部变量（尤其是大型数组或结构体）都存储在堆栈上。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重要：避免在栈上分配大型数据结构（如 char buffer[1024]），改用静态变量或从堆分配。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中断上下文保存 (Context Saving)：</a:t>
            </a:r>
            <a:endParaRPr lang="en-US" altLang="zh-CN" sz="12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发生中断时，处理器会将当前任务的状态（寄存器值）压入当前运行任务的堆栈。这意味着即使是一个简单的任务，如果它运行时发生了频繁且复杂的中断，其堆栈使用量也会显著增加。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中断越复杂，需要保存的寄存器越多，堆栈开销越大。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自身开销 (RTOS Overhead)：</a:t>
            </a:r>
            <a:endParaRPr lang="en-US" altLang="zh-CN" sz="12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在任务切换时，FreeRTOS 需要保存剩余CPU寄存器的状态到任务堆栈。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对于 Cortex-M 内核，一次完整的上下文切换通常需要 ~500 字节 的堆栈空间（具体取决于端口和FPU是否启用）。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此外，使用 osDelay(), xQueueSend() 等API函数也会产生一定的调用开销。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对齐要求 (Alignment)：</a:t>
            </a:r>
            <a:endParaRPr lang="en-US" altLang="zh-CN" sz="12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为了满足处理器的内存对齐要求，堆栈指针可能会自动调整，这可能会造成一些微小的浪费。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90525" y="224155"/>
            <a:ext cx="1140587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2400"/>
              </a:spcBef>
              <a:spcAft>
                <a:spcPts val="1200"/>
              </a:spcAft>
            </a:pPr>
            <a:r>
              <a:rPr lang="en-US" altLang="zh-CN" sz="2400" i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确定堆栈大小的方法</a:t>
            </a:r>
            <a:endParaRPr lang="en-US" altLang="zh-CN" sz="24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不要盲目猜测，应采用以下科学方法：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600"/>
              </a:spcAft>
            </a:pPr>
            <a:r>
              <a:rPr lang="en-US" altLang="zh-CN" sz="12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1. 理论估算 (初步估算)</a:t>
            </a:r>
            <a:endParaRPr lang="en-US" altLang="zh-CN" sz="12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查看编译器的 Map 文件。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找到你的任务函数及其调用的所有函数，检查它们的帧大小 (Frame Size)。将它们相加，得到一个粗略的底限。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公式：总堆栈需求 ≈ (最深层调用路径上所有函数帧大小之和) + (中断保存开销) + (安全边际)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这是一个起点，但非常不准确，因为它无法计算指针引用、动态深度等。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600"/>
              </a:spcAft>
            </a:pPr>
            <a:r>
              <a:rPr lang="en-US" altLang="zh-CN" sz="12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2. 经验值 (快速启动)</a:t>
            </a:r>
            <a:endParaRPr lang="en-US" altLang="zh-CN" sz="12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对于简单的 LED闪烁、按键扫描 等任务，可以从 128 ~ 256 字节 开始。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对于中等复杂的任务（如处理串口数据），可以从 256 ~ 512 字节 开始。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对于复杂的任务（如运行加密算法、文件系统），可能需要 1KB ~ 4KB甚至更多。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注意：这只是一个非常粗略的参考，必须通过后续方法进行验证</a:t>
            </a: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92394" y="5357279"/>
            <a:ext cx="108079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ea typeface="思源黑体 CN Normal" pitchFamily="34" charset="-122"/>
              </a:rPr>
              <a:t>堆的大小 ≈ 所有任务的栈大小之和 </a:t>
            </a:r>
            <a:r>
              <a:rPr lang="en-US" altLang="zh-CN" sz="1200" dirty="0">
                <a:solidFill>
                  <a:srgbClr val="002060"/>
                </a:solidFill>
                <a:ea typeface="思源黑体 CN Normal" pitchFamily="34" charset="-122"/>
              </a:rPr>
              <a:t>+ </a:t>
            </a:r>
            <a:r>
              <a:rPr lang="zh-CN" altLang="en-US" sz="1200" dirty="0">
                <a:solidFill>
                  <a:srgbClr val="002060"/>
                </a:solidFill>
                <a:ea typeface="思源黑体 CN Normal" pitchFamily="34" charset="-122"/>
              </a:rPr>
              <a:t>所有内核对象（队列、信号量等）的大小 </a:t>
            </a:r>
            <a:r>
              <a:rPr lang="en-US" altLang="zh-CN" sz="1200" dirty="0">
                <a:solidFill>
                  <a:srgbClr val="002060"/>
                </a:solidFill>
                <a:ea typeface="思源黑体 CN Normal" pitchFamily="34" charset="-122"/>
              </a:rPr>
              <a:t>+ </a:t>
            </a:r>
            <a:r>
              <a:rPr lang="zh-CN" altLang="en-US" sz="1200" dirty="0">
                <a:solidFill>
                  <a:srgbClr val="002060"/>
                </a:solidFill>
                <a:ea typeface="思源黑体 CN Normal" pitchFamily="34" charset="-122"/>
              </a:rPr>
              <a:t>其他开销。</a:t>
            </a:r>
            <a:endParaRPr lang="zh-CN" altLang="en-US" sz="1200" dirty="0">
              <a:solidFill>
                <a:srgbClr val="002060"/>
              </a:solidFill>
              <a:ea typeface="思源黑体 CN Normal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292393" y="5793214"/>
            <a:ext cx="102604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ea typeface="思源黑体 CN Normal" pitchFamily="34" charset="-122"/>
              </a:rPr>
              <a:t>在 </a:t>
            </a:r>
            <a:r>
              <a:rPr lang="en-US" altLang="zh-CN" sz="1200" dirty="0">
                <a:solidFill>
                  <a:srgbClr val="002060"/>
                </a:solidFill>
                <a:ea typeface="思源黑体 CN Normal" pitchFamily="34" charset="-122"/>
              </a:rPr>
              <a:t>FreeRTOS </a:t>
            </a:r>
            <a:r>
              <a:rPr lang="zh-CN" altLang="en-US" sz="1200" dirty="0">
                <a:solidFill>
                  <a:srgbClr val="002060"/>
                </a:solidFill>
                <a:ea typeface="思源黑体 CN Normal" pitchFamily="34" charset="-122"/>
              </a:rPr>
              <a:t>中，当你使用 </a:t>
            </a:r>
            <a:r>
              <a:rPr lang="en-US" altLang="zh-CN" sz="1200" dirty="0" err="1">
                <a:solidFill>
                  <a:srgbClr val="002060"/>
                </a:solidFill>
                <a:ea typeface="思源黑体 CN Normal" pitchFamily="34" charset="-122"/>
              </a:rPr>
              <a:t>xTaskCreate</a:t>
            </a:r>
            <a:r>
              <a:rPr lang="en-US" altLang="zh-CN" sz="1200" dirty="0">
                <a:solidFill>
                  <a:srgbClr val="002060"/>
                </a:solidFill>
                <a:ea typeface="思源黑体 CN Normal" pitchFamily="34" charset="-122"/>
              </a:rPr>
              <a:t>()</a:t>
            </a:r>
            <a:r>
              <a:rPr lang="zh-CN" altLang="en-US" sz="1200" dirty="0">
                <a:solidFill>
                  <a:srgbClr val="002060"/>
                </a:solidFill>
                <a:ea typeface="思源黑体 CN Normal" pitchFamily="34" charset="-122"/>
              </a:rPr>
              <a:t> 动态创建任务时，任务的栈空间和任务控制块（</a:t>
            </a:r>
            <a:r>
              <a:rPr lang="en-US" altLang="zh-CN" sz="1200" dirty="0">
                <a:solidFill>
                  <a:srgbClr val="002060"/>
                </a:solidFill>
                <a:ea typeface="思源黑体 CN Normal" pitchFamily="34" charset="-122"/>
              </a:rPr>
              <a:t>TCB</a:t>
            </a:r>
            <a:r>
              <a:rPr lang="zh-CN" altLang="en-US" sz="1200" dirty="0">
                <a:solidFill>
                  <a:srgbClr val="002060"/>
                </a:solidFill>
                <a:ea typeface="思源黑体 CN Normal" pitchFamily="34" charset="-122"/>
              </a:rPr>
              <a:t>） 都是从 堆 中分配的。，所有任务的栈大小之和是堆消耗的绝对主体，通常占总堆大小的 </a:t>
            </a:r>
            <a:r>
              <a:rPr lang="en-US" altLang="zh-CN" sz="1200" dirty="0">
                <a:solidFill>
                  <a:srgbClr val="002060"/>
                </a:solidFill>
                <a:ea typeface="思源黑体 CN Normal" pitchFamily="34" charset="-122"/>
              </a:rPr>
              <a:t>70%~90%</a:t>
            </a:r>
            <a:r>
              <a:rPr lang="zh-CN" altLang="en-US" sz="1200" dirty="0">
                <a:solidFill>
                  <a:srgbClr val="002060"/>
                </a:solidFill>
                <a:ea typeface="思源黑体 CN Normal" pitchFamily="34" charset="-122"/>
              </a:rPr>
              <a:t>。</a:t>
            </a:r>
            <a:endParaRPr lang="zh-CN" altLang="en-US" sz="1200" dirty="0">
              <a:solidFill>
                <a:srgbClr val="002060"/>
              </a:solidFill>
              <a:ea typeface="思源黑体 CN Normal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90525" y="224155"/>
            <a:ext cx="11405870" cy="48628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2400"/>
              </a:spcBef>
              <a:spcAft>
                <a:spcPts val="1200"/>
              </a:spcAft>
            </a:pPr>
            <a:r>
              <a:rPr lang="en-US" altLang="zh-CN" sz="2400" i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确定堆栈大小的方法</a:t>
            </a:r>
            <a:endParaRPr lang="en-US" altLang="zh-CN" sz="24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3. 实验测量 (最可靠的方法) - 强烈推荐</a:t>
            </a:r>
            <a:endParaRPr lang="en-US" altLang="zh-CN" sz="12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提供了极好的运行时堆栈使用量检测工具。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uxTaskGetStackHighWaterMark() 函数：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工作原理：FreeRTOS 在任务运行时会将堆栈空间初始化为一个已知值（如 0xA5）。这个函数会从堆栈末尾开始向上检查，找到从未被覆盖过的最大连续内存区域。这个值就是所谓的“高水位线”(High Water Mark)。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含义：“高水位线”告诉你任务从创建以来，最多的时候 使用了多少堆栈空间。(分配的堆栈总大小) - (高水位线) = 任务曾达到的最大使用量。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◦"/>
            </a:pPr>
            <a:r>
              <a:rPr lang="en-US" altLang="zh-CN" sz="1200" b="0" i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如何使用</a:t>
            </a: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：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lvl="2" indent="0">
              <a:buFont typeface="Arial" panose="020B0604020202020204"/>
              <a:buChar char="•"/>
            </a:pPr>
            <a:r>
              <a:rPr lang="en-US" altLang="zh-CN" sz="12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在任务循环中调用此函数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lvl="2" indent="0">
              <a:buFont typeface="Arial" panose="020B0604020202020204"/>
              <a:buChar char="•"/>
            </a:pPr>
            <a:r>
              <a:rPr lang="en-US" altLang="zh-CN" sz="12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通过打印出水位数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lvl="2" indent="0">
              <a:buFont typeface="Arial" panose="020B0604020202020204"/>
              <a:buChar char="•"/>
            </a:pPr>
            <a:r>
              <a:rPr lang="en-US" altLang="zh-CN" sz="12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让系统充分运行，执行所有可能的业务流程和中断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lvl="2" indent="0">
              <a:buFont typeface="Arial" panose="020B0604020202020204"/>
              <a:buChar char="•"/>
            </a:pPr>
            <a:r>
              <a:rPr lang="en-US" altLang="zh-CN" sz="12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观察打印出的最小值，这就是该任务需要的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 </a:t>
            </a:r>
            <a:r>
              <a:rPr lang="en-US" altLang="zh-CN" sz="12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最大堆栈空间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lvl="2" indent="0">
              <a:buFont typeface="Arial" panose="020B0604020202020204"/>
              <a:buChar char="•"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安全边际：根据测量到的最大值，额外增加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20% ~ 30%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作为安全边际，以防止未测试到的边界情况。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lvl="2" indent="0">
              <a:spcAft>
                <a:spcPts val="600"/>
              </a:spcAft>
              <a:buFont typeface="Arial" panose="020B0604020202020204"/>
              <a:buChar char="•"/>
            </a:pPr>
            <a:endParaRPr lang="en-US" altLang="zh-CN" sz="1200" dirty="0">
              <a:solidFill>
                <a:srgbClr val="002060"/>
              </a:solidFill>
              <a:ea typeface="思源黑体 CN Normal" pitchFamily="34" charset="-122"/>
            </a:endParaRPr>
          </a:p>
          <a:p>
            <a:pPr marL="0" lvl="2" indent="0">
              <a:spcAft>
                <a:spcPts val="600"/>
              </a:spcAft>
              <a:buFont typeface="Arial" panose="020B0604020202020204"/>
              <a:buChar char="•"/>
            </a:pPr>
            <a:r>
              <a:rPr lang="en-US" altLang="zh-CN" sz="1200" dirty="0" err="1">
                <a:solidFill>
                  <a:srgbClr val="002060"/>
                </a:solidFill>
                <a:ea typeface="思源黑体 CN Normal" pitchFamily="34" charset="-122"/>
              </a:rPr>
              <a:t>xPortGetFreeHeapSize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() </a:t>
            </a:r>
            <a:r>
              <a:rPr lang="en-US" altLang="zh-CN" sz="12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：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buFont typeface="Arial" panose="020B0604020202020204"/>
              <a:buChar char="◦"/>
            </a:pPr>
            <a:r>
              <a:rPr lang="zh-CN" altLang="en-US" sz="1200" dirty="0">
                <a:solidFill>
                  <a:srgbClr val="002060"/>
                </a:solidFill>
                <a:ea typeface="思源黑体 CN Normal" pitchFamily="34" charset="-122"/>
              </a:rPr>
              <a:t>工作原理：</a:t>
            </a:r>
            <a:r>
              <a:rPr lang="en-US" altLang="zh-CN" sz="1200" dirty="0">
                <a:solidFill>
                  <a:srgbClr val="002060"/>
                </a:solidFill>
                <a:ea typeface="思源黑体 CN Normal" pitchFamily="34" charset="-122"/>
              </a:rPr>
              <a:t>FreeRTOS </a:t>
            </a:r>
            <a:r>
              <a:rPr lang="zh-CN" altLang="en-US" sz="1200" dirty="0">
                <a:solidFill>
                  <a:srgbClr val="002060"/>
                </a:solidFill>
                <a:ea typeface="思源黑体 CN Normal" pitchFamily="34" charset="-122"/>
              </a:rPr>
              <a:t>在启动时会从 </a:t>
            </a:r>
            <a:r>
              <a:rPr lang="en-US" altLang="zh-CN" sz="1200" dirty="0" err="1">
                <a:solidFill>
                  <a:srgbClr val="002060"/>
                </a:solidFill>
                <a:ea typeface="思源黑体 CN Normal" pitchFamily="34" charset="-122"/>
              </a:rPr>
              <a:t>configTOTAL_HEAP_SIZE</a:t>
            </a:r>
            <a:r>
              <a:rPr lang="en-US" altLang="zh-CN" sz="1200" dirty="0">
                <a:solidFill>
                  <a:srgbClr val="002060"/>
                </a:solidFill>
                <a:ea typeface="思源黑体 CN Normal" pitchFamily="34" charset="-122"/>
              </a:rPr>
              <a:t> </a:t>
            </a:r>
            <a:r>
              <a:rPr lang="zh-CN" altLang="en-US" sz="1200" dirty="0">
                <a:solidFill>
                  <a:srgbClr val="002060"/>
                </a:solidFill>
                <a:ea typeface="思源黑体 CN Normal" pitchFamily="34" charset="-122"/>
              </a:rPr>
              <a:t>定义的全局堆中划分出一块连续内存，并将其交由堆管理方案（如 </a:t>
            </a:r>
            <a:r>
              <a:rPr lang="en-US" altLang="zh-CN" sz="1200" dirty="0">
                <a:solidFill>
                  <a:srgbClr val="002060"/>
                </a:solidFill>
                <a:ea typeface="思源黑体 CN Normal" pitchFamily="34" charset="-122"/>
              </a:rPr>
              <a:t>heap_4.c</a:t>
            </a:r>
            <a:r>
              <a:rPr lang="zh-CN" altLang="en-US" sz="1200" dirty="0">
                <a:solidFill>
                  <a:srgbClr val="002060"/>
                </a:solidFill>
                <a:ea typeface="思源黑体 CN Normal" pitchFamily="34" charset="-122"/>
              </a:rPr>
              <a:t>）进行管理。堆管理器会在内部维护一个空闲块列表，记录哪些内存未被使用。这个函数会遍历空闲块列表，将所有空闲块的大小累加起来，返回当前剩余的可用堆内存总量。</a:t>
            </a:r>
            <a:endParaRPr lang="zh-CN" altLang="en-US" sz="1200" dirty="0">
              <a:solidFill>
                <a:srgbClr val="002060"/>
              </a:solidFill>
              <a:ea typeface="思源黑体 CN Normal" pitchFamily="34" charset="-122"/>
            </a:endParaRPr>
          </a:p>
          <a:p>
            <a:pPr marL="457200" lvl="2" indent="0">
              <a:buFont typeface="Arial" panose="020B0604020202020204"/>
              <a:buChar char="◦"/>
            </a:pPr>
            <a:r>
              <a:rPr lang="zh-CN" altLang="en-US" sz="1200" dirty="0">
                <a:solidFill>
                  <a:srgbClr val="002060"/>
                </a:solidFill>
                <a:ea typeface="思源黑体 CN Normal" pitchFamily="34" charset="-122"/>
              </a:rPr>
              <a:t>含义：返回值告诉你此时此刻 </a:t>
            </a:r>
            <a:r>
              <a:rPr lang="en-US" altLang="zh-CN" sz="1200" dirty="0">
                <a:solidFill>
                  <a:srgbClr val="002060"/>
                </a:solidFill>
                <a:ea typeface="思源黑体 CN Normal" pitchFamily="34" charset="-122"/>
              </a:rPr>
              <a:t>FreeRTOS </a:t>
            </a:r>
            <a:r>
              <a:rPr lang="zh-CN" altLang="en-US" sz="1200" dirty="0">
                <a:solidFill>
                  <a:srgbClr val="002060"/>
                </a:solidFill>
                <a:ea typeface="思源黑体 CN Normal" pitchFamily="34" charset="-122"/>
              </a:rPr>
              <a:t>堆中还有多少字节未被使用。配合 </a:t>
            </a:r>
            <a:r>
              <a:rPr lang="en-US" altLang="zh-CN" sz="1200" dirty="0" err="1">
                <a:solidFill>
                  <a:srgbClr val="002060"/>
                </a:solidFill>
                <a:ea typeface="思源黑体 CN Normal" pitchFamily="34" charset="-122"/>
              </a:rPr>
              <a:t>configTOTAL_HEAP_SIZE</a:t>
            </a:r>
            <a:r>
              <a:rPr lang="en-US" altLang="zh-CN" sz="1200" dirty="0">
                <a:solidFill>
                  <a:srgbClr val="002060"/>
                </a:solidFill>
                <a:ea typeface="思源黑体 CN Normal" pitchFamily="34" charset="-122"/>
              </a:rPr>
              <a:t> </a:t>
            </a:r>
            <a:r>
              <a:rPr lang="zh-CN" altLang="en-US" sz="1200" dirty="0">
                <a:solidFill>
                  <a:srgbClr val="002060"/>
                </a:solidFill>
                <a:ea typeface="思源黑体 CN Normal" pitchFamily="34" charset="-122"/>
              </a:rPr>
              <a:t>可以计算出当前已使用的堆内存：已使用 </a:t>
            </a:r>
            <a:r>
              <a:rPr lang="en-US" altLang="zh-CN" sz="1200" dirty="0">
                <a:solidFill>
                  <a:srgbClr val="002060"/>
                </a:solidFill>
                <a:ea typeface="思源黑体 CN Normal" pitchFamily="34" charset="-122"/>
              </a:rPr>
              <a:t>= </a:t>
            </a:r>
            <a:r>
              <a:rPr lang="en-US" altLang="zh-CN" sz="1200" dirty="0" err="1">
                <a:solidFill>
                  <a:srgbClr val="002060"/>
                </a:solidFill>
                <a:ea typeface="思源黑体 CN Normal" pitchFamily="34" charset="-122"/>
              </a:rPr>
              <a:t>configTOTAL_HEAP_SIZE</a:t>
            </a:r>
            <a:r>
              <a:rPr lang="en-US" altLang="zh-CN" sz="1200" dirty="0">
                <a:solidFill>
                  <a:srgbClr val="002060"/>
                </a:solidFill>
                <a:ea typeface="思源黑体 CN Normal" pitchFamily="34" charset="-122"/>
              </a:rPr>
              <a:t> - </a:t>
            </a:r>
            <a:r>
              <a:rPr lang="en-US" altLang="zh-CN" sz="1200" dirty="0" err="1">
                <a:solidFill>
                  <a:srgbClr val="002060"/>
                </a:solidFill>
                <a:ea typeface="思源黑体 CN Normal" pitchFamily="34" charset="-122"/>
              </a:rPr>
              <a:t>xPortGetFreeHeapSize</a:t>
            </a:r>
            <a:r>
              <a:rPr lang="en-US" altLang="zh-CN" sz="1200" dirty="0">
                <a:solidFill>
                  <a:srgbClr val="002060"/>
                </a:solidFill>
                <a:ea typeface="思源黑体 CN Normal" pitchFamily="34" charset="-122"/>
              </a:rPr>
              <a:t>()</a:t>
            </a:r>
            <a:r>
              <a:rPr lang="zh-CN" altLang="en-US" sz="1200" dirty="0">
                <a:solidFill>
                  <a:srgbClr val="002060"/>
                </a:solidFill>
                <a:ea typeface="思源黑体 CN Normal" pitchFamily="34" charset="-122"/>
              </a:rPr>
              <a:t>。</a:t>
            </a:r>
            <a:endParaRPr lang="zh-CN" altLang="en-US" sz="1200" dirty="0">
              <a:solidFill>
                <a:srgbClr val="002060"/>
              </a:solidFill>
              <a:ea typeface="思源黑体 CN Normal" pitchFamily="34" charset="-122"/>
            </a:endParaRPr>
          </a:p>
        </p:txBody>
      </p:sp>
    </p:spTree>
  </p:cSld>
  <p:clrMapOvr>
    <a:masterClrMapping/>
  </p:clrMapOvr>
  <p:transition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563687" y="823566"/>
            <a:ext cx="11488317" cy="21082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2400"/>
              </a:spcBef>
              <a:spcAft>
                <a:spcPts val="1200"/>
              </a:spcAft>
            </a:pPr>
            <a:r>
              <a:rPr lang="en-US" altLang="zh-CN" sz="2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启用 FreeRTOS 的堆栈溢出检测功能</a:t>
            </a:r>
            <a:endParaRPr lang="en-US" altLang="zh-CN" sz="24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这是一个极其重要的安全特性，强烈建议在开发阶段启用。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 FreeRTOSConfig.h 中定义 configCHECK_FOR_STACK_OVERFLOW：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0：不检测（默认）。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1：检测方法1。在任务切换时检查堆栈指针是否超出有效范围。成本低，但只能在上下文切换时捕获溢出。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2：检测方法2。任务创建时在堆栈顶部填充一个已知模式（校验和），在切换时检查该模式是否被破坏。这种方法能捕获到堆栈溢出对数据的破坏，更有效但成本稍高。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注意：一旦检测到溢出，会触发 </a:t>
            </a:r>
            <a:r>
              <a:rPr lang="en-US" altLang="zh-CN" sz="12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vApplicationStackOverflowHook </a:t>
            </a: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回调函数，你可以在其中进行错误处理（如打印错误信息、重启系统）。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772576" y="3039568"/>
          <a:ext cx="10226805" cy="24020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4568"/>
                <a:gridCol w="4120116"/>
                <a:gridCol w="4742121"/>
              </a:tblGrid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200" b="0" dirty="0">
                          <a:effectLst/>
                          <a:latin typeface="+mn-ea"/>
                          <a:ea typeface="+mn-ea"/>
                        </a:rPr>
                        <a:t>特性</a:t>
                      </a:r>
                      <a:endParaRPr lang="zh-CN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R="76200" marT="47625" marB="47625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50"/>
                        </a:lnSpc>
                        <a:buNone/>
                      </a:pPr>
                      <a:r>
                        <a:rPr lang="en-US" sz="1200" b="0" dirty="0" err="1">
                          <a:effectLst/>
                          <a:latin typeface="+mn-ea"/>
                          <a:ea typeface="+mn-ea"/>
                        </a:rPr>
                        <a:t>方法</a:t>
                      </a:r>
                      <a:r>
                        <a:rPr lang="en-US" sz="1200" b="0" dirty="0">
                          <a:effectLst/>
                          <a:latin typeface="+mn-ea"/>
                          <a:ea typeface="+mn-ea"/>
                        </a:rPr>
                        <a:t> 1</a:t>
                      </a:r>
                      <a:endParaRPr 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R="76200" marT="47625" marB="47625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50"/>
                        </a:lnSpc>
                        <a:buNone/>
                      </a:pPr>
                      <a:r>
                        <a:rPr lang="en-US" sz="1200" b="0" dirty="0" err="1">
                          <a:effectLst/>
                          <a:latin typeface="+mn-ea"/>
                          <a:ea typeface="+mn-ea"/>
                        </a:rPr>
                        <a:t>方法</a:t>
                      </a:r>
                      <a:r>
                        <a:rPr lang="en-US" sz="1200" b="0" dirty="0">
                          <a:effectLst/>
                          <a:latin typeface="+mn-ea"/>
                          <a:ea typeface="+mn-ea"/>
                        </a:rPr>
                        <a:t> 2</a:t>
                      </a:r>
                      <a:endParaRPr 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R="76200" marT="47625" marB="47625" anchor="ctr"/>
                </a:tc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200" b="1" dirty="0">
                          <a:effectLst/>
                          <a:latin typeface="+mn-ea"/>
                          <a:ea typeface="+mn-ea"/>
                        </a:rPr>
                        <a:t>核心原理</a:t>
                      </a:r>
                      <a:endParaRPr lang="zh-CN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R="76200" marT="47625" marB="476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200" b="0" dirty="0">
                          <a:effectLst/>
                          <a:latin typeface="+mn-ea"/>
                          <a:ea typeface="+mn-ea"/>
                        </a:rPr>
                        <a:t>指针边界检查：在任务切换时，检查任务的栈指针（</a:t>
                      </a:r>
                      <a:r>
                        <a:rPr lang="en-US" altLang="zh-CN" sz="1200" b="0" dirty="0">
                          <a:effectLst/>
                          <a:latin typeface="+mn-ea"/>
                          <a:ea typeface="+mn-ea"/>
                        </a:rPr>
                        <a:t>SP</a:t>
                      </a:r>
                      <a:r>
                        <a:rPr lang="zh-CN" altLang="en-US" sz="1200" b="0" dirty="0">
                          <a:effectLst/>
                          <a:latin typeface="+mn-ea"/>
                          <a:ea typeface="+mn-ea"/>
                        </a:rPr>
                        <a:t>）是否超出了栈的起始或结束地址范围。</a:t>
                      </a:r>
                      <a:endParaRPr lang="zh-CN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R="76200" marT="47625" marB="476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zh-CN" altLang="en-US" sz="1200" b="0" dirty="0">
                          <a:effectLst/>
                          <a:latin typeface="+mn-ea"/>
                          <a:ea typeface="+mn-ea"/>
                        </a:rPr>
                        <a:t>“水位线”标记检查：任务创建时，用已知值（如 </a:t>
                      </a:r>
                      <a:r>
                        <a:rPr lang="en-US" altLang="zh-CN" sz="1200" b="0" dirty="0">
                          <a:effectLst/>
                          <a:latin typeface="+mn-ea"/>
                          <a:ea typeface="+mn-ea"/>
                        </a:rPr>
                        <a:t>0xa5</a:t>
                      </a:r>
                      <a:r>
                        <a:rPr lang="zh-CN" altLang="en-US" sz="1200" b="0" dirty="0">
                          <a:effectLst/>
                          <a:latin typeface="+mn-ea"/>
                          <a:ea typeface="+mn-ea"/>
                        </a:rPr>
                        <a:t>）填满整个栈。切换时检查栈末尾的</a:t>
                      </a:r>
                      <a:r>
                        <a:rPr lang="en-US" altLang="zh-CN" sz="1200" b="0" dirty="0">
                          <a:effectLst/>
                          <a:latin typeface="+mn-ea"/>
                          <a:ea typeface="+mn-ea"/>
                        </a:rPr>
                        <a:t>16-20</a:t>
                      </a:r>
                      <a:r>
                        <a:rPr lang="zh-CN" altLang="en-US" sz="1200" b="0" dirty="0">
                          <a:effectLst/>
                          <a:latin typeface="+mn-ea"/>
                          <a:ea typeface="+mn-ea"/>
                        </a:rPr>
                        <a:t>个字节是否被篡改。</a:t>
                      </a:r>
                      <a:endParaRPr lang="zh-CN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T="47625" marB="47625" anchor="ctr"/>
                </a:tc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200" b="1" dirty="0">
                          <a:effectLst/>
                          <a:latin typeface="+mn-ea"/>
                          <a:ea typeface="+mn-ea"/>
                        </a:rPr>
                        <a:t>优点</a:t>
                      </a:r>
                      <a:endParaRPr lang="zh-CN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R="76200" marT="47625" marB="476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200" b="0" dirty="0">
                          <a:effectLst/>
                          <a:latin typeface="+mn-ea"/>
                          <a:ea typeface="+mn-ea"/>
                        </a:rPr>
                        <a:t>速度快，开销极小。仅是比较几个地址值。</a:t>
                      </a:r>
                      <a:endParaRPr lang="zh-CN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R="76200" marT="47625" marB="476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200" b="0" dirty="0">
                          <a:effectLst/>
                          <a:latin typeface="+mn-ea"/>
                          <a:ea typeface="+mn-ea"/>
                        </a:rPr>
                        <a:t>检测率高。能发现“指针越界后又复位”等复杂溢出，几乎能捕获所有任务栈溢出情况。</a:t>
                      </a:r>
                      <a:endParaRPr lang="zh-CN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T="47625" marB="47625" anchor="ctr"/>
                </a:tc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200" b="1">
                          <a:effectLst/>
                          <a:latin typeface="+mn-ea"/>
                          <a:ea typeface="+mn-ea"/>
                        </a:rPr>
                        <a:t>缺点</a:t>
                      </a:r>
                      <a:r>
                        <a:rPr lang="en-US" altLang="zh-CN" sz="1200" b="1">
                          <a:effectLst/>
                          <a:latin typeface="+mn-ea"/>
                          <a:ea typeface="+mn-ea"/>
                        </a:rPr>
                        <a:t>/</a:t>
                      </a:r>
                      <a:r>
                        <a:rPr lang="zh-CN" altLang="en-US" sz="1200" b="1">
                          <a:effectLst/>
                          <a:latin typeface="+mn-ea"/>
                          <a:ea typeface="+mn-ea"/>
                        </a:rPr>
                        <a:t>局限性</a:t>
                      </a:r>
                      <a:endParaRPr lang="zh-CN" altLang="en-US" sz="1200" b="0">
                        <a:effectLst/>
                        <a:latin typeface="+mn-ea"/>
                        <a:ea typeface="+mn-ea"/>
                      </a:endParaRPr>
                    </a:p>
                  </a:txBody>
                  <a:tcPr marR="76200" marT="47625" marB="476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200" b="0" dirty="0">
                          <a:effectLst/>
                          <a:latin typeface="+mn-ea"/>
                          <a:ea typeface="+mn-ea"/>
                        </a:rPr>
                        <a:t>可能漏检。如果溢出发生在两次任务切换之间，但指针又被修改回合法范围，则无法检测到。</a:t>
                      </a:r>
                      <a:endParaRPr lang="zh-CN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R="76200" marT="47625" marB="476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200" b="0" dirty="0">
                          <a:effectLst/>
                          <a:latin typeface="+mn-ea"/>
                          <a:ea typeface="+mn-ea"/>
                        </a:rPr>
                        <a:t>开销稍大。需遍历检查内存值；理论上存在“溢出值恰好等于标记值”的极小概率漏检情况。</a:t>
                      </a:r>
                      <a:endParaRPr lang="zh-CN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T="47625" marB="47625" anchor="ctr"/>
                </a:tc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200" b="1">
                          <a:effectLst/>
                          <a:latin typeface="quote-cjk-patch"/>
                        </a:rPr>
                        <a:t>适用场景</a:t>
                      </a:r>
                      <a:endParaRPr lang="zh-CN" altLang="en-US" sz="1200" b="0">
                        <a:effectLst/>
                        <a:latin typeface="quote-cjk-patch"/>
                      </a:endParaRPr>
                    </a:p>
                  </a:txBody>
                  <a:tcPr marR="76200" marT="47625" marB="476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200" b="0" dirty="0">
                          <a:effectLst/>
                          <a:latin typeface="quote-cjk-patch"/>
                        </a:rPr>
                        <a:t>开发初期快速、粗略地排查明显溢出问题。</a:t>
                      </a:r>
                      <a:endParaRPr lang="zh-CN" altLang="en-US" sz="1200" b="0" dirty="0">
                        <a:effectLst/>
                        <a:latin typeface="quote-cjk-patch"/>
                      </a:endParaRPr>
                    </a:p>
                  </a:txBody>
                  <a:tcPr marL="76200" marR="76200" marT="47625" marB="476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200" b="0" dirty="0">
                          <a:effectLst/>
                          <a:latin typeface="quote-cjk-patch"/>
                        </a:rPr>
                        <a:t>精准定位栈溢出问题，尤其推荐在开发测试阶段使用。</a:t>
                      </a:r>
                      <a:endParaRPr lang="zh-CN" altLang="en-US" sz="1200" b="0" dirty="0">
                        <a:effectLst/>
                        <a:latin typeface="quote-cjk-patch"/>
                      </a:endParaRPr>
                    </a:p>
                  </a:txBody>
                  <a:tcPr marL="76200" marT="47625" marB="47625" anchor="ctr"/>
                </a:tc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499730" y="5549379"/>
            <a:ext cx="1081097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b="1" dirty="0">
                <a:solidFill>
                  <a:schemeClr val="bg2"/>
                </a:solidFill>
              </a:rPr>
              <a:t>开发</a:t>
            </a:r>
            <a:r>
              <a:rPr lang="en-US" altLang="zh-CN" sz="1200" b="1" dirty="0">
                <a:solidFill>
                  <a:schemeClr val="bg2"/>
                </a:solidFill>
              </a:rPr>
              <a:t>/</a:t>
            </a:r>
            <a:r>
              <a:rPr lang="zh-CN" altLang="en-US" sz="1200" b="1" dirty="0">
                <a:solidFill>
                  <a:schemeClr val="bg2"/>
                </a:solidFill>
              </a:rPr>
              <a:t>测试阶段</a:t>
            </a:r>
            <a:r>
              <a:rPr lang="zh-CN" altLang="en-US" sz="1200" dirty="0">
                <a:solidFill>
                  <a:schemeClr val="bg2"/>
                </a:solidFill>
              </a:rPr>
              <a:t>：使用 </a:t>
            </a:r>
            <a:r>
              <a:rPr lang="zh-CN" altLang="en-US" sz="1200" b="1" dirty="0">
                <a:solidFill>
                  <a:schemeClr val="bg2"/>
                </a:solidFill>
              </a:rPr>
              <a:t>方法 </a:t>
            </a:r>
            <a:r>
              <a:rPr lang="en-US" altLang="zh-CN" sz="1200" b="1" dirty="0">
                <a:solidFill>
                  <a:schemeClr val="bg2"/>
                </a:solidFill>
              </a:rPr>
              <a:t>2</a:t>
            </a:r>
            <a:r>
              <a:rPr lang="zh-CN" altLang="en-US" sz="1200" dirty="0">
                <a:solidFill>
                  <a:schemeClr val="bg2"/>
                </a:solidFill>
              </a:rPr>
              <a:t>。虽然有一点点性能开销，但它能发现绝大多数内存问题，避免系统在正式运行时出现</a:t>
            </a:r>
            <a:r>
              <a:rPr lang="zh-CN" altLang="en-US" sz="1200" b="1" dirty="0">
                <a:solidFill>
                  <a:schemeClr val="bg2"/>
                </a:solidFill>
              </a:rPr>
              <a:t>随机死机</a:t>
            </a:r>
            <a:r>
              <a:rPr lang="zh-CN" altLang="en-US" sz="1200" dirty="0">
                <a:solidFill>
                  <a:schemeClr val="bg2"/>
                </a:solidFill>
              </a:rPr>
              <a:t>或</a:t>
            </a:r>
            <a:r>
              <a:rPr lang="en-US" altLang="zh-CN" sz="1200" b="1" dirty="0">
                <a:solidFill>
                  <a:schemeClr val="bg2"/>
                </a:solidFill>
              </a:rPr>
              <a:t>Hard Fault</a:t>
            </a:r>
            <a:r>
              <a:rPr lang="zh-CN" altLang="en-US" sz="1200" dirty="0">
                <a:solidFill>
                  <a:schemeClr val="bg2"/>
                </a:solidFill>
              </a:rPr>
              <a:t>等难以定位的故障。</a:t>
            </a:r>
            <a:endParaRPr lang="zh-CN" altLang="en-US" sz="1200" dirty="0">
              <a:solidFill>
                <a:schemeClr val="bg2"/>
              </a:solidFill>
            </a:endParaRPr>
          </a:p>
          <a:p>
            <a:r>
              <a:rPr lang="zh-CN" altLang="en-US" sz="1200" b="1" dirty="0">
                <a:solidFill>
                  <a:schemeClr val="bg2"/>
                </a:solidFill>
              </a:rPr>
              <a:t>性能调优阶段</a:t>
            </a:r>
            <a:r>
              <a:rPr lang="zh-CN" altLang="en-US" sz="1200" dirty="0">
                <a:solidFill>
                  <a:schemeClr val="bg2"/>
                </a:solidFill>
              </a:rPr>
              <a:t>：</a:t>
            </a:r>
            <a:r>
              <a:rPr lang="en-US" altLang="zh-CN" sz="1200" dirty="0">
                <a:solidFill>
                  <a:schemeClr val="bg2"/>
                </a:solidFill>
              </a:rPr>
              <a:t>2 </a:t>
            </a:r>
            <a:r>
              <a:rPr lang="zh-CN" altLang="en-US" sz="1200" dirty="0">
                <a:solidFill>
                  <a:schemeClr val="bg2"/>
                </a:solidFill>
              </a:rPr>
              <a:t>的开销不可接受，并且已基本确定栈大小是稳定的，可以临时降级为方法 </a:t>
            </a:r>
            <a:r>
              <a:rPr lang="en-US" altLang="zh-CN" sz="1200" dirty="0">
                <a:solidFill>
                  <a:schemeClr val="bg2"/>
                </a:solidFill>
              </a:rPr>
              <a:t>1</a:t>
            </a:r>
            <a:r>
              <a:rPr lang="zh-CN" altLang="en-US" sz="1200" dirty="0">
                <a:solidFill>
                  <a:schemeClr val="bg2"/>
                </a:solidFill>
              </a:rPr>
              <a:t>。</a:t>
            </a:r>
            <a:endParaRPr lang="zh-CN" altLang="en-US" sz="1200" dirty="0">
              <a:solidFill>
                <a:schemeClr val="bg2"/>
              </a:solidFill>
            </a:endParaRPr>
          </a:p>
          <a:p>
            <a:r>
              <a:rPr lang="zh-CN" altLang="en-US" sz="1200" b="1" dirty="0">
                <a:solidFill>
                  <a:schemeClr val="bg2"/>
                </a:solidFill>
              </a:rPr>
              <a:t>正式发布</a:t>
            </a:r>
            <a:r>
              <a:rPr lang="zh-CN" altLang="en-US" sz="1200" dirty="0">
                <a:solidFill>
                  <a:schemeClr val="bg2"/>
                </a:solidFill>
              </a:rPr>
              <a:t>：官方建议</a:t>
            </a:r>
            <a:r>
              <a:rPr lang="zh-CN" altLang="en-US" sz="1200" b="1" dirty="0">
                <a:solidFill>
                  <a:schemeClr val="bg2"/>
                </a:solidFill>
              </a:rPr>
              <a:t>关闭</a:t>
            </a:r>
            <a:r>
              <a:rPr lang="zh-CN" altLang="en-US" sz="1200" dirty="0">
                <a:solidFill>
                  <a:schemeClr val="bg2"/>
                </a:solidFill>
              </a:rPr>
              <a:t>此功能（设为</a:t>
            </a:r>
            <a:r>
              <a:rPr lang="en-US" altLang="zh-CN" sz="1200" dirty="0">
                <a:solidFill>
                  <a:schemeClr val="bg2"/>
                </a:solidFill>
              </a:rPr>
              <a:t>0</a:t>
            </a:r>
            <a:r>
              <a:rPr lang="zh-CN" altLang="en-US" sz="1200" dirty="0">
                <a:solidFill>
                  <a:schemeClr val="bg2"/>
                </a:solidFill>
              </a:rPr>
              <a:t>），以消除任何额外的任务切换开销；</a:t>
            </a:r>
            <a:endParaRPr lang="zh-CN" altLang="en-US" sz="1200" dirty="0">
              <a:solidFill>
                <a:schemeClr val="bg2"/>
              </a:solidFill>
            </a:endParaRPr>
          </a:p>
          <a:p>
            <a:endParaRPr lang="zh-CN" altLang="en-US" sz="1200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p:transition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 lang="zh-CN" dirty="0">
                <a:sym typeface="+mn-ea"/>
              </a:rPr>
              <a:t>中断管理</a:t>
            </a:r>
            <a:endParaRPr lang="zh-CN" dirty="0"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1</a:t>
            </a:r>
            <a:r>
              <a:rPr lang="zh-CN" altLang="en-US" sz="1400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，什么是中断？</a:t>
            </a:r>
            <a:endParaRPr lang="en-US" altLang="zh-CN" sz="1400" b="1" dirty="0">
              <a:solidFill>
                <a:schemeClr val="bg2"/>
              </a:solidFill>
              <a:latin typeface="思源黑体 CN Bold" pitchFamily="34" charset="-122"/>
              <a:ea typeface="思源黑体 CN Bold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400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2</a:t>
            </a:r>
            <a:r>
              <a:rPr lang="zh-CN" altLang="en-US" sz="1400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，中断优先级分组设置</a:t>
            </a:r>
            <a:endParaRPr lang="en-US" altLang="zh-CN" sz="1400" b="1" dirty="0">
              <a:solidFill>
                <a:schemeClr val="bg2"/>
              </a:solidFill>
              <a:latin typeface="思源黑体 CN Bold" pitchFamily="34" charset="-122"/>
              <a:ea typeface="思源黑体 CN Bold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400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sz="1400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，中断相关寄存器</a:t>
            </a:r>
            <a:endParaRPr lang="en-US" altLang="zh-CN" sz="1400" b="1" dirty="0">
              <a:solidFill>
                <a:schemeClr val="bg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</p:spTree>
  </p:cSld>
  <p:clrMapOvr>
    <a:masterClrMapping/>
  </p:clrMapOvr>
  <p:transition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  <p:sp>
        <p:nvSpPr>
          <p:cNvPr id="10" name="文本框 9"/>
          <p:cNvSpPr txBox="1">
            <a:spLocks noChangeArrowheads="1"/>
          </p:cNvSpPr>
          <p:nvPr/>
        </p:nvSpPr>
        <p:spPr bwMode="auto">
          <a:xfrm>
            <a:off x="1630880" y="1413193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1</a:t>
            </a:r>
            <a:r>
              <a:rPr lang="zh-CN" altLang="en-US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，什么是中断？（了解）</a:t>
            </a:r>
            <a:endParaRPr lang="en-US" altLang="zh-CN" b="1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1" name="文本框 18"/>
          <p:cNvSpPr txBox="1">
            <a:spLocks noChangeArrowheads="1"/>
          </p:cNvSpPr>
          <p:nvPr/>
        </p:nvSpPr>
        <p:spPr bwMode="auto">
          <a:xfrm>
            <a:off x="1992830" y="2016443"/>
            <a:ext cx="7086600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简介：让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CPU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打断正常运行的程序，转而去处理紧急的事件（程序），就叫中断</a:t>
            </a:r>
            <a:endParaRPr lang="en-US" altLang="zh-CN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075380" y="3408681"/>
            <a:ext cx="1119187" cy="465137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sz="1600" dirty="0"/>
          </a:p>
        </p:txBody>
      </p:sp>
      <p:sp>
        <p:nvSpPr>
          <p:cNvPr id="13" name="矩形 12"/>
          <p:cNvSpPr/>
          <p:nvPr/>
        </p:nvSpPr>
        <p:spPr>
          <a:xfrm>
            <a:off x="3207267" y="4250056"/>
            <a:ext cx="720725" cy="41751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400" dirty="0"/>
              <a:t>上厕所</a:t>
            </a:r>
            <a:endParaRPr lang="zh-CN" altLang="en-US" sz="1400" dirty="0"/>
          </a:p>
        </p:txBody>
      </p:sp>
      <p:sp>
        <p:nvSpPr>
          <p:cNvPr id="14" name="矩形 13"/>
          <p:cNvSpPr/>
          <p:nvPr/>
        </p:nvSpPr>
        <p:spPr>
          <a:xfrm>
            <a:off x="3194567" y="3408681"/>
            <a:ext cx="733425" cy="4651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sz="1600" dirty="0"/>
          </a:p>
        </p:txBody>
      </p:sp>
      <p:sp>
        <p:nvSpPr>
          <p:cNvPr id="15" name="矩形 14"/>
          <p:cNvSpPr/>
          <p:nvPr/>
        </p:nvSpPr>
        <p:spPr>
          <a:xfrm>
            <a:off x="3927992" y="3408681"/>
            <a:ext cx="1052513" cy="465137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sz="1600" dirty="0"/>
          </a:p>
        </p:txBody>
      </p:sp>
      <p:sp>
        <p:nvSpPr>
          <p:cNvPr id="16" name="右大括号 15"/>
          <p:cNvSpPr/>
          <p:nvPr/>
        </p:nvSpPr>
        <p:spPr>
          <a:xfrm rot="16200000">
            <a:off x="3438249" y="1866424"/>
            <a:ext cx="179388" cy="2905125"/>
          </a:xfrm>
          <a:prstGeom prst="rightBrace">
            <a:avLst>
              <a:gd name="adj1" fmla="val 51608"/>
              <a:gd name="adj2" fmla="val 50913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 sz="1600" dirty="0"/>
          </a:p>
        </p:txBody>
      </p:sp>
      <p:sp>
        <p:nvSpPr>
          <p:cNvPr id="17" name="文本框 16"/>
          <p:cNvSpPr txBox="1">
            <a:spLocks noChangeArrowheads="1"/>
          </p:cNvSpPr>
          <p:nvPr/>
        </p:nvSpPr>
        <p:spPr bwMode="auto">
          <a:xfrm>
            <a:off x="3162817" y="2843531"/>
            <a:ext cx="72866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/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上课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cxnSp>
        <p:nvCxnSpPr>
          <p:cNvPr id="18" name="直接箭头连接符 17"/>
          <p:cNvCxnSpPr/>
          <p:nvPr/>
        </p:nvCxnSpPr>
        <p:spPr>
          <a:xfrm>
            <a:off x="3207267" y="3873818"/>
            <a:ext cx="0" cy="376238"/>
          </a:xfrm>
          <a:prstGeom prst="straightConnector1">
            <a:avLst/>
          </a:prstGeom>
          <a:ln w="1905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/>
          <p:cNvCxnSpPr/>
          <p:nvPr/>
        </p:nvCxnSpPr>
        <p:spPr>
          <a:xfrm rot="10800000">
            <a:off x="3927992" y="3873818"/>
            <a:ext cx="0" cy="376238"/>
          </a:xfrm>
          <a:prstGeom prst="straightConnector1">
            <a:avLst/>
          </a:prstGeom>
          <a:ln w="1905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/>
          <p:cNvSpPr txBox="1">
            <a:spLocks noChangeArrowheads="1"/>
          </p:cNvSpPr>
          <p:nvPr/>
        </p:nvSpPr>
        <p:spPr bwMode="auto">
          <a:xfrm>
            <a:off x="2251592" y="4275456"/>
            <a:ext cx="7000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中断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cxnSp>
        <p:nvCxnSpPr>
          <p:cNvPr id="21" name="直接箭头连接符 20"/>
          <p:cNvCxnSpPr/>
          <p:nvPr/>
        </p:nvCxnSpPr>
        <p:spPr>
          <a:xfrm>
            <a:off x="2732605" y="4408806"/>
            <a:ext cx="461962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/>
          <p:cNvSpPr/>
          <p:nvPr/>
        </p:nvSpPr>
        <p:spPr>
          <a:xfrm>
            <a:off x="5294830" y="3511868"/>
            <a:ext cx="1239837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，中断请求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3" name="矩形: 圆角 22"/>
          <p:cNvSpPr/>
          <p:nvPr/>
        </p:nvSpPr>
        <p:spPr>
          <a:xfrm>
            <a:off x="5294830" y="4062731"/>
            <a:ext cx="1239837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，响应中断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4" name="矩形: 圆角 23"/>
          <p:cNvSpPr/>
          <p:nvPr/>
        </p:nvSpPr>
        <p:spPr>
          <a:xfrm>
            <a:off x="5294830" y="4658043"/>
            <a:ext cx="1239837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，退出中断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5" name="文本框 44"/>
          <p:cNvSpPr txBox="1">
            <a:spLocks noChangeArrowheads="1"/>
          </p:cNvSpPr>
          <p:nvPr/>
        </p:nvSpPr>
        <p:spPr bwMode="auto">
          <a:xfrm>
            <a:off x="6534667" y="3542031"/>
            <a:ext cx="3922713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外设产生中断请求（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GPIO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外部中断、定时器中断等）</a:t>
            </a:r>
            <a:endParaRPr lang="zh-CN" altLang="en-US" sz="1200" dirty="0"/>
          </a:p>
        </p:txBody>
      </p:sp>
      <p:sp>
        <p:nvSpPr>
          <p:cNvPr id="26" name="文本框 46"/>
          <p:cNvSpPr txBox="1">
            <a:spLocks noChangeArrowheads="1"/>
          </p:cNvSpPr>
          <p:nvPr/>
        </p:nvSpPr>
        <p:spPr bwMode="auto">
          <a:xfrm>
            <a:off x="6534667" y="4081781"/>
            <a:ext cx="41751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CPU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停止执行当前程序，转而去执行中断处理程序（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ISR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）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7" name="文本框 48"/>
          <p:cNvSpPr txBox="1">
            <a:spLocks noChangeArrowheads="1"/>
          </p:cNvSpPr>
          <p:nvPr/>
        </p:nvSpPr>
        <p:spPr bwMode="auto">
          <a:xfrm>
            <a:off x="6534667" y="4677093"/>
            <a:ext cx="360680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执行完毕，返回被打断的程序处，继续往下执行</a:t>
            </a:r>
            <a:endParaRPr lang="zh-CN" altLang="en-US" sz="1200"/>
          </a:p>
        </p:txBody>
      </p:sp>
      <p:sp>
        <p:nvSpPr>
          <p:cNvPr id="28" name="文本框 7167"/>
          <p:cNvSpPr txBox="1">
            <a:spLocks noChangeArrowheads="1"/>
          </p:cNvSpPr>
          <p:nvPr/>
        </p:nvSpPr>
        <p:spPr bwMode="auto">
          <a:xfrm>
            <a:off x="5280542" y="2911793"/>
            <a:ext cx="30575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中断执行机制，可简单概括为三步：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 animBg="1"/>
      <p:bldP spid="13" grpId="0" animBg="1"/>
      <p:bldP spid="14" grpId="0" animBg="1"/>
      <p:bldP spid="15" grpId="0" animBg="1"/>
      <p:bldP spid="16" grpId="0" animBg="1"/>
      <p:bldP spid="17" grpId="0"/>
      <p:bldP spid="20" grpId="0"/>
      <p:bldP spid="22" grpId="0" animBg="1"/>
      <p:bldP spid="23" grpId="0" animBg="1"/>
      <p:bldP spid="24" grpId="0" animBg="1"/>
      <p:bldP spid="25" grpId="0"/>
      <p:bldP spid="26" grpId="0"/>
      <p:bldP spid="27" grpId="0"/>
      <p:bldP spid="28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4341052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  <p:sp>
        <p:nvSpPr>
          <p:cNvPr id="10" name="文本框 9"/>
          <p:cNvSpPr txBox="1">
            <a:spLocks noChangeArrowheads="1"/>
          </p:cNvSpPr>
          <p:nvPr/>
        </p:nvSpPr>
        <p:spPr bwMode="auto">
          <a:xfrm>
            <a:off x="1418229" y="150685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，中断优先级分组设置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pic>
        <p:nvPicPr>
          <p:cNvPr id="11" name="图片 7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7841" y="3111818"/>
            <a:ext cx="4889500" cy="1027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文本框 19"/>
          <p:cNvSpPr txBox="1">
            <a:spLocks noChangeArrowheads="1"/>
          </p:cNvSpPr>
          <p:nvPr/>
        </p:nvSpPr>
        <p:spPr bwMode="auto">
          <a:xfrm>
            <a:off x="1777003" y="2072005"/>
            <a:ext cx="8446201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ARM Cortex-M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使用了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8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位宽的寄存器来配置中断的优先等级，这个寄存器就是中断优先级配置寄存器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" name="文本框 20"/>
          <p:cNvSpPr txBox="1">
            <a:spLocks noChangeArrowheads="1"/>
          </p:cNvSpPr>
          <p:nvPr/>
        </p:nvSpPr>
        <p:spPr bwMode="auto">
          <a:xfrm>
            <a:off x="1777004" y="2481580"/>
            <a:ext cx="880770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但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STM32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，只用了中断优先级配置寄存器的高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位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[7 : 4]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，所以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STM32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提供了最大</a:t>
            </a:r>
            <a:r>
              <a:rPr lang="en-US" altLang="zh-CN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16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级的中断优先等级</a:t>
            </a:r>
            <a:endParaRPr lang="zh-CN" altLang="en-US" sz="14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文本框 22"/>
          <p:cNvSpPr txBox="1">
            <a:spLocks noChangeArrowheads="1"/>
          </p:cNvSpPr>
          <p:nvPr/>
        </p:nvSpPr>
        <p:spPr bwMode="auto">
          <a:xfrm>
            <a:off x="1777004" y="4361180"/>
            <a:ext cx="46180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STM32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的中断优先级可以分为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抢占优先级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和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子优先级 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" name="文本框 24"/>
          <p:cNvSpPr txBox="1">
            <a:spLocks noChangeArrowheads="1"/>
          </p:cNvSpPr>
          <p:nvPr/>
        </p:nvSpPr>
        <p:spPr bwMode="auto">
          <a:xfrm>
            <a:off x="1777004" y="4731068"/>
            <a:ext cx="71262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抢占优先级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： 抢占优先级高的中断可以打断正在执行但抢占优先级低的中断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6" name="文本框 26"/>
          <p:cNvSpPr txBox="1">
            <a:spLocks noChangeArrowheads="1"/>
          </p:cNvSpPr>
          <p:nvPr/>
        </p:nvSpPr>
        <p:spPr bwMode="auto">
          <a:xfrm>
            <a:off x="1777004" y="5100955"/>
            <a:ext cx="80946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子优先级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：当同时发生具有相同抢占优先级的两个中断时，子优先级数值小的优先执行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7" name="文本框 1"/>
          <p:cNvSpPr txBox="1">
            <a:spLocks noChangeArrowheads="1"/>
          </p:cNvSpPr>
          <p:nvPr/>
        </p:nvSpPr>
        <p:spPr bwMode="auto">
          <a:xfrm>
            <a:off x="1777004" y="5405755"/>
            <a:ext cx="28781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注意：中断优先级数值越小越优先</a:t>
            </a:r>
            <a:endParaRPr lang="zh-CN" altLang="en-US" sz="140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  <p:sp>
        <p:nvSpPr>
          <p:cNvPr id="10" name="文本框 9"/>
          <p:cNvSpPr txBox="1">
            <a:spLocks noChangeArrowheads="1"/>
          </p:cNvSpPr>
          <p:nvPr/>
        </p:nvSpPr>
        <p:spPr bwMode="auto">
          <a:xfrm>
            <a:off x="1561768" y="1430374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，中断优先级分组设置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1" name="文本框 30"/>
          <p:cNvSpPr txBox="1">
            <a:spLocks noChangeArrowheads="1"/>
          </p:cNvSpPr>
          <p:nvPr/>
        </p:nvSpPr>
        <p:spPr bwMode="auto">
          <a:xfrm>
            <a:off x="1926893" y="5257837"/>
            <a:ext cx="73025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官网关于中断说明：https://www.freertos.org/RTOS-Cortex-M3-M4.html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2" name="表格 21"/>
          <p:cNvGraphicFramePr>
            <a:graphicFrameLocks noGrp="1"/>
          </p:cNvGraphicFramePr>
          <p:nvPr/>
        </p:nvGraphicFramePr>
        <p:xfrm>
          <a:off x="2025318" y="2401924"/>
          <a:ext cx="6134100" cy="2414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081"/>
                <a:gridCol w="1331608"/>
                <a:gridCol w="1331839"/>
                <a:gridCol w="1880572"/>
              </a:tblGrid>
              <a:tr h="35758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0" i="0" dirty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优先级分组 </a:t>
                      </a:r>
                      <a:endParaRPr lang="zh-CN" altLang="en-US" sz="1100" dirty="0">
                        <a:solidFill>
                          <a:schemeClr val="bg1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0" i="0" dirty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抢占优先级 </a:t>
                      </a:r>
                      <a:endParaRPr lang="zh-CN" altLang="en-US" sz="1100" dirty="0">
                        <a:solidFill>
                          <a:schemeClr val="bg1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0" i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子优先级 </a:t>
                      </a:r>
                      <a:endParaRPr lang="zh-CN" altLang="en-US" sz="1100">
                        <a:solidFill>
                          <a:schemeClr val="bg1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0" i="0" dirty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优先级配置寄存器高 </a:t>
                      </a:r>
                      <a:r>
                        <a:rPr lang="en-US" altLang="zh-CN" sz="1000" b="0" i="0" dirty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4 </a:t>
                      </a:r>
                      <a:r>
                        <a:rPr lang="zh-CN" altLang="en-US" sz="1000" b="0" i="0" dirty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位</a:t>
                      </a:r>
                      <a:endParaRPr lang="zh-CN" altLang="en-US" sz="1100" dirty="0">
                        <a:solidFill>
                          <a:schemeClr val="bg1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</a:tr>
              <a:tr h="411401"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NVIC_PriorityGroup_0 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0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级抢占优先级 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0-15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级子优先级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0bit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用于抢占优先级</a:t>
                      </a:r>
                      <a:b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</a:br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4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用于子优先级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</a:tr>
              <a:tr h="411401"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NVIC_PriorityGroup_1 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0-1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级抢占优先级 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0-7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级子优先级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1bit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用于抢占优先级</a:t>
                      </a:r>
                      <a:b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</a:br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3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用于子优先级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</a:tr>
              <a:tr h="411401"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NVIC_PriorityGroup_2 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0-3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级抢占优先级 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0-3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级子优先级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2bit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用于抢占优先级</a:t>
                      </a:r>
                      <a:b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</a:br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2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用于子优先级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</a:tr>
              <a:tr h="411401"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NVIC_PriorityGroup_3 </a:t>
                      </a:r>
                      <a:endParaRPr lang="en-US" sz="1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0-7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级抢占优先级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0-1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级子优先级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3bit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用于抢占优先级</a:t>
                      </a:r>
                      <a:b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</a:br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1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用于子优先级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</a:tr>
              <a:tr h="411401"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NVIC_PriorityGroup_4 </a:t>
                      </a:r>
                      <a:endParaRPr lang="en-US" sz="1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0-15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级抢占优先级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0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级子优先级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4bit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用于抢占优先级</a:t>
                      </a:r>
                      <a:b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</a:br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0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用于子优先级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7" marR="91457" marT="45711" marB="45711" anchor="ctr"/>
                </a:tc>
              </a:tr>
            </a:tbl>
          </a:graphicData>
        </a:graphic>
      </p:graphicFrame>
      <p:sp>
        <p:nvSpPr>
          <p:cNvPr id="13" name="文本框 33"/>
          <p:cNvSpPr txBox="1">
            <a:spLocks noChangeArrowheads="1"/>
          </p:cNvSpPr>
          <p:nvPr/>
        </p:nvSpPr>
        <p:spPr bwMode="auto">
          <a:xfrm>
            <a:off x="1926893" y="1970124"/>
            <a:ext cx="5260975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一共有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种分配方式，对应着中断优先级分组的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个组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017380" y="4419637"/>
            <a:ext cx="6132513" cy="382587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/>
          </a:p>
        </p:txBody>
      </p:sp>
      <p:sp>
        <p:nvSpPr>
          <p:cNvPr id="15" name="文本框 39"/>
          <p:cNvSpPr txBox="1">
            <a:spLocks noChangeArrowheads="1"/>
          </p:cNvSpPr>
          <p:nvPr/>
        </p:nvSpPr>
        <p:spPr bwMode="auto">
          <a:xfrm>
            <a:off x="1926893" y="4921287"/>
            <a:ext cx="78803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通过调用函数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HAL_NVIC_SetPriorityGrouping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NVIC_PRIORITYGROUP_4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）即可完成设置</a:t>
            </a:r>
            <a:endParaRPr lang="zh-CN" altLang="en-US" sz="1400" dirty="0"/>
          </a:p>
        </p:txBody>
      </p:sp>
      <p:sp>
        <p:nvSpPr>
          <p:cNvPr id="16" name="矩形: 圆角 15"/>
          <p:cNvSpPr/>
          <p:nvPr/>
        </p:nvSpPr>
        <p:spPr>
          <a:xfrm>
            <a:off x="9229393" y="4882656"/>
            <a:ext cx="144462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在</a:t>
            </a:r>
            <a:r>
              <a:rPr lang="en-US" altLang="zh-CN" sz="1200" dirty="0" err="1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HAL_Init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中设置</a:t>
            </a:r>
            <a:endParaRPr lang="zh-CN" altLang="en-US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 animBg="1"/>
      <p:bldP spid="15" grpId="0"/>
      <p:bldP spid="1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  <p:sp>
        <p:nvSpPr>
          <p:cNvPr id="10" name="文本框 9"/>
          <p:cNvSpPr txBox="1">
            <a:spLocks noChangeArrowheads="1"/>
          </p:cNvSpPr>
          <p:nvPr/>
        </p:nvSpPr>
        <p:spPr bwMode="auto">
          <a:xfrm>
            <a:off x="1644968" y="1540828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，中断优先级分组设置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1" name="文本框 36"/>
          <p:cNvSpPr txBox="1">
            <a:spLocks noChangeArrowheads="1"/>
          </p:cNvSpPr>
          <p:nvPr/>
        </p:nvSpPr>
        <p:spPr bwMode="auto">
          <a:xfrm>
            <a:off x="1971993" y="2728278"/>
            <a:ext cx="8048307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、低于configMAX_SYSCALL_INTERRUPT_PRIORITY优先级的中断里才允许调用FreeRTOS 的API函数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" name="文本框 15"/>
          <p:cNvSpPr txBox="1">
            <a:spLocks noChangeArrowheads="1"/>
          </p:cNvSpPr>
          <p:nvPr/>
        </p:nvSpPr>
        <p:spPr bwMode="auto">
          <a:xfrm>
            <a:off x="1971993" y="3395028"/>
            <a:ext cx="490537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、建议将所有优先级位指定为抢占优先级位，方便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管理</a:t>
            </a:r>
            <a:endParaRPr lang="en-US" altLang="zh-CN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" name="文本框 19"/>
          <p:cNvSpPr txBox="1">
            <a:spLocks noChangeArrowheads="1"/>
          </p:cNvSpPr>
          <p:nvPr/>
        </p:nvSpPr>
        <p:spPr bwMode="auto">
          <a:xfrm>
            <a:off x="1971993" y="4288791"/>
            <a:ext cx="4370387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、中断优先级数值越小越优先，任务优先级数值越大越优先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矩形: 圆角 13"/>
          <p:cNvSpPr/>
          <p:nvPr/>
        </p:nvSpPr>
        <p:spPr>
          <a:xfrm>
            <a:off x="5218430" y="3771266"/>
            <a:ext cx="514985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（调用函数</a:t>
            </a:r>
            <a:r>
              <a:rPr lang="en-US" altLang="zh-CN" sz="12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HAL_NVIC_SetPriorityGrouping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(NVIC_PRIORITYGROUP_4)</a:t>
            </a:r>
            <a:endParaRPr lang="zh-CN" altLang="en-US" sz="1200" dirty="0"/>
          </a:p>
        </p:txBody>
      </p:sp>
      <p:sp>
        <p:nvSpPr>
          <p:cNvPr id="15" name="文本框 21"/>
          <p:cNvSpPr txBox="1">
            <a:spLocks noChangeArrowheads="1"/>
          </p:cNvSpPr>
          <p:nvPr/>
        </p:nvSpPr>
        <p:spPr bwMode="auto">
          <a:xfrm>
            <a:off x="1971993" y="2242503"/>
            <a:ext cx="7318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特点：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7372668" y="4233228"/>
            <a:ext cx="695325" cy="1254125"/>
          </a:xfrm>
          <a:prstGeom prst="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/>
          </a:p>
        </p:txBody>
      </p:sp>
      <p:cxnSp>
        <p:nvCxnSpPr>
          <p:cNvPr id="17" name="直接连接符 16"/>
          <p:cNvCxnSpPr/>
          <p:nvPr/>
        </p:nvCxnSpPr>
        <p:spPr>
          <a:xfrm>
            <a:off x="7372668" y="4444366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7372668" y="4647566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>
            <a:off x="7372668" y="4850766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7372668" y="5055553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7372668" y="5258753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0"/>
          <p:cNvSpPr txBox="1">
            <a:spLocks noChangeArrowheads="1"/>
          </p:cNvSpPr>
          <p:nvPr/>
        </p:nvSpPr>
        <p:spPr bwMode="auto">
          <a:xfrm>
            <a:off x="7591743" y="4207828"/>
            <a:ext cx="257175" cy="260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0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23" name="文本框 32"/>
          <p:cNvSpPr txBox="1">
            <a:spLocks noChangeArrowheads="1"/>
          </p:cNvSpPr>
          <p:nvPr/>
        </p:nvSpPr>
        <p:spPr bwMode="auto">
          <a:xfrm>
            <a:off x="7555230" y="5252403"/>
            <a:ext cx="330200" cy="260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15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24" name="文本框 34"/>
          <p:cNvSpPr txBox="1">
            <a:spLocks noChangeArrowheads="1"/>
          </p:cNvSpPr>
          <p:nvPr/>
        </p:nvSpPr>
        <p:spPr bwMode="auto">
          <a:xfrm>
            <a:off x="7591743" y="4415791"/>
            <a:ext cx="257175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1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25" name="文本框 35"/>
          <p:cNvSpPr txBox="1">
            <a:spLocks noChangeArrowheads="1"/>
          </p:cNvSpPr>
          <p:nvPr/>
        </p:nvSpPr>
        <p:spPr bwMode="auto">
          <a:xfrm>
            <a:off x="7599680" y="4645978"/>
            <a:ext cx="257175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2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26" name="文本框 37"/>
          <p:cNvSpPr txBox="1">
            <a:spLocks noChangeArrowheads="1"/>
          </p:cNvSpPr>
          <p:nvPr/>
        </p:nvSpPr>
        <p:spPr bwMode="auto">
          <a:xfrm>
            <a:off x="7518718" y="4801553"/>
            <a:ext cx="419100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… …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27" name="文本框 38"/>
          <p:cNvSpPr txBox="1">
            <a:spLocks noChangeArrowheads="1"/>
          </p:cNvSpPr>
          <p:nvPr/>
        </p:nvSpPr>
        <p:spPr bwMode="auto">
          <a:xfrm>
            <a:off x="7563168" y="5025391"/>
            <a:ext cx="328612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14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8629968" y="4236403"/>
            <a:ext cx="695325" cy="1252538"/>
          </a:xfrm>
          <a:prstGeom prst="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/>
          </a:p>
        </p:txBody>
      </p:sp>
      <p:cxnSp>
        <p:nvCxnSpPr>
          <p:cNvPr id="29" name="直接连接符 28"/>
          <p:cNvCxnSpPr/>
          <p:nvPr/>
        </p:nvCxnSpPr>
        <p:spPr>
          <a:xfrm>
            <a:off x="8629968" y="4447541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>
            <a:off x="8629968" y="4650741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/>
          <p:cNvCxnSpPr/>
          <p:nvPr/>
        </p:nvCxnSpPr>
        <p:spPr>
          <a:xfrm>
            <a:off x="8629968" y="4853941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8629968" y="5057141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>
            <a:off x="8629968" y="5261928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45"/>
          <p:cNvSpPr txBox="1">
            <a:spLocks noChangeArrowheads="1"/>
          </p:cNvSpPr>
          <p:nvPr/>
        </p:nvSpPr>
        <p:spPr bwMode="auto">
          <a:xfrm>
            <a:off x="8812530" y="4214178"/>
            <a:ext cx="330200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31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35" name="文本框 46"/>
          <p:cNvSpPr txBox="1">
            <a:spLocks noChangeArrowheads="1"/>
          </p:cNvSpPr>
          <p:nvPr/>
        </p:nvSpPr>
        <p:spPr bwMode="auto">
          <a:xfrm>
            <a:off x="8856980" y="5260341"/>
            <a:ext cx="257175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0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36" name="文本框 47"/>
          <p:cNvSpPr txBox="1">
            <a:spLocks noChangeArrowheads="1"/>
          </p:cNvSpPr>
          <p:nvPr/>
        </p:nvSpPr>
        <p:spPr bwMode="auto">
          <a:xfrm>
            <a:off x="8812530" y="4423728"/>
            <a:ext cx="330200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30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37" name="文本框 48"/>
          <p:cNvSpPr txBox="1">
            <a:spLocks noChangeArrowheads="1"/>
          </p:cNvSpPr>
          <p:nvPr/>
        </p:nvSpPr>
        <p:spPr bwMode="auto">
          <a:xfrm>
            <a:off x="8812530" y="4630103"/>
            <a:ext cx="330200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29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38" name="文本框 49"/>
          <p:cNvSpPr txBox="1">
            <a:spLocks noChangeArrowheads="1"/>
          </p:cNvSpPr>
          <p:nvPr/>
        </p:nvSpPr>
        <p:spPr bwMode="auto">
          <a:xfrm>
            <a:off x="8768080" y="4809491"/>
            <a:ext cx="419100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… …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39" name="文本框 50"/>
          <p:cNvSpPr txBox="1">
            <a:spLocks noChangeArrowheads="1"/>
          </p:cNvSpPr>
          <p:nvPr/>
        </p:nvSpPr>
        <p:spPr bwMode="auto">
          <a:xfrm>
            <a:off x="8849043" y="5026978"/>
            <a:ext cx="257175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 dirty="0">
                <a:solidFill>
                  <a:srgbClr val="002060"/>
                </a:solidFill>
              </a:rPr>
              <a:t>1</a:t>
            </a:r>
            <a:endParaRPr lang="zh-CN" altLang="en-US" sz="1100" dirty="0">
              <a:solidFill>
                <a:srgbClr val="002060"/>
              </a:solidFill>
            </a:endParaRPr>
          </a:p>
        </p:txBody>
      </p:sp>
      <p:cxnSp>
        <p:nvCxnSpPr>
          <p:cNvPr id="40" name="直接箭头连接符 39"/>
          <p:cNvCxnSpPr/>
          <p:nvPr/>
        </p:nvCxnSpPr>
        <p:spPr>
          <a:xfrm flipH="1" flipV="1">
            <a:off x="6872605" y="4263391"/>
            <a:ext cx="4763" cy="12573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1" name="文本框 25"/>
          <p:cNvSpPr txBox="1">
            <a:spLocks noChangeArrowheads="1"/>
          </p:cNvSpPr>
          <p:nvPr/>
        </p:nvSpPr>
        <p:spPr bwMode="auto">
          <a:xfrm>
            <a:off x="6504305" y="4574541"/>
            <a:ext cx="400050" cy="630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优先级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2" name="文本框 26"/>
          <p:cNvSpPr txBox="1">
            <a:spLocks noChangeArrowheads="1"/>
          </p:cNvSpPr>
          <p:nvPr/>
        </p:nvSpPr>
        <p:spPr bwMode="auto">
          <a:xfrm>
            <a:off x="7242493" y="5503228"/>
            <a:ext cx="95567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中断优先级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3" name="文本框 53"/>
          <p:cNvSpPr txBox="1">
            <a:spLocks noChangeArrowheads="1"/>
          </p:cNvSpPr>
          <p:nvPr/>
        </p:nvSpPr>
        <p:spPr bwMode="auto">
          <a:xfrm>
            <a:off x="8499793" y="5509578"/>
            <a:ext cx="95567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任务优先级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cxnSp>
        <p:nvCxnSpPr>
          <p:cNvPr id="44" name="直接连接符 43"/>
          <p:cNvCxnSpPr/>
          <p:nvPr/>
        </p:nvCxnSpPr>
        <p:spPr>
          <a:xfrm flipV="1">
            <a:off x="6859905" y="5519103"/>
            <a:ext cx="2844800" cy="31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 animBg="1"/>
      <p:bldP spid="15" grpId="0"/>
      <p:bldP spid="16" grpId="0" animBg="1"/>
      <p:bldP spid="22" grpId="0"/>
      <p:bldP spid="23" grpId="0"/>
      <p:bldP spid="24" grpId="0"/>
      <p:bldP spid="25" grpId="0"/>
      <p:bldP spid="26" grpId="0"/>
      <p:bldP spid="27" grpId="0"/>
      <p:bldP spid="28" grpId="0" animBg="1"/>
      <p:bldP spid="34" grpId="0"/>
      <p:bldP spid="35" grpId="0"/>
      <p:bldP spid="36" grpId="0"/>
      <p:bldP spid="37" grpId="0"/>
      <p:bldP spid="38" grpId="0"/>
      <p:bldP spid="39" grpId="0"/>
      <p:bldP spid="41" grpId="0"/>
      <p:bldP spid="42" grpId="0"/>
      <p:bldP spid="43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  <p:sp>
        <p:nvSpPr>
          <p:cNvPr id="10" name="文本框 9"/>
          <p:cNvSpPr txBox="1">
            <a:spLocks noChangeArrowheads="1"/>
          </p:cNvSpPr>
          <p:nvPr/>
        </p:nvSpPr>
        <p:spPr bwMode="auto">
          <a:xfrm>
            <a:off x="1473994" y="1413193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，中断相关寄存器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1" name="文本框 15"/>
          <p:cNvSpPr txBox="1">
            <a:spLocks noChangeArrowheads="1"/>
          </p:cNvSpPr>
          <p:nvPr/>
        </p:nvSpPr>
        <p:spPr bwMode="auto">
          <a:xfrm>
            <a:off x="1821656" y="2516506"/>
            <a:ext cx="2682875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SHPR1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寄存器地址：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0xE000ED18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" name="文本框 21"/>
          <p:cNvSpPr txBox="1">
            <a:spLocks noChangeArrowheads="1"/>
          </p:cNvSpPr>
          <p:nvPr/>
        </p:nvSpPr>
        <p:spPr bwMode="auto">
          <a:xfrm>
            <a:off x="1801019" y="2114868"/>
            <a:ext cx="72247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三个系统中断优先级配置寄存器，分别为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SHPR1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SHPR2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SHPR3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" name="文本框 51"/>
          <p:cNvSpPr txBox="1">
            <a:spLocks noChangeArrowheads="1"/>
          </p:cNvSpPr>
          <p:nvPr/>
        </p:nvSpPr>
        <p:spPr bwMode="auto">
          <a:xfrm>
            <a:off x="1821656" y="2794318"/>
            <a:ext cx="27813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SHPR2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寄存器地址：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0xE000ED1C</a:t>
            </a:r>
            <a:endParaRPr lang="en-US" altLang="zh-CN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文本框 54"/>
          <p:cNvSpPr txBox="1">
            <a:spLocks noChangeArrowheads="1"/>
          </p:cNvSpPr>
          <p:nvPr/>
        </p:nvSpPr>
        <p:spPr bwMode="auto">
          <a:xfrm>
            <a:off x="1821656" y="3070543"/>
            <a:ext cx="278130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SHPR3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寄存器地址：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0xE000ED20</a:t>
            </a:r>
            <a:endParaRPr lang="en-US" altLang="zh-CN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4294" y="2676843"/>
            <a:ext cx="4830762" cy="267493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6" name="矩形 56"/>
          <p:cNvSpPr>
            <a:spLocks noChangeArrowheads="1"/>
          </p:cNvSpPr>
          <p:nvPr/>
        </p:nvSpPr>
        <p:spPr bwMode="auto">
          <a:xfrm>
            <a:off x="1526381" y="4978718"/>
            <a:ext cx="34004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表出自：</a:t>
            </a:r>
            <a:r>
              <a:rPr lang="en-US" altLang="zh-CN" sz="12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《Cortex M3</a:t>
            </a:r>
            <a:r>
              <a:rPr lang="zh-CN" altLang="en-US" sz="12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权威指南</a:t>
            </a:r>
            <a:r>
              <a:rPr lang="en-US" altLang="zh-CN" sz="12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(</a:t>
            </a:r>
            <a:r>
              <a:rPr lang="zh-CN" altLang="en-US" sz="12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中文</a:t>
            </a:r>
            <a:r>
              <a:rPr lang="en-US" altLang="zh-CN" sz="12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)》</a:t>
            </a:r>
            <a:r>
              <a:rPr lang="zh-CN" altLang="en-US" sz="12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第</a:t>
            </a:r>
            <a:r>
              <a:rPr lang="en-US" altLang="zh-CN" sz="12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286</a:t>
            </a:r>
            <a:r>
              <a:rPr lang="zh-CN" altLang="en-US" sz="12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页</a:t>
            </a:r>
            <a:endParaRPr lang="zh-CN" altLang="en-US" sz="1200">
              <a:solidFill>
                <a:srgbClr val="FF0000"/>
              </a:solidFill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6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13" name="文本框 9"/>
          <p:cNvSpPr txBox="1">
            <a:spLocks noChangeArrowheads="1"/>
          </p:cNvSpPr>
          <p:nvPr/>
        </p:nvSpPr>
        <p:spPr bwMode="auto">
          <a:xfrm>
            <a:off x="1374591" y="1127790"/>
            <a:ext cx="61134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b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b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如何配置</a:t>
            </a:r>
            <a:r>
              <a:rPr lang="en-US" altLang="zh-CN" b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PendSV</a:t>
            </a:r>
            <a:r>
              <a:rPr lang="zh-CN" altLang="en-US" b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和</a:t>
            </a:r>
            <a:r>
              <a:rPr lang="en-US" altLang="zh-CN" b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Systick</a:t>
            </a:r>
            <a:r>
              <a:rPr lang="zh-CN" altLang="en-US" b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中断优先级？</a:t>
            </a:r>
            <a:endParaRPr lang="zh-CN" altLang="en-US" b="1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pic>
        <p:nvPicPr>
          <p:cNvPr id="14" name="图片 8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3191" y="1543715"/>
            <a:ext cx="4195762" cy="528638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图片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3191" y="2199353"/>
            <a:ext cx="5986462" cy="739775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图片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5253" y="3058190"/>
            <a:ext cx="6451600" cy="493713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图片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5253" y="3699540"/>
            <a:ext cx="6985000" cy="1495425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文本框 18"/>
          <p:cNvSpPr txBox="1">
            <a:spLocks noChangeArrowheads="1"/>
          </p:cNvSpPr>
          <p:nvPr/>
        </p:nvSpPr>
        <p:spPr bwMode="auto">
          <a:xfrm>
            <a:off x="6175191" y="1569115"/>
            <a:ext cx="295116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所以：</a:t>
            </a:r>
            <a:r>
              <a:rPr lang="en-US" altLang="zh-CN" sz="1200" dirty="0" err="1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PendSV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和</a:t>
            </a:r>
            <a:r>
              <a:rPr lang="en-US" altLang="zh-CN" sz="1200" dirty="0" err="1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SysTick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设置最低优先级</a:t>
            </a:r>
            <a:endParaRPr lang="zh-CN" altLang="en-US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9" name="文本框 27"/>
          <p:cNvSpPr txBox="1">
            <a:spLocks noChangeArrowheads="1"/>
          </p:cNvSpPr>
          <p:nvPr/>
        </p:nvSpPr>
        <p:spPr bwMode="auto">
          <a:xfrm>
            <a:off x="6143441" y="1867565"/>
            <a:ext cx="419576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设置最低：保证系统任务切换不会阻塞系统其他中断的响应</a:t>
            </a:r>
            <a:endParaRPr lang="zh-CN" altLang="en-US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455442" y="1414426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，中断相关寄存器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6"/>
          <p:cNvSpPr txBox="1">
            <a:spLocks noChangeArrowheads="1"/>
          </p:cNvSpPr>
          <p:nvPr/>
        </p:nvSpPr>
        <p:spPr bwMode="auto">
          <a:xfrm>
            <a:off x="1825329" y="1912901"/>
            <a:ext cx="6824663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三个中断屏蔽寄存器，分别为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PRIMASK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FAULTMASK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和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BASEPRI 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4367" y="2446301"/>
            <a:ext cx="6389687" cy="19748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文本框 7"/>
          <p:cNvSpPr txBox="1">
            <a:spLocks noChangeArrowheads="1"/>
          </p:cNvSpPr>
          <p:nvPr/>
        </p:nvSpPr>
        <p:spPr bwMode="auto">
          <a:xfrm>
            <a:off x="1744367" y="4638639"/>
            <a:ext cx="51466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所使用的中断管理就是利用的</a:t>
            </a:r>
            <a:r>
              <a:rPr lang="en-US" altLang="zh-CN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BASEPRI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这个寄存器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" name="文本框 20"/>
          <p:cNvSpPr txBox="1">
            <a:spLocks noChangeArrowheads="1"/>
          </p:cNvSpPr>
          <p:nvPr/>
        </p:nvSpPr>
        <p:spPr bwMode="auto">
          <a:xfrm>
            <a:off x="1744367" y="4995826"/>
            <a:ext cx="46196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BASEPRI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屏蔽优先级低于某一个阈值的中断</a:t>
            </a:r>
            <a:endParaRPr lang="zh-CN" altLang="en-US" sz="1400" dirty="0"/>
          </a:p>
        </p:txBody>
      </p:sp>
      <p:sp>
        <p:nvSpPr>
          <p:cNvPr id="13" name="文本框 22"/>
          <p:cNvSpPr txBox="1">
            <a:spLocks noChangeArrowheads="1"/>
          </p:cNvSpPr>
          <p:nvPr/>
        </p:nvSpPr>
        <p:spPr bwMode="auto">
          <a:xfrm>
            <a:off x="1744367" y="5311739"/>
            <a:ext cx="80978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比如：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en-US" altLang="zh-CN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BASEPRI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设置为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0x50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，代表中断优先级在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5~15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内的均被屏蔽，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0~4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的中断优先级正常执行</a:t>
            </a:r>
            <a:endParaRPr lang="zh-CN" altLang="en-US" sz="1400" dirty="0">
              <a:solidFill>
                <a:srgbClr val="002060"/>
              </a:solidFill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/>
      <p:bldP spid="13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434178" y="1382528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，中断相关寄存器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4"/>
          <p:cNvSpPr txBox="1">
            <a:spLocks noChangeArrowheads="1"/>
          </p:cNvSpPr>
          <p:nvPr/>
        </p:nvSpPr>
        <p:spPr bwMode="auto">
          <a:xfrm>
            <a:off x="1761203" y="1942916"/>
            <a:ext cx="72247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 BASEPRI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屏蔽优先级低于某一个阈值的中断，当设置为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时，则不关闭任何中断</a:t>
            </a:r>
            <a:endParaRPr lang="zh-CN" altLang="en-US" sz="1400" dirty="0"/>
          </a:p>
        </p:txBody>
      </p:sp>
      <p:sp>
        <p:nvSpPr>
          <p:cNvPr id="10" name="文本框 1"/>
          <p:cNvSpPr txBox="1">
            <a:spLocks noChangeArrowheads="1"/>
          </p:cNvSpPr>
          <p:nvPr/>
        </p:nvSpPr>
        <p:spPr bwMode="auto">
          <a:xfrm>
            <a:off x="1810415" y="2387416"/>
            <a:ext cx="16208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关中断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程序示例：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870740" y="2746191"/>
            <a:ext cx="8208925" cy="247332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2" name="文本框 11"/>
          <p:cNvSpPr txBox="1">
            <a:spLocks noChangeArrowheads="1"/>
          </p:cNvSpPr>
          <p:nvPr/>
        </p:nvSpPr>
        <p:spPr bwMode="auto">
          <a:xfrm>
            <a:off x="1969165" y="2728728"/>
            <a:ext cx="8822660" cy="281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en-US" altLang="zh-CN" sz="10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#define </a:t>
            </a:r>
            <a:r>
              <a:rPr lang="en-US" altLang="zh-CN" sz="1000" dirty="0" err="1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portDISABLE_INTERRUPTS</a:t>
            </a:r>
            <a:r>
              <a:rPr lang="en-US" altLang="zh-CN" sz="10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() 		</a:t>
            </a:r>
            <a:r>
              <a:rPr lang="en-US" altLang="zh-CN" sz="1000" dirty="0" err="1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vPortRaiseBASEPRI</a:t>
            </a:r>
            <a:r>
              <a:rPr lang="en-US" altLang="zh-CN" sz="10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()</a:t>
            </a:r>
            <a:endParaRPr lang="en-US" altLang="zh-CN" sz="1000" dirty="0">
              <a:solidFill>
                <a:srgbClr val="0000FF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30000"/>
              </a:lnSpc>
            </a:pPr>
            <a:r>
              <a:rPr lang="en-US" altLang="zh-CN" sz="10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static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portFORCE_INLINE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en-US" altLang="zh-CN" sz="10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void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vPortRaiseBASEPRI</a:t>
            </a:r>
            <a:r>
              <a:rPr lang="en-US" altLang="zh-CN" sz="10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(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en-US" altLang="zh-CN" sz="10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void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en-US" altLang="zh-CN" sz="10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)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en-US" altLang="zh-CN" sz="1000" dirty="0">
              <a:solidFill>
                <a:srgbClr val="00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r>
              <a:rPr lang="en-US" altLang="zh-CN" sz="10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{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en-US" altLang="zh-CN" sz="1000" dirty="0">
              <a:solidFill>
                <a:srgbClr val="00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	</a:t>
            </a:r>
            <a:r>
              <a:rPr lang="en-US" altLang="zh-CN" sz="10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uint32_t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ulNewBASEPRI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en-US" altLang="zh-CN" sz="10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=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configMAX_SYSCALL_INTERRUPT_PRIORITY</a:t>
            </a:r>
            <a:r>
              <a:rPr lang="en-US" altLang="zh-CN" sz="10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;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en-US" altLang="zh-CN" sz="1000" dirty="0">
              <a:solidFill>
                <a:srgbClr val="00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	__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asm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en-US" altLang="zh-CN" sz="1000" dirty="0">
              <a:solidFill>
                <a:srgbClr val="00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r>
              <a:rPr lang="en-US" altLang="zh-CN" sz="10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	{</a:t>
            </a:r>
            <a:endParaRPr lang="en-US" altLang="zh-CN" sz="1000" dirty="0">
              <a:solidFill>
                <a:srgbClr val="00008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r>
              <a:rPr lang="en-US" altLang="zh-CN" sz="10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		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msr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basepri</a:t>
            </a:r>
            <a:r>
              <a:rPr lang="en-US" altLang="zh-CN" sz="10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,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ulNewBASEPRI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en-US" altLang="zh-CN" sz="1000" dirty="0">
              <a:solidFill>
                <a:srgbClr val="00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		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dsb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en-US" altLang="zh-CN" sz="1000" dirty="0">
              <a:solidFill>
                <a:srgbClr val="00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		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isb</a:t>
            </a:r>
            <a:endParaRPr lang="en-US" altLang="zh-CN" sz="1000" dirty="0">
              <a:solidFill>
                <a:srgbClr val="00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	</a:t>
            </a:r>
            <a:r>
              <a:rPr lang="en-US" altLang="zh-CN" sz="10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}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en-US" altLang="zh-CN" sz="1000" dirty="0">
              <a:solidFill>
                <a:srgbClr val="00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r>
              <a:rPr lang="en-US" altLang="zh-CN" sz="10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}</a:t>
            </a:r>
            <a:endParaRPr lang="en-US" altLang="zh-CN" sz="1000" dirty="0">
              <a:solidFill>
                <a:srgbClr val="00008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9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#define </a:t>
            </a:r>
            <a:r>
              <a:rPr lang="en-US" altLang="zh-CN" sz="900" dirty="0" err="1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configMAX_SYSCALL_INTERRUPT_PRIORITY</a:t>
            </a:r>
            <a:r>
              <a:rPr lang="en-US" altLang="zh-CN" sz="9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            ( </a:t>
            </a:r>
            <a:r>
              <a:rPr lang="en-US" altLang="zh-CN" sz="900" dirty="0" err="1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configLIBRARY_MAX_SYSCALL_INTERRUPT_PRIORITY</a:t>
            </a:r>
            <a:r>
              <a:rPr lang="en-US" altLang="zh-CN" sz="9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 &lt;&lt; (8 - </a:t>
            </a:r>
            <a:r>
              <a:rPr lang="en-US" altLang="zh-CN" sz="900" dirty="0" err="1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configPRIO_BITS</a:t>
            </a:r>
            <a:r>
              <a:rPr lang="en-US" altLang="zh-CN" sz="9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) )</a:t>
            </a:r>
            <a:endParaRPr lang="en-US" altLang="zh-CN" sz="900" dirty="0">
              <a:solidFill>
                <a:srgbClr val="0000FF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9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#define </a:t>
            </a:r>
            <a:r>
              <a:rPr lang="en-US" altLang="zh-CN" sz="900" dirty="0" err="1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configLIBRARY_MAX_SYSCALL_INTERRUPT_PRIORITY</a:t>
            </a:r>
            <a:r>
              <a:rPr lang="en-US" altLang="zh-CN" sz="9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        5      </a:t>
            </a:r>
            <a:r>
              <a:rPr lang="en-US" altLang="zh-CN" sz="900" dirty="0">
                <a:solidFill>
                  <a:srgbClr val="800000"/>
                </a:solidFill>
                <a:latin typeface="思源黑体 CN Normal" pitchFamily="34" charset="-122"/>
                <a:ea typeface="思源黑体 CN Normal" pitchFamily="34" charset="-122"/>
              </a:rPr>
              <a:t>/* </a:t>
            </a:r>
            <a:r>
              <a:rPr lang="en-US" altLang="zh-CN" sz="900" dirty="0" err="1">
                <a:solidFill>
                  <a:srgbClr val="80000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900" dirty="0">
                <a:solidFill>
                  <a:srgbClr val="800000"/>
                </a:solidFill>
                <a:latin typeface="思源黑体 CN Normal" pitchFamily="34" charset="-122"/>
                <a:ea typeface="思源黑体 CN Normal" pitchFamily="34" charset="-122"/>
              </a:rPr>
              <a:t>可管理的最高中断优先级 *</a:t>
            </a:r>
            <a:r>
              <a:rPr lang="en-US" altLang="zh-CN" sz="900" dirty="0">
                <a:solidFill>
                  <a:srgbClr val="800000"/>
                </a:solidFill>
                <a:latin typeface="思源黑体 CN Normal" pitchFamily="34" charset="-122"/>
                <a:ea typeface="思源黑体 CN Normal" pitchFamily="34" charset="-122"/>
              </a:rPr>
              <a:t>/</a:t>
            </a:r>
            <a:r>
              <a:rPr lang="zh-CN" altLang="en-US" sz="9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en-US" altLang="zh-CN" sz="900" dirty="0">
              <a:solidFill>
                <a:srgbClr val="0000FF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endParaRPr lang="en-US" altLang="zh-CN" sz="1100" dirty="0">
              <a:latin typeface="思源黑体 CN Normal" pitchFamily="34" charset="-122"/>
              <a:ea typeface="思源黑体 CN Normal" pitchFamily="34" charset="-122"/>
            </a:endParaRPr>
          </a:p>
          <a:p>
            <a:endParaRPr lang="en-US" altLang="zh-CN" sz="1100" dirty="0">
              <a:solidFill>
                <a:srgbClr val="00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" name="文本框 28"/>
          <p:cNvSpPr txBox="1">
            <a:spLocks noChangeArrowheads="1"/>
          </p:cNvSpPr>
          <p:nvPr/>
        </p:nvSpPr>
        <p:spPr bwMode="auto">
          <a:xfrm>
            <a:off x="1810415" y="5219516"/>
            <a:ext cx="28098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中断优先级在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5 ~ 15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的全部被关闭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 animBg="1"/>
      <p:bldP spid="12" grpId="0"/>
      <p:bldP spid="13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604299" y="1361263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，中断相关寄存器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4"/>
          <p:cNvSpPr txBox="1">
            <a:spLocks noChangeArrowheads="1"/>
          </p:cNvSpPr>
          <p:nvPr/>
        </p:nvSpPr>
        <p:spPr bwMode="auto">
          <a:xfrm>
            <a:off x="1931324" y="1921651"/>
            <a:ext cx="72247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当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BASEPRI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设置为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0x50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时：</a:t>
            </a:r>
            <a:endParaRPr lang="zh-CN" altLang="en-US" sz="1400">
              <a:solidFill>
                <a:srgbClr val="002060"/>
              </a:solidFill>
            </a:endParaRPr>
          </a:p>
        </p:txBody>
      </p:sp>
      <p:sp>
        <p:nvSpPr>
          <p:cNvPr id="10" name="文本框 8"/>
          <p:cNvSpPr txBox="1">
            <a:spLocks noChangeArrowheads="1"/>
          </p:cNvSpPr>
          <p:nvPr/>
        </p:nvSpPr>
        <p:spPr bwMode="auto">
          <a:xfrm>
            <a:off x="2042449" y="4496576"/>
            <a:ext cx="4313237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在中断服务函数中调度</a:t>
            </a:r>
            <a:r>
              <a:rPr lang="en-US" altLang="zh-CN" sz="14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的</a:t>
            </a:r>
            <a:r>
              <a:rPr lang="en-US" altLang="zh-CN" sz="14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函数需注意：</a:t>
            </a:r>
            <a:endParaRPr lang="zh-CN" altLang="en-US" sz="140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" name="文本框 18"/>
          <p:cNvSpPr txBox="1">
            <a:spLocks noChangeArrowheads="1"/>
          </p:cNvSpPr>
          <p:nvPr/>
        </p:nvSpPr>
        <p:spPr bwMode="auto">
          <a:xfrm>
            <a:off x="2074199" y="5109351"/>
            <a:ext cx="72659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、在中断服务函数里边需调用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函数，必须使用带“</a:t>
            </a:r>
            <a:r>
              <a:rPr lang="en-US" altLang="zh-CN" sz="1400" dirty="0" err="1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FromISR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”后缀的函数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" name="文本框 19"/>
          <p:cNvSpPr txBox="1">
            <a:spLocks noChangeArrowheads="1"/>
          </p:cNvSpPr>
          <p:nvPr/>
        </p:nvSpPr>
        <p:spPr bwMode="auto">
          <a:xfrm>
            <a:off x="2074199" y="4785501"/>
            <a:ext cx="48577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、中断服务函数的优先级需在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所管理的范围内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pic>
        <p:nvPicPr>
          <p:cNvPr id="13" name="图片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4199" y="2299476"/>
            <a:ext cx="5100637" cy="2022475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540504" y="1377212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，中断相关寄存器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4"/>
          <p:cNvSpPr txBox="1">
            <a:spLocks noChangeArrowheads="1"/>
          </p:cNvSpPr>
          <p:nvPr/>
        </p:nvSpPr>
        <p:spPr bwMode="auto">
          <a:xfrm>
            <a:off x="1867529" y="1937600"/>
            <a:ext cx="72247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 BASEPRI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屏蔽优先级低于某一个阈值的中断，当设置为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时，则不关闭任何中断</a:t>
            </a:r>
            <a:endParaRPr lang="zh-CN" altLang="en-US" sz="1400" dirty="0"/>
          </a:p>
        </p:txBody>
      </p:sp>
      <p:sp>
        <p:nvSpPr>
          <p:cNvPr id="10" name="文本框 1"/>
          <p:cNvSpPr txBox="1">
            <a:spLocks noChangeArrowheads="1"/>
          </p:cNvSpPr>
          <p:nvPr/>
        </p:nvSpPr>
        <p:spPr bwMode="auto">
          <a:xfrm>
            <a:off x="1916741" y="2382100"/>
            <a:ext cx="16208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开中断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程序示例：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977066" y="2731350"/>
            <a:ext cx="5854700" cy="2125662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2" name="文本框 24"/>
          <p:cNvSpPr txBox="1">
            <a:spLocks noChangeArrowheads="1"/>
          </p:cNvSpPr>
          <p:nvPr/>
        </p:nvSpPr>
        <p:spPr bwMode="auto">
          <a:xfrm>
            <a:off x="2026279" y="2839300"/>
            <a:ext cx="5805487" cy="2017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 dirty="0">
                <a:solidFill>
                  <a:srgbClr val="0000FF"/>
                </a:solidFill>
                <a:latin typeface="Courier New" panose="02070309020205020404" pitchFamily="49" charset="0"/>
              </a:rPr>
              <a:t>#define </a:t>
            </a:r>
            <a:r>
              <a:rPr lang="en-US" altLang="zh-CN" sz="1100" dirty="0" err="1">
                <a:solidFill>
                  <a:srgbClr val="0000FF"/>
                </a:solidFill>
                <a:latin typeface="Courier New" panose="02070309020205020404" pitchFamily="49" charset="0"/>
              </a:rPr>
              <a:t>portENABLE_INTERRUPTS</a:t>
            </a:r>
            <a:r>
              <a:rPr lang="en-US" altLang="zh-CN" sz="1100" dirty="0">
                <a:solidFill>
                  <a:srgbClr val="0000FF"/>
                </a:solidFill>
                <a:latin typeface="Courier New" panose="02070309020205020404" pitchFamily="49" charset="0"/>
              </a:rPr>
              <a:t>()		 </a:t>
            </a:r>
            <a:r>
              <a:rPr lang="en-US" altLang="zh-CN" sz="1100" dirty="0" err="1">
                <a:solidFill>
                  <a:srgbClr val="0000FF"/>
                </a:solidFill>
                <a:latin typeface="Courier New" panose="02070309020205020404" pitchFamily="49" charset="0"/>
              </a:rPr>
              <a:t>vPortSetBASEPRI</a:t>
            </a:r>
            <a:r>
              <a:rPr lang="en-US" altLang="zh-CN" sz="1100" dirty="0">
                <a:solidFill>
                  <a:srgbClr val="0000FF"/>
                </a:solidFill>
                <a:latin typeface="Courier New" panose="02070309020205020404" pitchFamily="49" charset="0"/>
              </a:rPr>
              <a:t>( 0 )</a:t>
            </a:r>
            <a:endParaRPr lang="en-US" altLang="zh-CN" sz="11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FF"/>
                </a:solidFill>
                <a:latin typeface="Courier New" panose="02070309020205020404" pitchFamily="49" charset="0"/>
              </a:rPr>
              <a:t>static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portFORCE_INLINE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>
                <a:solidFill>
                  <a:srgbClr val="0000FF"/>
                </a:solidFill>
                <a:latin typeface="Courier New" panose="02070309020205020404" pitchFamily="49" charset="0"/>
              </a:rPr>
              <a:t>void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vPortSetBASEPRI</a:t>
            </a: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>
                <a:solidFill>
                  <a:srgbClr val="0000FF"/>
                </a:solidFill>
                <a:latin typeface="Courier New" panose="02070309020205020404" pitchFamily="49" charset="0"/>
              </a:rPr>
              <a:t>uint32_t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ulBASEPRI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en-US" altLang="zh-CN" sz="11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en-US" altLang="zh-CN" sz="11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	__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asm</a:t>
            </a:r>
            <a:endParaRPr lang="en-US" altLang="zh-CN" sz="11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	</a:t>
            </a: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endParaRPr lang="en-US" altLang="zh-CN" sz="1100" dirty="0">
              <a:solidFill>
                <a:srgbClr val="000080"/>
              </a:solidFill>
              <a:latin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		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msr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basepri</a:t>
            </a: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ulBASEPRI</a:t>
            </a:r>
            <a:endParaRPr lang="en-US" altLang="zh-CN" sz="11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	</a:t>
            </a: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en-US" altLang="zh-CN" sz="11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endParaRPr lang="en-US" altLang="zh-CN" sz="1100" dirty="0">
              <a:solidFill>
                <a:srgbClr val="00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" name="文本框 15"/>
          <p:cNvSpPr txBox="1">
            <a:spLocks noChangeArrowheads="1"/>
          </p:cNvSpPr>
          <p:nvPr/>
        </p:nvSpPr>
        <p:spPr bwMode="auto">
          <a:xfrm>
            <a:off x="1916741" y="5031637"/>
            <a:ext cx="548481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 err="1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中断管理就是利用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BASEPRI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寄存器实现的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 animBg="1"/>
      <p:bldP spid="12" grpId="0"/>
      <p:bldP spid="13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794657" y="2001043"/>
          <a:ext cx="9748838" cy="966408"/>
        </p:xfrm>
        <a:graphic>
          <a:graphicData uri="http://schemas.openxmlformats.org/drawingml/2006/table">
            <a:tbl>
              <a:tblPr/>
              <a:tblGrid>
                <a:gridCol w="2537369"/>
                <a:gridCol w="2337050"/>
                <a:gridCol w="2337050"/>
                <a:gridCol w="2537369"/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i="0" u="none" kern="1200" baseline="0" dirty="0">
                          <a:solidFill>
                            <a:srgbClr val="002060"/>
                          </a:solidFill>
                          <a:latin typeface="quote-cjk-patch"/>
                          <a:ea typeface="思源黑体 CN Normal" pitchFamily="34" charset="-122"/>
                          <a:cs typeface="+mn-cs"/>
                        </a:rPr>
                        <a:t>中断类型</a:t>
                      </a:r>
                      <a:endParaRPr lang="zh-CN" altLang="en-US" sz="1400" b="0" i="0" u="none" kern="1200" baseline="0" dirty="0">
                        <a:solidFill>
                          <a:srgbClr val="002060"/>
                        </a:solidFill>
                        <a:latin typeface="quote-cjk-patch"/>
                        <a:ea typeface="思源黑体 CN Normal" pitchFamily="34" charset="-122"/>
                        <a:cs typeface="+mn-cs"/>
                      </a:endParaRPr>
                    </a:p>
                  </a:txBody>
                  <a:tcPr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i="0" u="none" kern="1200" baseline="0" dirty="0">
                          <a:solidFill>
                            <a:srgbClr val="002060"/>
                          </a:solidFill>
                          <a:latin typeface="quote-cjk-patch"/>
                          <a:ea typeface="思源黑体 CN Normal" pitchFamily="34" charset="-122"/>
                          <a:cs typeface="+mn-cs"/>
                        </a:rPr>
                        <a:t>优先级数值</a:t>
                      </a:r>
                      <a:endParaRPr lang="zh-CN" altLang="en-US" sz="1400" b="0" i="0" u="none" kern="1200" baseline="0" dirty="0">
                        <a:solidFill>
                          <a:srgbClr val="002060"/>
                        </a:solidFill>
                        <a:latin typeface="quote-cjk-patch"/>
                        <a:ea typeface="思源黑体 CN Normal" pitchFamily="34" charset="-122"/>
                        <a:cs typeface="+mn-cs"/>
                      </a:endParaRP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i="0" u="none" kern="1200" baseline="0">
                          <a:solidFill>
                            <a:srgbClr val="002060"/>
                          </a:solidFill>
                          <a:latin typeface="quote-cjk-patch"/>
                          <a:ea typeface="思源黑体 CN Normal" pitchFamily="34" charset="-122"/>
                          <a:cs typeface="+mn-cs"/>
                        </a:rPr>
                        <a:t>逻辑优先级</a:t>
                      </a:r>
                      <a:endParaRPr lang="zh-CN" altLang="en-US" sz="1400" b="0" i="0" u="none" kern="1200" baseline="0">
                        <a:solidFill>
                          <a:srgbClr val="002060"/>
                        </a:solidFill>
                        <a:latin typeface="quote-cjk-patch"/>
                        <a:ea typeface="思源黑体 CN Normal" pitchFamily="34" charset="-122"/>
                        <a:cs typeface="+mn-cs"/>
                      </a:endParaRP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i="0" u="none" kern="1200" baseline="0">
                          <a:solidFill>
                            <a:srgbClr val="002060"/>
                          </a:solidFill>
                          <a:latin typeface="quote-cjk-patch"/>
                          <a:ea typeface="思源黑体 CN Normal" pitchFamily="34" charset="-122"/>
                          <a:cs typeface="+mn-cs"/>
                        </a:rPr>
                        <a:t>能否调用</a:t>
                      </a:r>
                      <a:r>
                        <a:rPr lang="en-US" sz="1400" b="0" i="0" u="none" kern="1200" baseline="0">
                          <a:solidFill>
                            <a:srgbClr val="002060"/>
                          </a:solidFill>
                          <a:latin typeface="quote-cjk-patch"/>
                          <a:ea typeface="思源黑体 CN Normal" pitchFamily="34" charset="-122"/>
                          <a:cs typeface="+mn-cs"/>
                        </a:rPr>
                        <a:t>FreeRTOS API</a:t>
                      </a:r>
                      <a:endParaRPr lang="en-US" sz="1400" b="0" i="0" u="none" kern="1200" baseline="0">
                        <a:solidFill>
                          <a:srgbClr val="002060"/>
                        </a:solidFill>
                        <a:latin typeface="quote-cjk-patch"/>
                        <a:ea typeface="思源黑体 CN Normal" pitchFamily="34" charset="-122"/>
                        <a:cs typeface="+mn-cs"/>
                      </a:endParaRP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i="0" u="none" kern="1200" baseline="0" dirty="0">
                          <a:solidFill>
                            <a:srgbClr val="002060"/>
                          </a:solidFill>
                          <a:latin typeface="quote-cjk-patch"/>
                          <a:ea typeface="思源黑体 CN Normal" pitchFamily="34" charset="-122"/>
                          <a:cs typeface="+mn-cs"/>
                        </a:rPr>
                        <a:t>不受管理的高优先级中断</a:t>
                      </a:r>
                      <a:endParaRPr lang="zh-CN" altLang="en-US" sz="1400" b="0" i="0" u="none" kern="1200" baseline="0" dirty="0">
                        <a:solidFill>
                          <a:srgbClr val="002060"/>
                        </a:solidFill>
                        <a:latin typeface="quote-cjk-patch"/>
                        <a:ea typeface="思源黑体 CN Normal" pitchFamily="34" charset="-122"/>
                        <a:cs typeface="+mn-cs"/>
                      </a:endParaRPr>
                    </a:p>
                  </a:txBody>
                  <a:tcPr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i="0" u="none" kern="1200" baseline="0" dirty="0">
                          <a:solidFill>
                            <a:srgbClr val="002060"/>
                          </a:solidFill>
                          <a:latin typeface="quote-cjk-patch"/>
                          <a:ea typeface="思源黑体 CN Normal" pitchFamily="34" charset="-122"/>
                          <a:cs typeface="+mn-cs"/>
                        </a:rPr>
                        <a:t>小于阈值（如</a:t>
                      </a:r>
                      <a:r>
                        <a:rPr lang="en-US" altLang="zh-CN" sz="1400" b="0" i="0" u="none" kern="1200" baseline="0" dirty="0">
                          <a:solidFill>
                            <a:srgbClr val="002060"/>
                          </a:solidFill>
                          <a:latin typeface="quote-cjk-patch"/>
                          <a:ea typeface="思源黑体 CN Normal" pitchFamily="34" charset="-122"/>
                          <a:cs typeface="+mn-cs"/>
                        </a:rPr>
                        <a:t>0-9</a:t>
                      </a:r>
                      <a:r>
                        <a:rPr lang="zh-CN" altLang="en-US" sz="1400" b="0" i="0" u="none" kern="1200" baseline="0" dirty="0">
                          <a:solidFill>
                            <a:srgbClr val="002060"/>
                          </a:solidFill>
                          <a:latin typeface="quote-cjk-patch"/>
                          <a:ea typeface="思源黑体 CN Normal" pitchFamily="34" charset="-122"/>
                          <a:cs typeface="+mn-cs"/>
                        </a:rPr>
                        <a:t>）</a:t>
                      </a:r>
                      <a:endParaRPr lang="zh-CN" altLang="en-US" sz="1400" b="0" i="0" u="none" kern="1200" baseline="0" dirty="0">
                        <a:solidFill>
                          <a:srgbClr val="002060"/>
                        </a:solidFill>
                        <a:latin typeface="quote-cjk-patch"/>
                        <a:ea typeface="思源黑体 CN Normal" pitchFamily="34" charset="-122"/>
                        <a:cs typeface="+mn-cs"/>
                      </a:endParaRP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i="0" u="none" kern="1200" baseline="0">
                          <a:solidFill>
                            <a:srgbClr val="002060"/>
                          </a:solidFill>
                          <a:latin typeface="quote-cjk-patch"/>
                          <a:ea typeface="思源黑体 CN Normal" pitchFamily="34" charset="-122"/>
                          <a:cs typeface="+mn-cs"/>
                        </a:rPr>
                        <a:t>高</a:t>
                      </a:r>
                      <a:endParaRPr lang="zh-CN" altLang="en-US" sz="1400" b="0" i="0" u="none" kern="1200" baseline="0">
                        <a:solidFill>
                          <a:srgbClr val="002060"/>
                        </a:solidFill>
                        <a:latin typeface="quote-cjk-patch"/>
                        <a:ea typeface="思源黑体 CN Normal" pitchFamily="34" charset="-122"/>
                        <a:cs typeface="+mn-cs"/>
                      </a:endParaRP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i="0" u="none" kern="1200" baseline="0">
                          <a:solidFill>
                            <a:srgbClr val="002060"/>
                          </a:solidFill>
                          <a:latin typeface="quote-cjk-patch"/>
                          <a:ea typeface="思源黑体 CN Normal" pitchFamily="34" charset="-122"/>
                          <a:cs typeface="+mn-cs"/>
                        </a:rPr>
                        <a:t>❌ 不能</a:t>
                      </a:r>
                      <a:endParaRPr lang="zh-CN" altLang="en-US" sz="1400" b="0" i="0" u="none" kern="1200" baseline="0">
                        <a:solidFill>
                          <a:srgbClr val="002060"/>
                        </a:solidFill>
                        <a:latin typeface="quote-cjk-patch"/>
                        <a:ea typeface="思源黑体 CN Normal" pitchFamily="34" charset="-122"/>
                        <a:cs typeface="+mn-cs"/>
                      </a:endParaRPr>
                    </a:p>
                  </a:txBody>
                  <a:tcPr marL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i="0" u="none" kern="1200" baseline="0" dirty="0">
                          <a:solidFill>
                            <a:srgbClr val="002060"/>
                          </a:solidFill>
                          <a:latin typeface="quote-cjk-patch"/>
                          <a:ea typeface="思源黑体 CN Normal" pitchFamily="34" charset="-122"/>
                          <a:cs typeface="+mn-cs"/>
                        </a:rPr>
                        <a:t>受管理的普通优先级中断</a:t>
                      </a:r>
                      <a:endParaRPr lang="zh-CN" altLang="en-US" sz="1400" b="0" i="0" u="none" kern="1200" baseline="0" dirty="0">
                        <a:solidFill>
                          <a:srgbClr val="002060"/>
                        </a:solidFill>
                        <a:latin typeface="quote-cjk-patch"/>
                        <a:ea typeface="思源黑体 CN Normal" pitchFamily="34" charset="-122"/>
                        <a:cs typeface="+mn-cs"/>
                      </a:endParaRPr>
                    </a:p>
                  </a:txBody>
                  <a:tcPr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i="0" u="none" kern="1200" baseline="0" dirty="0">
                          <a:solidFill>
                            <a:srgbClr val="002060"/>
                          </a:solidFill>
                          <a:latin typeface="quote-cjk-patch"/>
                          <a:ea typeface="思源黑体 CN Normal" pitchFamily="34" charset="-122"/>
                          <a:cs typeface="+mn-cs"/>
                        </a:rPr>
                        <a:t>大于等于阈值（如</a:t>
                      </a:r>
                      <a:r>
                        <a:rPr lang="en-US" altLang="zh-CN" sz="1400" b="0" i="0" u="none" kern="1200" baseline="0" dirty="0">
                          <a:solidFill>
                            <a:srgbClr val="002060"/>
                          </a:solidFill>
                          <a:latin typeface="quote-cjk-patch"/>
                          <a:ea typeface="思源黑体 CN Normal" pitchFamily="34" charset="-122"/>
                          <a:cs typeface="+mn-cs"/>
                        </a:rPr>
                        <a:t>10-16</a:t>
                      </a:r>
                      <a:r>
                        <a:rPr lang="zh-CN" altLang="en-US" sz="1400" b="0" i="0" u="none" kern="1200" baseline="0" dirty="0">
                          <a:solidFill>
                            <a:srgbClr val="002060"/>
                          </a:solidFill>
                          <a:latin typeface="quote-cjk-patch"/>
                          <a:ea typeface="思源黑体 CN Normal" pitchFamily="34" charset="-122"/>
                          <a:cs typeface="+mn-cs"/>
                        </a:rPr>
                        <a:t>）</a:t>
                      </a:r>
                      <a:endParaRPr lang="zh-CN" altLang="en-US" sz="1400" b="0" i="0" u="none" kern="1200" baseline="0" dirty="0">
                        <a:solidFill>
                          <a:srgbClr val="002060"/>
                        </a:solidFill>
                        <a:latin typeface="quote-cjk-patch"/>
                        <a:ea typeface="思源黑体 CN Normal" pitchFamily="34" charset="-122"/>
                        <a:cs typeface="+mn-cs"/>
                      </a:endParaRP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i="0" u="none" kern="1200" baseline="0" dirty="0">
                          <a:solidFill>
                            <a:srgbClr val="002060"/>
                          </a:solidFill>
                          <a:latin typeface="quote-cjk-patch"/>
                          <a:ea typeface="思源黑体 CN Normal" pitchFamily="34" charset="-122"/>
                          <a:cs typeface="+mn-cs"/>
                        </a:rPr>
                        <a:t>低</a:t>
                      </a:r>
                      <a:endParaRPr lang="zh-CN" altLang="en-US" sz="1400" b="0" i="0" u="none" kern="1200" baseline="0" dirty="0">
                        <a:solidFill>
                          <a:srgbClr val="002060"/>
                        </a:solidFill>
                        <a:latin typeface="quote-cjk-patch"/>
                        <a:ea typeface="思源黑体 CN Normal" pitchFamily="34" charset="-122"/>
                        <a:cs typeface="+mn-cs"/>
                      </a:endParaRP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i="0" u="none" kern="1200" baseline="0" dirty="0">
                          <a:solidFill>
                            <a:srgbClr val="002060"/>
                          </a:solidFill>
                          <a:latin typeface="quote-cjk-patch"/>
                          <a:ea typeface="思源黑体 CN Normal" pitchFamily="34" charset="-122"/>
                          <a:cs typeface="+mn-cs"/>
                        </a:rPr>
                        <a:t>✅ 可以（仅限</a:t>
                      </a:r>
                      <a:r>
                        <a:rPr lang="en-US" sz="1400" b="0" i="0" u="none" kern="1200" baseline="0" dirty="0" err="1">
                          <a:solidFill>
                            <a:srgbClr val="002060"/>
                          </a:solidFill>
                          <a:latin typeface="quote-cjk-patch"/>
                          <a:ea typeface="思源黑体 CN Normal" pitchFamily="34" charset="-122"/>
                          <a:cs typeface="+mn-cs"/>
                        </a:rPr>
                        <a:t>FromISR</a:t>
                      </a:r>
                      <a:r>
                        <a:rPr lang="zh-CN" altLang="en-US" sz="1400" b="0" i="0" u="none" kern="1200" baseline="0" dirty="0">
                          <a:solidFill>
                            <a:srgbClr val="002060"/>
                          </a:solidFill>
                          <a:latin typeface="quote-cjk-patch"/>
                          <a:ea typeface="思源黑体 CN Normal" pitchFamily="34" charset="-122"/>
                          <a:cs typeface="+mn-cs"/>
                        </a:rPr>
                        <a:t>函数）</a:t>
                      </a:r>
                      <a:endParaRPr lang="zh-CN" altLang="en-US" sz="1400" b="0" i="0" u="none" kern="1200" baseline="0" dirty="0">
                        <a:solidFill>
                          <a:srgbClr val="002060"/>
                        </a:solidFill>
                        <a:latin typeface="quote-cjk-patch"/>
                        <a:ea typeface="思源黑体 CN Normal" pitchFamily="34" charset="-122"/>
                        <a:cs typeface="+mn-cs"/>
                      </a:endParaRPr>
                    </a:p>
                  </a:txBody>
                  <a:tcPr marL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文本框 5"/>
          <p:cNvSpPr txBox="1"/>
          <p:nvPr/>
        </p:nvSpPr>
        <p:spPr>
          <a:xfrm>
            <a:off x="514351" y="3193621"/>
            <a:ext cx="60936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hangingPunct="0"/>
            <a:r>
              <a:rPr lang="en-US" altLang="zh-CN" sz="1400" b="1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2</a:t>
            </a:r>
            <a:r>
              <a:rPr lang="zh-CN" altLang="en-US" sz="1400" b="1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、写中断服务函数（</a:t>
            </a:r>
            <a:r>
              <a:rPr lang="en-US" altLang="zh-CN" sz="1400" b="1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ISR</a:t>
            </a:r>
            <a:r>
              <a:rPr lang="zh-CN" altLang="en-US" sz="1400" b="1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）</a:t>
            </a:r>
            <a:endParaRPr lang="zh-CN" altLang="en-US" sz="1400" b="1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</p:txBody>
      </p:sp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514351" y="823861"/>
            <a:ext cx="5396592" cy="39332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17438" rIns="0" bIns="58719" numCol="1" anchor="ctr" anchorCtr="0" compatLnSpc="1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400" b="1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1</a:t>
            </a:r>
            <a:r>
              <a:rPr lang="zh-CN" altLang="en-US" sz="1400" b="1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、</a:t>
            </a:r>
            <a:r>
              <a:rPr lang="zh-CN" altLang="zh-CN" sz="1400" b="1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优先级阈值宏</a:t>
            </a:r>
            <a:endParaRPr kumimoji="0" lang="zh-CN" altLang="zh-CN" sz="1800" b="1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666751" y="1275548"/>
            <a:ext cx="5396592" cy="608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17438" rIns="0" bIns="58719" numCol="1" anchor="ctr" anchorCtr="0" compatLnSpc="1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#define configMAX_SYSCALL_INTERRUPT_PRIORITY 10</a:t>
            </a:r>
            <a:endParaRPr lang="zh-CN" altLang="zh-CN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中断优先级划分</a:t>
            </a:r>
            <a:endParaRPr lang="zh-CN" altLang="zh-CN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514351" y="3520115"/>
            <a:ext cx="6093618" cy="3002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29360">
              <a:lnSpc>
                <a:spcPts val="1875"/>
              </a:lnSpc>
            </a:pP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void </a:t>
            </a:r>
            <a:r>
              <a:rPr lang="en-US" altLang="zh-CN" sz="1400" dirty="0" err="1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XXX_IRQHandler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(void)</a:t>
            </a:r>
            <a:endParaRPr lang="en-US" altLang="zh-CN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  <a:p>
            <a:pPr defTabSz="1229360">
              <a:lnSpc>
                <a:spcPts val="1875"/>
              </a:lnSpc>
            </a:pP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{</a:t>
            </a:r>
            <a:endParaRPr lang="en-US" altLang="zh-CN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  <a:p>
            <a:pPr defTabSz="1229360">
              <a:lnSpc>
                <a:spcPts val="1875"/>
              </a:lnSpc>
            </a:pP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    </a:t>
            </a:r>
            <a:r>
              <a:rPr lang="en-US" altLang="zh-CN" sz="1400" dirty="0" err="1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BaseType_t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 </a:t>
            </a:r>
            <a:r>
              <a:rPr lang="en-US" altLang="zh-CN" sz="1400" dirty="0" err="1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xHigherPriorityTaskWoken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 = </a:t>
            </a:r>
            <a:r>
              <a:rPr lang="en-US" altLang="zh-CN" sz="1400" dirty="0" err="1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pdFALSE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;</a:t>
            </a:r>
            <a:endParaRPr lang="en-US" altLang="zh-CN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  <a:p>
            <a:pPr defTabSz="1229360">
              <a:lnSpc>
                <a:spcPts val="1875"/>
              </a:lnSpc>
            </a:pPr>
            <a:endParaRPr lang="en-US" altLang="zh-CN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  <a:p>
            <a:pPr defTabSz="1229360">
              <a:lnSpc>
                <a:spcPts val="1875"/>
              </a:lnSpc>
            </a:pP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    // 1. </a:t>
            </a: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清除中断标志位</a:t>
            </a:r>
            <a:endParaRPr lang="zh-CN" altLang="en-US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  <a:p>
            <a:pPr defTabSz="1229360">
              <a:lnSpc>
                <a:spcPts val="1875"/>
              </a:lnSpc>
            </a:pP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    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// 2. </a:t>
            </a: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读取硬件数据</a:t>
            </a:r>
            <a:endParaRPr lang="zh-CN" altLang="en-US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  <a:p>
            <a:pPr defTabSz="1229360">
              <a:lnSpc>
                <a:spcPts val="1875"/>
              </a:lnSpc>
            </a:pP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    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// 3. </a:t>
            </a: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调用</a:t>
            </a:r>
            <a:r>
              <a:rPr lang="en-US" altLang="zh-CN" sz="1400" dirty="0" err="1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FromISR</a:t>
            </a: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函数（如队列、信号量）</a:t>
            </a:r>
            <a:endParaRPr lang="zh-CN" altLang="en-US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  <a:p>
            <a:pPr defTabSz="1229360">
              <a:lnSpc>
                <a:spcPts val="1875"/>
              </a:lnSpc>
            </a:pP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    </a:t>
            </a:r>
            <a:r>
              <a:rPr lang="en-US" altLang="zh-CN" sz="1400" dirty="0" err="1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xQueueSendToBackFromISR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(</a:t>
            </a:r>
            <a:r>
              <a:rPr lang="en-US" altLang="zh-CN" sz="1400" dirty="0" err="1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xQueue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, &amp;data, &amp;</a:t>
            </a:r>
            <a:r>
              <a:rPr lang="en-US" altLang="zh-CN" sz="1400" dirty="0" err="1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xHigherPriorityTaskWoken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);</a:t>
            </a:r>
            <a:endParaRPr lang="en-US" altLang="zh-CN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  <a:p>
            <a:pPr defTabSz="1229360">
              <a:lnSpc>
                <a:spcPts val="1875"/>
              </a:lnSpc>
            </a:pPr>
            <a:endParaRPr lang="en-US" altLang="zh-CN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  <a:p>
            <a:pPr defTabSz="1229360">
              <a:lnSpc>
                <a:spcPts val="1875"/>
              </a:lnSpc>
            </a:pP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    // 4. </a:t>
            </a: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最后请求任务切换</a:t>
            </a:r>
            <a:endParaRPr lang="zh-CN" altLang="en-US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  <a:p>
            <a:pPr defTabSz="1229360">
              <a:lnSpc>
                <a:spcPts val="1875"/>
              </a:lnSpc>
            </a:pP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    </a:t>
            </a:r>
            <a:r>
              <a:rPr lang="en-US" altLang="zh-CN" sz="1400" dirty="0" err="1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portYIELD_FROM_ISR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(</a:t>
            </a:r>
            <a:r>
              <a:rPr lang="en-US" altLang="zh-CN" sz="1400" dirty="0" err="1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xHigherPriorityTaskWoken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);</a:t>
            </a:r>
            <a:endParaRPr lang="en-US" altLang="zh-CN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  <a:p>
            <a:pPr defTabSz="1229360">
              <a:lnSpc>
                <a:spcPts val="1875"/>
              </a:lnSpc>
            </a:pP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}</a:t>
            </a:r>
            <a:endParaRPr lang="en-US" altLang="zh-CN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</p:txBody>
      </p:sp>
    </p:spTree>
  </p:cSld>
  <p:clrMapOvr>
    <a:masterClrMapping/>
  </p:clrMapOvr>
  <p:transition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514351" y="823860"/>
            <a:ext cx="5396592" cy="39332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17438" rIns="0" bIns="58719" numCol="1" anchor="ctr" anchorCtr="0" compatLnSpc="1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zh-CN" sz="1400" b="1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3</a:t>
            </a:r>
            <a:r>
              <a:rPr lang="zh-CN" altLang="en-US" sz="1400" b="1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、中断与任务通信方式（</a:t>
            </a:r>
            <a:r>
              <a:rPr lang="en-US" altLang="zh-CN" sz="1400" b="1" dirty="0" err="1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FromISR</a:t>
            </a:r>
            <a:r>
              <a:rPr lang="zh-CN" altLang="en-US" sz="1400" b="1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函数）</a:t>
            </a:r>
            <a:endParaRPr lang="zh-CN" altLang="en-US" sz="1400" b="1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758089" y="1313900"/>
            <a:ext cx="5396592" cy="6502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17438" rIns="0" bIns="58719" numCol="1" anchor="ctr" anchorCtr="0" compatLnSpc="1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defTabSz="1229360" eaLnBrk="1" hangingPunct="1">
              <a:lnSpc>
                <a:spcPts val="1875"/>
              </a:lnSpc>
            </a:pPr>
            <a:r>
              <a:rPr lang="en-US" altLang="zh-CN" sz="1400" dirty="0" err="1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xQueueSendToBackFromISR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()</a:t>
            </a:r>
            <a:endParaRPr lang="en-US" altLang="zh-CN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  <a:p>
            <a:pPr lvl="0" defTabSz="1229360" eaLnBrk="1" hangingPunct="1">
              <a:lnSpc>
                <a:spcPts val="1875"/>
              </a:lnSpc>
            </a:pPr>
            <a:r>
              <a:rPr lang="en-US" altLang="zh-CN" sz="1400" dirty="0" err="1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vTaskNotifyGiveFromISR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()</a:t>
            </a:r>
            <a:endParaRPr lang="zh-CN" altLang="zh-CN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00050" y="2267577"/>
            <a:ext cx="10529887" cy="2027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29360">
              <a:lnSpc>
                <a:spcPts val="1875"/>
              </a:lnSpc>
            </a:pP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注意事项：</a:t>
            </a:r>
            <a:endParaRPr lang="zh-CN" altLang="en-US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  <a:p>
            <a:pPr defTabSz="1229360">
              <a:lnSpc>
                <a:spcPts val="1875"/>
              </a:lnSpc>
            </a:pP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保持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ISR</a:t>
            </a: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简短：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ISR </a:t>
            </a: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中只做最紧急的处理（如保存数据、清除标志），复杂的计算和后续处理应通过通信机制交由一个高优先级任务完成。这被称为“延迟中断处理”或“中断底半部” 。</a:t>
            </a:r>
            <a:endParaRPr lang="en-US" altLang="zh-CN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  <a:p>
            <a:pPr defTabSz="1229360">
              <a:lnSpc>
                <a:spcPts val="1875"/>
              </a:lnSpc>
            </a:pPr>
            <a:endParaRPr lang="zh-CN" altLang="en-US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  <a:p>
            <a:pPr defTabSz="1229360">
              <a:lnSpc>
                <a:spcPts val="1875"/>
              </a:lnSpc>
            </a:pP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优先级不能为 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0</a:t>
            </a: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：任何需要调用 </a:t>
            </a:r>
            <a:r>
              <a:rPr lang="en-US" altLang="zh-CN" sz="1400" dirty="0" err="1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FromISR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 </a:t>
            </a: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类 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FreeRTOS API </a:t>
            </a: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的中断，其优先级绝对不要设置为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0</a:t>
            </a: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（最高优先级）。因为在某些架构下，临界区无法屏蔽优先级为 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0 </a:t>
            </a: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的中断，这可能导致系统状态损坏 。</a:t>
            </a:r>
            <a:endParaRPr lang="en-US" altLang="zh-CN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  <a:p>
            <a:pPr defTabSz="1229360">
              <a:lnSpc>
                <a:spcPts val="1875"/>
              </a:lnSpc>
            </a:pPr>
            <a:endParaRPr lang="zh-CN" altLang="en-US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  <a:p>
            <a:pPr defTabSz="1229360">
              <a:lnSpc>
                <a:spcPts val="1875"/>
              </a:lnSpc>
            </a:pP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避免阻塞：绝对不能在 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ISR </a:t>
            </a: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中使用不带 </a:t>
            </a:r>
            <a:r>
              <a:rPr lang="en-US" altLang="zh-CN" sz="1400" dirty="0" err="1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FromISR</a:t>
            </a: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 后缀的 </a:t>
            </a:r>
            <a:r>
              <a:rPr lang="en-US" altLang="zh-CN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API </a:t>
            </a: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或任何可能导致阻塞的函数（如</a:t>
            </a:r>
            <a:r>
              <a:rPr lang="en-US" altLang="zh-CN" sz="1400" dirty="0" err="1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vTaskDelay</a:t>
            </a:r>
            <a:r>
              <a:rPr lang="zh-CN" altLang="en-US" sz="1400" dirty="0">
                <a:solidFill>
                  <a:srgbClr val="002060"/>
                </a:solidFill>
                <a:latin typeface="quote-cjk-patch"/>
                <a:ea typeface="思源黑体 CN Normal" pitchFamily="34" charset="-122"/>
              </a:rPr>
              <a:t>）</a:t>
            </a:r>
            <a:endParaRPr lang="zh-CN" altLang="en-US" sz="1400" dirty="0">
              <a:solidFill>
                <a:srgbClr val="002060"/>
              </a:solidFill>
              <a:latin typeface="quote-cjk-patch"/>
              <a:ea typeface="思源黑体 CN Normal" pitchFamily="34" charset="-122"/>
            </a:endParaRPr>
          </a:p>
        </p:txBody>
      </p:sp>
    </p:spTree>
  </p:cSld>
  <p:clrMapOvr>
    <a:masterClrMapping/>
  </p:clrMapOvr>
  <p:transition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313044" y="2517775"/>
            <a:ext cx="5940743" cy="1080770"/>
          </a:xfrm>
        </p:spPr>
        <p:txBody>
          <a:bodyPr wrap="square">
            <a:normAutofit fontScale="90000"/>
          </a:bodyPr>
          <a:lstStyle/>
          <a:p>
            <a:r>
              <a:rPr dirty="0">
                <a:sym typeface="+mn-ea"/>
              </a:rPr>
              <a:t>任务间通信与同步</a:t>
            </a:r>
            <a:endParaRPr lang="en-US" dirty="0"/>
          </a:p>
        </p:txBody>
      </p:sp>
    </p:spTree>
    <p:custDataLst>
      <p:tags r:id="rId2"/>
    </p:custDataLst>
  </p:cSld>
  <p:clrMapOvr>
    <a:masterClrMapping/>
  </p:clrMapOvr>
  <p:transition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dirty="0">
                <a:sym typeface="+mn-ea"/>
              </a:rPr>
              <a:t>任务间通信与同步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4830" y="1506855"/>
            <a:ext cx="10096500" cy="1884931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ea typeface="思源黑体 CN Bold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ea typeface="思源黑体 CN Bold" pitchFamily="34" charset="-122"/>
              </a:rPr>
              <a:t>，任务通知</a:t>
            </a:r>
            <a:endParaRPr lang="en-US" altLang="zh-CN" b="1" dirty="0">
              <a:solidFill>
                <a:srgbClr val="002060"/>
              </a:solidFill>
              <a:ea typeface="思源黑体 CN Bold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ea typeface="思源黑体 CN Bold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ea typeface="思源黑体 CN Bold" pitchFamily="34" charset="-122"/>
              </a:rPr>
              <a:t>，信号量</a:t>
            </a:r>
            <a:endParaRPr lang="en-US" altLang="zh-CN" b="1" dirty="0">
              <a:solidFill>
                <a:srgbClr val="002060"/>
              </a:solidFill>
              <a:ea typeface="思源黑体 CN Bold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ea typeface="思源黑体 CN Bold" pitchFamily="34" charset="-122"/>
              </a:rPr>
              <a:t>，队列和队列集</a:t>
            </a:r>
            <a:endParaRPr lang="en-US" altLang="zh-CN" b="1" dirty="0">
              <a:solidFill>
                <a:srgbClr val="002060"/>
              </a:solidFill>
              <a:ea typeface="思源黑体 CN Bold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ea typeface="思源黑体 CN Bold" pitchFamily="34" charset="-122"/>
              </a:rPr>
              <a:t>4</a:t>
            </a:r>
            <a:r>
              <a:rPr lang="zh-CN" altLang="en-US" b="1" dirty="0">
                <a:solidFill>
                  <a:srgbClr val="002060"/>
                </a:solidFill>
                <a:ea typeface="思源黑体 CN Bold" pitchFamily="34" charset="-122"/>
              </a:rPr>
              <a:t>，事件标志组</a:t>
            </a:r>
            <a:endParaRPr lang="en-US" altLang="zh-CN" b="1" dirty="0">
              <a:solidFill>
                <a:srgbClr val="002060"/>
              </a:solidFill>
              <a:ea typeface="思源黑体 CN Bold" pitchFamily="34" charset="-122"/>
            </a:endParaRPr>
          </a:p>
        </p:txBody>
      </p:sp>
    </p:spTree>
  </p:cSld>
  <p:clrMapOvr>
    <a:masterClrMapping/>
  </p:clrMapOvr>
  <p:transition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675307" y="785629"/>
            <a:ext cx="6093618" cy="10237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b="1" dirty="0">
                <a:solidFill>
                  <a:srgbClr val="002060"/>
                </a:solidFill>
                <a:ea typeface="思源黑体 CN Bold" pitchFamily="34" charset="-122"/>
              </a:rPr>
              <a:t>1</a:t>
            </a:r>
            <a:r>
              <a:rPr lang="zh-CN" altLang="en-US" sz="1400" b="1" dirty="0">
                <a:solidFill>
                  <a:srgbClr val="002060"/>
                </a:solidFill>
                <a:ea typeface="思源黑体 CN Bold" pitchFamily="34" charset="-122"/>
              </a:rPr>
              <a:t>，任务通知的简介</a:t>
            </a:r>
            <a:endParaRPr lang="en-US" altLang="zh-CN" sz="1400" b="1" dirty="0">
              <a:solidFill>
                <a:srgbClr val="002060"/>
              </a:solidFill>
              <a:ea typeface="思源黑体 CN Bold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400" b="1" dirty="0">
                <a:solidFill>
                  <a:srgbClr val="002060"/>
                </a:solidFill>
                <a:ea typeface="思源黑体 CN Bold" pitchFamily="34" charset="-122"/>
              </a:rPr>
              <a:t>2</a:t>
            </a:r>
            <a:r>
              <a:rPr lang="zh-CN" altLang="en-US" sz="1400" b="1" dirty="0">
                <a:solidFill>
                  <a:srgbClr val="002060"/>
                </a:solidFill>
                <a:ea typeface="思源黑体 CN Bold" pitchFamily="34" charset="-122"/>
              </a:rPr>
              <a:t>，任务通知值和通知状态</a:t>
            </a:r>
            <a:endParaRPr lang="en-US" altLang="zh-CN" sz="1400" b="1" dirty="0">
              <a:solidFill>
                <a:srgbClr val="002060"/>
              </a:solidFill>
              <a:ea typeface="思源黑体 CN Bold" pitchFamily="34" charset="-122"/>
            </a:endParaRPr>
          </a:p>
          <a:p>
            <a:pPr eaLnBrk="1" hangingPunct="1">
              <a:lnSpc>
                <a:spcPct val="150000"/>
              </a:lnSpc>
            </a:pPr>
            <a:r>
              <a:rPr lang="en-US" altLang="zh-CN" sz="14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sz="14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，任务通知相关</a:t>
            </a:r>
            <a:r>
              <a:rPr lang="en-US" altLang="zh-CN" sz="14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sz="14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sz="1400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1" name="文本框 9"/>
          <p:cNvSpPr txBox="1">
            <a:spLocks noChangeArrowheads="1"/>
          </p:cNvSpPr>
          <p:nvPr/>
        </p:nvSpPr>
        <p:spPr bwMode="auto">
          <a:xfrm>
            <a:off x="1143139" y="2056123"/>
            <a:ext cx="3900487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accent5">
                    <a:lumMod val="50000"/>
                  </a:schemeClr>
                </a:solidFill>
                <a:latin typeface="思源黑体 CN Bold" pitchFamily="34" charset="-122"/>
                <a:ea typeface="思源黑体 CN Bold" pitchFamily="34" charset="-122"/>
              </a:rPr>
              <a:t>1</a:t>
            </a:r>
            <a:r>
              <a:rPr lang="zh-CN" altLang="en-US" b="1" dirty="0">
                <a:solidFill>
                  <a:schemeClr val="accent5">
                    <a:lumMod val="50000"/>
                  </a:schemeClr>
                </a:solidFill>
                <a:latin typeface="思源黑体 CN Bold" pitchFamily="34" charset="-122"/>
                <a:ea typeface="思源黑体 CN Bold" pitchFamily="34" charset="-122"/>
              </a:rPr>
              <a:t>，任务通知的简介</a:t>
            </a:r>
            <a:endParaRPr lang="en-US" altLang="zh-CN" b="1" dirty="0">
              <a:solidFill>
                <a:schemeClr val="accent5">
                  <a:lumMod val="50000"/>
                </a:schemeClr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2" name="文本框 1"/>
          <p:cNvSpPr txBox="1">
            <a:spLocks noChangeArrowheads="1"/>
          </p:cNvSpPr>
          <p:nvPr/>
        </p:nvSpPr>
        <p:spPr bwMode="auto">
          <a:xfrm>
            <a:off x="1495564" y="2519673"/>
            <a:ext cx="7786687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任务通知：用来通知任务的，任务控制块中的结构体成员变量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ulNotifiedValue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就是这个通知值。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" name="文本框 26"/>
          <p:cNvSpPr txBox="1">
            <a:spLocks noChangeArrowheads="1"/>
          </p:cNvSpPr>
          <p:nvPr/>
        </p:nvSpPr>
        <p:spPr bwMode="auto">
          <a:xfrm>
            <a:off x="1495564" y="2956236"/>
            <a:ext cx="80137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使用队列、信号量、事件标志组时都需另外创建一个结构体，通过中间的结构体进行间接通信！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文本框 27"/>
          <p:cNvSpPr txBox="1">
            <a:spLocks noChangeArrowheads="1"/>
          </p:cNvSpPr>
          <p:nvPr/>
        </p:nvSpPr>
        <p:spPr bwMode="auto">
          <a:xfrm>
            <a:off x="1495564" y="4578661"/>
            <a:ext cx="7613650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使用任务通知时，任务结构体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TCB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中就包含了内部对象，可以直接接收别人发过来的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"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通知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"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pic>
        <p:nvPicPr>
          <p:cNvPr id="15" name="图片 28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5601" y="4962836"/>
            <a:ext cx="4770438" cy="1319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" name="图片 2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5601" y="3365811"/>
            <a:ext cx="4770438" cy="1201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694675" y="1526068"/>
            <a:ext cx="3900487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zh-CN" altLang="en-US" b="1" dirty="0">
                <a:solidFill>
                  <a:schemeClr val="accent5">
                    <a:lumMod val="50000"/>
                  </a:schemeClr>
                </a:solidFill>
                <a:latin typeface="思源黑体 CN Bold" pitchFamily="34" charset="-122"/>
                <a:ea typeface="思源黑体 CN Bold" pitchFamily="34" charset="-122"/>
              </a:rPr>
              <a:t>      任务通知值的更新方式</a:t>
            </a:r>
            <a:endParaRPr lang="en-US" altLang="zh-CN" b="1" dirty="0">
              <a:solidFill>
                <a:schemeClr val="accent5">
                  <a:lumMod val="50000"/>
                </a:schemeClr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"/>
          <p:cNvSpPr txBox="1">
            <a:spLocks noChangeArrowheads="1"/>
          </p:cNvSpPr>
          <p:nvPr/>
        </p:nvSpPr>
        <p:spPr bwMode="auto">
          <a:xfrm>
            <a:off x="2020112" y="2159481"/>
            <a:ext cx="25749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不覆盖接受任务的通知值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0" name="文本框 7"/>
          <p:cNvSpPr txBox="1">
            <a:spLocks noChangeArrowheads="1"/>
          </p:cNvSpPr>
          <p:nvPr/>
        </p:nvSpPr>
        <p:spPr bwMode="auto">
          <a:xfrm>
            <a:off x="2020112" y="2578581"/>
            <a:ext cx="23717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覆盖接受任务的通知值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" name="文本框 8"/>
          <p:cNvSpPr txBox="1">
            <a:spLocks noChangeArrowheads="1"/>
          </p:cNvSpPr>
          <p:nvPr/>
        </p:nvSpPr>
        <p:spPr bwMode="auto">
          <a:xfrm>
            <a:off x="2020112" y="3007206"/>
            <a:ext cx="34734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更新接受任务通知值的一个或多个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bit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" name="文本框 9"/>
          <p:cNvSpPr txBox="1">
            <a:spLocks noChangeArrowheads="1"/>
          </p:cNvSpPr>
          <p:nvPr/>
        </p:nvSpPr>
        <p:spPr bwMode="auto">
          <a:xfrm>
            <a:off x="2020112" y="3440593"/>
            <a:ext cx="23717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增加接受任务的通知值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" name="文本框 13"/>
          <p:cNvSpPr txBox="1">
            <a:spLocks noChangeArrowheads="1"/>
          </p:cNvSpPr>
          <p:nvPr/>
        </p:nvSpPr>
        <p:spPr bwMode="auto">
          <a:xfrm>
            <a:off x="2001062" y="4066068"/>
            <a:ext cx="78517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只要合理，灵活的利用任务通知的特点，可以在一些场合中替代队列、信号量、事件标志组！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423545" y="1415256"/>
            <a:ext cx="3900487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zh-CN" altLang="en-US" b="1" dirty="0">
                <a:solidFill>
                  <a:schemeClr val="accent5">
                    <a:lumMod val="50000"/>
                  </a:schemeClr>
                </a:solidFill>
                <a:latin typeface="思源黑体 CN Bold" pitchFamily="34" charset="-122"/>
                <a:ea typeface="思源黑体 CN Bold" pitchFamily="34" charset="-122"/>
              </a:rPr>
              <a:t>      任务通知的优势及劣势</a:t>
            </a:r>
            <a:endParaRPr lang="en-US" altLang="zh-CN" b="1" dirty="0">
              <a:solidFill>
                <a:schemeClr val="accent5">
                  <a:lumMod val="50000"/>
                </a:schemeClr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25"/>
          <p:cNvSpPr txBox="1">
            <a:spLocks noChangeArrowheads="1"/>
          </p:cNvSpPr>
          <p:nvPr/>
        </p:nvSpPr>
        <p:spPr bwMode="auto">
          <a:xfrm>
            <a:off x="3207895" y="2356644"/>
            <a:ext cx="6470650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使用任务通知向任务发送事件或数据比使用队列、事件标志组或信号量快得多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0" name="矩形: 圆角 9"/>
          <p:cNvSpPr/>
          <p:nvPr/>
        </p:nvSpPr>
        <p:spPr>
          <a:xfrm>
            <a:off x="1844232" y="2356644"/>
            <a:ext cx="1346200" cy="306387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效率更高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" name="矩形: 圆角 10"/>
          <p:cNvSpPr/>
          <p:nvPr/>
        </p:nvSpPr>
        <p:spPr>
          <a:xfrm>
            <a:off x="1844232" y="2855119"/>
            <a:ext cx="13462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使用内存更小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" name="文本框 29"/>
          <p:cNvSpPr txBox="1">
            <a:spLocks noChangeArrowheads="1"/>
          </p:cNvSpPr>
          <p:nvPr/>
        </p:nvSpPr>
        <p:spPr bwMode="auto">
          <a:xfrm>
            <a:off x="3177732" y="2837656"/>
            <a:ext cx="6530975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使用其他方法时都要先创建对应的结构体，使用任务通知时无需额外创建结构体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" name="文本框 30"/>
          <p:cNvSpPr txBox="1">
            <a:spLocks noChangeArrowheads="1"/>
          </p:cNvSpPr>
          <p:nvPr/>
        </p:nvSpPr>
        <p:spPr bwMode="auto">
          <a:xfrm>
            <a:off x="1752157" y="1967706"/>
            <a:ext cx="16208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任务通知的优势：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文本框 4095"/>
          <p:cNvSpPr txBox="1">
            <a:spLocks noChangeArrowheads="1"/>
          </p:cNvSpPr>
          <p:nvPr/>
        </p:nvSpPr>
        <p:spPr bwMode="auto">
          <a:xfrm>
            <a:off x="1752157" y="3277394"/>
            <a:ext cx="1620838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任务通知的劣势：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" name="矩形: 圆角 14"/>
          <p:cNvSpPr/>
          <p:nvPr/>
        </p:nvSpPr>
        <p:spPr>
          <a:xfrm>
            <a:off x="1844232" y="3671094"/>
            <a:ext cx="19097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无法发送数据给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ISR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6" name="矩形: 圆角 15"/>
          <p:cNvSpPr/>
          <p:nvPr/>
        </p:nvSpPr>
        <p:spPr>
          <a:xfrm>
            <a:off x="1844232" y="4152106"/>
            <a:ext cx="19097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无法广播给多个任务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7" name="矩形: 圆角 16"/>
          <p:cNvSpPr/>
          <p:nvPr/>
        </p:nvSpPr>
        <p:spPr>
          <a:xfrm>
            <a:off x="1844232" y="5114131"/>
            <a:ext cx="19097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发送受阻不支持阻塞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1844232" y="4633119"/>
            <a:ext cx="19097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无法缓存多个数据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9" name="文本框 4101"/>
          <p:cNvSpPr txBox="1">
            <a:spLocks noChangeArrowheads="1"/>
          </p:cNvSpPr>
          <p:nvPr/>
        </p:nvSpPr>
        <p:spPr bwMode="auto">
          <a:xfrm>
            <a:off x="3750820" y="3510756"/>
            <a:ext cx="6842125" cy="630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ISR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没有任务结构体，所以无法给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ISR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发送数据。但是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ISR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可以使用任务通知的功能，发数据给任务。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0" name="文本框 4102"/>
          <p:cNvSpPr txBox="1">
            <a:spLocks noChangeArrowheads="1"/>
          </p:cNvSpPr>
          <p:nvPr/>
        </p:nvSpPr>
        <p:spPr bwMode="auto">
          <a:xfrm>
            <a:off x="3750820" y="4125119"/>
            <a:ext cx="4541837" cy="350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任务通知只能是被指定的一个任务接收并处理 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1" name="文本框 4105"/>
          <p:cNvSpPr txBox="1">
            <a:spLocks noChangeArrowheads="1"/>
          </p:cNvSpPr>
          <p:nvPr/>
        </p:nvSpPr>
        <p:spPr bwMode="auto">
          <a:xfrm>
            <a:off x="3750820" y="4487069"/>
            <a:ext cx="6435725" cy="628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任务通知是通过更新任务通知值来发送数据的，任务结构体中只有一个任务通知值，只能保持一个数据。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2" name="文本框 4107"/>
          <p:cNvSpPr txBox="1">
            <a:spLocks noChangeArrowheads="1"/>
          </p:cNvSpPr>
          <p:nvPr/>
        </p:nvSpPr>
        <p:spPr bwMode="auto">
          <a:xfrm>
            <a:off x="3750820" y="5136356"/>
            <a:ext cx="3224212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发送方无法进入阻塞状态等待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11" grpId="0" animBg="1"/>
      <p:bldP spid="12" grpId="0"/>
      <p:bldP spid="13" grpId="0"/>
      <p:bldP spid="14" grpId="0"/>
      <p:bldP spid="15" grpId="0" animBg="1"/>
      <p:bldP spid="16" grpId="0" animBg="1"/>
      <p:bldP spid="17" grpId="0" animBg="1"/>
      <p:bldP spid="18" grpId="0" animBg="1"/>
      <p:bldP spid="19" grpId="0"/>
      <p:bldP spid="20" grpId="0"/>
      <p:bldP spid="21" grpId="0"/>
      <p:bldP spid="22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955173" y="1425058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，任务通知值和通知状态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4"/>
          <p:cNvSpPr txBox="1">
            <a:spLocks noChangeArrowheads="1"/>
          </p:cNvSpPr>
          <p:nvPr/>
        </p:nvSpPr>
        <p:spPr bwMode="auto">
          <a:xfrm>
            <a:off x="2279023" y="1872733"/>
            <a:ext cx="6064250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任务都有一个结构体：任务控制块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TCB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，它里边有两个结构体成员变量：</a:t>
            </a:r>
            <a:endParaRPr lang="zh-CN" altLang="en-US" sz="1400" dirty="0"/>
          </a:p>
        </p:txBody>
      </p:sp>
      <p:sp>
        <p:nvSpPr>
          <p:cNvPr id="10" name="文本框 21"/>
          <p:cNvSpPr txBox="1">
            <a:spLocks noChangeArrowheads="1"/>
          </p:cNvSpPr>
          <p:nvPr/>
        </p:nvSpPr>
        <p:spPr bwMode="auto">
          <a:xfrm>
            <a:off x="2356810" y="4939783"/>
            <a:ext cx="4619625" cy="617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1450" indent="-1714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一个是 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uint32_t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类型，用来表示通知值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一个是 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uint8_t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类型，用来表示通知状态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pSp>
        <p:nvGrpSpPr>
          <p:cNvPr id="11" name="组合 23"/>
          <p:cNvGrpSpPr/>
          <p:nvPr/>
        </p:nvGrpSpPr>
        <p:grpSpPr bwMode="auto">
          <a:xfrm>
            <a:off x="2356810" y="2302946"/>
            <a:ext cx="7882343" cy="2605087"/>
            <a:chOff x="512617" y="2081553"/>
            <a:chExt cx="7882173" cy="2605940"/>
          </a:xfrm>
        </p:grpSpPr>
        <p:sp>
          <p:nvSpPr>
            <p:cNvPr id="12" name="文本框 19"/>
            <p:cNvSpPr txBox="1">
              <a:spLocks noChangeArrowheads="1"/>
            </p:cNvSpPr>
            <p:nvPr/>
          </p:nvSpPr>
          <p:spPr bwMode="auto">
            <a:xfrm>
              <a:off x="512619" y="2081553"/>
              <a:ext cx="7882171" cy="23769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typedef  struct 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tskTaskControlBlock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endPara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{</a:t>
              </a:r>
              <a:endPara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… …</a:t>
              </a:r>
              <a:endPara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#if ( configUSE_TASK_NOTIFICATIONS  ==  1 )</a:t>
              </a:r>
              <a:endPara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volatile uint32_t </a:t>
              </a:r>
              <a:r>
                <a:rPr lang="en-US" altLang="zh-CN" sz="1100" dirty="0">
                  <a:solidFill>
                    <a:srgbClr val="FF0000"/>
                  </a:solidFill>
                  <a:latin typeface="思源黑体 CN Normal" pitchFamily="34" charset="-122"/>
                  <a:ea typeface="思源黑体 CN Normal" pitchFamily="34" charset="-122"/>
                </a:rPr>
                <a:t>ulNotifiedValue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;</a:t>
              </a:r>
              <a:endPara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volatile uint8_t </a:t>
              </a:r>
              <a:r>
                <a:rPr lang="en-US" altLang="zh-CN" sz="1100" dirty="0">
                  <a:solidFill>
                    <a:srgbClr val="FF0000"/>
                  </a:solidFill>
                  <a:latin typeface="思源黑体 CN Normal" pitchFamily="34" charset="-122"/>
                  <a:ea typeface="思源黑体 CN Normal" pitchFamily="34" charset="-122"/>
                </a:rPr>
                <a:t>ucNotifyState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;</a:t>
              </a:r>
              <a:endPara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endif</a:t>
              </a:r>
              <a:endPara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… …</a:t>
              </a:r>
              <a:endPara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} tskTCB;</a:t>
              </a:r>
              <a:endParaRPr lang="zh-CN" altLang="en-US" sz="11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512617" y="2114901"/>
              <a:ext cx="7690791" cy="2572592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615470" y="696728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任务通知值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4"/>
          <p:cNvSpPr txBox="1">
            <a:spLocks noChangeArrowheads="1"/>
          </p:cNvSpPr>
          <p:nvPr/>
        </p:nvSpPr>
        <p:spPr bwMode="auto">
          <a:xfrm>
            <a:off x="939320" y="1199966"/>
            <a:ext cx="6062662" cy="382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任务通知值的更新方式有多种类型：</a:t>
            </a:r>
            <a:endParaRPr lang="zh-CN" altLang="en-US" sz="1400" dirty="0"/>
          </a:p>
        </p:txBody>
      </p:sp>
      <p:sp>
        <p:nvSpPr>
          <p:cNvPr id="10" name="文本框 2"/>
          <p:cNvSpPr txBox="1">
            <a:spLocks noChangeArrowheads="1"/>
          </p:cNvSpPr>
          <p:nvPr/>
        </p:nvSpPr>
        <p:spPr bwMode="auto">
          <a:xfrm>
            <a:off x="939320" y="1658753"/>
            <a:ext cx="6062662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计数值（数值累加，类似信号量）</a:t>
            </a:r>
            <a:endParaRPr lang="zh-CN" altLang="en-US" sz="1400" dirty="0"/>
          </a:p>
        </p:txBody>
      </p:sp>
      <p:sp>
        <p:nvSpPr>
          <p:cNvPr id="11" name="文本框 12"/>
          <p:cNvSpPr txBox="1">
            <a:spLocks noChangeArrowheads="1"/>
          </p:cNvSpPr>
          <p:nvPr/>
        </p:nvSpPr>
        <p:spPr bwMode="auto">
          <a:xfrm>
            <a:off x="939320" y="2022291"/>
            <a:ext cx="6062662" cy="382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相应位置一（类似事件标志组）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" name="文本框 13"/>
          <p:cNvSpPr txBox="1">
            <a:spLocks noChangeArrowheads="1"/>
          </p:cNvSpPr>
          <p:nvPr/>
        </p:nvSpPr>
        <p:spPr bwMode="auto">
          <a:xfrm>
            <a:off x="939320" y="2385828"/>
            <a:ext cx="6062662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任意数值（支持覆写和不覆写，类似队列）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9" name="文本框 9"/>
          <p:cNvSpPr txBox="1">
            <a:spLocks noChangeArrowheads="1"/>
          </p:cNvSpPr>
          <p:nvPr/>
        </p:nvSpPr>
        <p:spPr bwMode="auto">
          <a:xfrm>
            <a:off x="583573" y="2736062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zh-CN" altLang="en-US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任务通知状态</a:t>
            </a:r>
            <a:endParaRPr lang="en-US" altLang="zh-CN" b="1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20" name="文本框 14"/>
          <p:cNvSpPr txBox="1">
            <a:spLocks noChangeArrowheads="1"/>
          </p:cNvSpPr>
          <p:nvPr/>
        </p:nvSpPr>
        <p:spPr bwMode="auto">
          <a:xfrm>
            <a:off x="907423" y="3183737"/>
            <a:ext cx="6064250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其中任务通知状态共有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种取值：</a:t>
            </a:r>
            <a:endParaRPr lang="zh-CN" altLang="en-US" sz="1400"/>
          </a:p>
        </p:txBody>
      </p:sp>
      <p:grpSp>
        <p:nvGrpSpPr>
          <p:cNvPr id="21" name="组合 9"/>
          <p:cNvGrpSpPr/>
          <p:nvPr/>
        </p:nvGrpSpPr>
        <p:grpSpPr bwMode="auto">
          <a:xfrm>
            <a:off x="970922" y="3658400"/>
            <a:ext cx="9698850" cy="1227137"/>
            <a:chOff x="471269" y="1573838"/>
            <a:chExt cx="7006280" cy="1226583"/>
          </a:xfrm>
        </p:grpSpPr>
        <p:sp>
          <p:nvSpPr>
            <p:cNvPr id="22" name="文本框 1"/>
            <p:cNvSpPr txBox="1">
              <a:spLocks noChangeArrowheads="1"/>
            </p:cNvSpPr>
            <p:nvPr/>
          </p:nvSpPr>
          <p:spPr bwMode="auto">
            <a:xfrm>
              <a:off x="471271" y="1573838"/>
              <a:ext cx="6925630" cy="382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4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#define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taskNOT_WAITING_NOTIFICATION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	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( ( uint8_t ) 0 )		 /* </a:t>
              </a:r>
              <a:r>
                <a:rPr lang="zh-CN" altLang="en-US" sz="14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任务未等待通知 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*/</a:t>
              </a:r>
              <a:endParaRPr lang="zh-CN" altLang="en-US" sz="14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23" name="文本框 6"/>
            <p:cNvSpPr txBox="1">
              <a:spLocks noChangeArrowheads="1"/>
            </p:cNvSpPr>
            <p:nvPr/>
          </p:nvSpPr>
          <p:spPr bwMode="auto">
            <a:xfrm>
              <a:off x="471269" y="1992672"/>
              <a:ext cx="6871865" cy="4138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4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#define 	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taskWAITING_NOTIFICATION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( ( uint8_t ) 1 )		 /* </a:t>
              </a:r>
              <a:r>
                <a:rPr lang="zh-CN" altLang="en-US" sz="14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任务在等待通知 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*/</a:t>
              </a:r>
              <a:endParaRPr lang="zh-CN" altLang="en-US" sz="1400" dirty="0">
                <a:solidFill>
                  <a:srgbClr val="C00000"/>
                </a:solidFill>
              </a:endParaRPr>
            </a:p>
          </p:txBody>
        </p:sp>
        <p:sp>
          <p:nvSpPr>
            <p:cNvPr id="24" name="文本框 7"/>
            <p:cNvSpPr txBox="1">
              <a:spLocks noChangeArrowheads="1"/>
            </p:cNvSpPr>
            <p:nvPr/>
          </p:nvSpPr>
          <p:spPr bwMode="auto">
            <a:xfrm>
              <a:off x="471269" y="2374764"/>
              <a:ext cx="6783537" cy="4138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4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#define 	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taskNOTIFICATION_RECEIVED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  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( ( uint8_t ) 2 )		 /* </a:t>
              </a:r>
              <a:r>
                <a:rPr lang="zh-CN" altLang="en-US" sz="14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任务在等待接收 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*/</a:t>
              </a:r>
              <a:endParaRPr lang="zh-CN" altLang="en-US" sz="1400" dirty="0">
                <a:solidFill>
                  <a:srgbClr val="C00000"/>
                </a:solidFill>
              </a:endParaRPr>
            </a:p>
          </p:txBody>
        </p:sp>
        <p:sp>
          <p:nvSpPr>
            <p:cNvPr id="25" name="矩形 24"/>
            <p:cNvSpPr/>
            <p:nvPr/>
          </p:nvSpPr>
          <p:spPr>
            <a:xfrm>
              <a:off x="471270" y="1621441"/>
              <a:ext cx="7006279" cy="1178980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26" name="文本框 25"/>
          <p:cNvSpPr txBox="1">
            <a:spLocks noChangeArrowheads="1"/>
          </p:cNvSpPr>
          <p:nvPr/>
        </p:nvSpPr>
        <p:spPr bwMode="auto">
          <a:xfrm>
            <a:off x="907423" y="5707862"/>
            <a:ext cx="75326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等待通知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：接收方已经准备好了（调用了接收任务通知函数），等待发送方给个通知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7" name="文本框 26"/>
          <p:cNvSpPr txBox="1">
            <a:spLocks noChangeArrowheads="1"/>
          </p:cNvSpPr>
          <p:nvPr/>
        </p:nvSpPr>
        <p:spPr bwMode="auto">
          <a:xfrm>
            <a:off x="907423" y="6215862"/>
            <a:ext cx="67564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等待接收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：发送方已经发送出去（调用了发送任务通知函数），等待接收方接收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8" name="文本框 27"/>
          <p:cNvSpPr txBox="1">
            <a:spLocks noChangeArrowheads="1"/>
          </p:cNvSpPr>
          <p:nvPr/>
        </p:nvSpPr>
        <p:spPr bwMode="auto">
          <a:xfrm>
            <a:off x="907423" y="5204625"/>
            <a:ext cx="41036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任务未等待通知 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：任务通知默认的初始化状态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20" grpId="0"/>
      <p:bldP spid="26" grpId="0"/>
      <p:bldP spid="27" grpId="0"/>
      <p:bldP spid="28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79167" y="797738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2"/>
          <p:cNvSpPr txBox="1">
            <a:spLocks noChangeArrowheads="1"/>
          </p:cNvSpPr>
          <p:nvPr/>
        </p:nvSpPr>
        <p:spPr bwMode="auto">
          <a:xfrm>
            <a:off x="568104" y="1358126"/>
            <a:ext cx="80708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任务通知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函数主要有两类：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①发送通知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②接收通知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0" name="文本框 7"/>
          <p:cNvSpPr txBox="1">
            <a:spLocks noChangeArrowheads="1"/>
          </p:cNvSpPr>
          <p:nvPr/>
        </p:nvSpPr>
        <p:spPr bwMode="auto">
          <a:xfrm>
            <a:off x="568104" y="1761351"/>
            <a:ext cx="792321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注意：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发送通知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函数可以用于任务和中断服务函数中；接收通知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函数只能用在任务中。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1" name="表格 9"/>
          <p:cNvGraphicFramePr>
            <a:graphicFrameLocks noGrp="1"/>
          </p:cNvGraphicFramePr>
          <p:nvPr/>
        </p:nvGraphicFramePr>
        <p:xfrm>
          <a:off x="623667" y="2574151"/>
          <a:ext cx="5489575" cy="23240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1988"/>
                <a:gridCol w="2937587"/>
              </a:tblGrid>
              <a:tr h="30486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函数</a:t>
                      </a:r>
                      <a:endParaRPr lang="zh-CN" altLang="en-US" sz="14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3" marR="91453" marT="45736" marB="4573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4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3" marR="91453" marT="45736" marB="45736"/>
                </a:tc>
              </a:tr>
              <a:tr h="286686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xTaskNotify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3" marR="91453" marT="45736" marB="45736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发送通知，带有通知值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3" marR="91453" marT="45736" marB="45736" anchor="ctr"/>
                </a:tc>
              </a:tr>
              <a:tr h="426872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xTaskNotifyAndQuery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3" marR="91453" marT="45736" marB="45736"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发送通知，带有通知值并且保留接收任务的原通知值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3" marR="91453" marT="45736" marB="45736" anchor="ctr"/>
                </a:tc>
              </a:tr>
              <a:tr h="29349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xTaskNotifyGive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3" marR="91453" marT="45736" marB="45736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发送通知，不带通知值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3" marR="91453" marT="45736" marB="45736" anchor="ctr"/>
                </a:tc>
              </a:tr>
              <a:tr h="2972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xTaskNotifyFromISR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3" marR="91453" marT="45736" marB="45736" anchor="ctr"/>
                </a:tc>
                <a:tc rowSpan="3"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在中断中发送任务通知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3" marR="91453" marT="45736" marB="45736" anchor="ctr"/>
                </a:tc>
              </a:tr>
              <a:tr h="421428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xTaskNotifyAndQueryFromISR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3" marR="91453" marT="45736" marB="45736" anchor="ctr"/>
                </a:tc>
                <a:tc vMerge="1">
                  <a:tcPr/>
                </a:tc>
              </a:tr>
              <a:tr h="29349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vTaskNotifyGiveFromISR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3" marR="91453" marT="45736" marB="45736" anchor="ctr"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2" name="文本框 13"/>
          <p:cNvSpPr txBox="1">
            <a:spLocks noChangeArrowheads="1"/>
          </p:cNvSpPr>
          <p:nvPr/>
        </p:nvSpPr>
        <p:spPr bwMode="auto">
          <a:xfrm>
            <a:off x="568104" y="2209026"/>
            <a:ext cx="46180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①发送通知相关</a:t>
            </a:r>
            <a:r>
              <a:rPr lang="en-US" altLang="zh-CN" sz="1400" b="1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 b="1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函数：</a:t>
            </a:r>
            <a:endParaRPr lang="zh-CN" altLang="en-US" sz="1400" b="1">
              <a:solidFill>
                <a:srgbClr val="FF0000"/>
              </a:solidFill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7288619" y="2905335"/>
            <a:ext cx="4736804" cy="32651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A626A4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void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</a:t>
            </a:r>
            <a:r>
              <a:rPr lang="en-US" altLang="zh-CN" sz="1100" b="0" dirty="0" err="1">
                <a:solidFill>
                  <a:srgbClr val="4078F2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USART_IRQHandler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(</a:t>
            </a:r>
            <a:r>
              <a:rPr lang="en-US" altLang="zh-CN" sz="1100" b="0" dirty="0">
                <a:solidFill>
                  <a:srgbClr val="A626A4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void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)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{</a:t>
            </a:r>
            <a:endParaRPr lang="en-US" altLang="zh-CN" sz="1100" b="0" dirty="0">
              <a:solidFill>
                <a:srgbClr val="0F1115"/>
              </a:solidFill>
              <a:effectLst/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   </a:t>
            </a:r>
            <a:r>
              <a:rPr lang="en-US" altLang="zh-CN" sz="1100" b="0" dirty="0" err="1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BaseType_t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</a:t>
            </a:r>
            <a:r>
              <a:rPr lang="en-US" altLang="zh-CN" sz="1100" b="0" dirty="0" err="1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xHigherPriorityTaskWoken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</a:t>
            </a:r>
            <a:r>
              <a:rPr lang="en-US" altLang="zh-CN" sz="1100" b="0" dirty="0">
                <a:solidFill>
                  <a:srgbClr val="4078F2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=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</a:t>
            </a:r>
            <a:r>
              <a:rPr lang="en-US" altLang="zh-CN" sz="1100" b="0" dirty="0" err="1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pdFALSE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;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</a:t>
            </a:r>
            <a:r>
              <a:rPr lang="en-US" altLang="zh-CN" sz="1100" b="0" i="1" dirty="0">
                <a:solidFill>
                  <a:srgbClr val="A0A1A7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// </a:t>
            </a:r>
            <a:r>
              <a:rPr lang="zh-CN" altLang="en-US" sz="1100" b="0" i="1" dirty="0">
                <a:solidFill>
                  <a:srgbClr val="A0A1A7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先初始化为 </a:t>
            </a:r>
            <a:r>
              <a:rPr lang="en-US" altLang="zh-CN" sz="1100" b="0" i="1" dirty="0" err="1">
                <a:solidFill>
                  <a:srgbClr val="A0A1A7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pdFALSE</a:t>
            </a:r>
            <a:endParaRPr lang="en-US" altLang="zh-CN" sz="1100" b="0" dirty="0">
              <a:solidFill>
                <a:srgbClr val="0F1115"/>
              </a:solidFill>
              <a:effectLst/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altLang="zh-CN" sz="1100" b="0" dirty="0">
              <a:solidFill>
                <a:srgbClr val="0F1115"/>
              </a:solidFill>
              <a:effectLst/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   </a:t>
            </a:r>
            <a:r>
              <a:rPr lang="en-US" altLang="zh-CN" sz="1100" b="0" i="1" dirty="0">
                <a:solidFill>
                  <a:srgbClr val="A0A1A7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// ... </a:t>
            </a:r>
            <a:r>
              <a:rPr lang="zh-CN" altLang="en-US" sz="1100" b="0" i="1" dirty="0">
                <a:solidFill>
                  <a:srgbClr val="A0A1A7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处理</a:t>
            </a:r>
            <a:r>
              <a:rPr lang="en-US" altLang="zh-CN" sz="1100" b="0" i="1" dirty="0">
                <a:solidFill>
                  <a:srgbClr val="A0A1A7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USART</a:t>
            </a:r>
            <a:r>
              <a:rPr lang="zh-CN" altLang="en-US" sz="1100" b="0" i="1" dirty="0">
                <a:solidFill>
                  <a:srgbClr val="A0A1A7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中断，比如收到数据 </a:t>
            </a:r>
            <a:r>
              <a:rPr lang="en-US" altLang="zh-CN" sz="1100" b="0" i="1" dirty="0">
                <a:solidFill>
                  <a:srgbClr val="A0A1A7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...</a:t>
            </a:r>
            <a:endParaRPr lang="zh-CN" altLang="en-US" sz="1100" b="0" dirty="0">
              <a:solidFill>
                <a:srgbClr val="0F1115"/>
              </a:solidFill>
              <a:effectLst/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latinLnBrk="1">
              <a:lnSpc>
                <a:spcPts val="1650"/>
              </a:lnSpc>
              <a:buNone/>
            </a:pPr>
            <a:endParaRPr lang="zh-CN" altLang="en-US" sz="1100" b="0" dirty="0">
              <a:solidFill>
                <a:srgbClr val="0F1115"/>
              </a:solidFill>
              <a:effectLst/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   </a:t>
            </a:r>
            <a:r>
              <a:rPr lang="en-US" altLang="zh-CN" sz="1100" b="0" i="1" dirty="0">
                <a:solidFill>
                  <a:srgbClr val="A0A1A7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// </a:t>
            </a:r>
            <a:r>
              <a:rPr lang="zh-CN" altLang="en-US" sz="1100" b="0" i="1" dirty="0">
                <a:solidFill>
                  <a:srgbClr val="A0A1A7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通知任务数据已准备好</a:t>
            </a:r>
            <a:endParaRPr lang="zh-CN" altLang="en-US" sz="1100" b="0" dirty="0">
              <a:solidFill>
                <a:srgbClr val="0F1115"/>
              </a:solidFill>
              <a:effectLst/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   </a:t>
            </a:r>
            <a:r>
              <a:rPr lang="en-US" altLang="zh-CN" sz="1100" b="0" dirty="0" err="1">
                <a:solidFill>
                  <a:srgbClr val="4078F2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xTaskNotifyFromISR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(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</a:t>
            </a:r>
            <a:r>
              <a:rPr lang="en-US" altLang="zh-CN" sz="1100" b="0" dirty="0" err="1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xHighPriorityTaskHandle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,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</a:t>
            </a:r>
            <a:endParaRPr lang="en-US" altLang="zh-CN" sz="1100" b="0" dirty="0">
              <a:solidFill>
                <a:srgbClr val="0F1115"/>
              </a:solidFill>
              <a:effectLst/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                       </a:t>
            </a:r>
            <a:r>
              <a:rPr lang="en-US" altLang="zh-CN" sz="1100" b="0" dirty="0">
                <a:solidFill>
                  <a:srgbClr val="B76B01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0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,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</a:t>
            </a:r>
            <a:endParaRPr lang="en-US" altLang="zh-CN" sz="1100" b="0" dirty="0">
              <a:solidFill>
                <a:srgbClr val="0F1115"/>
              </a:solidFill>
              <a:effectLst/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                       </a:t>
            </a:r>
            <a:r>
              <a:rPr lang="en-US" altLang="zh-CN" sz="1100" b="0" dirty="0" err="1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eNoAction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,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</a:t>
            </a:r>
            <a:endParaRPr lang="en-US" altLang="zh-CN" sz="1100" b="0" dirty="0">
              <a:solidFill>
                <a:srgbClr val="0F1115"/>
              </a:solidFill>
              <a:effectLst/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                       </a:t>
            </a:r>
            <a:r>
              <a:rPr lang="en-US" altLang="zh-CN" sz="1100" b="0" dirty="0">
                <a:solidFill>
                  <a:srgbClr val="4078F2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&amp;</a:t>
            </a:r>
            <a:r>
              <a:rPr lang="en-US" altLang="zh-CN" sz="1100" b="0" dirty="0" err="1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xHigherPriorityTaskWoken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);</a:t>
            </a:r>
            <a:endParaRPr lang="en-US" altLang="zh-CN" sz="1100" b="0" dirty="0">
              <a:solidFill>
                <a:srgbClr val="0F1115"/>
              </a:solidFill>
              <a:effectLst/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altLang="zh-CN" sz="1100" b="0" dirty="0">
              <a:solidFill>
                <a:srgbClr val="0F1115"/>
              </a:solidFill>
              <a:effectLst/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   </a:t>
            </a:r>
            <a:r>
              <a:rPr lang="en-US" altLang="zh-CN" sz="1100" b="0" i="1" dirty="0">
                <a:solidFill>
                  <a:srgbClr val="A0A1A7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// </a:t>
            </a:r>
            <a:r>
              <a:rPr lang="zh-CN" altLang="en-US" sz="1100" b="0" i="1" dirty="0">
                <a:solidFill>
                  <a:srgbClr val="A0A1A7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检查是否需要触发一次上下文切换</a:t>
            </a:r>
            <a:endParaRPr lang="zh-CN" altLang="en-US" sz="1100" b="0" dirty="0">
              <a:solidFill>
                <a:srgbClr val="0F1115"/>
              </a:solidFill>
              <a:effectLst/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sz="1100" b="0" dirty="0">
                <a:solidFill>
                  <a:srgbClr val="0F1115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   </a:t>
            </a:r>
            <a:r>
              <a:rPr lang="en-US" altLang="zh-CN" sz="1100" b="0" dirty="0" err="1">
                <a:solidFill>
                  <a:srgbClr val="FF0000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portYIELD_FROM_ISR</a:t>
            </a:r>
            <a:r>
              <a:rPr lang="en-US" altLang="zh-CN" sz="1100" b="0" dirty="0">
                <a:solidFill>
                  <a:srgbClr val="FF0000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( </a:t>
            </a:r>
            <a:r>
              <a:rPr lang="en-US" altLang="zh-CN" sz="1100" b="0" dirty="0" err="1">
                <a:solidFill>
                  <a:srgbClr val="FF0000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xHigherPriorityTaskWoken</a:t>
            </a:r>
            <a:r>
              <a:rPr lang="en-US" altLang="zh-CN" sz="1100" b="0" dirty="0">
                <a:solidFill>
                  <a:srgbClr val="FF0000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);</a:t>
            </a:r>
            <a:endParaRPr lang="en-US" altLang="zh-CN" sz="1100" b="0" dirty="0">
              <a:solidFill>
                <a:srgbClr val="FF0000"/>
              </a:solidFill>
              <a:effectLst/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383A42"/>
                </a:solidFill>
                <a:effectLst/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}</a:t>
            </a:r>
            <a:endParaRPr lang="en-US" altLang="zh-CN" sz="1100" b="0" dirty="0">
              <a:solidFill>
                <a:srgbClr val="0F1115"/>
              </a:solidFill>
              <a:effectLst/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15" name="箭头: 右 14"/>
          <p:cNvSpPr/>
          <p:nvPr/>
        </p:nvSpPr>
        <p:spPr>
          <a:xfrm>
            <a:off x="6113242" y="4316819"/>
            <a:ext cx="1175377" cy="7974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480128" y="5403075"/>
            <a:ext cx="64523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ea typeface="思源黑体 CN Normal" pitchFamily="34" charset="-122"/>
              </a:rPr>
              <a:t>ISR</a:t>
            </a:r>
            <a:r>
              <a:rPr lang="zh-CN" altLang="en-US" sz="1400" dirty="0">
                <a:solidFill>
                  <a:srgbClr val="002060"/>
                </a:solidFill>
                <a:ea typeface="思源黑体 CN Normal" pitchFamily="34" charset="-122"/>
              </a:rPr>
              <a:t>函数即将退出时，你需要检查这个变量的值。如果它是 </a:t>
            </a:r>
            <a:r>
              <a:rPr lang="en-US" altLang="zh-CN" sz="1400" dirty="0" err="1">
                <a:solidFill>
                  <a:srgbClr val="002060"/>
                </a:solidFill>
                <a:ea typeface="思源黑体 CN Normal" pitchFamily="34" charset="-122"/>
              </a:rPr>
              <a:t>pdTRUE</a:t>
            </a:r>
            <a:r>
              <a:rPr lang="zh-CN" altLang="en-US" sz="1400" dirty="0">
                <a:solidFill>
                  <a:srgbClr val="002060"/>
                </a:solidFill>
                <a:ea typeface="思源黑体 CN Normal" pitchFamily="34" charset="-122"/>
              </a:rPr>
              <a:t>，你就需要调用 </a:t>
            </a:r>
            <a:r>
              <a:rPr lang="en-US" altLang="zh-CN" sz="1400" dirty="0" err="1">
                <a:solidFill>
                  <a:srgbClr val="002060"/>
                </a:solidFill>
                <a:ea typeface="思源黑体 CN Normal" pitchFamily="34" charset="-122"/>
              </a:rPr>
              <a:t>portYIELD_FROM_ISR</a:t>
            </a:r>
            <a:r>
              <a:rPr lang="en-US" altLang="zh-CN" sz="1400" dirty="0">
                <a:solidFill>
                  <a:srgbClr val="002060"/>
                </a:solidFill>
                <a:ea typeface="思源黑体 CN Normal" pitchFamily="34" charset="-122"/>
              </a:rPr>
              <a:t>()</a:t>
            </a:r>
            <a:r>
              <a:rPr lang="zh-CN" altLang="en-US" sz="1400" dirty="0">
                <a:solidFill>
                  <a:srgbClr val="002060"/>
                </a:solidFill>
                <a:ea typeface="思源黑体 CN Normal" pitchFamily="34" charset="-122"/>
              </a:rPr>
              <a:t> 来请求一次上下文切换。这样，一旦中断结束，系统会立即切换到那个更高优先级的任务，而不是回到被中断的任务。</a:t>
            </a:r>
            <a:endParaRPr lang="zh-CN" altLang="en-US" sz="1400" dirty="0">
              <a:solidFill>
                <a:srgbClr val="002060"/>
              </a:solidFill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865654" y="866848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pSp>
        <p:nvGrpSpPr>
          <p:cNvPr id="9" name="组合 15"/>
          <p:cNvGrpSpPr/>
          <p:nvPr/>
        </p:nvGrpSpPr>
        <p:grpSpPr bwMode="auto">
          <a:xfrm>
            <a:off x="1056154" y="1330398"/>
            <a:ext cx="9889230" cy="1990725"/>
            <a:chOff x="295564" y="1242657"/>
            <a:chExt cx="9887629" cy="1989969"/>
          </a:xfrm>
        </p:grpSpPr>
        <p:sp>
          <p:nvSpPr>
            <p:cNvPr id="10" name="文本框 7"/>
            <p:cNvSpPr txBox="1">
              <a:spLocks noChangeArrowheads="1"/>
            </p:cNvSpPr>
            <p:nvPr/>
          </p:nvSpPr>
          <p:spPr bwMode="auto">
            <a:xfrm>
              <a:off x="311193" y="1242657"/>
              <a:ext cx="9426657" cy="17210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#define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xTaskNotifyAndQuery( xTaskToNotify ,  ulValue ,  eAction ,  pulPreviousNotifyValue  )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xTaskGenericNotify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( xTaskToNotify ), 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tskDEFAULT_INDEX_TO_NOTIFY ), 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ulValue ), 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eAction ),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pulPreviousNotifyValue ) )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295564" y="1255352"/>
              <a:ext cx="9887629" cy="1977274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pSp>
        <p:nvGrpSpPr>
          <p:cNvPr id="12" name="组合 18"/>
          <p:cNvGrpSpPr/>
          <p:nvPr/>
        </p:nvGrpSpPr>
        <p:grpSpPr bwMode="auto">
          <a:xfrm>
            <a:off x="1072028" y="3413197"/>
            <a:ext cx="10267913" cy="1137536"/>
            <a:chOff x="295564" y="3283172"/>
            <a:chExt cx="8996363" cy="1136504"/>
          </a:xfrm>
        </p:grpSpPr>
        <p:sp>
          <p:nvSpPr>
            <p:cNvPr id="13" name="文本框 12"/>
            <p:cNvSpPr txBox="1">
              <a:spLocks noChangeArrowheads="1"/>
            </p:cNvSpPr>
            <p:nvPr/>
          </p:nvSpPr>
          <p:spPr bwMode="auto">
            <a:xfrm>
              <a:off x="295564" y="3283172"/>
              <a:ext cx="8996363" cy="6176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#define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xTaskNotify  (  xTaskToNotify ,  ulValue ,  eAction  )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xTaskGenericNotify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 ( xTaskToNotify ) ,  ( tskDEFAULT_INDEX_TO_NOTIFY ) ,  ( ulValue ) ,  ( eAction ) ,  NULL  )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295564" y="3283172"/>
              <a:ext cx="8664576" cy="1136504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pSp>
        <p:nvGrpSpPr>
          <p:cNvPr id="15" name="组合 19"/>
          <p:cNvGrpSpPr/>
          <p:nvPr/>
        </p:nvGrpSpPr>
        <p:grpSpPr bwMode="auto">
          <a:xfrm>
            <a:off x="1029726" y="4641519"/>
            <a:ext cx="9957717" cy="1317145"/>
            <a:chOff x="269135" y="4441386"/>
            <a:chExt cx="9958045" cy="1319077"/>
          </a:xfrm>
        </p:grpSpPr>
        <p:sp>
          <p:nvSpPr>
            <p:cNvPr id="16" name="文本框 14"/>
            <p:cNvSpPr txBox="1">
              <a:spLocks noChangeArrowheads="1"/>
            </p:cNvSpPr>
            <p:nvPr/>
          </p:nvSpPr>
          <p:spPr bwMode="auto">
            <a:xfrm>
              <a:off x="311196" y="4541769"/>
              <a:ext cx="9915984" cy="6145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#define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xTaskNotifyGive(  xTaskToNotify 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	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xTaskGenericNotify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 ( xTaskToNotify ) ,  ( tskDEFAULT_INDEX_TO_NOTIFY ) ,  ( 0 ) ,   eIncrement ,  NULL )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>
            <a:xfrm>
              <a:off x="269135" y="4441386"/>
              <a:ext cx="9915984" cy="1319077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22814" y="178356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015585" y="645190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pSp>
        <p:nvGrpSpPr>
          <p:cNvPr id="9" name="组合 9"/>
          <p:cNvGrpSpPr/>
          <p:nvPr/>
        </p:nvGrpSpPr>
        <p:grpSpPr bwMode="auto">
          <a:xfrm>
            <a:off x="1479135" y="1167477"/>
            <a:ext cx="9734290" cy="1710253"/>
            <a:chOff x="600364" y="1086401"/>
            <a:chExt cx="7920181" cy="1485349"/>
          </a:xfrm>
        </p:grpSpPr>
        <p:sp>
          <p:nvSpPr>
            <p:cNvPr id="10" name="文本框 7"/>
            <p:cNvSpPr txBox="1">
              <a:spLocks noChangeArrowheads="1"/>
            </p:cNvSpPr>
            <p:nvPr/>
          </p:nvSpPr>
          <p:spPr bwMode="auto">
            <a:xfrm>
              <a:off x="623454" y="1086401"/>
              <a:ext cx="7897091" cy="12547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BaseType_t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xTaskGenericNotify(  TaskHandle_t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xTaskToNotify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             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UBaseType_t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uxIndexToNotify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             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uint32_t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ulValue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             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eNotifyAction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eAction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            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uint32_t *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pulPreviousNotificationValue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)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600364" y="1086401"/>
              <a:ext cx="7804314" cy="1485349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aphicFrame>
        <p:nvGraphicFramePr>
          <p:cNvPr id="12" name="表格 13"/>
          <p:cNvGraphicFramePr>
            <a:graphicFrameLocks noGrp="1"/>
          </p:cNvGraphicFramePr>
          <p:nvPr/>
        </p:nvGraphicFramePr>
        <p:xfrm>
          <a:off x="2789814" y="2949731"/>
          <a:ext cx="6130925" cy="1554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811"/>
                <a:gridCol w="3487114"/>
              </a:tblGrid>
              <a:tr h="25902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形参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4" marR="91444" marT="45694" marB="4569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4" marR="91444" marT="45694" marB="45694"/>
                </a:tc>
              </a:tr>
              <a:tr h="259027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xTaskToNotify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4" marR="91444" marT="45694" marB="4569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接收任务通知的</a:t>
                      </a:r>
                      <a:r>
                        <a:rPr lang="zh-CN" altLang="en-US" sz="1100" b="1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任务句柄</a:t>
                      </a:r>
                      <a:endParaRPr lang="zh-CN" altLang="en-US" sz="1300" b="1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4" marR="91444" marT="45694" marB="45694" anchor="ctr"/>
                </a:tc>
              </a:tr>
              <a:tr h="259027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uxIndexToNotify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4" marR="91444" marT="45694" marB="4569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任务的指定通知（任务通知相关数组成员）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4" marR="91444" marT="45694" marB="45694" anchor="ctr"/>
                </a:tc>
              </a:tr>
              <a:tr h="259027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ulValue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4" marR="91444" marT="45694" marB="4569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1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任务通知值</a:t>
                      </a:r>
                      <a:endParaRPr lang="zh-CN" altLang="en-US" sz="1300" b="1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4" marR="91444" marT="45694" marB="45694" anchor="ctr"/>
                </a:tc>
              </a:tr>
              <a:tr h="259027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eAction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4" marR="91444" marT="45694" marB="4569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通知方式（通知值更新方式）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4" marR="91444" marT="45694" marB="45694" anchor="ctr"/>
                </a:tc>
              </a:tr>
              <a:tr h="259027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pulPreviousNotificationValue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4" marR="91444" marT="45694" marB="4569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用于保存更新前的任务通知值（为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NULL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则不保存）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4" marR="91444" marT="45694" marB="45694" anchor="ctr"/>
                </a:tc>
              </a:tr>
            </a:tbl>
          </a:graphicData>
        </a:graphic>
      </p:graphicFrame>
      <p:grpSp>
        <p:nvGrpSpPr>
          <p:cNvPr id="15" name="组合 2"/>
          <p:cNvGrpSpPr/>
          <p:nvPr/>
        </p:nvGrpSpPr>
        <p:grpSpPr bwMode="auto">
          <a:xfrm>
            <a:off x="2498898" y="4575900"/>
            <a:ext cx="7809984" cy="2287588"/>
            <a:chOff x="655782" y="1500181"/>
            <a:chExt cx="7807647" cy="2286728"/>
          </a:xfrm>
        </p:grpSpPr>
        <p:sp>
          <p:nvSpPr>
            <p:cNvPr id="16" name="文本框 14"/>
            <p:cNvSpPr txBox="1">
              <a:spLocks noChangeArrowheads="1"/>
            </p:cNvSpPr>
            <p:nvPr/>
          </p:nvSpPr>
          <p:spPr bwMode="auto">
            <a:xfrm>
              <a:off x="677522" y="1500181"/>
              <a:ext cx="7785907" cy="22748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typedef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enum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{    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eNoAction = 0,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无操作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eSetBits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更新指定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bit */</a:t>
              </a:r>
              <a:endParaRPr lang="en-US" altLang="zh-CN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eIncrement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通知值加一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eSetValueWithOverwrite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覆写的方式更新通知值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eSetValueWithoutOverwrite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不覆写通知值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} eNotifyAction;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>
            <a:xfrm>
              <a:off x="655782" y="1500181"/>
              <a:ext cx="6718135" cy="2286728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450126" y="1441007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9" name="表格 9"/>
          <p:cNvGraphicFramePr>
            <a:graphicFrameLocks noGrp="1"/>
          </p:cNvGraphicFramePr>
          <p:nvPr/>
        </p:nvGraphicFramePr>
        <p:xfrm>
          <a:off x="1932726" y="2330007"/>
          <a:ext cx="7877175" cy="18700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8949"/>
                <a:gridCol w="5918226"/>
              </a:tblGrid>
              <a:tr h="30479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函数</a:t>
                      </a:r>
                      <a:endParaRPr lang="zh-CN" altLang="en-US" sz="14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7" marR="91427" marT="45715" marB="45715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4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7" marR="91427" marT="45715" marB="45715"/>
                </a:tc>
              </a:tr>
              <a:tr h="1022727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ulTaskNotifyTake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7" marR="91427" marT="45715" marB="4571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获取任务通知，可以设置在退出此函数的时候将任务通知值清零或者减一。</a:t>
                      </a:r>
                      <a:endParaRPr lang="en-US" altLang="zh-CN" sz="1200" b="0" i="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当任务通知用作</a:t>
                      </a:r>
                      <a:r>
                        <a:rPr lang="zh-CN" altLang="en-US" sz="1200" b="1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二值信号量</a:t>
                      </a:r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或者</a:t>
                      </a:r>
                      <a:r>
                        <a:rPr lang="zh-CN" altLang="en-US" sz="1200" b="1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计数信号量</a:t>
                      </a:r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的时候，使用此函数来获取信号量。</a:t>
                      </a:r>
                      <a:endParaRPr lang="zh-CN" altLang="en-US" sz="16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7" marR="91427" marT="45715" marB="45715" anchor="ctr"/>
                </a:tc>
              </a:tr>
              <a:tr h="542558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xTaskNotifyWait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7" marR="91427" marT="45715" marB="4571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获取任务通知，比 </a:t>
                      </a:r>
                      <a:r>
                        <a:rPr lang="en-US" altLang="zh-CN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ulTaskNotifyTak</a:t>
                      </a:r>
                      <a:r>
                        <a:rPr lang="en-US" altLang="zh-CN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</a:t>
                      </a:r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更为复杂，可获取通知值和清除通知值的指定位</a:t>
                      </a:r>
                      <a:endParaRPr lang="zh-CN" altLang="en-US" sz="16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7" marR="91427" marT="45715" marB="45715" anchor="ctr"/>
                </a:tc>
              </a:tr>
            </a:tbl>
          </a:graphicData>
        </a:graphic>
      </p:graphicFrame>
      <p:sp>
        <p:nvSpPr>
          <p:cNvPr id="10" name="文本框 13"/>
          <p:cNvSpPr txBox="1">
            <a:spLocks noChangeArrowheads="1"/>
          </p:cNvSpPr>
          <p:nvPr/>
        </p:nvSpPr>
        <p:spPr bwMode="auto">
          <a:xfrm>
            <a:off x="1820013" y="1963295"/>
            <a:ext cx="46196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②接收通知相关</a:t>
            </a:r>
            <a:r>
              <a:rPr lang="en-US" altLang="zh-CN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函数：</a:t>
            </a:r>
            <a:endParaRPr lang="zh-CN" altLang="en-US" sz="1400" b="1" dirty="0">
              <a:solidFill>
                <a:srgbClr val="FF0000"/>
              </a:solidFill>
            </a:endParaRPr>
          </a:p>
        </p:txBody>
      </p:sp>
      <p:sp>
        <p:nvSpPr>
          <p:cNvPr id="11" name="文本框 10"/>
          <p:cNvSpPr txBox="1">
            <a:spLocks noChangeArrowheads="1"/>
          </p:cNvSpPr>
          <p:nvPr/>
        </p:nvSpPr>
        <p:spPr bwMode="auto">
          <a:xfrm>
            <a:off x="1932726" y="4482657"/>
            <a:ext cx="7239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总结：</a:t>
            </a:r>
            <a:endParaRPr lang="zh-CN" altLang="en-US" sz="140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" name="文本框 11"/>
          <p:cNvSpPr txBox="1">
            <a:spLocks noChangeArrowheads="1"/>
          </p:cNvSpPr>
          <p:nvPr/>
        </p:nvSpPr>
        <p:spPr bwMode="auto">
          <a:xfrm>
            <a:off x="1932726" y="4870007"/>
            <a:ext cx="5265737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当任务通知用作于信号量时，使用函数获取信号量：</a:t>
            </a:r>
            <a:r>
              <a:rPr lang="en-US" altLang="zh-CN" sz="12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ulTaskNotifyTake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()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" name="文本框 12"/>
          <p:cNvSpPr txBox="1">
            <a:spLocks noChangeArrowheads="1"/>
          </p:cNvSpPr>
          <p:nvPr/>
        </p:nvSpPr>
        <p:spPr bwMode="auto">
          <a:xfrm>
            <a:off x="1932726" y="5201795"/>
            <a:ext cx="5837237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当任务通知用作于事件标志组或队列时，使用此函数来获取：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en-US" altLang="zh-CN" sz="12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xTaskNotifyWait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()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2" name="文本框 9"/>
          <p:cNvSpPr txBox="1">
            <a:spLocks noChangeArrowheads="1"/>
          </p:cNvSpPr>
          <p:nvPr/>
        </p:nvSpPr>
        <p:spPr bwMode="auto">
          <a:xfrm>
            <a:off x="1583033" y="754911"/>
            <a:ext cx="3900487" cy="46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pSp>
        <p:nvGrpSpPr>
          <p:cNvPr id="3" name="组合 9"/>
          <p:cNvGrpSpPr/>
          <p:nvPr/>
        </p:nvGrpSpPr>
        <p:grpSpPr bwMode="auto">
          <a:xfrm>
            <a:off x="2046583" y="1420074"/>
            <a:ext cx="8889003" cy="1530462"/>
            <a:chOff x="600364" y="1086400"/>
            <a:chExt cx="8887383" cy="1951810"/>
          </a:xfrm>
        </p:grpSpPr>
        <p:sp>
          <p:nvSpPr>
            <p:cNvPr id="4" name="文本框 7"/>
            <p:cNvSpPr txBox="1">
              <a:spLocks noChangeArrowheads="1"/>
            </p:cNvSpPr>
            <p:nvPr/>
          </p:nvSpPr>
          <p:spPr bwMode="auto">
            <a:xfrm>
              <a:off x="623454" y="1086401"/>
              <a:ext cx="7897091" cy="18828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#define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ulTaskNotifyTake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xClearCountOnExit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,  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xTicksToWait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) 			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b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ulTaskGenericNotifyTake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tskDEFAULT_INDEX_TO_NOTIFY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),			</a:t>
              </a:r>
              <a:b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 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xClearCountOnExit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), 				</a:t>
              </a:r>
              <a:b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 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xTicksToWait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) ) 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600364" y="1086400"/>
              <a:ext cx="8887383" cy="1951810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aphicFrame>
        <p:nvGraphicFramePr>
          <p:cNvPr id="6" name="表格 13"/>
          <p:cNvGraphicFramePr>
            <a:graphicFrameLocks noGrp="1"/>
          </p:cNvGraphicFramePr>
          <p:nvPr/>
        </p:nvGraphicFramePr>
        <p:xfrm>
          <a:off x="3115155" y="3637701"/>
          <a:ext cx="5514975" cy="15176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4304"/>
                <a:gridCol w="3740671"/>
              </a:tblGrid>
              <a:tr h="31655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形参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607" marB="45607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607" marB="45607"/>
                </a:tc>
              </a:tr>
              <a:tr h="31655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uxIndexToWaitOn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607" marB="4560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任务的指定通知（任务通知相关数组成员）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607" marB="45607" anchor="ctr"/>
                </a:tc>
              </a:tr>
              <a:tr h="56798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xClearCountOnExit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607" marB="4560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指定在成功接收通知后，将通知值清零或减 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1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，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zh-CN" sz="1100" b="0" i="0" kern="120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pdTRUE</a:t>
                      </a: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：把通知值清零；</a:t>
                      </a:r>
                      <a:endParaRPr lang="zh-CN" altLang="en-US" sz="1100" b="0" i="0" kern="12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  <a:cs typeface="+mn-cs"/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zh-CN" sz="1100" b="0" i="0" kern="120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pdFALSE</a:t>
                      </a: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：把通知值减一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607" marB="45607" anchor="ctr"/>
                </a:tc>
              </a:tr>
              <a:tr h="31655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xTicksToWait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607" marB="4560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阻塞等待任务通知值的最大时间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607" marB="45607" anchor="ctr"/>
                </a:tc>
              </a:tr>
            </a:tbl>
          </a:graphicData>
        </a:graphic>
      </p:graphicFrame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3115155" y="5288701"/>
          <a:ext cx="5514975" cy="8588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4304"/>
                <a:gridCol w="3740671"/>
              </a:tblGrid>
              <a:tr h="31677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返回值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704" marB="45704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704" marB="45704"/>
                </a:tc>
              </a:tr>
              <a:tr h="271034">
                <a:tc>
                  <a:txBody>
                    <a:bodyPr/>
                    <a:lstStyle/>
                    <a:p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0 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704" marB="4570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接收失败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704" marB="45704" anchor="ctr"/>
                </a:tc>
              </a:tr>
              <a:tr h="271034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非 </a:t>
                      </a:r>
                      <a:r>
                        <a:rPr lang="en-US" altLang="zh-CN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0 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704" marB="4570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接收成功，返回任务通知的通知值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704" marB="45704" anchor="ctr"/>
                </a:tc>
              </a:tr>
            </a:tbl>
          </a:graphicData>
        </a:graphic>
      </p:graphicFrame>
      <p:sp>
        <p:nvSpPr>
          <p:cNvPr id="8" name="文本框 15"/>
          <p:cNvSpPr txBox="1">
            <a:spLocks noChangeArrowheads="1"/>
          </p:cNvSpPr>
          <p:nvPr/>
        </p:nvSpPr>
        <p:spPr bwMode="auto">
          <a:xfrm>
            <a:off x="2216187" y="3270508"/>
            <a:ext cx="76200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此函数用于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接收任务通知值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，可以设置在退出此函数的时候将任务通知值清零或者减一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598983" y="967858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pSp>
        <p:nvGrpSpPr>
          <p:cNvPr id="9" name="组合 9"/>
          <p:cNvGrpSpPr/>
          <p:nvPr/>
        </p:nvGrpSpPr>
        <p:grpSpPr bwMode="auto">
          <a:xfrm>
            <a:off x="1972045" y="1431408"/>
            <a:ext cx="8665830" cy="3363876"/>
            <a:chOff x="600364" y="1086400"/>
            <a:chExt cx="8665986" cy="3362617"/>
          </a:xfrm>
        </p:grpSpPr>
        <p:sp>
          <p:nvSpPr>
            <p:cNvPr id="10" name="文本框 7"/>
            <p:cNvSpPr txBox="1">
              <a:spLocks noChangeArrowheads="1"/>
            </p:cNvSpPr>
            <p:nvPr/>
          </p:nvSpPr>
          <p:spPr bwMode="auto">
            <a:xfrm>
              <a:off x="623454" y="1086401"/>
              <a:ext cx="7897091" cy="25834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#define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xTaskNotifyWait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(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ulBitsToClearOnEntry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, 			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	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ulBitsToClearOnExit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, 			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	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pulNotificationValue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, 			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	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xTicksToWait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) 				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xTaskGenericNotifyWait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( 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tskDEFAULT_INDEX_TO_NOTIFY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, 	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			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ulBitsToClearOnEntry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), 			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			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ulBitsToClearOnExit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), 						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pulNotificationValue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), 						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xTicksToWait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))</a:t>
              </a:r>
              <a:r>
                <a:rPr lang="en-US" altLang="zh-CN" sz="1200" dirty="0"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endParaRPr lang="zh-CN" altLang="en-US" sz="1200" dirty="0"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600364" y="1086400"/>
              <a:ext cx="8665986" cy="3362617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12" name="文本框 12"/>
          <p:cNvSpPr txBox="1">
            <a:spLocks noChangeArrowheads="1"/>
          </p:cNvSpPr>
          <p:nvPr/>
        </p:nvSpPr>
        <p:spPr bwMode="auto">
          <a:xfrm>
            <a:off x="1815696" y="4926068"/>
            <a:ext cx="8397875" cy="341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此函数用于获取通知值和清除通知值的指定位值，适用于</a:t>
            </a:r>
            <a:r>
              <a:rPr lang="zh-CN" altLang="en-US" sz="12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模拟队列和事件标志组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，使用该函数来获取任务通知 。 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3" name="文本框 9"/>
          <p:cNvSpPr txBox="1">
            <a:spLocks noChangeArrowheads="1"/>
          </p:cNvSpPr>
          <p:nvPr/>
        </p:nvSpPr>
        <p:spPr bwMode="auto">
          <a:xfrm>
            <a:off x="1322536" y="695325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pSp>
        <p:nvGrpSpPr>
          <p:cNvPr id="4" name="组合 9"/>
          <p:cNvGrpSpPr/>
          <p:nvPr/>
        </p:nvGrpSpPr>
        <p:grpSpPr bwMode="auto">
          <a:xfrm>
            <a:off x="1717823" y="1296988"/>
            <a:ext cx="9627115" cy="1753236"/>
            <a:chOff x="600364" y="1086400"/>
            <a:chExt cx="9627289" cy="1753291"/>
          </a:xfrm>
        </p:grpSpPr>
        <p:sp>
          <p:nvSpPr>
            <p:cNvPr id="5" name="文本框 7"/>
            <p:cNvSpPr txBox="1">
              <a:spLocks noChangeArrowheads="1"/>
            </p:cNvSpPr>
            <p:nvPr/>
          </p:nvSpPr>
          <p:spPr bwMode="auto">
            <a:xfrm>
              <a:off x="623453" y="1086401"/>
              <a:ext cx="9604200" cy="17532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 dirty="0" err="1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BaseType_t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    </a:t>
              </a:r>
              <a:r>
                <a:rPr lang="en-US" altLang="zh-CN" sz="1200" dirty="0" err="1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xTaskGenericNotifyWait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(</a:t>
              </a:r>
              <a:r>
                <a:rPr lang="en-US" altLang="zh-CN" sz="1200" dirty="0" err="1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UBaseType_t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uxIndexToWaitOn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			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uint32_t 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ulBitsToClearOnEntry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			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uint32_t 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ulBitsToClearOnExit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			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uint32_t 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* 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pulNotificationValue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			</a:t>
              </a:r>
              <a:r>
                <a:rPr lang="en-US" altLang="zh-CN" sz="1200" dirty="0" err="1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TickType_t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xTicksToWait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);</a:t>
              </a:r>
              <a:r>
                <a:rPr lang="en-US" altLang="zh-CN" sz="1200" dirty="0"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br>
                <a:rPr lang="en-US" altLang="zh-CN" sz="1200" dirty="0">
                  <a:latin typeface="思源黑体 CN Normal" pitchFamily="34" charset="-122"/>
                  <a:ea typeface="思源黑体 CN Normal" pitchFamily="34" charset="-122"/>
                </a:rPr>
              </a:br>
              <a:endParaRPr lang="zh-CN" altLang="en-US" sz="1200" dirty="0"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600364" y="1086400"/>
              <a:ext cx="7804291" cy="1485946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aphicFrame>
        <p:nvGraphicFramePr>
          <p:cNvPr id="7" name="表格 13"/>
          <p:cNvGraphicFramePr>
            <a:graphicFrameLocks noGrp="1"/>
          </p:cNvGraphicFramePr>
          <p:nvPr/>
        </p:nvGraphicFramePr>
        <p:xfrm>
          <a:off x="2580885" y="2921000"/>
          <a:ext cx="5894388" cy="19018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6371"/>
                <a:gridCol w="3998017"/>
              </a:tblGrid>
              <a:tr h="31697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形参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44" marB="45744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44" marB="45744"/>
                </a:tc>
              </a:tr>
              <a:tr h="31697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uxIndexToWaitOn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44" marB="4574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任务的指定通知（任务通知相关数组成员）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44" marB="45744" anchor="ctr"/>
                </a:tc>
              </a:tr>
              <a:tr h="31697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ulBitesToClearOnEntry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44" marB="4574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等待前清零指定任务通知值的比特位（旧值对应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bit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清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0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）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44" marB="45744" anchor="ctr"/>
                </a:tc>
              </a:tr>
              <a:tr h="31697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ulBitesToClearOnExit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44" marB="4574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成功等待后清零指定的任务通知值比特位（新值对应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bit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清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0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）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44" marB="45744" anchor="ctr"/>
                </a:tc>
              </a:tr>
              <a:tr h="31697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pulNotificationValue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44" marB="4574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用来取出通知值（如果不需要取出，可设为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NULL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）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44" marB="45744" anchor="ctr"/>
                </a:tc>
              </a:tr>
              <a:tr h="31697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xTicksToWait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44" marB="4574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阻塞等待任务通知值的最大时间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44" marB="45744" anchor="ctr"/>
                </a:tc>
              </a:tr>
            </a:tbl>
          </a:graphicData>
        </a:graphic>
      </p:graphicFrame>
      <p:graphicFrame>
        <p:nvGraphicFramePr>
          <p:cNvPr id="8" name="表格 7"/>
          <p:cNvGraphicFramePr>
            <a:graphicFrameLocks noGrp="1"/>
          </p:cNvGraphicFramePr>
          <p:nvPr/>
        </p:nvGraphicFramePr>
        <p:xfrm>
          <a:off x="2878596" y="5035366"/>
          <a:ext cx="5514975" cy="8604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4304"/>
                <a:gridCol w="3740671"/>
              </a:tblGrid>
              <a:tr h="3173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返回值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793" marB="45793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793" marB="45793"/>
                </a:tc>
              </a:tr>
              <a:tr h="271560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pdTRUE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793" marB="4579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等待任务通知成功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793" marB="45793" anchor="ctr"/>
                </a:tc>
              </a:tr>
              <a:tr h="271560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pdFALSE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793" marB="4579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等待任务通知失败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7" marR="91447" marT="45793" marB="45793" anchor="ctr"/>
                </a:tc>
              </a:tr>
            </a:tbl>
          </a:graphicData>
        </a:graphic>
      </p:graphicFrame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4" name="文本框 9"/>
          <p:cNvSpPr txBox="1">
            <a:spLocks noChangeArrowheads="1"/>
          </p:cNvSpPr>
          <p:nvPr/>
        </p:nvSpPr>
        <p:spPr bwMode="auto">
          <a:xfrm>
            <a:off x="1301270" y="1052919"/>
            <a:ext cx="4619625" cy="5067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在什么时候需要使用信号量进行数据传输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5" name="文本框 159"/>
          <p:cNvSpPr txBox="1">
            <a:spLocks noChangeArrowheads="1"/>
          </p:cNvSpPr>
          <p:nvPr/>
        </p:nvSpPr>
        <p:spPr bwMode="auto">
          <a:xfrm>
            <a:off x="1679095" y="1703794"/>
            <a:ext cx="5741987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任务通知的局限性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、只能一对一通信；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、任务通知的计数值有上限（通常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位）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、无法同时通知多个等待任务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4" name="文本框 9"/>
          <p:cNvSpPr txBox="1">
            <a:spLocks noChangeArrowheads="1"/>
          </p:cNvSpPr>
          <p:nvPr/>
        </p:nvSpPr>
        <p:spPr bwMode="auto">
          <a:xfrm>
            <a:off x="1301270" y="1052919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，信号量的简介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5" name="文本框 159"/>
          <p:cNvSpPr txBox="1">
            <a:spLocks noChangeArrowheads="1"/>
          </p:cNvSpPr>
          <p:nvPr/>
        </p:nvSpPr>
        <p:spPr bwMode="auto">
          <a:xfrm>
            <a:off x="1679095" y="1703794"/>
            <a:ext cx="57419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信号量是一种解决同步问题的机制，可以实现对共享资源的有序访问 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6" name="文本框 160"/>
          <p:cNvSpPr txBox="1">
            <a:spLocks noChangeArrowheads="1"/>
          </p:cNvSpPr>
          <p:nvPr/>
        </p:nvSpPr>
        <p:spPr bwMode="auto">
          <a:xfrm>
            <a:off x="1223918" y="4173944"/>
            <a:ext cx="451282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空车位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	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：信号量资源数（计数值）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pic>
        <p:nvPicPr>
          <p:cNvPr id="17" name="图片 17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9795" y="2203857"/>
            <a:ext cx="1368425" cy="627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8" name="组合 17"/>
          <p:cNvGrpSpPr/>
          <p:nvPr/>
        </p:nvGrpSpPr>
        <p:grpSpPr bwMode="auto">
          <a:xfrm>
            <a:off x="1752120" y="2159407"/>
            <a:ext cx="3895725" cy="1844675"/>
            <a:chOff x="598488" y="1728788"/>
            <a:chExt cx="3895725" cy="1844675"/>
          </a:xfrm>
        </p:grpSpPr>
        <p:sp>
          <p:nvSpPr>
            <p:cNvPr id="19" name="矩形 18"/>
            <p:cNvSpPr/>
            <p:nvPr/>
          </p:nvSpPr>
          <p:spPr>
            <a:xfrm>
              <a:off x="598488" y="1728788"/>
              <a:ext cx="3895725" cy="1844675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/>
            </a:p>
          </p:txBody>
        </p:sp>
        <p:sp>
          <p:nvSpPr>
            <p:cNvPr id="20" name="矩形 19"/>
            <p:cNvSpPr/>
            <p:nvPr/>
          </p:nvSpPr>
          <p:spPr>
            <a:xfrm>
              <a:off x="717550" y="2111375"/>
              <a:ext cx="1069975" cy="1350963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21" name="矩形 20"/>
            <p:cNvSpPr/>
            <p:nvPr/>
          </p:nvSpPr>
          <p:spPr>
            <a:xfrm>
              <a:off x="2011363" y="2116138"/>
              <a:ext cx="1069975" cy="1350962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22" name="矩形 21"/>
            <p:cNvSpPr/>
            <p:nvPr/>
          </p:nvSpPr>
          <p:spPr>
            <a:xfrm>
              <a:off x="3282950" y="2112963"/>
              <a:ext cx="1068388" cy="1350962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pic>
          <p:nvPicPr>
            <p:cNvPr id="23" name="图片 22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7575" y="2171700"/>
              <a:ext cx="647700" cy="1257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4" name="图片 13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51075" y="2195513"/>
              <a:ext cx="619125" cy="1214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" name="图片 15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43300" y="2219325"/>
              <a:ext cx="563563" cy="11445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文本框 18"/>
            <p:cNvSpPr txBox="1">
              <a:spLocks noChangeArrowheads="1"/>
            </p:cNvSpPr>
            <p:nvPr/>
          </p:nvSpPr>
          <p:spPr bwMode="auto">
            <a:xfrm flipH="1">
              <a:off x="2189163" y="1781175"/>
              <a:ext cx="906462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4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停车位</a:t>
              </a:r>
              <a:endPara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</p:grpSp>
      <p:sp>
        <p:nvSpPr>
          <p:cNvPr id="27" name="文本框 160"/>
          <p:cNvSpPr txBox="1">
            <a:spLocks noChangeArrowheads="1"/>
          </p:cNvSpPr>
          <p:nvPr/>
        </p:nvSpPr>
        <p:spPr bwMode="auto">
          <a:xfrm>
            <a:off x="1237176" y="4874032"/>
            <a:ext cx="4399556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占用车位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	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：获取信号量（计数值 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--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）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8" name="文本框 160"/>
          <p:cNvSpPr txBox="1">
            <a:spLocks noChangeArrowheads="1"/>
          </p:cNvSpPr>
          <p:nvPr/>
        </p:nvSpPr>
        <p:spPr bwMode="auto">
          <a:xfrm>
            <a:off x="1223918" y="4523194"/>
            <a:ext cx="428105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让出占用车位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：释放信号量（计数值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++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）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9" name="文本框 24"/>
          <p:cNvSpPr txBox="1">
            <a:spLocks noChangeArrowheads="1"/>
          </p:cNvSpPr>
          <p:nvPr/>
        </p:nvSpPr>
        <p:spPr bwMode="auto">
          <a:xfrm>
            <a:off x="5847870" y="2446744"/>
            <a:ext cx="237648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假设有一个人需要在停车场停车</a:t>
            </a:r>
            <a:endParaRPr lang="en-US" altLang="zh-CN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0" name="文本框 26"/>
          <p:cNvSpPr txBox="1">
            <a:spLocks noChangeArrowheads="1"/>
          </p:cNvSpPr>
          <p:nvPr/>
        </p:nvSpPr>
        <p:spPr bwMode="auto">
          <a:xfrm>
            <a:off x="5809770" y="2973794"/>
            <a:ext cx="475297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、首先判断停车场是否还有空车位（</a:t>
            </a:r>
            <a:r>
              <a:rPr lang="zh-CN" altLang="en-US" sz="1200" b="1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判断信号量是否有资源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）； </a:t>
            </a:r>
            <a:endParaRPr lang="en-US" altLang="zh-CN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1" name="文本框 28"/>
          <p:cNvSpPr txBox="1">
            <a:spLocks noChangeArrowheads="1"/>
          </p:cNvSpPr>
          <p:nvPr/>
        </p:nvSpPr>
        <p:spPr bwMode="auto">
          <a:xfrm>
            <a:off x="5808182" y="3313519"/>
            <a:ext cx="4367213" cy="6451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、停车场正好有空车位（</a:t>
            </a:r>
            <a:r>
              <a:rPr lang="zh-CN" altLang="en-US" sz="1200" b="1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信号量有资源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），那么就可以直接将车开入空车位进行停车（</a:t>
            </a:r>
            <a:r>
              <a:rPr lang="zh-CN" altLang="en-US" sz="1200" b="1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获取信号量成功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）； </a:t>
            </a:r>
            <a:endParaRPr lang="en-US" altLang="zh-CN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2" name="文本框 30"/>
          <p:cNvSpPr txBox="1">
            <a:spLocks noChangeArrowheads="1"/>
          </p:cNvSpPr>
          <p:nvPr/>
        </p:nvSpPr>
        <p:spPr bwMode="auto">
          <a:xfrm>
            <a:off x="5814532" y="3929469"/>
            <a:ext cx="4360863" cy="11988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、停车场已经没有空车位了（</a:t>
            </a:r>
            <a:r>
              <a:rPr lang="zh-CN" altLang="en-US" sz="1200" b="1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信号量没有资源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），那么这个人可以选择不停车（</a:t>
            </a:r>
            <a:r>
              <a:rPr lang="zh-CN" altLang="en-US" sz="1200" b="1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获取信号量失败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）；</a:t>
            </a:r>
            <a:endParaRPr lang="en-US" altLang="zh-CN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也可以选择等待（</a:t>
            </a:r>
            <a:r>
              <a:rPr lang="zh-CN" altLang="en-US" sz="1200" b="1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任务阻塞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）其他人将车开出停车场（</a:t>
            </a:r>
            <a:r>
              <a:rPr lang="zh-CN" altLang="en-US" sz="1200" b="1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释放信号量资源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）， 然后再将车停入空车位 。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242791" y="1265570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，信号量的简介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矩形: 圆角 8"/>
          <p:cNvSpPr/>
          <p:nvPr/>
        </p:nvSpPr>
        <p:spPr>
          <a:xfrm>
            <a:off x="1728566" y="1948195"/>
            <a:ext cx="1317625" cy="7842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algn="ctr"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 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让计数值加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（让出车位）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0" name="矩形: 圆角 9"/>
          <p:cNvSpPr/>
          <p:nvPr/>
        </p:nvSpPr>
        <p:spPr>
          <a:xfrm>
            <a:off x="1728566" y="2840370"/>
            <a:ext cx="1317625" cy="78263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让计数值加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（让出车位）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cxnSp>
        <p:nvCxnSpPr>
          <p:cNvPr id="11" name="直接箭头连接符 10"/>
          <p:cNvCxnSpPr>
            <a:stCxn id="9" idx="3"/>
          </p:cNvCxnSpPr>
          <p:nvPr/>
        </p:nvCxnSpPr>
        <p:spPr>
          <a:xfrm>
            <a:off x="3046191" y="2340308"/>
            <a:ext cx="720725" cy="423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/>
          <p:cNvCxnSpPr>
            <a:stCxn id="10" idx="3"/>
          </p:cNvCxnSpPr>
          <p:nvPr/>
        </p:nvCxnSpPr>
        <p:spPr>
          <a:xfrm flipV="1">
            <a:off x="3046191" y="2764170"/>
            <a:ext cx="720725" cy="466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/>
          <p:cNvSpPr/>
          <p:nvPr/>
        </p:nvSpPr>
        <p:spPr>
          <a:xfrm>
            <a:off x="6770466" y="1822783"/>
            <a:ext cx="1317625" cy="7842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C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让计数值减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（占用车位）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cxnSp>
        <p:nvCxnSpPr>
          <p:cNvPr id="14" name="直接箭头连接符 13"/>
          <p:cNvCxnSpPr>
            <a:stCxn id="15" idx="3"/>
            <a:endCxn id="13" idx="1"/>
          </p:cNvCxnSpPr>
          <p:nvPr/>
        </p:nvCxnSpPr>
        <p:spPr>
          <a:xfrm flipV="1">
            <a:off x="6125941" y="2214895"/>
            <a:ext cx="644525" cy="531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/>
          <p:cNvSpPr/>
          <p:nvPr/>
        </p:nvSpPr>
        <p:spPr>
          <a:xfrm>
            <a:off x="3766916" y="2394283"/>
            <a:ext cx="2359025" cy="704850"/>
          </a:xfrm>
          <a:prstGeom prst="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zh-CN" altLang="en-US" sz="16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6" name="矩形: 圆角 15"/>
          <p:cNvSpPr/>
          <p:nvPr/>
        </p:nvSpPr>
        <p:spPr>
          <a:xfrm>
            <a:off x="6770466" y="2764170"/>
            <a:ext cx="1317625" cy="7842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D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让计数值减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（占用车位）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cxnSp>
        <p:nvCxnSpPr>
          <p:cNvPr id="17" name="直接箭头连接符 16"/>
          <p:cNvCxnSpPr>
            <a:stCxn id="15" idx="3"/>
            <a:endCxn id="16" idx="1"/>
          </p:cNvCxnSpPr>
          <p:nvPr/>
        </p:nvCxnSpPr>
        <p:spPr>
          <a:xfrm>
            <a:off x="6125941" y="2746708"/>
            <a:ext cx="644525" cy="4095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/>
          <p:cNvSpPr txBox="1">
            <a:spLocks noChangeArrowheads="1"/>
          </p:cNvSpPr>
          <p:nvPr/>
        </p:nvSpPr>
        <p:spPr bwMode="auto">
          <a:xfrm>
            <a:off x="3765328" y="2408570"/>
            <a:ext cx="646113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信号量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4525741" y="2608595"/>
            <a:ext cx="879475" cy="311150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0" name="文本框 21"/>
          <p:cNvSpPr txBox="1">
            <a:spLocks noChangeArrowheads="1"/>
          </p:cNvSpPr>
          <p:nvPr/>
        </p:nvSpPr>
        <p:spPr bwMode="auto">
          <a:xfrm>
            <a:off x="4486053" y="2640345"/>
            <a:ext cx="9096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/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计数值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1" name="文本框 22"/>
          <p:cNvSpPr txBox="1">
            <a:spLocks noChangeArrowheads="1"/>
          </p:cNvSpPr>
          <p:nvPr/>
        </p:nvSpPr>
        <p:spPr bwMode="auto">
          <a:xfrm>
            <a:off x="1673003" y="3970670"/>
            <a:ext cx="29686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当计数值大于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0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，代表有信号量资源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2" name="文本框 23"/>
          <p:cNvSpPr txBox="1">
            <a:spLocks noChangeArrowheads="1"/>
          </p:cNvSpPr>
          <p:nvPr/>
        </p:nvSpPr>
        <p:spPr bwMode="auto">
          <a:xfrm>
            <a:off x="1673003" y="5045408"/>
            <a:ext cx="23764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信号量：用于传递状态</a:t>
            </a:r>
            <a:endParaRPr lang="zh-CN" altLang="en-US" sz="140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3" name="文本框 24"/>
          <p:cNvSpPr txBox="1">
            <a:spLocks noChangeArrowheads="1"/>
          </p:cNvSpPr>
          <p:nvPr/>
        </p:nvSpPr>
        <p:spPr bwMode="auto">
          <a:xfrm>
            <a:off x="1673003" y="4334208"/>
            <a:ext cx="37750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当释放信号量，信号量计数值（资源数）加一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4" name="文本框 26"/>
          <p:cNvSpPr txBox="1">
            <a:spLocks noChangeArrowheads="1"/>
          </p:cNvSpPr>
          <p:nvPr/>
        </p:nvSpPr>
        <p:spPr bwMode="auto">
          <a:xfrm>
            <a:off x="1673003" y="4685045"/>
            <a:ext cx="37750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当获取信号量，信号量计数值（资源数）减一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5" name="文本框 28"/>
          <p:cNvSpPr txBox="1">
            <a:spLocks noChangeArrowheads="1"/>
          </p:cNvSpPr>
          <p:nvPr/>
        </p:nvSpPr>
        <p:spPr bwMode="auto">
          <a:xfrm>
            <a:off x="6008466" y="3900820"/>
            <a:ext cx="4230687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信号量的计数值都有限制：限定最大值。</a:t>
            </a:r>
            <a:endParaRPr lang="en-US" altLang="zh-CN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如果最大值被限定为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，那么它就是二值信号量；</a:t>
            </a:r>
            <a:endParaRPr lang="en-US" altLang="zh-CN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如果最大值不是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，它就是计数型信号量。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3" grpId="0" animBg="1"/>
      <p:bldP spid="15" grpId="0" animBg="1"/>
      <p:bldP spid="16" grpId="0" animBg="1"/>
      <p:bldP spid="18" grpId="0"/>
      <p:bldP spid="19" grpId="0" animBg="1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476708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zh-CN" altLang="en-US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队列与信号量的对比 </a:t>
            </a:r>
            <a:endParaRPr lang="en-US" altLang="zh-CN" b="1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9" name="表格 6"/>
          <p:cNvGraphicFramePr>
            <a:graphicFrameLocks noGrp="1"/>
          </p:cNvGraphicFramePr>
          <p:nvPr/>
        </p:nvGraphicFramePr>
        <p:xfrm>
          <a:off x="2564145" y="1989852"/>
          <a:ext cx="6377305" cy="216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0550"/>
                <a:gridCol w="3246438"/>
              </a:tblGrid>
              <a:tr h="37033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/>
                        <a:t>队列</a:t>
                      </a:r>
                      <a:endParaRPr lang="zh-CN" altLang="en-US" sz="12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4" marR="91454" marT="45658" marB="4565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/>
                        <a:t>信号量</a:t>
                      </a:r>
                      <a:endParaRPr lang="zh-CN" altLang="en-US" sz="12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4" marR="91454" marT="45658" marB="45658"/>
                </a:tc>
              </a:tr>
              <a:tr h="509438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可以容纳多个数据；</a:t>
                      </a:r>
                      <a:endParaRPr lang="en-US" altLang="zh-CN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创建队列有两部分内存：队列结构体</a:t>
                      </a:r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+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队列项存储空间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4" marR="91454" marT="45658" marB="45658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仅存放计数值，无法存放其他数据；</a:t>
                      </a:r>
                      <a:endParaRPr lang="en-US" altLang="zh-CN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创建信号量，只需分配信号量结构体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4" marR="91454" marT="45658" marB="45658"/>
                </a:tc>
              </a:tr>
              <a:tr h="509438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写入队列：当队列满时，可阻塞；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4" marR="91454" marT="45658" marB="45658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释放信号量：不可阻塞，计数值</a:t>
                      </a:r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++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，</a:t>
                      </a:r>
                      <a:endParaRPr lang="en-US" altLang="zh-CN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当计数值为最大值时，返回失败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4" marR="91454" marT="45658" marB="45658"/>
                </a:tc>
              </a:tr>
              <a:tr h="509438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读取队列：当队列为空时，可阻塞；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4" marR="91454" marT="45658" marB="45658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获取信号量：计数值</a:t>
                      </a:r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--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，</a:t>
                      </a:r>
                      <a:endParaRPr lang="en-US" altLang="zh-CN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当没有资源时，可阻塞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54" marR="91454" marT="45658" marB="45658"/>
                </a:tc>
              </a:tr>
            </a:tbl>
          </a:graphicData>
        </a:graphic>
      </p:graphicFrame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210894" y="124430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，二值信号量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59"/>
          <p:cNvSpPr txBox="1">
            <a:spLocks noChangeArrowheads="1"/>
          </p:cNvSpPr>
          <p:nvPr/>
        </p:nvSpPr>
        <p:spPr bwMode="auto">
          <a:xfrm>
            <a:off x="1582369" y="1839618"/>
            <a:ext cx="902250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二值信号量的本质是一个队列长度为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的队列 ，该队列就只有空和满两种情况，这就是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二值（</a:t>
            </a:r>
            <a:r>
              <a:rPr lang="en-US" altLang="zh-CN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0/1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）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。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0" name="文本框 6"/>
          <p:cNvSpPr txBox="1">
            <a:spLocks noChangeArrowheads="1"/>
          </p:cNvSpPr>
          <p:nvPr/>
        </p:nvSpPr>
        <p:spPr bwMode="auto">
          <a:xfrm>
            <a:off x="1582369" y="2204743"/>
            <a:ext cx="8358187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二值信号量通常用于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互斥访问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或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任务同步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 与互斥信号量比较类似，但是二值信号量有可能会导致优先级翻转的问题 ，所以二值信号量更适合用于同步！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" name="矩形: 圆角 10"/>
          <p:cNvSpPr/>
          <p:nvPr/>
        </p:nvSpPr>
        <p:spPr>
          <a:xfrm>
            <a:off x="2799981" y="4624093"/>
            <a:ext cx="2505075" cy="382587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Give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操作相当把该标志置“满”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" name="矩形: 圆角 11"/>
          <p:cNvSpPr/>
          <p:nvPr/>
        </p:nvSpPr>
        <p:spPr>
          <a:xfrm>
            <a:off x="5922594" y="4624093"/>
            <a:ext cx="2714625" cy="382587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Take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操作相当于把该标志取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"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空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"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" name="文本框 29"/>
          <p:cNvSpPr txBox="1">
            <a:spLocks noChangeArrowheads="1"/>
          </p:cNvSpPr>
          <p:nvPr/>
        </p:nvSpPr>
        <p:spPr bwMode="auto">
          <a:xfrm>
            <a:off x="2925394" y="3420768"/>
            <a:ext cx="225266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/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释放二值信号量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文本框 30"/>
          <p:cNvSpPr txBox="1">
            <a:spLocks noChangeArrowheads="1"/>
          </p:cNvSpPr>
          <p:nvPr/>
        </p:nvSpPr>
        <p:spPr bwMode="auto">
          <a:xfrm>
            <a:off x="6154369" y="3396955"/>
            <a:ext cx="225266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/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获取二值信号量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" name="矩形: 圆角 14"/>
          <p:cNvSpPr/>
          <p:nvPr/>
        </p:nvSpPr>
        <p:spPr>
          <a:xfrm>
            <a:off x="2180856" y="3747793"/>
            <a:ext cx="1060450" cy="704850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400" dirty="0">
                <a:solidFill>
                  <a:srgbClr val="002060"/>
                </a:solidFill>
              </a:rPr>
              <a:t>Task</a:t>
            </a:r>
            <a:endParaRPr lang="en-US" altLang="zh-CN" sz="1400" dirty="0">
              <a:solidFill>
                <a:srgbClr val="002060"/>
              </a:solidFill>
            </a:endParaRPr>
          </a:p>
          <a:p>
            <a:pPr algn="ctr">
              <a:defRPr/>
            </a:pPr>
            <a:r>
              <a:rPr lang="zh-CN" altLang="en-US" sz="1400" dirty="0">
                <a:solidFill>
                  <a:srgbClr val="FF0000"/>
                </a:solidFill>
              </a:rPr>
              <a:t>或</a:t>
            </a:r>
            <a:endParaRPr lang="en-US" altLang="zh-CN" sz="1400" dirty="0">
              <a:solidFill>
                <a:srgbClr val="FF0000"/>
              </a:solidFill>
            </a:endParaRPr>
          </a:p>
          <a:p>
            <a:pPr algn="ctr">
              <a:defRPr/>
            </a:pPr>
            <a:r>
              <a:rPr lang="en-US" altLang="zh-CN" sz="1400" dirty="0">
                <a:solidFill>
                  <a:srgbClr val="002060"/>
                </a:solidFill>
              </a:rPr>
              <a:t>ISR</a:t>
            </a:r>
            <a:endParaRPr lang="zh-CN" altLang="en-US" sz="1400" dirty="0">
              <a:solidFill>
                <a:srgbClr val="002060"/>
              </a:solidFill>
            </a:endParaRPr>
          </a:p>
        </p:txBody>
      </p:sp>
      <p:grpSp>
        <p:nvGrpSpPr>
          <p:cNvPr id="16" name="组合 36"/>
          <p:cNvGrpSpPr/>
          <p:nvPr/>
        </p:nvGrpSpPr>
        <p:grpSpPr bwMode="auto">
          <a:xfrm>
            <a:off x="4863731" y="3800180"/>
            <a:ext cx="1543050" cy="600075"/>
            <a:chOff x="3800475" y="3247616"/>
            <a:chExt cx="1543050" cy="600484"/>
          </a:xfrm>
        </p:grpSpPr>
        <p:sp>
          <p:nvSpPr>
            <p:cNvPr id="17" name="矩形 16"/>
            <p:cNvSpPr/>
            <p:nvPr/>
          </p:nvSpPr>
          <p:spPr>
            <a:xfrm>
              <a:off x="3800475" y="3247616"/>
              <a:ext cx="1543050" cy="600484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/>
            </a:p>
          </p:txBody>
        </p:sp>
        <p:sp>
          <p:nvSpPr>
            <p:cNvPr id="18" name="矩形 17"/>
            <p:cNvSpPr/>
            <p:nvPr/>
          </p:nvSpPr>
          <p:spPr>
            <a:xfrm>
              <a:off x="4294188" y="3520852"/>
              <a:ext cx="555625" cy="25576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19" name="文本框 35"/>
            <p:cNvSpPr txBox="1">
              <a:spLocks noChangeArrowheads="1"/>
            </p:cNvSpPr>
            <p:nvPr/>
          </p:nvSpPr>
          <p:spPr bwMode="auto">
            <a:xfrm>
              <a:off x="4127006" y="3258996"/>
              <a:ext cx="889987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二值信号量</a:t>
              </a:r>
              <a:endParaRPr lang="zh-CN" altLang="en-US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</p:grpSp>
      <p:sp>
        <p:nvSpPr>
          <p:cNvPr id="20" name="矩形: 圆角 19"/>
          <p:cNvSpPr/>
          <p:nvPr/>
        </p:nvSpPr>
        <p:spPr>
          <a:xfrm>
            <a:off x="8154619" y="3755730"/>
            <a:ext cx="1058862" cy="704850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400" dirty="0">
                <a:solidFill>
                  <a:srgbClr val="002060"/>
                </a:solidFill>
              </a:rPr>
              <a:t>Task</a:t>
            </a:r>
            <a:endParaRPr lang="en-US" altLang="zh-CN" sz="1400" dirty="0">
              <a:solidFill>
                <a:srgbClr val="002060"/>
              </a:solidFill>
            </a:endParaRPr>
          </a:p>
          <a:p>
            <a:pPr algn="ctr">
              <a:defRPr/>
            </a:pPr>
            <a:r>
              <a:rPr lang="zh-CN" altLang="en-US" sz="1400" dirty="0">
                <a:solidFill>
                  <a:srgbClr val="FF0000"/>
                </a:solidFill>
              </a:rPr>
              <a:t>或</a:t>
            </a:r>
            <a:endParaRPr lang="en-US" altLang="zh-CN" sz="1400" dirty="0">
              <a:solidFill>
                <a:srgbClr val="FF0000"/>
              </a:solidFill>
            </a:endParaRPr>
          </a:p>
          <a:p>
            <a:pPr algn="ctr">
              <a:defRPr/>
            </a:pPr>
            <a:r>
              <a:rPr lang="en-US" altLang="zh-CN" sz="1400" dirty="0">
                <a:solidFill>
                  <a:srgbClr val="002060"/>
                </a:solidFill>
              </a:rPr>
              <a:t>ISR</a:t>
            </a:r>
            <a:endParaRPr lang="zh-CN" altLang="en-US" sz="1400" dirty="0">
              <a:solidFill>
                <a:srgbClr val="002060"/>
              </a:solidFill>
            </a:endParaRPr>
          </a:p>
        </p:txBody>
      </p:sp>
      <p:cxnSp>
        <p:nvCxnSpPr>
          <p:cNvPr id="21" name="直接箭头连接符 20"/>
          <p:cNvCxnSpPr>
            <a:stCxn id="15" idx="3"/>
            <a:endCxn id="17" idx="1"/>
          </p:cNvCxnSpPr>
          <p:nvPr/>
        </p:nvCxnSpPr>
        <p:spPr>
          <a:xfrm>
            <a:off x="3241306" y="4100218"/>
            <a:ext cx="16224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44"/>
          <p:cNvSpPr txBox="1">
            <a:spLocks noChangeArrowheads="1"/>
          </p:cNvSpPr>
          <p:nvPr/>
        </p:nvSpPr>
        <p:spPr bwMode="auto">
          <a:xfrm>
            <a:off x="3415931" y="3863680"/>
            <a:ext cx="1503363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xSemaphoreGive</a:t>
            </a:r>
            <a:endParaRPr lang="zh-CN" altLang="en-US" sz="10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3" name="文本框 45"/>
          <p:cNvSpPr txBox="1">
            <a:spLocks noChangeArrowheads="1"/>
          </p:cNvSpPr>
          <p:nvPr/>
        </p:nvSpPr>
        <p:spPr bwMode="auto">
          <a:xfrm>
            <a:off x="3195269" y="4136730"/>
            <a:ext cx="2098675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xSemaphoreGive</a:t>
            </a:r>
            <a:r>
              <a:rPr lang="en-US" altLang="zh-CN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FromISR</a:t>
            </a:r>
            <a:endParaRPr lang="zh-CN" altLang="en-US" sz="10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cxnSp>
        <p:nvCxnSpPr>
          <p:cNvPr id="24" name="直接箭头连接符 23"/>
          <p:cNvCxnSpPr>
            <a:stCxn id="17" idx="3"/>
            <a:endCxn id="20" idx="1"/>
          </p:cNvCxnSpPr>
          <p:nvPr/>
        </p:nvCxnSpPr>
        <p:spPr>
          <a:xfrm>
            <a:off x="6406781" y="4100218"/>
            <a:ext cx="1747838" cy="79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50"/>
          <p:cNvSpPr txBox="1">
            <a:spLocks noChangeArrowheads="1"/>
          </p:cNvSpPr>
          <p:nvPr/>
        </p:nvSpPr>
        <p:spPr bwMode="auto">
          <a:xfrm>
            <a:off x="6649669" y="3855743"/>
            <a:ext cx="1504950" cy="246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xSemaphoreTake</a:t>
            </a:r>
            <a:endParaRPr lang="zh-CN" altLang="en-US" sz="10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6" name="文本框 51"/>
          <p:cNvSpPr txBox="1">
            <a:spLocks noChangeArrowheads="1"/>
          </p:cNvSpPr>
          <p:nvPr/>
        </p:nvSpPr>
        <p:spPr bwMode="auto">
          <a:xfrm>
            <a:off x="6443294" y="4124030"/>
            <a:ext cx="2098675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xSemaphoreTakeFromISR</a:t>
            </a:r>
            <a:endParaRPr lang="zh-CN" altLang="en-US" sz="10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 animBg="1"/>
      <p:bldP spid="12" grpId="0" animBg="1"/>
      <p:bldP spid="13" grpId="0"/>
      <p:bldP spid="14" grpId="0"/>
      <p:bldP spid="15" grpId="0" animBg="1"/>
      <p:bldP spid="20" grpId="0" animBg="1"/>
      <p:bldP spid="22" grpId="0"/>
      <p:bldP spid="23" grpId="0"/>
      <p:bldP spid="25" grpId="0"/>
      <p:bldP spid="26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561768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二值信号量相关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59"/>
          <p:cNvSpPr txBox="1">
            <a:spLocks noChangeArrowheads="1"/>
          </p:cNvSpPr>
          <p:nvPr/>
        </p:nvSpPr>
        <p:spPr bwMode="auto">
          <a:xfrm>
            <a:off x="1933243" y="1756490"/>
            <a:ext cx="75295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使用二值信号量的过程：创建二值信号量 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sym typeface="Wingdings" panose="05000000000000000000" pitchFamily="2" charset="2"/>
              </a:rPr>
              <a:t> 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释放二值信号量 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sym typeface="Wingdings" panose="05000000000000000000" pitchFamily="2" charset="2"/>
              </a:rPr>
              <a:t> 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sym typeface="Wingdings" panose="05000000000000000000" pitchFamily="2" charset="2"/>
              </a:rPr>
              <a:t>获取二值信号量    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0" name="表格 7"/>
          <p:cNvGraphicFramePr>
            <a:graphicFrameLocks noGrp="1"/>
          </p:cNvGraphicFramePr>
          <p:nvPr/>
        </p:nvGraphicFramePr>
        <p:xfrm>
          <a:off x="2020555" y="2297827"/>
          <a:ext cx="5448300" cy="198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28370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函数</a:t>
                      </a:r>
                      <a:endParaRPr lang="zh-CN" altLang="en-US" sz="1100" dirty="0"/>
                    </a:p>
                  </a:txBody>
                  <a:tcPr marT="45739" marB="4573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  <a:endParaRPr lang="zh-CN" altLang="en-US" sz="1100" dirty="0"/>
                    </a:p>
                  </a:txBody>
                  <a:tcPr marT="45739" marB="45739"/>
                </a:tc>
              </a:tr>
              <a:tr h="283709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xSemaphoreCreateBinary()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9" marB="4573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使用动态方式创建二值信号量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9" marB="45739" anchor="ctr"/>
                </a:tc>
              </a:tr>
              <a:tr h="283709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xSemaphoreCreateBinaryStatic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9" marB="4573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使用静态方式创建二值信号量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9" marB="45739" anchor="ctr"/>
                </a:tc>
              </a:tr>
              <a:tr h="283709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xSemaphoreGive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9" marB="4573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释放信号量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9" marB="45739" anchor="ctr"/>
                </a:tc>
              </a:tr>
              <a:tr h="283709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xSemaphoreGiveFromISR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9" marB="4573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在中断中释放信号量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9" marB="45739" anchor="ctr"/>
                </a:tc>
              </a:tr>
              <a:tr h="283709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xSemaphoreTake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9" marB="4573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获取信号量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9" marB="45739" anchor="ctr"/>
                </a:tc>
              </a:tr>
              <a:tr h="283709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xSemaphoreTakeFromISR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9" marB="4573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在中断中获取信号量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9" marB="45739" anchor="ctr"/>
                </a:tc>
              </a:tr>
            </a:tbl>
          </a:graphicData>
        </a:graphic>
      </p:graphicFrame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9"/>
          <p:cNvSpPr txBox="1">
            <a:spLocks noChangeArrowheads="1"/>
          </p:cNvSpPr>
          <p:nvPr/>
        </p:nvSpPr>
        <p:spPr bwMode="auto">
          <a:xfrm>
            <a:off x="1196126" y="75674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二值信号量相关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4" name="文本框 6"/>
          <p:cNvSpPr txBox="1">
            <a:spLocks noChangeArrowheads="1"/>
          </p:cNvSpPr>
          <p:nvPr/>
        </p:nvSpPr>
        <p:spPr bwMode="auto">
          <a:xfrm>
            <a:off x="1580301" y="1261570"/>
            <a:ext cx="7081837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创建二值信号量函数：</a:t>
            </a:r>
            <a:r>
              <a:rPr lang="en-US" altLang="zh-CN" sz="1400" dirty="0" err="1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SemaphoreHandle_t</a:t>
            </a:r>
            <a:r>
              <a:rPr lang="en-US" altLang="zh-CN" sz="14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xSemaphoreCreateBinary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 void )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5" name="表格 7"/>
          <p:cNvGraphicFramePr>
            <a:graphicFrameLocks noGrp="1"/>
          </p:cNvGraphicFramePr>
          <p:nvPr/>
        </p:nvGraphicFramePr>
        <p:xfrm>
          <a:off x="1580301" y="5160003"/>
          <a:ext cx="4619625" cy="800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60"/>
                <a:gridCol w="3000365"/>
              </a:tblGrid>
              <a:tr h="25899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  <a:endParaRPr lang="zh-CN" altLang="en-US" sz="1100" dirty="0"/>
                    </a:p>
                  </a:txBody>
                  <a:tcPr marT="45677" marB="4567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  <a:endParaRPr lang="zh-CN" altLang="en-US" sz="1100" dirty="0"/>
                    </a:p>
                  </a:txBody>
                  <a:tcPr marT="45677" marB="45677"/>
                </a:tc>
              </a:tr>
              <a:tr h="258993"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NULL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77" marB="4567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创建失败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77" marB="45677" anchor="ctr"/>
                </a:tc>
              </a:tr>
              <a:tr h="282115"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其他值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77" marB="4567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创建成功返回二值信号量的句柄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77" marB="45677" anchor="ctr"/>
                </a:tc>
              </a:tr>
            </a:tbl>
          </a:graphicData>
        </a:graphic>
      </p:graphicFrame>
      <p:grpSp>
        <p:nvGrpSpPr>
          <p:cNvPr id="6" name="组合 5"/>
          <p:cNvGrpSpPr/>
          <p:nvPr/>
        </p:nvGrpSpPr>
        <p:grpSpPr bwMode="auto">
          <a:xfrm>
            <a:off x="1580301" y="3186740"/>
            <a:ext cx="9801852" cy="1810562"/>
            <a:chOff x="542131" y="1235022"/>
            <a:chExt cx="7487443" cy="1725665"/>
          </a:xfrm>
        </p:grpSpPr>
        <p:sp>
          <p:nvSpPr>
            <p:cNvPr id="7" name="文本框 12"/>
            <p:cNvSpPr txBox="1">
              <a:spLocks noChangeArrowheads="1"/>
            </p:cNvSpPr>
            <p:nvPr/>
          </p:nvSpPr>
          <p:spPr bwMode="auto">
            <a:xfrm>
              <a:off x="542131" y="1235022"/>
              <a:ext cx="7487443" cy="16409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#define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queueQUEUE_TYPE_BASE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( uint8_t ) 0U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队列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#define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queueQUEUE_TYPE_SET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( uint8_t ) 0U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队列集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#define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queueQUEUE_TYPE_MUTEX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( uint8_t ) 1U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chemeClr val="tx1">
                      <a:lumMod val="65000"/>
                    </a:schemeClr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chemeClr val="tx1">
                      <a:lumMod val="65000"/>
                    </a:schemeClr>
                  </a:solidFill>
                  <a:latin typeface="思源黑体 CN Normal" pitchFamily="34" charset="-122"/>
                  <a:ea typeface="思源黑体 CN Normal" pitchFamily="34" charset="-122"/>
                </a:rPr>
                <a:t>互斥信号量</a:t>
              </a:r>
              <a:r>
                <a:rPr lang="en-US" altLang="zh-CN" sz="1200" dirty="0">
                  <a:solidFill>
                    <a:schemeClr val="tx1">
                      <a:lumMod val="65000"/>
                    </a:schemeClr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chemeClr val="tx1">
                    <a:lumMod val="65000"/>
                  </a:schemeClr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#define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queueQUEUE_TYPE_COUNTING_SEMAPHORE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( uint8_t ) 2U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计数型信号量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#define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queueQUEUE_TYPE_BINARY_SEMAPHORE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( uint8_t ) 3U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二值信号量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#define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queueQUEUE_TYPE_RECURSIVE_MUTEX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( uint8_t ) 4U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chemeClr val="tx1">
                      <a:lumMod val="65000"/>
                    </a:schemeClr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chemeClr val="tx1">
                      <a:lumMod val="65000"/>
                    </a:schemeClr>
                  </a:solidFill>
                  <a:latin typeface="思源黑体 CN Normal" pitchFamily="34" charset="-122"/>
                  <a:ea typeface="思源黑体 CN Normal" pitchFamily="34" charset="-122"/>
                </a:rPr>
                <a:t>递归互斥信号量</a:t>
              </a:r>
              <a:r>
                <a:rPr lang="en-US" altLang="zh-CN" sz="1200" dirty="0">
                  <a:solidFill>
                    <a:schemeClr val="tx1">
                      <a:lumMod val="65000"/>
                    </a:schemeClr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zh-CN" altLang="en-US" sz="1200" dirty="0">
                <a:solidFill>
                  <a:schemeClr val="tx1">
                    <a:lumMod val="65000"/>
                  </a:schemeClr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8" name="矩形 7"/>
            <p:cNvSpPr/>
            <p:nvPr/>
          </p:nvSpPr>
          <p:spPr>
            <a:xfrm>
              <a:off x="542131" y="1235022"/>
              <a:ext cx="7157278" cy="1725665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sz="1200"/>
            </a:p>
          </p:txBody>
        </p:sp>
      </p:grpSp>
      <p:grpSp>
        <p:nvGrpSpPr>
          <p:cNvPr id="9" name="组合 8"/>
          <p:cNvGrpSpPr/>
          <p:nvPr/>
        </p:nvGrpSpPr>
        <p:grpSpPr bwMode="auto">
          <a:xfrm>
            <a:off x="1580300" y="1615582"/>
            <a:ext cx="9690211" cy="1276473"/>
            <a:chOff x="506413" y="950913"/>
            <a:chExt cx="8305800" cy="965200"/>
          </a:xfrm>
        </p:grpSpPr>
        <p:sp>
          <p:nvSpPr>
            <p:cNvPr id="10" name="文本框 2"/>
            <p:cNvSpPr txBox="1">
              <a:spLocks noChangeArrowheads="1"/>
            </p:cNvSpPr>
            <p:nvPr/>
          </p:nvSpPr>
          <p:spPr bwMode="auto">
            <a:xfrm>
              <a:off x="527050" y="950913"/>
              <a:ext cx="8266113" cy="617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 #define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xSemaphoreCreateBinary( )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			\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xQueueGenericCreate(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1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,  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semSEMAPHORE_QUEUE_ITEM_LENGTH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,  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queueQUEUE_TYPE_BINARY_SEMAPHORE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)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1" name="文本框 7"/>
            <p:cNvSpPr txBox="1">
              <a:spLocks noChangeArrowheads="1"/>
            </p:cNvSpPr>
            <p:nvPr/>
          </p:nvSpPr>
          <p:spPr bwMode="auto">
            <a:xfrm>
              <a:off x="547688" y="1627188"/>
              <a:ext cx="6748462" cy="276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#define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semSEMAPHORE_QUEUE_ITEM_LENGTH      ( ( uint8_t )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0U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)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506413" y="966788"/>
              <a:ext cx="8305800" cy="949325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386331" y="1063552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二值信号量相关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6"/>
          <p:cNvSpPr txBox="1">
            <a:spLocks noChangeArrowheads="1"/>
          </p:cNvSpPr>
          <p:nvPr/>
        </p:nvSpPr>
        <p:spPr bwMode="auto">
          <a:xfrm>
            <a:off x="1745106" y="1598540"/>
            <a:ext cx="7081837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释放二值信号量函数：</a:t>
            </a:r>
            <a:r>
              <a:rPr lang="en-US" altLang="zh-CN" sz="140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BaseType_t   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xSemaphoreGive( </a:t>
            </a:r>
            <a:r>
              <a:rPr lang="en-US" altLang="zh-CN" sz="14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xSemaphore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) 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0" name="表格 7"/>
          <p:cNvGraphicFramePr>
            <a:graphicFrameLocks noGrp="1"/>
          </p:cNvGraphicFramePr>
          <p:nvPr/>
        </p:nvGraphicFramePr>
        <p:xfrm>
          <a:off x="1745106" y="4197277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/>
                <a:gridCol w="3481387"/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  <a:endParaRPr lang="zh-CN" altLang="en-US" sz="1100" dirty="0"/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  <a:endParaRPr lang="zh-CN" altLang="en-US" sz="1100" dirty="0"/>
                    </a:p>
                  </a:txBody>
                  <a:tcPr marT="45727" marB="45727"/>
                </a:tc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pdPASS</a:t>
                      </a:r>
                      <a:endParaRPr lang="en-US" sz="1400" b="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27" marB="4572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释放信号量成功</a:t>
                      </a:r>
                      <a:endParaRPr lang="zh-CN" altLang="en-US" sz="1400" b="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27" marB="45727" anchor="ctr"/>
                </a:tc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errQUEUE_FULL</a:t>
                      </a:r>
                      <a:endParaRPr lang="en-US" sz="1400" b="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27" marB="4572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释放信号量失败</a:t>
                      </a:r>
                      <a:endParaRPr lang="zh-CN" altLang="en-US" sz="1400" b="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27" marB="45727" anchor="ctr"/>
                </a:tc>
              </a:tr>
            </a:tbl>
          </a:graphicData>
        </a:graphic>
      </p:graphicFrame>
      <p:graphicFrame>
        <p:nvGraphicFramePr>
          <p:cNvPr id="11" name="表格 7"/>
          <p:cNvGraphicFramePr>
            <a:graphicFrameLocks noGrp="1"/>
          </p:cNvGraphicFramePr>
          <p:nvPr/>
        </p:nvGraphicFramePr>
        <p:xfrm>
          <a:off x="1745106" y="3338440"/>
          <a:ext cx="5448300" cy="566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/>
                <a:gridCol w="3481387"/>
              </a:tblGrid>
              <a:tr h="28336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  <a:endParaRPr lang="zh-CN" altLang="en-US" sz="1100" dirty="0"/>
                    </a:p>
                  </a:txBody>
                  <a:tcPr marT="45684" marB="456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  <a:endParaRPr lang="zh-CN" altLang="en-US" sz="1100" dirty="0"/>
                    </a:p>
                  </a:txBody>
                  <a:tcPr marT="45684" marB="45684"/>
                </a:tc>
              </a:tr>
              <a:tr h="283369">
                <a:tc>
                  <a:txBody>
                    <a:bodyPr/>
                    <a:lstStyle/>
                    <a:p>
                      <a:r>
                        <a:rPr lang="en-US" altLang="zh-CN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xSemaphore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84" marB="4568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要释放的信号量句柄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84" marB="45684" anchor="ctr"/>
                </a:tc>
              </a:tr>
            </a:tbl>
          </a:graphicData>
        </a:graphic>
      </p:graphicFrame>
      <p:grpSp>
        <p:nvGrpSpPr>
          <p:cNvPr id="12" name="组合 11"/>
          <p:cNvGrpSpPr/>
          <p:nvPr/>
        </p:nvGrpSpPr>
        <p:grpSpPr bwMode="auto">
          <a:xfrm>
            <a:off x="1745105" y="1947789"/>
            <a:ext cx="9328703" cy="1226029"/>
            <a:chOff x="506413" y="1506538"/>
            <a:chExt cx="8515350" cy="989012"/>
          </a:xfrm>
        </p:grpSpPr>
        <p:sp>
          <p:nvSpPr>
            <p:cNvPr id="13" name="文本框 6"/>
            <p:cNvSpPr txBox="1">
              <a:spLocks noChangeArrowheads="1"/>
            </p:cNvSpPr>
            <p:nvPr/>
          </p:nvSpPr>
          <p:spPr bwMode="auto">
            <a:xfrm>
              <a:off x="506413" y="1506538"/>
              <a:ext cx="8407400" cy="617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#define  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xSemaphoreGive ( 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xSemaphore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)    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			\</a:t>
              </a:r>
              <a:endPara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xQueueGenericSend( ( QueueHandle_t ) (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xSemaphore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)  ,  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NULL 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,  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semGIVE_BLOCK_TIME 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,  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queueSEND_TO_BACK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)</a:t>
              </a:r>
              <a:endPara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506413" y="1506538"/>
              <a:ext cx="8515350" cy="989012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15" name="文本框 12"/>
            <p:cNvSpPr txBox="1">
              <a:spLocks noChangeArrowheads="1"/>
            </p:cNvSpPr>
            <p:nvPr/>
          </p:nvSpPr>
          <p:spPr bwMode="auto">
            <a:xfrm>
              <a:off x="506413" y="2179623"/>
              <a:ext cx="6565531" cy="222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20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#define  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semGIVE_BLOCK_TIME                  ( ( TickType_t )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0U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)</a:t>
              </a:r>
              <a:endPara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816950" y="978491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二值信号量相关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6"/>
          <p:cNvSpPr txBox="1">
            <a:spLocks noChangeArrowheads="1"/>
          </p:cNvSpPr>
          <p:nvPr/>
        </p:nvSpPr>
        <p:spPr bwMode="auto">
          <a:xfrm>
            <a:off x="2217000" y="1711916"/>
            <a:ext cx="7081837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获取二值信号量函数：</a:t>
            </a:r>
            <a:r>
              <a:rPr lang="en-US" altLang="zh-CN" sz="140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BaseType_t   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xSemaphoreTake( </a:t>
            </a:r>
            <a:r>
              <a:rPr lang="en-US" altLang="zh-CN" sz="14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xSemaphore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, </a:t>
            </a:r>
            <a:r>
              <a:rPr lang="en-US" altLang="zh-CN" sz="14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xBlockTime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) 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0" name="表格 7"/>
          <p:cNvGraphicFramePr>
            <a:graphicFrameLocks noGrp="1"/>
          </p:cNvGraphicFramePr>
          <p:nvPr/>
        </p:nvGraphicFramePr>
        <p:xfrm>
          <a:off x="2315425" y="3497854"/>
          <a:ext cx="5448300" cy="849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/>
                <a:gridCol w="3481387"/>
              </a:tblGrid>
              <a:tr h="28310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  <a:endParaRPr lang="zh-CN" altLang="en-US" sz="1100" dirty="0"/>
                    </a:p>
                  </a:txBody>
                  <a:tcPr marT="45641" marB="4564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  <a:endParaRPr lang="zh-CN" altLang="en-US" sz="1100" dirty="0"/>
                    </a:p>
                  </a:txBody>
                  <a:tcPr marT="45641" marB="45641"/>
                </a:tc>
              </a:tr>
              <a:tr h="28310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pdTRUE</a:t>
                      </a:r>
                      <a:endParaRPr lang="en-US" sz="1300" b="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41" marB="4564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获取信号量成功</a:t>
                      </a:r>
                      <a:endParaRPr lang="zh-CN" altLang="en-US" sz="1300" b="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41" marB="45641" anchor="ctr"/>
                </a:tc>
              </a:tr>
              <a:tr h="283104">
                <a:tc>
                  <a:txBody>
                    <a:bodyPr/>
                    <a:lstStyle/>
                    <a:p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pdFALSE</a:t>
                      </a:r>
                      <a:endParaRPr lang="en-US" altLang="zh-CN" sz="1100" b="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41" marB="4564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超时，获取信号量失败</a:t>
                      </a:r>
                      <a:endParaRPr lang="zh-CN" altLang="en-US" sz="1300" b="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41" marB="45641" anchor="ctr"/>
                </a:tc>
              </a:tr>
            </a:tbl>
          </a:graphicData>
        </a:graphic>
      </p:graphicFrame>
      <p:graphicFrame>
        <p:nvGraphicFramePr>
          <p:cNvPr id="11" name="表格 7"/>
          <p:cNvGraphicFramePr>
            <a:graphicFrameLocks noGrp="1"/>
          </p:cNvGraphicFramePr>
          <p:nvPr/>
        </p:nvGraphicFramePr>
        <p:xfrm>
          <a:off x="2315425" y="2261191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/>
                <a:gridCol w="3481387"/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  <a:endParaRPr lang="zh-CN" altLang="en-US" sz="1100" dirty="0"/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  <a:endParaRPr lang="zh-CN" altLang="en-US" sz="1100" dirty="0"/>
                    </a:p>
                  </a:txBody>
                  <a:tcPr marT="45727" marB="45727"/>
                </a:tc>
              </a:tr>
              <a:tr h="283633">
                <a:tc>
                  <a:txBody>
                    <a:bodyPr/>
                    <a:lstStyle/>
                    <a:p>
                      <a:r>
                        <a:rPr lang="en-US" altLang="zh-CN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xSemaphore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27" marB="4572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要获取的信号量句柄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27" marB="45727" anchor="ctr"/>
                </a:tc>
              </a:tr>
              <a:tr h="283633">
                <a:tc>
                  <a:txBody>
                    <a:bodyPr/>
                    <a:lstStyle/>
                    <a:p>
                      <a:r>
                        <a:rPr lang="en-US" altLang="zh-CN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xBlockTime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27" marB="4572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阻塞时间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27" marB="45727" anchor="ctr"/>
                </a:tc>
              </a:tr>
            </a:tbl>
          </a:graphicData>
        </a:graphic>
      </p:graphicFrame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34" name="文本框 9"/>
          <p:cNvSpPr txBox="1">
            <a:spLocks noChangeArrowheads="1"/>
          </p:cNvSpPr>
          <p:nvPr/>
        </p:nvSpPr>
        <p:spPr bwMode="auto">
          <a:xfrm>
            <a:off x="1412912" y="105823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，计数型信号量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35" name="文本框 32"/>
          <p:cNvSpPr txBox="1">
            <a:spLocks noChangeArrowheads="1"/>
          </p:cNvSpPr>
          <p:nvPr/>
        </p:nvSpPr>
        <p:spPr bwMode="auto">
          <a:xfrm>
            <a:off x="1747874" y="1523373"/>
            <a:ext cx="7997825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计数型信号量相当于队列长度大于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的队列，因此计数型信号量能够容纳多个资源，这在计数型信号量被创建的时候确定的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6" name="文本框 1"/>
          <p:cNvSpPr txBox="1">
            <a:spLocks noChangeArrowheads="1"/>
          </p:cNvSpPr>
          <p:nvPr/>
        </p:nvSpPr>
        <p:spPr bwMode="auto">
          <a:xfrm>
            <a:off x="1795499" y="2458410"/>
            <a:ext cx="21605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计数型信号量适用场合：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7" name="矩形: 圆角 36"/>
          <p:cNvSpPr/>
          <p:nvPr/>
        </p:nvSpPr>
        <p:spPr>
          <a:xfrm>
            <a:off x="1928849" y="3110873"/>
            <a:ext cx="1279525" cy="3524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事件计数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8" name="矩形: 圆角 37"/>
          <p:cNvSpPr/>
          <p:nvPr/>
        </p:nvSpPr>
        <p:spPr>
          <a:xfrm>
            <a:off x="1928849" y="4214185"/>
            <a:ext cx="1279525" cy="3524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资源管理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9" name="文本框 12"/>
          <p:cNvSpPr txBox="1">
            <a:spLocks noChangeArrowheads="1"/>
          </p:cNvSpPr>
          <p:nvPr/>
        </p:nvSpPr>
        <p:spPr bwMode="auto">
          <a:xfrm>
            <a:off x="3208374" y="2860048"/>
            <a:ext cx="684530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当每次事件发生后，在事件处理函数中释放计数型信号量（计数值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+1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），其他任务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会获取计数型信号量（计数值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-1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） ，这种场合一般在创建时将初始计数值设置为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0" name="文本框 16"/>
          <p:cNvSpPr txBox="1">
            <a:spLocks noChangeArrowheads="1"/>
          </p:cNvSpPr>
          <p:nvPr/>
        </p:nvSpPr>
        <p:spPr bwMode="auto">
          <a:xfrm>
            <a:off x="3246474" y="3876048"/>
            <a:ext cx="6807200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信号量表示有效的资源数目。任务必须先获取信号量（信号量计数值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-1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）才能获取资源控制权。当计数值减为零时表示没有的资源。当任务使用完资源后，必须释放信号量（信号量计数值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+1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）。信号量创建时计数值应等于最大资源数目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 animBg="1"/>
      <p:bldP spid="39" grpId="0"/>
      <p:bldP spid="40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473994" y="1233672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计数型信号量相关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函数（熟悉）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59"/>
          <p:cNvSpPr txBox="1">
            <a:spLocks noChangeArrowheads="1"/>
          </p:cNvSpPr>
          <p:nvPr/>
        </p:nvSpPr>
        <p:spPr bwMode="auto">
          <a:xfrm>
            <a:off x="1845469" y="1828985"/>
            <a:ext cx="75295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使用计数型信号量的过程：创建计数型信号量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sym typeface="Wingdings" panose="05000000000000000000" pitchFamily="2" charset="2"/>
              </a:rPr>
              <a:t>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释放信号量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sym typeface="Wingdings" panose="05000000000000000000" pitchFamily="2" charset="2"/>
              </a:rPr>
              <a:t>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sym typeface="Wingdings" panose="05000000000000000000" pitchFamily="2" charset="2"/>
              </a:rPr>
              <a:t>获取信号量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0" name="表格 7"/>
          <p:cNvGraphicFramePr>
            <a:graphicFrameLocks noGrp="1"/>
          </p:cNvGraphicFramePr>
          <p:nvPr/>
        </p:nvGraphicFramePr>
        <p:xfrm>
          <a:off x="1854994" y="2373497"/>
          <a:ext cx="5448300" cy="1135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28376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函数</a:t>
                      </a:r>
                      <a:endParaRPr lang="zh-CN" altLang="en-US" sz="1100" dirty="0"/>
                    </a:p>
                  </a:txBody>
                  <a:tcPr marT="45748" marB="4574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  <a:endParaRPr lang="zh-CN" altLang="en-US" sz="1100" dirty="0"/>
                    </a:p>
                  </a:txBody>
                  <a:tcPr marT="45748" marB="45748"/>
                </a:tc>
              </a:tr>
              <a:tr h="283766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xSemaphoreCreateCounting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48" marB="4574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使用动态方法创建计数型信号量。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48" marB="45748" anchor="ctr"/>
                </a:tc>
              </a:tr>
              <a:tr h="283766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xSemaphoreCreateCountingStatic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48" marB="4574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使用静态方法创建计数型信号量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48" marB="45748" anchor="ctr"/>
                </a:tc>
              </a:tr>
              <a:tr h="283766">
                <a:tc>
                  <a:txBody>
                    <a:bodyPr/>
                    <a:lstStyle/>
                    <a:p>
                      <a:r>
                        <a:rPr lang="en-US" sz="110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uxSemaphoreGetCount</a:t>
                      </a:r>
                      <a:r>
                        <a:rPr 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48" marB="4574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获取信号量的计数值</a:t>
                      </a:r>
                      <a:endParaRPr lang="zh-CN" altLang="en-US" sz="1100" b="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48" marB="45748" anchor="ctr"/>
                </a:tc>
              </a:tr>
            </a:tbl>
          </a:graphicData>
        </a:graphic>
      </p:graphicFrame>
      <p:sp>
        <p:nvSpPr>
          <p:cNvPr id="11" name="文本框 7"/>
          <p:cNvSpPr txBox="1">
            <a:spLocks noChangeArrowheads="1"/>
          </p:cNvSpPr>
          <p:nvPr/>
        </p:nvSpPr>
        <p:spPr bwMode="auto">
          <a:xfrm>
            <a:off x="1854994" y="4181660"/>
            <a:ext cx="46196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计数型信号量的释放和获取与二值信号量相同 ！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473994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zh-CN" altLang="en-US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计数型信号量创建</a:t>
            </a:r>
            <a:r>
              <a:rPr lang="en-US" altLang="zh-CN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</a:t>
            </a:r>
            <a:endParaRPr lang="en-US" altLang="zh-CN" b="1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59"/>
          <p:cNvSpPr txBox="1">
            <a:spLocks noChangeArrowheads="1"/>
          </p:cNvSpPr>
          <p:nvPr/>
        </p:nvSpPr>
        <p:spPr bwMode="auto">
          <a:xfrm>
            <a:off x="1845469" y="1756489"/>
            <a:ext cx="9419810" cy="7077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40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#define 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xSemaphoreCreateCounting(  </a:t>
            </a:r>
            <a:r>
              <a:rPr lang="en-US" altLang="zh-CN" sz="14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uxMaxCount  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,  </a:t>
            </a:r>
            <a:r>
              <a:rPr lang="en-US" altLang="zh-CN" sz="14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uxInitialCount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 )   		\</a:t>
            </a:r>
            <a:b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</a:b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	xQueueCreateCountingSemaphore( (  </a:t>
            </a:r>
            <a:r>
              <a:rPr lang="en-US" altLang="zh-CN" sz="14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uxMaxCount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 ) , (  </a:t>
            </a:r>
            <a:r>
              <a:rPr lang="en-US" altLang="zh-CN" sz="14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uxInitialCount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 ) ) 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0" name="表格 7"/>
          <p:cNvGraphicFramePr>
            <a:graphicFrameLocks noGrp="1"/>
          </p:cNvGraphicFramePr>
          <p:nvPr/>
        </p:nvGraphicFramePr>
        <p:xfrm>
          <a:off x="1845469" y="4112340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/>
                <a:gridCol w="3481387"/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  <a:endParaRPr lang="zh-CN" altLang="en-US" sz="1100" dirty="0"/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  <a:endParaRPr lang="zh-CN" altLang="en-US" sz="1100" dirty="0"/>
                    </a:p>
                  </a:txBody>
                  <a:tcPr marT="45727" marB="45727"/>
                </a:tc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NULL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23" marB="4572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创建失败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23" marB="45723" anchor="ctr"/>
                </a:tc>
              </a:tr>
              <a:tr h="283633"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其他值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23" marB="4572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创建成功返回计数型信号量的句柄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23" marB="45723" anchor="ctr"/>
                </a:tc>
              </a:tr>
            </a:tbl>
          </a:graphicData>
        </a:graphic>
      </p:graphicFrame>
      <p:graphicFrame>
        <p:nvGraphicFramePr>
          <p:cNvPr id="11" name="表格 7"/>
          <p:cNvGraphicFramePr>
            <a:graphicFrameLocks noGrp="1"/>
          </p:cNvGraphicFramePr>
          <p:nvPr/>
        </p:nvGraphicFramePr>
        <p:xfrm>
          <a:off x="1845469" y="3056652"/>
          <a:ext cx="5448300" cy="849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/>
                <a:gridCol w="3481387"/>
              </a:tblGrid>
              <a:tr h="28310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  <a:endParaRPr lang="zh-CN" altLang="en-US" sz="1100" dirty="0"/>
                    </a:p>
                  </a:txBody>
                  <a:tcPr marT="45641" marB="4564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  <a:endParaRPr lang="zh-CN" altLang="en-US" sz="1100" dirty="0"/>
                    </a:p>
                  </a:txBody>
                  <a:tcPr marT="45641" marB="45641"/>
                </a:tc>
              </a:tr>
              <a:tr h="283104">
                <a:tc>
                  <a:txBody>
                    <a:bodyPr/>
                    <a:lstStyle/>
                    <a:p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uxMaxCount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41" marB="4564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计数值的最大值限定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41" marB="45641" anchor="ctr"/>
                </a:tc>
              </a:tr>
              <a:tr h="283104">
                <a:tc>
                  <a:txBody>
                    <a:bodyPr/>
                    <a:lstStyle/>
                    <a:p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uxInitialCount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41" marB="4564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计数值的初始值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41" marB="45641" anchor="ctr"/>
                </a:tc>
              </a:tr>
            </a:tbl>
          </a:graphicData>
        </a:graphic>
      </p:graphicFrame>
      <p:sp>
        <p:nvSpPr>
          <p:cNvPr id="12" name="矩形 11"/>
          <p:cNvSpPr/>
          <p:nvPr/>
        </p:nvSpPr>
        <p:spPr>
          <a:xfrm>
            <a:off x="1845468" y="1780301"/>
            <a:ext cx="9705499" cy="707717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3" name="文本框 2"/>
          <p:cNvSpPr txBox="1">
            <a:spLocks noChangeArrowheads="1"/>
          </p:cNvSpPr>
          <p:nvPr/>
        </p:nvSpPr>
        <p:spPr bwMode="auto">
          <a:xfrm>
            <a:off x="1764506" y="2645490"/>
            <a:ext cx="30988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此函数用于创建一个计数型信号量 。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519238" y="1161177"/>
            <a:ext cx="4619625" cy="5067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zh-CN" altLang="en-US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计数型信号量获取</a:t>
            </a:r>
            <a:r>
              <a:rPr lang="en-US" altLang="zh-CN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</a:t>
            </a:r>
            <a:endParaRPr lang="en-US" altLang="zh-CN" b="1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59"/>
          <p:cNvSpPr txBox="1">
            <a:spLocks noChangeArrowheads="1"/>
          </p:cNvSpPr>
          <p:nvPr/>
        </p:nvSpPr>
        <p:spPr bwMode="auto">
          <a:xfrm>
            <a:off x="1890713" y="1756489"/>
            <a:ext cx="9568078" cy="7005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#define 	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uxSemaphoreGetCount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xSemaphore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) 						\</a:t>
            </a:r>
            <a:b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</a:b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	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uxQueueMessagesWaiting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 (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QueueHandle_t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) (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xSemaphore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) )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0" name="表格 7"/>
          <p:cNvGraphicFramePr>
            <a:graphicFrameLocks noGrp="1"/>
          </p:cNvGraphicFramePr>
          <p:nvPr/>
        </p:nvGraphicFramePr>
        <p:xfrm>
          <a:off x="1890713" y="3898027"/>
          <a:ext cx="5448300" cy="566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/>
                <a:gridCol w="3481387"/>
              </a:tblGrid>
              <a:tr h="28336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  <a:endParaRPr lang="zh-CN" altLang="en-US" sz="1100" dirty="0"/>
                    </a:p>
                  </a:txBody>
                  <a:tcPr marT="45684" marB="456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  <a:endParaRPr lang="zh-CN" altLang="en-US" sz="1100" dirty="0"/>
                    </a:p>
                  </a:txBody>
                  <a:tcPr marT="45684" marB="45684"/>
                </a:tc>
              </a:tr>
              <a:tr h="283369"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整数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80" marB="4568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当前信号量的计数值大小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80" marB="45680" anchor="ctr"/>
                </a:tc>
              </a:tr>
            </a:tbl>
          </a:graphicData>
        </a:graphic>
      </p:graphicFrame>
      <p:graphicFrame>
        <p:nvGraphicFramePr>
          <p:cNvPr id="11" name="表格 7"/>
          <p:cNvGraphicFramePr>
            <a:graphicFrameLocks noGrp="1"/>
          </p:cNvGraphicFramePr>
          <p:nvPr/>
        </p:nvGraphicFramePr>
        <p:xfrm>
          <a:off x="1890713" y="3110627"/>
          <a:ext cx="5448300" cy="566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/>
                <a:gridCol w="3481387"/>
              </a:tblGrid>
              <a:tr h="28336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  <a:endParaRPr lang="zh-CN" altLang="en-US" sz="1100" dirty="0"/>
                    </a:p>
                  </a:txBody>
                  <a:tcPr marT="45684" marB="456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  <a:endParaRPr lang="zh-CN" altLang="en-US" sz="1100" dirty="0"/>
                    </a:p>
                  </a:txBody>
                  <a:tcPr marT="45684" marB="45684"/>
                </a:tc>
              </a:tr>
              <a:tr h="283369">
                <a:tc>
                  <a:txBody>
                    <a:bodyPr/>
                    <a:lstStyle/>
                    <a:p>
                      <a:r>
                        <a:rPr lang="en-US" altLang="zh-CN" sz="1100" dirty="0" err="1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xSemaphore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84" marB="4568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信号量句柄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84" marB="45684" anchor="ctr"/>
                </a:tc>
              </a:tr>
            </a:tbl>
          </a:graphicData>
        </a:graphic>
      </p:graphicFrame>
      <p:sp>
        <p:nvSpPr>
          <p:cNvPr id="12" name="矩形 11"/>
          <p:cNvSpPr/>
          <p:nvPr/>
        </p:nvSpPr>
        <p:spPr>
          <a:xfrm>
            <a:off x="1890713" y="1780302"/>
            <a:ext cx="9858264" cy="80852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3" name="文本框 2"/>
          <p:cNvSpPr txBox="1">
            <a:spLocks noChangeArrowheads="1"/>
          </p:cNvSpPr>
          <p:nvPr/>
        </p:nvSpPr>
        <p:spPr bwMode="auto">
          <a:xfrm>
            <a:off x="1809750" y="2645490"/>
            <a:ext cx="323691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此函数用于获取信号量当前计数值大小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370383" y="1111398"/>
            <a:ext cx="4619625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1</a:t>
            </a:r>
            <a:r>
              <a:rPr lang="zh-CN" altLang="en-US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，队列简介</a:t>
            </a:r>
            <a:endParaRPr lang="en-US" altLang="zh-CN" b="1" dirty="0">
              <a:solidFill>
                <a:schemeClr val="bg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748208" y="1762273"/>
            <a:ext cx="7043737" cy="3079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zh-CN" altLang="en-US" sz="1400" dirty="0">
                <a:solidFill>
                  <a:schemeClr val="bg2"/>
                </a:solidFill>
                <a:latin typeface="思源黑体 CN Normal" pitchFamily="34" charset="-122"/>
                <a:ea typeface="思源黑体 CN Normal" pitchFamily="34" charset="-122"/>
              </a:rPr>
              <a:t>队列是任务到任务、任务到中断、中断到任务数据交流的一种机制（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消息传递</a:t>
            </a:r>
            <a:r>
              <a:rPr lang="zh-CN" altLang="en-US" sz="1400" dirty="0">
                <a:solidFill>
                  <a:schemeClr val="bg2"/>
                </a:solidFill>
                <a:latin typeface="思源黑体 CN Normal" pitchFamily="34" charset="-122"/>
                <a:ea typeface="思源黑体 CN Normal" pitchFamily="34" charset="-122"/>
              </a:rPr>
              <a:t>）</a:t>
            </a: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zh-CN" altLang="en-US" sz="1400" dirty="0">
              <a:solidFill>
                <a:schemeClr val="accent5">
                  <a:lumMod val="50000"/>
                </a:schemeClr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0" name="文本框 160"/>
          <p:cNvSpPr txBox="1">
            <a:spLocks noChangeArrowheads="1"/>
          </p:cNvSpPr>
          <p:nvPr/>
        </p:nvSpPr>
        <p:spPr bwMode="auto">
          <a:xfrm>
            <a:off x="1733920" y="2251223"/>
            <a:ext cx="70437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类似全局变量？假设有一个全局变量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 = 0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，现有两个任务都在写这个变量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" name="矩形 10"/>
          <p:cNvSpPr/>
          <p:nvPr/>
        </p:nvSpPr>
        <p:spPr bwMode="auto">
          <a:xfrm>
            <a:off x="1914895" y="2951310"/>
            <a:ext cx="3354387" cy="124854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400" dirty="0">
                <a:solidFill>
                  <a:schemeClr val="bg2"/>
                </a:solidFill>
                <a:latin typeface="思源黑体 CN Normal" pitchFamily="34" charset="-122"/>
                <a:ea typeface="思源黑体 CN Normal" pitchFamily="34" charset="-122"/>
              </a:rPr>
              <a:t>任务</a:t>
            </a:r>
            <a:r>
              <a:rPr lang="en-US" altLang="zh-CN" sz="1400" dirty="0">
                <a:solidFill>
                  <a:schemeClr val="bg2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chemeClr val="bg2"/>
                </a:solidFill>
                <a:latin typeface="思源黑体 CN Normal" pitchFamily="34" charset="-122"/>
                <a:ea typeface="思源黑体 CN Normal" pitchFamily="34" charset="-122"/>
              </a:rPr>
              <a:t>（）</a:t>
            </a:r>
            <a:endParaRPr lang="en-US" altLang="zh-CN" sz="1400" dirty="0">
              <a:solidFill>
                <a:schemeClr val="bg2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defRPr/>
            </a:pPr>
            <a:r>
              <a:rPr lang="en-US" altLang="zh-CN" sz="1400" dirty="0">
                <a:solidFill>
                  <a:schemeClr val="bg2"/>
                </a:solidFill>
                <a:latin typeface="思源黑体 CN Normal" pitchFamily="34" charset="-122"/>
                <a:ea typeface="思源黑体 CN Normal" pitchFamily="34" charset="-122"/>
              </a:rPr>
              <a:t>{</a:t>
            </a:r>
            <a:endParaRPr lang="en-US" altLang="zh-CN" sz="1400" dirty="0">
              <a:solidFill>
                <a:schemeClr val="bg2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defRPr/>
            </a:pPr>
            <a:r>
              <a:rPr lang="en-US" altLang="zh-CN" sz="1400" dirty="0">
                <a:solidFill>
                  <a:schemeClr val="bg2"/>
                </a:solidFill>
                <a:latin typeface="思源黑体 CN Normal" pitchFamily="34" charset="-122"/>
                <a:ea typeface="思源黑体 CN Normal" pitchFamily="34" charset="-122"/>
              </a:rPr>
              <a:t>	a++;</a:t>
            </a:r>
            <a:endParaRPr lang="en-US" altLang="zh-CN" sz="1400" dirty="0">
              <a:solidFill>
                <a:schemeClr val="bg2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defRPr/>
            </a:pPr>
            <a:r>
              <a:rPr lang="en-US" altLang="zh-CN" sz="1400" dirty="0">
                <a:solidFill>
                  <a:schemeClr val="bg2"/>
                </a:solidFill>
                <a:latin typeface="思源黑体 CN Normal" pitchFamily="34" charset="-122"/>
                <a:ea typeface="思源黑体 CN Normal" pitchFamily="34" charset="-122"/>
              </a:rPr>
              <a:t>}</a:t>
            </a:r>
            <a:endParaRPr lang="zh-CN" altLang="en-US" sz="1400" dirty="0">
              <a:solidFill>
                <a:schemeClr val="bg2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" name="左大括号 11"/>
          <p:cNvSpPr/>
          <p:nvPr/>
        </p:nvSpPr>
        <p:spPr bwMode="auto">
          <a:xfrm>
            <a:off x="3327769" y="3348519"/>
            <a:ext cx="161925" cy="68738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3" name="文本框 12"/>
          <p:cNvSpPr txBox="1"/>
          <p:nvPr/>
        </p:nvSpPr>
        <p:spPr bwMode="auto">
          <a:xfrm>
            <a:off x="3445244" y="3267963"/>
            <a:ext cx="1316038" cy="2619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1100" dirty="0">
                <a:solidFill>
                  <a:schemeClr val="accent5">
                    <a:lumMod val="50000"/>
                  </a:schemeClr>
                </a:solidFill>
                <a:latin typeface="思源黑体 CN Normal" pitchFamily="34" charset="-122"/>
                <a:ea typeface="思源黑体 CN Normal" pitchFamily="34" charset="-122"/>
              </a:rPr>
              <a:t>①读数据：</a:t>
            </a:r>
            <a:r>
              <a:rPr lang="en-US" altLang="zh-CN" sz="1100" dirty="0">
                <a:solidFill>
                  <a:schemeClr val="accent5">
                    <a:lumMod val="50000"/>
                  </a:schemeClr>
                </a:solidFill>
                <a:latin typeface="思源黑体 CN Normal" pitchFamily="34" charset="-122"/>
                <a:ea typeface="思源黑体 CN Normal" pitchFamily="34" charset="-122"/>
              </a:rPr>
              <a:t>r0 &lt;= a</a:t>
            </a:r>
            <a:endParaRPr lang="zh-CN" altLang="en-US" sz="1100" dirty="0">
              <a:solidFill>
                <a:schemeClr val="accent5">
                  <a:lumMod val="50000"/>
                </a:schemeClr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文本框 13"/>
          <p:cNvSpPr txBox="1"/>
          <p:nvPr/>
        </p:nvSpPr>
        <p:spPr bwMode="auto">
          <a:xfrm>
            <a:off x="3445244" y="3537838"/>
            <a:ext cx="1649413" cy="2619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1100" dirty="0">
                <a:solidFill>
                  <a:schemeClr val="accent5">
                    <a:lumMod val="50000"/>
                  </a:schemeClr>
                </a:solidFill>
                <a:latin typeface="思源黑体 CN Normal" pitchFamily="34" charset="-122"/>
                <a:ea typeface="思源黑体 CN Normal" pitchFamily="34" charset="-122"/>
              </a:rPr>
              <a:t>②修改数据：</a:t>
            </a:r>
            <a:r>
              <a:rPr lang="en-US" altLang="zh-CN" sz="1100" dirty="0">
                <a:solidFill>
                  <a:schemeClr val="accent5">
                    <a:lumMod val="50000"/>
                  </a:schemeClr>
                </a:solidFill>
                <a:latin typeface="思源黑体 CN Normal" pitchFamily="34" charset="-122"/>
                <a:ea typeface="思源黑体 CN Normal" pitchFamily="34" charset="-122"/>
              </a:rPr>
              <a:t>r0 = r0 + 1</a:t>
            </a:r>
            <a:endParaRPr lang="zh-CN" altLang="en-US" sz="1100" dirty="0">
              <a:solidFill>
                <a:schemeClr val="accent5">
                  <a:lumMod val="50000"/>
                </a:schemeClr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" name="文本框 14"/>
          <p:cNvSpPr txBox="1"/>
          <p:nvPr/>
        </p:nvSpPr>
        <p:spPr bwMode="auto">
          <a:xfrm>
            <a:off x="3462707" y="3799775"/>
            <a:ext cx="1316037" cy="2619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1100" dirty="0">
                <a:solidFill>
                  <a:schemeClr val="accent5">
                    <a:lumMod val="50000"/>
                  </a:schemeClr>
                </a:solidFill>
                <a:latin typeface="思源黑体 CN Normal" pitchFamily="34" charset="-122"/>
                <a:ea typeface="思源黑体 CN Normal" pitchFamily="34" charset="-122"/>
              </a:rPr>
              <a:t>③写数据：</a:t>
            </a:r>
            <a:r>
              <a:rPr lang="en-US" altLang="zh-CN" sz="1100" dirty="0">
                <a:solidFill>
                  <a:schemeClr val="accent5">
                    <a:lumMod val="50000"/>
                  </a:schemeClr>
                </a:solidFill>
                <a:latin typeface="思源黑体 CN Normal" pitchFamily="34" charset="-122"/>
                <a:ea typeface="思源黑体 CN Normal" pitchFamily="34" charset="-122"/>
              </a:rPr>
              <a:t>r0 =&gt; a</a:t>
            </a:r>
            <a:endParaRPr lang="zh-CN" altLang="en-US" sz="1100" dirty="0">
              <a:solidFill>
                <a:schemeClr val="accent5">
                  <a:lumMod val="50000"/>
                </a:schemeClr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6" name="矩形 15"/>
          <p:cNvSpPr/>
          <p:nvPr/>
        </p:nvSpPr>
        <p:spPr bwMode="auto">
          <a:xfrm>
            <a:off x="5943970" y="2951311"/>
            <a:ext cx="4087849" cy="12065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latin typeface="思源黑体 CN Normal" pitchFamily="34" charset="-122"/>
                <a:ea typeface="思源黑体 CN Normal" pitchFamily="34" charset="-122"/>
              </a:rPr>
              <a:t>任务</a:t>
            </a: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latin typeface="思源黑体 CN Normal" pitchFamily="34" charset="-122"/>
                <a:ea typeface="思源黑体 CN Normal" pitchFamily="34" charset="-122"/>
              </a:rPr>
              <a:t>（）</a:t>
            </a:r>
            <a:endParaRPr lang="en-US" altLang="zh-CN" sz="1400" dirty="0">
              <a:solidFill>
                <a:schemeClr val="accent5">
                  <a:lumMod val="50000"/>
                </a:schemeClr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defRPr/>
            </a:pP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latin typeface="思源黑体 CN Normal" pitchFamily="34" charset="-122"/>
                <a:ea typeface="思源黑体 CN Normal" pitchFamily="34" charset="-122"/>
              </a:rPr>
              <a:t>{</a:t>
            </a:r>
            <a:endParaRPr lang="en-US" altLang="zh-CN" sz="1400" dirty="0">
              <a:solidFill>
                <a:schemeClr val="accent5">
                  <a:lumMod val="50000"/>
                </a:schemeClr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defRPr/>
            </a:pP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latin typeface="思源黑体 CN Normal" pitchFamily="34" charset="-122"/>
                <a:ea typeface="思源黑体 CN Normal" pitchFamily="34" charset="-122"/>
              </a:rPr>
              <a:t>	a++;</a:t>
            </a:r>
            <a:endParaRPr lang="en-US" altLang="zh-CN" sz="1400" dirty="0">
              <a:solidFill>
                <a:schemeClr val="accent5">
                  <a:lumMod val="50000"/>
                </a:schemeClr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defRPr/>
            </a:pP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latin typeface="思源黑体 CN Normal" pitchFamily="34" charset="-122"/>
                <a:ea typeface="思源黑体 CN Normal" pitchFamily="34" charset="-122"/>
              </a:rPr>
              <a:t>}</a:t>
            </a:r>
            <a:endParaRPr lang="zh-CN" altLang="en-US" sz="1400" dirty="0">
              <a:solidFill>
                <a:schemeClr val="accent5">
                  <a:lumMod val="50000"/>
                </a:schemeClr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7" name="左大括号 16"/>
          <p:cNvSpPr/>
          <p:nvPr/>
        </p:nvSpPr>
        <p:spPr bwMode="auto">
          <a:xfrm>
            <a:off x="7391918" y="3296022"/>
            <a:ext cx="161925" cy="68738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8" name="文本框 17"/>
          <p:cNvSpPr txBox="1"/>
          <p:nvPr/>
        </p:nvSpPr>
        <p:spPr bwMode="auto">
          <a:xfrm>
            <a:off x="7536381" y="3242047"/>
            <a:ext cx="1317625" cy="2619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1100" dirty="0">
                <a:solidFill>
                  <a:schemeClr val="accent5">
                    <a:lumMod val="50000"/>
                  </a:schemeClr>
                </a:solidFill>
                <a:latin typeface="思源黑体 CN Normal" pitchFamily="34" charset="-122"/>
                <a:ea typeface="思源黑体 CN Normal" pitchFamily="34" charset="-122"/>
              </a:rPr>
              <a:t>①读数据：</a:t>
            </a:r>
            <a:r>
              <a:rPr lang="en-US" altLang="zh-CN" sz="1100" dirty="0">
                <a:solidFill>
                  <a:schemeClr val="accent5">
                    <a:lumMod val="50000"/>
                  </a:schemeClr>
                </a:solidFill>
                <a:latin typeface="思源黑体 CN Normal" pitchFamily="34" charset="-122"/>
                <a:ea typeface="思源黑体 CN Normal" pitchFamily="34" charset="-122"/>
              </a:rPr>
              <a:t>r0 &lt;= a</a:t>
            </a:r>
            <a:endParaRPr lang="zh-CN" altLang="en-US" sz="1100" dirty="0">
              <a:solidFill>
                <a:schemeClr val="accent5">
                  <a:lumMod val="50000"/>
                </a:schemeClr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9" name="文本框 18"/>
          <p:cNvSpPr txBox="1"/>
          <p:nvPr/>
        </p:nvSpPr>
        <p:spPr bwMode="auto">
          <a:xfrm>
            <a:off x="7536381" y="3511922"/>
            <a:ext cx="1651000" cy="2619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1100" dirty="0">
                <a:solidFill>
                  <a:schemeClr val="accent5">
                    <a:lumMod val="50000"/>
                  </a:schemeClr>
                </a:solidFill>
                <a:latin typeface="思源黑体 CN Normal" pitchFamily="34" charset="-122"/>
                <a:ea typeface="思源黑体 CN Normal" pitchFamily="34" charset="-122"/>
              </a:rPr>
              <a:t>②修改数据：</a:t>
            </a:r>
            <a:r>
              <a:rPr lang="en-US" altLang="zh-CN" sz="1100" dirty="0">
                <a:solidFill>
                  <a:schemeClr val="accent5">
                    <a:lumMod val="50000"/>
                  </a:schemeClr>
                </a:solidFill>
                <a:latin typeface="思源黑体 CN Normal" pitchFamily="34" charset="-122"/>
                <a:ea typeface="思源黑体 CN Normal" pitchFamily="34" charset="-122"/>
              </a:rPr>
              <a:t>r0 = r0 + 1</a:t>
            </a:r>
            <a:endParaRPr lang="zh-CN" altLang="en-US" sz="1100" dirty="0">
              <a:solidFill>
                <a:schemeClr val="accent5">
                  <a:lumMod val="50000"/>
                </a:schemeClr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0" name="文本框 19"/>
          <p:cNvSpPr txBox="1"/>
          <p:nvPr/>
        </p:nvSpPr>
        <p:spPr bwMode="auto">
          <a:xfrm>
            <a:off x="7553843" y="3773860"/>
            <a:ext cx="1317625" cy="2619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1100" dirty="0">
                <a:solidFill>
                  <a:schemeClr val="accent5">
                    <a:lumMod val="50000"/>
                  </a:schemeClr>
                </a:solidFill>
                <a:latin typeface="思源黑体 CN Normal" pitchFamily="34" charset="-122"/>
                <a:ea typeface="思源黑体 CN Normal" pitchFamily="34" charset="-122"/>
              </a:rPr>
              <a:t>③写数据：</a:t>
            </a:r>
            <a:r>
              <a:rPr lang="en-US" altLang="zh-CN" sz="1100" dirty="0">
                <a:solidFill>
                  <a:schemeClr val="accent5">
                    <a:lumMod val="50000"/>
                  </a:schemeClr>
                </a:solidFill>
                <a:latin typeface="思源黑体 CN Normal" pitchFamily="34" charset="-122"/>
                <a:ea typeface="思源黑体 CN Normal" pitchFamily="34" charset="-122"/>
              </a:rPr>
              <a:t>r0 =&gt; a</a:t>
            </a:r>
            <a:endParaRPr lang="zh-CN" altLang="en-US" sz="1100" dirty="0">
              <a:solidFill>
                <a:schemeClr val="accent5">
                  <a:lumMod val="50000"/>
                </a:schemeClr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1" name="文本框 31"/>
          <p:cNvSpPr txBox="1">
            <a:spLocks noChangeArrowheads="1"/>
          </p:cNvSpPr>
          <p:nvPr/>
        </p:nvSpPr>
        <p:spPr bwMode="auto">
          <a:xfrm>
            <a:off x="1899020" y="4541986"/>
            <a:ext cx="83835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全局变量的弊端</a:t>
            </a:r>
            <a:r>
              <a:rPr lang="zh-CN" altLang="en-US" sz="1400" b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：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数据无保护，导致数据不安全，当多个任务同时对该变量操作时，数据易受损</a:t>
            </a:r>
            <a:endParaRPr lang="zh-CN" altLang="en-US" sz="1400" b="1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1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391647" y="1223039"/>
            <a:ext cx="2346325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1</a:t>
            </a:r>
            <a:r>
              <a:rPr lang="zh-CN" altLang="en-US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，队列简介</a:t>
            </a:r>
            <a:endParaRPr lang="en-US" altLang="zh-CN" b="1" dirty="0">
              <a:solidFill>
                <a:schemeClr val="bg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769472" y="1873914"/>
            <a:ext cx="7043737" cy="3079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zh-CN" altLang="en-US" sz="1400" dirty="0">
                <a:solidFill>
                  <a:schemeClr val="bg2"/>
                </a:solidFill>
                <a:latin typeface="思源黑体 CN Normal" pitchFamily="34" charset="-122"/>
                <a:ea typeface="思源黑体 CN Normal" pitchFamily="34" charset="-122"/>
              </a:rPr>
              <a:t>使用队列的情况如下：</a:t>
            </a:r>
            <a:endParaRPr lang="zh-CN" altLang="en-US" sz="1400" dirty="0">
              <a:solidFill>
                <a:schemeClr val="bg2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0" name="矩形: 圆角 9"/>
          <p:cNvSpPr/>
          <p:nvPr/>
        </p:nvSpPr>
        <p:spPr>
          <a:xfrm>
            <a:off x="2075859" y="2380327"/>
            <a:ext cx="1317625" cy="7842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{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     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写队列；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}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" name="矩形: 圆角 10"/>
          <p:cNvSpPr/>
          <p:nvPr/>
        </p:nvSpPr>
        <p:spPr>
          <a:xfrm>
            <a:off x="2075859" y="3272502"/>
            <a:ext cx="1317625" cy="782637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{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     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写队列；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}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pic>
        <p:nvPicPr>
          <p:cNvPr id="12" name="图片 2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209" y="2826414"/>
            <a:ext cx="2359025" cy="738188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直接箭头连接符 12"/>
          <p:cNvCxnSpPr>
            <a:stCxn id="10" idx="3"/>
            <a:endCxn id="12" idx="1"/>
          </p:cNvCxnSpPr>
          <p:nvPr/>
        </p:nvCxnSpPr>
        <p:spPr>
          <a:xfrm>
            <a:off x="3393484" y="2772439"/>
            <a:ext cx="720725" cy="4238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>
            <a:stCxn id="11" idx="3"/>
            <a:endCxn id="12" idx="1"/>
          </p:cNvCxnSpPr>
          <p:nvPr/>
        </p:nvCxnSpPr>
        <p:spPr>
          <a:xfrm flipV="1">
            <a:off x="3393484" y="3196302"/>
            <a:ext cx="720725" cy="466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/>
          <p:cNvSpPr/>
          <p:nvPr/>
        </p:nvSpPr>
        <p:spPr>
          <a:xfrm>
            <a:off x="7139984" y="2797839"/>
            <a:ext cx="1317625" cy="7842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C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{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     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读队列；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}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cxnSp>
        <p:nvCxnSpPr>
          <p:cNvPr id="16" name="直接箭头连接符 15"/>
          <p:cNvCxnSpPr>
            <a:stCxn id="12" idx="3"/>
            <a:endCxn id="15" idx="1"/>
          </p:cNvCxnSpPr>
          <p:nvPr/>
        </p:nvCxnSpPr>
        <p:spPr>
          <a:xfrm flipV="1">
            <a:off x="6473234" y="3189952"/>
            <a:ext cx="666750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组合 46"/>
          <p:cNvGrpSpPr/>
          <p:nvPr/>
        </p:nvGrpSpPr>
        <p:grpSpPr bwMode="auto">
          <a:xfrm>
            <a:off x="2075859" y="4117052"/>
            <a:ext cx="2220595" cy="1399540"/>
            <a:chOff x="831151" y="3571619"/>
            <a:chExt cx="2221407" cy="1398813"/>
          </a:xfrm>
        </p:grpSpPr>
        <p:sp>
          <p:nvSpPr>
            <p:cNvPr id="18" name="文本框 50"/>
            <p:cNvSpPr txBox="1">
              <a:spLocks noChangeArrowheads="1"/>
            </p:cNvSpPr>
            <p:nvPr/>
          </p:nvSpPr>
          <p:spPr bwMode="auto">
            <a:xfrm>
              <a:off x="831151" y="3571619"/>
              <a:ext cx="2221407" cy="13988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no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en-US" altLang="zh-CN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写队列：</a:t>
              </a:r>
              <a:endParaRPr lang="en-US" altLang="zh-CN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xQueueSend( )</a:t>
              </a:r>
              <a:endParaRPr lang="en-US" altLang="zh-CN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{</a:t>
              </a:r>
              <a:endParaRPr lang="en-US" altLang="zh-CN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  //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进入临界区（关中断）</a:t>
              </a:r>
              <a:endParaRPr lang="en-US" altLang="zh-CN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  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写队列实际操作</a:t>
              </a:r>
              <a:endParaRPr lang="en-US" altLang="zh-CN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 //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退出临界区（开中断）</a:t>
              </a:r>
              <a:endParaRPr lang="en-US" altLang="zh-CN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}</a:t>
              </a:r>
              <a:endParaRPr lang="zh-CN" altLang="en-US" sz="1100"/>
            </a:p>
          </p:txBody>
        </p:sp>
        <p:sp>
          <p:nvSpPr>
            <p:cNvPr id="19" name="矩形 18"/>
            <p:cNvSpPr/>
            <p:nvPr/>
          </p:nvSpPr>
          <p:spPr>
            <a:xfrm>
              <a:off x="831151" y="3571619"/>
              <a:ext cx="2159154" cy="1232529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pSp>
        <p:nvGrpSpPr>
          <p:cNvPr id="20" name="组合 47"/>
          <p:cNvGrpSpPr/>
          <p:nvPr/>
        </p:nvGrpSpPr>
        <p:grpSpPr bwMode="auto">
          <a:xfrm>
            <a:off x="4712697" y="4094827"/>
            <a:ext cx="2230755" cy="1303020"/>
            <a:chOff x="4767263" y="3521384"/>
            <a:chExt cx="2231571" cy="1302343"/>
          </a:xfrm>
        </p:grpSpPr>
        <p:sp>
          <p:nvSpPr>
            <p:cNvPr id="21" name="文本框 62"/>
            <p:cNvSpPr txBox="1">
              <a:spLocks noChangeArrowheads="1"/>
            </p:cNvSpPr>
            <p:nvPr/>
          </p:nvSpPr>
          <p:spPr bwMode="auto">
            <a:xfrm>
              <a:off x="4767263" y="3521384"/>
              <a:ext cx="2231571" cy="13023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no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en-US" altLang="zh-CN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读队列：</a:t>
              </a:r>
              <a:endParaRPr lang="en-US" altLang="zh-CN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xQueueReceive( )</a:t>
              </a:r>
              <a:endParaRPr lang="en-US" altLang="zh-CN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{</a:t>
              </a:r>
              <a:endParaRPr lang="en-US" altLang="zh-CN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  //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进入临界区（关中断）</a:t>
              </a:r>
              <a:endParaRPr lang="en-US" altLang="zh-CN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  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读队列实际操作</a:t>
              </a:r>
              <a:endParaRPr lang="en-US" altLang="zh-CN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 //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退出临界区（开中断）</a:t>
              </a:r>
              <a:endParaRPr lang="en-US" altLang="zh-CN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}</a:t>
              </a:r>
              <a:endParaRPr lang="zh-CN" altLang="en-US" sz="1100"/>
            </a:p>
          </p:txBody>
        </p:sp>
        <p:sp>
          <p:nvSpPr>
            <p:cNvPr id="22" name="矩形 21"/>
            <p:cNvSpPr/>
            <p:nvPr/>
          </p:nvSpPr>
          <p:spPr>
            <a:xfrm>
              <a:off x="4767263" y="3521384"/>
              <a:ext cx="2159154" cy="1255377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23" name="文本框 48"/>
          <p:cNvSpPr txBox="1">
            <a:spLocks noChangeArrowheads="1"/>
          </p:cNvSpPr>
          <p:nvPr/>
        </p:nvSpPr>
        <p:spPr bwMode="auto">
          <a:xfrm>
            <a:off x="6817722" y="4310727"/>
            <a:ext cx="3570287" cy="617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读写队列做好了保护，防止多任务同时访问冲突；</a:t>
            </a:r>
            <a:endParaRPr lang="en-US" altLang="zh-CN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我们只需要直接调用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函数即可，简单易用！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4" name="文本框 23"/>
          <p:cNvSpPr txBox="1">
            <a:spLocks noChangeArrowheads="1"/>
          </p:cNvSpPr>
          <p:nvPr/>
        </p:nvSpPr>
        <p:spPr bwMode="auto">
          <a:xfrm>
            <a:off x="3987209" y="1796127"/>
            <a:ext cx="6126163" cy="617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基于队列， 实现了多种功能，其中包括队列集、互斥信号量、计数型信号量、</a:t>
            </a:r>
            <a:endParaRPr lang="en-US" altLang="zh-CN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二值信号量、 递归互斥信号量，因此很有必要深入了解 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的队列 。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11" grpId="0" animBg="1"/>
      <p:bldP spid="15" grpId="0" animBg="1"/>
      <p:bldP spid="23" grpId="0"/>
      <p:bldP spid="24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588350" y="1116714"/>
            <a:ext cx="4619625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1</a:t>
            </a:r>
            <a:r>
              <a:rPr lang="zh-CN" altLang="en-US" b="1" dirty="0">
                <a:solidFill>
                  <a:schemeClr val="bg2"/>
                </a:solidFill>
                <a:latin typeface="思源黑体 CN Bold" pitchFamily="34" charset="-122"/>
                <a:ea typeface="思源黑体 CN Bold" pitchFamily="34" charset="-122"/>
              </a:rPr>
              <a:t>，队列简介</a:t>
            </a:r>
            <a:endParaRPr lang="en-US" altLang="zh-CN" b="1" dirty="0">
              <a:solidFill>
                <a:schemeClr val="bg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32"/>
          <p:cNvSpPr txBox="1">
            <a:spLocks noChangeArrowheads="1"/>
          </p:cNvSpPr>
          <p:nvPr/>
        </p:nvSpPr>
        <p:spPr bwMode="auto">
          <a:xfrm>
            <a:off x="1923312" y="1562802"/>
            <a:ext cx="7997825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在队列中可以存储数量有限、大小固定的数据。队列中的每一个数据叫做“队列项目”，队列能够存储“队列项目”的最大数量称为队列的长度 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1425" y="2915352"/>
            <a:ext cx="2827337" cy="885825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文本框 12"/>
          <p:cNvSpPr txBox="1">
            <a:spLocks noChangeArrowheads="1"/>
          </p:cNvSpPr>
          <p:nvPr/>
        </p:nvSpPr>
        <p:spPr bwMode="auto">
          <a:xfrm>
            <a:off x="5295162" y="3140777"/>
            <a:ext cx="18161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、队列长度为：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个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" name="文本框 36"/>
          <p:cNvSpPr txBox="1">
            <a:spLocks noChangeArrowheads="1"/>
          </p:cNvSpPr>
          <p:nvPr/>
        </p:nvSpPr>
        <p:spPr bwMode="auto">
          <a:xfrm>
            <a:off x="5287225" y="3505902"/>
            <a:ext cx="24526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、队列项目大小为：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10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字节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cxnSp>
        <p:nvCxnSpPr>
          <p:cNvPr id="13" name="直接连接符 12"/>
          <p:cNvCxnSpPr/>
          <p:nvPr/>
        </p:nvCxnSpPr>
        <p:spPr>
          <a:xfrm>
            <a:off x="2250337" y="3448752"/>
            <a:ext cx="0" cy="5651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2648800" y="3448752"/>
            <a:ext cx="0" cy="5651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文本框 17"/>
          <p:cNvSpPr txBox="1">
            <a:spLocks noChangeArrowheads="1"/>
          </p:cNvSpPr>
          <p:nvPr/>
        </p:nvSpPr>
        <p:spPr bwMode="auto">
          <a:xfrm>
            <a:off x="2175725" y="3931352"/>
            <a:ext cx="542925" cy="230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9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10</a:t>
            </a:r>
            <a:r>
              <a:rPr lang="zh-CN" altLang="en-US" sz="9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字节</a:t>
            </a:r>
            <a:endParaRPr lang="zh-CN" altLang="en-US" sz="9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2245575" y="2667702"/>
            <a:ext cx="0" cy="94615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4672862" y="2667702"/>
            <a:ext cx="0" cy="94615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本框 20"/>
          <p:cNvSpPr txBox="1">
            <a:spLocks noChangeArrowheads="1"/>
          </p:cNvSpPr>
          <p:nvPr/>
        </p:nvSpPr>
        <p:spPr bwMode="auto">
          <a:xfrm>
            <a:off x="3274275" y="2274002"/>
            <a:ext cx="401637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</a:t>
            </a:r>
            <a:r>
              <a:rPr lang="zh-CN" altLang="en-US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个</a:t>
            </a:r>
            <a:endParaRPr lang="zh-CN" altLang="en-US" sz="11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9" name="左大括号 18"/>
          <p:cNvSpPr/>
          <p:nvPr/>
        </p:nvSpPr>
        <p:spPr>
          <a:xfrm rot="5400000">
            <a:off x="3332219" y="1377858"/>
            <a:ext cx="249237" cy="2416175"/>
          </a:xfrm>
          <a:prstGeom prst="leftBrace">
            <a:avLst>
              <a:gd name="adj1" fmla="val 8333"/>
              <a:gd name="adj2" fmla="val 4924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0" name="文本框 50"/>
          <p:cNvSpPr txBox="1">
            <a:spLocks noChangeArrowheads="1"/>
          </p:cNvSpPr>
          <p:nvPr/>
        </p:nvSpPr>
        <p:spPr bwMode="auto">
          <a:xfrm>
            <a:off x="2061425" y="4520314"/>
            <a:ext cx="52752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在创建队列时，就要指定队列长度以及队列项目的大小！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/>
      <p:bldP spid="15" grpId="0"/>
      <p:bldP spid="18" grpId="0"/>
      <p:bldP spid="19" grpId="0" animBg="1"/>
      <p:bldP spid="20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333168" y="1161177"/>
            <a:ext cx="4619625" cy="50673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accent5">
                    <a:lumMod val="50000"/>
                  </a:schemeClr>
                </a:solidFill>
                <a:latin typeface="思源黑体 CN Bold" pitchFamily="34" charset="-122"/>
                <a:ea typeface="思源黑体 CN Bold" pitchFamily="34" charset="-122"/>
              </a:rPr>
              <a:t>1</a:t>
            </a:r>
            <a:r>
              <a:rPr lang="zh-CN" altLang="en-US" b="1" dirty="0">
                <a:solidFill>
                  <a:schemeClr val="accent5">
                    <a:lumMod val="50000"/>
                  </a:schemeClr>
                </a:solidFill>
                <a:latin typeface="思源黑体 CN Bold" pitchFamily="34" charset="-122"/>
                <a:ea typeface="思源黑体 CN Bold" pitchFamily="34" charset="-122"/>
              </a:rPr>
              <a:t>，队列简介</a:t>
            </a:r>
            <a:endParaRPr lang="en-US" altLang="zh-CN" b="1" dirty="0">
              <a:solidFill>
                <a:schemeClr val="accent5">
                  <a:lumMod val="50000"/>
                </a:schemeClr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8"/>
          <p:cNvSpPr txBox="1">
            <a:spLocks noChangeArrowheads="1"/>
          </p:cNvSpPr>
          <p:nvPr/>
        </p:nvSpPr>
        <p:spPr bwMode="auto">
          <a:xfrm>
            <a:off x="1545893" y="1705690"/>
            <a:ext cx="18891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队列特点：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0" name="文本框 91"/>
          <p:cNvSpPr txBox="1">
            <a:spLocks noChangeArrowheads="1"/>
          </p:cNvSpPr>
          <p:nvPr/>
        </p:nvSpPr>
        <p:spPr bwMode="auto">
          <a:xfrm>
            <a:off x="3363580" y="1989852"/>
            <a:ext cx="6927850" cy="552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队列通常采用“先进先出”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(FIFO)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的数据存储缓冲机制，即先入队的数据会先从队列中被读取，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中也可以配置为“后进先出”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LIFO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方式；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" name="文本框 92"/>
          <p:cNvSpPr txBox="1">
            <a:spLocks noChangeArrowheads="1"/>
          </p:cNvSpPr>
          <p:nvPr/>
        </p:nvSpPr>
        <p:spPr bwMode="auto">
          <a:xfrm>
            <a:off x="3363580" y="2581990"/>
            <a:ext cx="6927850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中队列采用实际值传递，即将数据拷贝到队列中进行传递，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FreeRTOS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采用拷贝数据传递，也可以传递指针，所以在传递较大的数据的时候采用指针传递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" name="文本框 93"/>
          <p:cNvSpPr txBox="1">
            <a:spLocks noChangeArrowheads="1"/>
          </p:cNvSpPr>
          <p:nvPr/>
        </p:nvSpPr>
        <p:spPr bwMode="auto">
          <a:xfrm>
            <a:off x="3352468" y="3313827"/>
            <a:ext cx="628015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队列不属于某个任务，任何任务和中断都可以向队列发送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/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读取消息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" name="文本框 94"/>
          <p:cNvSpPr txBox="1">
            <a:spLocks noChangeArrowheads="1"/>
          </p:cNvSpPr>
          <p:nvPr/>
        </p:nvSpPr>
        <p:spPr bwMode="auto">
          <a:xfrm>
            <a:off x="1617330" y="4359990"/>
            <a:ext cx="8285163" cy="793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  <a:buFontTx/>
              <a:buAutoNum type="circleNumDbPlain"/>
            </a:pP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若阻塞时间为0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			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：直接返回不会等待；</a:t>
            </a:r>
            <a:endParaRPr lang="en-US" altLang="zh-CN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30000"/>
              </a:lnSpc>
              <a:buFontTx/>
              <a:buAutoNum type="circleNumDbPlain"/>
            </a:pP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若阻塞时间为0~port_MAX_DELAY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：等待设定的阻塞时间，若在该时间内还无法入队，超时后直接返回不再等待；</a:t>
            </a:r>
            <a:endParaRPr lang="en-US" altLang="zh-CN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30000"/>
              </a:lnSpc>
              <a:buFontTx/>
              <a:buAutoNum type="circleNumDbPlain"/>
            </a:pP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若阻塞时间为port_MAX_DELAY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：死等，一直等到可以入队为止。出队阻塞与入队阻塞类似；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矩形: 圆角 13"/>
          <p:cNvSpPr/>
          <p:nvPr/>
        </p:nvSpPr>
        <p:spPr>
          <a:xfrm>
            <a:off x="1617330" y="2113677"/>
            <a:ext cx="1746250" cy="31908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、数据入队出队方式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" name="矩形: 圆角 14"/>
          <p:cNvSpPr/>
          <p:nvPr/>
        </p:nvSpPr>
        <p:spPr>
          <a:xfrm>
            <a:off x="1617330" y="3848815"/>
            <a:ext cx="1746250" cy="319087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、出队、入队阻塞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6" name="矩形: 圆角 15"/>
          <p:cNvSpPr/>
          <p:nvPr/>
        </p:nvSpPr>
        <p:spPr>
          <a:xfrm>
            <a:off x="1617330" y="2691527"/>
            <a:ext cx="1746250" cy="31908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、数据传递方式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7" name="矩形: 圆角 16"/>
          <p:cNvSpPr/>
          <p:nvPr/>
        </p:nvSpPr>
        <p:spPr>
          <a:xfrm>
            <a:off x="1617330" y="3270965"/>
            <a:ext cx="1746250" cy="319087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、多任务访问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8" name="文本框 100"/>
          <p:cNvSpPr txBox="1">
            <a:spLocks noChangeArrowheads="1"/>
          </p:cNvSpPr>
          <p:nvPr/>
        </p:nvSpPr>
        <p:spPr bwMode="auto">
          <a:xfrm>
            <a:off x="3352468" y="3850402"/>
            <a:ext cx="6194425" cy="31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当任务向一个队列发送消息时，可以指定一个阻塞时间，假设此时当队列已满无法入队</a:t>
            </a:r>
            <a:endParaRPr lang="en-US" altLang="zh-CN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 animBg="1"/>
      <p:bldP spid="15" grpId="0" animBg="1"/>
      <p:bldP spid="16" grpId="0" animBg="1"/>
      <p:bldP spid="17" grpId="0" animBg="1"/>
      <p:bldP spid="18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513682" y="1095449"/>
            <a:ext cx="4619625" cy="50673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accent5">
                    <a:lumMod val="50000"/>
                  </a:schemeClr>
                </a:solidFill>
                <a:latin typeface="思源黑体 CN Bold" pitchFamily="34" charset="-122"/>
                <a:ea typeface="思源黑体 CN Bold" pitchFamily="34" charset="-122"/>
              </a:rPr>
              <a:t>1</a:t>
            </a:r>
            <a:r>
              <a:rPr lang="zh-CN" altLang="en-US" b="1" dirty="0">
                <a:solidFill>
                  <a:schemeClr val="accent5">
                    <a:lumMod val="50000"/>
                  </a:schemeClr>
                </a:solidFill>
                <a:latin typeface="思源黑体 CN Bold" pitchFamily="34" charset="-122"/>
                <a:ea typeface="思源黑体 CN Bold" pitchFamily="34" charset="-122"/>
              </a:rPr>
              <a:t>，队列简介</a:t>
            </a:r>
            <a:endParaRPr lang="en-US" altLang="zh-CN" b="1" dirty="0">
              <a:solidFill>
                <a:schemeClr val="accent5">
                  <a:lumMod val="50000"/>
                </a:schemeClr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8"/>
          <p:cNvSpPr txBox="1">
            <a:spLocks noChangeArrowheads="1"/>
          </p:cNvSpPr>
          <p:nvPr/>
        </p:nvSpPr>
        <p:spPr bwMode="auto">
          <a:xfrm>
            <a:off x="1797844" y="1649487"/>
            <a:ext cx="10826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入队阻塞：</a:t>
            </a:r>
            <a:endParaRPr lang="en-US" altLang="zh-CN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pSp>
        <p:nvGrpSpPr>
          <p:cNvPr id="10" name="组合 7"/>
          <p:cNvGrpSpPr/>
          <p:nvPr/>
        </p:nvGrpSpPr>
        <p:grpSpPr bwMode="auto">
          <a:xfrm>
            <a:off x="3380582" y="2249562"/>
            <a:ext cx="2314575" cy="463550"/>
            <a:chOff x="1971676" y="1396469"/>
            <a:chExt cx="2314574" cy="463551"/>
          </a:xfrm>
        </p:grpSpPr>
        <p:sp>
          <p:nvSpPr>
            <p:cNvPr id="11" name="矩形 10"/>
            <p:cNvSpPr/>
            <p:nvPr/>
          </p:nvSpPr>
          <p:spPr>
            <a:xfrm>
              <a:off x="1971676" y="1396469"/>
              <a:ext cx="2314574" cy="463551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cxnSp>
          <p:nvCxnSpPr>
            <p:cNvPr id="12" name="直接连接符 11"/>
            <p:cNvCxnSpPr/>
            <p:nvPr/>
          </p:nvCxnSpPr>
          <p:spPr>
            <a:xfrm>
              <a:off x="2438401" y="1404406"/>
              <a:ext cx="0" cy="4556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/>
            <p:cNvCxnSpPr/>
            <p:nvPr/>
          </p:nvCxnSpPr>
          <p:spPr>
            <a:xfrm>
              <a:off x="2889251" y="1404406"/>
              <a:ext cx="0" cy="4556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/>
            <p:nvPr/>
          </p:nvCxnSpPr>
          <p:spPr>
            <a:xfrm>
              <a:off x="3359150" y="1404406"/>
              <a:ext cx="0" cy="4556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/>
            <p:cNvCxnSpPr/>
            <p:nvPr/>
          </p:nvCxnSpPr>
          <p:spPr>
            <a:xfrm>
              <a:off x="3816350" y="1396469"/>
              <a:ext cx="0" cy="4556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直接箭头连接符 15"/>
          <p:cNvCxnSpPr>
            <a:endCxn id="11" idx="1"/>
          </p:cNvCxnSpPr>
          <p:nvPr/>
        </p:nvCxnSpPr>
        <p:spPr>
          <a:xfrm>
            <a:off x="2666207" y="2478162"/>
            <a:ext cx="714375" cy="31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5"/>
          <p:cNvSpPr txBox="1">
            <a:spLocks noChangeArrowheads="1"/>
          </p:cNvSpPr>
          <p:nvPr/>
        </p:nvSpPr>
        <p:spPr bwMode="auto">
          <a:xfrm>
            <a:off x="2750344" y="2213049"/>
            <a:ext cx="54451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入队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8" name="文本框 34"/>
          <p:cNvSpPr txBox="1">
            <a:spLocks noChangeArrowheads="1"/>
          </p:cNvSpPr>
          <p:nvPr/>
        </p:nvSpPr>
        <p:spPr bwMode="auto">
          <a:xfrm>
            <a:off x="1797844" y="2479749"/>
            <a:ext cx="1638300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</a:t>
            </a:r>
            <a:r>
              <a:rPr lang="en-US" altLang="zh-CN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往队列写入数据</a:t>
            </a:r>
            <a:endParaRPr lang="zh-CN" altLang="en-US" sz="11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9" name="文本框 35"/>
          <p:cNvSpPr txBox="1">
            <a:spLocks noChangeArrowheads="1"/>
          </p:cNvSpPr>
          <p:nvPr/>
        </p:nvSpPr>
        <p:spPr bwMode="auto">
          <a:xfrm>
            <a:off x="3423444" y="2340049"/>
            <a:ext cx="365125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有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0" name="文本框 36"/>
          <p:cNvSpPr txBox="1">
            <a:spLocks noChangeArrowheads="1"/>
          </p:cNvSpPr>
          <p:nvPr/>
        </p:nvSpPr>
        <p:spPr bwMode="auto">
          <a:xfrm>
            <a:off x="3891757" y="2340049"/>
            <a:ext cx="363537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有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1" name="文本框 37"/>
          <p:cNvSpPr txBox="1">
            <a:spLocks noChangeArrowheads="1"/>
          </p:cNvSpPr>
          <p:nvPr/>
        </p:nvSpPr>
        <p:spPr bwMode="auto">
          <a:xfrm>
            <a:off x="4358482" y="2340049"/>
            <a:ext cx="363537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有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2" name="文本框 38"/>
          <p:cNvSpPr txBox="1">
            <a:spLocks noChangeArrowheads="1"/>
          </p:cNvSpPr>
          <p:nvPr/>
        </p:nvSpPr>
        <p:spPr bwMode="auto">
          <a:xfrm>
            <a:off x="4825207" y="2340049"/>
            <a:ext cx="365125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有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3" name="文本框 39"/>
          <p:cNvSpPr txBox="1">
            <a:spLocks noChangeArrowheads="1"/>
          </p:cNvSpPr>
          <p:nvPr/>
        </p:nvSpPr>
        <p:spPr bwMode="auto">
          <a:xfrm>
            <a:off x="5293519" y="2340049"/>
            <a:ext cx="363538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有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4" name="文本框 20"/>
          <p:cNvSpPr txBox="1">
            <a:spLocks noChangeArrowheads="1"/>
          </p:cNvSpPr>
          <p:nvPr/>
        </p:nvSpPr>
        <p:spPr bwMode="auto">
          <a:xfrm>
            <a:off x="4215607" y="1941587"/>
            <a:ext cx="5429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队列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5" name="右大括号 24"/>
          <p:cNvSpPr/>
          <p:nvPr/>
        </p:nvSpPr>
        <p:spPr>
          <a:xfrm rot="5400000">
            <a:off x="4421188" y="1702668"/>
            <a:ext cx="233363" cy="231457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6" name="文本框 44"/>
          <p:cNvSpPr txBox="1">
            <a:spLocks noChangeArrowheads="1"/>
          </p:cNvSpPr>
          <p:nvPr/>
        </p:nvSpPr>
        <p:spPr bwMode="auto">
          <a:xfrm>
            <a:off x="4072732" y="3009974"/>
            <a:ext cx="9032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队列已满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7" name="文本框 45"/>
          <p:cNvSpPr txBox="1">
            <a:spLocks noChangeArrowheads="1"/>
          </p:cNvSpPr>
          <p:nvPr/>
        </p:nvSpPr>
        <p:spPr bwMode="auto">
          <a:xfrm>
            <a:off x="1797844" y="3405262"/>
            <a:ext cx="10826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出队阻塞：</a:t>
            </a:r>
            <a:endParaRPr lang="en-US" altLang="zh-CN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pSp>
        <p:nvGrpSpPr>
          <p:cNvPr id="28" name="组合 47"/>
          <p:cNvGrpSpPr/>
          <p:nvPr/>
        </p:nvGrpSpPr>
        <p:grpSpPr bwMode="auto">
          <a:xfrm>
            <a:off x="1859757" y="4156149"/>
            <a:ext cx="2314575" cy="463550"/>
            <a:chOff x="1971676" y="1396469"/>
            <a:chExt cx="2314574" cy="463551"/>
          </a:xfrm>
        </p:grpSpPr>
        <p:sp>
          <p:nvSpPr>
            <p:cNvPr id="29" name="矩形 28"/>
            <p:cNvSpPr/>
            <p:nvPr/>
          </p:nvSpPr>
          <p:spPr>
            <a:xfrm>
              <a:off x="1971676" y="1396469"/>
              <a:ext cx="2314574" cy="463551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cxnSp>
          <p:nvCxnSpPr>
            <p:cNvPr id="30" name="直接连接符 29"/>
            <p:cNvCxnSpPr/>
            <p:nvPr/>
          </p:nvCxnSpPr>
          <p:spPr>
            <a:xfrm>
              <a:off x="2438401" y="1404407"/>
              <a:ext cx="0" cy="4556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/>
            <p:cNvCxnSpPr/>
            <p:nvPr/>
          </p:nvCxnSpPr>
          <p:spPr>
            <a:xfrm>
              <a:off x="2889251" y="1404407"/>
              <a:ext cx="0" cy="4556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/>
            <p:cNvCxnSpPr/>
            <p:nvPr/>
          </p:nvCxnSpPr>
          <p:spPr>
            <a:xfrm>
              <a:off x="3359150" y="1404407"/>
              <a:ext cx="0" cy="4556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/>
            <p:cNvCxnSpPr/>
            <p:nvPr/>
          </p:nvCxnSpPr>
          <p:spPr>
            <a:xfrm>
              <a:off x="3816350" y="1396469"/>
              <a:ext cx="0" cy="4556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直接箭头连接符 33"/>
          <p:cNvCxnSpPr/>
          <p:nvPr/>
        </p:nvCxnSpPr>
        <p:spPr>
          <a:xfrm>
            <a:off x="4171157" y="4392687"/>
            <a:ext cx="714375" cy="47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54"/>
          <p:cNvSpPr txBox="1">
            <a:spLocks noChangeArrowheads="1"/>
          </p:cNvSpPr>
          <p:nvPr/>
        </p:nvSpPr>
        <p:spPr bwMode="auto">
          <a:xfrm>
            <a:off x="4255294" y="4135512"/>
            <a:ext cx="544513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出队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6" name="文本框 55"/>
          <p:cNvSpPr txBox="1">
            <a:spLocks noChangeArrowheads="1"/>
          </p:cNvSpPr>
          <p:nvPr/>
        </p:nvSpPr>
        <p:spPr bwMode="auto">
          <a:xfrm>
            <a:off x="4126707" y="4399037"/>
            <a:ext cx="1638300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</a:t>
            </a:r>
            <a:r>
              <a:rPr lang="en-US" altLang="zh-CN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从队列读取数据</a:t>
            </a:r>
            <a:endParaRPr lang="zh-CN" altLang="en-US" sz="11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7" name="文本框 56"/>
          <p:cNvSpPr txBox="1">
            <a:spLocks noChangeArrowheads="1"/>
          </p:cNvSpPr>
          <p:nvPr/>
        </p:nvSpPr>
        <p:spPr bwMode="auto">
          <a:xfrm>
            <a:off x="1904207" y="4245049"/>
            <a:ext cx="3635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空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8" name="文本框 57"/>
          <p:cNvSpPr txBox="1">
            <a:spLocks noChangeArrowheads="1"/>
          </p:cNvSpPr>
          <p:nvPr/>
        </p:nvSpPr>
        <p:spPr bwMode="auto">
          <a:xfrm>
            <a:off x="2370932" y="4245049"/>
            <a:ext cx="3635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空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9" name="文本框 58"/>
          <p:cNvSpPr txBox="1">
            <a:spLocks noChangeArrowheads="1"/>
          </p:cNvSpPr>
          <p:nvPr/>
        </p:nvSpPr>
        <p:spPr bwMode="auto">
          <a:xfrm>
            <a:off x="2837657" y="4245049"/>
            <a:ext cx="3651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空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0" name="文本框 59"/>
          <p:cNvSpPr txBox="1">
            <a:spLocks noChangeArrowheads="1"/>
          </p:cNvSpPr>
          <p:nvPr/>
        </p:nvSpPr>
        <p:spPr bwMode="auto">
          <a:xfrm>
            <a:off x="3305969" y="4245049"/>
            <a:ext cx="3635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空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" name="文本框 60"/>
          <p:cNvSpPr txBox="1">
            <a:spLocks noChangeArrowheads="1"/>
          </p:cNvSpPr>
          <p:nvPr/>
        </p:nvSpPr>
        <p:spPr bwMode="auto">
          <a:xfrm>
            <a:off x="3772694" y="4245049"/>
            <a:ext cx="3651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空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2" name="文本框 61"/>
          <p:cNvSpPr txBox="1">
            <a:spLocks noChangeArrowheads="1"/>
          </p:cNvSpPr>
          <p:nvPr/>
        </p:nvSpPr>
        <p:spPr bwMode="auto">
          <a:xfrm>
            <a:off x="2694782" y="3848174"/>
            <a:ext cx="5445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队列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3" name="右大括号 42"/>
          <p:cNvSpPr/>
          <p:nvPr/>
        </p:nvSpPr>
        <p:spPr>
          <a:xfrm rot="5400000">
            <a:off x="2900364" y="3609255"/>
            <a:ext cx="233362" cy="231457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44" name="文本框 63"/>
          <p:cNvSpPr txBox="1">
            <a:spLocks noChangeArrowheads="1"/>
          </p:cNvSpPr>
          <p:nvPr/>
        </p:nvSpPr>
        <p:spPr bwMode="auto">
          <a:xfrm>
            <a:off x="2553494" y="4916562"/>
            <a:ext cx="10826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队列无数据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5" name="文本框 72"/>
          <p:cNvSpPr txBox="1">
            <a:spLocks noChangeArrowheads="1"/>
          </p:cNvSpPr>
          <p:nvPr/>
        </p:nvSpPr>
        <p:spPr bwMode="auto">
          <a:xfrm>
            <a:off x="6093619" y="1965399"/>
            <a:ext cx="4651375" cy="895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队列满了，此时写不进去数据；</a:t>
            </a:r>
            <a:endParaRPr lang="en-US" altLang="zh-CN" sz="120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①将该任务的状态列表项挂载在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pxDelayedTaskList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；</a:t>
            </a:r>
            <a:endParaRPr lang="en-US" altLang="zh-CN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②将该任务的事件列表项挂载在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xTasksWaitingToSend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；</a:t>
            </a:r>
            <a:endParaRPr lang="en-US" altLang="zh-CN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6" name="文本框 73"/>
          <p:cNvSpPr txBox="1">
            <a:spLocks noChangeArrowheads="1"/>
          </p:cNvSpPr>
          <p:nvPr/>
        </p:nvSpPr>
        <p:spPr bwMode="auto">
          <a:xfrm>
            <a:off x="6093619" y="3954537"/>
            <a:ext cx="4651375" cy="895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队列为空，此时读取不了数据；</a:t>
            </a:r>
            <a:endParaRPr lang="en-US" altLang="zh-CN" sz="120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①将该任务的状态列表项挂载在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pxDelayedTaskList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；</a:t>
            </a:r>
            <a:endParaRPr lang="en-US" altLang="zh-CN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②将该任务的事件列表项挂载在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xTasksWaitingToReceive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；</a:t>
            </a:r>
            <a:endParaRPr lang="en-US" altLang="zh-CN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 animBg="1"/>
      <p:bldP spid="26" grpId="0"/>
      <p:bldP spid="27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 animBg="1"/>
      <p:bldP spid="44" grpId="0"/>
      <p:bldP spid="45" grpId="0"/>
      <p:bldP spid="46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614931" y="1161177"/>
            <a:ext cx="4619625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accent5">
                    <a:lumMod val="50000"/>
                  </a:schemeClr>
                </a:solidFill>
                <a:latin typeface="思源黑体 CN Bold" pitchFamily="34" charset="-122"/>
                <a:ea typeface="思源黑体 CN Bold" pitchFamily="34" charset="-122"/>
              </a:rPr>
              <a:t>      </a:t>
            </a:r>
            <a:r>
              <a:rPr lang="zh-CN" altLang="en-US" b="1" dirty="0">
                <a:solidFill>
                  <a:schemeClr val="accent5">
                    <a:lumMod val="50000"/>
                  </a:schemeClr>
                </a:solidFill>
                <a:latin typeface="思源黑体 CN Bold" pitchFamily="34" charset="-122"/>
                <a:ea typeface="思源黑体 CN Bold" pitchFamily="34" charset="-122"/>
              </a:rPr>
              <a:t>队列操作基本过程</a:t>
            </a:r>
            <a:endParaRPr lang="en-US" altLang="zh-CN" b="1" dirty="0">
              <a:solidFill>
                <a:schemeClr val="accent5">
                  <a:lumMod val="50000"/>
                </a:schemeClr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pic>
        <p:nvPicPr>
          <p:cNvPr id="9" name="图片 8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281" y="1899365"/>
            <a:ext cx="3624262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图片 1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281" y="2989977"/>
            <a:ext cx="3624262" cy="863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图片 1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281" y="4250452"/>
            <a:ext cx="3624262" cy="877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图片 1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4406" y="2647077"/>
            <a:ext cx="4087812" cy="1808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文本框 17"/>
          <p:cNvSpPr txBox="1">
            <a:spLocks noChangeArrowheads="1"/>
          </p:cNvSpPr>
          <p:nvPr/>
        </p:nvSpPr>
        <p:spPr bwMode="auto">
          <a:xfrm>
            <a:off x="1919731" y="1645365"/>
            <a:ext cx="977900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 b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①创建队列</a:t>
            </a:r>
            <a:endParaRPr lang="zh-CN" altLang="en-US" sz="1200" b="1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文本框 70"/>
          <p:cNvSpPr txBox="1">
            <a:spLocks noChangeArrowheads="1"/>
          </p:cNvSpPr>
          <p:nvPr/>
        </p:nvSpPr>
        <p:spPr bwMode="auto">
          <a:xfrm>
            <a:off x="1919731" y="2731215"/>
            <a:ext cx="192881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 b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②往队列写入第一个消息</a:t>
            </a:r>
            <a:endParaRPr lang="zh-CN" altLang="en-US" sz="1200" b="1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" name="文本框 71"/>
          <p:cNvSpPr txBox="1">
            <a:spLocks noChangeArrowheads="1"/>
          </p:cNvSpPr>
          <p:nvPr/>
        </p:nvSpPr>
        <p:spPr bwMode="auto">
          <a:xfrm>
            <a:off x="1932431" y="4005977"/>
            <a:ext cx="19304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 b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③往队列写入第二个消息</a:t>
            </a:r>
            <a:endParaRPr lang="zh-CN" altLang="en-US" sz="1200" b="1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6" name="文本框 72"/>
          <p:cNvSpPr txBox="1">
            <a:spLocks noChangeArrowheads="1"/>
          </p:cNvSpPr>
          <p:nvPr/>
        </p:nvSpPr>
        <p:spPr bwMode="auto">
          <a:xfrm>
            <a:off x="6234556" y="2370852"/>
            <a:ext cx="19304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 b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④从队列读取第一个消息</a:t>
            </a:r>
            <a:endParaRPr lang="zh-CN" altLang="en-US" sz="1200" b="1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497205" y="929978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，队列结构体介绍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pSp>
        <p:nvGrpSpPr>
          <p:cNvPr id="9" name="组合 12"/>
          <p:cNvGrpSpPr/>
          <p:nvPr/>
        </p:nvGrpSpPr>
        <p:grpSpPr bwMode="auto">
          <a:xfrm>
            <a:off x="3718242" y="937916"/>
            <a:ext cx="7832726" cy="4062332"/>
            <a:chOff x="301752" y="1252526"/>
            <a:chExt cx="7832349" cy="4061489"/>
          </a:xfrm>
        </p:grpSpPr>
        <p:sp>
          <p:nvSpPr>
            <p:cNvPr id="10" name="文本框 68"/>
            <p:cNvSpPr txBox="1">
              <a:spLocks noChangeArrowheads="1"/>
            </p:cNvSpPr>
            <p:nvPr/>
          </p:nvSpPr>
          <p:spPr bwMode="auto">
            <a:xfrm>
              <a:off x="368617" y="1252527"/>
              <a:ext cx="7765484" cy="40614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typedef struct QueueDefinition 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{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int8_t * pcHead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存储区域的起始地址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int8_t * pcWriteTo;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下一个写入的位置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zh-CN" altLang="en-US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union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{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QueuePointers_t     xQueue; 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SemaphoreData_t  xSemaphore; 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} u ;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List_t xTasksWaitingToSend;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等待发送列表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List_t xTasksWaitingToReceive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;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等待接收列表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zh-CN" altLang="en-US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volatile UBaseType_t uxMessagesWaiting;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非空闲队列项目的数量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UBaseType_t uxLength；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队列长度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zh-CN" altLang="en-US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UBaseType_t uxItemSize;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队列项目的大小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zh-CN" altLang="en-US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volatile int8_t cRxLock;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读取上锁计数器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volatile int8_t cTxLock；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写入上锁计数器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/*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其他的一些条件编译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} xQUEUE;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301752" y="1252526"/>
              <a:ext cx="7593128" cy="4061488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125833" y="1095449"/>
            <a:ext cx="4619625" cy="5067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2</a:t>
            </a:r>
            <a:r>
              <a:rPr lang="zh-CN" altLang="en-US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，队列结构体介绍</a:t>
            </a:r>
            <a:endParaRPr lang="en-US" altLang="zh-CN" b="1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pSp>
        <p:nvGrpSpPr>
          <p:cNvPr id="9" name="组合 6"/>
          <p:cNvGrpSpPr/>
          <p:nvPr/>
        </p:nvGrpSpPr>
        <p:grpSpPr bwMode="auto">
          <a:xfrm>
            <a:off x="1573508" y="1955873"/>
            <a:ext cx="7815041" cy="1063773"/>
            <a:chOff x="577523" y="1391731"/>
            <a:chExt cx="5228917" cy="1015663"/>
          </a:xfrm>
        </p:grpSpPr>
        <p:sp>
          <p:nvSpPr>
            <p:cNvPr id="10" name="文本框 69"/>
            <p:cNvSpPr txBox="1">
              <a:spLocks noChangeArrowheads="1"/>
            </p:cNvSpPr>
            <p:nvPr/>
          </p:nvSpPr>
          <p:spPr bwMode="auto">
            <a:xfrm>
              <a:off x="577523" y="1391731"/>
              <a:ext cx="5091757" cy="10156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typedef struct QueuePointers</a:t>
              </a:r>
              <a:endPara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{</a:t>
              </a:r>
              <a:endPara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 int8_t * pcTail; 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存储区的结束地址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int8_t * pcReadFrom;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最后一个读取队列的地址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} QueuePointers_t;</a:t>
              </a:r>
              <a:endPara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577523" y="1391731"/>
              <a:ext cx="5228917" cy="1015663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pSp>
        <p:nvGrpSpPr>
          <p:cNvPr id="12" name="组合 7"/>
          <p:cNvGrpSpPr/>
          <p:nvPr/>
        </p:nvGrpSpPr>
        <p:grpSpPr bwMode="auto">
          <a:xfrm>
            <a:off x="1573508" y="3470349"/>
            <a:ext cx="7974529" cy="1034209"/>
            <a:chOff x="577522" y="2712195"/>
            <a:chExt cx="7974545" cy="1034971"/>
          </a:xfrm>
        </p:grpSpPr>
        <p:sp>
          <p:nvSpPr>
            <p:cNvPr id="13" name="文本框 70"/>
            <p:cNvSpPr txBox="1">
              <a:spLocks noChangeArrowheads="1"/>
            </p:cNvSpPr>
            <p:nvPr/>
          </p:nvSpPr>
          <p:spPr bwMode="auto">
            <a:xfrm>
              <a:off x="577524" y="2730755"/>
              <a:ext cx="7974543" cy="10164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typedef struct SemaphoreData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{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TaskHandle_t xMutexHolder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;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互斥信号量持有者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zh-CN" altLang="en-US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UBaseType_t uxRecursiveCallCount;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递归互斥信号量的获取计数器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} SemaphoreData_t;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577522" y="2712195"/>
              <a:ext cx="7815056" cy="967006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15" name="文本框 8"/>
          <p:cNvSpPr txBox="1">
            <a:spLocks noChangeArrowheads="1"/>
          </p:cNvSpPr>
          <p:nvPr/>
        </p:nvSpPr>
        <p:spPr bwMode="auto">
          <a:xfrm>
            <a:off x="1494133" y="1620912"/>
            <a:ext cx="18002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当用于队列使用时：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6" name="文本框 19"/>
          <p:cNvSpPr txBox="1">
            <a:spLocks noChangeArrowheads="1"/>
          </p:cNvSpPr>
          <p:nvPr/>
        </p:nvSpPr>
        <p:spPr bwMode="auto">
          <a:xfrm>
            <a:off x="1494133" y="3152849"/>
            <a:ext cx="46164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当用于互斥信号量和递归互斥信号量时 ：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9"/>
          <p:cNvSpPr txBox="1">
            <a:spLocks noChangeArrowheads="1"/>
          </p:cNvSpPr>
          <p:nvPr/>
        </p:nvSpPr>
        <p:spPr bwMode="auto">
          <a:xfrm>
            <a:off x="934447" y="799842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，队列结构体介绍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pSp>
        <p:nvGrpSpPr>
          <p:cNvPr id="4" name="组合 117"/>
          <p:cNvGrpSpPr/>
          <p:nvPr/>
        </p:nvGrpSpPr>
        <p:grpSpPr bwMode="auto">
          <a:xfrm>
            <a:off x="3609384" y="1814254"/>
            <a:ext cx="4359275" cy="3832225"/>
            <a:chOff x="3244469" y="912528"/>
            <a:chExt cx="4359793" cy="3832652"/>
          </a:xfrm>
        </p:grpSpPr>
        <p:sp>
          <p:nvSpPr>
            <p:cNvPr id="5" name="矩形 4"/>
            <p:cNvSpPr/>
            <p:nvPr/>
          </p:nvSpPr>
          <p:spPr>
            <a:xfrm>
              <a:off x="3666794" y="917292"/>
              <a:ext cx="1873473" cy="3815187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3658856" y="1869898"/>
              <a:ext cx="1881411" cy="2872107"/>
            </a:xfrm>
            <a:prstGeom prst="rect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3669970" y="912528"/>
              <a:ext cx="1875061" cy="949431"/>
            </a:xfrm>
            <a:prstGeom prst="rect">
              <a:avLst/>
            </a:prstGeom>
            <a:solidFill>
              <a:schemeClr val="accent4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8" name="文本框 56"/>
            <p:cNvSpPr txBox="1">
              <a:spLocks noChangeArrowheads="1"/>
            </p:cNvSpPr>
            <p:nvPr/>
          </p:nvSpPr>
          <p:spPr bwMode="auto">
            <a:xfrm>
              <a:off x="3934144" y="2808966"/>
              <a:ext cx="1382360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en-US" altLang="zh-CN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uxLength = 4</a:t>
              </a:r>
              <a:endParaRPr lang="zh-CN" altLang="en-US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9" name="文本框 57"/>
            <p:cNvSpPr txBox="1">
              <a:spLocks noChangeArrowheads="1"/>
            </p:cNvSpPr>
            <p:nvPr/>
          </p:nvSpPr>
          <p:spPr bwMode="auto">
            <a:xfrm>
              <a:off x="3908854" y="4498959"/>
              <a:ext cx="1382360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en-US" altLang="zh-CN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pcHead</a:t>
              </a:r>
              <a:endParaRPr lang="zh-CN" altLang="en-US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0" name="文本框 58"/>
            <p:cNvSpPr txBox="1">
              <a:spLocks noChangeArrowheads="1"/>
            </p:cNvSpPr>
            <p:nvPr/>
          </p:nvSpPr>
          <p:spPr bwMode="auto">
            <a:xfrm>
              <a:off x="3934144" y="4227499"/>
              <a:ext cx="1382360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en-US" altLang="zh-CN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pcWriteTo</a:t>
              </a:r>
              <a:endParaRPr lang="zh-CN" altLang="en-US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1" name="文本框 59"/>
            <p:cNvSpPr txBox="1">
              <a:spLocks noChangeArrowheads="1"/>
            </p:cNvSpPr>
            <p:nvPr/>
          </p:nvSpPr>
          <p:spPr bwMode="auto">
            <a:xfrm>
              <a:off x="3934144" y="3981278"/>
              <a:ext cx="1382360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en-US" altLang="zh-CN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xQueue.pcTail </a:t>
              </a:r>
              <a:endParaRPr lang="zh-CN" altLang="en-US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2" name="文本框 61"/>
            <p:cNvSpPr txBox="1">
              <a:spLocks noChangeArrowheads="1"/>
            </p:cNvSpPr>
            <p:nvPr/>
          </p:nvSpPr>
          <p:spPr bwMode="auto">
            <a:xfrm>
              <a:off x="3908854" y="3743099"/>
              <a:ext cx="1568196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en-US" altLang="zh-CN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xQueue.pcReadFrom </a:t>
              </a:r>
              <a:endParaRPr lang="zh-CN" altLang="en-US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3" name="文本框 63"/>
            <p:cNvSpPr txBox="1">
              <a:spLocks noChangeArrowheads="1"/>
            </p:cNvSpPr>
            <p:nvPr/>
          </p:nvSpPr>
          <p:spPr bwMode="auto">
            <a:xfrm>
              <a:off x="3836035" y="3518929"/>
              <a:ext cx="1578578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xTasksWaitingToSend</a:t>
              </a:r>
              <a:endParaRPr lang="zh-CN" altLang="en-US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4" name="文本框 65"/>
            <p:cNvSpPr txBox="1">
              <a:spLocks noChangeArrowheads="1"/>
            </p:cNvSpPr>
            <p:nvPr/>
          </p:nvSpPr>
          <p:spPr bwMode="auto">
            <a:xfrm>
              <a:off x="3742451" y="3296594"/>
              <a:ext cx="1765745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xTasksWaitingToReceive</a:t>
              </a:r>
              <a:endParaRPr lang="zh-CN" altLang="en-US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" name="文本框 67"/>
            <p:cNvSpPr txBox="1">
              <a:spLocks noChangeArrowheads="1"/>
            </p:cNvSpPr>
            <p:nvPr/>
          </p:nvSpPr>
          <p:spPr bwMode="auto">
            <a:xfrm>
              <a:off x="3836035" y="3057976"/>
              <a:ext cx="1682149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en-US" altLang="zh-CN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uxMessagesWaiting = 0 </a:t>
              </a:r>
              <a:endParaRPr lang="zh-CN" altLang="en-US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6" name="文本框 68"/>
            <p:cNvSpPr txBox="1">
              <a:spLocks noChangeArrowheads="1"/>
            </p:cNvSpPr>
            <p:nvPr/>
          </p:nvSpPr>
          <p:spPr bwMode="auto">
            <a:xfrm>
              <a:off x="3936140" y="2556312"/>
              <a:ext cx="1382360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en-US" altLang="zh-CN" sz="11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uxItemSize = 32</a:t>
              </a:r>
              <a:endParaRPr lang="zh-CN" altLang="en-US" sz="11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7" name="文本框 70"/>
            <p:cNvSpPr txBox="1">
              <a:spLocks noChangeArrowheads="1"/>
            </p:cNvSpPr>
            <p:nvPr/>
          </p:nvSpPr>
          <p:spPr bwMode="auto">
            <a:xfrm>
              <a:off x="3666410" y="2336350"/>
              <a:ext cx="2153412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cRxLock 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= queueUNLOCKED </a:t>
              </a:r>
              <a:endParaRPr lang="zh-CN" altLang="en-US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8" name="文本框 71"/>
            <p:cNvSpPr txBox="1">
              <a:spLocks noChangeArrowheads="1"/>
            </p:cNvSpPr>
            <p:nvPr/>
          </p:nvSpPr>
          <p:spPr bwMode="auto">
            <a:xfrm>
              <a:off x="3666410" y="2110503"/>
              <a:ext cx="2153412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en-US" altLang="zh-CN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cTxLock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= queueUNLOCKED </a:t>
              </a:r>
              <a:endParaRPr lang="zh-CN" altLang="en-US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9" name="文本框 72"/>
            <p:cNvSpPr txBox="1">
              <a:spLocks noChangeArrowheads="1"/>
            </p:cNvSpPr>
            <p:nvPr/>
          </p:nvSpPr>
          <p:spPr bwMode="auto">
            <a:xfrm>
              <a:off x="3608499" y="1896413"/>
              <a:ext cx="2153412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其他成员变量（视条件编译而定）</a:t>
              </a:r>
              <a:endParaRPr lang="zh-CN" altLang="en-US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cxnSp>
          <p:nvCxnSpPr>
            <p:cNvPr id="20" name="直接连接符 19"/>
            <p:cNvCxnSpPr/>
            <p:nvPr/>
          </p:nvCxnSpPr>
          <p:spPr>
            <a:xfrm>
              <a:off x="3666794" y="4006911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/>
            <p:cNvCxnSpPr/>
            <p:nvPr/>
          </p:nvCxnSpPr>
          <p:spPr>
            <a:xfrm>
              <a:off x="3666794" y="3532195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/>
            <p:cNvCxnSpPr/>
            <p:nvPr/>
          </p:nvCxnSpPr>
          <p:spPr>
            <a:xfrm>
              <a:off x="3666794" y="3294043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>
            <a:xfrm>
              <a:off x="3666794" y="3768759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/>
            <p:cNvCxnSpPr/>
            <p:nvPr/>
          </p:nvCxnSpPr>
          <p:spPr>
            <a:xfrm>
              <a:off x="3666794" y="4245062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连接符 24"/>
            <p:cNvCxnSpPr/>
            <p:nvPr/>
          </p:nvCxnSpPr>
          <p:spPr>
            <a:xfrm>
              <a:off x="3666794" y="4481626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/>
            <p:cNvCxnSpPr/>
            <p:nvPr/>
          </p:nvCxnSpPr>
          <p:spPr>
            <a:xfrm>
              <a:off x="3666794" y="2343025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连接符 26"/>
            <p:cNvCxnSpPr/>
            <p:nvPr/>
          </p:nvCxnSpPr>
          <p:spPr>
            <a:xfrm>
              <a:off x="3666794" y="2819328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连接符 27"/>
            <p:cNvCxnSpPr/>
            <p:nvPr/>
          </p:nvCxnSpPr>
          <p:spPr>
            <a:xfrm>
              <a:off x="3666794" y="1631746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/>
            <p:cNvCxnSpPr/>
            <p:nvPr/>
          </p:nvCxnSpPr>
          <p:spPr>
            <a:xfrm>
              <a:off x="3673145" y="1163381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/>
            <p:cNvCxnSpPr/>
            <p:nvPr/>
          </p:nvCxnSpPr>
          <p:spPr>
            <a:xfrm>
              <a:off x="3666794" y="1393595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/>
            <p:cNvCxnSpPr/>
            <p:nvPr/>
          </p:nvCxnSpPr>
          <p:spPr>
            <a:xfrm>
              <a:off x="3666794" y="1868309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/>
            <p:cNvCxnSpPr/>
            <p:nvPr/>
          </p:nvCxnSpPr>
          <p:spPr>
            <a:xfrm>
              <a:off x="3666794" y="2106461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/>
            <p:cNvCxnSpPr/>
            <p:nvPr/>
          </p:nvCxnSpPr>
          <p:spPr>
            <a:xfrm>
              <a:off x="3666794" y="2581177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/>
            <p:nvPr/>
          </p:nvCxnSpPr>
          <p:spPr>
            <a:xfrm>
              <a:off x="3666794" y="3055892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文本框 91"/>
            <p:cNvSpPr txBox="1">
              <a:spLocks noChangeArrowheads="1"/>
            </p:cNvSpPr>
            <p:nvPr/>
          </p:nvSpPr>
          <p:spPr bwMode="auto">
            <a:xfrm>
              <a:off x="3988522" y="1621809"/>
              <a:ext cx="1327982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队列项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1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（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32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字节）</a:t>
              </a:r>
              <a:endParaRPr lang="zh-CN" altLang="en-US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36" name="文本框 92"/>
            <p:cNvSpPr txBox="1">
              <a:spLocks noChangeArrowheads="1"/>
            </p:cNvSpPr>
            <p:nvPr/>
          </p:nvSpPr>
          <p:spPr bwMode="auto">
            <a:xfrm>
              <a:off x="3988522" y="1391924"/>
              <a:ext cx="2153412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队列项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2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（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32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字节）</a:t>
              </a:r>
              <a:endParaRPr lang="zh-CN" altLang="en-US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37" name="文本框 93"/>
            <p:cNvSpPr txBox="1">
              <a:spLocks noChangeArrowheads="1"/>
            </p:cNvSpPr>
            <p:nvPr/>
          </p:nvSpPr>
          <p:spPr bwMode="auto">
            <a:xfrm>
              <a:off x="3988522" y="1164735"/>
              <a:ext cx="1686313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队列项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3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（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32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字节）</a:t>
              </a:r>
              <a:endParaRPr lang="zh-CN" altLang="en-US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38" name="文本框 94"/>
            <p:cNvSpPr txBox="1">
              <a:spLocks noChangeArrowheads="1"/>
            </p:cNvSpPr>
            <p:nvPr/>
          </p:nvSpPr>
          <p:spPr bwMode="auto">
            <a:xfrm>
              <a:off x="3988522" y="935665"/>
              <a:ext cx="1628399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队列项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4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（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32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字节）</a:t>
              </a:r>
              <a:endParaRPr lang="zh-CN" altLang="en-US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cxnSp>
          <p:nvCxnSpPr>
            <p:cNvPr id="39" name="直接连接符 38"/>
            <p:cNvCxnSpPr/>
            <p:nvPr/>
          </p:nvCxnSpPr>
          <p:spPr>
            <a:xfrm flipH="1">
              <a:off x="3261934" y="4589588"/>
              <a:ext cx="411211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/>
            <p:cNvCxnSpPr/>
            <p:nvPr/>
          </p:nvCxnSpPr>
          <p:spPr>
            <a:xfrm flipH="1" flipV="1">
              <a:off x="3244469" y="1861959"/>
              <a:ext cx="17465" cy="272762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箭头连接符 40"/>
            <p:cNvCxnSpPr/>
            <p:nvPr/>
          </p:nvCxnSpPr>
          <p:spPr>
            <a:xfrm>
              <a:off x="3244469" y="1861959"/>
              <a:ext cx="422325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/>
            <p:cNvCxnSpPr/>
            <p:nvPr/>
          </p:nvCxnSpPr>
          <p:spPr>
            <a:xfrm>
              <a:off x="3434992" y="4359375"/>
              <a:ext cx="238153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/>
            <p:cNvCxnSpPr/>
            <p:nvPr/>
          </p:nvCxnSpPr>
          <p:spPr>
            <a:xfrm flipH="1">
              <a:off x="5533916" y="1163381"/>
              <a:ext cx="361993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/>
            <p:cNvCxnSpPr/>
            <p:nvPr/>
          </p:nvCxnSpPr>
          <p:spPr>
            <a:xfrm>
              <a:off x="3434992" y="1869898"/>
              <a:ext cx="0" cy="248947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/>
            <p:cNvCxnSpPr/>
            <p:nvPr/>
          </p:nvCxnSpPr>
          <p:spPr>
            <a:xfrm>
              <a:off x="5533916" y="3897361"/>
              <a:ext cx="355642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/>
            <p:cNvCxnSpPr/>
            <p:nvPr/>
          </p:nvCxnSpPr>
          <p:spPr>
            <a:xfrm flipV="1">
              <a:off x="5889558" y="1163381"/>
              <a:ext cx="6351" cy="273398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/>
            <p:cNvCxnSpPr/>
            <p:nvPr/>
          </p:nvCxnSpPr>
          <p:spPr>
            <a:xfrm>
              <a:off x="5540267" y="4137100"/>
              <a:ext cx="60173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/>
            <p:cNvCxnSpPr/>
            <p:nvPr/>
          </p:nvCxnSpPr>
          <p:spPr>
            <a:xfrm flipV="1">
              <a:off x="6142001" y="912528"/>
              <a:ext cx="0" cy="322457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箭头连接符 48"/>
            <p:cNvCxnSpPr/>
            <p:nvPr/>
          </p:nvCxnSpPr>
          <p:spPr>
            <a:xfrm flipH="1">
              <a:off x="5533916" y="912528"/>
              <a:ext cx="608085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右大括号 49"/>
            <p:cNvSpPr/>
            <p:nvPr/>
          </p:nvSpPr>
          <p:spPr>
            <a:xfrm>
              <a:off x="6321410" y="912528"/>
              <a:ext cx="271495" cy="949431"/>
            </a:xfrm>
            <a:prstGeom prst="rightBrac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sp>
          <p:nvSpPr>
            <p:cNvPr id="51" name="右大括号 50"/>
            <p:cNvSpPr/>
            <p:nvPr/>
          </p:nvSpPr>
          <p:spPr>
            <a:xfrm>
              <a:off x="6327760" y="1869898"/>
              <a:ext cx="339765" cy="2862581"/>
            </a:xfrm>
            <a:prstGeom prst="rightBrace">
              <a:avLst/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>
                <a:solidFill>
                  <a:srgbClr val="FFC000"/>
                </a:solidFill>
              </a:endParaRPr>
            </a:p>
          </p:txBody>
        </p:sp>
        <p:cxnSp>
          <p:nvCxnSpPr>
            <p:cNvPr id="52" name="直接连接符 51"/>
            <p:cNvCxnSpPr/>
            <p:nvPr/>
          </p:nvCxnSpPr>
          <p:spPr>
            <a:xfrm flipV="1">
              <a:off x="5518039" y="912528"/>
              <a:ext cx="803370" cy="7939"/>
            </a:xfrm>
            <a:prstGeom prst="line">
              <a:avLst/>
            </a:prstGeom>
            <a:ln w="9525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3" name="直接连接符 52"/>
            <p:cNvCxnSpPr>
              <a:endCxn id="51" idx="0"/>
            </p:cNvCxnSpPr>
            <p:nvPr/>
          </p:nvCxnSpPr>
          <p:spPr>
            <a:xfrm>
              <a:off x="5524390" y="1869898"/>
              <a:ext cx="803370" cy="0"/>
            </a:xfrm>
            <a:prstGeom prst="line">
              <a:avLst/>
            </a:prstGeom>
            <a:ln w="9525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4" name="直接连接符 53"/>
            <p:cNvCxnSpPr/>
            <p:nvPr/>
          </p:nvCxnSpPr>
          <p:spPr>
            <a:xfrm>
              <a:off x="5548206" y="4732479"/>
              <a:ext cx="803370" cy="0"/>
            </a:xfrm>
            <a:prstGeom prst="line">
              <a:avLst/>
            </a:prstGeom>
            <a:ln w="9525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55" name="文本框 155"/>
            <p:cNvSpPr txBox="1">
              <a:spLocks noChangeArrowheads="1"/>
            </p:cNvSpPr>
            <p:nvPr/>
          </p:nvSpPr>
          <p:spPr bwMode="auto">
            <a:xfrm>
              <a:off x="6513920" y="1210901"/>
              <a:ext cx="1090342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队列项（消息）</a:t>
              </a:r>
              <a:endParaRPr lang="en-US" altLang="zh-CN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 algn="ctr"/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存储区</a:t>
              </a:r>
              <a:endParaRPr lang="zh-CN" altLang="en-US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56" name="文本框 156"/>
            <p:cNvSpPr txBox="1">
              <a:spLocks noChangeArrowheads="1"/>
            </p:cNvSpPr>
            <p:nvPr/>
          </p:nvSpPr>
          <p:spPr bwMode="auto">
            <a:xfrm>
              <a:off x="6486471" y="3146808"/>
              <a:ext cx="1090342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队列结构体</a:t>
              </a:r>
              <a:endParaRPr lang="en-US" altLang="zh-CN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 algn="ctr"/>
              <a:r>
                <a:rPr lang="zh-CN" altLang="en-US" sz="10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存储区</a:t>
              </a:r>
              <a:endParaRPr lang="zh-CN" altLang="en-US" sz="10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</p:grpSp>
      <p:sp>
        <p:nvSpPr>
          <p:cNvPr id="57" name="文本框 2"/>
          <p:cNvSpPr txBox="1">
            <a:spLocks noChangeArrowheads="1"/>
          </p:cNvSpPr>
          <p:nvPr/>
        </p:nvSpPr>
        <p:spPr bwMode="auto">
          <a:xfrm>
            <a:off x="1320209" y="1336417"/>
            <a:ext cx="21590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队列结构体整体示意图：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418229" y="105823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9" name="表格 6"/>
          <p:cNvGraphicFramePr>
            <a:graphicFrameLocks noGrp="1"/>
          </p:cNvGraphicFramePr>
          <p:nvPr/>
        </p:nvGraphicFramePr>
        <p:xfrm>
          <a:off x="1800816" y="2639385"/>
          <a:ext cx="5065713" cy="7921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1"/>
                <a:gridCol w="3173302"/>
              </a:tblGrid>
              <a:tr h="26405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函数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</a:tr>
              <a:tr h="26405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xQueueCreate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00" marB="4570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动态方式创建队列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00" marB="45700" anchor="ctr"/>
                </a:tc>
              </a:tr>
              <a:tr h="26405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xQueueCreateStatic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00" marB="4570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静态方式创建队列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00" marB="45700" anchor="ctr"/>
                </a:tc>
              </a:tr>
            </a:tbl>
          </a:graphicData>
        </a:graphic>
      </p:graphicFrame>
      <p:sp>
        <p:nvSpPr>
          <p:cNvPr id="10" name="文本框 14"/>
          <p:cNvSpPr txBox="1">
            <a:spLocks noChangeArrowheads="1"/>
          </p:cNvSpPr>
          <p:nvPr/>
        </p:nvSpPr>
        <p:spPr bwMode="auto">
          <a:xfrm>
            <a:off x="1770654" y="1664660"/>
            <a:ext cx="55102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使用队列的主要流程：创建队列 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sym typeface="Wingdings" panose="05000000000000000000" pitchFamily="2" charset="2"/>
              </a:rPr>
              <a:t> 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写队列 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sym typeface="Wingdings" panose="05000000000000000000" pitchFamily="2" charset="2"/>
              </a:rPr>
              <a:t> 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读队列。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" name="文本框 16"/>
          <p:cNvSpPr txBox="1">
            <a:spLocks noChangeArrowheads="1"/>
          </p:cNvSpPr>
          <p:nvPr/>
        </p:nvSpPr>
        <p:spPr bwMode="auto">
          <a:xfrm>
            <a:off x="1761129" y="2101223"/>
            <a:ext cx="46180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创建队列相关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函数介绍：</a:t>
            </a:r>
            <a:endParaRPr lang="zh-CN" altLang="en-US" sz="1400">
              <a:solidFill>
                <a:srgbClr val="002060"/>
              </a:solidFill>
            </a:endParaRPr>
          </a:p>
        </p:txBody>
      </p:sp>
      <p:sp>
        <p:nvSpPr>
          <p:cNvPr id="12" name="文本框 12"/>
          <p:cNvSpPr txBox="1">
            <a:spLocks noChangeArrowheads="1"/>
          </p:cNvSpPr>
          <p:nvPr/>
        </p:nvSpPr>
        <p:spPr bwMode="auto">
          <a:xfrm>
            <a:off x="1761129" y="3645860"/>
            <a:ext cx="814070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动态和静态创建队列之间的区别：队列所需的内存空间由 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从 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管理的堆中分配，而静态创建需要用户自行分配内存。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306587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pSp>
        <p:nvGrpSpPr>
          <p:cNvPr id="9" name="组合 12"/>
          <p:cNvGrpSpPr/>
          <p:nvPr/>
        </p:nvGrpSpPr>
        <p:grpSpPr bwMode="auto">
          <a:xfrm>
            <a:off x="1738387" y="1723152"/>
            <a:ext cx="9712878" cy="982834"/>
            <a:chOff x="376238" y="3227832"/>
            <a:chExt cx="8767762" cy="1012007"/>
          </a:xfrm>
        </p:grpSpPr>
        <p:sp>
          <p:nvSpPr>
            <p:cNvPr id="10" name="文本框 13"/>
            <p:cNvSpPr txBox="1">
              <a:spLocks noChangeArrowheads="1"/>
            </p:cNvSpPr>
            <p:nvPr/>
          </p:nvSpPr>
          <p:spPr bwMode="auto">
            <a:xfrm>
              <a:off x="376238" y="3334849"/>
              <a:ext cx="8767762" cy="9049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#define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xQueueCreate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( 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uxQueueLength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,  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uxItemSize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)   						 \</a:t>
              </a:r>
              <a:b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			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  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xQueueGenericCreate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uxQueueLength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), 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uxItemSize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), (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queueQUEUE_TYPE_BASE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)) </a:t>
              </a:r>
              <a:b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376238" y="3227832"/>
              <a:ext cx="8685804" cy="899754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aphicFrame>
        <p:nvGraphicFramePr>
          <p:cNvPr id="12" name="表格 6"/>
          <p:cNvGraphicFramePr>
            <a:graphicFrameLocks noGrp="1"/>
          </p:cNvGraphicFramePr>
          <p:nvPr/>
        </p:nvGraphicFramePr>
        <p:xfrm>
          <a:off x="1738387" y="3159840"/>
          <a:ext cx="5065712" cy="7921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/>
                <a:gridCol w="3173302"/>
              </a:tblGrid>
              <a:tr h="26405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形参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</a:tr>
              <a:tr h="264054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uxQueueLength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00" marB="4570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队列长度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00" marB="45700" anchor="ctr"/>
                </a:tc>
              </a:tr>
              <a:tr h="264054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uxItemSize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00" marB="4570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队列项目的大小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00" marB="45700" anchor="ctr"/>
                </a:tc>
              </a:tr>
            </a:tbl>
          </a:graphicData>
        </a:graphic>
      </p:graphicFrame>
      <p:graphicFrame>
        <p:nvGraphicFramePr>
          <p:cNvPr id="13" name="表格 6"/>
          <p:cNvGraphicFramePr>
            <a:graphicFrameLocks noGrp="1"/>
          </p:cNvGraphicFramePr>
          <p:nvPr/>
        </p:nvGraphicFramePr>
        <p:xfrm>
          <a:off x="1738387" y="4185365"/>
          <a:ext cx="5065712" cy="7937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/>
                <a:gridCol w="3173302"/>
              </a:tblGrid>
              <a:tr h="26458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返回值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</a:tr>
              <a:tr h="26458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NULL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92" marB="4579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队列创建失败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92" marB="45792" anchor="ctr"/>
                </a:tc>
              </a:tr>
              <a:tr h="264583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其他值 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92" marB="4579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队列创建成功，返回队列句柄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92" marB="45792" anchor="ctr"/>
                </a:tc>
              </a:tr>
            </a:tbl>
          </a:graphicData>
        </a:graphic>
      </p:graphicFrame>
      <p:sp>
        <p:nvSpPr>
          <p:cNvPr id="14" name="文本框 13"/>
          <p:cNvSpPr txBox="1">
            <a:spLocks noChangeArrowheads="1"/>
          </p:cNvSpPr>
          <p:nvPr/>
        </p:nvSpPr>
        <p:spPr bwMode="auto">
          <a:xfrm>
            <a:off x="1670124" y="2629615"/>
            <a:ext cx="8385175" cy="382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此函数用于使用动态方式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创建队列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，队列所需的内存空间由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从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管理的堆中分配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524555" y="1042286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pSp>
        <p:nvGrpSpPr>
          <p:cNvPr id="9" name="组合 8"/>
          <p:cNvGrpSpPr/>
          <p:nvPr/>
        </p:nvGrpSpPr>
        <p:grpSpPr bwMode="auto">
          <a:xfrm>
            <a:off x="1937305" y="2128136"/>
            <a:ext cx="9662816" cy="1727200"/>
            <a:chOff x="542131" y="1235022"/>
            <a:chExt cx="9661791" cy="1725665"/>
          </a:xfrm>
        </p:grpSpPr>
        <p:sp>
          <p:nvSpPr>
            <p:cNvPr id="10" name="文本框 12"/>
            <p:cNvSpPr txBox="1">
              <a:spLocks noChangeArrowheads="1"/>
            </p:cNvSpPr>
            <p:nvPr/>
          </p:nvSpPr>
          <p:spPr bwMode="auto">
            <a:xfrm>
              <a:off x="542131" y="1235022"/>
              <a:ext cx="9661791" cy="17201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#define queueQUEUE_TYPE_BASE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( uint8_t ) 0U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队列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#define queueQUEUE_TYPE_SET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( uint8_t ) 0U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队列集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#define queueQUEUE_TYPE_MUTEX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( uint8_t ) 1U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互斥信号量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#define queueQUEUE_TYPE_COUNTING_SEMAPHORE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( uint8_t ) 2U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计数型信号量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#define queueQUEUE_TYPE_BINARY_SEMAPHORE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( uint8_t ) 3U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二值信号量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#define queueQUEUE_TYPE_RECURSIVE_MUTEX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( uint8_t ) 4U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递归互斥信号量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542131" y="1235022"/>
              <a:ext cx="9225902" cy="1725665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12" name="文本框 17"/>
          <p:cNvSpPr txBox="1">
            <a:spLocks noChangeArrowheads="1"/>
          </p:cNvSpPr>
          <p:nvPr/>
        </p:nvSpPr>
        <p:spPr bwMode="auto">
          <a:xfrm>
            <a:off x="1867455" y="1610611"/>
            <a:ext cx="81629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前面说 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基于队列实现了多种功能，每一种功能对应一种队列类型，队列类型的 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queue.h 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文件中有定义：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444810" y="1015704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4"/>
          <p:cNvSpPr txBox="1">
            <a:spLocks noChangeArrowheads="1"/>
          </p:cNvSpPr>
          <p:nvPr/>
        </p:nvSpPr>
        <p:spPr bwMode="auto">
          <a:xfrm>
            <a:off x="1797235" y="1591967"/>
            <a:ext cx="55102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往队列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写入消息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函数：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0" name="表格 6"/>
          <p:cNvGraphicFramePr>
            <a:graphicFrameLocks noGrp="1"/>
          </p:cNvGraphicFramePr>
          <p:nvPr/>
        </p:nvGraphicFramePr>
        <p:xfrm>
          <a:off x="1875022" y="2012654"/>
          <a:ext cx="5784850" cy="23780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290"/>
                <a:gridCol w="3524560"/>
              </a:tblGrid>
              <a:tr h="26423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函数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93" marR="68593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93" marR="68593" marT="0" marB="0" anchor="ctr"/>
                </a:tc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xQueueSend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往队列的尾部写入消息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31" marB="45731" anchor="ctr"/>
                </a:tc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xQueueSendToBack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同 </a:t>
                      </a:r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xQueueSend()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31" marB="45731" anchor="ctr"/>
                </a:tc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xQueueSendToFront()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往队列的头部写入消息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31" marB="45731" anchor="ctr"/>
                </a:tc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xQueueOverwrite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覆写队列消息（只用于队列长度为 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1 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的情况）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31" marB="45731" anchor="ctr"/>
                </a:tc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xQueueSendFromISR()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在中断中往队列的尾部写入消息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31" marB="45731" anchor="ctr"/>
                </a:tc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xQueueSendToBackFromISR()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同 </a:t>
                      </a:r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xQueueSendFromISR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31" marB="45731" anchor="ctr"/>
                </a:tc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xQueueSendToFrontFromISR()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在中断中往队列的头部写入消息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31" marB="45731" anchor="ctr"/>
                </a:tc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xQueueOverwriteFromISR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在中断中覆写队列消息（只用于队列长度为 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1 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的情况）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31" marB="45731" anchor="ctr"/>
                </a:tc>
              </a:tr>
            </a:tbl>
          </a:graphicData>
        </a:graphic>
      </p:graphicFrame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072670" y="1010388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4"/>
          <p:cNvSpPr txBox="1">
            <a:spLocks noChangeArrowheads="1"/>
          </p:cNvSpPr>
          <p:nvPr/>
        </p:nvSpPr>
        <p:spPr bwMode="auto">
          <a:xfrm>
            <a:off x="1425095" y="1529501"/>
            <a:ext cx="18049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队列写入消息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0" name="文本框 13"/>
          <p:cNvSpPr txBox="1">
            <a:spLocks noChangeArrowheads="1"/>
          </p:cNvSpPr>
          <p:nvPr/>
        </p:nvSpPr>
        <p:spPr bwMode="auto">
          <a:xfrm>
            <a:off x="1463195" y="1843826"/>
            <a:ext cx="10498873" cy="613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#define  </a:t>
            </a:r>
            <a:r>
              <a:rPr lang="zh-CN" altLang="en-US" sz="1200" b="1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xQueueSend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  xQueue,   pvItemToQueue,   xTicksToWait  )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				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\    </a:t>
            </a:r>
            <a:endParaRPr lang="en-US" altLang="zh-CN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    </a:t>
            </a:r>
            <a:r>
              <a:rPr lang="zh-CN" altLang="en-US" sz="1200" b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xQueueGenericSend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 ( xQueue ), ( pvItemToQueue ), ( xTicksToWait ), </a:t>
            </a:r>
            <a:r>
              <a:rPr lang="zh-CN" altLang="en-US" sz="12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queueSEND_TO_BACK 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)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" name="文本框 15"/>
          <p:cNvSpPr txBox="1">
            <a:spLocks noChangeArrowheads="1"/>
          </p:cNvSpPr>
          <p:nvPr/>
        </p:nvSpPr>
        <p:spPr bwMode="auto">
          <a:xfrm>
            <a:off x="1463195" y="2580426"/>
            <a:ext cx="10498873" cy="613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#define  </a:t>
            </a:r>
            <a:r>
              <a:rPr lang="zh-CN" altLang="en-US" sz="1200" b="1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xQueueSendToBack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  xQueue,   pvItemToQueue,   xTicksToWait  )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				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\    </a:t>
            </a:r>
            <a:endParaRPr lang="en-US" altLang="zh-CN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    </a:t>
            </a:r>
            <a:r>
              <a:rPr lang="zh-CN" altLang="en-US" sz="1200" b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xQueueGenericSend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 ( xQueue ), ( pvItemToQueue ), ( xTicksToWait ), </a:t>
            </a:r>
            <a:r>
              <a:rPr lang="zh-CN" altLang="en-US" sz="12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queueSEND_TO_BACK 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)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" name="文本框 16"/>
          <p:cNvSpPr txBox="1">
            <a:spLocks noChangeArrowheads="1"/>
          </p:cNvSpPr>
          <p:nvPr/>
        </p:nvSpPr>
        <p:spPr bwMode="auto">
          <a:xfrm>
            <a:off x="1463194" y="3315437"/>
            <a:ext cx="10599443" cy="613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#define  </a:t>
            </a:r>
            <a:r>
              <a:rPr lang="zh-CN" altLang="en-US" sz="1200" b="1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xQueueSendToFront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  xQueue,   pvItemToQueue,   xTicksToWait  ) 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				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\   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 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 </a:t>
            </a:r>
            <a:r>
              <a:rPr lang="zh-CN" altLang="en-US" sz="12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xQueueGenericSend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 ( xQueue ), ( pvItemToQueue ), ( xTicksToWait ), </a:t>
            </a:r>
            <a:r>
              <a:rPr lang="zh-CN" altLang="en-US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queueSEND_TO_FRONT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)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" name="文本框 17"/>
          <p:cNvSpPr txBox="1">
            <a:spLocks noChangeArrowheads="1"/>
          </p:cNvSpPr>
          <p:nvPr/>
        </p:nvSpPr>
        <p:spPr bwMode="auto">
          <a:xfrm>
            <a:off x="1463195" y="4098742"/>
            <a:ext cx="11620168" cy="613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#define  </a:t>
            </a:r>
            <a:r>
              <a:rPr lang="zh-CN" altLang="en-US" sz="1200" b="1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xQueueOverwrite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  xQueue,   pvItemToQueue  ) 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					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\    </a:t>
            </a:r>
            <a:endParaRPr lang="en-US" altLang="zh-CN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    </a:t>
            </a:r>
            <a:r>
              <a:rPr lang="zh-CN" altLang="en-US" sz="12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xQueueGenericSend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 ( xQueue ), ( pvItemToQueue ), 0, </a:t>
            </a:r>
            <a:r>
              <a:rPr lang="zh-CN" altLang="en-US" sz="12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queueOVERWRITE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)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文本框 18"/>
          <p:cNvSpPr txBox="1">
            <a:spLocks noChangeArrowheads="1"/>
          </p:cNvSpPr>
          <p:nvPr/>
        </p:nvSpPr>
        <p:spPr bwMode="auto">
          <a:xfrm>
            <a:off x="1463195" y="4871856"/>
            <a:ext cx="82248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可以看到这几个写入函数调用的是同一个函数xQueueGenericSend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 )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，只是指定了不同的写入位置！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463195" y="1843826"/>
            <a:ext cx="10588330" cy="646112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6" name="矩形 15"/>
          <p:cNvSpPr/>
          <p:nvPr/>
        </p:nvSpPr>
        <p:spPr>
          <a:xfrm>
            <a:off x="1458432" y="2591538"/>
            <a:ext cx="10593093" cy="646113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7" name="矩形 16"/>
          <p:cNvSpPr/>
          <p:nvPr/>
        </p:nvSpPr>
        <p:spPr>
          <a:xfrm>
            <a:off x="1464782" y="3320201"/>
            <a:ext cx="10593093" cy="646112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1458432" y="4095568"/>
            <a:ext cx="10599443" cy="646113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3" grpId="0"/>
      <p:bldP spid="14" grpId="0"/>
      <p:bldP spid="17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572400" y="1122030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4"/>
          <p:cNvSpPr txBox="1">
            <a:spLocks noChangeArrowheads="1"/>
          </p:cNvSpPr>
          <p:nvPr/>
        </p:nvSpPr>
        <p:spPr bwMode="auto">
          <a:xfrm>
            <a:off x="1905775" y="1657018"/>
            <a:ext cx="55102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队列一共有 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 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种写入位置 ：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pSp>
        <p:nvGrpSpPr>
          <p:cNvPr id="10" name="组合 6"/>
          <p:cNvGrpSpPr/>
          <p:nvPr/>
        </p:nvGrpSpPr>
        <p:grpSpPr bwMode="auto">
          <a:xfrm>
            <a:off x="1966100" y="2193593"/>
            <a:ext cx="9687184" cy="1070602"/>
            <a:chOff x="642937" y="1542232"/>
            <a:chExt cx="6910388" cy="971550"/>
          </a:xfrm>
        </p:grpSpPr>
        <p:sp>
          <p:nvSpPr>
            <p:cNvPr id="11" name="文本框 12"/>
            <p:cNvSpPr txBox="1">
              <a:spLocks noChangeArrowheads="1"/>
            </p:cNvSpPr>
            <p:nvPr/>
          </p:nvSpPr>
          <p:spPr bwMode="auto">
            <a:xfrm>
              <a:off x="642937" y="1580673"/>
              <a:ext cx="6910388" cy="8946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#define queueSEND_TO_BACK                     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( BaseType_t ) 0 )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写入队列尾部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#define queueSEND_TO_FRONT                    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( BaseType_t ) 1 )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写入队列头部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*/</a:t>
              </a:r>
              <a:endPara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#define queueOVERWRITE                        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( BaseType_t ) 2 )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覆写队列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*/</a:t>
              </a:r>
              <a:endParaRPr lang="en-US" altLang="zh-CN" sz="12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642937" y="1542232"/>
              <a:ext cx="6886576" cy="971550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13" name="文本框 16"/>
          <p:cNvSpPr txBox="1">
            <a:spLocks noChangeArrowheads="1"/>
          </p:cNvSpPr>
          <p:nvPr/>
        </p:nvSpPr>
        <p:spPr bwMode="auto">
          <a:xfrm>
            <a:off x="1905775" y="3495343"/>
            <a:ext cx="72183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注意：覆写方式写入队列，只有在队列的队列长度为 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 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时，才能够使用 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604299" y="87216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9" name="表格 6"/>
          <p:cNvGraphicFramePr>
            <a:graphicFrameLocks noGrp="1"/>
          </p:cNvGraphicFramePr>
          <p:nvPr/>
        </p:nvGraphicFramePr>
        <p:xfrm>
          <a:off x="2045624" y="3005765"/>
          <a:ext cx="4935537" cy="127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8442"/>
                <a:gridCol w="3007095"/>
              </a:tblGrid>
              <a:tr h="23345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形参</a:t>
                      </a:r>
                      <a:endParaRPr lang="en-US" altLang="zh-CN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91" marR="68591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91" marR="68591" marT="0" marB="0" anchor="ctr"/>
                </a:tc>
              </a:tr>
              <a:tr h="259138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 </a:t>
                      </a:r>
                      <a:endParaRPr lang="en-US" sz="12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09" marB="4570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待写入的队列</a:t>
                      </a:r>
                      <a:endParaRPr lang="zh-CN" altLang="en-US" sz="12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09" marB="45709" anchor="ctr"/>
                </a:tc>
              </a:tr>
              <a:tr h="259138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pvItemToQueue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2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09" marB="4570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待写入消息</a:t>
                      </a:r>
                      <a:endParaRPr lang="zh-CN" altLang="en-US" sz="12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09" marB="45709" anchor="ctr"/>
                </a:tc>
              </a:tr>
              <a:tr h="259138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xTicksToWait </a:t>
                      </a:r>
                      <a:endParaRPr lang="en-US" sz="12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09" marB="4570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阻塞超时时间</a:t>
                      </a:r>
                      <a:endParaRPr lang="zh-CN" altLang="en-US" sz="12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09" marB="45709" anchor="ctr"/>
                </a:tc>
              </a:tr>
              <a:tr h="259138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xCopyPosition </a:t>
                      </a:r>
                      <a:endParaRPr lang="en-US" sz="12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09" marB="4570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写入的位置</a:t>
                      </a:r>
                      <a:endParaRPr lang="zh-CN" altLang="en-US" sz="12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09" marB="45709" anchor="ctr"/>
                </a:tc>
              </a:tr>
            </a:tbl>
          </a:graphicData>
        </a:graphic>
      </p:graphicFrame>
      <p:grpSp>
        <p:nvGrpSpPr>
          <p:cNvPr id="10" name="组合 2"/>
          <p:cNvGrpSpPr/>
          <p:nvPr/>
        </p:nvGrpSpPr>
        <p:grpSpPr bwMode="auto">
          <a:xfrm>
            <a:off x="2045624" y="1686553"/>
            <a:ext cx="9505344" cy="1476375"/>
            <a:chOff x="500062" y="1198563"/>
            <a:chExt cx="6281928" cy="1475641"/>
          </a:xfrm>
        </p:grpSpPr>
        <p:sp>
          <p:nvSpPr>
            <p:cNvPr id="11" name="文本框 14"/>
            <p:cNvSpPr txBox="1">
              <a:spLocks noChangeArrowheads="1"/>
            </p:cNvSpPr>
            <p:nvPr/>
          </p:nvSpPr>
          <p:spPr bwMode="auto">
            <a:xfrm>
              <a:off x="500062" y="1198563"/>
              <a:ext cx="5784849" cy="1475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BaseType_t     xQueueGenericSend</a:t>
              </a:r>
              <a:r>
                <a:rPr lang="en-US" altLang="zh-CN" sz="120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(  </a:t>
              </a:r>
              <a:r>
                <a:rPr lang="en-US" altLang="zh-CN" sz="120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QueueHandle_t 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xQueue</a:t>
              </a:r>
              <a:r>
                <a:rPr lang="en-US" altLang="zh-CN" sz="120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br>
                <a:rPr lang="en-US" altLang="zh-CN" sz="120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					        </a:t>
              </a:r>
              <a:r>
                <a:rPr lang="en-US" altLang="zh-CN" sz="120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const void </a:t>
              </a:r>
              <a:r>
                <a:rPr lang="en-US" altLang="zh-CN" sz="120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* </a:t>
              </a:r>
              <a:r>
                <a:rPr lang="en-US" altLang="zh-CN" sz="120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const 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pvItemToQueue</a:t>
              </a:r>
              <a:r>
                <a:rPr lang="en-US" altLang="zh-CN" sz="120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br>
                <a:rPr lang="en-US" altLang="zh-CN" sz="120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					        </a:t>
              </a:r>
              <a:r>
                <a:rPr lang="en-US" altLang="zh-CN" sz="120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TickType_t 	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xTicksToWait</a:t>
              </a:r>
              <a:r>
                <a:rPr lang="en-US" altLang="zh-CN" sz="120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br>
                <a:rPr lang="en-US" altLang="zh-CN" sz="120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					        </a:t>
              </a:r>
              <a:r>
                <a:rPr lang="en-US" altLang="zh-CN" sz="120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const </a:t>
              </a:r>
              <a:r>
                <a:rPr lang="en-US" altLang="zh-CN" sz="120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BaseType_t     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xCopyPosition</a:t>
              </a:r>
              <a:r>
                <a:rPr lang="en-US" altLang="zh-CN" sz="120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   </a:t>
              </a:r>
              <a:r>
                <a:rPr lang="en-US" altLang="zh-CN" sz="120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);</a:t>
              </a:r>
              <a:r>
                <a:rPr lang="en-US" altLang="zh-CN" sz="1200"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br>
                <a:rPr lang="en-US" altLang="zh-CN" sz="1200">
                  <a:latin typeface="思源黑体 CN Normal" pitchFamily="34" charset="-122"/>
                  <a:ea typeface="思源黑体 CN Normal" pitchFamily="34" charset="-122"/>
                </a:rPr>
              </a:br>
              <a:endPara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500062" y="1230297"/>
              <a:ext cx="6281928" cy="1205900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13" name="文本框 6"/>
          <p:cNvSpPr txBox="1">
            <a:spLocks noChangeArrowheads="1"/>
          </p:cNvSpPr>
          <p:nvPr/>
        </p:nvSpPr>
        <p:spPr bwMode="auto">
          <a:xfrm>
            <a:off x="1923386" y="1367465"/>
            <a:ext cx="3057525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往队列写入消息函数入口参数解析：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4" name="表格 6"/>
          <p:cNvGraphicFramePr>
            <a:graphicFrameLocks noGrp="1"/>
          </p:cNvGraphicFramePr>
          <p:nvPr/>
        </p:nvGraphicFramePr>
        <p:xfrm>
          <a:off x="2045624" y="4342440"/>
          <a:ext cx="4386262" cy="7270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587"/>
                <a:gridCol w="2747675"/>
              </a:tblGrid>
              <a:tr h="20936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返回值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72" marR="68572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72" marR="68572" marT="0" marB="0" anchor="ctr"/>
                </a:tc>
              </a:tr>
              <a:tr h="25885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pdTRUE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3" marR="91423" marT="45612" marB="4561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队列写入成功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3" marR="91423" marT="45612" marB="45612" anchor="ctr"/>
                </a:tc>
              </a:tr>
              <a:tr h="25885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errQUEUE_FULL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3" marR="91423" marT="45612" marB="4561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队列写入失败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3" marR="91423" marT="45612" marB="45612" anchor="ctr"/>
                </a:tc>
              </a:tr>
            </a:tbl>
          </a:graphicData>
        </a:graphic>
      </p:graphicFrame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333168" y="1052918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，队列相关</a:t>
            </a:r>
            <a:r>
              <a:rPr lang="en-US" altLang="zh-CN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函数介绍（掌握）</a:t>
            </a:r>
            <a:endParaRPr lang="en-US" altLang="zh-CN" b="1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4"/>
          <p:cNvSpPr txBox="1">
            <a:spLocks noChangeArrowheads="1"/>
          </p:cNvSpPr>
          <p:nvPr/>
        </p:nvSpPr>
        <p:spPr bwMode="auto">
          <a:xfrm>
            <a:off x="1685593" y="1629181"/>
            <a:ext cx="55102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从队列读取消息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函数：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0" name="表格 6"/>
          <p:cNvGraphicFramePr>
            <a:graphicFrameLocks noGrp="1"/>
          </p:cNvGraphicFramePr>
          <p:nvPr/>
        </p:nvGraphicFramePr>
        <p:xfrm>
          <a:off x="1763380" y="2049868"/>
          <a:ext cx="5784850" cy="132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290"/>
                <a:gridCol w="3524560"/>
              </a:tblGrid>
              <a:tr h="2641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函数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93" marR="68593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93" marR="68593" marT="0" marB="0" anchor="ctr"/>
                </a:tc>
              </a:tr>
              <a:tr h="2641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xQueueReceive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18" marB="4571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从队列头部读取消息，并删除消息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18" marB="45718" anchor="ctr"/>
                </a:tc>
              </a:tr>
              <a:tr h="2641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xQueuePeek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18" marB="4571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从队列头部读取消息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18" marB="45718" anchor="ctr"/>
                </a:tc>
              </a:tr>
              <a:tr h="264160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xQueueReceiveFromISR()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18" marB="4571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在中断中从队列头部读取消息，并删除消息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18" marB="45718" anchor="ctr"/>
                </a:tc>
              </a:tr>
              <a:tr h="2641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xQueuePeekFromISR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18" marB="4571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在中断中从队列头部读取消息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8" marR="91448" marT="45718" marB="45718" anchor="ctr"/>
                </a:tc>
              </a:tr>
            </a:tbl>
          </a:graphicData>
        </a:graphic>
      </p:graphicFrame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503289" y="957226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，队列相关</a:t>
            </a:r>
            <a:r>
              <a:rPr lang="en-US" altLang="zh-CN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函数介绍（掌握）</a:t>
            </a:r>
            <a:endParaRPr lang="en-US" altLang="zh-CN" b="1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4"/>
          <p:cNvSpPr txBox="1">
            <a:spLocks noChangeArrowheads="1"/>
          </p:cNvSpPr>
          <p:nvPr/>
        </p:nvSpPr>
        <p:spPr bwMode="auto">
          <a:xfrm>
            <a:off x="1855714" y="1924014"/>
            <a:ext cx="81438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此函数用于在任务中，从队列中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读取消息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，并且消息读取成功后，会将消息从队列中移除。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0" name="文本框 13"/>
          <p:cNvSpPr txBox="1">
            <a:spLocks noChangeArrowheads="1"/>
          </p:cNvSpPr>
          <p:nvPr/>
        </p:nvSpPr>
        <p:spPr bwMode="auto">
          <a:xfrm>
            <a:off x="1855714" y="1523964"/>
            <a:ext cx="802481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BaseType_t    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xQueueReceive( QueueHandle_t   </a:t>
            </a:r>
            <a:r>
              <a:rPr lang="zh-CN" altLang="en-US" sz="12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xQueue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,  void *   const </a:t>
            </a:r>
            <a:r>
              <a:rPr lang="zh-CN" altLang="en-US" sz="12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pvBuffer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,  TickType_t   </a:t>
            </a:r>
            <a:r>
              <a:rPr lang="zh-CN" altLang="en-US" sz="12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xTicksToWait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)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1" name="表格 6"/>
          <p:cNvGraphicFramePr>
            <a:graphicFrameLocks noGrp="1"/>
          </p:cNvGraphicFramePr>
          <p:nvPr/>
        </p:nvGraphicFramePr>
        <p:xfrm>
          <a:off x="1943026" y="2430426"/>
          <a:ext cx="5137150" cy="1055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316"/>
                <a:gridCol w="2876834"/>
              </a:tblGrid>
              <a:tr h="2639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形参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94" marR="68594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94" marR="68594" marT="0" marB="0" anchor="ctr"/>
                </a:tc>
              </a:tr>
              <a:tr h="26392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677" marB="4567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待读取的队列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677" marB="45677" anchor="ctr"/>
                </a:tc>
              </a:tr>
              <a:tr h="26392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pvBuffer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677" marB="4567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信息读取缓冲区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677" marB="45677" anchor="ctr"/>
                </a:tc>
              </a:tr>
              <a:tr h="26392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xTicksToWait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677" marB="4567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阻塞超时时间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677" marB="45677" anchor="ctr"/>
                </a:tc>
              </a:tr>
            </a:tbl>
          </a:graphicData>
        </a:graphic>
      </p:graphicFrame>
      <p:graphicFrame>
        <p:nvGraphicFramePr>
          <p:cNvPr id="12" name="表格 6"/>
          <p:cNvGraphicFramePr>
            <a:graphicFrameLocks noGrp="1"/>
          </p:cNvGraphicFramePr>
          <p:nvPr/>
        </p:nvGraphicFramePr>
        <p:xfrm>
          <a:off x="1943026" y="3729001"/>
          <a:ext cx="5137150" cy="7921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316"/>
                <a:gridCol w="2876834"/>
              </a:tblGrid>
              <a:tr h="26405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返回值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94" marR="68594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94" marR="68594" marT="0" marB="0" anchor="ctr"/>
                </a:tc>
              </a:tr>
              <a:tr h="26405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pdTRUE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00" marB="4570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读取成功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00" marB="45700" anchor="ctr"/>
                </a:tc>
              </a:tr>
              <a:tr h="264054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pdFALSE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00" marB="4570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读取失败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00" marB="45700" anchor="ctr"/>
                </a:tc>
              </a:tr>
            </a:tbl>
          </a:graphicData>
        </a:graphic>
      </p:graphicFrame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343800" y="105823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3A4A6A"/>
                </a:solidFill>
                <a:latin typeface="思源黑体 CN Bold" pitchFamily="34" charset="-122"/>
                <a:ea typeface="思源黑体 CN Bold" pitchFamily="34" charset="-122"/>
              </a:rPr>
              <a:t>3</a:t>
            </a:r>
            <a:r>
              <a:rPr lang="zh-CN" altLang="en-US" b="1" dirty="0">
                <a:solidFill>
                  <a:srgbClr val="3A4A6A"/>
                </a:solidFill>
                <a:latin typeface="思源黑体 CN Bold" pitchFamily="34" charset="-122"/>
                <a:ea typeface="思源黑体 CN Bold" pitchFamily="34" charset="-122"/>
              </a:rPr>
              <a:t>，队列相关</a:t>
            </a:r>
            <a:r>
              <a:rPr lang="en-US" altLang="zh-CN" b="1" dirty="0">
                <a:solidFill>
                  <a:srgbClr val="3A4A6A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3A4A6A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3A4A6A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14"/>
          <p:cNvSpPr txBox="1">
            <a:spLocks noChangeArrowheads="1"/>
          </p:cNvSpPr>
          <p:nvPr/>
        </p:nvSpPr>
        <p:spPr bwMode="auto">
          <a:xfrm>
            <a:off x="1756550" y="2032960"/>
            <a:ext cx="852170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此函数用于在任务中，从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队列中读取消息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 但与函数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xQueueReceive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()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不同，此函数在成功读取消息后，并不会移除已读取的消息！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0" name="文本框 13"/>
          <p:cNvSpPr txBox="1">
            <a:spLocks noChangeArrowheads="1"/>
          </p:cNvSpPr>
          <p:nvPr/>
        </p:nvSpPr>
        <p:spPr bwMode="auto">
          <a:xfrm>
            <a:off x="1756550" y="1634498"/>
            <a:ext cx="80232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BaseType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_t   xQueuePeek( QueueHandle_t   </a:t>
            </a:r>
            <a:r>
              <a:rPr lang="en-US" altLang="zh-CN" sz="12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xQueue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,   void * const   </a:t>
            </a:r>
            <a:r>
              <a:rPr lang="en-US" altLang="zh-CN" sz="12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pvBuffer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,   TickType_t   </a:t>
            </a:r>
            <a:r>
              <a:rPr lang="en-US" altLang="zh-CN" sz="12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xTicksToWait</a:t>
            </a: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)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1" name="表格 6"/>
          <p:cNvGraphicFramePr>
            <a:graphicFrameLocks noGrp="1"/>
          </p:cNvGraphicFramePr>
          <p:nvPr/>
        </p:nvGraphicFramePr>
        <p:xfrm>
          <a:off x="1783537" y="2860048"/>
          <a:ext cx="5137150" cy="10572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316"/>
                <a:gridCol w="2876834"/>
              </a:tblGrid>
              <a:tr h="26431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形参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94" marR="68594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94" marR="68594" marT="0" marB="0" anchor="ctr"/>
                </a:tc>
              </a:tr>
              <a:tr h="264319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46" marB="45746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待读取的队列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46" marB="45746" anchor="ctr"/>
                </a:tc>
              </a:tr>
              <a:tr h="264319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pvBuffer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46" marB="45746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信息读取缓冲区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46" marB="45746" anchor="ctr"/>
                </a:tc>
              </a:tr>
              <a:tr h="264319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xTicksToWait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46" marB="45746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阻塞超时时间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46" marB="45746" anchor="ctr"/>
                </a:tc>
              </a:tr>
            </a:tbl>
          </a:graphicData>
        </a:graphic>
      </p:graphicFrame>
      <p:graphicFrame>
        <p:nvGraphicFramePr>
          <p:cNvPr id="12" name="表格 6"/>
          <p:cNvGraphicFramePr>
            <a:graphicFrameLocks noGrp="1"/>
          </p:cNvGraphicFramePr>
          <p:nvPr/>
        </p:nvGraphicFramePr>
        <p:xfrm>
          <a:off x="1783537" y="4244348"/>
          <a:ext cx="5137150" cy="7937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316"/>
                <a:gridCol w="2876834"/>
              </a:tblGrid>
              <a:tr h="26458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返回值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94" marR="68594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94" marR="68594" marT="0" marB="0" anchor="ctr"/>
                </a:tc>
              </a:tr>
              <a:tr h="26458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pdTRUE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92" marB="4579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读取成功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92" marB="45792" anchor="ctr"/>
                </a:tc>
              </a:tr>
              <a:tr h="26458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pdFALSE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92" marB="4579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读取失败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9" marR="91449" marT="45792" marB="45792" anchor="ctr"/>
                </a:tc>
              </a:tr>
            </a:tbl>
          </a:graphicData>
        </a:graphic>
      </p:graphicFrame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482024" y="1161177"/>
            <a:ext cx="4619625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bg1"/>
                </a:solidFill>
                <a:latin typeface="思源黑体 CN Bold" pitchFamily="34" charset="-122"/>
                <a:ea typeface="思源黑体 CN Bold" pitchFamily="34" charset="-122"/>
              </a:rPr>
              <a:t>4</a:t>
            </a:r>
            <a:r>
              <a:rPr lang="zh-CN" altLang="en-US" b="1" dirty="0">
                <a:solidFill>
                  <a:schemeClr val="bg1"/>
                </a:solidFill>
                <a:latin typeface="思源黑体 CN Bold" pitchFamily="34" charset="-122"/>
                <a:ea typeface="思源黑体 CN Bold" pitchFamily="34" charset="-122"/>
              </a:rPr>
              <a:t>，队列集简介（了解）</a:t>
            </a:r>
            <a:endParaRPr lang="en-US" altLang="zh-CN" b="1" dirty="0">
              <a:solidFill>
                <a:schemeClr val="bg1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8"/>
          <p:cNvSpPr txBox="1">
            <a:spLocks noChangeArrowheads="1"/>
          </p:cNvSpPr>
          <p:nvPr/>
        </p:nvSpPr>
        <p:spPr bwMode="auto">
          <a:xfrm>
            <a:off x="1859849" y="1697752"/>
            <a:ext cx="8591550" cy="706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一个队列只允许任务间传递的消息为同一种数据类型，如果需要在任务间传递不同数据类型的消息时，那么就可以使用队列集 ！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0" name="文本框 2"/>
          <p:cNvSpPr txBox="1">
            <a:spLocks noChangeArrowheads="1"/>
          </p:cNvSpPr>
          <p:nvPr/>
        </p:nvSpPr>
        <p:spPr bwMode="auto">
          <a:xfrm>
            <a:off x="1859849" y="2483565"/>
            <a:ext cx="87249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作用：用于对多个队列或信号量进行“监听”，其中不管哪一个消息到来，都可让任务退出阻塞状态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pSp>
        <p:nvGrpSpPr>
          <p:cNvPr id="11" name="组合 10"/>
          <p:cNvGrpSpPr/>
          <p:nvPr/>
        </p:nvGrpSpPr>
        <p:grpSpPr bwMode="auto">
          <a:xfrm>
            <a:off x="2069399" y="3442415"/>
            <a:ext cx="3124606" cy="1725008"/>
            <a:chOff x="758756" y="2675746"/>
            <a:chExt cx="1955261" cy="1618441"/>
          </a:xfrm>
        </p:grpSpPr>
        <p:sp>
          <p:nvSpPr>
            <p:cNvPr id="12" name="矩形 11"/>
            <p:cNvSpPr/>
            <p:nvPr/>
          </p:nvSpPr>
          <p:spPr>
            <a:xfrm>
              <a:off x="758756" y="2675746"/>
              <a:ext cx="1955261" cy="1618441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/>
            </a:p>
          </p:txBody>
        </p:sp>
        <p:sp>
          <p:nvSpPr>
            <p:cNvPr id="13" name="文本框 2"/>
            <p:cNvSpPr txBox="1">
              <a:spLocks noChangeArrowheads="1"/>
            </p:cNvSpPr>
            <p:nvPr/>
          </p:nvSpPr>
          <p:spPr bwMode="auto">
            <a:xfrm>
              <a:off x="856034" y="2767734"/>
              <a:ext cx="1857983" cy="14486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接收任务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)</a:t>
              </a:r>
              <a:endPara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{</a:t>
              </a:r>
              <a:endPara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等待接收队列；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endPara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 lvl="1"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获取信号量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；</a:t>
              </a:r>
              <a:endPara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}</a:t>
              </a:r>
              <a:endPara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</p:grpSp>
      <p:grpSp>
        <p:nvGrpSpPr>
          <p:cNvPr id="14" name="组合 13"/>
          <p:cNvGrpSpPr/>
          <p:nvPr/>
        </p:nvGrpSpPr>
        <p:grpSpPr bwMode="auto">
          <a:xfrm>
            <a:off x="6574724" y="3395392"/>
            <a:ext cx="3185964" cy="1857092"/>
            <a:chOff x="5239964" y="2675746"/>
            <a:chExt cx="2882632" cy="1905982"/>
          </a:xfrm>
        </p:grpSpPr>
        <p:sp>
          <p:nvSpPr>
            <p:cNvPr id="15" name="矩形 14"/>
            <p:cNvSpPr/>
            <p:nvPr/>
          </p:nvSpPr>
          <p:spPr>
            <a:xfrm>
              <a:off x="5239964" y="2675746"/>
              <a:ext cx="2600083" cy="1905982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/>
            </a:p>
          </p:txBody>
        </p:sp>
        <p:sp>
          <p:nvSpPr>
            <p:cNvPr id="16" name="文本框 7"/>
            <p:cNvSpPr txBox="1">
              <a:spLocks noChangeArrowheads="1"/>
            </p:cNvSpPr>
            <p:nvPr/>
          </p:nvSpPr>
          <p:spPr bwMode="auto">
            <a:xfrm>
              <a:off x="5337242" y="2767734"/>
              <a:ext cx="2785354" cy="1725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接收任务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)</a:t>
              </a:r>
              <a:endPara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{</a:t>
              </a:r>
              <a:endPara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等待队列集中消息；</a:t>
              </a:r>
              <a:endPara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if(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队列还是信号量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)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；</a:t>
              </a:r>
              <a:endPara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… …</a:t>
              </a:r>
              <a:endPara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}</a:t>
              </a:r>
              <a:endPara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</p:grpSp>
      <p:sp>
        <p:nvSpPr>
          <p:cNvPr id="17" name="文本框 2"/>
          <p:cNvSpPr txBox="1">
            <a:spLocks noChangeArrowheads="1"/>
          </p:cNvSpPr>
          <p:nvPr/>
        </p:nvSpPr>
        <p:spPr bwMode="auto">
          <a:xfrm>
            <a:off x="1859849" y="2861390"/>
            <a:ext cx="85915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假设：有个接收任务，使用到队列接收和信号量的获取，如下：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7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572400" y="1334682"/>
            <a:ext cx="52324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3A4A6A"/>
                </a:solidFill>
                <a:latin typeface="思源黑体 CN Bold" pitchFamily="34" charset="-122"/>
                <a:ea typeface="思源黑体 CN Bold" pitchFamily="34" charset="-122"/>
              </a:rPr>
              <a:t>5</a:t>
            </a:r>
            <a:r>
              <a:rPr lang="zh-CN" altLang="en-US" b="1" dirty="0">
                <a:solidFill>
                  <a:srgbClr val="3A4A6A"/>
                </a:solidFill>
                <a:latin typeface="思源黑体 CN Bold" pitchFamily="34" charset="-122"/>
                <a:ea typeface="思源黑体 CN Bold" pitchFamily="34" charset="-122"/>
              </a:rPr>
              <a:t>，队列集相关</a:t>
            </a:r>
            <a:r>
              <a:rPr lang="en-US" altLang="zh-CN" b="1" dirty="0">
                <a:solidFill>
                  <a:srgbClr val="3A4A6A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3A4A6A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3A4A6A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9" name="表格 13"/>
          <p:cNvGraphicFramePr>
            <a:graphicFrameLocks noGrp="1"/>
          </p:cNvGraphicFramePr>
          <p:nvPr/>
        </p:nvGraphicFramePr>
        <p:xfrm>
          <a:off x="1991500" y="2003020"/>
          <a:ext cx="5232400" cy="1670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4275"/>
                <a:gridCol w="2778125"/>
              </a:tblGrid>
              <a:tr h="27834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0" i="0" dirty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函数 </a:t>
                      </a:r>
                      <a:endParaRPr lang="zh-CN" altLang="en-US" sz="1300" dirty="0">
                        <a:solidFill>
                          <a:schemeClr val="bg1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0" i="0" dirty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300" dirty="0">
                        <a:solidFill>
                          <a:schemeClr val="bg1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  <a:tr h="27834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xQueueCreateSet()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创建队列集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  <a:tr h="27834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xQueueAddToSet()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队列添加到队列集中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  <a:tr h="27834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xQueueRemoveFromSet()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从队列集中移除队列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  <a:tr h="278342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xQueueSelectFromSet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获取队列集中有有效消息的队列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  <a:tr h="27834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xQueueSelectFromSetFromISR()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在中断中获取队列集中有有效消息的队列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136466" y="1161177"/>
            <a:ext cx="52324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5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，队列集相关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2"/>
          <p:cNvSpPr txBox="1">
            <a:spLocks noChangeArrowheads="1"/>
          </p:cNvSpPr>
          <p:nvPr/>
        </p:nvSpPr>
        <p:spPr bwMode="auto">
          <a:xfrm>
            <a:off x="1490478" y="1780302"/>
            <a:ext cx="75660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QueueSetHandle_t     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xQueueCreateSet( const  UBaseType_t   </a:t>
            </a:r>
            <a:r>
              <a:rPr lang="en-US" altLang="zh-CN" sz="140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uxEventQueueLength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); 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0" name="表格 7"/>
          <p:cNvGraphicFramePr>
            <a:graphicFrameLocks noGrp="1"/>
          </p:cNvGraphicFramePr>
          <p:nvPr/>
        </p:nvGraphicFramePr>
        <p:xfrm>
          <a:off x="1615891" y="2543890"/>
          <a:ext cx="5448300" cy="566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/>
                <a:gridCol w="3481387"/>
              </a:tblGrid>
              <a:tr h="28336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  <a:endParaRPr lang="zh-CN" altLang="en-US" sz="1100" dirty="0"/>
                    </a:p>
                  </a:txBody>
                  <a:tcPr marT="45684" marB="456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  <a:endParaRPr lang="zh-CN" altLang="en-US" sz="1100" dirty="0"/>
                    </a:p>
                  </a:txBody>
                  <a:tcPr marT="45684" marB="45684"/>
                </a:tc>
              </a:tr>
              <a:tr h="283369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uxEventQueueLength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队列集可容纳的队列数量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1" name="表格 10"/>
          <p:cNvGraphicFramePr>
            <a:graphicFrameLocks noGrp="1"/>
          </p:cNvGraphicFramePr>
          <p:nvPr/>
        </p:nvGraphicFramePr>
        <p:xfrm>
          <a:off x="1615891" y="3440827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/>
                <a:gridCol w="3481387"/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  <a:endParaRPr lang="zh-CN" altLang="en-US" sz="1100" dirty="0"/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  <a:endParaRPr lang="zh-CN" altLang="en-US" sz="1100" dirty="0"/>
                    </a:p>
                  </a:txBody>
                  <a:tcPr marT="45727" marB="45727"/>
                </a:tc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NULL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队列集创建失败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  <a:tr h="283633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其他值 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队列集创建成功，返回队列集句柄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2" name="文本框 11"/>
          <p:cNvSpPr txBox="1">
            <a:spLocks noChangeArrowheads="1"/>
          </p:cNvSpPr>
          <p:nvPr/>
        </p:nvSpPr>
        <p:spPr bwMode="auto">
          <a:xfrm>
            <a:off x="1490478" y="2167652"/>
            <a:ext cx="24463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此函数用于创建队列集。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051405" y="1106081"/>
            <a:ext cx="52324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5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，队列集相关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2"/>
          <p:cNvSpPr txBox="1">
            <a:spLocks noChangeArrowheads="1"/>
          </p:cNvSpPr>
          <p:nvPr/>
        </p:nvSpPr>
        <p:spPr bwMode="auto">
          <a:xfrm>
            <a:off x="1386367" y="1598206"/>
            <a:ext cx="10410456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400" dirty="0" err="1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BaseType_t</a:t>
            </a:r>
            <a:r>
              <a:rPr lang="en-US" altLang="zh-CN" sz="14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xQueueAddToSet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QueueSetMemberHandle_t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  	</a:t>
            </a:r>
            <a:r>
              <a:rPr lang="en-US" altLang="zh-CN" sz="1400" dirty="0" err="1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xQueueOrSemaphore</a:t>
            </a:r>
            <a:r>
              <a:rPr lang="en-US" altLang="zh-CN" sz="14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,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				   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QueueSetHandle_t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  		</a:t>
            </a:r>
            <a:r>
              <a:rPr lang="en-US" altLang="zh-CN" sz="1400" dirty="0" err="1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xQueueSet</a:t>
            </a:r>
            <a:r>
              <a:rPr lang="en-US" altLang="zh-CN" sz="14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  	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);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0" name="表格 7"/>
          <p:cNvGraphicFramePr>
            <a:graphicFrameLocks noGrp="1"/>
          </p:cNvGraphicFramePr>
          <p:nvPr/>
        </p:nvGraphicFramePr>
        <p:xfrm>
          <a:off x="1530830" y="2928531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/>
                <a:gridCol w="3481387"/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  <a:endParaRPr lang="zh-CN" altLang="en-US" sz="1100" dirty="0"/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  <a:endParaRPr lang="zh-CN" altLang="en-US" sz="1100" dirty="0"/>
                    </a:p>
                  </a:txBody>
                  <a:tcPr marT="45727" marB="45727"/>
                </a:tc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xQueueOrSemaphore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63" marB="4576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待添加的队列句柄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63" marB="45763" anchor="ctr"/>
                </a:tc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xQueueSet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63" marB="4576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队列集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63" marB="45763" anchor="ctr"/>
                </a:tc>
              </a:tr>
            </a:tbl>
          </a:graphicData>
        </a:graphic>
      </p:graphicFrame>
      <p:graphicFrame>
        <p:nvGraphicFramePr>
          <p:cNvPr id="11" name="表格 10"/>
          <p:cNvGraphicFramePr>
            <a:graphicFrameLocks noGrp="1"/>
          </p:cNvGraphicFramePr>
          <p:nvPr/>
        </p:nvGraphicFramePr>
        <p:xfrm>
          <a:off x="1530830" y="4087406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/>
                <a:gridCol w="3481387"/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  <a:endParaRPr lang="zh-CN" altLang="en-US" sz="1100" dirty="0"/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  <a:endParaRPr lang="zh-CN" altLang="en-US" sz="1100" dirty="0"/>
                    </a:p>
                  </a:txBody>
                  <a:tcPr marT="45727" marB="45727"/>
                </a:tc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pdPASS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队列集添加队列成功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pdFAIL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队列集添加队列失败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2" name="文本框 11"/>
          <p:cNvSpPr txBox="1">
            <a:spLocks noChangeArrowheads="1"/>
          </p:cNvSpPr>
          <p:nvPr/>
        </p:nvSpPr>
        <p:spPr bwMode="auto">
          <a:xfrm>
            <a:off x="1368905" y="2425294"/>
            <a:ext cx="82137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此函数用于往队列集中添加队列，要注意的时，队列在被添加到队列集之前，队列中不能有有效的消息 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253424" y="1161177"/>
            <a:ext cx="52324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5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，队列集相关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2"/>
          <p:cNvSpPr txBox="1">
            <a:spLocks noChangeArrowheads="1"/>
          </p:cNvSpPr>
          <p:nvPr/>
        </p:nvSpPr>
        <p:spPr bwMode="auto">
          <a:xfrm>
            <a:off x="1297984" y="1624727"/>
            <a:ext cx="10567951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400" dirty="0" err="1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BaseType_t</a:t>
            </a:r>
            <a:r>
              <a:rPr lang="en-US" altLang="zh-CN" sz="14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xQueueRemoveFromSet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QueueSetMemberHandle_t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 	</a:t>
            </a:r>
            <a:r>
              <a:rPr lang="en-US" altLang="zh-CN" sz="1400" dirty="0" err="1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xQueueOrSemaphore</a:t>
            </a:r>
            <a:r>
              <a:rPr lang="en-US" altLang="zh-CN" sz="14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,</a:t>
            </a:r>
            <a:b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</a:b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						       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QueueSetHandle_t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  		</a:t>
            </a:r>
            <a:r>
              <a:rPr lang="en-US" altLang="zh-CN" sz="1400" dirty="0" err="1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xQueueSet</a:t>
            </a:r>
            <a:r>
              <a:rPr lang="en-US" altLang="zh-CN" sz="14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); </a:t>
            </a:r>
            <a:b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</a:b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0" name="表格 7"/>
          <p:cNvGraphicFramePr>
            <a:graphicFrameLocks noGrp="1"/>
          </p:cNvGraphicFramePr>
          <p:nvPr/>
        </p:nvGraphicFramePr>
        <p:xfrm>
          <a:off x="2094356" y="2902665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/>
                <a:gridCol w="3481387"/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  <a:endParaRPr lang="zh-CN" altLang="en-US" sz="1100" dirty="0"/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  <a:endParaRPr lang="zh-CN" altLang="en-US" sz="1100" dirty="0"/>
                    </a:p>
                  </a:txBody>
                  <a:tcPr marT="45727" marB="45727"/>
                </a:tc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xQueueOrSemaphore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63" marB="4576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待移除的队列句柄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63" marB="45763" anchor="ctr"/>
                </a:tc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xQueueSet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63" marB="4576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队列集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63" marB="45763" anchor="ctr"/>
                </a:tc>
              </a:tr>
            </a:tbl>
          </a:graphicData>
        </a:graphic>
      </p:graphicFrame>
      <p:graphicFrame>
        <p:nvGraphicFramePr>
          <p:cNvPr id="11" name="表格 10"/>
          <p:cNvGraphicFramePr>
            <a:graphicFrameLocks noGrp="1"/>
          </p:cNvGraphicFramePr>
          <p:nvPr/>
        </p:nvGraphicFramePr>
        <p:xfrm>
          <a:off x="2094356" y="4109165"/>
          <a:ext cx="5448300" cy="849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/>
                <a:gridCol w="3481387"/>
              </a:tblGrid>
              <a:tr h="28310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  <a:endParaRPr lang="zh-CN" altLang="en-US" sz="1100" dirty="0"/>
                    </a:p>
                  </a:txBody>
                  <a:tcPr marT="45642" marB="4564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  <a:endParaRPr lang="zh-CN" altLang="en-US" sz="1100" dirty="0"/>
                    </a:p>
                  </a:txBody>
                  <a:tcPr marT="45642" marB="45642"/>
                </a:tc>
              </a:tr>
              <a:tr h="28310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pdPASS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35" marB="4563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队列集移除队列成功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35" marB="45635" anchor="ctr"/>
                </a:tc>
              </a:tr>
              <a:tr h="283104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pdFAIL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35" marB="4563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队列集移除队列失败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35" marB="45635" anchor="ctr"/>
                </a:tc>
              </a:tr>
            </a:tbl>
          </a:graphicData>
        </a:graphic>
      </p:graphicFrame>
      <p:sp>
        <p:nvSpPr>
          <p:cNvPr id="12" name="文本框 11"/>
          <p:cNvSpPr txBox="1">
            <a:spLocks noChangeArrowheads="1"/>
          </p:cNvSpPr>
          <p:nvPr/>
        </p:nvSpPr>
        <p:spPr bwMode="auto">
          <a:xfrm>
            <a:off x="1978468" y="2451815"/>
            <a:ext cx="83581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此函数用于从队列集中移除队列， 要注意的是，队列在从队列集移除之前，必须没有有效的消息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189609" y="989123"/>
            <a:ext cx="52324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5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，队列集相关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函数介绍（熟悉）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2"/>
          <p:cNvSpPr txBox="1">
            <a:spLocks noChangeArrowheads="1"/>
          </p:cNvSpPr>
          <p:nvPr/>
        </p:nvSpPr>
        <p:spPr bwMode="auto">
          <a:xfrm>
            <a:off x="1189609" y="1624123"/>
            <a:ext cx="10798600" cy="7005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400" dirty="0" err="1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QueueSetMemberHandle_t</a:t>
            </a:r>
            <a:r>
              <a:rPr lang="en-US" altLang="zh-CN" sz="14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  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xQueueSelectFromSet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QueueSetHandle_t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		</a:t>
            </a:r>
            <a:r>
              <a:rPr lang="en-US" altLang="zh-CN" sz="1400" dirty="0" err="1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xQueueSet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,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                                               					   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TickType_t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const 		</a:t>
            </a:r>
            <a:r>
              <a:rPr lang="en-US" altLang="zh-CN" sz="1400" dirty="0" err="1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xTicksToWait</a:t>
            </a:r>
            <a:r>
              <a:rPr lang="en-US" altLang="zh-CN" sz="14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)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0" name="表格 7"/>
          <p:cNvGraphicFramePr>
            <a:graphicFrameLocks noGrp="1"/>
          </p:cNvGraphicFramePr>
          <p:nvPr/>
        </p:nvGraphicFramePr>
        <p:xfrm>
          <a:off x="2048669" y="2962386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/>
                <a:gridCol w="3481387"/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  <a:endParaRPr lang="zh-CN" altLang="en-US" sz="1100" dirty="0"/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  <a:endParaRPr lang="zh-CN" altLang="en-US" sz="1100" dirty="0"/>
                    </a:p>
                  </a:txBody>
                  <a:tcPr marT="45727" marB="45727"/>
                </a:tc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xQueueSet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63" marB="4576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队列集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63" marB="45763" anchor="ctr"/>
                </a:tc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xTicksToWait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63" marB="4576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阻塞超时时间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63" marB="45763" anchor="ctr"/>
                </a:tc>
              </a:tr>
            </a:tbl>
          </a:graphicData>
        </a:graphic>
      </p:graphicFrame>
      <p:graphicFrame>
        <p:nvGraphicFramePr>
          <p:cNvPr id="11" name="表格 10"/>
          <p:cNvGraphicFramePr>
            <a:graphicFrameLocks noGrp="1"/>
          </p:cNvGraphicFramePr>
          <p:nvPr/>
        </p:nvGraphicFramePr>
        <p:xfrm>
          <a:off x="2048669" y="4037123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/>
                <a:gridCol w="3481387"/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  <a:endParaRPr lang="zh-CN" altLang="en-US" sz="1100" dirty="0"/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  <a:endParaRPr lang="zh-CN" altLang="en-US" sz="1100" dirty="0"/>
                    </a:p>
                  </a:txBody>
                  <a:tcPr marT="45727" marB="45727"/>
                </a:tc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NULL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获取消息失败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  <a:tr h="283633"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其他值 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获取到消息的队列句柄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2" name="文本框 11"/>
          <p:cNvSpPr txBox="1">
            <a:spLocks noChangeArrowheads="1"/>
          </p:cNvSpPr>
          <p:nvPr/>
        </p:nvSpPr>
        <p:spPr bwMode="auto">
          <a:xfrm>
            <a:off x="1923256" y="2482961"/>
            <a:ext cx="46180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此函数用于在任务中获取队列集中有有效消息的队列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285322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，事件标志组简介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663147" y="1812052"/>
            <a:ext cx="4854575" cy="3079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事件标志位：用一个位，来表示事件是否发生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0" name="文本框 160"/>
          <p:cNvSpPr txBox="1">
            <a:spLocks noChangeArrowheads="1"/>
          </p:cNvSpPr>
          <p:nvPr/>
        </p:nvSpPr>
        <p:spPr bwMode="auto">
          <a:xfrm>
            <a:off x="1663147" y="2162890"/>
            <a:ext cx="7043737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事件标志组是一组事件标志位的集合， 可以简单的理解事件标志组，就是一个整数。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" name="文本框 31"/>
          <p:cNvSpPr txBox="1">
            <a:spLocks noChangeArrowheads="1"/>
          </p:cNvSpPr>
          <p:nvPr/>
        </p:nvSpPr>
        <p:spPr bwMode="auto">
          <a:xfrm>
            <a:off x="1663147" y="4621927"/>
            <a:ext cx="59182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可以等待某一位成立，或者等待多位同时成立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" name="文本框 6"/>
          <p:cNvSpPr txBox="1">
            <a:spLocks noChangeArrowheads="1"/>
          </p:cNvSpPr>
          <p:nvPr/>
        </p:nvSpPr>
        <p:spPr bwMode="auto">
          <a:xfrm>
            <a:off x="1663147" y="2980452"/>
            <a:ext cx="46180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它的每一个位表示一个事件（高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8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位不算）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" name="文本框 7"/>
          <p:cNvSpPr txBox="1">
            <a:spLocks noChangeArrowheads="1"/>
          </p:cNvSpPr>
          <p:nvPr/>
        </p:nvSpPr>
        <p:spPr bwMode="auto">
          <a:xfrm>
            <a:off x="1663147" y="3421777"/>
            <a:ext cx="82534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每一位事件的含义，由用户自己决定，如：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bit0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表示按键是否按下，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bit1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表示是否接受到消息 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… …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文本框 9"/>
          <p:cNvSpPr txBox="1">
            <a:spLocks noChangeArrowheads="1"/>
          </p:cNvSpPr>
          <p:nvPr/>
        </p:nvSpPr>
        <p:spPr bwMode="auto">
          <a:xfrm>
            <a:off x="1967947" y="3801190"/>
            <a:ext cx="4759325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这些位的值为</a:t>
            </a:r>
            <a:r>
              <a:rPr lang="en-US" altLang="zh-CN" sz="12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：表示事件发生了；值为</a:t>
            </a:r>
            <a:r>
              <a:rPr lang="en-US" altLang="zh-CN" sz="12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0</a:t>
            </a:r>
            <a:r>
              <a:rPr lang="zh-CN" altLang="en-US" sz="12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：表示事件未发生</a:t>
            </a:r>
            <a:endParaRPr lang="zh-CN" altLang="en-US" sz="120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" name="文本框 12"/>
          <p:cNvSpPr txBox="1">
            <a:spLocks noChangeArrowheads="1"/>
          </p:cNvSpPr>
          <p:nvPr/>
        </p:nvSpPr>
        <p:spPr bwMode="auto">
          <a:xfrm>
            <a:off x="1663147" y="4175840"/>
            <a:ext cx="4129087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任意任务或中断都可以读写这些位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6" name="文本框 160"/>
          <p:cNvSpPr txBox="1">
            <a:spLocks noChangeArrowheads="1"/>
          </p:cNvSpPr>
          <p:nvPr/>
        </p:nvSpPr>
        <p:spPr bwMode="auto">
          <a:xfrm>
            <a:off x="1663147" y="2562940"/>
            <a:ext cx="2336800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事件标志组的特点：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264056" y="989123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，事件标志组简介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8"/>
          <p:cNvSpPr txBox="1">
            <a:spLocks noChangeArrowheads="1"/>
          </p:cNvSpPr>
          <p:nvPr/>
        </p:nvSpPr>
        <p:spPr bwMode="auto">
          <a:xfrm>
            <a:off x="1641881" y="1639998"/>
            <a:ext cx="82169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一个事件组就包含了一个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EventBits_t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数据类型的变量，变量类型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EventBits_t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的定义如下所示：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pSp>
        <p:nvGrpSpPr>
          <p:cNvPr id="10" name="组合 13"/>
          <p:cNvGrpSpPr/>
          <p:nvPr/>
        </p:nvGrpSpPr>
        <p:grpSpPr bwMode="auto">
          <a:xfrm>
            <a:off x="1700617" y="2094023"/>
            <a:ext cx="6885173" cy="2093913"/>
            <a:chOff x="685800" y="1855183"/>
            <a:chExt cx="4694238" cy="2095025"/>
          </a:xfrm>
        </p:grpSpPr>
        <p:sp>
          <p:nvSpPr>
            <p:cNvPr id="11" name="文本框 2"/>
            <p:cNvSpPr txBox="1">
              <a:spLocks noChangeArrowheads="1"/>
            </p:cNvSpPr>
            <p:nvPr/>
          </p:nvSpPr>
          <p:spPr bwMode="auto">
            <a:xfrm>
              <a:off x="762318" y="1855183"/>
              <a:ext cx="4617720" cy="20082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typedef </a:t>
              </a:r>
              <a:r>
                <a:rPr lang="en-US" altLang="zh-CN" sz="1200" dirty="0" err="1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TickType_t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r>
                <a:rPr lang="en-US" altLang="zh-CN" sz="1200" dirty="0" err="1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EventBits_t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;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#if ( 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configUSE_16_BIT_TICKS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  = =  1 )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	typedef   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uint16_t   </a:t>
              </a:r>
              <a:r>
                <a:rPr lang="en-US" altLang="zh-CN" sz="1200" dirty="0" err="1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TickType_t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;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#else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	typedef   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uint32_t   </a:t>
              </a:r>
              <a:r>
                <a:rPr lang="en-US" altLang="zh-CN" sz="1200" dirty="0" err="1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TickType_t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;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#endif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#define  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configUSE_16_BIT_TICKS    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0</a:t>
              </a:r>
              <a:r>
                <a:rPr lang="en-US" altLang="zh-CN" sz="1200" dirty="0"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endParaRPr lang="zh-CN" altLang="en-US" sz="1200" dirty="0"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685800" y="1855183"/>
              <a:ext cx="4694238" cy="2095025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13" name="文本框 15"/>
          <p:cNvSpPr txBox="1">
            <a:spLocks noChangeArrowheads="1"/>
          </p:cNvSpPr>
          <p:nvPr/>
        </p:nvSpPr>
        <p:spPr bwMode="auto">
          <a:xfrm>
            <a:off x="1700618" y="4357798"/>
            <a:ext cx="5132388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EventBits_t 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实际上是一个 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16 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位或 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32 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位无符号的数据类型 </a:t>
            </a:r>
            <a:endParaRPr lang="zh-CN" altLang="en-US" sz="14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519238" y="1068867"/>
            <a:ext cx="4424362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1</a:t>
            </a:r>
            <a:r>
              <a:rPr lang="zh-CN" altLang="en-US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，事件标志组简介（了解）</a:t>
            </a:r>
            <a:endParaRPr lang="en-US" altLang="zh-CN" b="1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pic>
        <p:nvPicPr>
          <p:cNvPr id="9" name="图片 7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1663" y="2640492"/>
            <a:ext cx="6035675" cy="1189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文本框 9"/>
          <p:cNvSpPr txBox="1">
            <a:spLocks noChangeArrowheads="1"/>
          </p:cNvSpPr>
          <p:nvPr/>
        </p:nvSpPr>
        <p:spPr bwMode="auto">
          <a:xfrm>
            <a:off x="1835150" y="1670530"/>
            <a:ext cx="8296275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虽然使用了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32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位无符号的数据类型变量来存储事件标志， 但其中的高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8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位用作存储事件标志组的控制信息，低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位用作存储事件标志 ，所以说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一个事件组最多可以存储 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24 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个事件标志！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178996" y="1015705"/>
            <a:ext cx="4424362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事件标志组与队列、信号量的区别？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9" name="表格 13"/>
          <p:cNvGraphicFramePr>
            <a:graphicFrameLocks noGrp="1"/>
          </p:cNvGraphicFramePr>
          <p:nvPr/>
        </p:nvGraphicFramePr>
        <p:xfrm>
          <a:off x="1590158" y="2168230"/>
          <a:ext cx="8024813" cy="15938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1952"/>
                <a:gridCol w="2922265"/>
                <a:gridCol w="3070596"/>
              </a:tblGrid>
              <a:tr h="370751">
                <a:tc>
                  <a:txBody>
                    <a:bodyPr/>
                    <a:lstStyle/>
                    <a:p>
                      <a:pPr lvl="0"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功能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8" marR="91438" marT="45709" marB="45709" anchor="ctr"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唤醒对象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8" marR="91438" marT="45709" marB="45709" anchor="ctr"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事件清除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8" marR="91438" marT="45709" marB="45709" anchor="ctr"/>
                </a:tc>
              </a:tr>
              <a:tr h="611549">
                <a:tc>
                  <a:txBody>
                    <a:bodyPr/>
                    <a:lstStyle/>
                    <a:p>
                      <a:pPr lvl="0" algn="ctr"/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队列、信号量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8" marR="91438" marT="45709" marB="45709"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事件发生时，只会唤醒一个任务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8" marR="91438" marT="45709" marB="45709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</a:pP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是消耗型的资源，队列的数据被读走就没了；信号量被获取后就减少了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8" marR="91438" marT="45709" marB="45709" anchor="ctr"/>
                </a:tc>
              </a:tr>
              <a:tr h="611549">
                <a:tc>
                  <a:txBody>
                    <a:bodyPr/>
                    <a:lstStyle/>
                    <a:p>
                      <a:pPr lvl="0" algn="ctr"/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事件标志组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8" marR="91438" marT="45709" marB="45709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事件发生时，会唤醒所有符合条件的任务，可以理解为“广播”的作用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8" marR="91438" marT="45709" marB="45709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</a:pP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被唤醒的任务有两个选择，可以让事件保留不动，也可以清除事件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8" marR="91438" marT="45709" marB="45709" anchor="ctr"/>
                </a:tc>
              </a:tr>
            </a:tbl>
          </a:graphicData>
        </a:graphic>
      </p:graphicFrame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1434178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，事件标志组相关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9" name="表格 2"/>
          <p:cNvGraphicFramePr>
            <a:graphicFrameLocks noGrp="1"/>
          </p:cNvGraphicFramePr>
          <p:nvPr/>
        </p:nvGraphicFramePr>
        <p:xfrm>
          <a:off x="1853278" y="1840627"/>
          <a:ext cx="4973638" cy="25479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6819"/>
                <a:gridCol w="2486819"/>
              </a:tblGrid>
              <a:tr h="274860"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函数 </a:t>
                      </a:r>
                      <a:endParaRPr lang="zh-CN" altLang="en-US" sz="1300" dirty="0">
                        <a:solidFill>
                          <a:schemeClr val="bg1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300" dirty="0">
                        <a:solidFill>
                          <a:schemeClr val="bg1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695" marB="45695" anchor="ctr"/>
                </a:tc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xEventGroupCreate()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使用动态方式创建事件标志组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695" marB="45695" anchor="ctr"/>
                </a:tc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xEventGroupCreateStatic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使用静态方式创建事件标志组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695" marB="45695" anchor="ctr"/>
                </a:tc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xEventGroupClearBits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10" marB="4571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清零事件标志位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10" marB="45710" anchor="ctr"/>
                </a:tc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xEventGroupClearBitsFromISR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10" marB="4571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在中断中清零事件标志位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10" marB="45710" anchor="ctr"/>
                </a:tc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xEventGroupSetBits()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设置事件标志位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695" marB="45695" anchor="ctr"/>
                </a:tc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xEventGroupSetBitsFromISR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在中断中设置事件标志位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695" marB="45695" anchor="ctr"/>
                </a:tc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xEventGroupWaitBits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等待事件标志位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695" marB="45695" anchor="ctr"/>
                </a:tc>
              </a:tr>
              <a:tr h="349061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xEventGroupSync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设置事件标志位，并等待事件标志位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695" marB="45695" anchor="ctr"/>
                </a:tc>
              </a:tr>
            </a:tbl>
          </a:graphicData>
        </a:graphic>
      </p:graphicFrame>
      <p:sp>
        <p:nvSpPr>
          <p:cNvPr id="10" name="文本框 2"/>
          <p:cNvSpPr txBox="1">
            <a:spLocks noChangeArrowheads="1"/>
          </p:cNvSpPr>
          <p:nvPr/>
        </p:nvSpPr>
        <p:spPr bwMode="auto">
          <a:xfrm>
            <a:off x="1853278" y="4674315"/>
            <a:ext cx="83343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更多事件标志组相关的</a:t>
            </a:r>
            <a:r>
              <a:rPr lang="en-US" altLang="zh-CN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函数介绍请查阅</a:t>
            </a:r>
            <a:r>
              <a:rPr lang="en-US" altLang="zh-CN" sz="14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《FreeRTOS</a:t>
            </a:r>
            <a:r>
              <a:rPr lang="zh-CN" altLang="en-US" sz="14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开发指南</a:t>
            </a:r>
            <a:r>
              <a:rPr lang="en-US" altLang="zh-CN" sz="14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》-- </a:t>
            </a:r>
            <a:r>
              <a:rPr lang="zh-CN" altLang="en-US" sz="14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第十六章“</a:t>
            </a:r>
            <a:r>
              <a:rPr lang="en-US" altLang="zh-CN" sz="14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事件标志组”</a:t>
            </a:r>
            <a:endParaRPr lang="zh-CN" altLang="en-US" sz="140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477247" y="1052918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zh-CN" altLang="en-US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动态方式创建事件标志组</a:t>
            </a:r>
            <a:r>
              <a:rPr lang="en-US" altLang="zh-CN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</a:t>
            </a:r>
            <a:endParaRPr lang="en-US" altLang="zh-CN" b="1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" name="文本框 6"/>
          <p:cNvSpPr txBox="1">
            <a:spLocks noChangeArrowheads="1"/>
          </p:cNvSpPr>
          <p:nvPr/>
        </p:nvSpPr>
        <p:spPr bwMode="auto">
          <a:xfrm>
            <a:off x="801097" y="1729193"/>
            <a:ext cx="46180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 err="1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EventGroupHandle_t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xEventGroupCreate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( </a:t>
            </a:r>
            <a:r>
              <a:rPr lang="en-US" altLang="zh-CN" sz="1400" dirty="0">
                <a:solidFill>
                  <a:srgbClr val="C00000"/>
                </a:solidFill>
                <a:latin typeface="思源黑体 CN Normal" pitchFamily="34" charset="-122"/>
                <a:ea typeface="思源黑体 CN Normal" pitchFamily="34" charset="-122"/>
              </a:rPr>
              <a:t>void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) ;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0" name="表格 6"/>
          <p:cNvGraphicFramePr>
            <a:graphicFrameLocks noGrp="1"/>
          </p:cNvGraphicFramePr>
          <p:nvPr/>
        </p:nvGraphicFramePr>
        <p:xfrm>
          <a:off x="891584" y="2291168"/>
          <a:ext cx="5065713" cy="7937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/>
                <a:gridCol w="3173303"/>
              </a:tblGrid>
              <a:tr h="26458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返回值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</a:tr>
              <a:tr h="264583"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NULL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92" marB="4579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事件标志组创建失败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92" marB="45792" anchor="ctr"/>
                </a:tc>
              </a:tr>
              <a:tr h="264583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其他值 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92" marB="4579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事件标志组创建成功，返回其句柄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7" marR="91437" marT="45792" marB="45792" anchor="ctr"/>
                </a:tc>
              </a:tr>
            </a:tbl>
          </a:graphicData>
        </a:graphic>
      </p:graphicFrame>
      <p:sp>
        <p:nvSpPr>
          <p:cNvPr id="11" name="文本框 9"/>
          <p:cNvSpPr txBox="1">
            <a:spLocks noChangeArrowheads="1"/>
          </p:cNvSpPr>
          <p:nvPr/>
        </p:nvSpPr>
        <p:spPr bwMode="auto">
          <a:xfrm>
            <a:off x="477247" y="3152849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清除事件标志位</a:t>
            </a:r>
            <a:r>
              <a:rPr lang="en-US" altLang="zh-CN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12" name="表格 6"/>
          <p:cNvGraphicFramePr>
            <a:graphicFrameLocks noGrp="1"/>
          </p:cNvGraphicFramePr>
          <p:nvPr/>
        </p:nvGraphicFramePr>
        <p:xfrm>
          <a:off x="869845" y="4556568"/>
          <a:ext cx="5065712" cy="879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/>
                <a:gridCol w="3173302"/>
              </a:tblGrid>
              <a:tr h="26469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形参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</a:tr>
              <a:tr h="350077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xEventGroup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40" marB="4574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待操作的事件标志组句柄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40" marB="45740" anchor="ctr"/>
                </a:tc>
              </a:tr>
              <a:tr h="264699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uxBitsToSet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40" marB="4574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待清零的事件标志位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40" marB="45740" anchor="ctr"/>
                </a:tc>
              </a:tr>
            </a:tbl>
          </a:graphicData>
        </a:graphic>
      </p:graphicFrame>
      <p:graphicFrame>
        <p:nvGraphicFramePr>
          <p:cNvPr id="13" name="表格 6"/>
          <p:cNvGraphicFramePr>
            <a:graphicFrameLocks noGrp="1"/>
          </p:cNvGraphicFramePr>
          <p:nvPr/>
        </p:nvGraphicFramePr>
        <p:xfrm>
          <a:off x="869845" y="5763068"/>
          <a:ext cx="5065712" cy="5286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/>
                <a:gridCol w="3173302"/>
              </a:tblGrid>
              <a:tr h="26431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返回值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</a:tr>
              <a:tr h="264319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整数 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74" marB="4567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清零事件标志位之前事件组中事件标志位的值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74" marB="45674" anchor="ctr"/>
                </a:tc>
              </a:tr>
            </a:tbl>
          </a:graphicData>
        </a:graphic>
      </p:graphicFrame>
      <p:grpSp>
        <p:nvGrpSpPr>
          <p:cNvPr id="14" name="组合 13"/>
          <p:cNvGrpSpPr/>
          <p:nvPr/>
        </p:nvGrpSpPr>
        <p:grpSpPr bwMode="auto">
          <a:xfrm>
            <a:off x="801097" y="3684331"/>
            <a:ext cx="10841554" cy="617538"/>
            <a:chOff x="510335" y="1316831"/>
            <a:chExt cx="7510462" cy="617538"/>
          </a:xfrm>
        </p:grpSpPr>
        <p:sp>
          <p:nvSpPr>
            <p:cNvPr id="15" name="文本框 6"/>
            <p:cNvSpPr txBox="1">
              <a:spLocks noChangeArrowheads="1"/>
            </p:cNvSpPr>
            <p:nvPr/>
          </p:nvSpPr>
          <p:spPr bwMode="auto">
            <a:xfrm>
              <a:off x="510335" y="1316831"/>
              <a:ext cx="7510462" cy="617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 dirty="0" err="1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EventBits_t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 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xEventGroupClearBits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EventGroupHandle_t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xEventGroup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b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		      const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EventBits_t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uxBitsToClear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) </a:t>
              </a:r>
              <a:endPara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6" name="矩形 15"/>
            <p:cNvSpPr/>
            <p:nvPr/>
          </p:nvSpPr>
          <p:spPr>
            <a:xfrm>
              <a:off x="557960" y="1316831"/>
              <a:ext cx="5459412" cy="617538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328931" y="1361263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zh-CN" altLang="en-US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设置事件标志位</a:t>
            </a:r>
            <a:r>
              <a:rPr lang="en-US" altLang="zh-CN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</a:t>
            </a:r>
            <a:endParaRPr lang="en-US" altLang="zh-CN" b="1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9" name="表格 6"/>
          <p:cNvGraphicFramePr>
            <a:graphicFrameLocks noGrp="1"/>
          </p:cNvGraphicFramePr>
          <p:nvPr/>
        </p:nvGraphicFramePr>
        <p:xfrm>
          <a:off x="852806" y="4287026"/>
          <a:ext cx="5065712" cy="5381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/>
                <a:gridCol w="3173302"/>
              </a:tblGrid>
              <a:tr h="273058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返回值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</a:tr>
              <a:tr h="265104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整数 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810" marB="4581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函数返回时，事件组中的事件标志位值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810" marB="45810" anchor="ctr"/>
                </a:tc>
              </a:tr>
            </a:tbl>
          </a:graphicData>
        </a:graphic>
      </p:graphicFrame>
      <p:graphicFrame>
        <p:nvGraphicFramePr>
          <p:cNvPr id="10" name="表格 6"/>
          <p:cNvGraphicFramePr>
            <a:graphicFrameLocks noGrp="1"/>
          </p:cNvGraphicFramePr>
          <p:nvPr/>
        </p:nvGraphicFramePr>
        <p:xfrm>
          <a:off x="852806" y="3132913"/>
          <a:ext cx="5065712" cy="7937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/>
                <a:gridCol w="3173302"/>
              </a:tblGrid>
              <a:tr h="26458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形参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</a:tr>
              <a:tr h="26458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xEventGroup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待操作的事件标志组句柄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  <a:tr h="26458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uxBitsToSet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待设置的事件标志位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pSp>
        <p:nvGrpSpPr>
          <p:cNvPr id="11" name="组合 6"/>
          <p:cNvGrpSpPr/>
          <p:nvPr/>
        </p:nvGrpSpPr>
        <p:grpSpPr bwMode="auto">
          <a:xfrm>
            <a:off x="743267" y="1980388"/>
            <a:ext cx="9644741" cy="1028700"/>
            <a:chOff x="561974" y="1241425"/>
            <a:chExt cx="9644741" cy="1028700"/>
          </a:xfrm>
        </p:grpSpPr>
        <p:sp>
          <p:nvSpPr>
            <p:cNvPr id="12" name="文本框 6"/>
            <p:cNvSpPr txBox="1">
              <a:spLocks noChangeArrowheads="1"/>
            </p:cNvSpPr>
            <p:nvPr/>
          </p:nvSpPr>
          <p:spPr bwMode="auto">
            <a:xfrm>
              <a:off x="561974" y="1241425"/>
              <a:ext cx="9644741" cy="10287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400" dirty="0" err="1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EventBits_t</a:t>
              </a:r>
              <a:r>
                <a:rPr lang="en-US" altLang="zh-CN" sz="14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  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xEventGroupSetBits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EventGroupHandle_t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	</a:t>
              </a:r>
              <a:r>
                <a:rPr lang="en-US" altLang="zh-CN" sz="14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xEventGroup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b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			  const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EventBits_t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		</a:t>
              </a:r>
              <a:r>
                <a:rPr lang="en-US" altLang="zh-CN" sz="14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uxBitsToSet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    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) </a:t>
              </a:r>
              <a:b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endPara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561975" y="1316038"/>
              <a:ext cx="6469063" cy="649287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9"/>
          <p:cNvSpPr txBox="1">
            <a:spLocks noChangeArrowheads="1"/>
          </p:cNvSpPr>
          <p:nvPr/>
        </p:nvSpPr>
        <p:spPr bwMode="auto">
          <a:xfrm>
            <a:off x="595424" y="787622"/>
            <a:ext cx="371157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zh-CN" altLang="en-US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等待事件标志位</a:t>
            </a:r>
            <a:r>
              <a:rPr lang="en-US" altLang="zh-CN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</a:t>
            </a:r>
            <a:endParaRPr lang="en-US" altLang="zh-CN" b="1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4" name="表格 6"/>
          <p:cNvGraphicFramePr>
            <a:graphicFrameLocks noGrp="1"/>
          </p:cNvGraphicFramePr>
          <p:nvPr/>
        </p:nvGraphicFramePr>
        <p:xfrm>
          <a:off x="957374" y="4716685"/>
          <a:ext cx="5543550" cy="898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1"/>
                <a:gridCol w="3924299"/>
              </a:tblGrid>
              <a:tr h="240178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返回值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</a:tr>
              <a:tr h="323018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等待的事件标志位值 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61" marB="4566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等待事件标志位成功，返回等待到的事件标志位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61" marB="45661" anchor="ctr"/>
                </a:tc>
              </a:tr>
              <a:tr h="335328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其他值 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61" marB="4566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等待事件标志位失败，返回事件组中的事件标志位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661" marB="45661" anchor="ctr"/>
                </a:tc>
              </a:tr>
            </a:tbl>
          </a:graphicData>
        </a:graphic>
      </p:graphicFrame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957374" y="2410047"/>
          <a:ext cx="5543550" cy="2225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1230"/>
                <a:gridCol w="3912320"/>
              </a:tblGrid>
              <a:tr h="25914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0" i="0" dirty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形参</a:t>
                      </a:r>
                      <a:endParaRPr lang="zh-CN" altLang="en-US" sz="1300" dirty="0">
                        <a:solidFill>
                          <a:schemeClr val="bg1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30" marB="4573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0" i="0" dirty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300" dirty="0">
                        <a:solidFill>
                          <a:schemeClr val="bg1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30" marB="45730" anchor="ctr"/>
                </a:tc>
              </a:tr>
              <a:tr h="25915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xEvenrGroup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3" marB="4573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等待的事件标志组句柄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3" marB="45733" anchor="ctr"/>
                </a:tc>
              </a:tr>
              <a:tr h="259155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uxBitsToWaitFor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3" marB="4573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等待的事件标志位，可以用逻辑或等待多个事件标志位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3" marB="45733" anchor="ctr"/>
                </a:tc>
              </a:tr>
              <a:tr h="594531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xClearOnExit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3" marB="4573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成功等待到事件标志位后，清除事件组中对应的事件标志位，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  <a:p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pdTRUE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 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：清除</a:t>
                      </a:r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uxBitsToWaitFor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指定位；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  <a:p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pdFALSE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：不清除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3" marB="45733" anchor="ctr"/>
                </a:tc>
              </a:tr>
              <a:tr h="594531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xWaitForAllBits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3" marB="4573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等待 </a:t>
                      </a:r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uxBitsToWaitFor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中的所有事件标志位（逻辑与）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  <a:p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pdTRUE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：等待的位，全部为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1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pdFALSE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：等待的位，某个为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1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3" marB="45733" anchor="ctr"/>
                </a:tc>
              </a:tr>
              <a:tr h="25915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xTicksToWait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3" marB="4573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等待的阻塞时间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33" marB="45733" anchor="ctr"/>
                </a:tc>
              </a:tr>
            </a:tbl>
          </a:graphicData>
        </a:graphic>
      </p:graphicFrame>
      <p:sp>
        <p:nvSpPr>
          <p:cNvPr id="6" name="文本框 8"/>
          <p:cNvSpPr txBox="1">
            <a:spLocks noChangeArrowheads="1"/>
          </p:cNvSpPr>
          <p:nvPr/>
        </p:nvSpPr>
        <p:spPr bwMode="auto">
          <a:xfrm>
            <a:off x="6621574" y="3132360"/>
            <a:ext cx="1047750" cy="341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特点：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" name="文本框 12"/>
          <p:cNvSpPr txBox="1">
            <a:spLocks noChangeArrowheads="1"/>
          </p:cNvSpPr>
          <p:nvPr/>
        </p:nvSpPr>
        <p:spPr bwMode="auto">
          <a:xfrm>
            <a:off x="6621574" y="3521297"/>
            <a:ext cx="30099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可以等待某一位、也可以等待多位</a:t>
            </a:r>
            <a:endParaRPr lang="zh-CN" altLang="en-US" sz="1200"/>
          </a:p>
        </p:txBody>
      </p:sp>
      <p:sp>
        <p:nvSpPr>
          <p:cNvPr id="8" name="文本框 14"/>
          <p:cNvSpPr txBox="1">
            <a:spLocks noChangeArrowheads="1"/>
          </p:cNvSpPr>
          <p:nvPr/>
        </p:nvSpPr>
        <p:spPr bwMode="auto">
          <a:xfrm>
            <a:off x="6621574" y="3892772"/>
            <a:ext cx="315277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等到期望的事件后，还可以清除某些位</a:t>
            </a:r>
            <a:endParaRPr lang="zh-CN" altLang="en-US" sz="1200"/>
          </a:p>
        </p:txBody>
      </p:sp>
      <p:grpSp>
        <p:nvGrpSpPr>
          <p:cNvPr id="9" name="组合 3"/>
          <p:cNvGrpSpPr/>
          <p:nvPr/>
        </p:nvGrpSpPr>
        <p:grpSpPr bwMode="auto">
          <a:xfrm>
            <a:off x="957374" y="1235297"/>
            <a:ext cx="9643286" cy="1174750"/>
            <a:chOff x="361950" y="501650"/>
            <a:chExt cx="9643286" cy="1174750"/>
          </a:xfrm>
        </p:grpSpPr>
        <p:sp>
          <p:nvSpPr>
            <p:cNvPr id="10" name="文本框 6"/>
            <p:cNvSpPr txBox="1">
              <a:spLocks noChangeArrowheads="1"/>
            </p:cNvSpPr>
            <p:nvPr/>
          </p:nvSpPr>
          <p:spPr bwMode="auto">
            <a:xfrm>
              <a:off x="361950" y="501650"/>
              <a:ext cx="9643286" cy="1174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30000"/>
                </a:lnSpc>
              </a:pPr>
              <a:r>
                <a:rPr lang="en-US" altLang="zh-CN" sz="1100" dirty="0" err="1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EventBits_t</a:t>
              </a:r>
              <a:r>
                <a:rPr lang="en-US" altLang="zh-CN" sz="11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  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xEventGroupWaitBits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      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EventGroupHandle_t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	</a:t>
              </a:r>
              <a:r>
                <a:rPr lang="en-US" altLang="zh-CN" sz="11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xEventGroup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endPara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3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                             			       const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EventBits_t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	</a:t>
              </a:r>
              <a:r>
                <a:rPr lang="en-US" altLang="zh-CN" sz="11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uxBitsToWaitFor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endPara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3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                             			       const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BaseType_t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	</a:t>
              </a:r>
              <a:r>
                <a:rPr lang="en-US" altLang="zh-CN" sz="11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xClearOnExit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endPara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3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                             			       const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BaseType_t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	</a:t>
              </a:r>
              <a:r>
                <a:rPr lang="en-US" altLang="zh-CN" sz="11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xWaitForAllBits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endPara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  <a:p>
              <a:pPr>
                <a:lnSpc>
                  <a:spcPct val="13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                             			      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TickType_t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		</a:t>
              </a:r>
              <a:r>
                <a:rPr lang="en-US" altLang="zh-CN" sz="11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xTicksToWait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        )</a:t>
              </a:r>
              <a:endPara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361950" y="517525"/>
              <a:ext cx="8712938" cy="1111250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/>
          <p:cNvSpPr txBox="1">
            <a:spLocks noChangeArrowheads="1"/>
          </p:cNvSpPr>
          <p:nvPr/>
        </p:nvSpPr>
        <p:spPr bwMode="auto">
          <a:xfrm>
            <a:off x="860019" y="110402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同步函数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9" name="表格 6"/>
          <p:cNvGraphicFramePr>
            <a:graphicFrameLocks noGrp="1"/>
          </p:cNvGraphicFramePr>
          <p:nvPr/>
        </p:nvGraphicFramePr>
        <p:xfrm>
          <a:off x="1264831" y="4398090"/>
          <a:ext cx="5065713" cy="7937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672"/>
                <a:gridCol w="3578041"/>
              </a:tblGrid>
              <a:tr h="26458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返回值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</a:tr>
              <a:tr h="264583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等待的事件标志位值 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等待事件标志位成功，返回等待到的事件标志位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  <a:tr h="264583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其他值 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等待事件标志位失败，返回事件组中的事件标志位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0" name="表格 9"/>
          <p:cNvGraphicFramePr>
            <a:graphicFrameLocks noGrp="1"/>
          </p:cNvGraphicFramePr>
          <p:nvPr/>
        </p:nvGraphicFramePr>
        <p:xfrm>
          <a:off x="1264831" y="2893140"/>
          <a:ext cx="5065713" cy="13239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/>
                <a:gridCol w="3173303"/>
              </a:tblGrid>
              <a:tr h="26479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形参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5" marR="68585" marT="0" marB="0" anchor="ctr"/>
                </a:tc>
              </a:tr>
              <a:tr h="26479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xEventGroup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57" marB="4575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等待事件标志所在事件组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57" marB="45757" anchor="ctr"/>
                </a:tc>
              </a:tr>
              <a:tr h="26479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uxBitsToSet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57" marB="4575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达到同步点后，要设置的事件标志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57" marB="45757" anchor="ctr"/>
                </a:tc>
              </a:tr>
              <a:tr h="26479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uxBitsToWaitFor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57" marB="4575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等待的事件标志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57" marB="45757" anchor="ctr"/>
                </a:tc>
              </a:tr>
              <a:tr h="264795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xTicksToWait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57" marB="4575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等待的阻塞时间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57" marB="45757" anchor="ctr"/>
                </a:tc>
              </a:tr>
            </a:tbl>
          </a:graphicData>
        </a:graphic>
      </p:graphicFrame>
      <p:sp>
        <p:nvSpPr>
          <p:cNvPr id="11" name="文本框 9"/>
          <p:cNvSpPr txBox="1">
            <a:spLocks noChangeArrowheads="1"/>
          </p:cNvSpPr>
          <p:nvPr/>
        </p:nvSpPr>
        <p:spPr bwMode="auto">
          <a:xfrm>
            <a:off x="6544856" y="3431302"/>
            <a:ext cx="15017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：做饭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" name="文本框 12"/>
          <p:cNvSpPr txBox="1">
            <a:spLocks noChangeArrowheads="1"/>
          </p:cNvSpPr>
          <p:nvPr/>
        </p:nvSpPr>
        <p:spPr bwMode="auto">
          <a:xfrm>
            <a:off x="6554381" y="3771027"/>
            <a:ext cx="1501775" cy="341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：做菜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" name="文本框 13"/>
          <p:cNvSpPr txBox="1">
            <a:spLocks noChangeArrowheads="1"/>
          </p:cNvSpPr>
          <p:nvPr/>
        </p:nvSpPr>
        <p:spPr bwMode="auto">
          <a:xfrm>
            <a:off x="6554381" y="4144090"/>
            <a:ext cx="3397250" cy="617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做好自己的事之后，需要等待菜也做好，大家在一起吃饭。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文本框 15"/>
          <p:cNvSpPr txBox="1">
            <a:spLocks noChangeArrowheads="1"/>
          </p:cNvSpPr>
          <p:nvPr/>
        </p:nvSpPr>
        <p:spPr bwMode="auto">
          <a:xfrm>
            <a:off x="6544856" y="4829890"/>
            <a:ext cx="1404938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特点：同步！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" name="文本框 16"/>
          <p:cNvSpPr txBox="1">
            <a:spLocks noChangeArrowheads="1"/>
          </p:cNvSpPr>
          <p:nvPr/>
        </p:nvSpPr>
        <p:spPr bwMode="auto">
          <a:xfrm>
            <a:off x="6544856" y="3055065"/>
            <a:ext cx="1047750" cy="341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例子：</a:t>
            </a:r>
            <a:endParaRPr lang="zh-CN" altLang="en-US" sz="120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pSp>
        <p:nvGrpSpPr>
          <p:cNvPr id="16" name="组合 2"/>
          <p:cNvGrpSpPr/>
          <p:nvPr/>
        </p:nvGrpSpPr>
        <p:grpSpPr bwMode="auto">
          <a:xfrm>
            <a:off x="1264831" y="1467565"/>
            <a:ext cx="10213016" cy="1674812"/>
            <a:chOff x="552450" y="928688"/>
            <a:chExt cx="6543675" cy="1674812"/>
          </a:xfrm>
        </p:grpSpPr>
        <p:sp>
          <p:nvSpPr>
            <p:cNvPr id="17" name="文本框 6"/>
            <p:cNvSpPr txBox="1">
              <a:spLocks noChangeArrowheads="1"/>
            </p:cNvSpPr>
            <p:nvPr/>
          </p:nvSpPr>
          <p:spPr bwMode="auto">
            <a:xfrm>
              <a:off x="552450" y="928688"/>
              <a:ext cx="6543675" cy="16748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400" dirty="0" err="1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EventBits_t</a:t>
              </a:r>
              <a:r>
                <a:rPr lang="en-US" altLang="zh-CN" sz="14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   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xEventGroupSync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(  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EventGroupHandle_t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	</a:t>
              </a:r>
              <a:r>
                <a:rPr lang="en-US" altLang="zh-CN" sz="14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xEventGroup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b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			const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EventBits_t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	</a:t>
              </a:r>
              <a:r>
                <a:rPr lang="en-US" altLang="zh-CN" sz="14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uxBitsToSet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b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			const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EventBits_t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	</a:t>
              </a:r>
              <a:r>
                <a:rPr lang="en-US" altLang="zh-CN" sz="14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uxBitsToWaitFor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,</a:t>
              </a:r>
              <a:b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						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TickType_t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 		</a:t>
              </a:r>
              <a:r>
                <a:rPr lang="en-US" altLang="zh-CN" sz="1400" dirty="0" err="1">
                  <a:solidFill>
                    <a:srgbClr val="C00000"/>
                  </a:solidFill>
                  <a:latin typeface="思源黑体 CN Normal" pitchFamily="34" charset="-122"/>
                  <a:ea typeface="思源黑体 CN Normal" pitchFamily="34" charset="-122"/>
                </a:rPr>
                <a:t>xTicksToWait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) </a:t>
              </a:r>
              <a:br>
                <a:rPr lang="en-US" altLang="zh-CN" sz="14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endPara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8" name="矩形 17"/>
            <p:cNvSpPr/>
            <p:nvPr/>
          </p:nvSpPr>
          <p:spPr>
            <a:xfrm>
              <a:off x="552450" y="995363"/>
              <a:ext cx="6327775" cy="1323975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313044" y="2517775"/>
            <a:ext cx="5940743" cy="1080770"/>
          </a:xfrm>
        </p:spPr>
        <p:txBody>
          <a:bodyPr wrap="square">
            <a:normAutofit/>
          </a:bodyPr>
          <a:lstStyle/>
          <a:p>
            <a:r>
              <a:rPr lang="zh-CN" altLang="en-US" dirty="0"/>
              <a:t>低功耗</a:t>
            </a:r>
            <a:endParaRPr lang="en-US" dirty="0"/>
          </a:p>
        </p:txBody>
      </p:sp>
    </p:spTree>
    <p:custDataLst>
      <p:tags r:id="rId2"/>
    </p:custDataLst>
  </p:cSld>
  <p:clrMapOvr>
    <a:masterClrMapping/>
  </p:clrMapOvr>
  <p:transition/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dirty="0">
                <a:sym typeface="+mn-ea"/>
              </a:rPr>
              <a:t>任务间通信与同步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4830" y="1506855"/>
            <a:ext cx="10096500" cy="1884931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ea typeface="思源黑体 CN Bold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ea typeface="思源黑体 CN Bold" pitchFamily="34" charset="-122"/>
              </a:rPr>
              <a:t>，</a:t>
            </a:r>
            <a:r>
              <a:rPr lang="en-US" altLang="zh-CN" sz="1800" b="1" dirty="0">
                <a:solidFill>
                  <a:srgbClr val="002060"/>
                </a:solidFill>
                <a:ea typeface="思源黑体 CN Bold" pitchFamily="34" charset="-122"/>
                <a:sym typeface="+mn-ea"/>
              </a:rPr>
              <a:t>低功耗模式简介</a:t>
            </a:r>
            <a:endParaRPr lang="en-US" altLang="zh-CN" b="1" dirty="0">
              <a:solidFill>
                <a:srgbClr val="002060"/>
              </a:solidFill>
              <a:ea typeface="思源黑体 CN Bold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800" b="1" dirty="0">
                <a:solidFill>
                  <a:srgbClr val="002060"/>
                </a:solidFill>
                <a:ea typeface="思源黑体 CN Bold" pitchFamily="34" charset="-122"/>
              </a:rPr>
              <a:t>2，</a:t>
            </a:r>
            <a:r>
              <a:rPr lang="en-US" altLang="zh-CN" sz="1800" b="1" dirty="0">
                <a:solidFill>
                  <a:srgbClr val="002060"/>
                </a:solidFill>
                <a:ea typeface="思源黑体 CN Bold" pitchFamily="34" charset="-122"/>
                <a:sym typeface="+mn-ea"/>
              </a:rPr>
              <a:t>Tickless模式相关配置项</a:t>
            </a:r>
            <a:endParaRPr lang="en-US" altLang="zh-CN" sz="1800" b="1" dirty="0">
              <a:solidFill>
                <a:srgbClr val="002060"/>
              </a:solidFill>
              <a:ea typeface="思源黑体 CN Bold" pitchFamily="34" charset="-122"/>
            </a:endParaRPr>
          </a:p>
          <a:p>
            <a:pPr>
              <a:lnSpc>
                <a:spcPct val="150000"/>
              </a:lnSpc>
            </a:pPr>
            <a:endParaRPr lang="en-US" altLang="zh-CN" b="1" dirty="0">
              <a:solidFill>
                <a:srgbClr val="002060"/>
              </a:solidFill>
              <a:ea typeface="思源黑体 CN Bold" pitchFamily="34" charset="-122"/>
            </a:endParaRPr>
          </a:p>
        </p:txBody>
      </p:sp>
    </p:spTree>
  </p:cSld>
  <p:clrMapOvr>
    <a:masterClrMapping/>
  </p:clrMapOvr>
  <p:transition/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50673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sz="18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  <a:sym typeface="+mn-ea"/>
              </a:rPr>
              <a:t>2</a:t>
            </a:r>
            <a:r>
              <a:rPr lang="zh-CN" altLang="en-US" sz="18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  <a:sym typeface="+mn-ea"/>
              </a:rPr>
              <a:t>，</a:t>
            </a:r>
            <a:r>
              <a:rPr lang="en-US" altLang="zh-CN" sz="18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  <a:sym typeface="+mn-ea"/>
              </a:rPr>
              <a:t>Tickless</a:t>
            </a:r>
            <a:r>
              <a:rPr lang="zh-CN" altLang="en-US" sz="18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  <a:sym typeface="+mn-ea"/>
              </a:rPr>
              <a:t>模式详解</a:t>
            </a:r>
            <a:endParaRPr lang="zh-CN" altLang="en-US" sz="1800" b="1" dirty="0">
              <a:solidFill>
                <a:schemeClr val="bg2"/>
              </a:solidFill>
              <a:latin typeface="Arial" panose="020B0604020202020204" pitchFamily="34" charset="0"/>
              <a:ea typeface="思源黑体 CN Bold" pitchFamily="34" charset="-122"/>
            </a:endParaRPr>
          </a:p>
        </p:txBody>
      </p:sp>
      <p:sp>
        <p:nvSpPr>
          <p:cNvPr id="3" name="文本框 1"/>
          <p:cNvSpPr txBox="1"/>
          <p:nvPr/>
        </p:nvSpPr>
        <p:spPr>
          <a:xfrm>
            <a:off x="731520" y="1059498"/>
            <a:ext cx="257492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如何降低功耗？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pic>
        <p:nvPicPr>
          <p:cNvPr id="6155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170" y="2202498"/>
            <a:ext cx="5133975" cy="1352550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miter/>
            <a:headEnd type="none" w="med" len="med"/>
            <a:tailEnd type="none" w="med" len="med"/>
          </a:ln>
        </p:spPr>
      </p:pic>
      <p:sp>
        <p:nvSpPr>
          <p:cNvPr id="6156" name="文本框 14"/>
          <p:cNvSpPr txBox="1"/>
          <p:nvPr/>
        </p:nvSpPr>
        <p:spPr>
          <a:xfrm>
            <a:off x="731520" y="1445260"/>
            <a:ext cx="802322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Tickless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低功耗模式的本质是通过调用指令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WFI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实现睡眠模式！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" name="文本框 1"/>
          <p:cNvSpPr txBox="1"/>
          <p:nvPr/>
        </p:nvSpPr>
        <p:spPr>
          <a:xfrm>
            <a:off x="731520" y="1864360"/>
            <a:ext cx="257492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Tickless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模式的设计思想？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58" name="文本框 17"/>
          <p:cNvSpPr txBox="1"/>
          <p:nvPr/>
        </p:nvSpPr>
        <p:spPr>
          <a:xfrm>
            <a:off x="742633" y="4005898"/>
            <a:ext cx="6032500" cy="38258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空闲任务：是在系统中的所有其它任务都阻塞或被挂起时才运行的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156" grpId="0"/>
      <p:bldP spid="4" grpId="0"/>
      <p:bldP spid="6158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50673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sz="18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  <a:sym typeface="+mn-ea"/>
              </a:rPr>
              <a:t>2</a:t>
            </a:r>
            <a:r>
              <a:rPr lang="zh-CN" altLang="en-US" sz="18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  <a:sym typeface="+mn-ea"/>
              </a:rPr>
              <a:t>，</a:t>
            </a:r>
            <a:r>
              <a:rPr lang="en-US" altLang="zh-CN" sz="18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  <a:sym typeface="+mn-ea"/>
              </a:rPr>
              <a:t>Tickless</a:t>
            </a:r>
            <a:r>
              <a:rPr lang="zh-CN" altLang="en-US" sz="18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  <a:sym typeface="+mn-ea"/>
              </a:rPr>
              <a:t>模式详解</a:t>
            </a:r>
            <a:endParaRPr lang="zh-CN" altLang="en-US" sz="1800" b="1" dirty="0">
              <a:solidFill>
                <a:schemeClr val="bg2"/>
              </a:solidFill>
              <a:latin typeface="Arial" panose="020B0604020202020204" pitchFamily="34" charset="0"/>
              <a:ea typeface="思源黑体 CN Bold" pitchFamily="34" charset="-122"/>
            </a:endParaRPr>
          </a:p>
        </p:txBody>
      </p:sp>
      <p:sp>
        <p:nvSpPr>
          <p:cNvPr id="7177" name="文本框 20"/>
          <p:cNvSpPr txBox="1"/>
          <p:nvPr/>
        </p:nvSpPr>
        <p:spPr>
          <a:xfrm>
            <a:off x="638175" y="1174750"/>
            <a:ext cx="7061200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为了可以降低功耗，又不影响系统运行，该如何做？</a:t>
            </a:r>
            <a:endParaRPr lang="en-US" altLang="zh-CN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178" name="文本框 22"/>
          <p:cNvSpPr txBox="1"/>
          <p:nvPr/>
        </p:nvSpPr>
        <p:spPr>
          <a:xfrm>
            <a:off x="638175" y="1547813"/>
            <a:ext cx="8143875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可以在本该空闲任务执行的期间，让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MCU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进入相应的低功耗模式；当其他任务准备运行的时候，唤醒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MCU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退出低功耗模式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7179" name="文本框 9"/>
          <p:cNvSpPr txBox="1"/>
          <p:nvPr/>
        </p:nvSpPr>
        <p:spPr>
          <a:xfrm>
            <a:off x="638175" y="2378075"/>
            <a:ext cx="72390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难点：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180" name="文本框 25"/>
          <p:cNvSpPr txBox="1"/>
          <p:nvPr/>
        </p:nvSpPr>
        <p:spPr>
          <a:xfrm>
            <a:off x="638175" y="2784475"/>
            <a:ext cx="737235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、进入低功耗之后，多久唤醒？也就是下一个要运行的任务如何被准确唤醒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181" name="文本框 27"/>
          <p:cNvSpPr txBox="1"/>
          <p:nvPr/>
        </p:nvSpPr>
        <p:spPr>
          <a:xfrm>
            <a:off x="663575" y="4310063"/>
            <a:ext cx="7108825" cy="30670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的低功耗 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Tickless 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模式机制已经处理好了这些难点。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182" name="文本框 28"/>
          <p:cNvSpPr txBox="1"/>
          <p:nvPr/>
        </p:nvSpPr>
        <p:spPr>
          <a:xfrm>
            <a:off x="658813" y="3081338"/>
            <a:ext cx="7372350" cy="38258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、任何中断均可唤醒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MCU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，若滴答定时器频繁中断则会影响低功耗的效果？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183" name="文本框 31"/>
          <p:cNvSpPr txBox="1"/>
          <p:nvPr/>
        </p:nvSpPr>
        <p:spPr>
          <a:xfrm>
            <a:off x="658813" y="3875088"/>
            <a:ext cx="2998787" cy="3413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退出低功耗后，需补上系统时钟节拍数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184" name="文本框 32"/>
          <p:cNvSpPr txBox="1"/>
          <p:nvPr/>
        </p:nvSpPr>
        <p:spPr>
          <a:xfrm>
            <a:off x="658813" y="3505200"/>
            <a:ext cx="3632200" cy="3413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将滴答定时器的中断周期修改为低功耗运行时间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7" grpId="0"/>
      <p:bldP spid="7178" grpId="0"/>
      <p:bldP spid="7179" grpId="0"/>
      <p:bldP spid="7180" grpId="0"/>
      <p:bldP spid="7181" grpId="0"/>
      <p:bldP spid="7182" grpId="0"/>
      <p:bldP spid="7183" grpId="0"/>
      <p:bldP spid="7184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50673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sz="18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  <a:sym typeface="+mn-ea"/>
              </a:rPr>
              <a:t>3</a:t>
            </a:r>
            <a:r>
              <a:rPr lang="zh-CN" altLang="en-US" sz="18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  <a:sym typeface="+mn-ea"/>
              </a:rPr>
              <a:t>，</a:t>
            </a:r>
            <a:r>
              <a:rPr lang="en-US" altLang="zh-CN" sz="18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  <a:sym typeface="+mn-ea"/>
              </a:rPr>
              <a:t>Tickless</a:t>
            </a:r>
            <a:r>
              <a:rPr lang="zh-CN" altLang="en-US" sz="18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  <a:sym typeface="+mn-ea"/>
              </a:rPr>
              <a:t>模式相关配置项</a:t>
            </a:r>
            <a:endParaRPr lang="zh-CN" altLang="en-US" sz="1800" b="1" dirty="0">
              <a:solidFill>
                <a:schemeClr val="bg2"/>
              </a:solidFill>
              <a:latin typeface="Arial" panose="020B0604020202020204" pitchFamily="34" charset="0"/>
              <a:ea typeface="思源黑体 CN Bold" pitchFamily="34" charset="-122"/>
            </a:endParaRPr>
          </a:p>
        </p:txBody>
      </p:sp>
      <p:sp>
        <p:nvSpPr>
          <p:cNvPr id="8201" name="文本框 29"/>
          <p:cNvSpPr txBox="1"/>
          <p:nvPr/>
        </p:nvSpPr>
        <p:spPr>
          <a:xfrm>
            <a:off x="519113" y="2830513"/>
            <a:ext cx="461962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configPRE_SLEEP_PROCESSING(x)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8202" name="文本框 30"/>
          <p:cNvSpPr txBox="1"/>
          <p:nvPr/>
        </p:nvSpPr>
        <p:spPr>
          <a:xfrm>
            <a:off x="519113" y="3602038"/>
            <a:ext cx="461962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configPOSR_SLEEP_PROCESSING(x)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8203" name="文本框 32"/>
          <p:cNvSpPr txBox="1"/>
          <p:nvPr/>
        </p:nvSpPr>
        <p:spPr>
          <a:xfrm>
            <a:off x="519113" y="2071688"/>
            <a:ext cx="4619625" cy="30638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configEXPECTED_IDLE_TIME_BEFORE_SLEEP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8204" name="文本框 34"/>
          <p:cNvSpPr txBox="1"/>
          <p:nvPr/>
        </p:nvSpPr>
        <p:spPr>
          <a:xfrm>
            <a:off x="519113" y="1381125"/>
            <a:ext cx="461962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configUSE_TICKLESS_IDLE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8205" name="文本框 36"/>
          <p:cNvSpPr txBox="1"/>
          <p:nvPr/>
        </p:nvSpPr>
        <p:spPr>
          <a:xfrm>
            <a:off x="827088" y="1730375"/>
            <a:ext cx="4619625" cy="2778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此宏用于使能低功耗 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Tickless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模式 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8206" name="文本框 38"/>
          <p:cNvSpPr txBox="1"/>
          <p:nvPr/>
        </p:nvSpPr>
        <p:spPr>
          <a:xfrm>
            <a:off x="827088" y="2497138"/>
            <a:ext cx="4619625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此宏用于定义系统进入相应低功耗模式的最短时长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8207" name="文本框 40"/>
          <p:cNvSpPr txBox="1"/>
          <p:nvPr/>
        </p:nvSpPr>
        <p:spPr>
          <a:xfrm>
            <a:off x="827088" y="3232150"/>
            <a:ext cx="8194675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此宏用于定义需要在系统进入低功耗模式前执行的事务，如：进入低功耗前关闭外设时钟，以达到降低功耗的目的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8208" name="文本框 42"/>
          <p:cNvSpPr txBox="1"/>
          <p:nvPr/>
        </p:nvSpPr>
        <p:spPr>
          <a:xfrm>
            <a:off x="827088" y="3971925"/>
            <a:ext cx="8194675" cy="6175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此宏用于定义需要在系统退出低功耗模式后执行的事务，如：退出低功耗后开启之前关闭的外设时钟，以使系统能够正常运行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01" grpId="0"/>
      <p:bldP spid="8202" grpId="0"/>
      <p:bldP spid="8203" grpId="0"/>
      <p:bldP spid="8204" grpId="0"/>
      <p:bldP spid="8205" grpId="0"/>
      <p:bldP spid="8206" grpId="0"/>
      <p:bldP spid="8207" grpId="0"/>
      <p:bldP spid="8208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50673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sz="18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  <a:sym typeface="+mn-ea"/>
              </a:rPr>
              <a:t>2</a:t>
            </a:r>
            <a:r>
              <a:rPr lang="zh-CN" altLang="en-US" sz="18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  <a:sym typeface="+mn-ea"/>
              </a:rPr>
              <a:t>，</a:t>
            </a:r>
            <a:r>
              <a:rPr lang="en-US" altLang="zh-CN" sz="18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  <a:sym typeface="+mn-ea"/>
              </a:rPr>
              <a:t>Tickless</a:t>
            </a:r>
            <a:r>
              <a:rPr lang="zh-CN" altLang="en-US" sz="1800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  <a:sym typeface="+mn-ea"/>
              </a:rPr>
              <a:t>模式相关配置项</a:t>
            </a:r>
            <a:endParaRPr lang="zh-CN" altLang="en-US" sz="1800" b="1" dirty="0">
              <a:solidFill>
                <a:schemeClr val="bg2"/>
              </a:solidFill>
              <a:latin typeface="Arial" panose="020B0604020202020204" pitchFamily="34" charset="0"/>
              <a:ea typeface="思源黑体 CN Bold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UNIT_TYPE" val="i"/>
  <p:tag name="KSO_WM_UNIT_INDEX" val="1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7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UNIT_TYPE" val="i"/>
  <p:tag name="KSO_WM_UNIT_INDEX" val="2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16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UNIT_TYPE" val="i"/>
  <p:tag name="KSO_WM_UNIT_INDEX" val="2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4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4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7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UNIT_TYPE" val="i"/>
  <p:tag name="KSO_WM_UNIT_INDEX" val="1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29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UNIT_TYPE" val="i"/>
  <p:tag name="KSO_WM_UNIT_INDEX" val="2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3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UNIT_TYPE" val="i"/>
  <p:tag name="KSO_WM_UNIT_INDEX" val="1"/>
</p:tagLst>
</file>

<file path=ppt/tags/tag34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UNIT_TYPE" val="i"/>
  <p:tag name="KSO_WM_UNIT_INDEX" val="1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TYPE" val="a"/>
  <p:tag name="KSO_WM_UNIT_INDEX" val="1"/>
</p:tagLst>
</file>

<file path=ppt/tags/tag36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_4*e*1"/>
  <p:tag name="KSO_WM_UNIT_LAYERLEVEL" val="1"/>
  <p:tag name="KSO_WM_TAG_VERSION" val="3.0"/>
  <p:tag name="KSO_WM_BEAUTIFY_FLAG" val="#wm#"/>
  <p:tag name="KSO_WM_UNIT_PRESET_TEXT" val="节编号"/>
  <p:tag name="KSO_WM_UNIT_NOCLEAR" val="0"/>
  <p:tag name="KSO_WM_UNIT_VALUE" val="13"/>
  <p:tag name="KSO_WM_UNIT_TYPE" val="e"/>
  <p:tag name="KSO_WM_UNIT_INDEX" val="1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60"/>
  <p:tag name="KSO_WM_UNIT_TYPE" val="f"/>
  <p:tag name="KSO_WM_UNIT_INDEX" val="1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2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60"/>
  <p:tag name="KSO_WM_UNIT_TYPE" val="f"/>
  <p:tag name="KSO_WM_UNIT_INDEX" val="2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1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1_1"/>
  <p:tag name="KSO_WM_UNIT_ISCONTENTSTITLE" val="0"/>
  <p:tag name="KSO_WM_UNIT_ISNUMDGMTITLE" val="0"/>
  <p:tag name="KSO_WM_UNIT_VALUE" val="19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1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1_1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2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2_1"/>
  <p:tag name="KSO_WM_UNIT_ISCONTENTSTITLE" val="0"/>
  <p:tag name="KSO_WM_UNIT_ISNUMDGMTITLE" val="0"/>
  <p:tag name="KSO_WM_UNIT_VALUE" val="19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2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2_1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TYPE" val="f"/>
  <p:tag name="KSO_WM_UNIT_INDEX" val="1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b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TYPE" val="b"/>
  <p:tag name="KSO_WM_UNIT_INDEX" val="1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UNIT_VALUE" val="29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71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UNIT_TYPE" val="i"/>
  <p:tag name="KSO_WM_UNIT_INDEX" val="2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NOCLEAR" val="0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f*5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5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  <p:tag name="KSO_WM_TEMPLATE_CATEGORY" val="custom"/>
  <p:tag name="KSO_WM_TEMPLATE_INDEX" val="20230980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1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40"/>
  <p:tag name="KSO_WM_UNIT_TYPE" val="f"/>
  <p:tag name="KSO_WM_UNIT_INDEX" val="1"/>
  <p:tag name="KSO_WM_TEMPLATE_CATEGORY" val="custom"/>
  <p:tag name="KSO_WM_TEMPLATE_INDEX" val="20230980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82.xml><?xml version="1.0" encoding="utf-8"?>
<p:tagLst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0980"/>
  <p:tag name="KSO_WM_TEMPLATE_THUMBS_INDEX" val="1、9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1_1"/>
  <p:tag name="KSO_WM_UNIT_ID" val="custom20230980_4*l_h_i*1_1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7.25712598425196,&quot;left&quot;:442.0862992125984,&quot;top&quot;:130.024409448818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8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custom20230980_4*l_h_a*1_1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7.25712598425196,&quot;left&quot;:442.0862992125984,&quot;top&quot;:130.024409448818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2_1"/>
  <p:tag name="KSO_WM_UNIT_ID" val="custom20230980_4*l_h_i*1_2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7.25712598425196,&quot;left&quot;:442.0862992125984,&quot;top&quot;:130.024409448818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8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custom20230980_4*l_h_a*1_2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7.25712598425196,&quot;left&quot;:442.0862992125984,&quot;top&quot;:130.024409448818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3_1"/>
  <p:tag name="KSO_WM_UNIT_ID" val="custom20230980_4*l_h_i*1_3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7.25712598425196,&quot;left&quot;:442.0862992125984,&quot;top&quot;:130.024409448818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8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3_1"/>
  <p:tag name="KSO_WM_UNIT_ID" val="custom20230980_4*l_h_a*1_3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7.25712598425196,&quot;left&quot;:442.0862992125984,&quot;top&quot;:130.024409448818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7.25712598425196,&quot;left&quot;:442.0862992125984,&quot;top&quot;:130.024409448818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9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custom20230980_4*l_h_a*1_4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7.25712598425196,&quot;left&quot;:442.0862992125984,&quot;top&quot;:130.024409448818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9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custom20230980_4*l_h_a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9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custom20230980_4*l_h_a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9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custom20230980_4*l_h_a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99.xml><?xml version="1.0" encoding="utf-8"?>
<p:tagLst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01.xml><?xml version="1.0" encoding="utf-8"?>
<p:tagLst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03.xml><?xml version="1.0" encoding="utf-8"?>
<p:tagLst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04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5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6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7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8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9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10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11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12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13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14.xml><?xml version="1.0" encoding="utf-8"?>
<p:tagLst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5.xml><?xml version="1.0" encoding="utf-8"?>
<p:tagLst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6.xml><?xml version="1.0" encoding="utf-8"?>
<p:tagLst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7.xml><?xml version="1.0" encoding="utf-8"?>
<p:tagLst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8.xml><?xml version="1.0" encoding="utf-8"?>
<p:tagLst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9.xml><?xml version="1.0" encoding="utf-8"?>
<p:tagLst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20.xml><?xml version="1.0" encoding="utf-8"?>
<p:tagLst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21.xml><?xml version="1.0" encoding="utf-8"?>
<p:tagLst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22.xml><?xml version="1.0" encoding="utf-8"?>
<p:tagLst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23.xml><?xml version="1.0" encoding="utf-8"?>
<p:tagLst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24.xml><?xml version="1.0" encoding="utf-8"?>
<p:tagLst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25.xml><?xml version="1.0" encoding="utf-8"?>
<p:tagLst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27.xml><?xml version="1.0" encoding="utf-8"?>
<p:tagLst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29.xml><?xml version="1.0" encoding="utf-8"?>
<p:tagLst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31.xml><?xml version="1.0" encoding="utf-8"?>
<p:tagLst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33.xml><?xml version="1.0" encoding="utf-8"?>
<p:tagLst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35.xml><?xml version="1.0" encoding="utf-8"?>
<p:tagLst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heme/theme1.xml><?xml version="1.0" encoding="utf-8"?>
<a:theme xmlns:a="http://schemas.openxmlformats.org/drawingml/2006/main" name="Default Design">
  <a:themeElements>
    <a:clrScheme name="WSU Brand HEX">
      <a:dk1>
        <a:srgbClr val="000000"/>
      </a:dk1>
      <a:lt1>
        <a:srgbClr val="FFFFFF"/>
      </a:lt1>
      <a:dk2>
        <a:srgbClr val="003C69"/>
      </a:dk2>
      <a:lt2>
        <a:srgbClr val="DBCEAC"/>
      </a:lt2>
      <a:accent1>
        <a:srgbClr val="981E32"/>
      </a:accent1>
      <a:accent2>
        <a:srgbClr val="5E6A71"/>
      </a:accent2>
      <a:accent3>
        <a:srgbClr val="C60C30"/>
      </a:accent3>
      <a:accent4>
        <a:srgbClr val="EC7A08"/>
      </a:accent4>
      <a:accent5>
        <a:srgbClr val="3CB6CE"/>
      </a:accent5>
      <a:accent6>
        <a:srgbClr val="B6BF00"/>
      </a:accent6>
      <a:hlink>
        <a:srgbClr val="452325"/>
      </a:hlink>
      <a:folHlink>
        <a:srgbClr val="FF00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3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003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2AAAD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14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0033"/>
        </a:accent1>
        <a:accent2>
          <a:srgbClr val="000099"/>
        </a:accent2>
        <a:accent3>
          <a:srgbClr val="FFFFFF"/>
        </a:accent3>
        <a:accent4>
          <a:srgbClr val="000000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15">
        <a:dk1>
          <a:srgbClr val="000000"/>
        </a:dk1>
        <a:lt1>
          <a:srgbClr val="FFFFFF"/>
        </a:lt1>
        <a:dk2>
          <a:srgbClr val="000099"/>
        </a:dk2>
        <a:lt2>
          <a:srgbClr val="FFFFFF"/>
        </a:lt2>
        <a:accent1>
          <a:srgbClr val="CC0033"/>
        </a:accent1>
        <a:accent2>
          <a:srgbClr val="000099"/>
        </a:accent2>
        <a:accent3>
          <a:srgbClr val="AAAACA"/>
        </a:accent3>
        <a:accent4>
          <a:srgbClr val="DADADA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6">
        <a:dk1>
          <a:srgbClr val="000000"/>
        </a:dk1>
        <a:lt1>
          <a:srgbClr val="FFFFFF"/>
        </a:lt1>
        <a:dk2>
          <a:srgbClr val="009999"/>
        </a:dk2>
        <a:lt2>
          <a:srgbClr val="FFFFFF"/>
        </a:lt2>
        <a:accent1>
          <a:srgbClr val="CC0033"/>
        </a:accent1>
        <a:accent2>
          <a:srgbClr val="000099"/>
        </a:accent2>
        <a:accent3>
          <a:srgbClr val="AACACA"/>
        </a:accent3>
        <a:accent4>
          <a:srgbClr val="DADADA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0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Default Design">
  <a:themeElements>
    <a:clrScheme name="WSU Brand HEX">
      <a:dk1>
        <a:srgbClr val="000000"/>
      </a:dk1>
      <a:lt1>
        <a:srgbClr val="FFFFFF"/>
      </a:lt1>
      <a:dk2>
        <a:srgbClr val="003C69"/>
      </a:dk2>
      <a:lt2>
        <a:srgbClr val="DBCEAC"/>
      </a:lt2>
      <a:accent1>
        <a:srgbClr val="981E32"/>
      </a:accent1>
      <a:accent2>
        <a:srgbClr val="5E6A71"/>
      </a:accent2>
      <a:accent3>
        <a:srgbClr val="C60C30"/>
      </a:accent3>
      <a:accent4>
        <a:srgbClr val="EC7A08"/>
      </a:accent4>
      <a:accent5>
        <a:srgbClr val="3CB6CE"/>
      </a:accent5>
      <a:accent6>
        <a:srgbClr val="B6BF00"/>
      </a:accent6>
      <a:hlink>
        <a:srgbClr val="452325"/>
      </a:hlink>
      <a:folHlink>
        <a:srgbClr val="FF00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3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003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2AAAD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14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0033"/>
        </a:accent1>
        <a:accent2>
          <a:srgbClr val="000099"/>
        </a:accent2>
        <a:accent3>
          <a:srgbClr val="FFFFFF"/>
        </a:accent3>
        <a:accent4>
          <a:srgbClr val="000000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15">
        <a:dk1>
          <a:srgbClr val="000000"/>
        </a:dk1>
        <a:lt1>
          <a:srgbClr val="FFFFFF"/>
        </a:lt1>
        <a:dk2>
          <a:srgbClr val="000099"/>
        </a:dk2>
        <a:lt2>
          <a:srgbClr val="FFFFFF"/>
        </a:lt2>
        <a:accent1>
          <a:srgbClr val="CC0033"/>
        </a:accent1>
        <a:accent2>
          <a:srgbClr val="000099"/>
        </a:accent2>
        <a:accent3>
          <a:srgbClr val="AAAACA"/>
        </a:accent3>
        <a:accent4>
          <a:srgbClr val="DADADA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6">
        <a:dk1>
          <a:srgbClr val="000000"/>
        </a:dk1>
        <a:lt1>
          <a:srgbClr val="FFFFFF"/>
        </a:lt1>
        <a:dk2>
          <a:srgbClr val="009999"/>
        </a:dk2>
        <a:lt2>
          <a:srgbClr val="FFFFFF"/>
        </a:lt2>
        <a:accent1>
          <a:srgbClr val="CC0033"/>
        </a:accent1>
        <a:accent2>
          <a:srgbClr val="000099"/>
        </a:accent2>
        <a:accent3>
          <a:srgbClr val="AACACA"/>
        </a:accent3>
        <a:accent4>
          <a:srgbClr val="DADADA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0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3C69"/>
      </a:dk2>
      <a:lt2>
        <a:srgbClr val="DBCEAC"/>
      </a:lt2>
      <a:accent1>
        <a:srgbClr val="981E32"/>
      </a:accent1>
      <a:accent2>
        <a:srgbClr val="5E6A71"/>
      </a:accent2>
      <a:accent3>
        <a:srgbClr val="C60C30"/>
      </a:accent3>
      <a:accent4>
        <a:srgbClr val="EC7A08"/>
      </a:accent4>
      <a:accent5>
        <a:srgbClr val="3CB6CE"/>
      </a:accent5>
      <a:accent6>
        <a:srgbClr val="B6BF00"/>
      </a:accent6>
      <a:hlink>
        <a:srgbClr val="452325"/>
      </a:hlink>
      <a:folHlink>
        <a:srgbClr val="FF0000"/>
      </a:folHlink>
    </a:clrScheme>
    <a:fontScheme name="主题字体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accent1"/>
            </a:solidFill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40933</Words>
  <Application>WPS 演示</Application>
  <PresentationFormat>自定义</PresentationFormat>
  <Paragraphs>3372</Paragraphs>
  <Slides>150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36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150</vt:i4>
      </vt:variant>
    </vt:vector>
  </HeadingPairs>
  <TitlesOfParts>
    <vt:vector size="190" baseType="lpstr">
      <vt:lpstr>Arial</vt:lpstr>
      <vt:lpstr>宋体</vt:lpstr>
      <vt:lpstr>Wingdings</vt:lpstr>
      <vt:lpstr>Lucida Sans</vt:lpstr>
      <vt:lpstr>Lucida Sans Unicode</vt:lpstr>
      <vt:lpstr>微软雅黑</vt:lpstr>
      <vt:lpstr>Calibri</vt:lpstr>
      <vt:lpstr>Times New Roman</vt:lpstr>
      <vt:lpstr>冬青黑体简体中文 W6</vt:lpstr>
      <vt:lpstr>黑体</vt:lpstr>
      <vt:lpstr>仿宋</vt:lpstr>
      <vt:lpstr>PingFang SC</vt:lpstr>
      <vt:lpstr>Segoe Print</vt:lpstr>
      <vt:lpstr>Arial Unicode MS</vt:lpstr>
      <vt:lpstr>思源黑体 CN Bold</vt:lpstr>
      <vt:lpstr>思源黑体 CN Normal</vt:lpstr>
      <vt:lpstr>等线</vt:lpstr>
      <vt:lpstr>Candara</vt:lpstr>
      <vt:lpstr>CourierNewPSMT</vt:lpstr>
      <vt:lpstr>Courier New</vt:lpstr>
      <vt:lpstr>思源黑体 CN Normal</vt:lpstr>
      <vt:lpstr>quote-cjk-patch</vt:lpstr>
      <vt:lpstr>Arial</vt:lpstr>
      <vt:lpstr>Menlo</vt:lpstr>
      <vt:lpstr>CourierNewPSMT</vt:lpstr>
      <vt:lpstr>Menlo</vt:lpstr>
      <vt:lpstr>PingFang SC</vt:lpstr>
      <vt:lpstr>Wingdings</vt:lpstr>
      <vt:lpstr>quote-cjk-patch</vt:lpstr>
      <vt:lpstr>冬青黑体简体中文 W6</vt:lpstr>
      <vt:lpstr>思源黑体 CN Bold</vt:lpstr>
      <vt:lpstr>思源黑体 CN Normal</vt:lpstr>
      <vt:lpstr>Lucida Casual Regular</vt:lpstr>
      <vt:lpstr>华康黑体W12</vt:lpstr>
      <vt:lpstr>兰米黑体</vt:lpstr>
      <vt:lpstr>方正大黑体_GBK</vt:lpstr>
      <vt:lpstr>Default Design</vt:lpstr>
      <vt:lpstr>自定义设计方案</vt:lpstr>
      <vt:lpstr>1_Default Design</vt:lpstr>
      <vt:lpstr>Office 主题​​</vt:lpstr>
      <vt:lpstr>PowerPoint 演示文稿</vt:lpstr>
      <vt:lpstr>PowerPoint 演示文稿</vt:lpstr>
      <vt:lpstr>FreeRTOS</vt:lpstr>
      <vt:lpstr>RTOS 基本概念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任务与调度机制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时间管理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内存管理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中断管理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任务间通信与同步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低功耗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Washington State University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Marketing</dc:creator>
  <cp:lastModifiedBy>赵峰</cp:lastModifiedBy>
  <cp:revision>885</cp:revision>
  <cp:lastPrinted>2014-04-21T18:27:00Z</cp:lastPrinted>
  <dcterms:created xsi:type="dcterms:W3CDTF">2001-10-04T20:08:00Z</dcterms:created>
  <dcterms:modified xsi:type="dcterms:W3CDTF">2026-05-30T14:04:01Z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C3CCAF5F06344E72BC95475314ED453F_12</vt:lpwstr>
  </property>
  <property fmtid="{D5CDD505-2E9C-101B-9397-08002B2CF9AE}" pid="3" name="KSOProductBuildVer">
    <vt:lpwstr>2052-12.1.0.25225</vt:lpwstr>
  </property>
</Properties>
</file>