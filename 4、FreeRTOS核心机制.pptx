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  <p:sldMasterId id="2147483675" r:id="rId3"/>
    <p:sldMasterId id="2147483690" r:id="rId4"/>
  </p:sldMasterIdLst>
  <p:notesMasterIdLst>
    <p:notesMasterId r:id="rId145"/>
  </p:notesMasterIdLst>
  <p:handoutMasterIdLst>
    <p:handoutMasterId r:id="rId146"/>
  </p:handoutMasterIdLst>
  <p:sldIdLst>
    <p:sldId id="316" r:id="rId5"/>
    <p:sldId id="310" r:id="rId6"/>
    <p:sldId id="321" r:id="rId7"/>
    <p:sldId id="374" r:id="rId8"/>
    <p:sldId id="318" r:id="rId9"/>
    <p:sldId id="548" r:id="rId10"/>
    <p:sldId id="547" r:id="rId11"/>
    <p:sldId id="549" r:id="rId12"/>
    <p:sldId id="371" r:id="rId13"/>
    <p:sldId id="372" r:id="rId14"/>
    <p:sldId id="373" r:id="rId15"/>
    <p:sldId id="375" r:id="rId16"/>
    <p:sldId id="377" r:id="rId17"/>
    <p:sldId id="378" r:id="rId18"/>
    <p:sldId id="380" r:id="rId19"/>
    <p:sldId id="382" r:id="rId20"/>
    <p:sldId id="379" r:id="rId21"/>
    <p:sldId id="394" r:id="rId22"/>
    <p:sldId id="383" r:id="rId23"/>
    <p:sldId id="376" r:id="rId24"/>
    <p:sldId id="407" r:id="rId25"/>
    <p:sldId id="411" r:id="rId26"/>
    <p:sldId id="412" r:id="rId27"/>
    <p:sldId id="413" r:id="rId28"/>
    <p:sldId id="414" r:id="rId29"/>
    <p:sldId id="415" r:id="rId30"/>
    <p:sldId id="416" r:id="rId31"/>
    <p:sldId id="417" r:id="rId32"/>
    <p:sldId id="418" r:id="rId33"/>
    <p:sldId id="419" r:id="rId34"/>
    <p:sldId id="420" r:id="rId35"/>
    <p:sldId id="423" r:id="rId36"/>
    <p:sldId id="424" r:id="rId37"/>
    <p:sldId id="402" r:id="rId38"/>
    <p:sldId id="403" r:id="rId39"/>
    <p:sldId id="396" r:id="rId40"/>
    <p:sldId id="398" r:id="rId41"/>
    <p:sldId id="399" r:id="rId42"/>
    <p:sldId id="400" r:id="rId43"/>
    <p:sldId id="401" r:id="rId44"/>
    <p:sldId id="404" r:id="rId45"/>
    <p:sldId id="405" r:id="rId46"/>
    <p:sldId id="429" r:id="rId47"/>
    <p:sldId id="430" r:id="rId48"/>
    <p:sldId id="433" r:id="rId49"/>
    <p:sldId id="434" r:id="rId50"/>
    <p:sldId id="435" r:id="rId51"/>
    <p:sldId id="436" r:id="rId52"/>
    <p:sldId id="437" r:id="rId53"/>
    <p:sldId id="438" r:id="rId54"/>
    <p:sldId id="384" r:id="rId55"/>
    <p:sldId id="385" r:id="rId56"/>
    <p:sldId id="445" r:id="rId57"/>
    <p:sldId id="444" r:id="rId58"/>
    <p:sldId id="446" r:id="rId59"/>
    <p:sldId id="455" r:id="rId60"/>
    <p:sldId id="388" r:id="rId61"/>
    <p:sldId id="389" r:id="rId62"/>
    <p:sldId id="450" r:id="rId63"/>
    <p:sldId id="447" r:id="rId64"/>
    <p:sldId id="461" r:id="rId65"/>
    <p:sldId id="452" r:id="rId66"/>
    <p:sldId id="451" r:id="rId67"/>
    <p:sldId id="454" r:id="rId68"/>
    <p:sldId id="448" r:id="rId69"/>
    <p:sldId id="449" r:id="rId70"/>
    <p:sldId id="458" r:id="rId71"/>
    <p:sldId id="390" r:id="rId72"/>
    <p:sldId id="391" r:id="rId73"/>
    <p:sldId id="462" r:id="rId74"/>
    <p:sldId id="463" r:id="rId75"/>
    <p:sldId id="464" r:id="rId76"/>
    <p:sldId id="465" r:id="rId77"/>
    <p:sldId id="466" r:id="rId78"/>
    <p:sldId id="467" r:id="rId79"/>
    <p:sldId id="468" r:id="rId80"/>
    <p:sldId id="469" r:id="rId81"/>
    <p:sldId id="470" r:id="rId82"/>
    <p:sldId id="471" r:id="rId83"/>
    <p:sldId id="386" r:id="rId84"/>
    <p:sldId id="387" r:id="rId85"/>
    <p:sldId id="472" r:id="rId86"/>
    <p:sldId id="473" r:id="rId87"/>
    <p:sldId id="474" r:id="rId88"/>
    <p:sldId id="475" r:id="rId89"/>
    <p:sldId id="476" r:id="rId90"/>
    <p:sldId id="477" r:id="rId91"/>
    <p:sldId id="478" r:id="rId92"/>
    <p:sldId id="479" r:id="rId93"/>
    <p:sldId id="481" r:id="rId94"/>
    <p:sldId id="482" r:id="rId95"/>
    <p:sldId id="483" r:id="rId96"/>
    <p:sldId id="484" r:id="rId97"/>
    <p:sldId id="546" r:id="rId98"/>
    <p:sldId id="493" r:id="rId99"/>
    <p:sldId id="494" r:id="rId100"/>
    <p:sldId id="495" r:id="rId101"/>
    <p:sldId id="496" r:id="rId102"/>
    <p:sldId id="497" r:id="rId103"/>
    <p:sldId id="498" r:id="rId104"/>
    <p:sldId id="499" r:id="rId105"/>
    <p:sldId id="500" r:id="rId106"/>
    <p:sldId id="501" r:id="rId107"/>
    <p:sldId id="502" r:id="rId108"/>
    <p:sldId id="503" r:id="rId109"/>
    <p:sldId id="504" r:id="rId110"/>
    <p:sldId id="512" r:id="rId111"/>
    <p:sldId id="513" r:id="rId112"/>
    <p:sldId id="514" r:id="rId113"/>
    <p:sldId id="515" r:id="rId114"/>
    <p:sldId id="516" r:id="rId115"/>
    <p:sldId id="517" r:id="rId116"/>
    <p:sldId id="518" r:id="rId117"/>
    <p:sldId id="519" r:id="rId118"/>
    <p:sldId id="520" r:id="rId119"/>
    <p:sldId id="521" r:id="rId120"/>
    <p:sldId id="522" r:id="rId121"/>
    <p:sldId id="523" r:id="rId122"/>
    <p:sldId id="524" r:id="rId123"/>
    <p:sldId id="525" r:id="rId124"/>
    <p:sldId id="526" r:id="rId125"/>
    <p:sldId id="527" r:id="rId126"/>
    <p:sldId id="528" r:id="rId127"/>
    <p:sldId id="529" r:id="rId128"/>
    <p:sldId id="530" r:id="rId129"/>
    <p:sldId id="531" r:id="rId130"/>
    <p:sldId id="532" r:id="rId131"/>
    <p:sldId id="533" r:id="rId132"/>
    <p:sldId id="534" r:id="rId133"/>
    <p:sldId id="536" r:id="rId134"/>
    <p:sldId id="537" r:id="rId135"/>
    <p:sldId id="535" r:id="rId136"/>
    <p:sldId id="538" r:id="rId137"/>
    <p:sldId id="539" r:id="rId138"/>
    <p:sldId id="540" r:id="rId139"/>
    <p:sldId id="541" r:id="rId140"/>
    <p:sldId id="542" r:id="rId141"/>
    <p:sldId id="543" r:id="rId142"/>
    <p:sldId id="544" r:id="rId143"/>
    <p:sldId id="545" r:id="rId144"/>
  </p:sldIdLst>
  <p:sldSz cx="12187238" cy="7021513"/>
  <p:notesSz cx="9296400" cy="7010400"/>
  <p:defaultTextStyle>
    <a:defPPr>
      <a:defRPr lang="en-US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lvl="1" indent="-15748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lvl="2" indent="-31432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lvl="3" indent="-47180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lvl="4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BDA4800E-9FE8-4A58-95A9-FF0B4842C136}">
          <p14:sldIdLst>
            <p14:sldId id="316"/>
            <p14:sldId id="310"/>
            <p14:sldId id="321"/>
          </p14:sldIdLst>
        </p14:section>
        <p14:section name="基本概念" id="{CF107FFD-BCD7-4352-A419-318898244DD1}">
          <p14:sldIdLst>
            <p14:sldId id="374"/>
            <p14:sldId id="318"/>
            <p14:sldId id="548"/>
            <p14:sldId id="547"/>
            <p14:sldId id="549"/>
            <p14:sldId id="371"/>
            <p14:sldId id="372"/>
            <p14:sldId id="373"/>
            <p14:sldId id="375"/>
            <p14:sldId id="377"/>
            <p14:sldId id="378"/>
            <p14:sldId id="380"/>
            <p14:sldId id="382"/>
            <p14:sldId id="379"/>
            <p14:sldId id="394"/>
          </p14:sldIdLst>
        </p14:section>
        <p14:section name="任务调度机制" id="{068F4FDB-FC7A-471D-A965-61E76C38DA07}">
          <p14:sldIdLst>
            <p14:sldId id="383"/>
            <p14:sldId id="376"/>
            <p14:sldId id="407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3"/>
            <p14:sldId id="424"/>
            <p14:sldId id="402"/>
            <p14:sldId id="403"/>
            <p14:sldId id="396"/>
            <p14:sldId id="398"/>
            <p14:sldId id="399"/>
            <p14:sldId id="400"/>
            <p14:sldId id="401"/>
            <p14:sldId id="404"/>
            <p14:sldId id="405"/>
            <p14:sldId id="429"/>
            <p14:sldId id="430"/>
            <p14:sldId id="433"/>
            <p14:sldId id="434"/>
            <p14:sldId id="435"/>
            <p14:sldId id="436"/>
            <p14:sldId id="437"/>
            <p14:sldId id="438"/>
          </p14:sldIdLst>
        </p14:section>
        <p14:section name="时间管理" id="{205170D9-50F4-43C8-9762-EE77CED99376}">
          <p14:sldIdLst>
            <p14:sldId id="384"/>
            <p14:sldId id="385"/>
            <p14:sldId id="445"/>
            <p14:sldId id="444"/>
            <p14:sldId id="446"/>
            <p14:sldId id="455"/>
          </p14:sldIdLst>
        </p14:section>
        <p14:section name="内存管理" id="{3A42E8DA-BA1A-4BCF-B439-A12562891896}">
          <p14:sldIdLst>
            <p14:sldId id="388"/>
            <p14:sldId id="389"/>
            <p14:sldId id="450"/>
            <p14:sldId id="447"/>
            <p14:sldId id="461"/>
            <p14:sldId id="452"/>
            <p14:sldId id="451"/>
            <p14:sldId id="454"/>
            <p14:sldId id="448"/>
            <p14:sldId id="449"/>
            <p14:sldId id="458"/>
          </p14:sldIdLst>
        </p14:section>
        <p14:section name="中断管理" id="{C0011E4B-5406-4100-BDB8-DD2074C93EAE}">
          <p14:sldIdLst>
            <p14:sldId id="390"/>
            <p14:sldId id="391"/>
            <p14:sldId id="462"/>
            <p14:sldId id="463"/>
            <p14:sldId id="464"/>
            <p14:sldId id="465"/>
            <p14:sldId id="466"/>
            <p14:sldId id="467"/>
            <p14:sldId id="468"/>
            <p14:sldId id="469"/>
            <p14:sldId id="470"/>
            <p14:sldId id="471"/>
          </p14:sldIdLst>
        </p14:section>
        <p14:section name="任务间通信与同步" id="{ADD82A3D-093B-48C9-AF00-075FEA54568C}">
          <p14:sldIdLst>
            <p14:sldId id="386"/>
            <p14:sldId id="387"/>
            <p14:sldId id="472"/>
            <p14:sldId id="473"/>
            <p14:sldId id="474"/>
            <p14:sldId id="475"/>
            <p14:sldId id="476"/>
            <p14:sldId id="477"/>
            <p14:sldId id="478"/>
            <p14:sldId id="479"/>
            <p14:sldId id="481"/>
            <p14:sldId id="482"/>
            <p14:sldId id="483"/>
            <p14:sldId id="484"/>
            <p14:sldId id="546"/>
            <p14:sldId id="493"/>
            <p14:sldId id="494"/>
            <p14:sldId id="495"/>
            <p14:sldId id="496"/>
            <p14:sldId id="497"/>
            <p14:sldId id="498"/>
            <p14:sldId id="499"/>
            <p14:sldId id="500"/>
            <p14:sldId id="501"/>
            <p14:sldId id="502"/>
            <p14:sldId id="503"/>
            <p14:sldId id="504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6"/>
            <p14:sldId id="537"/>
            <p14:sldId id="535"/>
            <p14:sldId id="538"/>
            <p14:sldId id="539"/>
            <p14:sldId id="540"/>
            <p14:sldId id="541"/>
            <p14:sldId id="542"/>
            <p14:sldId id="543"/>
            <p14:sldId id="544"/>
            <p14:sldId id="54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61" userDrawn="1">
          <p15:clr>
            <a:srgbClr val="A4A3A4"/>
          </p15:clr>
        </p15:guide>
        <p15:guide id="2" orient="horz" pos="685" userDrawn="1">
          <p15:clr>
            <a:srgbClr val="A4A3A4"/>
          </p15:clr>
        </p15:guide>
        <p15:guide id="3" pos="2632" userDrawn="1">
          <p15:clr>
            <a:srgbClr val="A4A3A4"/>
          </p15:clr>
        </p15:guide>
        <p15:guide id="4" pos="5159" userDrawn="1">
          <p15:clr>
            <a:srgbClr val="A4A3A4"/>
          </p15:clr>
        </p15:guide>
        <p15:guide id="5" pos="3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A6A"/>
    <a:srgbClr val="7A8287"/>
    <a:srgbClr val="717171"/>
    <a:srgbClr val="B30000"/>
    <a:srgbClr val="7E0000"/>
    <a:srgbClr val="9E0A26"/>
    <a:srgbClr val="0D9342"/>
    <a:srgbClr val="747474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84" autoAdjust="0"/>
    <p:restoredTop sz="95625" autoAdjust="0"/>
  </p:normalViewPr>
  <p:slideViewPr>
    <p:cSldViewPr snapToGrid="0" showGuides="1">
      <p:cViewPr varScale="1">
        <p:scale>
          <a:sx n="90" d="100"/>
          <a:sy n="90" d="100"/>
        </p:scale>
        <p:origin x="450" y="51"/>
      </p:cViewPr>
      <p:guideLst>
        <p:guide orient="horz" pos="1561"/>
        <p:guide orient="horz" pos="685"/>
        <p:guide pos="2632"/>
        <p:guide pos="5159"/>
        <p:guide pos="343"/>
      </p:guideLst>
    </p:cSldViewPr>
  </p:slideViewPr>
  <p:outlineViewPr>
    <p:cViewPr>
      <p:scale>
        <a:sx n="33" d="100"/>
        <a:sy n="33" d="100"/>
      </p:scale>
      <p:origin x="0" y="-32526"/>
    </p:cViewPr>
  </p:outlin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50" d="100"/>
        <a:sy n="50" d="100"/>
      </p:scale>
      <p:origin x="0" y="0"/>
    </p:cViewPr>
  </p:sorterViewPr>
  <p:gridSpacing cx="76198" cy="7619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viewProps" Target="viewProps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slide" Target="slides/slide13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50" Type="http://schemas.openxmlformats.org/officeDocument/2006/relationships/theme" Target="theme/theme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4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51" Type="http://schemas.openxmlformats.org/officeDocument/2006/relationships/tableStyles" Target="tableStyle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commentAuthors" Target="commentAuthor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86200" y="0"/>
            <a:ext cx="437673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8277225" y="0"/>
            <a:ext cx="10175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F236681-7156-4480-AE64-29C68A5EE95B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</a:p>
        </p:txBody>
      </p:sp>
      <p:sp>
        <p:nvSpPr>
          <p:cNvPr id="553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CA73A3-3EE7-4293-867F-9B8FBD0D7801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7938"/>
            <a:ext cx="3757613" cy="275590"/>
          </a:xfrm>
          <a:prstGeom prst="rect">
            <a:avLst/>
          </a:prstGeom>
          <a:noFill/>
        </p:spPr>
        <p:txBody>
          <a:bodyPr lIns="91650" tIns="45825" rIns="91650" bIns="45825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301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WASHINGTON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5738" y="0"/>
            <a:ext cx="4029075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412" name="Rectangle 4"/>
          <p:cNvSpPr>
            <a:spLocks noGrp="1" noRot="1" noChangeAspect="1" noTextEdit="1"/>
          </p:cNvSpPr>
          <p:nvPr>
            <p:ph type="sldImg"/>
          </p:nvPr>
        </p:nvSpPr>
        <p:spPr>
          <a:xfrm>
            <a:off x="2370138" y="527050"/>
            <a:ext cx="4562475" cy="2628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0275" y="3330575"/>
            <a:ext cx="7435850" cy="3152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Click to edit Master text styles</a:t>
            </a:r>
          </a:p>
          <a:p>
            <a:pPr marL="61468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</a:p>
          <a:p>
            <a:pPr marL="1228725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</a:p>
          <a:p>
            <a:pPr marL="1843405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Fourth level</a:t>
            </a:r>
          </a:p>
          <a:p>
            <a:pPr marL="245745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1229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2BAE9E6-DFE7-48C6-84B7-49545C10A24D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7340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8808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0276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1744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操作系统的本身是一个比较复杂的东西，任务的管理和调度实现的底层是很复杂和困难的。但是呢，我们一般都是把操作系统本身作为一个工具一个平台，我们的目的是使用它的功能而不是开发一个操作系统。</a:t>
            </a:r>
            <a:endParaRPr lang="en-US" altLang="zh-CN"/>
          </a:p>
          <a:p>
            <a:r>
              <a:rPr lang="zh-CN" altLang="zh-CN"/>
              <a:t>实际上真正能使用操作系统的人并不多，反而是跑裸机的占大多数，这也和产品的具体要求有关，很多简单的系统只需要裸机即可满足。</a:t>
            </a:r>
            <a:endParaRPr lang="en-US" altLang="zh-CN"/>
          </a:p>
          <a:p>
            <a:endParaRPr lang="en-US" altLang="zh-CN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的优点：小巧、支持多平台、功能模块化。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是开源的，下载后可以自由修改和使用。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2/1/2026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7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slideMaster" Target="../slideMasters/slideMaster3.xml"/><Relationship Id="rId4" Type="http://schemas.openxmlformats.org/officeDocument/2006/relationships/tags" Target="../tags/tag14.xml"/></Relationships>
</file>

<file path=ppt/slideLayouts/_rels/slideLayout4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9" Type="http://schemas.openxmlformats.org/officeDocument/2006/relationships/image" Target="../media/image7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slideMaster" Target="../slideMasters/slideMaster4.xml"/><Relationship Id="rId5" Type="http://schemas.openxmlformats.org/officeDocument/2006/relationships/tags" Target="../tags/tag32.xml"/><Relationship Id="rId4" Type="http://schemas.openxmlformats.org/officeDocument/2006/relationships/tags" Target="../tags/tag31.xml"/></Relationships>
</file>

<file path=ppt/slideLayouts/_rels/slideLayout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5.xml"/><Relationship Id="rId7" Type="http://schemas.openxmlformats.org/officeDocument/2006/relationships/slideMaster" Target="../slideMasters/slideMaster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Layouts/_rels/slideLayout44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9" Type="http://schemas.openxmlformats.org/officeDocument/2006/relationships/image" Target="../media/image8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7" Type="http://schemas.openxmlformats.org/officeDocument/2006/relationships/slideMaster" Target="../slideMasters/slideMaster4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/Relationships>
</file>

<file path=ppt/slideLayouts/_rels/slideLayout46.xml.rels><?xml version="1.0" encoding="UTF-8" standalone="yes"?>
<Relationships xmlns="http://schemas.openxmlformats.org/package/2006/relationships"><Relationship Id="rId8" Type="http://schemas.openxmlformats.org/officeDocument/2006/relationships/tags" Target="../tags/tag59.xml"/><Relationship Id="rId3" Type="http://schemas.openxmlformats.org/officeDocument/2006/relationships/tags" Target="../tags/tag54.xml"/><Relationship Id="rId7" Type="http://schemas.openxmlformats.org/officeDocument/2006/relationships/tags" Target="../tags/tag58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9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Master" Target="../slideMasters/slideMaster4.xml"/><Relationship Id="rId4" Type="http://schemas.openxmlformats.org/officeDocument/2006/relationships/tags" Target="../tags/tag63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4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5" Type="http://schemas.openxmlformats.org/officeDocument/2006/relationships/slideMaster" Target="../slideMasters/slideMaster4.xml"/><Relationship Id="rId4" Type="http://schemas.openxmlformats.org/officeDocument/2006/relationships/tags" Target="../tags/tag70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slideMaster" Target="../slideMasters/slideMaster4.xml"/><Relationship Id="rId5" Type="http://schemas.openxmlformats.org/officeDocument/2006/relationships/tags" Target="../tags/tag75.xml"/><Relationship Id="rId4" Type="http://schemas.openxmlformats.org/officeDocument/2006/relationships/tags" Target="../tags/tag74.xml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5" Type="http://schemas.openxmlformats.org/officeDocument/2006/relationships/tags" Target="../tags/tag80.xml"/><Relationship Id="rId4" Type="http://schemas.openxmlformats.org/officeDocument/2006/relationships/tags" Target="../tags/tag79.xml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1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75091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81225"/>
            <a:ext cx="10358438" cy="150495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978275"/>
            <a:ext cx="8529638" cy="17954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025" y="4511675"/>
            <a:ext cx="10360025" cy="1395413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025" y="2976563"/>
            <a:ext cx="10360025" cy="153511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38300"/>
            <a:ext cx="5407025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69025" y="1638300"/>
            <a:ext cx="5408613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71625"/>
            <a:ext cx="5384800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227263"/>
            <a:ext cx="5384800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1250" y="1571625"/>
            <a:ext cx="5386388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1250" y="2227263"/>
            <a:ext cx="5386388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9400"/>
            <a:ext cx="4010025" cy="11906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4088" y="279400"/>
            <a:ext cx="6813550" cy="59928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70025"/>
            <a:ext cx="4010025" cy="48021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188" y="4914900"/>
            <a:ext cx="7312025" cy="5810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188" y="627063"/>
            <a:ext cx="7312025" cy="42132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188" y="5495925"/>
            <a:ext cx="7312025" cy="8239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6025" y="280988"/>
            <a:ext cx="2741613" cy="5991225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80988"/>
            <a:ext cx="8074025" cy="59912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>
            <p:custDataLst>
              <p:tags r:id="rId1"/>
            </p:custDataLst>
          </p:nvPr>
        </p:nvSpPr>
        <p:spPr>
          <a:xfrm>
            <a:off x="6053753" y="909138"/>
            <a:ext cx="5907139" cy="5791822"/>
          </a:xfrm>
          <a:custGeom>
            <a:avLst/>
            <a:gdLst>
              <a:gd name="connsiteX0" fmla="*/ 3879682 w 5909293"/>
              <a:gd name="connsiteY0" fmla="*/ 175 h 5793934"/>
              <a:gd name="connsiteX1" fmla="*/ 4334567 w 5909293"/>
              <a:gd name="connsiteY1" fmla="*/ 60453 h 5793934"/>
              <a:gd name="connsiteX2" fmla="*/ 5246308 w 5909293"/>
              <a:gd name="connsiteY2" fmla="*/ 1122598 h 5793934"/>
              <a:gd name="connsiteX3" fmla="*/ 5872742 w 5909293"/>
              <a:gd name="connsiteY3" fmla="*/ 3288868 h 5793934"/>
              <a:gd name="connsiteX4" fmla="*/ 5819651 w 5909293"/>
              <a:gd name="connsiteY4" fmla="*/ 4125030 h 5793934"/>
              <a:gd name="connsiteX5" fmla="*/ 5157837 w 5909293"/>
              <a:gd name="connsiteY5" fmla="*/ 4912778 h 5793934"/>
              <a:gd name="connsiteX6" fmla="*/ 3379536 w 5909293"/>
              <a:gd name="connsiteY6" fmla="*/ 5735681 h 5793934"/>
              <a:gd name="connsiteX7" fmla="*/ 2078353 w 5909293"/>
              <a:gd name="connsiteY7" fmla="*/ 5726438 h 5793934"/>
              <a:gd name="connsiteX8" fmla="*/ 1489530 w 5909293"/>
              <a:gd name="connsiteY8" fmla="*/ 5363600 h 5793934"/>
              <a:gd name="connsiteX9" fmla="*/ 1035251 w 5909293"/>
              <a:gd name="connsiteY9" fmla="*/ 4220617 h 5793934"/>
              <a:gd name="connsiteX10" fmla="*/ 602247 w 5909293"/>
              <a:gd name="connsiteY10" fmla="*/ 3634929 h 5793934"/>
              <a:gd name="connsiteX11" fmla="*/ 169546 w 5909293"/>
              <a:gd name="connsiteY11" fmla="*/ 2942699 h 5793934"/>
              <a:gd name="connsiteX12" fmla="*/ 652478 w 5909293"/>
              <a:gd name="connsiteY12" fmla="*/ 842508 h 5793934"/>
              <a:gd name="connsiteX13" fmla="*/ 1316613 w 5909293"/>
              <a:gd name="connsiteY13" fmla="*/ 445895 h 5793934"/>
              <a:gd name="connsiteX14" fmla="*/ 1375567 w 5909293"/>
              <a:gd name="connsiteY14" fmla="*/ 424437 h 5793934"/>
              <a:gd name="connsiteX15" fmla="*/ 3408460 w 5909293"/>
              <a:gd name="connsiteY15" fmla="*/ 39296 h 5793934"/>
              <a:gd name="connsiteX16" fmla="*/ 3879682 w 5909293"/>
              <a:gd name="connsiteY16" fmla="*/ 175 h 5793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9293" h="5793934">
                <a:moveTo>
                  <a:pt x="3879682" y="175"/>
                </a:moveTo>
                <a:cubicBezTo>
                  <a:pt x="4036099" y="-1809"/>
                  <a:pt x="4189792" y="12773"/>
                  <a:pt x="4334567" y="60453"/>
                </a:cubicBezTo>
                <a:cubicBezTo>
                  <a:pt x="4813657" y="215756"/>
                  <a:pt x="5066087" y="681130"/>
                  <a:pt x="5246308" y="1122598"/>
                </a:cubicBezTo>
                <a:cubicBezTo>
                  <a:pt x="5530593" y="1818660"/>
                  <a:pt x="5740779" y="2546018"/>
                  <a:pt x="5872742" y="3288868"/>
                </a:cubicBezTo>
                <a:cubicBezTo>
                  <a:pt x="5918136" y="3538857"/>
                  <a:pt x="5941127" y="3794404"/>
                  <a:pt x="5819651" y="4125030"/>
                </a:cubicBezTo>
                <a:cubicBezTo>
                  <a:pt x="5698175" y="4455657"/>
                  <a:pt x="5555500" y="4602769"/>
                  <a:pt x="5157837" y="4912778"/>
                </a:cubicBezTo>
                <a:cubicBezTo>
                  <a:pt x="4760174" y="5222787"/>
                  <a:pt x="3749504" y="5653807"/>
                  <a:pt x="3379536" y="5735681"/>
                </a:cubicBezTo>
                <a:cubicBezTo>
                  <a:pt x="3009569" y="5817556"/>
                  <a:pt x="2330918" y="5811898"/>
                  <a:pt x="2078353" y="5726438"/>
                </a:cubicBezTo>
                <a:cubicBezTo>
                  <a:pt x="1825789" y="5640979"/>
                  <a:pt x="1633575" y="5511056"/>
                  <a:pt x="1489530" y="5363600"/>
                </a:cubicBezTo>
                <a:cubicBezTo>
                  <a:pt x="1194462" y="5065173"/>
                  <a:pt x="1220104" y="4592041"/>
                  <a:pt x="1035251" y="4220617"/>
                </a:cubicBezTo>
                <a:cubicBezTo>
                  <a:pt x="929927" y="4002824"/>
                  <a:pt x="753122" y="3825759"/>
                  <a:pt x="602247" y="3634929"/>
                </a:cubicBezTo>
                <a:cubicBezTo>
                  <a:pt x="430739" y="3418728"/>
                  <a:pt x="291908" y="3187171"/>
                  <a:pt x="169546" y="2942699"/>
                </a:cubicBezTo>
                <a:cubicBezTo>
                  <a:pt x="-176217" y="2249976"/>
                  <a:pt x="17688" y="1398039"/>
                  <a:pt x="652478" y="842508"/>
                </a:cubicBezTo>
                <a:cubicBezTo>
                  <a:pt x="844971" y="671207"/>
                  <a:pt x="1070014" y="535650"/>
                  <a:pt x="1316613" y="445895"/>
                </a:cubicBezTo>
                <a:cubicBezTo>
                  <a:pt x="1336025" y="438830"/>
                  <a:pt x="1354717" y="432026"/>
                  <a:pt x="1375567" y="424437"/>
                </a:cubicBezTo>
                <a:cubicBezTo>
                  <a:pt x="2029851" y="208795"/>
                  <a:pt x="2725822" y="123350"/>
                  <a:pt x="3408460" y="39296"/>
                </a:cubicBezTo>
                <a:cubicBezTo>
                  <a:pt x="3564127" y="20711"/>
                  <a:pt x="3723266" y="2160"/>
                  <a:pt x="3879682" y="175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27" name="图片 26" descr="无人机5资源 1@600x-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432349" y="1760224"/>
            <a:ext cx="6640948" cy="517844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702689" y="1387615"/>
            <a:ext cx="5391089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编辑母版标题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01419" y="3821952"/>
            <a:ext cx="2879945" cy="5801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 b="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8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9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20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071" y="1359050"/>
            <a:ext cx="10795538" cy="489977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7" name="标题 6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275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1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/>
          <p:cNvSpPr/>
          <p:nvPr userDrawn="1">
            <p:custDataLst>
              <p:tags r:id="rId1"/>
            </p:custDataLst>
          </p:nvPr>
        </p:nvSpPr>
        <p:spPr bwMode="auto">
          <a:xfrm rot="6240000" flipH="1">
            <a:off x="1155279" y="2458469"/>
            <a:ext cx="2942152" cy="3513444"/>
          </a:xfrm>
          <a:custGeom>
            <a:avLst/>
            <a:gdLst>
              <a:gd name="connsiteX0" fmla="*/ 4417 w 6611"/>
              <a:gd name="connsiteY0" fmla="*/ 31 h 6706"/>
              <a:gd name="connsiteX1" fmla="*/ 3525 w 6611"/>
              <a:gd name="connsiteY1" fmla="*/ 35 h 6706"/>
              <a:gd name="connsiteX2" fmla="*/ 1943 w 6611"/>
              <a:gd name="connsiteY2" fmla="*/ 444 h 6706"/>
              <a:gd name="connsiteX3" fmla="*/ 850 w 6611"/>
              <a:gd name="connsiteY3" fmla="*/ 1131 h 6706"/>
              <a:gd name="connsiteX4" fmla="*/ 7 w 6611"/>
              <a:gd name="connsiteY4" fmla="*/ 2491 h 6706"/>
              <a:gd name="connsiteX5" fmla="*/ 211 w 6611"/>
              <a:gd name="connsiteY5" fmla="*/ 4826 h 6706"/>
              <a:gd name="connsiteX6" fmla="*/ 752 w 6611"/>
              <a:gd name="connsiteY6" fmla="*/ 5937 h 6706"/>
              <a:gd name="connsiteX7" fmla="*/ 1926 w 6611"/>
              <a:gd name="connsiteY7" fmla="*/ 6575 h 6706"/>
              <a:gd name="connsiteX8" fmla="*/ 4060 w 6611"/>
              <a:gd name="connsiteY8" fmla="*/ 6611 h 6706"/>
              <a:gd name="connsiteX9" fmla="*/ 5547 w 6611"/>
              <a:gd name="connsiteY9" fmla="*/ 5965 h 6706"/>
              <a:gd name="connsiteX10" fmla="*/ 6120 w 6611"/>
              <a:gd name="connsiteY10" fmla="*/ 5119 h 6706"/>
              <a:gd name="connsiteX11" fmla="*/ 6193 w 6611"/>
              <a:gd name="connsiteY11" fmla="*/ 4057 h 6706"/>
              <a:gd name="connsiteX12" fmla="*/ 6398 w 6611"/>
              <a:gd name="connsiteY12" fmla="*/ 3222 h 6706"/>
              <a:gd name="connsiteX13" fmla="*/ 6599 w 6611"/>
              <a:gd name="connsiteY13" fmla="*/ 2281 h 6706"/>
              <a:gd name="connsiteX14" fmla="*/ 5278 w 6611"/>
              <a:gd name="connsiteY14" fmla="*/ 246 h 6706"/>
              <a:gd name="connsiteX15" fmla="*/ 4417 w 6611"/>
              <a:gd name="connsiteY15" fmla="*/ 31 h 6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0" t="0" r="r" b="b"/>
            <a:pathLst>
              <a:path w="6612" h="6706">
                <a:moveTo>
                  <a:pt x="4417" y="31"/>
                </a:moveTo>
                <a:cubicBezTo>
                  <a:pt x="4275" y="12"/>
                  <a:pt x="4045" y="-31"/>
                  <a:pt x="3525" y="35"/>
                </a:cubicBezTo>
                <a:cubicBezTo>
                  <a:pt x="3006" y="101"/>
                  <a:pt x="2368" y="252"/>
                  <a:pt x="1943" y="444"/>
                </a:cubicBezTo>
                <a:cubicBezTo>
                  <a:pt x="1518" y="636"/>
                  <a:pt x="1206" y="810"/>
                  <a:pt x="850" y="1131"/>
                </a:cubicBezTo>
                <a:cubicBezTo>
                  <a:pt x="494" y="1452"/>
                  <a:pt x="28" y="1938"/>
                  <a:pt x="7" y="2491"/>
                </a:cubicBezTo>
                <a:cubicBezTo>
                  <a:pt x="-27" y="3362"/>
                  <a:pt x="58" y="4271"/>
                  <a:pt x="211" y="4826"/>
                </a:cubicBezTo>
                <a:cubicBezTo>
                  <a:pt x="364" y="5381"/>
                  <a:pt x="482" y="5677"/>
                  <a:pt x="752" y="5937"/>
                </a:cubicBezTo>
                <a:cubicBezTo>
                  <a:pt x="1022" y="6197"/>
                  <a:pt x="1328" y="6417"/>
                  <a:pt x="1926" y="6575"/>
                </a:cubicBezTo>
                <a:cubicBezTo>
                  <a:pt x="2524" y="6733"/>
                  <a:pt x="3366" y="6751"/>
                  <a:pt x="4060" y="6611"/>
                </a:cubicBezTo>
                <a:cubicBezTo>
                  <a:pt x="4755" y="6471"/>
                  <a:pt x="5352" y="6115"/>
                  <a:pt x="5547" y="5965"/>
                </a:cubicBezTo>
                <a:cubicBezTo>
                  <a:pt x="5742" y="5815"/>
                  <a:pt x="6019" y="5562"/>
                  <a:pt x="6120" y="5119"/>
                </a:cubicBezTo>
                <a:cubicBezTo>
                  <a:pt x="6221" y="4677"/>
                  <a:pt x="6140" y="4535"/>
                  <a:pt x="6193" y="4057"/>
                </a:cubicBezTo>
                <a:cubicBezTo>
                  <a:pt x="6221" y="3778"/>
                  <a:pt x="6310" y="3490"/>
                  <a:pt x="6398" y="3222"/>
                </a:cubicBezTo>
                <a:cubicBezTo>
                  <a:pt x="6538" y="2812"/>
                  <a:pt x="6563" y="2596"/>
                  <a:pt x="6599" y="2281"/>
                </a:cubicBezTo>
                <a:cubicBezTo>
                  <a:pt x="6700" y="1390"/>
                  <a:pt x="6184" y="599"/>
                  <a:pt x="5278" y="246"/>
                </a:cubicBezTo>
                <a:cubicBezTo>
                  <a:pt x="5003" y="136"/>
                  <a:pt x="4559" y="50"/>
                  <a:pt x="4417" y="31"/>
                </a:cubicBezTo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pic>
        <p:nvPicPr>
          <p:cNvPr id="7" name="图片 6" descr="D:\工作文件\临时素材\无人机5资源-1@600x-8.png无人机5资源-1@600x-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9"/>
          <a:srcRect l="150" r="150"/>
          <a:stretch>
            <a:fillRect/>
          </a:stretch>
        </p:blipFill>
        <p:spPr>
          <a:xfrm>
            <a:off x="869633" y="1632635"/>
            <a:ext cx="3756560" cy="32614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459009" y="3489968"/>
            <a:ext cx="5890652" cy="1760848"/>
          </a:xfrm>
        </p:spPr>
        <p:txBody>
          <a:bodyPr wrap="square" lIns="0" tIns="0" rIns="0" bIns="0" anchor="t" anchorCtr="0">
            <a:normAutofit/>
          </a:bodyPr>
          <a:lstStyle>
            <a:lvl1pPr algn="l">
              <a:defRPr sz="450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459009" y="2447043"/>
            <a:ext cx="5890652" cy="959770"/>
          </a:xfrm>
          <a:prstGeom prst="roundRect">
            <a:avLst>
              <a:gd name="adj" fmla="val 0"/>
            </a:avLst>
          </a:prstGeom>
          <a:noFill/>
        </p:spPr>
        <p:txBody>
          <a:bodyPr wrap="square" anchor="b" anchorCtr="0">
            <a:noAutofit/>
          </a:bodyPr>
          <a:lstStyle>
            <a:lvl1pPr marL="0" indent="0" algn="l" eaLnBrk="1" fontAlgn="auto" latinLnBrk="0" hangingPunct="1">
              <a:lnSpc>
                <a:spcPct val="100000"/>
              </a:lnSpc>
              <a:spcBef>
                <a:spcPts val="0"/>
              </a:spcBef>
              <a:buNone/>
              <a:defRPr sz="4915" b="1" u="none" strike="noStrike" kern="1200" cap="none" spc="100" normalizeH="0">
                <a:solidFill>
                  <a:schemeClr val="accent1"/>
                </a:solidFill>
                <a:uFillTx/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95071" y="1359050"/>
            <a:ext cx="5322534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169950" y="1359050"/>
            <a:ext cx="5320659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695072" y="1359050"/>
            <a:ext cx="5300317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95072" y="2143689"/>
            <a:ext cx="5300317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3"/>
            </p:custDataLst>
          </p:nvPr>
        </p:nvSpPr>
        <p:spPr>
          <a:xfrm>
            <a:off x="6169950" y="1359050"/>
            <a:ext cx="5327295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4"/>
            </p:custDataLst>
          </p:nvPr>
        </p:nvSpPr>
        <p:spPr>
          <a:xfrm>
            <a:off x="6169950" y="2143689"/>
            <a:ext cx="5327295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071" y="443034"/>
            <a:ext cx="10802173" cy="5815479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1"/>
            </p:custDataLst>
          </p:nvPr>
        </p:nvSpPr>
        <p:spPr>
          <a:xfrm>
            <a:off x="695071" y="1378693"/>
            <a:ext cx="10802173" cy="5757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55" b="0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1"/>
            </p:custDataLst>
          </p:nvPr>
        </p:nvSpPr>
        <p:spPr>
          <a:xfrm>
            <a:off x="6214960" y="937752"/>
            <a:ext cx="5595525" cy="5915283"/>
          </a:xfrm>
          <a:custGeom>
            <a:avLst/>
            <a:gdLst>
              <a:gd name="connsiteX0" fmla="*/ 3604196 w 5597566"/>
              <a:gd name="connsiteY0" fmla="*/ 127 h 5917440"/>
              <a:gd name="connsiteX1" fmla="*/ 5020674 w 5597566"/>
              <a:gd name="connsiteY1" fmla="*/ 776538 h 5917440"/>
              <a:gd name="connsiteX2" fmla="*/ 5376373 w 5597566"/>
              <a:gd name="connsiteY2" fmla="*/ 1444944 h 5917440"/>
              <a:gd name="connsiteX3" fmla="*/ 5557177 w 5597566"/>
              <a:gd name="connsiteY3" fmla="*/ 2184215 h 5917440"/>
              <a:gd name="connsiteX4" fmla="*/ 5545132 w 5597566"/>
              <a:gd name="connsiteY4" fmla="*/ 3578297 h 5917440"/>
              <a:gd name="connsiteX5" fmla="*/ 5202018 w 5597566"/>
              <a:gd name="connsiteY5" fmla="*/ 4624938 h 5917440"/>
              <a:gd name="connsiteX6" fmla="*/ 4250176 w 5597566"/>
              <a:gd name="connsiteY6" fmla="*/ 5603523 h 5917440"/>
              <a:gd name="connsiteX7" fmla="*/ 2275095 w 5597566"/>
              <a:gd name="connsiteY7" fmla="*/ 5916586 h 5917440"/>
              <a:gd name="connsiteX8" fmla="*/ 1243715 w 5597566"/>
              <a:gd name="connsiteY8" fmla="*/ 5698027 h 5917440"/>
              <a:gd name="connsiteX9" fmla="*/ 473239 w 5597566"/>
              <a:gd name="connsiteY9" fmla="*/ 4857811 h 5917440"/>
              <a:gd name="connsiteX10" fmla="*/ 2965 w 5597566"/>
              <a:gd name="connsiteY10" fmla="*/ 3098601 h 5917440"/>
              <a:gd name="connsiteX11" fmla="*/ 230813 w 5597566"/>
              <a:gd name="connsiteY11" fmla="*/ 1734249 h 5917440"/>
              <a:gd name="connsiteX12" fmla="*/ 812883 w 5597566"/>
              <a:gd name="connsiteY12" fmla="*/ 1085274 h 5917440"/>
              <a:gd name="connsiteX13" fmla="*/ 1676967 w 5597566"/>
              <a:gd name="connsiteY13" fmla="*/ 805643 h 5917440"/>
              <a:gd name="connsiteX14" fmla="*/ 2325887 w 5597566"/>
              <a:gd name="connsiteY14" fmla="*/ 463589 h 5917440"/>
              <a:gd name="connsiteX15" fmla="*/ 3063384 w 5597566"/>
              <a:gd name="connsiteY15" fmla="*/ 102968 h 5917440"/>
              <a:gd name="connsiteX16" fmla="*/ 3604196 w 5597566"/>
              <a:gd name="connsiteY16" fmla="*/ 127 h 5917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97566" h="5917440">
                <a:moveTo>
                  <a:pt x="3604196" y="127"/>
                </a:moveTo>
                <a:cubicBezTo>
                  <a:pt x="4143157" y="-6764"/>
                  <a:pt x="4661253" y="268656"/>
                  <a:pt x="5020674" y="776538"/>
                </a:cubicBezTo>
                <a:cubicBezTo>
                  <a:pt x="5168497" y="981494"/>
                  <a:pt x="5331334" y="1331311"/>
                  <a:pt x="5376373" y="1444944"/>
                </a:cubicBezTo>
                <a:cubicBezTo>
                  <a:pt x="5421411" y="1558578"/>
                  <a:pt x="5504481" y="1740109"/>
                  <a:pt x="5557177" y="2184215"/>
                </a:cubicBezTo>
                <a:cubicBezTo>
                  <a:pt x="5609665" y="2627494"/>
                  <a:pt x="5616351" y="3186831"/>
                  <a:pt x="5545132" y="3578297"/>
                </a:cubicBezTo>
                <a:cubicBezTo>
                  <a:pt x="5473912" y="3969764"/>
                  <a:pt x="5394269" y="4263968"/>
                  <a:pt x="5202018" y="4624938"/>
                </a:cubicBezTo>
                <a:cubicBezTo>
                  <a:pt x="5009767" y="4985909"/>
                  <a:pt x="4703629" y="5471999"/>
                  <a:pt x="4250176" y="5603523"/>
                </a:cubicBezTo>
                <a:cubicBezTo>
                  <a:pt x="3536157" y="5811445"/>
                  <a:pt x="2766119" y="5928695"/>
                  <a:pt x="2275095" y="5916586"/>
                </a:cubicBezTo>
                <a:cubicBezTo>
                  <a:pt x="1784072" y="5904476"/>
                  <a:pt x="1514679" y="5867884"/>
                  <a:pt x="1243715" y="5698027"/>
                </a:cubicBezTo>
                <a:cubicBezTo>
                  <a:pt x="972750" y="5528171"/>
                  <a:pt x="727468" y="5320256"/>
                  <a:pt x="473239" y="4857811"/>
                </a:cubicBezTo>
                <a:cubicBezTo>
                  <a:pt x="219012" y="4395366"/>
                  <a:pt x="30316" y="3702028"/>
                  <a:pt x="2965" y="3098601"/>
                </a:cubicBezTo>
                <a:cubicBezTo>
                  <a:pt x="-24592" y="2494347"/>
                  <a:pt x="146889" y="1926640"/>
                  <a:pt x="230813" y="1734249"/>
                </a:cubicBezTo>
                <a:cubicBezTo>
                  <a:pt x="314738" y="1541857"/>
                  <a:pt x="467003" y="1260322"/>
                  <a:pt x="812883" y="1085274"/>
                </a:cubicBezTo>
                <a:cubicBezTo>
                  <a:pt x="1157935" y="910432"/>
                  <a:pt x="1292205" y="948179"/>
                  <a:pt x="1676967" y="805643"/>
                </a:cubicBezTo>
                <a:cubicBezTo>
                  <a:pt x="1902150" y="724878"/>
                  <a:pt x="2122194" y="591756"/>
                  <a:pt x="2325887" y="463589"/>
                </a:cubicBezTo>
                <a:cubicBezTo>
                  <a:pt x="2636399" y="263066"/>
                  <a:pt x="2810049" y="197787"/>
                  <a:pt x="3063384" y="102968"/>
                </a:cubicBezTo>
                <a:cubicBezTo>
                  <a:pt x="3242571" y="36089"/>
                  <a:pt x="3424543" y="2424"/>
                  <a:pt x="3604196" y="12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6" t="-1" r="15418" b="631"/>
          <a:stretch>
            <a:fillRect/>
          </a:stretch>
        </p:blipFill>
        <p:spPr>
          <a:xfrm>
            <a:off x="5988406" y="2504807"/>
            <a:ext cx="5415210" cy="44306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695071" y="1387615"/>
            <a:ext cx="5398706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/>
            </a:lvl1pPr>
          </a:lstStyle>
          <a:p>
            <a:r>
              <a:rPr lang="zh-CN" altLang="en-US" dirty="0"/>
              <a:t>编辑母版标题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07461" y="6437198"/>
            <a:ext cx="2742200" cy="36499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01744" y="3822586"/>
            <a:ext cx="2878950" cy="5793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署名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tags" Target="../tags/tag15.xml"/><Relationship Id="rId18" Type="http://schemas.openxmlformats.org/officeDocument/2006/relationships/tags" Target="../tags/tag20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theme" Target="../theme/theme4.xml"/><Relationship Id="rId17" Type="http://schemas.openxmlformats.org/officeDocument/2006/relationships/tags" Target="../tags/tag19.xml"/><Relationship Id="rId2" Type="http://schemas.openxmlformats.org/officeDocument/2006/relationships/slideLayout" Target="../slideLayouts/slideLayout42.xml"/><Relationship Id="rId16" Type="http://schemas.openxmlformats.org/officeDocument/2006/relationships/tags" Target="../tags/tag18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tags" Target="../tags/tag17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tags" Target="../tags/tag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702" r:id="rId15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文本占位符 2"/>
          <p:cNvSpPr>
            <a:spLocks noGrp="1"/>
          </p:cNvSpPr>
          <p:nvPr>
            <p:ph type="body"/>
          </p:nvPr>
        </p:nvSpPr>
        <p:spPr>
          <a:xfrm>
            <a:off x="609600" y="1638300"/>
            <a:ext cx="10968038" cy="4633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507163"/>
            <a:ext cx="2843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2026/2/1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4013" y="6507163"/>
            <a:ext cx="3859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4425" y="6507163"/>
            <a:ext cx="2843213" cy="3746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94547" y="443034"/>
            <a:ext cx="10796063" cy="71973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95071" y="1366032"/>
            <a:ext cx="10797412" cy="4892796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95071" y="6437198"/>
            <a:ext cx="2885023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  <a:t>2026/2/1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037128" y="6437198"/>
            <a:ext cx="4113300" cy="3649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607461" y="6437198"/>
            <a:ext cx="2883148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8"/>
            </p:custDataLst>
          </p:nvPr>
        </p:nvSpPr>
        <p:spPr>
          <a:xfrm>
            <a:off x="0" y="83165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35990" rtl="0" eaLnBrk="1" latinLnBrk="0" hangingPunct="1">
        <a:lnSpc>
          <a:spcPct val="100000"/>
        </a:lnSpc>
        <a:spcBef>
          <a:spcPct val="0"/>
        </a:spcBef>
        <a:buNone/>
        <a:defRPr sz="327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4315" indent="-234315" algn="l" defTabSz="935990" rtl="0" eaLnBrk="1" latinLnBrk="0" hangingPunct="1">
        <a:lnSpc>
          <a:spcPct val="130000"/>
        </a:lnSpc>
        <a:spcBef>
          <a:spcPct val="205000"/>
        </a:spcBef>
        <a:buFont typeface="Arial" panose="020B0604020202020204" pitchFamily="34" charset="0"/>
        <a:buChar char="•"/>
        <a:defRPr sz="2455" kern="1200">
          <a:solidFill>
            <a:schemeClr val="tx1"/>
          </a:solidFill>
          <a:latin typeface="+mn-lt"/>
          <a:ea typeface="+mn-ea"/>
          <a:cs typeface="+mn-cs"/>
        </a:defRPr>
      </a:lvl1pPr>
      <a:lvl2pPr marL="551180" indent="-21145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17880" indent="-1657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55370" indent="-1530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4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64285" indent="-13017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7492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304292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51091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97891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2pPr>
      <a:lvl3pPr marL="93599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3pPr>
      <a:lvl4pPr marL="140462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4pPr>
      <a:lvl5pPr marL="187261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5pPr>
      <a:lvl6pPr marL="234061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27660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74523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0.xml"/><Relationship Id="rId13" Type="http://schemas.openxmlformats.org/officeDocument/2006/relationships/tags" Target="../tags/tag95.xml"/><Relationship Id="rId18" Type="http://schemas.openxmlformats.org/officeDocument/2006/relationships/slideLayout" Target="../slideLayouts/slideLayout43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12" Type="http://schemas.openxmlformats.org/officeDocument/2006/relationships/tags" Target="../tags/tag94.xml"/><Relationship Id="rId17" Type="http://schemas.openxmlformats.org/officeDocument/2006/relationships/tags" Target="../tags/tag99.xml"/><Relationship Id="rId2" Type="http://schemas.openxmlformats.org/officeDocument/2006/relationships/tags" Target="../tags/tag84.xml"/><Relationship Id="rId16" Type="http://schemas.openxmlformats.org/officeDocument/2006/relationships/tags" Target="../tags/tag98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11" Type="http://schemas.openxmlformats.org/officeDocument/2006/relationships/tags" Target="../tags/tag93.xml"/><Relationship Id="rId5" Type="http://schemas.openxmlformats.org/officeDocument/2006/relationships/tags" Target="../tags/tag87.xml"/><Relationship Id="rId15" Type="http://schemas.openxmlformats.org/officeDocument/2006/relationships/tags" Target="../tags/tag97.xml"/><Relationship Id="rId10" Type="http://schemas.openxmlformats.org/officeDocument/2006/relationships/tags" Target="../tags/tag92.xml"/><Relationship Id="rId4" Type="http://schemas.openxmlformats.org/officeDocument/2006/relationships/tags" Target="../tags/tag86.xml"/><Relationship Id="rId9" Type="http://schemas.openxmlformats.org/officeDocument/2006/relationships/tags" Target="../tags/tag91.xml"/><Relationship Id="rId14" Type="http://schemas.openxmlformats.org/officeDocument/2006/relationships/tags" Target="../tags/tag9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108.xml"/><Relationship Id="rId10" Type="http://schemas.openxmlformats.org/officeDocument/2006/relationships/tags" Target="../tags/tag113.xml"/><Relationship Id="rId4" Type="http://schemas.openxmlformats.org/officeDocument/2006/relationships/tags" Target="../tags/tag107.xml"/><Relationship Id="rId9" Type="http://schemas.openxmlformats.org/officeDocument/2006/relationships/tags" Target="../tags/tag1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tags" Target="../tags/tag116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6" Type="http://schemas.openxmlformats.org/officeDocument/2006/relationships/tags" Target="../tags/tag119.xml"/><Relationship Id="rId5" Type="http://schemas.openxmlformats.org/officeDocument/2006/relationships/tags" Target="../tags/tag118.xml"/><Relationship Id="rId4" Type="http://schemas.openxmlformats.org/officeDocument/2006/relationships/tags" Target="../tags/tag1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tags" Target="../tags/tag122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tags" Target="../tags/tag133.xml"/><Relationship Id="rId1" Type="http://schemas.openxmlformats.org/officeDocument/2006/relationships/tags" Target="../tags/tag13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jpe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0" y="2941638"/>
            <a:ext cx="12187238" cy="1476375"/>
            <a:chOff x="-59690" y="3590200"/>
            <a:chExt cx="12246928" cy="1476406"/>
          </a:xfrm>
        </p:grpSpPr>
        <p:sp>
          <p:nvSpPr>
            <p:cNvPr id="6" name="TextBox 5"/>
            <p:cNvSpPr txBox="1"/>
            <p:nvPr/>
          </p:nvSpPr>
          <p:spPr>
            <a:xfrm>
              <a:off x="-59690" y="3590200"/>
              <a:ext cx="12187238" cy="614058"/>
            </a:xfrm>
            <a:prstGeom prst="rect">
              <a:avLst/>
            </a:prstGeom>
            <a:noFill/>
          </p:spPr>
          <p:txBody>
            <a:bodyPr lIns="122932" tIns="61466" rIns="122932" bIns="61466">
              <a:spAutoFit/>
            </a:bodyPr>
            <a:lstStyle/>
            <a:p>
              <a:pPr marR="0" algn="ctr" defTabSz="914400">
                <a:buClrTx/>
                <a:buSzTx/>
                <a:buFontTx/>
                <a:buNone/>
                <a:defRPr/>
              </a:pPr>
              <a:r>
                <a:rPr kumimoji="0" lang="en-US" altLang="zh-CN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FreeRTOS</a:t>
              </a:r>
              <a:r>
                <a:rPr kumimoji="0" lang="zh-CN" altLang="en-US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核心机制</a:t>
              </a:r>
            </a:p>
          </p:txBody>
        </p:sp>
        <p:sp>
          <p:nvSpPr>
            <p:cNvPr id="18437" name="TextBox 6"/>
            <p:cNvSpPr txBox="1">
              <a:spLocks noChangeArrowheads="1"/>
            </p:cNvSpPr>
            <p:nvPr/>
          </p:nvSpPr>
          <p:spPr bwMode="auto">
            <a:xfrm>
              <a:off x="0" y="4421987"/>
              <a:ext cx="12187238" cy="6446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134" normalizeH="0" baseline="0" noProof="0" dirty="0">
                  <a:ln>
                    <a:noFill/>
                  </a:ln>
                  <a:solidFill>
                    <a:schemeClr val="bg2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仿宋" panose="02010609060101010101" pitchFamily="49" charset="-122"/>
                  <a:ea typeface="仿宋" panose="02010609060101010101" pitchFamily="49" charset="-122"/>
                  <a:cs typeface="+mn-cs"/>
                </a:rPr>
                <a:t>姓名：丰无界</a:t>
              </a:r>
              <a:endParaRPr kumimoji="0" lang="en-US" altLang="zh-CN" sz="1800" b="0" i="0" u="none" strike="noStrike" kern="1200" cap="none" spc="134" normalizeH="0" baseline="0" noProof="0" dirty="0">
                <a:ln>
                  <a:noFill/>
                </a:ln>
                <a:solidFill>
                  <a:schemeClr val="bg2">
                    <a:lumMod val="65000"/>
                    <a:lumOff val="35000"/>
                  </a:schemeClr>
                </a:solidFill>
                <a:effectLst/>
                <a:uLnTx/>
                <a:uFillTx/>
                <a:latin typeface="仿宋" panose="02010609060101010101" pitchFamily="49" charset="-122"/>
                <a:ea typeface="仿宋" panose="02010609060101010101" pitchFamily="49" charset="-122"/>
                <a:cs typeface="+mn-cs"/>
              </a:endParaRP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338138" y="171450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>
                <a:latin typeface="Arial" panose="020B0604020202020204" pitchFamily="34" charset="0"/>
              </a:rPr>
              <a:t>课程目标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93090" y="860425"/>
            <a:ext cx="4062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3090" y="944245"/>
            <a:ext cx="10509885" cy="137365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理解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FreeRTOS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核心机制与底层原理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掌握任务调度、时间管理、同步通信等关键技术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避免常见</a:t>
            </a:r>
            <a:r>
              <a:rPr sz="2000" dirty="0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RTOS </a:t>
            </a: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开发陷阱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solidFill>
                  <a:schemeClr val="bg2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结合实际案例加深理解</a:t>
            </a:r>
            <a:endParaRPr sz="2000" dirty="0">
              <a:solidFill>
                <a:schemeClr val="bg2"/>
              </a:solidFill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837565" y="648335"/>
            <a:ext cx="3763010" cy="1080770"/>
          </a:xfrm>
        </p:spPr>
        <p:txBody>
          <a:bodyPr wrap="square">
            <a:normAutofit/>
          </a:bodyPr>
          <a:lstStyle/>
          <a:p>
            <a:r>
              <a:rPr lang="en-US" spc="300" dirty="0">
                <a:latin typeface="+mj-ea"/>
                <a:sym typeface="+mn-ea"/>
              </a:rPr>
              <a:t>FreeRTOS</a:t>
            </a:r>
            <a:endParaRPr lang="en-US"/>
          </a:p>
        </p:txBody>
      </p:sp>
      <p:sp>
        <p:nvSpPr>
          <p:cNvPr id="6" name="序号"/>
          <p:cNvSpPr txBox="1"/>
          <p:nvPr>
            <p:custDataLst>
              <p:tags r:id="rId3"/>
            </p:custDataLst>
          </p:nvPr>
        </p:nvSpPr>
        <p:spPr>
          <a:xfrm>
            <a:off x="5646564" y="1651310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01.</a:t>
            </a:r>
            <a:endParaRPr lang="zh-CN" alt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" name="项标题"/>
          <p:cNvSpPr txBox="1"/>
          <p:nvPr>
            <p:custDataLst>
              <p:tags r:id="rId4"/>
            </p:custDataLst>
          </p:nvPr>
        </p:nvSpPr>
        <p:spPr>
          <a:xfrm>
            <a:off x="6437948" y="1651310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0000" lnSpcReduction="10000"/>
          </a:bodyPr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RTOS 基本概念</a:t>
            </a:r>
          </a:p>
        </p:txBody>
      </p:sp>
      <p:sp>
        <p:nvSpPr>
          <p:cNvPr id="9" name="序号"/>
          <p:cNvSpPr txBox="1"/>
          <p:nvPr>
            <p:custDataLst>
              <p:tags r:id="rId5"/>
            </p:custDataLst>
          </p:nvPr>
        </p:nvSpPr>
        <p:spPr>
          <a:xfrm>
            <a:off x="5646564" y="2164056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02.</a:t>
            </a:r>
          </a:p>
        </p:txBody>
      </p:sp>
      <p:sp>
        <p:nvSpPr>
          <p:cNvPr id="10" name="项标题"/>
          <p:cNvSpPr txBox="1"/>
          <p:nvPr>
            <p:custDataLst>
              <p:tags r:id="rId6"/>
            </p:custDataLst>
          </p:nvPr>
        </p:nvSpPr>
        <p:spPr>
          <a:xfrm>
            <a:off x="6437948" y="2164056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任务与调度机制</a:t>
            </a:r>
          </a:p>
        </p:txBody>
      </p:sp>
      <p:sp>
        <p:nvSpPr>
          <p:cNvPr id="12" name="序号"/>
          <p:cNvSpPr txBox="1"/>
          <p:nvPr>
            <p:custDataLst>
              <p:tags r:id="rId7"/>
            </p:custDataLst>
          </p:nvPr>
        </p:nvSpPr>
        <p:spPr>
          <a:xfrm>
            <a:off x="5646564" y="2676802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03.</a:t>
            </a:r>
          </a:p>
        </p:txBody>
      </p:sp>
      <p:sp>
        <p:nvSpPr>
          <p:cNvPr id="13" name="项标题"/>
          <p:cNvSpPr txBox="1"/>
          <p:nvPr>
            <p:custDataLst>
              <p:tags r:id="rId8"/>
            </p:custDataLst>
          </p:nvPr>
        </p:nvSpPr>
        <p:spPr>
          <a:xfrm>
            <a:off x="6437948" y="2676802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时间管理</a:t>
            </a:r>
            <a:endParaRPr 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序号"/>
          <p:cNvSpPr txBox="1"/>
          <p:nvPr>
            <p:custDataLst>
              <p:tags r:id="rId9"/>
            </p:custDataLst>
          </p:nvPr>
        </p:nvSpPr>
        <p:spPr>
          <a:xfrm>
            <a:off x="5646564" y="3189548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04.</a:t>
            </a:r>
          </a:p>
        </p:txBody>
      </p:sp>
      <p:sp>
        <p:nvSpPr>
          <p:cNvPr id="16" name="项标题"/>
          <p:cNvSpPr txBox="1"/>
          <p:nvPr>
            <p:custDataLst>
              <p:tags r:id="rId10"/>
            </p:custDataLst>
          </p:nvPr>
        </p:nvSpPr>
        <p:spPr>
          <a:xfrm>
            <a:off x="6437948" y="3189548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CN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内存管理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序号"/>
          <p:cNvSpPr txBox="1"/>
          <p:nvPr>
            <p:custDataLst>
              <p:tags r:id="rId11"/>
            </p:custDataLst>
          </p:nvPr>
        </p:nvSpPr>
        <p:spPr>
          <a:xfrm>
            <a:off x="5646564" y="3702294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05.</a:t>
            </a:r>
          </a:p>
        </p:txBody>
      </p:sp>
      <p:sp>
        <p:nvSpPr>
          <p:cNvPr id="3" name="项标题"/>
          <p:cNvSpPr txBox="1"/>
          <p:nvPr>
            <p:custDataLst>
              <p:tags r:id="rId12"/>
            </p:custDataLst>
          </p:nvPr>
        </p:nvSpPr>
        <p:spPr>
          <a:xfrm>
            <a:off x="6437948" y="3702294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zh-CN" alt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中断管理</a:t>
            </a:r>
          </a:p>
          <a:p>
            <a:pPr>
              <a:lnSpc>
                <a:spcPct val="100000"/>
              </a:lnSpc>
            </a:pP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37948" y="5240533"/>
            <a:ext cx="3955415" cy="43858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lnSpc>
                <a:spcPct val="90000"/>
              </a:lnSpc>
              <a:buClrTx/>
              <a:buSzTx/>
            </a:pPr>
            <a:r>
              <a:rPr 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常见陷阱与调试技巧</a:t>
            </a:r>
          </a:p>
        </p:txBody>
      </p:sp>
      <p:sp>
        <p:nvSpPr>
          <p:cNvPr id="8" name="序号"/>
          <p:cNvSpPr txBox="1"/>
          <p:nvPr>
            <p:custDataLst>
              <p:tags r:id="rId13"/>
            </p:custDataLst>
          </p:nvPr>
        </p:nvSpPr>
        <p:spPr>
          <a:xfrm>
            <a:off x="5646564" y="5240533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08.</a:t>
            </a:r>
          </a:p>
        </p:txBody>
      </p:sp>
      <p:sp>
        <p:nvSpPr>
          <p:cNvPr id="18" name="序号"/>
          <p:cNvSpPr txBox="1"/>
          <p:nvPr>
            <p:custDataLst>
              <p:tags r:id="rId14"/>
            </p:custDataLst>
          </p:nvPr>
        </p:nvSpPr>
        <p:spPr>
          <a:xfrm>
            <a:off x="5646564" y="4727786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07.</a:t>
            </a:r>
          </a:p>
        </p:txBody>
      </p:sp>
      <p:sp>
        <p:nvSpPr>
          <p:cNvPr id="19" name="项标题"/>
          <p:cNvSpPr txBox="1"/>
          <p:nvPr>
            <p:custDataLst>
              <p:tags r:id="rId15"/>
            </p:custDataLst>
          </p:nvPr>
        </p:nvSpPr>
        <p:spPr>
          <a:xfrm>
            <a:off x="6437948" y="4727786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zh-CN" altLang="en-US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低功耗模式</a:t>
            </a:r>
          </a:p>
        </p:txBody>
      </p:sp>
      <p:sp>
        <p:nvSpPr>
          <p:cNvPr id="20" name="序号"/>
          <p:cNvSpPr txBox="1"/>
          <p:nvPr>
            <p:custDataLst>
              <p:tags r:id="rId16"/>
            </p:custDataLst>
          </p:nvPr>
        </p:nvSpPr>
        <p:spPr>
          <a:xfrm>
            <a:off x="5646564" y="4215040"/>
            <a:ext cx="79121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2500" lnSpcReduction="10000"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06.</a:t>
            </a:r>
          </a:p>
        </p:txBody>
      </p:sp>
      <p:sp>
        <p:nvSpPr>
          <p:cNvPr id="21" name="项标题"/>
          <p:cNvSpPr txBox="1"/>
          <p:nvPr>
            <p:custDataLst>
              <p:tags r:id="rId17"/>
            </p:custDataLst>
          </p:nvPr>
        </p:nvSpPr>
        <p:spPr>
          <a:xfrm>
            <a:off x="6437948" y="4215040"/>
            <a:ext cx="4794250" cy="3600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CN" sz="25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任务间通信与同步</a:t>
            </a:r>
            <a:endParaRPr lang="zh-CN" altLang="en-US" sz="25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sym typeface="+mn-ea"/>
              </a:rPr>
              <a:t>RTOS 基本概念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 dirty="0">
                <a:latin typeface="Arial" panose="020B0604020202020204" pitchFamily="34" charset="0"/>
              </a:rPr>
              <a:t>RTOS </a:t>
            </a:r>
            <a:r>
              <a:rPr lang="zh-CN" altLang="en-US" dirty="0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0215" y="964565"/>
            <a:ext cx="89535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RTOS vs </a:t>
            </a:r>
            <a:r>
              <a:rPr lang="zh-CN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其它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实时性的定义：硬实时</a:t>
            </a: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 vs </a:t>
            </a: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软实时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 </a:t>
            </a:r>
            <a:r>
              <a:rPr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架构概览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lang="en-US" sz="2000" dirty="0" err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使用</a:t>
            </a:r>
            <a:endParaRPr sz="200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3D84-0C65-8FD3-8928-F205C0B85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79409A3-F678-6770-176B-4BC4863C234B}"/>
              </a:ext>
            </a:extLst>
          </p:cNvPr>
          <p:cNvSpPr txBox="1"/>
          <p:nvPr/>
        </p:nvSpPr>
        <p:spPr>
          <a:xfrm>
            <a:off x="129843" y="759040"/>
            <a:ext cx="1144369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裸机</a:t>
            </a:r>
            <a:endParaRPr lang="en-US" altLang="zh-CN" sz="1600" i="0" dirty="0">
              <a:solidFill>
                <a:srgbClr val="D92142"/>
              </a:solidFill>
              <a:latin typeface="PingFang SC"/>
              <a:ea typeface="PingFang SC"/>
            </a:endParaRPr>
          </a:p>
          <a:p>
            <a:r>
              <a:rPr lang="zh-CN" altLang="en-US" sz="1600" dirty="0">
                <a:solidFill>
                  <a:schemeClr val="bg2"/>
                </a:solidFill>
              </a:rPr>
              <a:t>主要是采用超级循环系统（前后台系统），应用程序是一个无限的循环，循环中调用相应的函数完成相应的操作，这部分可以看做后台行为；中断服务程序处理异步事件，这部分可以看做是前台行为。后台也可以叫做任务级，前台也叫作中断级。</a:t>
            </a:r>
          </a:p>
          <a:p>
            <a:r>
              <a:rPr lang="zh-CN" altLang="en-US" sz="1600" dirty="0">
                <a:solidFill>
                  <a:schemeClr val="bg2"/>
                </a:solidFill>
              </a:rPr>
              <a:t>前后台系统的编程思路有两种：轮询方式（实时性得不到保障，紧急与非紧急消息不能有效管理）、中断方式（可以保证一定的实时性，紧急消息可以得到响应）。</a:t>
            </a:r>
          </a:p>
        </p:txBody>
      </p:sp>
      <p:pic>
        <p:nvPicPr>
          <p:cNvPr id="1026" name="Picture 2" descr="图片">
            <a:extLst>
              <a:ext uri="{FF2B5EF4-FFF2-40B4-BE49-F238E27FC236}">
                <a16:creationId xmlns:a16="http://schemas.microsoft.com/office/drawing/2014/main" id="{46D8AEE0-CAD4-5049-102F-178FEFAEF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6600" y="1846964"/>
            <a:ext cx="4612574" cy="4936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E08B53C-895B-8D75-E7C2-1868E7AD6CAC}"/>
              </a:ext>
            </a:extLst>
          </p:cNvPr>
          <p:cNvSpPr txBox="1"/>
          <p:nvPr/>
        </p:nvSpPr>
        <p:spPr>
          <a:xfrm>
            <a:off x="223283" y="2507705"/>
            <a:ext cx="6624083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54000">
              <a:lnSpc>
                <a:spcPts val="1875"/>
              </a:lnSpc>
              <a:buNone/>
            </a:pP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采用中断和查询结合的方式可以解决大部分裸机应用，但随着工程的复杂，裸机方式的缺点就暴露出来了：</a:t>
            </a: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必须在中断</a:t>
            </a: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(ISR)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内处理时间关键运算：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ISR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函数变得非常复杂，并且需要很长执行时间。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CN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ISR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嵌套可能产生不可预测的执行时间和堆栈需求。</a:t>
            </a: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超级循环和 </a:t>
            </a: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ISR 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之间的数据交换是通过全局共享变量进行的：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应用程序的程序员必须确保数据一致性。</a:t>
            </a: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超级循环可以与系统计时器轻松同步，但：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如果系统需要多种不同的周期时间，则会很难实现。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超过超级循环周期的耗时函数需要做拆分。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增加软件开销，应用程序难以理解。</a:t>
            </a:r>
          </a:p>
          <a:p>
            <a:pPr indent="254000">
              <a:lnSpc>
                <a:spcPts val="1875"/>
              </a:lnSpc>
              <a:buNone/>
            </a:pPr>
            <a:r>
              <a:rPr lang="en-US" altLang="zh-CN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4.</a:t>
            </a:r>
            <a:r>
              <a:rPr lang="zh-CN" altLang="en-US" sz="1600" b="0" i="0" u="none" strike="noStrike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超级循环使得应用程序变得非常复杂，因此难以扩展：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一个简单的更改就可能产生不可预测的副作用，对这种副作用进行分析非常耗时。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超级循环概念的这些缺点可以通过使用实时操作系统 </a:t>
            </a:r>
            <a:r>
              <a:rPr lang="en-US" altLang="zh-CN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(RTOS) </a:t>
            </a:r>
            <a:r>
              <a:rPr lang="zh-CN" altLang="en-US" sz="16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来解决。</a:t>
            </a:r>
          </a:p>
        </p:txBody>
      </p:sp>
    </p:spTree>
    <p:extLst>
      <p:ext uri="{BB962C8B-B14F-4D97-AF65-F5344CB8AC3E}">
        <p14:creationId xmlns:p14="http://schemas.microsoft.com/office/powerpoint/2010/main" val="348144223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44F3EAC-9C39-2DE1-1F93-E3D25F11B2FF}"/>
              </a:ext>
            </a:extLst>
          </p:cNvPr>
          <p:cNvSpPr txBox="1"/>
          <p:nvPr/>
        </p:nvSpPr>
        <p:spPr>
          <a:xfrm>
            <a:off x="129843" y="759040"/>
            <a:ext cx="1144369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bg2"/>
                </a:solidFill>
              </a:rPr>
              <a:t>RTOS-</a:t>
            </a:r>
            <a:r>
              <a:rPr lang="zh-CN" altLang="en-US" sz="1600" dirty="0">
                <a:solidFill>
                  <a:schemeClr val="bg2"/>
                </a:solidFill>
              </a:rPr>
              <a:t>采用多任务系统可以以上的裸机开发遇到的</a:t>
            </a:r>
            <a:r>
              <a:rPr lang="en-US" altLang="zh-CN" sz="1600" dirty="0">
                <a:solidFill>
                  <a:schemeClr val="bg2"/>
                </a:solidFill>
              </a:rPr>
              <a:t>4</a:t>
            </a:r>
            <a:r>
              <a:rPr lang="zh-CN" altLang="en-US" sz="1600" dirty="0">
                <a:solidFill>
                  <a:schemeClr val="bg2"/>
                </a:solidFill>
              </a:rPr>
              <a:t>大缺点。</a:t>
            </a:r>
            <a:endParaRPr lang="en-US" altLang="zh-CN" sz="1600" dirty="0">
              <a:solidFill>
                <a:schemeClr val="bg2"/>
              </a:solidFill>
            </a:endParaRPr>
          </a:p>
        </p:txBody>
      </p:sp>
      <p:pic>
        <p:nvPicPr>
          <p:cNvPr id="1028" name="Picture 4" descr="图片">
            <a:extLst>
              <a:ext uri="{FF2B5EF4-FFF2-40B4-BE49-F238E27FC236}">
                <a16:creationId xmlns:a16="http://schemas.microsoft.com/office/drawing/2014/main" id="{2E1648CD-5F6A-9337-3197-E39EF731B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981" y="1467643"/>
            <a:ext cx="4600575" cy="408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3F200E7-5D79-855B-AB11-28A3DAFD2AC4}"/>
              </a:ext>
            </a:extLst>
          </p:cNvPr>
          <p:cNvSpPr txBox="1"/>
          <p:nvPr/>
        </p:nvSpPr>
        <p:spPr>
          <a:xfrm>
            <a:off x="129843" y="1258379"/>
            <a:ext cx="6624083" cy="13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54000">
              <a:lnSpc>
                <a:spcPts val="1875"/>
              </a:lnSpc>
            </a:pPr>
            <a:r>
              <a:rPr lang="en-US" altLang="zh-CN" sz="1600" dirty="0">
                <a:solidFill>
                  <a:schemeClr val="bg2"/>
                </a:solidFill>
              </a:rPr>
              <a:t>RTOS</a:t>
            </a:r>
            <a:r>
              <a:rPr lang="zh-CN" altLang="en-US" sz="1600" dirty="0">
                <a:solidFill>
                  <a:schemeClr val="bg2"/>
                </a:solidFill>
              </a:rPr>
              <a:t>的实现重点就在这个</a:t>
            </a:r>
            <a:r>
              <a:rPr lang="en-US" altLang="zh-CN" sz="1600" dirty="0">
                <a:solidFill>
                  <a:schemeClr val="bg2"/>
                </a:solidFill>
              </a:rPr>
              <a:t>OS</a:t>
            </a:r>
            <a:r>
              <a:rPr lang="zh-CN" altLang="en-US" sz="1600" dirty="0">
                <a:solidFill>
                  <a:schemeClr val="bg2"/>
                </a:solidFill>
              </a:rPr>
              <a:t>任务调度器上，调度器的作用就是使用相关的调度算法来决定当前需要执行的任务。</a:t>
            </a:r>
            <a:r>
              <a:rPr lang="en-US" altLang="zh-CN" sz="1600" dirty="0">
                <a:solidFill>
                  <a:schemeClr val="bg2"/>
                </a:solidFill>
              </a:rPr>
              <a:t>FreeRTOS</a:t>
            </a:r>
            <a:r>
              <a:rPr lang="zh-CN" altLang="en-US" sz="1600" dirty="0">
                <a:solidFill>
                  <a:schemeClr val="bg2"/>
                </a:solidFill>
              </a:rPr>
              <a:t>就是一款支持多任务运行的实时操作系统，具有时间片、抢占式和合作式三种调度方式。通过 </a:t>
            </a:r>
            <a:r>
              <a:rPr lang="en-US" altLang="zh-CN" sz="1600" dirty="0">
                <a:solidFill>
                  <a:schemeClr val="bg2"/>
                </a:solidFill>
              </a:rPr>
              <a:t>FreeRTOS </a:t>
            </a:r>
            <a:r>
              <a:rPr lang="zh-CN" altLang="en-US" sz="1600" dirty="0">
                <a:solidFill>
                  <a:schemeClr val="bg2"/>
                </a:solidFill>
              </a:rPr>
              <a:t>实时操作系统可以将程序函数分成独立的任务，并为其提供合理的调度方式。</a:t>
            </a:r>
            <a:endParaRPr lang="zh-CN" altLang="en-US" sz="1600" b="0" i="0" dirty="0">
              <a:solidFill>
                <a:schemeClr val="bg2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9225446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A8CDF-51AA-5A04-4309-49C69340E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片包含 图示&#10;&#10;AI 生成的内容可能不正确。">
            <a:extLst>
              <a:ext uri="{FF2B5EF4-FFF2-40B4-BE49-F238E27FC236}">
                <a16:creationId xmlns:a16="http://schemas.microsoft.com/office/drawing/2014/main" id="{76D5AD40-32D1-48F0-D366-31A00C4964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042" r="28373"/>
          <a:stretch>
            <a:fillRect/>
          </a:stretch>
        </p:blipFill>
        <p:spPr>
          <a:xfrm>
            <a:off x="3776897" y="296421"/>
            <a:ext cx="4828346" cy="2117043"/>
          </a:xfrm>
          <a:prstGeom prst="rect">
            <a:avLst/>
          </a:prstGeom>
        </p:spPr>
      </p:pic>
      <p:pic>
        <p:nvPicPr>
          <p:cNvPr id="8" name="图片 7" descr="图片包含 日历&#10;&#10;AI 生成的内容可能不正确。">
            <a:extLst>
              <a:ext uri="{FF2B5EF4-FFF2-40B4-BE49-F238E27FC236}">
                <a16:creationId xmlns:a16="http://schemas.microsoft.com/office/drawing/2014/main" id="{52152D5A-56A5-3406-9BC7-61141F355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311" y="2703637"/>
            <a:ext cx="9961518" cy="387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85157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顺序执行的前后台系统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755650" y="1348105"/>
            <a:ext cx="3550920" cy="372364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3"/>
          <a:srcRect l="734" b="606"/>
          <a:stretch>
            <a:fillRect/>
          </a:stretch>
        </p:blipFill>
        <p:spPr>
          <a:xfrm>
            <a:off x="4761938" y="1348105"/>
            <a:ext cx="5493385" cy="27076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38848" y="5377498"/>
            <a:ext cx="103422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这种架构的优点是使用简单易于理解，而缺点是每个任务所占的</a:t>
            </a:r>
            <a:r>
              <a:rPr lang="en-US" altLang="zh-CN" sz="1600" b="0" i="0" dirty="0">
                <a:solidFill>
                  <a:schemeClr val="bg2"/>
                </a:solidFill>
                <a:latin typeface="PingFang SC"/>
                <a:ea typeface="PingFang SC"/>
              </a:rPr>
              <a:t>CPU</a:t>
            </a:r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时间过长的话，会导致程序的实时性能差，就比如按键的检测等。</a:t>
            </a: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 dirty="0">
                <a:solidFill>
                  <a:srgbClr val="D92142"/>
                </a:solidFill>
                <a:latin typeface="PingFang SC"/>
                <a:ea typeface="PingFang SC"/>
              </a:rPr>
              <a:t>时间片轮询系统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13460" y="5670550"/>
            <a:ext cx="957453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时间片轮询法相比顺序执行还是有很大优势的，既有顺序执行法的优点，也有操作系统的部分优点。</a:t>
            </a:r>
          </a:p>
        </p:txBody>
      </p:sp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939165" y="1326515"/>
            <a:ext cx="3748405" cy="411988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4"/>
          <a:stretch>
            <a:fillRect/>
          </a:stretch>
        </p:blipFill>
        <p:spPr>
          <a:xfrm>
            <a:off x="5092700" y="2091055"/>
            <a:ext cx="6458585" cy="194437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多任务操作系统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57835" y="5523865"/>
            <a:ext cx="1109281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在一些功能复杂，逻辑控制较为困难的系统中就适合选择多任务操作系统，比如视频监控系统、无人机等等应用场景。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129540" y="1338580"/>
            <a:ext cx="5728970" cy="394144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3"/>
          <a:stretch>
            <a:fillRect/>
          </a:stretch>
        </p:blipFill>
        <p:spPr>
          <a:xfrm>
            <a:off x="5858510" y="1310005"/>
            <a:ext cx="6329045" cy="39147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57835" y="5996305"/>
            <a:ext cx="10925810" cy="5219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0" indent="0" algn="just"/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没有最好的软件架构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(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程序架构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)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，而是只有最合适的。因为在不同的应用场景中适合采用不同的程序设计，而单纯的去比较哪种程序架构是最好的没有什么实际的意义。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RTOS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其它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95617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RTOS：</a:t>
            </a:r>
            <a:r>
              <a:rPr dirty="0" err="1">
                <a:solidFill>
                  <a:srgbClr val="FF0000"/>
                </a:solidFill>
                <a:sym typeface="+mn-ea"/>
              </a:rPr>
              <a:t>多任务、实时调度、可预测性</a:t>
            </a:r>
            <a:r>
              <a:rPr lang="zh-CN" dirty="0">
                <a:solidFill>
                  <a:schemeClr val="bg2"/>
                </a:solidFill>
                <a:ea typeface="宋体" panose="02010600030101010101" pitchFamily="2" charset="-122"/>
                <a:sym typeface="+mn-ea"/>
              </a:rPr>
              <a:t>（任务执行有规律，与及时性的区别）</a:t>
            </a:r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裸机：简单控制，单任务，</a:t>
            </a:r>
            <a:r>
              <a:rPr dirty="0" err="1">
                <a:solidFill>
                  <a:srgbClr val="FF0000"/>
                </a:solidFill>
                <a:sym typeface="+mn-ea"/>
              </a:rPr>
              <a:t>实时性</a:t>
            </a:r>
            <a:r>
              <a:rPr dirty="0" err="1">
                <a:solidFill>
                  <a:schemeClr val="bg2"/>
                </a:solidFill>
                <a:sym typeface="+mn-ea"/>
              </a:rPr>
              <a:t>差</a:t>
            </a:r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>
                <a:solidFill>
                  <a:schemeClr val="bg2"/>
                </a:solidFill>
                <a:sym typeface="+mn-ea"/>
              </a:rPr>
              <a:t>RTOS </a:t>
            </a:r>
            <a:r>
              <a:rPr dirty="0" err="1">
                <a:solidFill>
                  <a:schemeClr val="bg2"/>
                </a:solidFill>
                <a:sym typeface="+mn-ea"/>
              </a:rPr>
              <a:t>是为复杂系统设计，支持硬件抽象层、任务切换与中断管理</a:t>
            </a:r>
            <a:endParaRPr lang="zh-CN" altLang="en-US" dirty="0">
              <a:solidFill>
                <a:schemeClr val="bg2"/>
              </a:solidFill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3885" y="3510915"/>
            <a:ext cx="9728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RTOS vs 裸机的对比：</a:t>
            </a:r>
          </a:p>
          <a:p>
            <a:r>
              <a:rPr>
                <a:solidFill>
                  <a:schemeClr val="bg2"/>
                </a:solidFill>
                <a:sym typeface="+mn-ea"/>
              </a:rPr>
              <a:t>裸机程序需要自己管理所有任务，RTOS 提供调度器和任务管理。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硬实时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软实时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126298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硬实时：任务必须在规定时间内完成，否则系统不可用</a:t>
            </a:r>
            <a:r>
              <a:rPr lang="en-US" dirty="0">
                <a:solidFill>
                  <a:schemeClr val="bg2"/>
                </a:solidFill>
                <a:sym typeface="+mn-ea"/>
              </a:rPr>
              <a:t>    ---</a:t>
            </a:r>
            <a:r>
              <a:rPr dirty="0" err="1">
                <a:solidFill>
                  <a:schemeClr val="bg2"/>
                </a:solidFill>
                <a:sym typeface="+mn-ea"/>
              </a:rPr>
              <a:t>工业控制、汽车刹车系统</a:t>
            </a:r>
            <a:r>
              <a:rPr dirty="0">
                <a:solidFill>
                  <a:schemeClr val="bg2"/>
                </a:solidFill>
                <a:sym typeface="+mn-ea"/>
              </a:rPr>
              <a:t>；</a:t>
            </a: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软实时：任务完成的时间要求较宽松，尽量在规定时间内完成</a:t>
            </a:r>
            <a:r>
              <a:rPr lang="en-US" dirty="0">
                <a:solidFill>
                  <a:schemeClr val="bg2"/>
                </a:solidFill>
                <a:sym typeface="+mn-ea"/>
              </a:rPr>
              <a:t> ---</a:t>
            </a:r>
            <a:r>
              <a:rPr dirty="0" err="1">
                <a:solidFill>
                  <a:schemeClr val="bg2"/>
                </a:solidFill>
                <a:sym typeface="+mn-ea"/>
              </a:rPr>
              <a:t>视频播放、音频处理</a:t>
            </a:r>
            <a:r>
              <a:rPr dirty="0">
                <a:solidFill>
                  <a:schemeClr val="bg2"/>
                </a:solidFill>
                <a:sym typeface="+mn-ea"/>
              </a:rPr>
              <a:t>。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架构概览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FreeRTOS：开源、轻量、广泛应用于嵌入式系统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核心：任务管理、时间管理、同步通信、内存管理、调度器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>
                <a:solidFill>
                  <a:schemeClr val="bg2"/>
                </a:solidFill>
                <a:sym typeface="+mn-ea"/>
              </a:rPr>
              <a:t>可移植层：支持多种硬件架构（STM32、AVR、ARM、PIC）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使用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-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下载代码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44830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dirty="0" err="1">
                <a:solidFill>
                  <a:schemeClr val="bg2"/>
                </a:solidFill>
                <a:sym typeface="+mn-ea"/>
              </a:rPr>
              <a:t>访问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官方网站（https</a:t>
            </a:r>
            <a:r>
              <a:rPr dirty="0">
                <a:solidFill>
                  <a:schemeClr val="bg2"/>
                </a:solidFill>
                <a:sym typeface="+mn-ea"/>
              </a:rPr>
              <a:t>://www.freertos.org）</a:t>
            </a: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或者从</a:t>
            </a:r>
            <a:r>
              <a:rPr dirty="0">
                <a:solidFill>
                  <a:schemeClr val="bg2"/>
                </a:solidFill>
                <a:sym typeface="+mn-ea"/>
              </a:rPr>
              <a:t> GitHub </a:t>
            </a:r>
            <a:r>
              <a:rPr dirty="0" err="1">
                <a:solidFill>
                  <a:schemeClr val="bg2"/>
                </a:solidFill>
                <a:sym typeface="+mn-ea"/>
              </a:rPr>
              <a:t>下载源代码：https</a:t>
            </a:r>
            <a:r>
              <a:rPr dirty="0">
                <a:solidFill>
                  <a:schemeClr val="bg2"/>
                </a:solidFill>
                <a:sym typeface="+mn-ea"/>
              </a:rPr>
              <a:t>://github.com/</a:t>
            </a:r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endParaRPr dirty="0">
              <a:solidFill>
                <a:schemeClr val="bg2"/>
              </a:solidFill>
              <a:sym typeface="+mn-ea"/>
            </a:endParaRPr>
          </a:p>
          <a:p>
            <a:endParaRPr dirty="0">
              <a:solidFill>
                <a:schemeClr val="bg2"/>
              </a:solidFill>
              <a:sym typeface="+mn-ea"/>
            </a:endParaRPr>
          </a:p>
          <a:p>
            <a:r>
              <a:rPr dirty="0" err="1">
                <a:solidFill>
                  <a:schemeClr val="bg2"/>
                </a:solidFill>
                <a:sym typeface="+mn-ea"/>
              </a:rPr>
              <a:t>FreeRTOS</a:t>
            </a:r>
            <a:r>
              <a:rPr dirty="0">
                <a:solidFill>
                  <a:schemeClr val="bg2"/>
                </a:solidFill>
                <a:sym typeface="+mn-ea"/>
              </a:rPr>
              <a:t> </a:t>
            </a:r>
            <a:r>
              <a:rPr dirty="0" err="1">
                <a:solidFill>
                  <a:schemeClr val="bg2"/>
                </a:solidFill>
                <a:sym typeface="+mn-ea"/>
              </a:rPr>
              <a:t>中的</a:t>
            </a:r>
            <a:r>
              <a:rPr lang="zh-CN" dirty="0">
                <a:solidFill>
                  <a:schemeClr val="bg2"/>
                </a:solidFill>
                <a:sym typeface="+mn-ea"/>
              </a:rPr>
              <a:t>部分</a:t>
            </a:r>
            <a:r>
              <a:rPr dirty="0" err="1">
                <a:solidFill>
                  <a:schemeClr val="bg2"/>
                </a:solidFill>
                <a:sym typeface="+mn-ea"/>
              </a:rPr>
              <a:t>功能模块（任务管理、内存管理、通信机制</a:t>
            </a:r>
            <a:r>
              <a:rPr dirty="0">
                <a:solidFill>
                  <a:schemeClr val="bg2"/>
                </a:solidFill>
                <a:sym typeface="+mn-ea"/>
              </a:rPr>
              <a:t>）</a:t>
            </a:r>
            <a:endParaRPr lang="en-US" dirty="0">
              <a:solidFill>
                <a:schemeClr val="bg2"/>
              </a:solidFill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32200"/>
            <a:ext cx="6242685" cy="33896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243" y="3612197"/>
            <a:ext cx="6763102" cy="340931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09365" y="116840"/>
            <a:ext cx="5125085" cy="4210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FreeRTOS 中的各个功能模块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836295"/>
            <a:ext cx="12103100" cy="61863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dirty="0">
                <a:solidFill>
                  <a:schemeClr val="bg2"/>
                </a:solidFill>
                <a:sym typeface="+mn-ea"/>
              </a:rPr>
              <a:t>这些功能模块是设计成可选的，你可以根据实际需求选择性地使用其中的一部分，而不必强制引入所有功能。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1.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任务管理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提供了任务（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Task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）创建、调度、删除、挂起等功能。你可以仅使用任务管理模块来实现基于任务的调度，无需使用其他模块。</a:t>
            </a:r>
            <a:endParaRPr lang="en-US" altLang="zh-CN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2.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内存管理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支持多种内存管理方案（如堆、栈管理）。你可以选择是否使用它的内存分配功能，比如你可以选择自己编写内存管理代码，或者直接使用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提供的堆内存分配器。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3. 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时间管理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：提供系统节拍计数、支持任务延时、软件定时机制，让任务可以基于时间进行调度或周期性执行，满足实时性需求。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4.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调度器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：根据任务优先级选择下一个运行的任务、支持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抢占式调度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和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时间片轮转调度、提供任务切换机制（上下文切换）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5.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任务间通信机制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提供了多个通信机制，如消息队列、信号量、互斥量、事件组、消息流缓冲区等。这些模块可以独立于任务管理使用。你可以在任务间使用这些通信机制，但如果你的系统中不需要任务间通信，你完全可以选择不使用这些功能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6.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中断管理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：提供与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ISR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（中断服务例程）的交互接口（带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FromISR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后缀的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API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）支持中断触发任务切换临界区管理（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taskENTER_CRITICAL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/ </a:t>
            </a:r>
            <a:r>
              <a:rPr lang="en-US" altLang="zh-CN" dirty="0" err="1">
                <a:solidFill>
                  <a:schemeClr val="bg2"/>
                </a:solidFill>
                <a:sym typeface="+mn-ea"/>
              </a:rPr>
              <a:t>taskEXIT_CRITICAL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）防止竞态条件，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将硬件中断与实时任务系统无缝结合，保证响应实时性</a:t>
            </a:r>
          </a:p>
          <a:p>
            <a:pPr marL="0" lvl="1" indent="0"/>
            <a:r>
              <a:rPr lang="en-US" altLang="zh-CN" b="1" dirty="0">
                <a:solidFill>
                  <a:schemeClr val="bg2"/>
                </a:solidFill>
                <a:sym typeface="+mn-ea"/>
              </a:rPr>
              <a:t>7.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钩子</a:t>
            </a:r>
            <a:r>
              <a:rPr lang="en-US" altLang="zh-CN" b="1" dirty="0">
                <a:solidFill>
                  <a:schemeClr val="bg2"/>
                </a:solidFill>
                <a:sym typeface="+mn-ea"/>
              </a:rPr>
              <a:t>/</a:t>
            </a:r>
            <a:r>
              <a:rPr lang="zh-CN" altLang="en-US" b="1" dirty="0">
                <a:solidFill>
                  <a:schemeClr val="bg2"/>
                </a:solidFill>
                <a:sym typeface="+mn-ea"/>
              </a:rPr>
              <a:t>回调函数：</a:t>
            </a:r>
            <a:r>
              <a:rPr lang="zh-CN" altLang="en-US" sz="1800" dirty="0">
                <a:solidFill>
                  <a:schemeClr val="bg2"/>
                </a:solidFill>
                <a:sym typeface="+mn-ea"/>
              </a:rPr>
              <a:t>Idle Hook：在系统空闲时执行用户代码（如省电操作）、Tick Hook：在每个系统节拍中执行用户代码</a:t>
            </a:r>
          </a:p>
          <a:p>
            <a:pPr marL="0" lvl="1" indent="0"/>
            <a:r>
              <a:rPr lang="zh-CN" altLang="en-US" sz="1800" dirty="0">
                <a:solidFill>
                  <a:schemeClr val="bg2"/>
                </a:solidFill>
                <a:sym typeface="+mn-ea"/>
              </a:rPr>
              <a:t>Malloc Failed Hook：内存分配失败时触发、Stack Overflow Hook：任务栈溢出时触发，提供用户自定义扩展机制，增强系统健壮性和可调试性。</a:t>
            </a:r>
            <a:endParaRPr lang="en-US" altLang="zh-CN" sz="1800" dirty="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zh-CN" altLang="en-US" dirty="0">
                <a:solidFill>
                  <a:schemeClr val="bg2"/>
                </a:solidFill>
                <a:sym typeface="+mn-ea"/>
              </a:rPr>
              <a:t>假设你只需要使用任务调度功能来并行执行一些任务，那么你可以只开启任务管理相关的功能，而不需要使用</a:t>
            </a:r>
            <a:r>
              <a:rPr lang="en-US" altLang="zh-CN" dirty="0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 dirty="0">
                <a:solidFill>
                  <a:schemeClr val="bg2"/>
                </a:solidFill>
                <a:sym typeface="+mn-ea"/>
              </a:rPr>
              <a:t>的内存管理和通信机制。相反，如果你的应用程序中不需要多个任务并发，只需要通信机制来同步不同硬件或组件的状态，也可以仅引入信号量或消息队列模块。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FreeRTOS 使用 - STM32 生成代码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455420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使用 STM32CubeMX 配置 FreeRTOS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在 STM32CubeMX 中启用 FreeRTOS，配置任务、堆栈大小、优先级等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生成代码后，使用 Keil 或 STM32CubeIDE 编译和调试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24530"/>
            <a:ext cx="6735445" cy="32442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195" y="3224530"/>
            <a:ext cx="5639435" cy="35115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28283" y="786765"/>
            <a:ext cx="5657850" cy="54483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altLang="en-US">
                <a:solidFill>
                  <a:srgbClr val="D92142"/>
                </a:solidFill>
                <a:latin typeface="PingFang SC"/>
                <a:ea typeface="PingFang SC"/>
                <a:sym typeface="+mn-ea"/>
              </a:rPr>
              <a:t>任务与调度机制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任务与调度机制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</a:t>
            </a:r>
            <a:r>
              <a:rPr b="1">
                <a:sym typeface="+mn-ea"/>
              </a:rPr>
              <a:t>创建</a:t>
            </a:r>
            <a:r>
              <a:rPr>
                <a:sym typeface="+mn-ea"/>
              </a:rPr>
              <a:t>与</a:t>
            </a:r>
            <a:r>
              <a:rPr b="1">
                <a:sym typeface="+mn-ea"/>
              </a:rPr>
              <a:t>删除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优先级与调度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任务状态转换</a:t>
            </a:r>
            <a:r>
              <a:rPr b="1">
                <a:sym typeface="+mn-ea"/>
              </a:rPr>
              <a:t>（就绪、运行、阻塞、挂起）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93228" y="149860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，任务创建和删除的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2088515" y="26177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4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动态方式创建任务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静态方式创建任务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vTaskDelete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删除任务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22" name="文本框 6"/>
          <p:cNvSpPr txBox="1"/>
          <p:nvPr/>
        </p:nvSpPr>
        <p:spPr>
          <a:xfrm>
            <a:off x="2078990" y="2119313"/>
            <a:ext cx="4313238" cy="3063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任务的创建和删除本质就是调用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</a:p>
        </p:txBody>
      </p:sp>
      <p:sp>
        <p:nvSpPr>
          <p:cNvPr id="9" name="矩形: 圆角 8"/>
          <p:cNvSpPr/>
          <p:nvPr/>
        </p:nvSpPr>
        <p:spPr>
          <a:xfrm>
            <a:off x="2078990" y="44783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动态创建任务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088515" y="5062538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静态创建任务</a:t>
            </a:r>
          </a:p>
        </p:txBody>
      </p:sp>
      <p:sp>
        <p:nvSpPr>
          <p:cNvPr id="4125" name="文本框 27"/>
          <p:cNvSpPr txBox="1"/>
          <p:nvPr/>
        </p:nvSpPr>
        <p:spPr>
          <a:xfrm>
            <a:off x="3539490" y="4295775"/>
            <a:ext cx="5705475" cy="6302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任务的任务控制块以及任务的栈空间所需的内存，均由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 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26" name="文本框 28"/>
          <p:cNvSpPr txBox="1"/>
          <p:nvPr/>
        </p:nvSpPr>
        <p:spPr>
          <a:xfrm>
            <a:off x="3539490" y="5021263"/>
            <a:ext cx="5705475" cy="3492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任务的任务控制块以及任务的栈空间所需的内存，需用户分配提供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9" grpId="0" bldLvl="0" animBg="1"/>
      <p:bldP spid="27" grpId="0" bldLvl="0" animBg="1"/>
      <p:bldP spid="4125" grpId="0"/>
      <p:bldP spid="41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542098" y="120015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动态创建任务函数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462280" y="1865630"/>
            <a:ext cx="11603990" cy="31032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BaseType_t xTaskCreate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b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TaskFunction_t 				pxTaskCode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指向任务函数的指针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		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	</a:t>
            </a:r>
            <a:b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char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pcName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任务名字，最大长度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configMAX_TASK_NAME_LEN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configSTACK_DEPTH_TYPE 		usStackDepth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任务堆栈大小，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注意字为单位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void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	pvParameters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传递给任务函数的参数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UBaseType_t 					uxPriority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任务优先级，范围：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0 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~ configMAX_PRIORITIES 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- 1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TaskHandle_t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pxCreatedTask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任务句柄，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就是任务的任务控制块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)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627823" y="5104130"/>
          <a:ext cx="6742112" cy="103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pdPASS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任务创建成功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2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errCOULD_NOT_ALLOCATE_REQUIRED_MEMORY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任务创建失败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178435" y="1865630"/>
            <a:ext cx="11379200" cy="310324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2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792605" y="1386840"/>
            <a:ext cx="4619625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实现动态创建任务流程</a:t>
            </a:r>
          </a:p>
        </p:txBody>
      </p:sp>
      <p:sp>
        <p:nvSpPr>
          <p:cNvPr id="2" name="矩形: 圆角 1"/>
          <p:cNvSpPr/>
          <p:nvPr/>
        </p:nvSpPr>
        <p:spPr>
          <a:xfrm>
            <a:off x="1854518" y="395859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、申请堆栈内存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任务控制块内存</a:t>
            </a:r>
          </a:p>
        </p:txBody>
      </p:sp>
      <p:sp>
        <p:nvSpPr>
          <p:cNvPr id="13" name="矩形: 圆角 12"/>
          <p:cNvSpPr/>
          <p:nvPr/>
        </p:nvSpPr>
        <p:spPr>
          <a:xfrm>
            <a:off x="1854518" y="44221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1854518" y="489680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</a:p>
        </p:txBody>
      </p:sp>
      <p:sp>
        <p:nvSpPr>
          <p:cNvPr id="19" name="矩形: 圆角 18"/>
          <p:cNvSpPr/>
          <p:nvPr/>
        </p:nvSpPr>
        <p:spPr>
          <a:xfrm>
            <a:off x="1854518" y="25679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1854518" y="298545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</a:p>
        </p:txBody>
      </p:sp>
      <p:sp>
        <p:nvSpPr>
          <p:cNvPr id="3" name="右大括号 2"/>
          <p:cNvSpPr/>
          <p:nvPr/>
        </p:nvSpPr>
        <p:spPr>
          <a:xfrm>
            <a:off x="6083618" y="2048828"/>
            <a:ext cx="257175" cy="1309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159" name="文本框 6"/>
          <p:cNvSpPr txBox="1"/>
          <p:nvPr/>
        </p:nvSpPr>
        <p:spPr>
          <a:xfrm>
            <a:off x="6412230" y="2566353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用起来只需这三步</a:t>
            </a:r>
          </a:p>
        </p:txBody>
      </p:sp>
      <p:sp>
        <p:nvSpPr>
          <p:cNvPr id="20" name="右大括号 19"/>
          <p:cNvSpPr/>
          <p:nvPr/>
        </p:nvSpPr>
        <p:spPr>
          <a:xfrm>
            <a:off x="6062980" y="3945890"/>
            <a:ext cx="298450" cy="13160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 flipH="1">
            <a:off x="1792605" y="20504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 flipH="1">
            <a:off x="1854518" y="33585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H="1">
            <a:off x="1771968" y="3945890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H="1">
            <a:off x="1792605" y="5261928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165" name="文本框 24"/>
          <p:cNvSpPr txBox="1"/>
          <p:nvPr/>
        </p:nvSpPr>
        <p:spPr>
          <a:xfrm>
            <a:off x="6370955" y="4465003"/>
            <a:ext cx="20320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动态创建任务函数内部实现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1771968" y="3523615"/>
            <a:ext cx="49196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854518" y="2150428"/>
            <a:ext cx="42291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configSUPPORT_DYNAMIC_ALLOCATION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  <p:bldP spid="13" grpId="0" bldLvl="0" animBg="1"/>
      <p:bldP spid="14" grpId="0" bldLvl="0" animBg="1"/>
      <p:bldP spid="19" grpId="0" bldLvl="0" animBg="1"/>
      <p:bldP spid="16" grpId="0" bldLvl="0" animBg="1"/>
      <p:bldP spid="3" grpId="0" bldLvl="0" animBg="1"/>
      <p:bldP spid="6159" grpId="0"/>
      <p:bldP spid="20" grpId="0" bldLvl="0" animBg="1"/>
      <p:bldP spid="6165" grpId="0"/>
      <p:bldP spid="26" grpId="0"/>
      <p:bldP spid="27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1808163" y="64579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任务控制块结构体成员介绍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5"/>
          <p:cNvSpPr txBox="1"/>
          <p:nvPr/>
        </p:nvSpPr>
        <p:spPr>
          <a:xfrm>
            <a:off x="417830" y="1105535"/>
            <a:ext cx="11677015" cy="323342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typedef </a:t>
            </a:r>
            <a:r>
              <a:rPr lang="en-US" altLang="zh-CN" sz="1200" dirty="0">
                <a:solidFill>
                  <a:srgbClr val="0000FF"/>
                </a:solidFill>
                <a:latin typeface="CourierNewPSMT"/>
                <a:ea typeface="等线" panose="02010600030101010101" pitchFamily="2" charset="-122"/>
              </a:rPr>
              <a:t>struct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tskTaskControlBlock       </a:t>
            </a: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{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volatile StackType_t 		* pxTopOfStack;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任务栈栈顶，必须为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TCB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的第一个成员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	ListItem_t 			xStateListItem;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任务状态列表项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 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ListItem_t 			xEventListItem;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任务事件列表项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UBaseType_t 			uxPriority;     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任务优先级，数值越大，优先级越大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StackType_t 			* pxStack;	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任务栈起始地址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char 				pcTaskName[ configMAX_TASK_NAME_LEN ];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	…</a:t>
            </a: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省略很多条件编译的成员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} tskTCB;</a:t>
            </a:r>
          </a:p>
        </p:txBody>
      </p:sp>
      <p:sp>
        <p:nvSpPr>
          <p:cNvPr id="7178" name="文本框 1"/>
          <p:cNvSpPr txBox="1"/>
          <p:nvPr/>
        </p:nvSpPr>
        <p:spPr>
          <a:xfrm>
            <a:off x="1808163" y="5892165"/>
            <a:ext cx="46736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注意：每个任务都有属于自己的任务控制块，类似身份证</a:t>
            </a:r>
          </a:p>
        </p:txBody>
      </p:sp>
      <p:sp>
        <p:nvSpPr>
          <p:cNvPr id="7179" name="文本框 2"/>
          <p:cNvSpPr txBox="1"/>
          <p:nvPr/>
        </p:nvSpPr>
        <p:spPr>
          <a:xfrm>
            <a:off x="1808163" y="5474653"/>
            <a:ext cx="53911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任务栈栈顶，在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任务切换时的任务上下文保存、任务恢复息息相关</a:t>
            </a:r>
          </a:p>
        </p:txBody>
      </p:sp>
      <p:sp>
        <p:nvSpPr>
          <p:cNvPr id="2" name="矩形 1"/>
          <p:cNvSpPr/>
          <p:nvPr/>
        </p:nvSpPr>
        <p:spPr>
          <a:xfrm>
            <a:off x="227330" y="1104900"/>
            <a:ext cx="11754485" cy="400240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178" grpId="0"/>
      <p:bldP spid="7179" grpId="0"/>
      <p:bldP spid="2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0" name="文本框 9"/>
          <p:cNvSpPr txBox="1"/>
          <p:nvPr/>
        </p:nvSpPr>
        <p:spPr>
          <a:xfrm>
            <a:off x="1784033" y="752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603058" y="1289050"/>
            <a:ext cx="8359775" cy="247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xTaskCreateStatic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(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TaskFunction_t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pxTaskCode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指向任务函数的指针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char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pcName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任务函数名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uint32_t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ulStackDepth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任务堆栈大小</a:t>
            </a:r>
            <a:r>
              <a:rPr kumimoji="0" lang="zh-CN" altLang="en-US" sz="1200" kern="1200" cap="none" spc="0" normalizeH="0" baseline="0" noProof="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  <a:cs typeface="+mn-cs"/>
              </a:rPr>
              <a:t>注意字为单位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pvParameters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传递的任务函数参数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UBaseType_t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uxPriority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任务优先级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StackType_t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puxStackBuffer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任务堆栈，一般为数组，由用户分配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StaticTask_t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	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pxTaskBuffer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	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任务控制块指针，由用户分配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); 		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15" name="表格 9"/>
          <p:cNvGraphicFramePr>
            <a:graphicFrameLocks noGrp="1"/>
          </p:cNvGraphicFramePr>
          <p:nvPr/>
        </p:nvGraphicFramePr>
        <p:xfrm>
          <a:off x="1922145" y="3910013"/>
          <a:ext cx="6742114" cy="920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30">
                <a:tc>
                  <a:txBody>
                    <a:bodyPr/>
                    <a:lstStyle/>
                    <a:p>
                      <a:pPr indent="255905" algn="l"/>
                      <a:r>
                        <a:rPr lang="en-US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用户没有提供相应的内存，任务创建失败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259"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任务句柄，任务创建成功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784033" y="1358900"/>
            <a:ext cx="7583488" cy="240030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bldLvl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818005" y="139509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静态创建任务使用流程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1922780" y="29127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、实现两个接口函数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1913255" y="248253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、定义空闲任务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定时器任务的任务堆栈及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5423218" y="2776220"/>
            <a:ext cx="204788" cy="506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8" name="文本框 24"/>
          <p:cNvSpPr txBox="1"/>
          <p:nvPr/>
        </p:nvSpPr>
        <p:spPr>
          <a:xfrm>
            <a:off x="5724843" y="2665095"/>
            <a:ext cx="29511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vApplicationGetIdleTaskMemory( )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229" name="文本框 25"/>
          <p:cNvSpPr txBox="1"/>
          <p:nvPr/>
        </p:nvSpPr>
        <p:spPr>
          <a:xfrm>
            <a:off x="5723255" y="3047683"/>
            <a:ext cx="29591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vApplicationGetTimerTaskMemory ( 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867218" y="4233545"/>
            <a:ext cx="5978525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1930718" y="3774758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</a:p>
        </p:txBody>
      </p:sp>
      <p:sp>
        <p:nvSpPr>
          <p:cNvPr id="25" name="矩形: 圆角 24"/>
          <p:cNvSpPr/>
          <p:nvPr/>
        </p:nvSpPr>
        <p:spPr>
          <a:xfrm>
            <a:off x="1930718" y="4643120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1930718" y="514318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1913255" y="33445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</a:p>
        </p:txBody>
      </p:sp>
      <p:sp>
        <p:nvSpPr>
          <p:cNvPr id="7" name="右大括号 6"/>
          <p:cNvSpPr/>
          <p:nvPr/>
        </p:nvSpPr>
        <p:spPr>
          <a:xfrm>
            <a:off x="8533130" y="2025333"/>
            <a:ext cx="373063" cy="2111375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1913255" y="2025333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>
            <a:off x="1965643" y="4136708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38" name="文本框 29"/>
          <p:cNvSpPr txBox="1"/>
          <p:nvPr/>
        </p:nvSpPr>
        <p:spPr>
          <a:xfrm>
            <a:off x="8871268" y="2942908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用起来只需这五步</a:t>
            </a:r>
          </a:p>
        </p:txBody>
      </p:sp>
      <p:sp>
        <p:nvSpPr>
          <p:cNvPr id="31" name="右大括号 30"/>
          <p:cNvSpPr/>
          <p:nvPr/>
        </p:nvSpPr>
        <p:spPr>
          <a:xfrm>
            <a:off x="8533130" y="4581208"/>
            <a:ext cx="395288" cy="893763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>
            <a:off x="1913255" y="4585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1913255" y="5474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42" name="文本框 33"/>
          <p:cNvSpPr txBox="1"/>
          <p:nvPr/>
        </p:nvSpPr>
        <p:spPr>
          <a:xfrm>
            <a:off x="8871268" y="4882833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静态创建内部实现</a:t>
            </a:r>
          </a:p>
        </p:txBody>
      </p:sp>
      <p:sp>
        <p:nvSpPr>
          <p:cNvPr id="35" name="矩形: 圆角 34"/>
          <p:cNvSpPr/>
          <p:nvPr/>
        </p:nvSpPr>
        <p:spPr>
          <a:xfrm>
            <a:off x="1908493" y="2052320"/>
            <a:ext cx="424021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、需将宏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configSUPPORT_STATIC_ALLOCATION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  <p:bldP spid="24" grpId="0" bldLvl="0" animBg="1"/>
      <p:bldP spid="2" grpId="0" bldLvl="0" animBg="1"/>
      <p:bldP spid="9228" grpId="0"/>
      <p:bldP spid="9229" grpId="0"/>
      <p:bldP spid="19" grpId="0"/>
      <p:bldP spid="23" grpId="0" bldLvl="0" animBg="1"/>
      <p:bldP spid="25" grpId="0" bldLvl="0" animBg="1"/>
      <p:bldP spid="26" grpId="0" bldLvl="0" animBg="1"/>
      <p:bldP spid="27" grpId="0" bldLvl="0" animBg="1"/>
      <p:bldP spid="7" grpId="0" bldLvl="0" animBg="1"/>
      <p:bldP spid="9238" grpId="0"/>
      <p:bldP spid="31" grpId="0" bldLvl="0" animBg="1"/>
      <p:bldP spid="9242" grpId="0"/>
      <p:bldP spid="35" grpId="0" bldLvl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892618" y="140398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任务删除函数</a:t>
            </a:r>
          </a:p>
        </p:txBody>
      </p:sp>
      <p:sp>
        <p:nvSpPr>
          <p:cNvPr id="9225" name="文本框 13"/>
          <p:cNvSpPr txBox="1">
            <a:spLocks noChangeArrowheads="1"/>
          </p:cNvSpPr>
          <p:nvPr/>
        </p:nvSpPr>
        <p:spPr bwMode="auto">
          <a:xfrm>
            <a:off x="1556068" y="2015173"/>
            <a:ext cx="6873875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255905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vTaskDelete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(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xTaskToDelete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);</a:t>
            </a:r>
            <a:endParaRPr kumimoji="0" lang="zh-CN" altLang="zh-CN" sz="1400" b="0" i="0" u="none" strike="noStrike" kern="1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3" name="表格 6"/>
          <p:cNvGraphicFramePr>
            <a:graphicFrameLocks noGrp="1"/>
          </p:cNvGraphicFramePr>
          <p:nvPr/>
        </p:nvGraphicFramePr>
        <p:xfrm>
          <a:off x="1892618" y="2491423"/>
          <a:ext cx="6096000" cy="741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zh-CN" altLang="en-US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en-US" sz="12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xTaskToDelete</a:t>
                      </a:r>
                      <a:endParaRPr lang="zh-CN" sz="12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2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待删除任务的任务句柄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1892618" y="3693160"/>
            <a:ext cx="7413625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被删除的任务将从就绪态任务列表、阻塞态任务列表、挂起态任务列表和事件列表中移除</a:t>
            </a:r>
            <a:endParaRPr kumimoji="0" lang="zh-CN" altLang="en-US" sz="14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92618" y="3315335"/>
            <a:ext cx="2749550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用于删除已被创建的任务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3" name="文本框 8"/>
          <p:cNvSpPr txBox="1"/>
          <p:nvPr/>
        </p:nvSpPr>
        <p:spPr>
          <a:xfrm>
            <a:off x="1892618" y="4109085"/>
            <a:ext cx="544512" cy="3063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1892618" y="4340860"/>
            <a:ext cx="59150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1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、当传入的参数为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，则代表删除任务自身（当前正在运行的任务）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5" name="文本框 25"/>
          <p:cNvSpPr txBox="1"/>
          <p:nvPr/>
        </p:nvSpPr>
        <p:spPr>
          <a:xfrm>
            <a:off x="1892618" y="4742498"/>
            <a:ext cx="8428037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、空闲任务会负责释放被删除任务中由系统分配的内存，但是由用户在任务删除前申请的内存， 则需要由用户在任务被删除前提前释放，否则将导致内存泄露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9" grpId="0"/>
      <p:bldP spid="23" grpId="0"/>
      <p:bldP spid="10263" grpId="0"/>
      <p:bldP spid="25" grpId="0"/>
      <p:bldP spid="1026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2" name="文本框 9"/>
          <p:cNvSpPr txBox="1"/>
          <p:nvPr/>
        </p:nvSpPr>
        <p:spPr>
          <a:xfrm>
            <a:off x="1619885" y="14732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删除任务流程</a:t>
            </a:r>
          </a:p>
        </p:txBody>
      </p:sp>
      <p:sp>
        <p:nvSpPr>
          <p:cNvPr id="11273" name="文本框 13"/>
          <p:cNvSpPr txBox="1"/>
          <p:nvPr/>
        </p:nvSpPr>
        <p:spPr>
          <a:xfrm>
            <a:off x="1619885" y="2149475"/>
            <a:ext cx="479425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、使用删除任务函数，需将宏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INCLUDE_vTaskDelete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1637348" y="3851275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、将被删除任务，移除所在列表</a:t>
            </a:r>
          </a:p>
        </p:txBody>
      </p:sp>
      <p:sp>
        <p:nvSpPr>
          <p:cNvPr id="21" name="矩形: 圆角 20"/>
          <p:cNvSpPr/>
          <p:nvPr/>
        </p:nvSpPr>
        <p:spPr>
          <a:xfrm>
            <a:off x="1637348" y="4443413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、判断所需要删除的任务</a:t>
            </a:r>
          </a:p>
        </p:txBody>
      </p:sp>
      <p:sp>
        <p:nvSpPr>
          <p:cNvPr id="22" name="矩形: 圆角 21"/>
          <p:cNvSpPr/>
          <p:nvPr/>
        </p:nvSpPr>
        <p:spPr>
          <a:xfrm>
            <a:off x="1627823" y="5035550"/>
            <a:ext cx="2505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、更新下个任务的阻塞时间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1637348" y="3259138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、获取所要删除任务的控制块</a:t>
            </a:r>
          </a:p>
        </p:txBody>
      </p:sp>
      <p:sp>
        <p:nvSpPr>
          <p:cNvPr id="11278" name="文本框 24"/>
          <p:cNvSpPr txBox="1"/>
          <p:nvPr/>
        </p:nvSpPr>
        <p:spPr>
          <a:xfrm>
            <a:off x="4140835" y="3286125"/>
            <a:ext cx="509587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通过传入的任务句柄，判断所需要删除哪个任务，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代表删除自身</a:t>
            </a:r>
          </a:p>
        </p:txBody>
      </p:sp>
      <p:sp>
        <p:nvSpPr>
          <p:cNvPr id="11279" name="文本框 25"/>
          <p:cNvSpPr txBox="1"/>
          <p:nvPr/>
        </p:nvSpPr>
        <p:spPr>
          <a:xfrm>
            <a:off x="4140835" y="3868738"/>
            <a:ext cx="4965700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将该任务在所在列表中移除，包括：就绪、阻塞、挂起、事件等列表</a:t>
            </a:r>
          </a:p>
        </p:txBody>
      </p:sp>
      <p:sp>
        <p:nvSpPr>
          <p:cNvPr id="11280" name="文本框 25"/>
          <p:cNvSpPr txBox="1"/>
          <p:nvPr/>
        </p:nvSpPr>
        <p:spPr>
          <a:xfrm>
            <a:off x="4299585" y="4314825"/>
            <a:ext cx="4964113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删除任务自身，需先添加到等待删除列表，内存释放将在空闲任务执行</a:t>
            </a:r>
          </a:p>
        </p:txBody>
      </p:sp>
      <p:sp>
        <p:nvSpPr>
          <p:cNvPr id="11281" name="文本框 22"/>
          <p:cNvSpPr txBox="1"/>
          <p:nvPr/>
        </p:nvSpPr>
        <p:spPr>
          <a:xfrm>
            <a:off x="4299585" y="4656138"/>
            <a:ext cx="4618038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删除其他任务，释放内存，任务数量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--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4140835" y="4400550"/>
            <a:ext cx="158750" cy="4191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3" name="文本框 25"/>
          <p:cNvSpPr txBox="1"/>
          <p:nvPr/>
        </p:nvSpPr>
        <p:spPr>
          <a:xfrm>
            <a:off x="4129723" y="5011738"/>
            <a:ext cx="5562600" cy="3413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更新下一个任务的阻塞超时时间，以防被删除的任务就是下一个阻塞超时的任务 </a:t>
            </a:r>
          </a:p>
        </p:txBody>
      </p:sp>
      <p:sp>
        <p:nvSpPr>
          <p:cNvPr id="8" name="右大括号 7"/>
          <p:cNvSpPr/>
          <p:nvPr/>
        </p:nvSpPr>
        <p:spPr>
          <a:xfrm>
            <a:off x="6102985" y="2116138"/>
            <a:ext cx="220663" cy="668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5" name="文本框 13"/>
          <p:cNvSpPr txBox="1"/>
          <p:nvPr/>
        </p:nvSpPr>
        <p:spPr>
          <a:xfrm>
            <a:off x="1627823" y="2547938"/>
            <a:ext cx="4535487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、入口参数输入需要删除的任务句柄（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代表删除本身）</a:t>
            </a:r>
          </a:p>
        </p:txBody>
      </p:sp>
      <p:cxnSp>
        <p:nvCxnSpPr>
          <p:cNvPr id="10" name="直接连接符 9"/>
          <p:cNvCxnSpPr/>
          <p:nvPr/>
        </p:nvCxnSpPr>
        <p:spPr>
          <a:xfrm flipH="1" flipV="1">
            <a:off x="1619885" y="2116138"/>
            <a:ext cx="4533900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627823" y="2782888"/>
            <a:ext cx="4535488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右大括号 28"/>
          <p:cNvSpPr/>
          <p:nvPr/>
        </p:nvSpPr>
        <p:spPr>
          <a:xfrm>
            <a:off x="9582785" y="3168650"/>
            <a:ext cx="220663" cy="22733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 flipV="1">
            <a:off x="1619885" y="31369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 flipV="1">
            <a:off x="1619885" y="54102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291" name="文本框 16"/>
          <p:cNvSpPr txBox="1"/>
          <p:nvPr/>
        </p:nvSpPr>
        <p:spPr>
          <a:xfrm>
            <a:off x="6299835" y="2327275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用起来只要这两步</a:t>
            </a:r>
          </a:p>
        </p:txBody>
      </p:sp>
      <p:sp>
        <p:nvSpPr>
          <p:cNvPr id="11292" name="文本框 35"/>
          <p:cNvSpPr txBox="1"/>
          <p:nvPr/>
        </p:nvSpPr>
        <p:spPr>
          <a:xfrm>
            <a:off x="9814560" y="3808413"/>
            <a:ext cx="368300" cy="1014412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内部实现过程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3" grpId="0"/>
      <p:bldP spid="20" grpId="0" bldLvl="0" animBg="1"/>
      <p:bldP spid="21" grpId="0" bldLvl="0" animBg="1"/>
      <p:bldP spid="22" grpId="0" bldLvl="0" animBg="1"/>
      <p:bldP spid="24" grpId="0" bldLvl="0" animBg="1"/>
      <p:bldP spid="11278" grpId="0"/>
      <p:bldP spid="11279" grpId="0"/>
      <p:bldP spid="11280" grpId="0"/>
      <p:bldP spid="11281" grpId="0"/>
      <p:bldP spid="7" grpId="0" bldLvl="0" animBg="1"/>
      <p:bldP spid="11283" grpId="0"/>
      <p:bldP spid="8" grpId="0" bldLvl="0" animBg="1"/>
      <p:bldP spid="11285" grpId="0"/>
      <p:bldP spid="29" grpId="0" bldLvl="0" animBg="1"/>
      <p:bldP spid="11291" grpId="0"/>
      <p:bldP spid="1129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67473" y="152273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702435" y="2256155"/>
            <a:ext cx="42468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2" name="文本框 6"/>
          <p:cNvSpPr txBox="1"/>
          <p:nvPr/>
        </p:nvSpPr>
        <p:spPr>
          <a:xfrm>
            <a:off x="1702435" y="288321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023110" y="37150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023110" y="42484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023110" y="481203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6" name="文本框 12"/>
          <p:cNvSpPr txBox="1"/>
          <p:nvPr/>
        </p:nvSpPr>
        <p:spPr>
          <a:xfrm>
            <a:off x="1989773" y="332613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</a:p>
        </p:txBody>
      </p:sp>
      <p:sp>
        <p:nvSpPr>
          <p:cNvPr id="13327" name="文本框 13"/>
          <p:cNvSpPr txBox="1"/>
          <p:nvPr/>
        </p:nvSpPr>
        <p:spPr>
          <a:xfrm>
            <a:off x="3447098" y="373411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</a:p>
        </p:txBody>
      </p:sp>
      <p:sp>
        <p:nvSpPr>
          <p:cNvPr id="13328" name="文本框 22"/>
          <p:cNvSpPr txBox="1"/>
          <p:nvPr/>
        </p:nvSpPr>
        <p:spPr>
          <a:xfrm>
            <a:off x="3447098" y="426434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13329" name="文本框 23"/>
          <p:cNvSpPr txBox="1"/>
          <p:nvPr/>
        </p:nvSpPr>
        <p:spPr>
          <a:xfrm>
            <a:off x="3447098" y="482790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2029460" y="532479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31" name="文本框 27"/>
          <p:cNvSpPr txBox="1"/>
          <p:nvPr/>
        </p:nvSpPr>
        <p:spPr>
          <a:xfrm>
            <a:off x="3447098" y="534066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322" grpId="0"/>
      <p:bldP spid="8" grpId="0" bldLvl="0" animBg="1"/>
      <p:bldP spid="18" grpId="0" bldLvl="0" animBg="1"/>
      <p:bldP spid="19" grpId="0" bldLvl="0" animBg="1"/>
      <p:bldP spid="13326" grpId="0"/>
      <p:bldP spid="13327" grpId="0"/>
      <p:bldP spid="13328" grpId="0"/>
      <p:bldP spid="13329" grpId="0"/>
      <p:bldP spid="26" grpId="0" bldLvl="0" animBg="1"/>
      <p:bldP spid="1333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9"/>
          <p:cNvSpPr txBox="1"/>
          <p:nvPr/>
        </p:nvSpPr>
        <p:spPr>
          <a:xfrm>
            <a:off x="1991043" y="133540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4" name="左大括号 13"/>
          <p:cNvSpPr/>
          <p:nvPr/>
        </p:nvSpPr>
        <p:spPr>
          <a:xfrm>
            <a:off x="4134168" y="2208530"/>
            <a:ext cx="223838" cy="1911350"/>
          </a:xfrm>
          <a:prstGeom prst="leftBrace">
            <a:avLst>
              <a:gd name="adj1" fmla="val 8333"/>
              <a:gd name="adj2" fmla="val 47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矩形: 圆角 33"/>
          <p:cNvSpPr/>
          <p:nvPr/>
        </p:nvSpPr>
        <p:spPr>
          <a:xfrm>
            <a:off x="4791393" y="215773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34"/>
          <p:cNvSpPr/>
          <p:nvPr/>
        </p:nvSpPr>
        <p:spPr>
          <a:xfrm>
            <a:off x="4791393" y="25101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35"/>
          <p:cNvSpPr/>
          <p:nvPr/>
        </p:nvSpPr>
        <p:spPr>
          <a:xfrm>
            <a:off x="4791393" y="356901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36"/>
          <p:cNvSpPr/>
          <p:nvPr/>
        </p:nvSpPr>
        <p:spPr>
          <a:xfrm>
            <a:off x="4791393" y="286416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37"/>
          <p:cNvSpPr/>
          <p:nvPr/>
        </p:nvSpPr>
        <p:spPr>
          <a:xfrm>
            <a:off x="4791393" y="391668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38"/>
          <p:cNvSpPr/>
          <p:nvPr/>
        </p:nvSpPr>
        <p:spPr>
          <a:xfrm>
            <a:off x="4791393" y="32086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11980" y="2159318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2" name="直接连接符 21"/>
          <p:cNvCxnSpPr/>
          <p:nvPr/>
        </p:nvCxnSpPr>
        <p:spPr>
          <a:xfrm>
            <a:off x="4411980" y="242443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411980" y="272129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4411980" y="308165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411980" y="346106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4411980" y="384524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351655" y="2179955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351655" y="2478405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51655" y="2807018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77055" y="3168968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381818" y="3561080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381818" y="3897630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2" name="文本框 1"/>
          <p:cNvSpPr txBox="1"/>
          <p:nvPr/>
        </p:nvSpPr>
        <p:spPr>
          <a:xfrm>
            <a:off x="2430780" y="2967355"/>
            <a:ext cx="162083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就绪列表的初始化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20" grpId="0" bldLvl="0" animBg="1"/>
      <p:bldP spid="21" grpId="0" bldLvl="0" animBg="1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665923" y="12547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任务创建和删除（静态方法）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000885" y="1988185"/>
            <a:ext cx="53644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学会 </a:t>
            </a: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xTaskCreateStatic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0" name="文本框 6"/>
          <p:cNvSpPr txBox="1"/>
          <p:nvPr/>
        </p:nvSpPr>
        <p:spPr>
          <a:xfrm>
            <a:off x="2000885" y="261524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321560" y="34470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321560" y="39804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321560" y="454406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4" name="文本框 12"/>
          <p:cNvSpPr txBox="1"/>
          <p:nvPr/>
        </p:nvSpPr>
        <p:spPr>
          <a:xfrm>
            <a:off x="2288223" y="305816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</a:p>
        </p:txBody>
      </p:sp>
      <p:sp>
        <p:nvSpPr>
          <p:cNvPr id="15375" name="文本框 13"/>
          <p:cNvSpPr txBox="1"/>
          <p:nvPr/>
        </p:nvSpPr>
        <p:spPr>
          <a:xfrm>
            <a:off x="3745548" y="346614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</a:p>
        </p:txBody>
      </p:sp>
      <p:sp>
        <p:nvSpPr>
          <p:cNvPr id="15376" name="文本框 22"/>
          <p:cNvSpPr txBox="1"/>
          <p:nvPr/>
        </p:nvSpPr>
        <p:spPr>
          <a:xfrm>
            <a:off x="3745548" y="399637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15377" name="文本框 23"/>
          <p:cNvSpPr txBox="1"/>
          <p:nvPr/>
        </p:nvSpPr>
        <p:spPr>
          <a:xfrm>
            <a:off x="3745548" y="455993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2327910" y="505682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9" name="文本框 27"/>
          <p:cNvSpPr txBox="1"/>
          <p:nvPr/>
        </p:nvSpPr>
        <p:spPr>
          <a:xfrm>
            <a:off x="3745548" y="507269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370" grpId="0"/>
      <p:bldP spid="8" grpId="0" bldLvl="0" animBg="1"/>
      <p:bldP spid="18" grpId="0" bldLvl="0" animBg="1"/>
      <p:bldP spid="19" grpId="0" bldLvl="0" animBg="1"/>
      <p:bldP spid="15374" grpId="0"/>
      <p:bldP spid="15375" grpId="0"/>
      <p:bldP spid="15376" grpId="0"/>
      <p:bldP spid="15377" grpId="0"/>
      <p:bldP spid="26" grpId="0" bldLvl="0" animBg="1"/>
      <p:bldP spid="1537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501775" y="16891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任务挂起函数内部实现</a:t>
            </a:r>
          </a:p>
        </p:txBody>
      </p:sp>
      <p:sp>
        <p:nvSpPr>
          <p:cNvPr id="20" name="矩形: 圆角 19"/>
          <p:cNvSpPr/>
          <p:nvPr>
            <p:custDataLst>
              <p:tags r:id="rId1"/>
            </p:custDataLst>
          </p:nvPr>
        </p:nvSpPr>
        <p:spPr>
          <a:xfrm>
            <a:off x="1663700" y="2998788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、移除所在列表</a:t>
            </a:r>
          </a:p>
        </p:txBody>
      </p:sp>
      <p:sp>
        <p:nvSpPr>
          <p:cNvPr id="24" name="矩形: 圆角 23"/>
          <p:cNvSpPr/>
          <p:nvPr>
            <p:custDataLst>
              <p:tags r:id="rId2"/>
            </p:custDataLst>
          </p:nvPr>
        </p:nvSpPr>
        <p:spPr>
          <a:xfrm>
            <a:off x="1654175" y="2470150"/>
            <a:ext cx="26416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、获取所要挂起任务的控制块</a:t>
            </a:r>
          </a:p>
        </p:txBody>
      </p:sp>
      <p:sp>
        <p:nvSpPr>
          <p:cNvPr id="23" name="矩形: 圆角 22"/>
          <p:cNvSpPr/>
          <p:nvPr>
            <p:custDataLst>
              <p:tags r:id="rId3"/>
            </p:custDataLst>
          </p:nvPr>
        </p:nvSpPr>
        <p:spPr>
          <a:xfrm>
            <a:off x="1668463" y="4057650"/>
            <a:ext cx="2622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、判断任务调度器是否运行</a:t>
            </a:r>
          </a:p>
        </p:txBody>
      </p:sp>
      <p:sp>
        <p:nvSpPr>
          <p:cNvPr id="27" name="矩形: 圆角 26"/>
          <p:cNvSpPr/>
          <p:nvPr>
            <p:custDataLst>
              <p:tags r:id="rId4"/>
            </p:custDataLst>
          </p:nvPr>
        </p:nvSpPr>
        <p:spPr>
          <a:xfrm>
            <a:off x="1654175" y="3529013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、插入挂起任务列表</a:t>
            </a:r>
          </a:p>
        </p:txBody>
      </p:sp>
      <p:sp>
        <p:nvSpPr>
          <p:cNvPr id="12301" name="文本框 29"/>
          <p:cNvSpPr txBox="1"/>
          <p:nvPr>
            <p:custDataLst>
              <p:tags r:id="rId5"/>
            </p:custDataLst>
          </p:nvPr>
        </p:nvSpPr>
        <p:spPr>
          <a:xfrm>
            <a:off x="4286250" y="2478088"/>
            <a:ext cx="5741988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通过传入的任务句柄，判断所需要挂起哪个任务，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代表挂起自身</a:t>
            </a:r>
          </a:p>
        </p:txBody>
      </p:sp>
      <p:sp>
        <p:nvSpPr>
          <p:cNvPr id="12302" name="文本框 33"/>
          <p:cNvSpPr txBox="1"/>
          <p:nvPr>
            <p:custDataLst>
              <p:tags r:id="rId6"/>
            </p:custDataLst>
          </p:nvPr>
        </p:nvSpPr>
        <p:spPr>
          <a:xfrm>
            <a:off x="4260850" y="3000375"/>
            <a:ext cx="6069013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将要挂起的任务从相应的状态列表和事件列表中移除（就绪或阻塞列表）</a:t>
            </a:r>
          </a:p>
        </p:txBody>
      </p:sp>
      <p:sp>
        <p:nvSpPr>
          <p:cNvPr id="12303" name="文本框 35"/>
          <p:cNvSpPr txBox="1"/>
          <p:nvPr>
            <p:custDataLst>
              <p:tags r:id="rId7"/>
            </p:custDataLst>
          </p:nvPr>
        </p:nvSpPr>
        <p:spPr>
          <a:xfrm>
            <a:off x="4260850" y="3524250"/>
            <a:ext cx="5248275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将待挂起任务的任务状态列表向插入到挂起态任务列表末尾 </a:t>
            </a:r>
          </a:p>
        </p:txBody>
      </p:sp>
      <p:sp>
        <p:nvSpPr>
          <p:cNvPr id="12304" name="文本框 36"/>
          <p:cNvSpPr txBox="1"/>
          <p:nvPr>
            <p:custDataLst>
              <p:tags r:id="rId8"/>
            </p:custDataLst>
          </p:nvPr>
        </p:nvSpPr>
        <p:spPr>
          <a:xfrm>
            <a:off x="4260850" y="4046538"/>
            <a:ext cx="5900738" cy="3308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在运行，更新下一次阻塞时间，防止被挂起任务为下一次阻塞超时任务</a:t>
            </a:r>
          </a:p>
        </p:txBody>
      </p:sp>
      <p:sp>
        <p:nvSpPr>
          <p:cNvPr id="38" name="矩形: 圆角 37"/>
          <p:cNvSpPr/>
          <p:nvPr>
            <p:custDataLst>
              <p:tags r:id="rId9"/>
            </p:custDataLst>
          </p:nvPr>
        </p:nvSpPr>
        <p:spPr>
          <a:xfrm>
            <a:off x="1674813" y="4608513"/>
            <a:ext cx="262413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、判断待挂起任务是否为当前任务</a:t>
            </a:r>
          </a:p>
        </p:txBody>
      </p:sp>
      <p:sp>
        <p:nvSpPr>
          <p:cNvPr id="12306" name="文本框 38"/>
          <p:cNvSpPr txBox="1"/>
          <p:nvPr>
            <p:custDataLst>
              <p:tags r:id="rId10"/>
            </p:custDataLst>
          </p:nvPr>
        </p:nvSpPr>
        <p:spPr>
          <a:xfrm>
            <a:off x="4310063" y="4557713"/>
            <a:ext cx="5532437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如果挂起的是任务自身，且调度器正在运行，需要进行一次任务切换</a:t>
            </a:r>
          </a:p>
        </p:txBody>
      </p:sp>
      <p:sp>
        <p:nvSpPr>
          <p:cNvPr id="12307" name="文本框 39"/>
          <p:cNvSpPr txBox="1"/>
          <p:nvPr/>
        </p:nvSpPr>
        <p:spPr>
          <a:xfrm>
            <a:off x="4286250" y="4795838"/>
            <a:ext cx="5908675" cy="5540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调度器没有运行，判断挂起任务数是否等于任务总数，是：当前控制块赋值为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，否：寻找下一个最高优先级任务</a:t>
            </a: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2053590" y="130429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任务恢复函数内部实现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2163128" y="2660015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、判断任务是否在挂起列表中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2153603" y="2131378"/>
            <a:ext cx="2727325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、恢复任务不能是正在运行任务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153603" y="3188653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、判断恢复任务优先级</a:t>
            </a:r>
          </a:p>
        </p:txBody>
      </p:sp>
      <p:sp>
        <p:nvSpPr>
          <p:cNvPr id="13324" name="文本框 33"/>
          <p:cNvSpPr txBox="1"/>
          <p:nvPr/>
        </p:nvSpPr>
        <p:spPr>
          <a:xfrm>
            <a:off x="4876165" y="2675890"/>
            <a:ext cx="48990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是：就会将该任务在挂起列表中移除， 将该任务添加到就绪列表中</a:t>
            </a:r>
          </a:p>
        </p:txBody>
      </p:sp>
      <p:sp>
        <p:nvSpPr>
          <p:cNvPr id="13325" name="文本框 35"/>
          <p:cNvSpPr txBox="1"/>
          <p:nvPr/>
        </p:nvSpPr>
        <p:spPr>
          <a:xfrm>
            <a:off x="4868228" y="3233103"/>
            <a:ext cx="49069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判断恢复的任务优先级是否大于当前正在运行的 是的话执行任务切换</a:t>
            </a:r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455340" y="711045"/>
            <a:ext cx="11542029" cy="6743065"/>
          </a:xfrm>
        </p:spPr>
        <p:txBody>
          <a:bodyPr/>
          <a:lstStyle/>
          <a:p>
            <a:pPr algn="l"/>
            <a:r>
              <a:rPr lang="zh-CN" altLang="en-US" sz="1400" b="1"/>
              <a:t>最高优先级</a:t>
            </a:r>
            <a:r>
              <a:rPr lang="en-US" altLang="zh-CN" sz="1400" b="1"/>
              <a:t> (Highest Priority - </a:t>
            </a:r>
            <a:r>
              <a:rPr lang="zh-CN" altLang="en-US" sz="1400" b="1"/>
              <a:t>时间关键</a:t>
            </a:r>
            <a:r>
              <a:rPr lang="en-US" altLang="zh-CN" sz="1400" b="1"/>
              <a:t>/</a:t>
            </a:r>
            <a:r>
              <a:rPr lang="zh-CN" altLang="en-US" sz="1400" b="1"/>
              <a:t>实时响应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  <a:endParaRPr lang="zh-CN" altLang="en-US" sz="1400"/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通常是配置允许的最高值</a:t>
            </a:r>
            <a:r>
              <a:rPr lang="en-US" altLang="zh-CN" sz="1400"/>
              <a:t> (</a:t>
            </a:r>
            <a:r>
              <a:rPr lang="zh-CN" altLang="en-US" sz="1400"/>
              <a:t>例如</a:t>
            </a:r>
            <a:r>
              <a:rPr lang="en-US" altLang="zh-CN" sz="1400"/>
              <a:t> configMAX_PRIORITIES - 1)</a:t>
            </a:r>
            <a:r>
              <a:rPr lang="zh-CN" altLang="en-US" sz="1400"/>
              <a:t>。</a:t>
            </a:r>
          </a:p>
          <a:p>
            <a:pPr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硬实时任务：</a:t>
            </a:r>
            <a:r>
              <a:rPr lang="en-US" altLang="zh-CN" sz="1400"/>
              <a:t> </a:t>
            </a:r>
            <a:r>
              <a:rPr lang="zh-CN" altLang="en-US" sz="1400"/>
              <a:t>对截止时间有严格要求，错过会导致系统失败的任务（如电机控制、安全关键状态监测）。</a:t>
            </a:r>
          </a:p>
          <a:p>
            <a:pPr lvl="1" algn="l"/>
            <a:r>
              <a:rPr lang="zh-CN" altLang="en-US" sz="1400"/>
              <a:t>中断延迟任务</a:t>
            </a:r>
            <a:r>
              <a:rPr lang="en-US" altLang="zh-CN" sz="1400"/>
              <a:t> (Deferred Interrupt Processing)</a:t>
            </a:r>
            <a:r>
              <a:rPr lang="zh-CN" altLang="en-US" sz="1400"/>
              <a:t>：</a:t>
            </a:r>
            <a:r>
              <a:rPr lang="en-US" altLang="zh-CN" sz="1400"/>
              <a:t> </a:t>
            </a:r>
            <a:r>
              <a:rPr lang="zh-CN" altLang="en-US" sz="1400"/>
              <a:t>由中断服务程序</a:t>
            </a:r>
            <a:r>
              <a:rPr lang="en-US" altLang="zh-CN" sz="1400"/>
              <a:t> (ISR) </a:t>
            </a:r>
            <a:r>
              <a:rPr lang="zh-CN" altLang="en-US" sz="1400"/>
              <a:t>唤醒，用于处理耗时较长或需要调用非</a:t>
            </a:r>
            <a:r>
              <a:rPr lang="en-US" altLang="zh-CN" sz="1400"/>
              <a:t> ISR </a:t>
            </a:r>
            <a:r>
              <a:rPr lang="zh-CN" altLang="en-US" sz="1400"/>
              <a:t>安全</a:t>
            </a:r>
            <a:r>
              <a:rPr lang="en-US" altLang="zh-CN" sz="1400"/>
              <a:t> API </a:t>
            </a:r>
            <a:r>
              <a:rPr lang="zh-CN" altLang="en-US" sz="1400"/>
              <a:t>的中断后续工作。它们必须能抢占几乎所有其他任务，以确保快速响应中断事件。</a:t>
            </a:r>
          </a:p>
          <a:p>
            <a:pPr lvl="1" algn="l"/>
            <a:r>
              <a:rPr lang="zh-CN" altLang="en-US" sz="1400"/>
              <a:t>系统关键任务：</a:t>
            </a:r>
            <a:r>
              <a:rPr lang="en-US" altLang="zh-CN" sz="1400"/>
              <a:t> </a:t>
            </a:r>
            <a:r>
              <a:rPr lang="zh-CN" altLang="en-US" sz="1400"/>
              <a:t>如某些通信协议栈的实时处理层、高优先级事件分发任务。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数量通常很少。一旦就绪，会立即抢占所有低优先级任务运行。执行时间应尽可能短。</a:t>
            </a:r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高</a:t>
            </a:r>
            <a:r>
              <a:rPr lang="en-US" altLang="zh-CN" sz="1400" b="1"/>
              <a:t>/</a:t>
            </a:r>
            <a:r>
              <a:rPr lang="zh-CN" altLang="en-US" sz="1400" b="1"/>
              <a:t>中高优先级</a:t>
            </a:r>
            <a:r>
              <a:rPr lang="en-US" altLang="zh-CN" sz="1400" b="1"/>
              <a:t> (High/Medium-High Priority - </a:t>
            </a:r>
            <a:r>
              <a:rPr lang="zh-CN" altLang="en-US" sz="1400" b="1"/>
              <a:t>重要功能</a:t>
            </a:r>
            <a:r>
              <a:rPr lang="en-US" altLang="zh-CN" sz="1400" b="1"/>
              <a:t>/</a:t>
            </a:r>
            <a:r>
              <a:rPr lang="zh-CN" altLang="en-US" sz="1400" b="1"/>
              <a:t>及时响应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介于最高优先级和普通优先级之间，数值相对较高。</a:t>
            </a:r>
          </a:p>
          <a:p>
            <a:pPr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软实时任务：</a:t>
            </a:r>
            <a:r>
              <a:rPr lang="en-US" altLang="zh-CN" sz="1400"/>
              <a:t> </a:t>
            </a:r>
            <a:r>
              <a:rPr lang="zh-CN" altLang="en-US" sz="1400"/>
              <a:t>有响应时间要求，但偶尔错过截止时间不会导致灾难性后果的任务（如用户界面刷新、非关键传感器数据处理、中等速度的通信协议处理）。</a:t>
            </a:r>
          </a:p>
          <a:p>
            <a:pPr lvl="1" algn="l"/>
            <a:r>
              <a:rPr lang="zh-CN" altLang="en-US" sz="1400"/>
              <a:t>重要的业务流程任务：</a:t>
            </a:r>
            <a:r>
              <a:rPr lang="en-US" altLang="zh-CN" sz="1400"/>
              <a:t> </a:t>
            </a:r>
            <a:r>
              <a:rPr lang="zh-CN" altLang="en-US" sz="1400"/>
              <a:t>执行系统核心功能链中较关键环节的任务。</a:t>
            </a:r>
          </a:p>
          <a:p>
            <a:pPr lvl="1" algn="l"/>
            <a:r>
              <a:rPr lang="zh-CN" altLang="en-US" sz="1400"/>
              <a:t>事件驱动任务：</a:t>
            </a:r>
            <a:r>
              <a:rPr lang="en-US" altLang="zh-CN" sz="1400"/>
              <a:t> </a:t>
            </a:r>
            <a:r>
              <a:rPr lang="zh-CN" altLang="en-US" sz="1400"/>
              <a:t>等待高优先级事件（如按键、重要消息）并需要较快响应的任务。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数量适中。能及时响应事件，抢占低优先级任务，但会被最高优先级任务抢占。执行时间需合理控制。</a:t>
            </a:r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普通</a:t>
            </a:r>
            <a:r>
              <a:rPr lang="en-US" altLang="zh-CN" sz="1400" b="1"/>
              <a:t>/</a:t>
            </a:r>
            <a:r>
              <a:rPr lang="zh-CN" altLang="en-US" sz="1400" b="1"/>
              <a:t>中优先级</a:t>
            </a:r>
            <a:r>
              <a:rPr lang="en-US" altLang="zh-CN" sz="1400" b="1"/>
              <a:t> (Medium/Normal Priority - </a:t>
            </a:r>
            <a:r>
              <a:rPr lang="zh-CN" altLang="en-US" sz="1400" b="1"/>
              <a:t>常规业务逻辑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在配置的优先级范围中间区域。</a:t>
            </a:r>
          </a:p>
          <a:p>
            <a:pPr lvl="1"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主要的应用程序逻辑：</a:t>
            </a:r>
            <a:r>
              <a:rPr lang="en-US" altLang="zh-CN" sz="1400"/>
              <a:t> </a:t>
            </a:r>
            <a:r>
              <a:rPr lang="zh-CN" altLang="en-US" sz="1400"/>
              <a:t>执行系统大部分常规业务处理的任务。</a:t>
            </a:r>
          </a:p>
          <a:p>
            <a:pPr lvl="1" algn="l"/>
            <a:r>
              <a:rPr lang="zh-CN" altLang="en-US" sz="1400"/>
              <a:t>后台计算</a:t>
            </a:r>
            <a:r>
              <a:rPr lang="en-US" altLang="zh-CN" sz="1400"/>
              <a:t>/</a:t>
            </a:r>
            <a:r>
              <a:rPr lang="zh-CN" altLang="en-US" sz="1400"/>
              <a:t>处理：</a:t>
            </a:r>
            <a:r>
              <a:rPr lang="en-US" altLang="zh-CN" sz="1400"/>
              <a:t> </a:t>
            </a:r>
            <a:r>
              <a:rPr lang="zh-CN" altLang="en-US" sz="1400"/>
              <a:t>不需要严格实时性，但需要持续运行的任务。</a:t>
            </a:r>
          </a:p>
          <a:p>
            <a:pPr lvl="1" algn="l"/>
            <a:r>
              <a:rPr lang="zh-CN" altLang="en-US" sz="1400"/>
              <a:t>较低速的通信处理。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通常是系统中数量最多的任务。按照调度策略（通常是时间片轮转）共享</a:t>
            </a:r>
            <a:r>
              <a:rPr lang="en-US" altLang="zh-CN" sz="1400"/>
              <a:t> CPU </a:t>
            </a:r>
            <a:r>
              <a:rPr lang="zh-CN" altLang="en-US" sz="1400"/>
              <a:t>时间。会被更高优先级的任务抢占。</a:t>
            </a:r>
          </a:p>
          <a:p>
            <a:pPr algn="l"/>
            <a:endParaRPr lang="en-US" altLang="zh-CN" sz="1400"/>
          </a:p>
          <a:p>
            <a:pPr algn="l"/>
            <a:endParaRPr lang="zh-CN" altLang="en-US" sz="1400"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500425" y="846935"/>
            <a:ext cx="11542029" cy="4332605"/>
          </a:xfrm>
        </p:spPr>
        <p:txBody>
          <a:bodyPr/>
          <a:lstStyle/>
          <a:p>
            <a:pPr algn="l"/>
            <a:r>
              <a:rPr lang="zh-CN" altLang="en-US" sz="1400" b="1">
                <a:sym typeface="+mn-ea"/>
              </a:rPr>
              <a:t>低优先级</a:t>
            </a:r>
            <a:r>
              <a:rPr altLang="zh-CN" sz="1400" b="1">
                <a:sym typeface="+mn-ea"/>
              </a:rPr>
              <a:t> (Low Priority - </a:t>
            </a:r>
            <a:r>
              <a:rPr lang="zh-CN" altLang="en-US" sz="1400" b="1">
                <a:sym typeface="+mn-ea"/>
              </a:rPr>
              <a:t>非实时</a:t>
            </a:r>
            <a:r>
              <a:rPr altLang="zh-CN" sz="1400" b="1">
                <a:sym typeface="+mn-ea"/>
              </a:rPr>
              <a:t>/</a:t>
            </a:r>
            <a:r>
              <a:rPr lang="zh-CN" altLang="en-US" sz="1400" b="1">
                <a:sym typeface="+mn-ea"/>
              </a:rPr>
              <a:t>后台任务</a:t>
            </a:r>
            <a:r>
              <a:rPr altLang="zh-CN" sz="1400" b="1">
                <a:sym typeface="+mn-ea"/>
              </a:rPr>
              <a:t>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数值较低（接近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，但通常高于空闲任务）。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非实时后台任务：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如数据记录（非实时）、统计信息计算、非关键的定期自检。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低优先级事件处理：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处理不紧急的事件或消息。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只有在没有更高优先级任务就绪时才能运行。执行时间可以较长，对实时性要求很低。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r>
              <a:rPr lang="zh-CN" altLang="en-US" sz="1400" b="1">
                <a:sym typeface="+mn-ea"/>
              </a:rPr>
              <a:t>空闲优先级</a:t>
            </a:r>
            <a:r>
              <a:rPr altLang="zh-CN" sz="1400" b="1">
                <a:sym typeface="+mn-ea"/>
              </a:rPr>
              <a:t> (Idle Priority)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固定为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。这是系统中最低的优先级。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indent="457200" algn="l"/>
            <a:r>
              <a:rPr lang="zh-CN" altLang="en-US" sz="1400">
                <a:sym typeface="+mn-ea"/>
              </a:rPr>
              <a:t>空闲任务</a:t>
            </a:r>
            <a:r>
              <a:rPr altLang="zh-CN" sz="1400">
                <a:sym typeface="+mn-ea"/>
              </a:rPr>
              <a:t> (Idle Task)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FreeRTOS </a:t>
            </a:r>
            <a:r>
              <a:rPr lang="zh-CN" altLang="en-US" sz="1400">
                <a:sym typeface="+mn-ea"/>
              </a:rPr>
              <a:t>内核自动创建的一个特殊任务。当且仅当没有其他任务处于就绪状态</a:t>
            </a:r>
            <a:r>
              <a:rPr altLang="zh-CN" sz="1400">
                <a:sym typeface="+mn-ea"/>
              </a:rPr>
              <a:t> (Ready) </a:t>
            </a:r>
            <a:r>
              <a:rPr lang="zh-CN" altLang="en-US" sz="1400">
                <a:sym typeface="+mn-ea"/>
              </a:rPr>
              <a:t>时，它才会运行。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关键作用：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执行后台清理：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例如，回收被删除任务的内存（如果启用了</a:t>
            </a:r>
            <a:r>
              <a:rPr altLang="zh-CN" sz="1400">
                <a:sym typeface="+mn-ea"/>
              </a:rPr>
              <a:t> configUSE_IDLE_HOOK </a:t>
            </a:r>
            <a:r>
              <a:rPr lang="zh-CN" altLang="en-US" sz="1400">
                <a:sym typeface="+mn-ea"/>
              </a:rPr>
              <a:t>或</a:t>
            </a:r>
            <a:r>
              <a:rPr altLang="zh-CN" sz="1400">
                <a:sym typeface="+mn-ea"/>
              </a:rPr>
              <a:t> configUSE_TICKLESS_IDLE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实现低功耗</a:t>
            </a:r>
            <a:r>
              <a:rPr altLang="zh-CN" sz="1400">
                <a:sym typeface="+mn-ea"/>
              </a:rPr>
              <a:t> (Tickless Idle)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在空闲任务中，系统可以进入低功耗睡眠模式（如果配置了</a:t>
            </a:r>
            <a:r>
              <a:rPr altLang="zh-CN" sz="1400">
                <a:sym typeface="+mn-ea"/>
              </a:rPr>
              <a:t> Tickless 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运行用户钩子函数</a:t>
            </a:r>
            <a:r>
              <a:rPr altLang="zh-CN" sz="1400">
                <a:sym typeface="+mn-ea"/>
              </a:rPr>
              <a:t> (Idle Hook)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开发者可以注册一个函数</a:t>
            </a:r>
            <a:r>
              <a:rPr altLang="zh-CN" sz="1400">
                <a:sym typeface="+mn-ea"/>
              </a:rPr>
              <a:t> (vApplicationIdleHook)</a:t>
            </a:r>
            <a:r>
              <a:rPr lang="zh-CN" altLang="en-US" sz="1400">
                <a:sym typeface="+mn-ea"/>
              </a:rPr>
              <a:t>，在空闲任务中执行自定义的低优先级后台操作（必须非常短，且不能阻塞！）。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优先级最低，不可改变。开发者不应手动创建优先级为</a:t>
            </a:r>
            <a:r>
              <a:rPr altLang="zh-CN" sz="1400">
                <a:sym typeface="+mn-ea"/>
              </a:rPr>
              <a:t> 0 </a:t>
            </a:r>
            <a:r>
              <a:rPr lang="zh-CN" altLang="en-US" sz="1400">
                <a:sym typeface="+mn-ea"/>
              </a:rPr>
              <a:t>的任务，以免干扰空闲任务的运行。</a:t>
            </a:r>
            <a:endParaRPr lang="zh-CN" altLang="en-US" sz="1400"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7638" y="62230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任务调度简介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523875" y="1641475"/>
            <a:ext cx="340518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一共支持三种任务调度方式： </a:t>
            </a:r>
          </a:p>
        </p:txBody>
      </p:sp>
      <p:sp>
        <p:nvSpPr>
          <p:cNvPr id="4" name="矩形: 圆角 2"/>
          <p:cNvSpPr/>
          <p:nvPr>
            <p:custDataLst>
              <p:tags r:id="rId1"/>
            </p:custDataLst>
          </p:nvPr>
        </p:nvSpPr>
        <p:spPr>
          <a:xfrm>
            <a:off x="523875" y="2214563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抢占式调度</a:t>
            </a: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523875" y="3800475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协程式调度</a:t>
            </a: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523875" y="2997200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时间片调度</a:t>
            </a:r>
          </a:p>
        </p:txBody>
      </p:sp>
      <p:sp>
        <p:nvSpPr>
          <p:cNvPr id="4110" name="文本框 15"/>
          <p:cNvSpPr txBox="1"/>
          <p:nvPr>
            <p:custDataLst>
              <p:tags r:id="rId4"/>
            </p:custDataLst>
          </p:nvPr>
        </p:nvSpPr>
        <p:spPr>
          <a:xfrm>
            <a:off x="1812925" y="2074863"/>
            <a:ext cx="68072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主要是针对优先级不同的任务，每个任务都有一个优先级，优先级高的任务可以抢占优先级低的任务。</a:t>
            </a:r>
          </a:p>
        </p:txBody>
      </p:sp>
      <p:sp>
        <p:nvSpPr>
          <p:cNvPr id="4111" name="文本框 17"/>
          <p:cNvSpPr txBox="1"/>
          <p:nvPr>
            <p:custDataLst>
              <p:tags r:id="rId5"/>
            </p:custDataLst>
          </p:nvPr>
        </p:nvSpPr>
        <p:spPr>
          <a:xfrm>
            <a:off x="1781175" y="2886075"/>
            <a:ext cx="713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主要针对优先级相同的任务，当多个任务的优先级相同时， 任务调度器会在每一次系统时钟节拍到的时候切换任务。</a:t>
            </a:r>
          </a:p>
        </p:txBody>
      </p:sp>
      <p:sp>
        <p:nvSpPr>
          <p:cNvPr id="4112" name="文本框 19"/>
          <p:cNvSpPr txBox="1"/>
          <p:nvPr/>
        </p:nvSpPr>
        <p:spPr>
          <a:xfrm>
            <a:off x="523875" y="1203325"/>
            <a:ext cx="58959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调度器就是使用相关的调度算法来决定当前需要执行的哪个任务</a:t>
            </a:r>
          </a:p>
        </p:txBody>
      </p:sp>
      <p:sp>
        <p:nvSpPr>
          <p:cNvPr id="5" name="文本框 17"/>
          <p:cNvSpPr txBox="1"/>
          <p:nvPr>
            <p:custDataLst>
              <p:tags r:id="rId6"/>
            </p:custDataLst>
          </p:nvPr>
        </p:nvSpPr>
        <p:spPr>
          <a:xfrm>
            <a:off x="1781175" y="3648075"/>
            <a:ext cx="62865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当前执行任务将会一直运行，同时高优先级的任务不会抢占低优先级任务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现在虽然还支持，但是官方已经表示不再更新协程式调度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" grpId="0" bldLvl="0" animBg="1"/>
      <p:bldP spid="13" grpId="0" bldLvl="0" animBg="1"/>
      <p:bldP spid="14" grpId="0" bldLvl="0" animBg="1"/>
      <p:bldP spid="4110" grpId="0"/>
      <p:bldP spid="4111" grpId="0"/>
      <p:bldP spid="4112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30188" y="898525"/>
            <a:ext cx="2874962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抢占式调度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952500" y="2906713"/>
            <a:ext cx="3095625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H="1" flipV="1">
            <a:off x="952500" y="1601788"/>
            <a:ext cx="12700" cy="1298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31" name="文本框 12"/>
          <p:cNvSpPr txBox="1"/>
          <p:nvPr/>
        </p:nvSpPr>
        <p:spPr>
          <a:xfrm>
            <a:off x="230188" y="1528763"/>
            <a:ext cx="64611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</a:p>
        </p:txBody>
      </p:sp>
      <p:sp>
        <p:nvSpPr>
          <p:cNvPr id="5132" name="文本框 15"/>
          <p:cNvSpPr txBox="1"/>
          <p:nvPr/>
        </p:nvSpPr>
        <p:spPr>
          <a:xfrm>
            <a:off x="3641725" y="2933700"/>
            <a:ext cx="4921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1073150" y="2620963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31950" y="23844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181225" y="21558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730500" y="23717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3289300" y="216217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96913" y="2597150"/>
            <a:ext cx="255588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913" y="2330450"/>
            <a:ext cx="252413" cy="2524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2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96913" y="2095500"/>
            <a:ext cx="252413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3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473575" y="2176463"/>
            <a:ext cx="4548188" cy="6175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的优先级分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别为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；在</a:t>
            </a:r>
            <a:r>
              <a:rPr kumimoji="0" lang="en-US" altLang="zh-CN" sz="1200" kern="1200" cap="none" spc="0" normalizeH="0" baseline="0" noProof="0" dirty="0" err="1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FreeRTOS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中任务设置的数值越大，优先级越高，所以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的优先级最高。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4495800" y="1528763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473575" y="1917700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cxnSp>
        <p:nvCxnSpPr>
          <p:cNvPr id="4096" name="直接箭头连接符 4095"/>
          <p:cNvCxnSpPr/>
          <p:nvPr/>
        </p:nvCxnSpPr>
        <p:spPr>
          <a:xfrm>
            <a:off x="1384300" y="2322513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5" name="文本框 4096"/>
          <p:cNvSpPr txBox="1"/>
          <p:nvPr/>
        </p:nvSpPr>
        <p:spPr>
          <a:xfrm>
            <a:off x="1184275" y="2120900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1938338" y="2092325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7" name="文本框 36"/>
          <p:cNvSpPr txBox="1"/>
          <p:nvPr/>
        </p:nvSpPr>
        <p:spPr>
          <a:xfrm>
            <a:off x="1731963" y="1909763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</a:p>
        </p:txBody>
      </p:sp>
      <p:cxnSp>
        <p:nvCxnSpPr>
          <p:cNvPr id="4099" name="直接箭头连接符 4098"/>
          <p:cNvCxnSpPr/>
          <p:nvPr/>
        </p:nvCxnSpPr>
        <p:spPr>
          <a:xfrm flipH="1">
            <a:off x="2740025" y="2092325"/>
            <a:ext cx="257175" cy="279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9" name="文本框 39"/>
          <p:cNvSpPr txBox="1"/>
          <p:nvPr/>
        </p:nvSpPr>
        <p:spPr>
          <a:xfrm>
            <a:off x="2798763" y="1868488"/>
            <a:ext cx="415925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</a:t>
            </a:r>
          </a:p>
        </p:txBody>
      </p:sp>
      <p:sp>
        <p:nvSpPr>
          <p:cNvPr id="5150" name="文本框 4099"/>
          <p:cNvSpPr txBox="1"/>
          <p:nvPr/>
        </p:nvSpPr>
        <p:spPr>
          <a:xfrm>
            <a:off x="269875" y="3336925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</a:p>
        </p:txBody>
      </p:sp>
      <p:sp>
        <p:nvSpPr>
          <p:cNvPr id="5151" name="文本框 4100"/>
          <p:cNvSpPr txBox="1"/>
          <p:nvPr/>
        </p:nvSpPr>
        <p:spPr>
          <a:xfrm>
            <a:off x="290513" y="3736975"/>
            <a:ext cx="73199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在运行中，在这个过程中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2" name="文本框 4100"/>
          <p:cNvSpPr txBox="1"/>
          <p:nvPr/>
        </p:nvSpPr>
        <p:spPr>
          <a:xfrm>
            <a:off x="290513" y="4079875"/>
            <a:ext cx="61944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3" name="文本框 4100"/>
          <p:cNvSpPr txBox="1"/>
          <p:nvPr/>
        </p:nvSpPr>
        <p:spPr>
          <a:xfrm>
            <a:off x="290513" y="4418013"/>
            <a:ext cx="78247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阻塞了（系统延时或等待信号量等），此时就绪态中，优先级最高的任务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执行</a:t>
            </a:r>
          </a:p>
        </p:txBody>
      </p:sp>
      <p:sp>
        <p:nvSpPr>
          <p:cNvPr id="5154" name="文本框 4100"/>
          <p:cNvSpPr txBox="1"/>
          <p:nvPr/>
        </p:nvSpPr>
        <p:spPr>
          <a:xfrm>
            <a:off x="290513" y="4719638"/>
            <a:ext cx="70358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阻塞解除了（延时到了或者接收到信号量），此时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恢复到就绪态中，抢占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5" name="文本框 36"/>
          <p:cNvSpPr txBox="1"/>
          <p:nvPr/>
        </p:nvSpPr>
        <p:spPr>
          <a:xfrm>
            <a:off x="2633663" y="900113"/>
            <a:ext cx="655637" cy="3397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6" name="文本框 37"/>
          <p:cNvSpPr txBox="1"/>
          <p:nvPr/>
        </p:nvSpPr>
        <p:spPr>
          <a:xfrm>
            <a:off x="5494338" y="965200"/>
            <a:ext cx="366553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、高优先级任务不停止，低优先级任务无法执行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157" name="文本框 39"/>
          <p:cNvSpPr txBox="1"/>
          <p:nvPr/>
        </p:nvSpPr>
        <p:spPr>
          <a:xfrm>
            <a:off x="3195638" y="960438"/>
            <a:ext cx="21844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、高优先级任务，优先执行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487988" y="1246188"/>
            <a:ext cx="3665537" cy="2794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、被抢占的任务将会进入就绪态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1" grpId="0"/>
      <p:bldP spid="5132" grpId="0"/>
      <p:bldP spid="14" grpId="0" bldLvl="0" animBg="1"/>
      <p:bldP spid="18" grpId="0" bldLvl="0" animBg="1"/>
      <p:bldP spid="19" grpId="0" bldLvl="0" animBg="1"/>
      <p:bldP spid="20" grpId="0" bldLvl="0" animBg="1"/>
      <p:bldP spid="22" grpId="0" bldLvl="0" animBg="1"/>
      <p:bldP spid="23" grpId="0"/>
      <p:bldP spid="26" grpId="0"/>
      <p:bldP spid="27" grpId="0"/>
      <p:bldP spid="28" grpId="0"/>
      <p:bldP spid="30" grpId="0"/>
      <p:bldP spid="31" grpId="0"/>
      <p:bldP spid="5145" grpId="0"/>
      <p:bldP spid="5147" grpId="0"/>
      <p:bldP spid="5149" grpId="0"/>
      <p:bldP spid="5150" grpId="0"/>
      <p:bldP spid="5151" grpId="0"/>
      <p:bldP spid="5152" grpId="0"/>
      <p:bldP spid="5153" grpId="0"/>
      <p:bldP spid="5154" grpId="0"/>
      <p:bldP spid="5155" grpId="0"/>
      <p:bldP spid="5156" grpId="0"/>
      <p:bldP spid="5157" grpId="0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999808" y="1508760"/>
            <a:ext cx="4619625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时间片调度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1709420" y="3529648"/>
            <a:ext cx="32702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1722120" y="2327910"/>
            <a:ext cx="0" cy="1195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55" name="文本框 12"/>
          <p:cNvSpPr txBox="1"/>
          <p:nvPr/>
        </p:nvSpPr>
        <p:spPr>
          <a:xfrm>
            <a:off x="999808" y="2305685"/>
            <a:ext cx="722312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</a:p>
        </p:txBody>
      </p:sp>
      <p:sp>
        <p:nvSpPr>
          <p:cNvPr id="6156" name="文本框 13"/>
          <p:cNvSpPr txBox="1"/>
          <p:nvPr/>
        </p:nvSpPr>
        <p:spPr>
          <a:xfrm>
            <a:off x="4436745" y="3567748"/>
            <a:ext cx="54292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</a:p>
        </p:txBody>
      </p:sp>
      <p:sp>
        <p:nvSpPr>
          <p:cNvPr id="15" name="矩形: 圆角 14"/>
          <p:cNvSpPr/>
          <p:nvPr/>
        </p:nvSpPr>
        <p:spPr>
          <a:xfrm>
            <a:off x="1944370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2511108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307784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364299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4209733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2511108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3077845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36429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42144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765358" y="3456623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1944370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8" name="文本框 23"/>
          <p:cNvSpPr txBox="1"/>
          <p:nvPr/>
        </p:nvSpPr>
        <p:spPr>
          <a:xfrm>
            <a:off x="1874520" y="3694748"/>
            <a:ext cx="7112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个时间片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1947545" y="3529648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2514283" y="3528060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265420" y="2889885"/>
            <a:ext cx="4548188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的优先级均为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；即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个任务同等优先级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5287645" y="2373948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265420" y="2631123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450658" y="3110548"/>
            <a:ext cx="25717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cxnSp>
        <p:nvCxnSpPr>
          <p:cNvPr id="4098" name="直接箭头连接符 4097"/>
          <p:cNvCxnSpPr>
            <a:endCxn id="17" idx="0"/>
          </p:cNvCxnSpPr>
          <p:nvPr/>
        </p:nvCxnSpPr>
        <p:spPr>
          <a:xfrm>
            <a:off x="3357245" y="2859723"/>
            <a:ext cx="0" cy="26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0" name="矩形: 圆角 4099"/>
          <p:cNvSpPr/>
          <p:nvPr/>
        </p:nvSpPr>
        <p:spPr>
          <a:xfrm>
            <a:off x="3119120" y="2631123"/>
            <a:ext cx="4746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阻塞</a:t>
            </a:r>
          </a:p>
        </p:txBody>
      </p:sp>
      <p:sp>
        <p:nvSpPr>
          <p:cNvPr id="6177" name="文本框 4099"/>
          <p:cNvSpPr txBox="1"/>
          <p:nvPr/>
        </p:nvSpPr>
        <p:spPr>
          <a:xfrm>
            <a:off x="1039495" y="3947160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</a:p>
        </p:txBody>
      </p:sp>
      <p:sp>
        <p:nvSpPr>
          <p:cNvPr id="6178" name="文本框 4100"/>
          <p:cNvSpPr txBox="1"/>
          <p:nvPr/>
        </p:nvSpPr>
        <p:spPr>
          <a:xfrm>
            <a:off x="1060133" y="4347210"/>
            <a:ext cx="38481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79" name="文本框 4100"/>
          <p:cNvSpPr txBox="1"/>
          <p:nvPr/>
        </p:nvSpPr>
        <p:spPr>
          <a:xfrm>
            <a:off x="1060133" y="4690110"/>
            <a:ext cx="45593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80" name="文本框 4100"/>
          <p:cNvSpPr txBox="1"/>
          <p:nvPr/>
        </p:nvSpPr>
        <p:spPr>
          <a:xfrm>
            <a:off x="1060133" y="5028248"/>
            <a:ext cx="85613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运行过程中（还不到一个时间片），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阻塞了（系统延时或等待信号量等），此时直接切换到下一个任务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1" name="文本框 4100"/>
          <p:cNvSpPr txBox="1"/>
          <p:nvPr/>
        </p:nvSpPr>
        <p:spPr>
          <a:xfrm>
            <a:off x="1060133" y="5329873"/>
            <a:ext cx="35734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82" name="文本框 42"/>
          <p:cNvSpPr txBox="1"/>
          <p:nvPr/>
        </p:nvSpPr>
        <p:spPr>
          <a:xfrm>
            <a:off x="999808" y="2000885"/>
            <a:ext cx="86836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同等优先级任务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轮流地享有相同的 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CPU 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时间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(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可设置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)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 叫时间片，在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FreeRTOS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中，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一个时间片就等于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SysTick 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中断周期</a:t>
            </a:r>
          </a:p>
        </p:txBody>
      </p:sp>
      <p:sp>
        <p:nvSpPr>
          <p:cNvPr id="6183" name="文本框 43"/>
          <p:cNvSpPr txBox="1"/>
          <p:nvPr/>
        </p:nvSpPr>
        <p:spPr>
          <a:xfrm>
            <a:off x="5268595" y="3999548"/>
            <a:ext cx="4545013" cy="6175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、注意没有用完的时间片不会再使用，下次任务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得到执行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还是按照一个时间片的时钟节拍运行</a:t>
            </a:r>
          </a:p>
        </p:txBody>
      </p:sp>
      <p:sp>
        <p:nvSpPr>
          <p:cNvPr id="6184" name="文本框 44"/>
          <p:cNvSpPr txBox="1"/>
          <p:nvPr/>
        </p:nvSpPr>
        <p:spPr>
          <a:xfrm>
            <a:off x="5268595" y="3705860"/>
            <a:ext cx="3743325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、一个时间片大小，取决为滴答定时器中断周期</a:t>
            </a:r>
          </a:p>
        </p:txBody>
      </p:sp>
      <p:sp>
        <p:nvSpPr>
          <p:cNvPr id="41" name="文本框 42"/>
          <p:cNvSpPr txBox="1"/>
          <p:nvPr/>
        </p:nvSpPr>
        <p:spPr>
          <a:xfrm>
            <a:off x="5260658" y="3382010"/>
            <a:ext cx="3282950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、同等优先级任务，轮流执行；时间片流转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6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5" grpId="0"/>
      <p:bldP spid="6156" grpId="0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6168" grpId="0"/>
      <p:bldP spid="36" grpId="0"/>
      <p:bldP spid="37" grpId="0"/>
      <p:bldP spid="38" grpId="0"/>
      <p:bldP spid="39" grpId="0"/>
      <p:bldP spid="4100" grpId="0" bldLvl="0" animBg="1"/>
      <p:bldP spid="6177" grpId="0"/>
      <p:bldP spid="6178" grpId="0"/>
      <p:bldP spid="6179" grpId="0"/>
      <p:bldP spid="6180" grpId="0"/>
      <p:bldP spid="6181" grpId="0"/>
      <p:bldP spid="6182" grpId="0"/>
      <p:bldP spid="6183" grpId="0"/>
      <p:bldP spid="6184" grpId="0"/>
      <p:bldP spid="4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503238" y="12776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"/>
          <p:cNvSpPr txBox="1"/>
          <p:nvPr/>
        </p:nvSpPr>
        <p:spPr>
          <a:xfrm>
            <a:off x="858838" y="1907858"/>
            <a:ext cx="288448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中任务共存在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种状态：</a:t>
            </a:r>
          </a:p>
        </p:txBody>
      </p:sp>
      <p:sp>
        <p:nvSpPr>
          <p:cNvPr id="7" name="矩形: 圆角 2"/>
          <p:cNvSpPr/>
          <p:nvPr>
            <p:custDataLst>
              <p:tags r:id="rId1"/>
            </p:custDataLst>
          </p:nvPr>
        </p:nvSpPr>
        <p:spPr>
          <a:xfrm>
            <a:off x="982663" y="2539683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、运行态</a:t>
            </a: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982663" y="3132990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、就绪态</a:t>
            </a: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982663" y="3726297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、阻塞态</a:t>
            </a:r>
          </a:p>
        </p:txBody>
      </p:sp>
      <p:sp>
        <p:nvSpPr>
          <p:cNvPr id="15" name="矩形: 圆角 14"/>
          <p:cNvSpPr/>
          <p:nvPr/>
        </p:nvSpPr>
        <p:spPr>
          <a:xfrm>
            <a:off x="982663" y="4338320"/>
            <a:ext cx="1098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、挂起态</a:t>
            </a:r>
          </a:p>
        </p:txBody>
      </p:sp>
      <p:sp>
        <p:nvSpPr>
          <p:cNvPr id="7182" name="文本框 15"/>
          <p:cNvSpPr txBox="1"/>
          <p:nvPr>
            <p:custDataLst>
              <p:tags r:id="rId4"/>
            </p:custDataLst>
          </p:nvPr>
        </p:nvSpPr>
        <p:spPr>
          <a:xfrm>
            <a:off x="2101378" y="2544532"/>
            <a:ext cx="751253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正在执行的任务，该任务就处于运行态，注意在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中，同一时间仅一个任务处于运行态</a:t>
            </a:r>
          </a:p>
        </p:txBody>
      </p:sp>
      <p:sp>
        <p:nvSpPr>
          <p:cNvPr id="7183" name="文本框 16"/>
          <p:cNvSpPr txBox="1"/>
          <p:nvPr>
            <p:custDataLst>
              <p:tags r:id="rId5"/>
            </p:custDataLst>
          </p:nvPr>
        </p:nvSpPr>
        <p:spPr>
          <a:xfrm>
            <a:off x="2101378" y="3142690"/>
            <a:ext cx="603977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如果该任务已经能够被执行，但当前还未被执行，那么该任务处于就绪态</a:t>
            </a:r>
          </a:p>
        </p:txBody>
      </p:sp>
      <p:sp>
        <p:nvSpPr>
          <p:cNvPr id="7184" name="文本框 17"/>
          <p:cNvSpPr txBox="1"/>
          <p:nvPr>
            <p:custDataLst>
              <p:tags r:id="rId6"/>
            </p:custDataLst>
          </p:nvPr>
        </p:nvSpPr>
        <p:spPr>
          <a:xfrm>
            <a:off x="2101378" y="3740847"/>
            <a:ext cx="5895889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如果一个任务因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延时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或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等待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外部事件发生，那么这个任务就处于阻塞态 </a:t>
            </a:r>
          </a:p>
        </p:txBody>
      </p:sp>
      <p:sp>
        <p:nvSpPr>
          <p:cNvPr id="7185" name="文本框 18"/>
          <p:cNvSpPr txBox="1"/>
          <p:nvPr/>
        </p:nvSpPr>
        <p:spPr>
          <a:xfrm>
            <a:off x="2081213" y="4174808"/>
            <a:ext cx="6942137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类似暂停，调用函数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进入挂起态，需要调用解挂函数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vTaskResume()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才可以进入就绪态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" grpId="0" bldLvl="0" animBg="1"/>
      <p:bldP spid="13" grpId="0" bldLvl="0" animBg="1"/>
      <p:bldP spid="14" grpId="0" bldLvl="0" animBg="1"/>
      <p:bldP spid="15" grpId="0" bldLvl="0" animBg="1"/>
      <p:bldP spid="7182" grpId="0"/>
      <p:bldP spid="7183" grpId="0"/>
      <p:bldP spid="7184" grpId="0"/>
      <p:bldP spid="718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9"/>
          <p:cNvSpPr txBox="1"/>
          <p:nvPr/>
        </p:nvSpPr>
        <p:spPr>
          <a:xfrm>
            <a:off x="111474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28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755" y="2190433"/>
            <a:ext cx="3689350" cy="31464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" name="文本框 12"/>
          <p:cNvSpPr txBox="1"/>
          <p:nvPr/>
        </p:nvSpPr>
        <p:spPr>
          <a:xfrm>
            <a:off x="146875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四种任务状态之间的转换图： </a:t>
            </a:r>
          </a:p>
        </p:txBody>
      </p:sp>
      <p:sp>
        <p:nvSpPr>
          <p:cNvPr id="30" name="文本框 12"/>
          <p:cNvSpPr txBox="1"/>
          <p:nvPr/>
        </p:nvSpPr>
        <p:spPr>
          <a:xfrm>
            <a:off x="515810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</a:p>
        </p:txBody>
      </p:sp>
      <p:sp>
        <p:nvSpPr>
          <p:cNvPr id="31" name="文本框 13"/>
          <p:cNvSpPr txBox="1"/>
          <p:nvPr/>
        </p:nvSpPr>
        <p:spPr>
          <a:xfrm>
            <a:off x="5158105" y="2319020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、仅就绪态可转变成运行态</a:t>
            </a:r>
          </a:p>
        </p:txBody>
      </p:sp>
      <p:sp>
        <p:nvSpPr>
          <p:cNvPr id="32" name="文本框 14"/>
          <p:cNvSpPr txBox="1"/>
          <p:nvPr/>
        </p:nvSpPr>
        <p:spPr>
          <a:xfrm>
            <a:off x="5162868" y="2776220"/>
            <a:ext cx="4225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、其他状态的任务想运行，必须先转变成就绪态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051878" y="128206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2"/>
          <p:cNvSpPr txBox="1"/>
          <p:nvPr/>
        </p:nvSpPr>
        <p:spPr>
          <a:xfrm>
            <a:off x="1405890" y="1912303"/>
            <a:ext cx="54879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中无非就四种状态，运行态，就绪态、阻塞态、挂起态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1494790" y="2912428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</a:p>
        </p:txBody>
      </p:sp>
      <p:sp>
        <p:nvSpPr>
          <p:cNvPr id="17" name="矩形: 圆角 16"/>
          <p:cNvSpPr/>
          <p:nvPr/>
        </p:nvSpPr>
        <p:spPr>
          <a:xfrm>
            <a:off x="1494790" y="3393440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</a:p>
        </p:txBody>
      </p:sp>
      <p:sp>
        <p:nvSpPr>
          <p:cNvPr id="18" name="矩形: 圆角 17"/>
          <p:cNvSpPr/>
          <p:nvPr/>
        </p:nvSpPr>
        <p:spPr>
          <a:xfrm>
            <a:off x="1494790" y="3866515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</a:p>
        </p:txBody>
      </p:sp>
      <p:sp>
        <p:nvSpPr>
          <p:cNvPr id="9229" name="文本框 15"/>
          <p:cNvSpPr txBox="1"/>
          <p:nvPr/>
        </p:nvSpPr>
        <p:spPr>
          <a:xfrm>
            <a:off x="2718753" y="2891790"/>
            <a:ext cx="40640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，其中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x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代表任务优先级数值</a:t>
            </a:r>
          </a:p>
        </p:txBody>
      </p:sp>
      <p:sp>
        <p:nvSpPr>
          <p:cNvPr id="9230" name="文本框 16"/>
          <p:cNvSpPr txBox="1"/>
          <p:nvPr/>
        </p:nvSpPr>
        <p:spPr>
          <a:xfrm>
            <a:off x="2718753" y="3387090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</a:p>
        </p:txBody>
      </p:sp>
      <p:sp>
        <p:nvSpPr>
          <p:cNvPr id="9231" name="文本框 17"/>
          <p:cNvSpPr txBox="1"/>
          <p:nvPr/>
        </p:nvSpPr>
        <p:spPr>
          <a:xfrm>
            <a:off x="2718753" y="3885565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</a:p>
        </p:txBody>
      </p:sp>
      <p:sp>
        <p:nvSpPr>
          <p:cNvPr id="9232" name="文本框 22"/>
          <p:cNvSpPr txBox="1"/>
          <p:nvPr/>
        </p:nvSpPr>
        <p:spPr>
          <a:xfrm>
            <a:off x="1405890" y="2282190"/>
            <a:ext cx="691673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这四种状态中，除了运行态，其他三种任务状态的任务都有其对应的任务状态列表 </a:t>
            </a:r>
          </a:p>
        </p:txBody>
      </p:sp>
      <p:sp>
        <p:nvSpPr>
          <p:cNvPr id="2" name="左大括号 1"/>
          <p:cNvSpPr/>
          <p:nvPr/>
        </p:nvSpPr>
        <p:spPr>
          <a:xfrm>
            <a:off x="6576378" y="2755265"/>
            <a:ext cx="223838" cy="1911350"/>
          </a:xfrm>
          <a:prstGeom prst="leftBrace">
            <a:avLst>
              <a:gd name="adj1" fmla="val 8333"/>
              <a:gd name="adj2" fmla="val 1475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7233920" y="2704465"/>
            <a:ext cx="168973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7233920" y="305689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7233920" y="4116070"/>
            <a:ext cx="172593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7233920" y="341122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7233920" y="4463415"/>
            <a:ext cx="171704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7233920" y="3755390"/>
            <a:ext cx="176149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54190" y="2706053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54190" y="297116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6854190" y="326802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6854190" y="362839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854190" y="400780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6854190" y="439197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793865" y="2726690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793865" y="3025140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793865" y="3353753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819265" y="3715703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824028" y="4107815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824028" y="4444365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522153" y="5050790"/>
            <a:ext cx="52800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位的变量，当某个位，置一时，代表所对应的优先级就绪列表有任务存在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6" grpId="0" bldLvl="0" animBg="1"/>
      <p:bldP spid="17" grpId="0" bldLvl="0" animBg="1"/>
      <p:bldP spid="18" grpId="0" bldLvl="0" animBg="1"/>
      <p:bldP spid="9229" grpId="0"/>
      <p:bldP spid="9230" grpId="0"/>
      <p:bldP spid="9231" grpId="0"/>
      <p:bldP spid="9232" grpId="0"/>
      <p:bldP spid="2" grpId="0" bldLvl="0" animBg="1"/>
      <p:bldP spid="3" grpId="0" bldLvl="0" animBg="1"/>
      <p:bldP spid="23" grpId="0" bldLvl="0" animBg="1"/>
      <p:bldP spid="24" grpId="0" bldLvl="0" animBg="1"/>
      <p:bldP spid="27" grpId="0" bldLvl="0" animBg="1"/>
      <p:bldP spid="28" grpId="0" bldLvl="0" animBg="1"/>
      <p:bldP spid="29" grpId="0" bldLvl="0" animBg="1"/>
      <p:bldP spid="8" grpId="0" bldLvl="0" animBg="1"/>
      <p:bldP spid="13" grpId="0"/>
      <p:bldP spid="40" grpId="0"/>
      <p:bldP spid="41" grpId="0"/>
      <p:bldP spid="42" grpId="0"/>
      <p:bldP spid="43" grpId="0"/>
      <p:bldP spid="4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233488" y="135255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619250" y="3006725"/>
            <a:ext cx="1225550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</a:p>
        </p:txBody>
      </p:sp>
      <p:sp>
        <p:nvSpPr>
          <p:cNvPr id="17" name="矩形: 圆角 16"/>
          <p:cNvSpPr/>
          <p:nvPr/>
        </p:nvSpPr>
        <p:spPr>
          <a:xfrm>
            <a:off x="1619250" y="3922713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</a:p>
        </p:txBody>
      </p:sp>
      <p:sp>
        <p:nvSpPr>
          <p:cNvPr id="18" name="矩形: 圆角 17"/>
          <p:cNvSpPr/>
          <p:nvPr/>
        </p:nvSpPr>
        <p:spPr>
          <a:xfrm>
            <a:off x="1619250" y="4864100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</a:p>
        </p:txBody>
      </p:sp>
      <p:sp>
        <p:nvSpPr>
          <p:cNvPr id="19" name="文本框 15"/>
          <p:cNvSpPr txBox="1"/>
          <p:nvPr/>
        </p:nvSpPr>
        <p:spPr>
          <a:xfrm>
            <a:off x="2844800" y="2986088"/>
            <a:ext cx="1701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0" name="文本框 16"/>
          <p:cNvSpPr txBox="1"/>
          <p:nvPr/>
        </p:nvSpPr>
        <p:spPr>
          <a:xfrm>
            <a:off x="2844800" y="3914775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</a:p>
        </p:txBody>
      </p:sp>
      <p:sp>
        <p:nvSpPr>
          <p:cNvPr id="21" name="文本框 17"/>
          <p:cNvSpPr txBox="1"/>
          <p:nvPr/>
        </p:nvSpPr>
        <p:spPr>
          <a:xfrm>
            <a:off x="2844800" y="4883150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619250" y="1870075"/>
            <a:ext cx="62896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假设，创建三个任务分别是：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76400" y="2359025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2705100" y="2349500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3733800" y="2349500"/>
            <a:ext cx="600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4460875" y="2657475"/>
            <a:ext cx="176213" cy="887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637088" y="252412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[3]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637088" y="2927350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[2]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637088" y="333057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[1]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10263" name="文本框 24"/>
          <p:cNvSpPr txBox="1"/>
          <p:nvPr/>
        </p:nvSpPr>
        <p:spPr>
          <a:xfrm>
            <a:off x="4546600" y="3852863"/>
            <a:ext cx="5605463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调度器总是在所有处于就绪列表的任务中，选择具有最高优先级的任务来执行 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546600" y="4273550"/>
            <a:ext cx="37338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，优先级均为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呢？</a:t>
            </a:r>
          </a:p>
        </p:txBody>
      </p:sp>
      <p:sp>
        <p:nvSpPr>
          <p:cNvPr id="26" name="矩形 25"/>
          <p:cNvSpPr/>
          <p:nvPr/>
        </p:nvSpPr>
        <p:spPr>
          <a:xfrm>
            <a:off x="4546600" y="4675188"/>
            <a:ext cx="3262313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相同优先级的任务会连接在同一个就绪列表上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14965 -3.08642E-6 C 0.21701 -3.08642E-6 0.29982 0.00988 0.29982 0.01821 L 0.29982 0.03642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00" y="18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2059 -3.08642E-6 C 0.29843 -3.08642E-6 0.41232 0.03087 0.41232 0.05618 L 0.41232 0.11327 " pathEditMode="relative" rAng="0" ptsTypes="AAAA">
                                      <p:cBhvr>
                                        <p:cTn id="7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00" y="5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93827E-6 L 0.26198 -4.93827E-6 C 0.37951 -4.93827E-6 0.52413 0.05247 0.52413 0.09507 L 0.52413 0.19044 " pathEditMode="relative" rAng="0" ptsTypes="AAAA">
                                      <p:cBhvr>
                                        <p:cTn id="7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200" y="9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232 0.11327 L 0.45139 0.11327 C 0.46909 0.11327 0.4908 0.13519 0.4908 0.15309 L 0.4908 0.19352 " pathEditMode="relative" rAng="0" ptsTypes="AAAA">
                                      <p:cBhvr>
                                        <p:cTn id="88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00" y="4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982 0.03148 L 0.37604 0.03148 C 0.41041 0.03148 0.45329 0.07562 0.45329 0.11173 L 0.45329 0.19321 " pathEditMode="relative" rAng="0" ptsTypes="AAAA">
                                      <p:cBhvr>
                                        <p:cTn id="9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700" y="81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ldLvl="0" animBg="1"/>
      <p:bldP spid="17" grpId="0" bldLvl="0" animBg="1"/>
      <p:bldP spid="18" grpId="0" bldLvl="0" animBg="1"/>
      <p:bldP spid="19" grpId="0"/>
      <p:bldP spid="20" grpId="0"/>
      <p:bldP spid="21" grpId="0"/>
      <p:bldP spid="22" grpId="0"/>
      <p:bldP spid="24" grpId="0" bldLvl="0" animBg="1"/>
      <p:bldP spid="24" grpId="1" bldLvl="0" animBg="1"/>
      <p:bldP spid="28" grpId="0" bldLvl="0" animBg="1"/>
      <p:bldP spid="28" grpId="1" bldLvl="0" animBg="1"/>
      <p:bldP spid="28" grpId="2" bldLvl="0" animBg="1"/>
      <p:bldP spid="29" grpId="0" bldLvl="0" animBg="1"/>
      <p:bldP spid="29" grpId="1" bldLvl="0" animBg="1"/>
      <p:bldP spid="29" grpId="2" bldLvl="0" animBg="1"/>
      <p:bldP spid="2" grpId="0" bldLvl="0" animBg="1"/>
      <p:bldP spid="30" grpId="0"/>
      <p:bldP spid="31" grpId="0"/>
      <p:bldP spid="32" grpId="0"/>
      <p:bldP spid="10263" grpId="0"/>
      <p:bldP spid="25" grpId="0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9"/>
          <p:cNvSpPr txBox="1"/>
          <p:nvPr/>
        </p:nvSpPr>
        <p:spPr>
          <a:xfrm>
            <a:off x="181293" y="736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任务是怎么调度的？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245110" y="784225"/>
            <a:ext cx="84550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404040"/>
                </a:solidFill>
                <a:latin typeface="quote-cjk-patch"/>
                <a:ea typeface="quote-cjk-patch"/>
              </a:rPr>
              <a:t>调度器的核心任务是：始终让最高优先级的、就绪的任务运行。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775" y="1151255"/>
            <a:ext cx="6088380" cy="46107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44475" y="1285875"/>
            <a:ext cx="5702300" cy="4476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R0-R12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：通用寄存器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R0‐R12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都是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位通用寄存器，用于数据操作。但是注意：绝大多数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16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指令只能访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R0‐R7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Thumb‐2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指令可以访问所有寄存器。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 R13: 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两个堆栈指针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拥有两个堆栈指针，然而它们是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，因此任一时刻只能使用其中的一个。 </a:t>
            </a: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）：复位后缺省使用的堆栈指针，用于操作系统内核以及异常处理例程（包括中断服务例程） </a:t>
            </a: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进程堆栈指针（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）：由用户的应用程序代码使用。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堆栈指针的最低两位永远是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0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，这意味着堆栈总是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字节对齐的。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编程领域中，凡是打断程序顺序执行的事件，都被称为异常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(exception)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。除了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外部中断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外，当有指令执 行了“非法操作”，或者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访问被禁的内存区间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，因各种错误产生的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fault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，以及不可屏蔽中断发生时，都会打断程序的 执行，这些情况统称为异常。在不严格的上下文中，异常与中断也可以混用。另外，程序代码也可以主动请求进入 异常状态的（常用于系统调用）。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：连接寄存器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当呼叫一个子程序时，由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存储返回地址不像大多数其它处理器，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为了减少访问内存的次数（访问内存的操作往往要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个以上指令周期，带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MMU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cache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的就更加不确定了），把返回地址直接存储在寄存器中。这样足以使很多只有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级子程序调用的代码无需访问内存（堆栈内存），从而提高了子程序调用的效率。如果多于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级，则需要把前一级的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值压到堆栈里。在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上编程时，应尽量只使用寄存器保存中间结果，迫不得以时才访问内存。在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RISC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处理器中，为了强调访内操作越过了处理器的界线，并且带来了对性能的不利影响，给它取了一个专业的术语：溅出。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R15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：程序计数寄存器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指向当前的程序地址。如果修改它的值，就能改变程序的执行流（很多高级技巧就在这里面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——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译注）。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特殊功能寄存器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还在内核水平上搭载了若干特殊功能寄存器，包括程序状态字寄存器组（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PSRs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）中断屏蔽寄存器组（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PRIMASK, FAULTMASK, BASEPRI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）控制寄存器（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CONTROL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40348" y="13779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开启任务调度器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42"/>
          <p:cNvSpPr txBox="1"/>
          <p:nvPr/>
        </p:nvSpPr>
        <p:spPr>
          <a:xfrm>
            <a:off x="570548" y="674370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vTaskStartScheduler()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6" name="文本框 17"/>
          <p:cNvSpPr txBox="1"/>
          <p:nvPr/>
        </p:nvSpPr>
        <p:spPr>
          <a:xfrm>
            <a:off x="570548" y="1025208"/>
            <a:ext cx="77231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作用：用于启动任务调度器，任务调度器启动后，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便会开始进行任务调度 </a:t>
            </a:r>
          </a:p>
        </p:txBody>
      </p:sp>
      <p:sp>
        <p:nvSpPr>
          <p:cNvPr id="4107" name="文本框 19"/>
          <p:cNvSpPr txBox="1"/>
          <p:nvPr/>
        </p:nvSpPr>
        <p:spPr>
          <a:xfrm>
            <a:off x="570548" y="1847533"/>
            <a:ext cx="400367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、创建空闲任务</a:t>
            </a:r>
          </a:p>
        </p:txBody>
      </p:sp>
      <p:sp>
        <p:nvSpPr>
          <p:cNvPr id="4108" name="文本框 21"/>
          <p:cNvSpPr txBox="1"/>
          <p:nvPr/>
        </p:nvSpPr>
        <p:spPr>
          <a:xfrm>
            <a:off x="570548" y="2253933"/>
            <a:ext cx="4567237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、如果使能软件定时器，则创建定时器任务</a:t>
            </a:r>
          </a:p>
        </p:txBody>
      </p:sp>
      <p:sp>
        <p:nvSpPr>
          <p:cNvPr id="4109" name="文本框 23"/>
          <p:cNvSpPr txBox="1"/>
          <p:nvPr/>
        </p:nvSpPr>
        <p:spPr>
          <a:xfrm>
            <a:off x="570548" y="2660333"/>
            <a:ext cx="6037262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、关闭中断，防止调度器开启之前或过程中，受中断干扰，会在运行第一个任务时打开中断</a:t>
            </a:r>
          </a:p>
        </p:txBody>
      </p:sp>
      <p:sp>
        <p:nvSpPr>
          <p:cNvPr id="4110" name="文本框 25"/>
          <p:cNvSpPr txBox="1"/>
          <p:nvPr/>
        </p:nvSpPr>
        <p:spPr>
          <a:xfrm>
            <a:off x="570548" y="3066733"/>
            <a:ext cx="428942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、初始化全局变量，并将任务调度器的运行标志设置为已运行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27"/>
          <p:cNvSpPr txBox="1"/>
          <p:nvPr/>
        </p:nvSpPr>
        <p:spPr>
          <a:xfrm>
            <a:off x="570548" y="3474720"/>
            <a:ext cx="4129087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、初始化任务运行时间统计功能的时基定时器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29"/>
          <p:cNvSpPr txBox="1"/>
          <p:nvPr/>
        </p:nvSpPr>
        <p:spPr>
          <a:xfrm>
            <a:off x="570548" y="3881120"/>
            <a:ext cx="4129087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xPortStartScheduler() </a:t>
            </a:r>
          </a:p>
        </p:txBody>
      </p:sp>
      <p:sp>
        <p:nvSpPr>
          <p:cNvPr id="4113" name="文本框 17"/>
          <p:cNvSpPr txBox="1"/>
          <p:nvPr/>
        </p:nvSpPr>
        <p:spPr>
          <a:xfrm>
            <a:off x="570548" y="144748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</a:p>
        </p:txBody>
      </p:sp>
      <p:sp>
        <p:nvSpPr>
          <p:cNvPr id="6152" name="文本框 9"/>
          <p:cNvSpPr txBox="1"/>
          <p:nvPr/>
        </p:nvSpPr>
        <p:spPr>
          <a:xfrm>
            <a:off x="5463858" y="31273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</a:t>
            </a:r>
            <a:r>
              <a:rPr lang="en-US" altLang="zh-CN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xPortStartScheduler() 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7"/>
          <p:cNvSpPr txBox="1"/>
          <p:nvPr/>
        </p:nvSpPr>
        <p:spPr>
          <a:xfrm>
            <a:off x="4139883" y="3684588"/>
            <a:ext cx="7467600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作用：该函数用于完成启动任务调度器中与硬件架构相关的配置部分，以及启动第一个任务 </a:t>
            </a:r>
          </a:p>
        </p:txBody>
      </p:sp>
      <p:sp>
        <p:nvSpPr>
          <p:cNvPr id="5130" name="文本框 19"/>
          <p:cNvSpPr txBox="1"/>
          <p:nvPr/>
        </p:nvSpPr>
        <p:spPr>
          <a:xfrm>
            <a:off x="4170045" y="4481513"/>
            <a:ext cx="5675313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、检测用户在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FreeRTOSConfig.h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文件中对中断的相关配置是否有误 </a:t>
            </a:r>
          </a:p>
        </p:txBody>
      </p:sp>
      <p:sp>
        <p:nvSpPr>
          <p:cNvPr id="5131" name="文本框 21"/>
          <p:cNvSpPr txBox="1"/>
          <p:nvPr/>
        </p:nvSpPr>
        <p:spPr>
          <a:xfrm>
            <a:off x="4170045" y="4918075"/>
            <a:ext cx="560228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的中断优先级为最低优先级</a:t>
            </a:r>
          </a:p>
        </p:txBody>
      </p:sp>
      <p:sp>
        <p:nvSpPr>
          <p:cNvPr id="5132" name="文本框 23"/>
          <p:cNvSpPr txBox="1"/>
          <p:nvPr/>
        </p:nvSpPr>
        <p:spPr>
          <a:xfrm>
            <a:off x="4170045" y="5354638"/>
            <a:ext cx="377983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vPortSetupTimerInterrupt()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3" name="文本框 25"/>
          <p:cNvSpPr txBox="1"/>
          <p:nvPr/>
        </p:nvSpPr>
        <p:spPr>
          <a:xfrm>
            <a:off x="4170045" y="5791200"/>
            <a:ext cx="653573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、初始化临界区嵌套计数器为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4" name="文本框 27"/>
          <p:cNvSpPr txBox="1"/>
          <p:nvPr/>
        </p:nvSpPr>
        <p:spPr>
          <a:xfrm>
            <a:off x="4170045" y="6227763"/>
            <a:ext cx="412908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prvEnableVFP()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使能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FPU</a:t>
            </a:r>
          </a:p>
        </p:txBody>
      </p:sp>
      <p:sp>
        <p:nvSpPr>
          <p:cNvPr id="5135" name="文本框 29"/>
          <p:cNvSpPr txBox="1"/>
          <p:nvPr/>
        </p:nvSpPr>
        <p:spPr>
          <a:xfrm>
            <a:off x="4170045" y="6664325"/>
            <a:ext cx="4289425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prvStartFirstTask()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启动第一个任务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6" name="文本框 15"/>
          <p:cNvSpPr txBox="1"/>
          <p:nvPr/>
        </p:nvSpPr>
        <p:spPr>
          <a:xfrm>
            <a:off x="4139883" y="408781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4108" grpId="0"/>
      <p:bldP spid="4109" grpId="0"/>
      <p:bldP spid="4110" grpId="0"/>
      <p:bldP spid="4111" grpId="0"/>
      <p:bldP spid="4112" grpId="0"/>
      <p:bldP spid="4113" grpId="0"/>
      <p:bldP spid="5130" grpId="0"/>
      <p:bldP spid="5131" grpId="0"/>
      <p:bldP spid="5132" grpId="0"/>
      <p:bldP spid="5133" grpId="0"/>
      <p:bldP spid="5134" grpId="0"/>
      <p:bldP spid="5135" grpId="0"/>
      <p:bldP spid="513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4" name="文本框 9"/>
          <p:cNvSpPr txBox="1"/>
          <p:nvPr/>
        </p:nvSpPr>
        <p:spPr>
          <a:xfrm>
            <a:off x="1432878" y="803275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659890" y="1327150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任务切换的本质：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就是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寄存器的切换。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8" name="文本框 12"/>
          <p:cNvSpPr txBox="1"/>
          <p:nvPr/>
        </p:nvSpPr>
        <p:spPr>
          <a:xfrm>
            <a:off x="1656715" y="3009900"/>
            <a:ext cx="68151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保存现场，对任务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恢复现场，这个整体的过程称之为：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上下文切换</a:t>
            </a:r>
          </a:p>
        </p:txBody>
      </p:sp>
      <p:sp>
        <p:nvSpPr>
          <p:cNvPr id="12299" name="文本框 13"/>
          <p:cNvSpPr txBox="1"/>
          <p:nvPr/>
        </p:nvSpPr>
        <p:spPr>
          <a:xfrm>
            <a:off x="1656715" y="2128838"/>
            <a:ext cx="79629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第一步：需暂停任务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的执行，并将此时任务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的寄存器保存到任务堆栈，这个过程叫做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保存现场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2300" name="文本框 14"/>
          <p:cNvSpPr txBox="1"/>
          <p:nvPr/>
        </p:nvSpPr>
        <p:spPr>
          <a:xfrm>
            <a:off x="1656715" y="2544763"/>
            <a:ext cx="837565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的各个寄存器值（被存于任务堆栈中）恢复到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寄存器中，这个过程叫做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恢复现场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</a:p>
        </p:txBody>
      </p:sp>
      <p:sp>
        <p:nvSpPr>
          <p:cNvPr id="12301" name="文本框 16"/>
          <p:cNvSpPr txBox="1"/>
          <p:nvPr/>
        </p:nvSpPr>
        <p:spPr>
          <a:xfrm>
            <a:off x="1656715" y="178911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假设当由任务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切换到任务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时，主要分为两步：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3063" y="376078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堆的作用是提供全局的、动态的、生命周期可控的内存空间。当你需要在多个函数间共享一块数据，或者需要的数据大小在编译时无法确定（比如根据用户输入决定数组大小），就必须使用堆。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401118" y="361188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栈是为函数的执行而服务的，它的核心作用是维护函数调用的上下文。每当调用一个函数时，系统会在栈上为其分配一块称为 “栈帧 (Stack Frame)” 的内存区域，用于存放：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298" grpId="0"/>
      <p:bldP spid="12299" grpId="0"/>
      <p:bldP spid="12300" grpId="0"/>
      <p:bldP spid="1230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文本框 9"/>
          <p:cNvSpPr txBox="1"/>
          <p:nvPr/>
        </p:nvSpPr>
        <p:spPr>
          <a:xfrm>
            <a:off x="1669733" y="584200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13315" name="组合 18"/>
          <p:cNvGrpSpPr/>
          <p:nvPr/>
        </p:nvGrpSpPr>
        <p:grpSpPr>
          <a:xfrm>
            <a:off x="6648133" y="1768475"/>
            <a:ext cx="1263650" cy="3794125"/>
            <a:chOff x="3682471" y="835824"/>
            <a:chExt cx="1263487" cy="3794125"/>
          </a:xfrm>
        </p:grpSpPr>
        <p:sp>
          <p:nvSpPr>
            <p:cNvPr id="78" name="矩形 77"/>
            <p:cNvSpPr/>
            <p:nvPr/>
          </p:nvSpPr>
          <p:spPr>
            <a:xfrm>
              <a:off x="3711042" y="1078712"/>
              <a:ext cx="1199995" cy="3551237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425" name="文本框 112"/>
            <p:cNvSpPr txBox="1"/>
            <p:nvPr/>
          </p:nvSpPr>
          <p:spPr>
            <a:xfrm>
              <a:off x="3682471" y="835824"/>
              <a:ext cx="1263487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的任务堆栈</a:t>
              </a:r>
            </a:p>
          </p:txBody>
        </p:sp>
        <p:cxnSp>
          <p:nvCxnSpPr>
            <p:cNvPr id="80" name="直接连接符 79"/>
            <p:cNvCxnSpPr/>
            <p:nvPr/>
          </p:nvCxnSpPr>
          <p:spPr>
            <a:xfrm>
              <a:off x="3701519" y="12787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/>
            <p:cNvCxnSpPr/>
            <p:nvPr/>
          </p:nvCxnSpPr>
          <p:spPr>
            <a:xfrm>
              <a:off x="3701519" y="14993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/>
            <p:nvPr/>
          </p:nvCxnSpPr>
          <p:spPr>
            <a:xfrm>
              <a:off x="3701519" y="17200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701519" y="19407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/>
            <p:cNvCxnSpPr/>
            <p:nvPr/>
          </p:nvCxnSpPr>
          <p:spPr>
            <a:xfrm>
              <a:off x="3701519" y="21613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>
              <a:off x="3701519" y="238204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701519" y="260271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/>
            <p:cNvCxnSpPr/>
            <p:nvPr/>
          </p:nvCxnSpPr>
          <p:spPr>
            <a:xfrm>
              <a:off x="3701519" y="282337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>
            <a:xfrm>
              <a:off x="3701519" y="30440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连接符 88"/>
            <p:cNvCxnSpPr/>
            <p:nvPr/>
          </p:nvCxnSpPr>
          <p:spPr>
            <a:xfrm>
              <a:off x="3701519" y="32646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连接符 89"/>
            <p:cNvCxnSpPr/>
            <p:nvPr/>
          </p:nvCxnSpPr>
          <p:spPr>
            <a:xfrm>
              <a:off x="3701519" y="34853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/>
            <p:nvPr/>
          </p:nvCxnSpPr>
          <p:spPr>
            <a:xfrm>
              <a:off x="3701519" y="37060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/>
            <p:cNvCxnSpPr/>
            <p:nvPr/>
          </p:nvCxnSpPr>
          <p:spPr>
            <a:xfrm>
              <a:off x="3711042" y="39266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39" name="文本框 142"/>
            <p:cNvSpPr txBox="1"/>
            <p:nvPr/>
          </p:nvSpPr>
          <p:spPr>
            <a:xfrm>
              <a:off x="3877734" y="1066011"/>
              <a:ext cx="868362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xPSR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0" name="文本框 143"/>
            <p:cNvSpPr txBox="1"/>
            <p:nvPr/>
          </p:nvSpPr>
          <p:spPr>
            <a:xfrm>
              <a:off x="3965046" y="1285086"/>
              <a:ext cx="61266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Task_b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1" name="文本框 144"/>
            <p:cNvSpPr txBox="1"/>
            <p:nvPr/>
          </p:nvSpPr>
          <p:spPr>
            <a:xfrm>
              <a:off x="3938059" y="1513686"/>
              <a:ext cx="71755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2" name="文本框 145"/>
            <p:cNvSpPr txBox="1"/>
            <p:nvPr/>
          </p:nvSpPr>
          <p:spPr>
            <a:xfrm>
              <a:off x="3919009" y="17216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3" name="文本框 146"/>
            <p:cNvSpPr txBox="1"/>
            <p:nvPr/>
          </p:nvSpPr>
          <p:spPr>
            <a:xfrm>
              <a:off x="3936471" y="2170911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4" name="文本框 154"/>
            <p:cNvSpPr txBox="1"/>
            <p:nvPr/>
          </p:nvSpPr>
          <p:spPr>
            <a:xfrm>
              <a:off x="3925359" y="19597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R3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5" name="文本框 155"/>
            <p:cNvSpPr txBox="1"/>
            <p:nvPr/>
          </p:nvSpPr>
          <p:spPr>
            <a:xfrm>
              <a:off x="3944409" y="24042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6" name="文本框 156"/>
            <p:cNvSpPr txBox="1"/>
            <p:nvPr/>
          </p:nvSpPr>
          <p:spPr>
            <a:xfrm>
              <a:off x="3934884" y="2623349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7" name="文本框 157"/>
            <p:cNvSpPr txBox="1"/>
            <p:nvPr/>
          </p:nvSpPr>
          <p:spPr>
            <a:xfrm>
              <a:off x="3780896" y="2839249"/>
              <a:ext cx="982663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EXC_RETURN</a:t>
              </a:r>
            </a:p>
          </p:txBody>
        </p:sp>
        <p:sp>
          <p:nvSpPr>
            <p:cNvPr id="15448" name="文本框 158"/>
            <p:cNvSpPr txBox="1"/>
            <p:nvPr/>
          </p:nvSpPr>
          <p:spPr>
            <a:xfrm>
              <a:off x="3899959" y="3074199"/>
              <a:ext cx="79057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9" name="文本框 159"/>
            <p:cNvSpPr txBox="1"/>
            <p:nvPr/>
          </p:nvSpPr>
          <p:spPr>
            <a:xfrm>
              <a:off x="3899959" y="32837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50" name="文本框 160"/>
            <p:cNvSpPr txBox="1"/>
            <p:nvPr/>
          </p:nvSpPr>
          <p:spPr>
            <a:xfrm>
              <a:off x="4060296" y="3485361"/>
              <a:ext cx="46990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… …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1" name="文本框 161"/>
            <p:cNvSpPr txBox="1"/>
            <p:nvPr/>
          </p:nvSpPr>
          <p:spPr>
            <a:xfrm>
              <a:off x="3919009" y="3713961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R5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52" name="文本框 162"/>
            <p:cNvSpPr txBox="1"/>
            <p:nvPr/>
          </p:nvSpPr>
          <p:spPr>
            <a:xfrm>
              <a:off x="3919009" y="3952086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R4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cxnSp>
          <p:nvCxnSpPr>
            <p:cNvPr id="149" name="直接连接符 148"/>
            <p:cNvCxnSpPr/>
            <p:nvPr/>
          </p:nvCxnSpPr>
          <p:spPr>
            <a:xfrm>
              <a:off x="3701519" y="4182274"/>
              <a:ext cx="1209519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54" name="文本框 162"/>
            <p:cNvSpPr txBox="1"/>
            <p:nvPr/>
          </p:nvSpPr>
          <p:spPr>
            <a:xfrm>
              <a:off x="3769947" y="4334912"/>
              <a:ext cx="10823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其他任务栈空间</a:t>
              </a:r>
            </a:p>
          </p:txBody>
        </p:sp>
      </p:grpSp>
      <p:grpSp>
        <p:nvGrpSpPr>
          <p:cNvPr id="13316" name="组合 21"/>
          <p:cNvGrpSpPr/>
          <p:nvPr/>
        </p:nvGrpSpPr>
        <p:grpSpPr>
          <a:xfrm>
            <a:off x="3743008" y="1762125"/>
            <a:ext cx="2994025" cy="3794125"/>
            <a:chOff x="654944" y="1034655"/>
            <a:chExt cx="2993947" cy="3794125"/>
          </a:xfrm>
        </p:grpSpPr>
        <p:grpSp>
          <p:nvGrpSpPr>
            <p:cNvPr id="15388" name="组合 16"/>
            <p:cNvGrpSpPr/>
            <p:nvPr/>
          </p:nvGrpSpPr>
          <p:grpSpPr>
            <a:xfrm>
              <a:off x="654944" y="1034655"/>
              <a:ext cx="1257300" cy="3794125"/>
              <a:chOff x="537361" y="931072"/>
              <a:chExt cx="1257300" cy="3794125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565935" y="1173960"/>
                <a:ext cx="1200119" cy="3551237"/>
              </a:xfrm>
              <a:prstGeom prst="rect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94" name="文本框 112"/>
              <p:cNvSpPr txBox="1"/>
              <p:nvPr/>
            </p:nvSpPr>
            <p:spPr>
              <a:xfrm>
                <a:off x="537361" y="931072"/>
                <a:ext cx="1257300" cy="26193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任务</a:t>
                </a:r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A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的任务堆栈</a:t>
                </a:r>
              </a:p>
            </p:txBody>
          </p:sp>
          <p:cxnSp>
            <p:nvCxnSpPr>
              <p:cNvPr id="114" name="直接连接符 113"/>
              <p:cNvCxnSpPr/>
              <p:nvPr/>
            </p:nvCxnSpPr>
            <p:spPr>
              <a:xfrm>
                <a:off x="556411" y="13739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/>
              <p:cNvCxnSpPr/>
              <p:nvPr/>
            </p:nvCxnSpPr>
            <p:spPr>
              <a:xfrm>
                <a:off x="556411" y="15946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/>
              <p:cNvCxnSpPr/>
              <p:nvPr/>
            </p:nvCxnSpPr>
            <p:spPr>
              <a:xfrm>
                <a:off x="556411" y="18153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/>
              <p:cNvCxnSpPr/>
              <p:nvPr/>
            </p:nvCxnSpPr>
            <p:spPr>
              <a:xfrm>
                <a:off x="556411" y="20359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/>
              <p:nvPr/>
            </p:nvCxnSpPr>
            <p:spPr>
              <a:xfrm>
                <a:off x="556411" y="22566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/>
              <p:cNvCxnSpPr/>
              <p:nvPr/>
            </p:nvCxnSpPr>
            <p:spPr>
              <a:xfrm>
                <a:off x="556411" y="247729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/>
              <p:cNvCxnSpPr/>
              <p:nvPr/>
            </p:nvCxnSpPr>
            <p:spPr>
              <a:xfrm>
                <a:off x="556411" y="269796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/>
              <p:cNvCxnSpPr/>
              <p:nvPr/>
            </p:nvCxnSpPr>
            <p:spPr>
              <a:xfrm>
                <a:off x="556411" y="291862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/>
              <p:cNvCxnSpPr/>
              <p:nvPr/>
            </p:nvCxnSpPr>
            <p:spPr>
              <a:xfrm>
                <a:off x="556411" y="31392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>
                <a:off x="556411" y="33599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/>
              <p:cNvCxnSpPr/>
              <p:nvPr/>
            </p:nvCxnSpPr>
            <p:spPr>
              <a:xfrm>
                <a:off x="556411" y="35806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/>
              <p:cNvCxnSpPr/>
              <p:nvPr/>
            </p:nvCxnSpPr>
            <p:spPr>
              <a:xfrm>
                <a:off x="556411" y="38012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/>
              <p:nvPr/>
            </p:nvCxnSpPr>
            <p:spPr>
              <a:xfrm>
                <a:off x="565935" y="40219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08" name="文本框 142"/>
              <p:cNvSpPr txBox="1"/>
              <p:nvPr/>
            </p:nvSpPr>
            <p:spPr>
              <a:xfrm>
                <a:off x="732624" y="1161259"/>
                <a:ext cx="868362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xPSR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09" name="文本框 143"/>
              <p:cNvSpPr txBox="1"/>
              <p:nvPr/>
            </p:nvSpPr>
            <p:spPr>
              <a:xfrm>
                <a:off x="819936" y="1380334"/>
                <a:ext cx="606256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Task_a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0" name="文本框 144"/>
              <p:cNvSpPr txBox="1"/>
              <p:nvPr/>
            </p:nvSpPr>
            <p:spPr>
              <a:xfrm>
                <a:off x="792949" y="1608934"/>
                <a:ext cx="71755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LR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1" name="文本框 145"/>
              <p:cNvSpPr txBox="1"/>
              <p:nvPr/>
            </p:nvSpPr>
            <p:spPr>
              <a:xfrm>
                <a:off x="773899" y="18168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2" name="文本框 146"/>
              <p:cNvSpPr txBox="1"/>
              <p:nvPr/>
            </p:nvSpPr>
            <p:spPr>
              <a:xfrm>
                <a:off x="791361" y="2266159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3" name="文本框 154"/>
              <p:cNvSpPr txBox="1"/>
              <p:nvPr/>
            </p:nvSpPr>
            <p:spPr>
              <a:xfrm>
                <a:off x="780249" y="20550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R3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4" name="文本框 155"/>
              <p:cNvSpPr txBox="1"/>
              <p:nvPr/>
            </p:nvSpPr>
            <p:spPr>
              <a:xfrm>
                <a:off x="799299" y="24995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5" name="文本框 156"/>
              <p:cNvSpPr txBox="1"/>
              <p:nvPr/>
            </p:nvSpPr>
            <p:spPr>
              <a:xfrm>
                <a:off x="789774" y="2718597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6" name="文本框 157"/>
              <p:cNvSpPr txBox="1"/>
              <p:nvPr/>
            </p:nvSpPr>
            <p:spPr>
              <a:xfrm>
                <a:off x="635786" y="2934497"/>
                <a:ext cx="982663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EXC_RETURN</a:t>
                </a:r>
              </a:p>
            </p:txBody>
          </p:sp>
          <p:sp>
            <p:nvSpPr>
              <p:cNvPr id="15417" name="文本框 158"/>
              <p:cNvSpPr txBox="1"/>
              <p:nvPr/>
            </p:nvSpPr>
            <p:spPr>
              <a:xfrm>
                <a:off x="754849" y="3169447"/>
                <a:ext cx="79057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8" name="文本框 159"/>
              <p:cNvSpPr txBox="1"/>
              <p:nvPr/>
            </p:nvSpPr>
            <p:spPr>
              <a:xfrm>
                <a:off x="754849" y="33789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9" name="文本框 160"/>
              <p:cNvSpPr txBox="1"/>
              <p:nvPr/>
            </p:nvSpPr>
            <p:spPr>
              <a:xfrm>
                <a:off x="915186" y="3580609"/>
                <a:ext cx="46990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… …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0" name="文本框 161"/>
              <p:cNvSpPr txBox="1"/>
              <p:nvPr/>
            </p:nvSpPr>
            <p:spPr>
              <a:xfrm>
                <a:off x="773899" y="3809209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R5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21" name="文本框 162"/>
              <p:cNvSpPr txBox="1"/>
              <p:nvPr/>
            </p:nvSpPr>
            <p:spPr>
              <a:xfrm>
                <a:off x="773899" y="4047334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R4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cxnSp>
            <p:nvCxnSpPr>
              <p:cNvPr id="3" name="直接连接符 2"/>
              <p:cNvCxnSpPr/>
              <p:nvPr/>
            </p:nvCxnSpPr>
            <p:spPr>
              <a:xfrm>
                <a:off x="556411" y="4277522"/>
                <a:ext cx="1209643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23" name="文本框 162"/>
              <p:cNvSpPr txBox="1"/>
              <p:nvPr/>
            </p:nvSpPr>
            <p:spPr>
              <a:xfrm>
                <a:off x="624837" y="4430160"/>
                <a:ext cx="1082348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其他任务栈空间</a:t>
                </a:r>
              </a:p>
            </p:txBody>
          </p:sp>
        </p:grpSp>
        <p:sp>
          <p:nvSpPr>
            <p:cNvPr id="14" name="右大括号 13"/>
            <p:cNvSpPr/>
            <p:nvPr/>
          </p:nvSpPr>
          <p:spPr>
            <a:xfrm>
              <a:off x="1912211" y="1350568"/>
              <a:ext cx="195257" cy="155733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0" name="文本框 14"/>
            <p:cNvSpPr txBox="1"/>
            <p:nvPr/>
          </p:nvSpPr>
          <p:spPr>
            <a:xfrm>
              <a:off x="2053687" y="2002001"/>
              <a:ext cx="1595204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由硬件自动保存（压栈）</a:t>
              </a:r>
            </a:p>
          </p:txBody>
        </p:sp>
        <p:sp>
          <p:nvSpPr>
            <p:cNvPr id="16" name="右大括号 15"/>
            <p:cNvSpPr/>
            <p:nvPr/>
          </p:nvSpPr>
          <p:spPr>
            <a:xfrm>
              <a:off x="1912211" y="3158730"/>
              <a:ext cx="185732" cy="113347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2" name="文本框 151"/>
            <p:cNvSpPr txBox="1"/>
            <p:nvPr/>
          </p:nvSpPr>
          <p:spPr>
            <a:xfrm>
              <a:off x="2082107" y="3587354"/>
              <a:ext cx="1338740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需手动保存（压栈）</a:t>
              </a:r>
            </a:p>
          </p:txBody>
        </p:sp>
      </p:grpSp>
      <p:sp>
        <p:nvSpPr>
          <p:cNvPr id="24" name="矩形 23"/>
          <p:cNvSpPr/>
          <p:nvPr/>
        </p:nvSpPr>
        <p:spPr>
          <a:xfrm>
            <a:off x="3771583" y="51085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6684645" y="51212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3319" name="组合 29"/>
          <p:cNvGrpSpPr/>
          <p:nvPr/>
        </p:nvGrpSpPr>
        <p:grpSpPr>
          <a:xfrm>
            <a:off x="1768158" y="1752600"/>
            <a:ext cx="1419225" cy="763588"/>
            <a:chOff x="6921572" y="319995"/>
            <a:chExt cx="1419225" cy="763742"/>
          </a:xfrm>
        </p:grpSpPr>
        <p:grpSp>
          <p:nvGrpSpPr>
            <p:cNvPr id="15383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7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</p:grpSp>
        <p:sp>
          <p:nvSpPr>
            <p:cNvPr id="29" name="矩形 28"/>
            <p:cNvSpPr/>
            <p:nvPr/>
          </p:nvSpPr>
          <p:spPr>
            <a:xfrm>
              <a:off x="69660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5" name="文本框 154"/>
            <p:cNvSpPr txBox="1"/>
            <p:nvPr/>
          </p:nvSpPr>
          <p:spPr>
            <a:xfrm>
              <a:off x="6999486" y="693141"/>
              <a:ext cx="1253869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A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</a:p>
          </p:txBody>
        </p:sp>
      </p:grpSp>
      <p:sp>
        <p:nvSpPr>
          <p:cNvPr id="231" name="右大括号 230"/>
          <p:cNvSpPr/>
          <p:nvPr/>
        </p:nvSpPr>
        <p:spPr>
          <a:xfrm>
            <a:off x="7919720" y="2105025"/>
            <a:ext cx="195263" cy="1557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1" name="文本框 231"/>
          <p:cNvSpPr txBox="1"/>
          <p:nvPr/>
        </p:nvSpPr>
        <p:spPr>
          <a:xfrm>
            <a:off x="8075295" y="2749550"/>
            <a:ext cx="1595438" cy="2476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由硬件自动恢复（出栈）</a:t>
            </a:r>
          </a:p>
        </p:txBody>
      </p:sp>
      <p:sp>
        <p:nvSpPr>
          <p:cNvPr id="13322" name="文本框 232"/>
          <p:cNvSpPr txBox="1"/>
          <p:nvPr/>
        </p:nvSpPr>
        <p:spPr>
          <a:xfrm>
            <a:off x="8075295" y="4286250"/>
            <a:ext cx="1339850" cy="24606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需手动恢复（出栈）</a:t>
            </a:r>
          </a:p>
        </p:txBody>
      </p:sp>
      <p:sp>
        <p:nvSpPr>
          <p:cNvPr id="234" name="右大括号 233"/>
          <p:cNvSpPr/>
          <p:nvPr/>
        </p:nvSpPr>
        <p:spPr>
          <a:xfrm>
            <a:off x="7918133" y="3844925"/>
            <a:ext cx="185738" cy="1133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4" name="文本框 1"/>
          <p:cNvSpPr txBox="1"/>
          <p:nvPr/>
        </p:nvSpPr>
        <p:spPr>
          <a:xfrm>
            <a:off x="1728470" y="1473200"/>
            <a:ext cx="1571625" cy="2619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①当前任务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在执行：</a:t>
            </a:r>
          </a:p>
        </p:txBody>
      </p:sp>
      <p:sp>
        <p:nvSpPr>
          <p:cNvPr id="13325" name="文本框 92"/>
          <p:cNvSpPr txBox="1"/>
          <p:nvPr/>
        </p:nvSpPr>
        <p:spPr>
          <a:xfrm>
            <a:off x="3344545" y="1355725"/>
            <a:ext cx="2003425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第一步：保存任务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</a:t>
            </a:r>
          </a:p>
        </p:txBody>
      </p:sp>
      <p:sp>
        <p:nvSpPr>
          <p:cNvPr id="13326" name="文本框 93"/>
          <p:cNvSpPr txBox="1"/>
          <p:nvPr/>
        </p:nvSpPr>
        <p:spPr>
          <a:xfrm>
            <a:off x="6181408" y="1355725"/>
            <a:ext cx="2157412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③切换至任务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的寄存器恢复</a:t>
            </a:r>
          </a:p>
        </p:txBody>
      </p:sp>
      <p:grpSp>
        <p:nvGrpSpPr>
          <p:cNvPr id="13327" name="组合 29"/>
          <p:cNvGrpSpPr/>
          <p:nvPr/>
        </p:nvGrpSpPr>
        <p:grpSpPr>
          <a:xfrm>
            <a:off x="9057958" y="1739900"/>
            <a:ext cx="1419225" cy="763588"/>
            <a:chOff x="6921572" y="319995"/>
            <a:chExt cx="1419225" cy="763742"/>
          </a:xfrm>
        </p:grpSpPr>
        <p:grpSp>
          <p:nvGrpSpPr>
            <p:cNvPr id="15378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99" name="矩形 98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2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</p:grpSp>
        <p:sp>
          <p:nvSpPr>
            <p:cNvPr id="97" name="矩形 96"/>
            <p:cNvSpPr/>
            <p:nvPr/>
          </p:nvSpPr>
          <p:spPr>
            <a:xfrm>
              <a:off x="69787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0" name="文本框 154"/>
            <p:cNvSpPr txBox="1"/>
            <p:nvPr/>
          </p:nvSpPr>
          <p:spPr>
            <a:xfrm>
              <a:off x="6999486" y="693141"/>
              <a:ext cx="1263487" cy="2616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</a:p>
          </p:txBody>
        </p:sp>
      </p:grpSp>
      <p:sp>
        <p:nvSpPr>
          <p:cNvPr id="13328" name="文本框 100"/>
          <p:cNvSpPr txBox="1"/>
          <p:nvPr/>
        </p:nvSpPr>
        <p:spPr>
          <a:xfrm>
            <a:off x="8892858" y="1420813"/>
            <a:ext cx="1771650" cy="26193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④任务切换后的寄存器：</a:t>
            </a:r>
          </a:p>
        </p:txBody>
      </p:sp>
      <p:sp>
        <p:nvSpPr>
          <p:cNvPr id="15377" name="文本框 1"/>
          <p:cNvSpPr txBox="1"/>
          <p:nvPr/>
        </p:nvSpPr>
        <p:spPr>
          <a:xfrm>
            <a:off x="5679758" y="776288"/>
            <a:ext cx="47196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注意：任务切换的过程在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中断服务函数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里边完成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ldLvl="0" animBg="1"/>
      <p:bldP spid="154" grpId="0" bldLvl="0" animBg="1"/>
      <p:bldP spid="231" grpId="0" bldLvl="0" animBg="1"/>
      <p:bldP spid="13321" grpId="0"/>
      <p:bldP spid="13322" grpId="0"/>
      <p:bldP spid="234" grpId="0" bldLvl="0" animBg="1"/>
      <p:bldP spid="13324" grpId="0"/>
      <p:bldP spid="13325" grpId="0"/>
      <p:bldP spid="13326" grpId="0"/>
      <p:bldP spid="13328" grpId="0"/>
      <p:bldP spid="1537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767840" y="1274763"/>
            <a:ext cx="4846638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PendSV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中断是如何触发的？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771015" y="1781175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、滴答定时器中断调用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767840" y="227806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、执行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提供的相关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portYIELD()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767840" y="2946400"/>
            <a:ext cx="44386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本质：通过向中断控制和状态寄存器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ICSR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bit28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写入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来启动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490" y="1327150"/>
            <a:ext cx="4021138" cy="3989388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18" name="文本框 16"/>
          <p:cNvSpPr txBox="1"/>
          <p:nvPr/>
        </p:nvSpPr>
        <p:spPr>
          <a:xfrm>
            <a:off x="1731328" y="4102100"/>
            <a:ext cx="4622800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上表摘取于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《Cortex M3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权威指南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中文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)》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131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页。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301" grpId="0"/>
      <p:bldP spid="15" grpId="0"/>
      <p:bldP spid="1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58938" y="142557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任务的挂起与恢复的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2" name="表格 6"/>
          <p:cNvGraphicFramePr>
            <a:graphicFrameLocks noGrp="1"/>
          </p:cNvGraphicFramePr>
          <p:nvPr/>
        </p:nvGraphicFramePr>
        <p:xfrm>
          <a:off x="2054225" y="22748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4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挂起任务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xTaskResumeFromISR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矩形: 圆角 8"/>
          <p:cNvSpPr/>
          <p:nvPr/>
        </p:nvSpPr>
        <p:spPr>
          <a:xfrm>
            <a:off x="2054225" y="4041775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挂起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054225" y="5016500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“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FromISR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”</a:t>
            </a:r>
          </a:p>
        </p:txBody>
      </p:sp>
      <p:sp>
        <p:nvSpPr>
          <p:cNvPr id="4124" name="文本框 2"/>
          <p:cNvSpPr txBox="1"/>
          <p:nvPr/>
        </p:nvSpPr>
        <p:spPr>
          <a:xfrm>
            <a:off x="3565525" y="4071938"/>
            <a:ext cx="57912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挂起任务类似暂停，可恢复； 删除任务，无法恢复，类似“人死两清”</a:t>
            </a:r>
          </a:p>
        </p:txBody>
      </p:sp>
      <p:sp>
        <p:nvSpPr>
          <p:cNvPr id="4125" name="文本框 16"/>
          <p:cNvSpPr txBox="1"/>
          <p:nvPr/>
        </p:nvSpPr>
        <p:spPr>
          <a:xfrm>
            <a:off x="3556000" y="5016500"/>
            <a:ext cx="45354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带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后缀是在中断函数中专用的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2054225" y="45291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恢复</a:t>
            </a:r>
          </a:p>
        </p:txBody>
      </p:sp>
      <p:sp>
        <p:nvSpPr>
          <p:cNvPr id="4127" name="文本框 15"/>
          <p:cNvSpPr txBox="1"/>
          <p:nvPr/>
        </p:nvSpPr>
        <p:spPr>
          <a:xfrm>
            <a:off x="3565525" y="4527550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恢复被挂起的任务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27" grpId="0" bldLvl="0" animBg="1"/>
      <p:bldP spid="4124" grpId="0"/>
      <p:bldP spid="4125" grpId="0"/>
      <p:bldP spid="14" grpId="0" bldLvl="0" animBg="1"/>
      <p:bldP spid="412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876108" y="13620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1961833" y="1912938"/>
            <a:ext cx="6537325" cy="3571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961833" y="2490788"/>
          <a:ext cx="6742112" cy="5794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3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</a:p>
                  </a:txBody>
                  <a:tcPr marL="91426" marR="91426" marT="45751" marB="4575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1" marB="45751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05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待挂起任务的任务句柄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141" name="文本框 12"/>
          <p:cNvSpPr txBox="1"/>
          <p:nvPr/>
        </p:nvSpPr>
        <p:spPr>
          <a:xfrm>
            <a:off x="1961833" y="3278188"/>
            <a:ext cx="63373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此函数用于挂起任务，使用时需将宏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 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72945" y="4327525"/>
            <a:ext cx="6424613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en-US" sz="1400" kern="1200" cap="none" spc="0" normalizeH="0" baseline="0" noProof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注意：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，则代表挂起任务自身（当前正在运行的任务）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43" name="文本框 14"/>
          <p:cNvSpPr txBox="1"/>
          <p:nvPr/>
        </p:nvSpPr>
        <p:spPr>
          <a:xfrm>
            <a:off x="1961833" y="3810000"/>
            <a:ext cx="6742112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无论优先级如何，被挂起的任务都将不再被执行，直到任务被恢复 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5141" grpId="0"/>
      <p:bldP spid="14" grpId="0"/>
      <p:bldP spid="514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853248" y="1387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任务恢复函数介绍（任务中恢复）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6153" name="文本框 15"/>
          <p:cNvSpPr txBox="1"/>
          <p:nvPr/>
        </p:nvSpPr>
        <p:spPr>
          <a:xfrm>
            <a:off x="1858010" y="1992313"/>
            <a:ext cx="7585075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任务中恢复被挂起函数：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3" name="表格 9"/>
          <p:cNvGraphicFramePr>
            <a:graphicFrameLocks noGrp="1"/>
          </p:cNvGraphicFramePr>
          <p:nvPr/>
        </p:nvGraphicFramePr>
        <p:xfrm>
          <a:off x="1905635" y="2495550"/>
          <a:ext cx="6742114" cy="581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576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</a:p>
                  </a:txBody>
                  <a:tcPr marL="91426" marR="91426" marT="45876" marB="4587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876" marB="4587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5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000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xTaskToResume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待恢复任务的任务句柄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66" name="文本框 20"/>
          <p:cNvSpPr txBox="1"/>
          <p:nvPr/>
        </p:nvSpPr>
        <p:spPr>
          <a:xfrm>
            <a:off x="1853248" y="3306763"/>
            <a:ext cx="61737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使用该函数注意宏：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必须定义为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67" name="文本框 22"/>
          <p:cNvSpPr txBox="1"/>
          <p:nvPr/>
        </p:nvSpPr>
        <p:spPr>
          <a:xfrm>
            <a:off x="1853248" y="3770313"/>
            <a:ext cx="840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注意：任务无论被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挂起多少次，只需在任务中调用 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vTakResume()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恢复一次，就可以继续运行。且被恢复的任务会进入就绪态！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/>
      <p:bldP spid="6166" grpId="0"/>
      <p:bldP spid="616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dirty="0">
                <a:sym typeface="+mn-ea"/>
              </a:rPr>
              <a:t>时间管理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时间管理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系统时基（tick）</a:t>
            </a:r>
            <a:br>
              <a:rPr>
                <a:sym typeface="+mn-ea"/>
              </a:rPr>
            </a:br>
            <a:r>
              <a:rPr>
                <a:sym typeface="+mn-ea"/>
              </a:rPr>
              <a:t>vTaskDelay / vTaskDelayUntil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定时器（软件定时器、硬件定时器）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延时的精度与功耗影响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15658" y="1128078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系统时基 (Tick)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620520" y="1918970"/>
            <a:ext cx="7456805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是什么: 由硬件定时器产生的周期性中断，是FreeRTOS调度的时间基准。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驱动任务调度器（时间片轮转）。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实现任务延时 (vTaskDelay等)。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提供软件定时器的计时来源。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配置: configTICK_RATE_HZ in FreeRTOSConfig.h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例如 1000 Hz = 1个Tick是1ms。</a:t>
            </a: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延时函数介绍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2"/>
          <p:cNvGraphicFramePr>
            <a:graphicFrameLocks noGrp="1"/>
          </p:cNvGraphicFramePr>
          <p:nvPr/>
        </p:nvGraphicFramePr>
        <p:xfrm>
          <a:off x="1649413" y="1853883"/>
          <a:ext cx="5056187" cy="781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2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3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</a:p>
                  </a:txBody>
                  <a:tcPr marL="91442" marR="91442" marT="45767" marB="4576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</a:p>
                  </a:txBody>
                  <a:tcPr marL="91442" marR="91442" marT="45767" marB="4576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16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vTaskDelay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相对延时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53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xTaskDelayUntil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绝对延时</a:t>
                      </a:r>
                    </a:p>
                  </a:txBody>
                  <a:tcPr marL="91442" marR="91442" marT="45767" marB="4576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119" name="文本框 12"/>
          <p:cNvSpPr txBox="1"/>
          <p:nvPr/>
        </p:nvSpPr>
        <p:spPr>
          <a:xfrm>
            <a:off x="1649413" y="2915920"/>
            <a:ext cx="721836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指每次延时都是从执行函数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开始，直到延时指定的时间结束</a:t>
            </a:r>
          </a:p>
        </p:txBody>
      </p:sp>
      <p:sp>
        <p:nvSpPr>
          <p:cNvPr id="4120" name="文本框 13"/>
          <p:cNvSpPr txBox="1"/>
          <p:nvPr/>
        </p:nvSpPr>
        <p:spPr>
          <a:xfrm>
            <a:off x="1649413" y="3344545"/>
            <a:ext cx="74945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绝对延时：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指将整个任务的运行周期看成一个整体，适用于需要按照一定频率运行的任务</a:t>
            </a:r>
          </a:p>
        </p:txBody>
      </p:sp>
      <p:pic>
        <p:nvPicPr>
          <p:cNvPr id="4121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988" y="3916045"/>
            <a:ext cx="3951287" cy="1409700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4122" name="文本框 16"/>
          <p:cNvSpPr txBox="1"/>
          <p:nvPr/>
        </p:nvSpPr>
        <p:spPr>
          <a:xfrm>
            <a:off x="5951538" y="4009708"/>
            <a:ext cx="32813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(1)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为任务主体，也就是任务真正要做的工作</a:t>
            </a:r>
          </a:p>
        </p:txBody>
      </p:sp>
      <p:sp>
        <p:nvSpPr>
          <p:cNvPr id="4123" name="文本框 18"/>
          <p:cNvSpPr txBox="1"/>
          <p:nvPr/>
        </p:nvSpPr>
        <p:spPr>
          <a:xfrm>
            <a:off x="5951538" y="4420870"/>
            <a:ext cx="395128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(2)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是任务函数中调用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vTaskDelayUntil()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对任务进行延时</a:t>
            </a:r>
          </a:p>
        </p:txBody>
      </p:sp>
      <p:sp>
        <p:nvSpPr>
          <p:cNvPr id="4124" name="文本框 20"/>
          <p:cNvSpPr txBox="1"/>
          <p:nvPr/>
        </p:nvSpPr>
        <p:spPr>
          <a:xfrm>
            <a:off x="5951538" y="4873308"/>
            <a:ext cx="25193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(3)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为其他任务在运行</a:t>
            </a:r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484630" y="1863725"/>
            <a:ext cx="8387715" cy="2614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硬件定时器: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芯片外设，精度极高，几乎不占用CPU。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用于产生系统Tick、PWM、捕获输入等。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与RTOS无关，中断服务程序(ISR)应保持简短。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FreeRTOS软件定时器: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建立在系统Tick之上，由RTOS内核管理。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创建: xTimerCreate()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启动: xTimerStart() (不要在中断中直接启动！用 xTimerStartFromISR())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回调函数在定时器服务任务中执行，可以调用大多数FreeRTOS API。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使用方便，功能强大。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缺点: 精度受系统Tick限制，回调执行时间受任务调度影响。</a:t>
            </a:r>
          </a:p>
        </p:txBody>
      </p:sp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定时器：硬件与软件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972628" y="51857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创建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启动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(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自动运行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...) 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停止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/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删除。</a:t>
            </a:r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42328" y="902653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关键考量：精度 vs 功耗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149985" y="1464945"/>
            <a:ext cx="8414385" cy="25533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高精度 (High Precision):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提高 configTICK_RATE_HZ (如1000Hz -&gt; 1ms Tick)。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延时和定时器分辨率更高，响应更及时。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更频繁的Tick中断 -&gt; CPU功耗增加，更多时间花在上下文切换上。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低功耗 (Low Power):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降低 configTICK_RATE_HZ (如100Hz -&gt; 10ms Tick)，或启用 Tickless Idle 模式。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Tickless模式: 在空闲时暂停Tick中断，让CPU进入深度睡眠，仅在下一个任务到期时唤醒。大幅降低功耗。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延时和定时器的精度会下降，尤其在低Tick频率时。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结论: 没有完美方案，只有根据应用场景的权衡 (Trade-Off)！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149668" y="5279073"/>
            <a:ext cx="5080000" cy="5219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电池设备: 优先功耗，使用低Tick频率和Tickless模式。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实时控制: 优先精度，使用高Tick频率。</a:t>
            </a:r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dirty="0">
                <a:sym typeface="+mn-ea"/>
              </a:rPr>
              <a:t>内存管理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 dirty="0">
                <a:solidFill>
                  <a:schemeClr val="bg2"/>
                </a:solidFill>
                <a:sym typeface="+mn-ea"/>
              </a:rPr>
              <a:t>内存管理</a:t>
            </a:r>
            <a:endParaRPr lang="zh-CN" altLang="en-US" sz="1600" i="0" dirty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11563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FreeRTOS</a:t>
            </a:r>
            <a:r>
              <a:rPr sz="1600" b="1" dirty="0">
                <a:sym typeface="+mn-ea"/>
              </a:rPr>
              <a:t> 提供的内存管理方案（heap_1 ~ heap_5）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任务栈大小估算栈溢出检测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动态分配</a:t>
            </a:r>
            <a:r>
              <a:rPr sz="1600" b="1" dirty="0">
                <a:sym typeface="+mn-ea"/>
              </a:rPr>
              <a:t> vs </a:t>
            </a:r>
            <a:r>
              <a:rPr sz="1600" b="1" dirty="0" err="1">
                <a:sym typeface="+mn-ea"/>
              </a:rPr>
              <a:t>静态分配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内存碎片与泄漏问题</a:t>
            </a:r>
            <a:endParaRPr lang="zh-CN" altLang="en-US" sz="1600" b="1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03668" y="129540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21180" y="1835150"/>
            <a:ext cx="7786688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在使用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创建任务、队列、信号量等对象的时，一般都提供了两种方法：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27"/>
          <p:cNvSpPr txBox="1"/>
          <p:nvPr/>
        </p:nvSpPr>
        <p:spPr>
          <a:xfrm>
            <a:off x="3535680" y="2255838"/>
            <a:ext cx="6816725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自动地从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管理的内存堆中申请创建对象所需的内存，并且在对象删除后，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可将这块内存释放回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 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1930718" y="2432050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① 动态方法创建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930718" y="3233738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② 静态方法创建 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" name="文本框 27"/>
          <p:cNvSpPr txBox="1"/>
          <p:nvPr/>
        </p:nvSpPr>
        <p:spPr>
          <a:xfrm>
            <a:off x="3535680" y="3052763"/>
            <a:ext cx="6742113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需用户提供各种内存空间，并且使用静态方式占用的内存空间一般固定下来了，即使任务、队列等被删除后，这些被占用的内存空间一般没有其他用途 </a:t>
            </a:r>
          </a:p>
        </p:txBody>
      </p:sp>
      <p:sp>
        <p:nvSpPr>
          <p:cNvPr id="4110" name="文本框 21"/>
          <p:cNvSpPr txBox="1"/>
          <p:nvPr/>
        </p:nvSpPr>
        <p:spPr>
          <a:xfrm>
            <a:off x="1821180" y="4086225"/>
            <a:ext cx="64976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动态方式管理内存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相比与静态方式，更加灵活。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7" grpId="0" bldLvl="0" animBg="1"/>
      <p:bldP spid="19" grpId="0" bldLvl="0" animBg="1"/>
      <p:bldP spid="20" grpId="0"/>
      <p:bldP spid="411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479868" y="134112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97380" y="1880870"/>
            <a:ext cx="80216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除了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提供的动态内存管理方法，标准的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库也提供了函数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malloc()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来实现动态地申请和释放内存 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"/>
          <p:cNvSpPr txBox="1"/>
          <p:nvPr/>
        </p:nvSpPr>
        <p:spPr>
          <a:xfrm>
            <a:off x="1897380" y="2577783"/>
            <a:ext cx="4378325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疑问：为啥不用标准的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库自带的内存管理算法？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1" name="文本框 13"/>
          <p:cNvSpPr txBox="1"/>
          <p:nvPr/>
        </p:nvSpPr>
        <p:spPr>
          <a:xfrm>
            <a:off x="1897380" y="300482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因为标准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库的动态内存管理方法有如下几个缺点：</a:t>
            </a:r>
          </a:p>
        </p:txBody>
      </p:sp>
      <p:sp>
        <p:nvSpPr>
          <p:cNvPr id="5132" name="文本框 14"/>
          <p:cNvSpPr txBox="1"/>
          <p:nvPr/>
        </p:nvSpPr>
        <p:spPr>
          <a:xfrm>
            <a:off x="1897380" y="3430270"/>
            <a:ext cx="53308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占用大量的代码空间 不适合用在资源紧缺的嵌入式系统中</a:t>
            </a:r>
          </a:p>
        </p:txBody>
      </p:sp>
      <p:sp>
        <p:nvSpPr>
          <p:cNvPr id="5133" name="文本框 15"/>
          <p:cNvSpPr txBox="1"/>
          <p:nvPr/>
        </p:nvSpPr>
        <p:spPr>
          <a:xfrm>
            <a:off x="1897380" y="3793808"/>
            <a:ext cx="62134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没有线程安全的相关机制 </a:t>
            </a:r>
          </a:p>
        </p:txBody>
      </p:sp>
      <p:sp>
        <p:nvSpPr>
          <p:cNvPr id="5134" name="文本框 16"/>
          <p:cNvSpPr txBox="1"/>
          <p:nvPr/>
        </p:nvSpPr>
        <p:spPr>
          <a:xfrm>
            <a:off x="1897380" y="4158933"/>
            <a:ext cx="5497513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运行有不确定性，每次调用这些函数时花费的时间可能都不相同</a:t>
            </a:r>
          </a:p>
        </p:txBody>
      </p:sp>
      <p:sp>
        <p:nvSpPr>
          <p:cNvPr id="5135" name="文本框 18"/>
          <p:cNvSpPr txBox="1"/>
          <p:nvPr/>
        </p:nvSpPr>
        <p:spPr>
          <a:xfrm>
            <a:off x="1897380" y="452247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内存碎片化</a:t>
            </a:r>
          </a:p>
        </p:txBody>
      </p:sp>
      <p:sp>
        <p:nvSpPr>
          <p:cNvPr id="5136" name="文本框 19"/>
          <p:cNvSpPr txBox="1"/>
          <p:nvPr/>
        </p:nvSpPr>
        <p:spPr>
          <a:xfrm>
            <a:off x="2165668" y="4886008"/>
            <a:ext cx="462121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… 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7" name="文本框 21"/>
          <p:cNvSpPr txBox="1"/>
          <p:nvPr/>
        </p:nvSpPr>
        <p:spPr>
          <a:xfrm>
            <a:off x="1897380" y="5157470"/>
            <a:ext cx="857726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因此，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提供了多种动态内存管理的算法，可针对不同的嵌入式系统！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13" grpId="0"/>
      <p:bldP spid="5131" grpId="0"/>
      <p:bldP spid="5132" grpId="0"/>
      <p:bldP spid="5133" grpId="0"/>
      <p:bldP spid="5134" grpId="0"/>
      <p:bldP spid="5135" grpId="0"/>
      <p:bldP spid="5136" grpId="0"/>
      <p:bldP spid="5137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73063" y="109505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局的、动态的、生命周期可控的内存空间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。当你需要在多个函数间共享一块数据，或者需要的数据大小在编译时无法确定（比如根据用户输入决定数组大小），就必须使用堆。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401118" y="94615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维护函数调用的上下文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。每当调用一个函数时，系统会在栈上为其分配一块称为 “栈帧 (Stack Frame)” 的内存区域，用于存放：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222693" y="123698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"/>
          <p:cNvSpPr txBox="1"/>
          <p:nvPr/>
        </p:nvSpPr>
        <p:spPr>
          <a:xfrm>
            <a:off x="1548130" y="1870393"/>
            <a:ext cx="87709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种动态内存管理算法，分别为：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heap_1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。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如下所示：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629093" y="2722880"/>
          <a:ext cx="7361238" cy="1731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算法</a:t>
                      </a: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优点</a:t>
                      </a: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缺点</a:t>
                      </a:r>
                    </a:p>
                  </a:txBody>
                  <a:tcPr marL="91431" marR="91431" marT="45723" marB="4572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heap_1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分配简单，时间确定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只允许申请内存，不允许释放内存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heap_2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允许申请和释放内存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不能合并相邻的空闲内存块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会产生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碎片、时间不定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heap_3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直接调用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库函数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malloc()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和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free()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，简单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速度慢、时间不定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heap_4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相邻空闲内存可合并，减少内存碎片的产生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heap_5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能够管理多个非连续内存区域的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heap_4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184" name="文本框 2"/>
          <p:cNvSpPr txBox="1"/>
          <p:nvPr/>
        </p:nvSpPr>
        <p:spPr>
          <a:xfrm>
            <a:off x="1548130" y="4724718"/>
            <a:ext cx="6280150" cy="3067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内存管理算法最常用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6184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603058" y="12890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077720" y="22971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08114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08114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54" name="矩形 53"/>
          <p:cNvSpPr/>
          <p:nvPr/>
        </p:nvSpPr>
        <p:spPr>
          <a:xfrm>
            <a:off x="408114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5" name="矩形 54"/>
          <p:cNvSpPr/>
          <p:nvPr/>
        </p:nvSpPr>
        <p:spPr>
          <a:xfrm>
            <a:off x="4092258" y="4056063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6" name="矩形 55"/>
          <p:cNvSpPr/>
          <p:nvPr/>
        </p:nvSpPr>
        <p:spPr>
          <a:xfrm>
            <a:off x="4081145" y="3719513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7" name="矩形 56"/>
          <p:cNvSpPr/>
          <p:nvPr/>
        </p:nvSpPr>
        <p:spPr>
          <a:xfrm>
            <a:off x="4081145" y="3381375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8" name="矩形 57"/>
          <p:cNvSpPr/>
          <p:nvPr/>
        </p:nvSpPr>
        <p:spPr>
          <a:xfrm>
            <a:off x="4092258" y="3060700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9" name="矩形 58"/>
          <p:cNvSpPr/>
          <p:nvPr/>
        </p:nvSpPr>
        <p:spPr>
          <a:xfrm>
            <a:off x="2090420" y="2297113"/>
            <a:ext cx="752475" cy="242887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未分配的内存</a:t>
            </a:r>
          </a:p>
        </p:txBody>
      </p:sp>
      <p:sp>
        <p:nvSpPr>
          <p:cNvPr id="60" name="矩形 59"/>
          <p:cNvSpPr/>
          <p:nvPr/>
        </p:nvSpPr>
        <p:spPr>
          <a:xfrm>
            <a:off x="8224520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8224520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62" name="矩形 61"/>
          <p:cNvSpPr/>
          <p:nvPr/>
        </p:nvSpPr>
        <p:spPr>
          <a:xfrm>
            <a:off x="8224520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63" name="矩形 62"/>
          <p:cNvSpPr/>
          <p:nvPr/>
        </p:nvSpPr>
        <p:spPr>
          <a:xfrm>
            <a:off x="8224520" y="3392488"/>
            <a:ext cx="752475" cy="10096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66" name="矩形 65"/>
          <p:cNvSpPr/>
          <p:nvPr/>
        </p:nvSpPr>
        <p:spPr>
          <a:xfrm>
            <a:off x="8224520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67" name="箭头: 右 66"/>
          <p:cNvSpPr/>
          <p:nvPr/>
        </p:nvSpPr>
        <p:spPr>
          <a:xfrm>
            <a:off x="2868295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8" name="箭头: 右 67"/>
          <p:cNvSpPr/>
          <p:nvPr/>
        </p:nvSpPr>
        <p:spPr>
          <a:xfrm>
            <a:off x="4863783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3" name="文本框 68"/>
          <p:cNvSpPr txBox="1"/>
          <p:nvPr/>
        </p:nvSpPr>
        <p:spPr>
          <a:xfrm>
            <a:off x="2906395" y="3194050"/>
            <a:ext cx="1108075" cy="2778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多次分配内存</a:t>
            </a:r>
          </a:p>
        </p:txBody>
      </p:sp>
      <p:sp>
        <p:nvSpPr>
          <p:cNvPr id="12314" name="文本框 69"/>
          <p:cNvSpPr txBox="1"/>
          <p:nvPr/>
        </p:nvSpPr>
        <p:spPr>
          <a:xfrm>
            <a:off x="4879658" y="3186113"/>
            <a:ext cx="110807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多次释放内存</a:t>
            </a:r>
          </a:p>
        </p:txBody>
      </p:sp>
      <p:sp>
        <p:nvSpPr>
          <p:cNvPr id="71" name="右大括号 70"/>
          <p:cNvSpPr/>
          <p:nvPr/>
        </p:nvSpPr>
        <p:spPr>
          <a:xfrm>
            <a:off x="8988108" y="3378200"/>
            <a:ext cx="223838" cy="1020763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6" name="文本框 71"/>
          <p:cNvSpPr txBox="1"/>
          <p:nvPr/>
        </p:nvSpPr>
        <p:spPr>
          <a:xfrm>
            <a:off x="9211945" y="3676650"/>
            <a:ext cx="1436688" cy="4302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相邻空闲内存合并成一个大空闲内存</a:t>
            </a:r>
          </a:p>
        </p:txBody>
      </p:sp>
      <p:sp>
        <p:nvSpPr>
          <p:cNvPr id="73" name="矩形 72"/>
          <p:cNvSpPr/>
          <p:nvPr/>
        </p:nvSpPr>
        <p:spPr>
          <a:xfrm>
            <a:off x="613219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13219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75" name="矩形 74"/>
          <p:cNvSpPr/>
          <p:nvPr/>
        </p:nvSpPr>
        <p:spPr>
          <a:xfrm>
            <a:off x="613219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76" name="矩形 75"/>
          <p:cNvSpPr/>
          <p:nvPr/>
        </p:nvSpPr>
        <p:spPr>
          <a:xfrm>
            <a:off x="6132195" y="4065588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7" name="矩形 76"/>
          <p:cNvSpPr/>
          <p:nvPr/>
        </p:nvSpPr>
        <p:spPr>
          <a:xfrm>
            <a:off x="6132195" y="3719513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8" name="矩形 77"/>
          <p:cNvSpPr/>
          <p:nvPr/>
        </p:nvSpPr>
        <p:spPr>
          <a:xfrm>
            <a:off x="6132195" y="3381375"/>
            <a:ext cx="752475" cy="3381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9" name="矩形 78"/>
          <p:cNvSpPr/>
          <p:nvPr/>
        </p:nvSpPr>
        <p:spPr>
          <a:xfrm>
            <a:off x="6132195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80" name="右大括号 79"/>
          <p:cNvSpPr/>
          <p:nvPr/>
        </p:nvSpPr>
        <p:spPr>
          <a:xfrm>
            <a:off x="6895783" y="3378200"/>
            <a:ext cx="136525" cy="111125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5" name="文本框 80"/>
          <p:cNvSpPr txBox="1"/>
          <p:nvPr/>
        </p:nvSpPr>
        <p:spPr>
          <a:xfrm>
            <a:off x="7006908" y="3579813"/>
            <a:ext cx="368300" cy="708025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内存碎片</a:t>
            </a:r>
          </a:p>
        </p:txBody>
      </p:sp>
      <p:sp>
        <p:nvSpPr>
          <p:cNvPr id="82" name="箭头: 右 81"/>
          <p:cNvSpPr/>
          <p:nvPr/>
        </p:nvSpPr>
        <p:spPr>
          <a:xfrm>
            <a:off x="6960870" y="3289300"/>
            <a:ext cx="1243013" cy="1555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7" name="文本框 82"/>
          <p:cNvSpPr txBox="1"/>
          <p:nvPr/>
        </p:nvSpPr>
        <p:spPr>
          <a:xfrm>
            <a:off x="1990408" y="1852613"/>
            <a:ext cx="8408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内存管理算法会把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相邻的空闲内存合并为一个更大的空闲内存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，这有助于减少内存的碎片问题。</a:t>
            </a:r>
          </a:p>
        </p:txBody>
      </p:sp>
      <p:sp>
        <p:nvSpPr>
          <p:cNvPr id="12328" name="文本框 83"/>
          <p:cNvSpPr txBox="1"/>
          <p:nvPr/>
        </p:nvSpPr>
        <p:spPr>
          <a:xfrm>
            <a:off x="7198995" y="3055938"/>
            <a:ext cx="7112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23"/>
          <p:cNvSpPr txBox="1"/>
          <p:nvPr/>
        </p:nvSpPr>
        <p:spPr>
          <a:xfrm>
            <a:off x="1990408" y="4922838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适用于这种场景：频繁地分配、释放不同大小的内存。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2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2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2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ldLvl="0" animBg="1"/>
      <p:bldP spid="52" grpId="0" bldLvl="0" animBg="1"/>
      <p:bldP spid="53" grpId="0" bldLvl="0" animBg="1"/>
      <p:bldP spid="54" grpId="0" bldLvl="0" animBg="1"/>
      <p:bldP spid="55" grpId="0" bldLvl="0" animBg="1"/>
      <p:bldP spid="56" grpId="0" bldLvl="0" animBg="1"/>
      <p:bldP spid="57" grpId="0" bldLvl="0" animBg="1"/>
      <p:bldP spid="58" grpId="0" bldLvl="0" animBg="1"/>
      <p:bldP spid="59" grpId="0" bldLvl="0" animBg="1"/>
      <p:bldP spid="60" grpId="0" bldLvl="0" animBg="1"/>
      <p:bldP spid="61" grpId="0" bldLvl="0" animBg="1"/>
      <p:bldP spid="62" grpId="0" bldLvl="0" animBg="1"/>
      <p:bldP spid="63" grpId="0" bldLvl="0" animBg="1"/>
      <p:bldP spid="66" grpId="0" bldLvl="0" animBg="1"/>
      <p:bldP spid="67" grpId="0" bldLvl="0" animBg="1"/>
      <p:bldP spid="68" grpId="0" bldLvl="0" animBg="1"/>
      <p:bldP spid="12313" grpId="0"/>
      <p:bldP spid="12314" grpId="0"/>
      <p:bldP spid="71" grpId="0" bldLvl="0" animBg="1"/>
      <p:bldP spid="12316" grpId="0"/>
      <p:bldP spid="73" grpId="0" bldLvl="0" animBg="1"/>
      <p:bldP spid="74" grpId="0" bldLvl="0" animBg="1"/>
      <p:bldP spid="75" grpId="0" bldLvl="0" animBg="1"/>
      <p:bldP spid="76" grpId="0" bldLvl="0" animBg="1"/>
      <p:bldP spid="77" grpId="0" bldLvl="0" animBg="1"/>
      <p:bldP spid="78" grpId="0" bldLvl="0" animBg="1"/>
      <p:bldP spid="79" grpId="0" bldLvl="0" animBg="1"/>
      <p:bldP spid="80" grpId="0" bldLvl="0" animBg="1"/>
      <p:bldP spid="12325" grpId="0"/>
      <p:bldP spid="82" grpId="0" bldLvl="0" animBg="1"/>
      <p:bldP spid="12327" grpId="0"/>
      <p:bldP spid="12328" grpId="0"/>
      <p:bldP spid="4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85888" y="13271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321" name="文本框 12"/>
          <p:cNvSpPr txBox="1"/>
          <p:nvPr/>
        </p:nvSpPr>
        <p:spPr>
          <a:xfrm>
            <a:off x="1770063" y="1893888"/>
            <a:ext cx="84645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内存管理算法是在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内存管理算法的基础上实现的，但是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内存管理算法的基础上实现了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管理多个非连续内存区域的能力 </a:t>
            </a:r>
          </a:p>
        </p:txBody>
      </p:sp>
      <p:sp>
        <p:nvSpPr>
          <p:cNvPr id="13322" name="文本框 13"/>
          <p:cNvSpPr txBox="1"/>
          <p:nvPr/>
        </p:nvSpPr>
        <p:spPr>
          <a:xfrm>
            <a:off x="1770063" y="2701925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内存管理算法默认并没有定义内存堆 ， 需要用户手动指定内存区域的信息，对其进行初始化。</a:t>
            </a:r>
          </a:p>
        </p:txBody>
      </p:sp>
      <p:grpSp>
        <p:nvGrpSpPr>
          <p:cNvPr id="13323" name="组合 14"/>
          <p:cNvGrpSpPr/>
          <p:nvPr/>
        </p:nvGrpSpPr>
        <p:grpSpPr>
          <a:xfrm>
            <a:off x="1830705" y="3876675"/>
            <a:ext cx="8544560" cy="2030095"/>
            <a:chOff x="387350" y="843642"/>
            <a:chExt cx="6800462" cy="2029783"/>
          </a:xfrm>
        </p:grpSpPr>
        <p:sp>
          <p:nvSpPr>
            <p:cNvPr id="13326" name="文本框 15"/>
            <p:cNvSpPr txBox="1"/>
            <p:nvPr/>
          </p:nvSpPr>
          <p:spPr>
            <a:xfrm>
              <a:off x="461576" y="843642"/>
              <a:ext cx="6726236" cy="2029783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</a:t>
              </a:r>
              <a:b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uint8_t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pucStartAddress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内存区域的起始地址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size_t 	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xSizeInBytes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内存区域的大小，单位：字节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}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387350" y="843642"/>
              <a:ext cx="6368687" cy="144943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1736725" y="3554413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使用如下结构体：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1" grpId="0"/>
      <p:bldP spid="13322" grpId="0"/>
      <p:bldP spid="1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14375" y="781685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任务栈大小估算</a:t>
            </a:r>
            <a:endParaRPr lang="zh-CN" altLang="en-US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0585" y="1197610"/>
            <a:ext cx="10231120" cy="7683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核心原则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堆栈分配的核心是在 “内存资源紧张” 和 “运行稳定性” 之间找到平衡。分配过小会导致堆栈溢出，系统崩溃；分配过大会浪费宝贵的RAM资源。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870585" y="2075180"/>
            <a:ext cx="10303510" cy="4261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影响任务堆栈大小的主要因素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计算一个任务需要多少堆栈，需要考虑以下所有开销的总和：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函数调用深度 (Call Nesting Depth)：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这是最大的影响因素。任务从入口函数开始，调用函数A，A再调用函数B，B再调用函数C... 每一层调用都会将返回地址、参数等压栈。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提示：代码结构越复杂，调用层次越深，需要的堆栈越大。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局部变量 (Local Variables)：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任务函数及其所有子函数中声明的局部变量（尤其是大型数组或结构体）都存储在堆栈上。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重要：避免在栈上分配大型数据结构（如 char buffer[1024]），改用静态变量或从堆分配。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中断上下文保存 (Context Saving)：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发生中断时，处理器会将当前任务的状态（寄存器值）压入当前运行任务的堆栈。这意味着即使是一个简单的任务，如果它运行时发生了频繁且复杂的中断，其堆栈使用量也会显著增加。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中断越复杂，需要保存的寄存器越多，堆栈开销越大。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自身开销 (RTOS Overhead)：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在任务切换时，FreeRTOS 需要保存剩余CPU寄存器的状态到任务堆栈。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 Cortex-M 内核，一次完整的上下文切换通常需要 ~500 字节 的堆栈空间（具体取决于端口和FPU是否启用）。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此外，使用 osDelay(), xQueueSend() 等API函数也会产生一定的调用开销。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对齐要求 (Alignment)：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为了满足处理器的内存对齐要求，堆栈指针可能会自动调整，这可能会造成一些微小的浪费。</a:t>
            </a:r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90525" y="224155"/>
            <a:ext cx="11405870" cy="6400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确定堆栈大小的实践方法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不要盲目猜测，应采用以下科学方法：</a:t>
            </a: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1. 理论估算 (初步估算)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查看编译器的 Map 文件。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找到你的任务函数及其调用的所有函数，检查它们的帧大小 (Frame Size)。将它们相加，得到一个粗略的底限。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公式：总堆栈需求 ≈ (最深层调用路径上所有函数帧大小之和) + (中断保存开销) + (安全边际)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这是一个起点，但非常不准确，因为它无法计算指针引用、动态深度等。</a:t>
            </a: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2. 经验值 (快速启动)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对于简单的 LED闪烁、按键扫描 等任务，可以从 128 ~ 256 字节 开始。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对于中等复杂的任务（如处理串口数据），可以从 256 ~ 512 字节 开始。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对于复杂的任务（如运行加密算法、文件系统），可能需要 1KB ~ 4KB甚至更多。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注意：这只是一个非常粗略的参考，必须通过后续方法进行验证。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3. 实验测量 (最可靠的方法) - 强烈推荐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提供了极好的运行时堆栈使用量检测工具。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uxTaskGetStackHighWaterMark() 函数：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工作原理：FreeRTOS 在任务运行时会将堆栈空间初始化为一个已知值（如 0xA5）。这个函数会从堆栈末尾开始向上检查，找到从未被覆盖过的最大连续内存区域。这个值就是所谓的“高水位线”(High Water Mark)。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含义：“高水位线”告诉你任务从创建以来，最多的时候 使用了多少堆栈空间。(分配的堆栈总大小) - (高水位线) = 任务曾达到的最大使用量。</a:t>
            </a:r>
          </a:p>
          <a:p>
            <a:pPr marL="457200" lvl="2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如何使用：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在任务循环中调用此函数。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通过串口打印出水位数。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让系统充分运行，执行所有可能的业务流程和中断。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观察打印出的最小值，这就是该任务需要的 最大堆栈空间。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安全边际：根据测量到的最大值，额外增加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20% ~ 30% </a:t>
            </a: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作为安全边际，以防止未测试到的边界情况。</a:t>
            </a:r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25195" y="1195705"/>
            <a:ext cx="8693150" cy="2476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启用 FreeRTOS 的堆栈溢出检测功能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这是一个极其重要的安全特性，强烈建议在开发阶段启用。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 FreeRTOSConfig.h 中定义 configCHECK_FOR_STACK_OVERFLOW：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0：不检测（默认）。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1：检测方法1。在任务切换时检查堆栈指针是否超出有效范围。成本低，但只能在上下文切换时捕获溢出。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2：检测方法2。任务创建时在堆栈顶部填充一个已知模式（校验和），在切换时检查该模式是否被破坏。这种方法能捕获到堆栈溢出对数据的破坏，更有效但成本稍高。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注意：一旦检测到溢出，会触发 vApplicationStackOverflowHook 回调函数，你可以在其中进行错误处理（如打印错误信息、重启系统）。</a:t>
            </a:r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dirty="0">
                <a:sym typeface="+mn-ea"/>
              </a:rPr>
              <a:t>中断管理</a:t>
            </a:r>
          </a:p>
        </p:txBody>
      </p:sp>
    </p:spTree>
    <p:custDataLst>
      <p:tags r:id="rId1"/>
    </p:custData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，什么是中断？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103A6-DB11-EAA4-1587-CB855B86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12B2326-E3E2-7790-16AD-04C19F44752F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1AEE59-CF63-81B5-9D62-878B284D5782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75933DA-D8B8-D7AA-0756-7524879617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880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，什么是中断？（了解）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18">
            <a:extLst>
              <a:ext uri="{FF2B5EF4-FFF2-40B4-BE49-F238E27FC236}">
                <a16:creationId xmlns:a16="http://schemas.microsoft.com/office/drawing/2014/main" id="{EB27C58C-FF5A-944B-FDF2-2CE7511A44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2830" y="2016443"/>
            <a:ext cx="708660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简介：让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CPU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打断正常运行的程序，转而去处理紧急的事件（程序），就叫中断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38169D-B264-5205-114D-4EACFA5D9771}"/>
              </a:ext>
            </a:extLst>
          </p:cNvPr>
          <p:cNvSpPr/>
          <p:nvPr/>
        </p:nvSpPr>
        <p:spPr>
          <a:xfrm>
            <a:off x="2075380" y="3408681"/>
            <a:ext cx="1119187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0A4026-2B7E-8264-5CFF-E3583D52C9E4}"/>
              </a:ext>
            </a:extLst>
          </p:cNvPr>
          <p:cNvSpPr/>
          <p:nvPr/>
        </p:nvSpPr>
        <p:spPr>
          <a:xfrm>
            <a:off x="3207267" y="4250056"/>
            <a:ext cx="720725" cy="4175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/>
              <a:t>上厕所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80E0DE-EE98-0A72-034B-FF7137431E36}"/>
              </a:ext>
            </a:extLst>
          </p:cNvPr>
          <p:cNvSpPr/>
          <p:nvPr/>
        </p:nvSpPr>
        <p:spPr>
          <a:xfrm>
            <a:off x="3194567" y="3408681"/>
            <a:ext cx="733425" cy="4651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5C6564-DA74-7232-6863-D86BDD695885}"/>
              </a:ext>
            </a:extLst>
          </p:cNvPr>
          <p:cNvSpPr/>
          <p:nvPr/>
        </p:nvSpPr>
        <p:spPr>
          <a:xfrm>
            <a:off x="3927992" y="3408681"/>
            <a:ext cx="1052513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6" name="右大括号 15">
            <a:extLst>
              <a:ext uri="{FF2B5EF4-FFF2-40B4-BE49-F238E27FC236}">
                <a16:creationId xmlns:a16="http://schemas.microsoft.com/office/drawing/2014/main" id="{332F60CB-7BDC-2D9D-13E9-7834A93CC90B}"/>
              </a:ext>
            </a:extLst>
          </p:cNvPr>
          <p:cNvSpPr/>
          <p:nvPr/>
        </p:nvSpPr>
        <p:spPr>
          <a:xfrm rot="16200000">
            <a:off x="3438249" y="1866424"/>
            <a:ext cx="179388" cy="2905125"/>
          </a:xfrm>
          <a:prstGeom prst="rightBrace">
            <a:avLst>
              <a:gd name="adj1" fmla="val 51608"/>
              <a:gd name="adj2" fmla="val 5091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33F0911-FE4C-CBCE-EB1C-B145DB6DCA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62817" y="2843531"/>
            <a:ext cx="72866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上课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A87EAF2-1FBD-3C0B-4BD2-165A068DBFC8}"/>
              </a:ext>
            </a:extLst>
          </p:cNvPr>
          <p:cNvCxnSpPr>
            <a:cxnSpLocks/>
          </p:cNvCxnSpPr>
          <p:nvPr/>
        </p:nvCxnSpPr>
        <p:spPr>
          <a:xfrm>
            <a:off x="3207267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8E04DFA4-015B-80E1-D313-B92EB9E34B61}"/>
              </a:ext>
            </a:extLst>
          </p:cNvPr>
          <p:cNvCxnSpPr>
            <a:cxnSpLocks/>
          </p:cNvCxnSpPr>
          <p:nvPr/>
        </p:nvCxnSpPr>
        <p:spPr>
          <a:xfrm rot="10800000">
            <a:off x="3927992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35267E01-4540-3DEA-2166-886A62AD8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1592" y="4275456"/>
            <a:ext cx="7000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3F49AB0-D467-AB8A-073D-58FCFF2553E7}"/>
              </a:ext>
            </a:extLst>
          </p:cNvPr>
          <p:cNvCxnSpPr>
            <a:cxnSpLocks/>
          </p:cNvCxnSpPr>
          <p:nvPr/>
        </p:nvCxnSpPr>
        <p:spPr>
          <a:xfrm>
            <a:off x="2732605" y="4408806"/>
            <a:ext cx="461962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98EE173-C52C-9C32-F3DC-B4C695A42585}"/>
              </a:ext>
            </a:extLst>
          </p:cNvPr>
          <p:cNvSpPr/>
          <p:nvPr/>
        </p:nvSpPr>
        <p:spPr>
          <a:xfrm>
            <a:off x="5294830" y="3511868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，中断请求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63A6EDA-2857-D51C-4DC0-37E560B27760}"/>
              </a:ext>
            </a:extLst>
          </p:cNvPr>
          <p:cNvSpPr/>
          <p:nvPr/>
        </p:nvSpPr>
        <p:spPr>
          <a:xfrm>
            <a:off x="5294830" y="4062731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，响应中断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76C2250-E744-DD17-065C-D7757DFB505F}"/>
              </a:ext>
            </a:extLst>
          </p:cNvPr>
          <p:cNvSpPr/>
          <p:nvPr/>
        </p:nvSpPr>
        <p:spPr>
          <a:xfrm>
            <a:off x="5294830" y="4658043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，退出中断</a:t>
            </a:r>
          </a:p>
        </p:txBody>
      </p:sp>
      <p:sp>
        <p:nvSpPr>
          <p:cNvPr id="25" name="文本框 44">
            <a:extLst>
              <a:ext uri="{FF2B5EF4-FFF2-40B4-BE49-F238E27FC236}">
                <a16:creationId xmlns:a16="http://schemas.microsoft.com/office/drawing/2014/main" id="{F9EF81F3-5C4D-3F98-DE6B-28CA9A4179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3542031"/>
            <a:ext cx="39227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外设产生中断请求（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GPIO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外部中断、定时器中断等）</a:t>
            </a:r>
            <a:endParaRPr lang="zh-CN" altLang="en-US" sz="1200"/>
          </a:p>
        </p:txBody>
      </p:sp>
      <p:sp>
        <p:nvSpPr>
          <p:cNvPr id="26" name="文本框 46">
            <a:extLst>
              <a:ext uri="{FF2B5EF4-FFF2-40B4-BE49-F238E27FC236}">
                <a16:creationId xmlns:a16="http://schemas.microsoft.com/office/drawing/2014/main" id="{6D1CDA18-B5CE-2DE5-D535-E76CCF52A8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4081781"/>
            <a:ext cx="41751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CPU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停止执行当前程序，转而去执行中断处理程序（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7" name="文本框 48">
            <a:extLst>
              <a:ext uri="{FF2B5EF4-FFF2-40B4-BE49-F238E27FC236}">
                <a16:creationId xmlns:a16="http://schemas.microsoft.com/office/drawing/2014/main" id="{2156C160-28C5-623E-00B5-24C0AB0BA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4677093"/>
            <a:ext cx="36068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执行完毕，返回被打断的程序处，继续往下执行</a:t>
            </a:r>
            <a:endParaRPr lang="zh-CN" altLang="en-US" sz="1200"/>
          </a:p>
        </p:txBody>
      </p:sp>
      <p:sp>
        <p:nvSpPr>
          <p:cNvPr id="28" name="文本框 7167">
            <a:extLst>
              <a:ext uri="{FF2B5EF4-FFF2-40B4-BE49-F238E27FC236}">
                <a16:creationId xmlns:a16="http://schemas.microsoft.com/office/drawing/2014/main" id="{D3E92361-355B-2344-2FD3-A5066BD61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542" y="2911793"/>
            <a:ext cx="3057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中断执行机制，可简单概括为三步：</a:t>
            </a:r>
          </a:p>
        </p:txBody>
      </p:sp>
    </p:spTree>
    <p:extLst>
      <p:ext uri="{BB962C8B-B14F-4D97-AF65-F5344CB8AC3E}">
        <p14:creationId xmlns:p14="http://schemas.microsoft.com/office/powerpoint/2010/main" val="28048583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20" grpId="0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28C33-6A6A-81B2-8157-928B66EC1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EA99B2A-81A8-5A22-245C-4CA902E05BCA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ED4A020-CD8E-E6BE-817C-6A88BCDAF328}"/>
              </a:ext>
            </a:extLst>
          </p:cNvPr>
          <p:cNvSpPr txBox="1"/>
          <p:nvPr/>
        </p:nvSpPr>
        <p:spPr>
          <a:xfrm>
            <a:off x="544830" y="1506855"/>
            <a:ext cx="10096500" cy="4341052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EB7905-2040-211E-5836-96D6D789C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8229" y="150685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1" name="图片 7">
            <a:extLst>
              <a:ext uri="{FF2B5EF4-FFF2-40B4-BE49-F238E27FC236}">
                <a16:creationId xmlns:a16="http://schemas.microsoft.com/office/drawing/2014/main" id="{43082A03-522C-0826-E37B-A37FAF6C3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7841" y="3111818"/>
            <a:ext cx="4889500" cy="1027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本框 19">
            <a:extLst>
              <a:ext uri="{FF2B5EF4-FFF2-40B4-BE49-F238E27FC236}">
                <a16:creationId xmlns:a16="http://schemas.microsoft.com/office/drawing/2014/main" id="{33564126-9B71-21B4-B85B-B38466C1E3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3" y="2072005"/>
            <a:ext cx="844620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ARM Cortex-M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位宽的寄存器来配置中断的优先等级，这个寄存器就是中断优先级配置寄存器 </a:t>
            </a:r>
          </a:p>
        </p:txBody>
      </p:sp>
      <p:sp>
        <p:nvSpPr>
          <p:cNvPr id="13" name="文本框 20">
            <a:extLst>
              <a:ext uri="{FF2B5EF4-FFF2-40B4-BE49-F238E27FC236}">
                <a16:creationId xmlns:a16="http://schemas.microsoft.com/office/drawing/2014/main" id="{433243A7-0247-A825-C032-CB7A97B110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2481580"/>
            <a:ext cx="880770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，只用了中断优先级配置寄存器的高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[7 : 4]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，所以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提供了最大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16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级的中断优先等级</a:t>
            </a:r>
          </a:p>
        </p:txBody>
      </p:sp>
      <p:sp>
        <p:nvSpPr>
          <p:cNvPr id="14" name="文本框 22">
            <a:extLst>
              <a:ext uri="{FF2B5EF4-FFF2-40B4-BE49-F238E27FC236}">
                <a16:creationId xmlns:a16="http://schemas.microsoft.com/office/drawing/2014/main" id="{00F2F27D-1C28-1E31-74FA-0D44A25DA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4361180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的中断优先级可以分为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子优先级 </a:t>
            </a:r>
          </a:p>
        </p:txBody>
      </p:sp>
      <p:sp>
        <p:nvSpPr>
          <p:cNvPr id="15" name="文本框 24">
            <a:extLst>
              <a:ext uri="{FF2B5EF4-FFF2-40B4-BE49-F238E27FC236}">
                <a16:creationId xmlns:a16="http://schemas.microsoft.com/office/drawing/2014/main" id="{5B8A66F2-5C79-3CBB-995C-88B4D5855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4731068"/>
            <a:ext cx="7126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 抢占优先级高的中断可以打断正在执行但抢占优先级低的中断 </a:t>
            </a:r>
          </a:p>
        </p:txBody>
      </p:sp>
      <p:sp>
        <p:nvSpPr>
          <p:cNvPr id="16" name="文本框 26">
            <a:extLst>
              <a:ext uri="{FF2B5EF4-FFF2-40B4-BE49-F238E27FC236}">
                <a16:creationId xmlns:a16="http://schemas.microsoft.com/office/drawing/2014/main" id="{18F3F78E-43C9-AF19-DE8B-51D1A32E00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5100955"/>
            <a:ext cx="80946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子优先级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：当同时发生具有相同抢占优先级的两个中断时，子优先级数值小的优先执行</a:t>
            </a:r>
          </a:p>
        </p:txBody>
      </p:sp>
      <p:sp>
        <p:nvSpPr>
          <p:cNvPr id="17" name="文本框 1">
            <a:extLst>
              <a:ext uri="{FF2B5EF4-FFF2-40B4-BE49-F238E27FC236}">
                <a16:creationId xmlns:a16="http://schemas.microsoft.com/office/drawing/2014/main" id="{C1ED3D65-0618-096F-9A78-80B20D92A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5405755"/>
            <a:ext cx="28781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注意：中断优先级数值越小越优先</a:t>
            </a:r>
          </a:p>
        </p:txBody>
      </p:sp>
    </p:spTree>
    <p:extLst>
      <p:ext uri="{BB962C8B-B14F-4D97-AF65-F5344CB8AC3E}">
        <p14:creationId xmlns:p14="http://schemas.microsoft.com/office/powerpoint/2010/main" val="32119143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D7F71-2236-BF2B-C35F-41032334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D10A8BC-A9D6-DC2C-62D9-F26064142C44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9CA0370-3EBB-C8DF-FC52-D16333F4B27F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99BABA-DDFA-5E36-CA5B-37937969AA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1768" y="143037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30">
            <a:extLst>
              <a:ext uri="{FF2B5EF4-FFF2-40B4-BE49-F238E27FC236}">
                <a16:creationId xmlns:a16="http://schemas.microsoft.com/office/drawing/2014/main" id="{6CFF99EE-3BD4-FDE4-3FD0-20219EDD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5257837"/>
            <a:ext cx="73025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官网关于中断说明：https://www.freertos.org/RTOS-Cortex-M3-M4.html</a:t>
            </a:r>
          </a:p>
        </p:txBody>
      </p:sp>
      <p:graphicFrame>
        <p:nvGraphicFramePr>
          <p:cNvPr id="12" name="表格 21">
            <a:extLst>
              <a:ext uri="{FF2B5EF4-FFF2-40B4-BE49-F238E27FC236}">
                <a16:creationId xmlns:a16="http://schemas.microsoft.com/office/drawing/2014/main" id="{EE9FD436-0828-09C7-9FBB-598579261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788634"/>
              </p:ext>
            </p:extLst>
          </p:nvPr>
        </p:nvGraphicFramePr>
        <p:xfrm>
          <a:off x="2025318" y="2401924"/>
          <a:ext cx="6134100" cy="2414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1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1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5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5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优先级分组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抢占优先级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子优先级 </a:t>
                      </a:r>
                      <a:endParaRPr lang="zh-CN" altLang="en-US" sz="110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优先级配置寄存器高 </a:t>
                      </a:r>
                      <a:r>
                        <a:rPr lang="en-US" altLang="zh-CN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 </a:t>
                      </a:r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位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NVIC_PriorityGroup_0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NVIC_PriorityGroup_1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3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NVIC_PriorityGroup_2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0-3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0-3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2bit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2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NVIC_PriorityGroup_3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3bit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NVIC_PriorityGroup_4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文本框 33">
            <a:extLst>
              <a:ext uri="{FF2B5EF4-FFF2-40B4-BE49-F238E27FC236}">
                <a16:creationId xmlns:a16="http://schemas.microsoft.com/office/drawing/2014/main" id="{684115CD-4A6B-503C-5EED-1F87604C90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1970124"/>
            <a:ext cx="526097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一共有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种分配方式，对应着中断优先级分组的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个组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B29F64A-A2CE-4895-309F-91E36B1E74B4}"/>
              </a:ext>
            </a:extLst>
          </p:cNvPr>
          <p:cNvSpPr/>
          <p:nvPr/>
        </p:nvSpPr>
        <p:spPr>
          <a:xfrm>
            <a:off x="2017380" y="4419637"/>
            <a:ext cx="6132513" cy="382587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sp>
        <p:nvSpPr>
          <p:cNvPr id="15" name="文本框 39">
            <a:extLst>
              <a:ext uri="{FF2B5EF4-FFF2-40B4-BE49-F238E27FC236}">
                <a16:creationId xmlns:a16="http://schemas.microsoft.com/office/drawing/2014/main" id="{233F1936-7DFE-50AF-DE5C-56BC3BE9E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4921287"/>
            <a:ext cx="78803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通过调用函数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HAL_NVIC_SetPriorityGrouping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NVIC_PRIORITYGROUP_4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）即可完成设置</a:t>
            </a:r>
            <a:endParaRPr lang="zh-CN" altLang="en-US" sz="14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2D45155-E2D8-2D16-B7E3-4B1ABA798148}"/>
              </a:ext>
            </a:extLst>
          </p:cNvPr>
          <p:cNvSpPr/>
          <p:nvPr/>
        </p:nvSpPr>
        <p:spPr>
          <a:xfrm>
            <a:off x="9229393" y="4882656"/>
            <a:ext cx="144462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HAL_Init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中设置</a:t>
            </a:r>
          </a:p>
        </p:txBody>
      </p:sp>
    </p:spTree>
    <p:extLst>
      <p:ext uri="{BB962C8B-B14F-4D97-AF65-F5344CB8AC3E}">
        <p14:creationId xmlns:p14="http://schemas.microsoft.com/office/powerpoint/2010/main" val="14821611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 animBg="1"/>
      <p:bldP spid="15" grpId="0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716DD-FBEC-38A3-D0BF-D5406BE85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40E39DA-0526-C314-1E88-78B55C23AC88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EF3405-FEE8-9C1E-D005-8396CEDD318E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0A3867-DE0D-66E4-F8A2-4BE8E1CB3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4968" y="15408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36">
            <a:extLst>
              <a:ext uri="{FF2B5EF4-FFF2-40B4-BE49-F238E27FC236}">
                <a16:creationId xmlns:a16="http://schemas.microsoft.com/office/drawing/2014/main" id="{83C4C83D-2A54-033B-0DE4-65AB338E9E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2728278"/>
            <a:ext cx="804830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、低于configMAX_SYSCALL_INTERRUPT_PRIORITY优先级的中断里才允许调用FreeRTOS 的API函数</a:t>
            </a:r>
          </a:p>
        </p:txBody>
      </p:sp>
      <p:sp>
        <p:nvSpPr>
          <p:cNvPr id="12" name="文本框 15">
            <a:extLst>
              <a:ext uri="{FF2B5EF4-FFF2-40B4-BE49-F238E27FC236}">
                <a16:creationId xmlns:a16="http://schemas.microsoft.com/office/drawing/2014/main" id="{01610F44-735D-B07C-8736-97BFACA0D5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3395028"/>
            <a:ext cx="49053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、建议将所有优先级位指定为抢占优先级位，方便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9">
            <a:extLst>
              <a:ext uri="{FF2B5EF4-FFF2-40B4-BE49-F238E27FC236}">
                <a16:creationId xmlns:a16="http://schemas.microsoft.com/office/drawing/2014/main" id="{2B48226D-0AF4-C758-9CAD-F77BF053BE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4288791"/>
            <a:ext cx="43703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、中断优先级数值越小越优先，任务优先级数值越大越优先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F405A34-D426-ACED-8E5A-A37B3C81CF84}"/>
              </a:ext>
            </a:extLst>
          </p:cNvPr>
          <p:cNvSpPr/>
          <p:nvPr/>
        </p:nvSpPr>
        <p:spPr>
          <a:xfrm>
            <a:off x="5218430" y="3771266"/>
            <a:ext cx="51498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（调用函数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HAL_NVIC_SetPriorityGrouping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(NVIC_PRIORITYGROUP_4)</a:t>
            </a:r>
            <a:endParaRPr lang="zh-CN" altLang="en-US" sz="1200" dirty="0"/>
          </a:p>
        </p:txBody>
      </p:sp>
      <p:sp>
        <p:nvSpPr>
          <p:cNvPr id="15" name="文本框 21">
            <a:extLst>
              <a:ext uri="{FF2B5EF4-FFF2-40B4-BE49-F238E27FC236}">
                <a16:creationId xmlns:a16="http://schemas.microsoft.com/office/drawing/2014/main" id="{C4986A5C-6229-ABE4-948C-5B7FF62E17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2242503"/>
            <a:ext cx="731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8B47F5-CE55-AB77-AF6F-38677095E3EB}"/>
              </a:ext>
            </a:extLst>
          </p:cNvPr>
          <p:cNvSpPr/>
          <p:nvPr/>
        </p:nvSpPr>
        <p:spPr>
          <a:xfrm>
            <a:off x="7372668" y="4233228"/>
            <a:ext cx="695325" cy="125412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02238C5-9EFA-99AE-9758-3669B514FFCE}"/>
              </a:ext>
            </a:extLst>
          </p:cNvPr>
          <p:cNvCxnSpPr>
            <a:cxnSpLocks/>
          </p:cNvCxnSpPr>
          <p:nvPr/>
        </p:nvCxnSpPr>
        <p:spPr>
          <a:xfrm>
            <a:off x="7372668" y="44443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E61C125-E400-2DDC-97B5-7EC443CC50A9}"/>
              </a:ext>
            </a:extLst>
          </p:cNvPr>
          <p:cNvCxnSpPr>
            <a:cxnSpLocks/>
          </p:cNvCxnSpPr>
          <p:nvPr/>
        </p:nvCxnSpPr>
        <p:spPr>
          <a:xfrm>
            <a:off x="7372668" y="46475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3DF022C-852E-8C6F-45F4-8FB7690E58D0}"/>
              </a:ext>
            </a:extLst>
          </p:cNvPr>
          <p:cNvCxnSpPr>
            <a:cxnSpLocks/>
          </p:cNvCxnSpPr>
          <p:nvPr/>
        </p:nvCxnSpPr>
        <p:spPr>
          <a:xfrm>
            <a:off x="7372668" y="48507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5438F9A-E544-3801-CA1F-F600F08CCF6C}"/>
              </a:ext>
            </a:extLst>
          </p:cNvPr>
          <p:cNvCxnSpPr>
            <a:cxnSpLocks/>
          </p:cNvCxnSpPr>
          <p:nvPr/>
        </p:nvCxnSpPr>
        <p:spPr>
          <a:xfrm>
            <a:off x="7372668" y="50555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52E8F1-104D-5B67-2A4D-868D7F883D8B}"/>
              </a:ext>
            </a:extLst>
          </p:cNvPr>
          <p:cNvCxnSpPr>
            <a:cxnSpLocks/>
          </p:cNvCxnSpPr>
          <p:nvPr/>
        </p:nvCxnSpPr>
        <p:spPr>
          <a:xfrm>
            <a:off x="7372668" y="52587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0">
            <a:extLst>
              <a:ext uri="{FF2B5EF4-FFF2-40B4-BE49-F238E27FC236}">
                <a16:creationId xmlns:a16="http://schemas.microsoft.com/office/drawing/2014/main" id="{C7A73C2B-FFC0-55E3-64D5-44BAB486F3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1743" y="4207828"/>
            <a:ext cx="257175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3" name="文本框 32">
            <a:extLst>
              <a:ext uri="{FF2B5EF4-FFF2-40B4-BE49-F238E27FC236}">
                <a16:creationId xmlns:a16="http://schemas.microsoft.com/office/drawing/2014/main" id="{821D8E77-918E-7419-849F-DB4E7C031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5230" y="5252403"/>
            <a:ext cx="330200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15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4" name="文本框 34">
            <a:extLst>
              <a:ext uri="{FF2B5EF4-FFF2-40B4-BE49-F238E27FC236}">
                <a16:creationId xmlns:a16="http://schemas.microsoft.com/office/drawing/2014/main" id="{BFD1B690-51C7-731D-5FE8-1F76475CE3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1743" y="441579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5" name="文本框 35">
            <a:extLst>
              <a:ext uri="{FF2B5EF4-FFF2-40B4-BE49-F238E27FC236}">
                <a16:creationId xmlns:a16="http://schemas.microsoft.com/office/drawing/2014/main" id="{3C96878F-E6F8-D57B-8E89-9882F885CE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9680" y="4645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6" name="文本框 37">
            <a:extLst>
              <a:ext uri="{FF2B5EF4-FFF2-40B4-BE49-F238E27FC236}">
                <a16:creationId xmlns:a16="http://schemas.microsoft.com/office/drawing/2014/main" id="{9F1E99A4-0728-DAB3-F5D8-9ED7F02389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8718" y="4801553"/>
            <a:ext cx="4191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7" name="文本框 38">
            <a:extLst>
              <a:ext uri="{FF2B5EF4-FFF2-40B4-BE49-F238E27FC236}">
                <a16:creationId xmlns:a16="http://schemas.microsoft.com/office/drawing/2014/main" id="{15B10A9B-CB9A-BDD0-AC44-AB5E82AF3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3168" y="5025391"/>
            <a:ext cx="328612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14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27FFE5E-0739-7160-B231-7BA6F9A46CDE}"/>
              </a:ext>
            </a:extLst>
          </p:cNvPr>
          <p:cNvSpPr/>
          <p:nvPr/>
        </p:nvSpPr>
        <p:spPr>
          <a:xfrm>
            <a:off x="8629968" y="4236403"/>
            <a:ext cx="695325" cy="1252538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8AEB7C-F04D-3E39-F4A9-2E127AAE0D36}"/>
              </a:ext>
            </a:extLst>
          </p:cNvPr>
          <p:cNvCxnSpPr>
            <a:cxnSpLocks/>
          </p:cNvCxnSpPr>
          <p:nvPr/>
        </p:nvCxnSpPr>
        <p:spPr>
          <a:xfrm>
            <a:off x="8629968" y="44475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46A0EA0-F83C-35D7-DB28-FF3E631CB708}"/>
              </a:ext>
            </a:extLst>
          </p:cNvPr>
          <p:cNvCxnSpPr>
            <a:cxnSpLocks/>
          </p:cNvCxnSpPr>
          <p:nvPr/>
        </p:nvCxnSpPr>
        <p:spPr>
          <a:xfrm>
            <a:off x="8629968" y="46507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29BABFB-3494-3223-5D18-FD8DC4E1AFE9}"/>
              </a:ext>
            </a:extLst>
          </p:cNvPr>
          <p:cNvCxnSpPr>
            <a:cxnSpLocks/>
          </p:cNvCxnSpPr>
          <p:nvPr/>
        </p:nvCxnSpPr>
        <p:spPr>
          <a:xfrm>
            <a:off x="8629968" y="48539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C6902DB-BC6B-57FA-07C7-7AFF13F6F39B}"/>
              </a:ext>
            </a:extLst>
          </p:cNvPr>
          <p:cNvCxnSpPr>
            <a:cxnSpLocks/>
          </p:cNvCxnSpPr>
          <p:nvPr/>
        </p:nvCxnSpPr>
        <p:spPr>
          <a:xfrm>
            <a:off x="8629968" y="50571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7544633-34DB-0A48-86C6-FD114513B4EB}"/>
              </a:ext>
            </a:extLst>
          </p:cNvPr>
          <p:cNvCxnSpPr>
            <a:cxnSpLocks/>
          </p:cNvCxnSpPr>
          <p:nvPr/>
        </p:nvCxnSpPr>
        <p:spPr>
          <a:xfrm>
            <a:off x="8629968" y="5261928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45">
            <a:extLst>
              <a:ext uri="{FF2B5EF4-FFF2-40B4-BE49-F238E27FC236}">
                <a16:creationId xmlns:a16="http://schemas.microsoft.com/office/drawing/2014/main" id="{3D3259B3-F0D2-EABA-9F5D-C8AA86E9C6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21417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5" name="文本框 46">
            <a:extLst>
              <a:ext uri="{FF2B5EF4-FFF2-40B4-BE49-F238E27FC236}">
                <a16:creationId xmlns:a16="http://schemas.microsoft.com/office/drawing/2014/main" id="{748EC0FA-8D54-5760-A2EB-7DF3AC4E5E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6980" y="526034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6" name="文本框 47">
            <a:extLst>
              <a:ext uri="{FF2B5EF4-FFF2-40B4-BE49-F238E27FC236}">
                <a16:creationId xmlns:a16="http://schemas.microsoft.com/office/drawing/2014/main" id="{9127AA83-E969-1F42-F51F-2AEAFF8405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42372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7" name="文本框 48">
            <a:extLst>
              <a:ext uri="{FF2B5EF4-FFF2-40B4-BE49-F238E27FC236}">
                <a16:creationId xmlns:a16="http://schemas.microsoft.com/office/drawing/2014/main" id="{25261D4B-966B-1A16-48C4-C1EF5C746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630103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29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8" name="文本框 49">
            <a:extLst>
              <a:ext uri="{FF2B5EF4-FFF2-40B4-BE49-F238E27FC236}">
                <a16:creationId xmlns:a16="http://schemas.microsoft.com/office/drawing/2014/main" id="{1DE9DBAC-AAE6-C576-02AA-7F79C14E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8080" y="4809491"/>
            <a:ext cx="4191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9" name="文本框 50">
            <a:extLst>
              <a:ext uri="{FF2B5EF4-FFF2-40B4-BE49-F238E27FC236}">
                <a16:creationId xmlns:a16="http://schemas.microsoft.com/office/drawing/2014/main" id="{D38516D8-237E-3B31-55A2-D1E0AAAA5D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49043" y="5026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2060"/>
                </a:solidFill>
              </a:rPr>
              <a:t>1</a:t>
            </a:r>
            <a:endParaRPr lang="zh-CN" altLang="en-US" sz="1100" dirty="0">
              <a:solidFill>
                <a:srgbClr val="002060"/>
              </a:solidFill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E0B8415-B0E0-17A6-3047-908779483266}"/>
              </a:ext>
            </a:extLst>
          </p:cNvPr>
          <p:cNvCxnSpPr>
            <a:cxnSpLocks/>
          </p:cNvCxnSpPr>
          <p:nvPr/>
        </p:nvCxnSpPr>
        <p:spPr>
          <a:xfrm flipH="1" flipV="1">
            <a:off x="6872605" y="4263391"/>
            <a:ext cx="4763" cy="12573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文本框 25">
            <a:extLst>
              <a:ext uri="{FF2B5EF4-FFF2-40B4-BE49-F238E27FC236}">
                <a16:creationId xmlns:a16="http://schemas.microsoft.com/office/drawing/2014/main" id="{ACF8E2B2-AE60-3EA2-F2EF-15EED29D9C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4305" y="4574541"/>
            <a:ext cx="400050" cy="630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优先级</a:t>
            </a:r>
          </a:p>
        </p:txBody>
      </p:sp>
      <p:sp>
        <p:nvSpPr>
          <p:cNvPr id="42" name="文本框 26">
            <a:extLst>
              <a:ext uri="{FF2B5EF4-FFF2-40B4-BE49-F238E27FC236}">
                <a16:creationId xmlns:a16="http://schemas.microsoft.com/office/drawing/2014/main" id="{7F71482D-0A4C-7ED9-A707-26D874B33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2493" y="550322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</a:t>
            </a:r>
          </a:p>
        </p:txBody>
      </p:sp>
      <p:sp>
        <p:nvSpPr>
          <p:cNvPr id="43" name="文本框 53">
            <a:extLst>
              <a:ext uri="{FF2B5EF4-FFF2-40B4-BE49-F238E27FC236}">
                <a16:creationId xmlns:a16="http://schemas.microsoft.com/office/drawing/2014/main" id="{A29B5B0F-70FC-D808-492C-A203F6A760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99793" y="550957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任务优先级</a:t>
            </a: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4AFF044-C3AF-BFEB-77A0-A9B6A75C4C00}"/>
              </a:ext>
            </a:extLst>
          </p:cNvPr>
          <p:cNvCxnSpPr>
            <a:cxnSpLocks/>
          </p:cNvCxnSpPr>
          <p:nvPr/>
        </p:nvCxnSpPr>
        <p:spPr>
          <a:xfrm flipV="1">
            <a:off x="6859905" y="5519103"/>
            <a:ext cx="2844800" cy="31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36885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/>
      <p:bldP spid="16" grpId="0" animBg="1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34" grpId="0"/>
      <p:bldP spid="35" grpId="0"/>
      <p:bldP spid="36" grpId="0"/>
      <p:bldP spid="37" grpId="0"/>
      <p:bldP spid="38" grpId="0"/>
      <p:bldP spid="39" grpId="0"/>
      <p:bldP spid="41" grpId="0"/>
      <p:bldP spid="42" grpId="0"/>
      <p:bldP spid="43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86108-74D8-166F-CF07-5B634B8C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069F59A-42D1-0A8F-E94E-6249D819B47B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BCF0BC0-2C6E-D882-1B58-317B479D010E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E00A00-D6FC-AA38-D6E2-FDBB6DB14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15">
            <a:extLst>
              <a:ext uri="{FF2B5EF4-FFF2-40B4-BE49-F238E27FC236}">
                <a16:creationId xmlns:a16="http://schemas.microsoft.com/office/drawing/2014/main" id="{B6D34AC6-0243-0BBD-9EA1-496020245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2516506"/>
            <a:ext cx="26828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0xE000ED18</a:t>
            </a:r>
          </a:p>
        </p:txBody>
      </p:sp>
      <p:sp>
        <p:nvSpPr>
          <p:cNvPr id="12" name="文本框 21">
            <a:extLst>
              <a:ext uri="{FF2B5EF4-FFF2-40B4-BE49-F238E27FC236}">
                <a16:creationId xmlns:a16="http://schemas.microsoft.com/office/drawing/2014/main" id="{EFD7C50E-AA7E-7947-4E38-51EB82B4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019" y="2114868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三个系统中断优先级配置寄存器，分别为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SHPR3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51">
            <a:extLst>
              <a:ext uri="{FF2B5EF4-FFF2-40B4-BE49-F238E27FC236}">
                <a16:creationId xmlns:a16="http://schemas.microsoft.com/office/drawing/2014/main" id="{0088AFBD-B7DD-3383-6FE7-ABAC0C627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2794318"/>
            <a:ext cx="27813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0xE000ED1C</a:t>
            </a:r>
          </a:p>
        </p:txBody>
      </p:sp>
      <p:sp>
        <p:nvSpPr>
          <p:cNvPr id="14" name="文本框 54">
            <a:extLst>
              <a:ext uri="{FF2B5EF4-FFF2-40B4-BE49-F238E27FC236}">
                <a16:creationId xmlns:a16="http://schemas.microsoft.com/office/drawing/2014/main" id="{1A9624A8-0BA6-0F40-0C0D-30F9C2B623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3070543"/>
            <a:ext cx="27813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SHPR3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0xE000ED20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AEAB5CD-D11F-7BAB-ED2F-470448F49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294" y="2676843"/>
            <a:ext cx="4830762" cy="26749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矩形 56">
            <a:extLst>
              <a:ext uri="{FF2B5EF4-FFF2-40B4-BE49-F238E27FC236}">
                <a16:creationId xmlns:a16="http://schemas.microsoft.com/office/drawing/2014/main" id="{3E71B480-77A6-EAF2-59DF-BEAF13C3A6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6381" y="4978718"/>
            <a:ext cx="34004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表出自：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《Cortex M3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权威指南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中文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)》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第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286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页</a:t>
            </a:r>
            <a:endParaRPr lang="zh-CN" altLang="en-US" sz="1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2830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71F51-4741-4BEB-2D29-8CA1453DA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63B1D0D-FADE-798D-BD27-03AE62590EC9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13" name="文本框 9">
            <a:extLst>
              <a:ext uri="{FF2B5EF4-FFF2-40B4-BE49-F238E27FC236}">
                <a16:creationId xmlns:a16="http://schemas.microsoft.com/office/drawing/2014/main" id="{D75B13CF-9B05-E8EB-5A35-5BDFB25BFF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4591" y="1127790"/>
            <a:ext cx="61134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如何配置</a:t>
            </a:r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PendSV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Systick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中断优先级？</a:t>
            </a:r>
          </a:p>
        </p:txBody>
      </p:sp>
      <p:pic>
        <p:nvPicPr>
          <p:cNvPr id="14" name="图片 8">
            <a:extLst>
              <a:ext uri="{FF2B5EF4-FFF2-40B4-BE49-F238E27FC236}">
                <a16:creationId xmlns:a16="http://schemas.microsoft.com/office/drawing/2014/main" id="{14686272-FCDD-A79F-A162-CE9F974C9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1543715"/>
            <a:ext cx="4195762" cy="52863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图片 12">
            <a:extLst>
              <a:ext uri="{FF2B5EF4-FFF2-40B4-BE49-F238E27FC236}">
                <a16:creationId xmlns:a16="http://schemas.microsoft.com/office/drawing/2014/main" id="{ED0BD966-F1A4-BA00-BF85-DFB9EB68B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2199353"/>
            <a:ext cx="5986462" cy="7397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图片 14">
            <a:extLst>
              <a:ext uri="{FF2B5EF4-FFF2-40B4-BE49-F238E27FC236}">
                <a16:creationId xmlns:a16="http://schemas.microsoft.com/office/drawing/2014/main" id="{4A61E78B-F1C4-FF4E-85A0-9B717A93F0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058190"/>
            <a:ext cx="6451600" cy="493713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图片 17">
            <a:extLst>
              <a:ext uri="{FF2B5EF4-FFF2-40B4-BE49-F238E27FC236}">
                <a16:creationId xmlns:a16="http://schemas.microsoft.com/office/drawing/2014/main" id="{9A4B9B25-FC27-752F-BF07-2709A30AFE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699540"/>
            <a:ext cx="6985000" cy="14954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本框 18">
            <a:extLst>
              <a:ext uri="{FF2B5EF4-FFF2-40B4-BE49-F238E27FC236}">
                <a16:creationId xmlns:a16="http://schemas.microsoft.com/office/drawing/2014/main" id="{9D61F22A-9AC3-90C4-3CE9-292AE49F9F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5191" y="1569115"/>
            <a:ext cx="29511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所以：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PendSV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SysTick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设置最低优先级</a:t>
            </a:r>
          </a:p>
        </p:txBody>
      </p:sp>
      <p:sp>
        <p:nvSpPr>
          <p:cNvPr id="19" name="文本框 27">
            <a:extLst>
              <a:ext uri="{FF2B5EF4-FFF2-40B4-BE49-F238E27FC236}">
                <a16:creationId xmlns:a16="http://schemas.microsoft.com/office/drawing/2014/main" id="{68E9A63F-F7F9-9307-5892-8BE24E52B4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3441" y="1867565"/>
            <a:ext cx="41957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设置最低：保证系统任务切换不会阻塞系统其他中断的响应</a:t>
            </a:r>
          </a:p>
        </p:txBody>
      </p:sp>
    </p:spTree>
    <p:extLst>
      <p:ext uri="{BB962C8B-B14F-4D97-AF65-F5344CB8AC3E}">
        <p14:creationId xmlns:p14="http://schemas.microsoft.com/office/powerpoint/2010/main" val="149777951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0840-FA04-7600-69C4-7E1C5C41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D0FF036-F726-4E4A-4779-4E774344EE34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89C7C9BB-C7E6-BF5A-9B6D-257D57C8D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5442" y="14144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6">
            <a:extLst>
              <a:ext uri="{FF2B5EF4-FFF2-40B4-BE49-F238E27FC236}">
                <a16:creationId xmlns:a16="http://schemas.microsoft.com/office/drawing/2014/main" id="{A0375EEA-5417-C0EE-90F2-18C7C4B0A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5329" y="1912901"/>
            <a:ext cx="6824663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三个中断屏蔽寄存器，分别为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PRIMASK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FAULTMASK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 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412D36B-74C4-D68F-489F-091F83CA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367" y="2446301"/>
            <a:ext cx="6389687" cy="197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文本框 7">
            <a:extLst>
              <a:ext uri="{FF2B5EF4-FFF2-40B4-BE49-F238E27FC236}">
                <a16:creationId xmlns:a16="http://schemas.microsoft.com/office/drawing/2014/main" id="{A9FD5D2E-3667-88F2-D47C-C2D7876F6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4638639"/>
            <a:ext cx="5146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所使用的中断管理就是利用的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这个寄存器</a:t>
            </a:r>
          </a:p>
        </p:txBody>
      </p:sp>
      <p:sp>
        <p:nvSpPr>
          <p:cNvPr id="12" name="文本框 20">
            <a:extLst>
              <a:ext uri="{FF2B5EF4-FFF2-40B4-BE49-F238E27FC236}">
                <a16:creationId xmlns:a16="http://schemas.microsoft.com/office/drawing/2014/main" id="{8A34330F-BE3E-5B6B-BB9E-D04206BEE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4995826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</a:t>
            </a:r>
            <a:endParaRPr lang="zh-CN" altLang="en-US" sz="1400" dirty="0"/>
          </a:p>
        </p:txBody>
      </p:sp>
      <p:sp>
        <p:nvSpPr>
          <p:cNvPr id="13" name="文本框 22">
            <a:extLst>
              <a:ext uri="{FF2B5EF4-FFF2-40B4-BE49-F238E27FC236}">
                <a16:creationId xmlns:a16="http://schemas.microsoft.com/office/drawing/2014/main" id="{A4D86F9A-9C4A-2A15-483C-53E141839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5311739"/>
            <a:ext cx="8097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比如：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0x50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，代表中断优先级在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5~15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内的均被屏蔽，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0~4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的中断优先级正常执行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92781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5B962-2B99-B1F9-A17A-C06E071D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AD17DCF8-9CA9-F269-1DE5-9BA781907521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2C650BA-E3AE-FFC3-6B8F-64C6C7BF43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4178" y="13825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76A1A644-235E-F32F-F4B4-A46562AF77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203" y="1942916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>
            <a:extLst>
              <a:ext uri="{FF2B5EF4-FFF2-40B4-BE49-F238E27FC236}">
                <a16:creationId xmlns:a16="http://schemas.microsoft.com/office/drawing/2014/main" id="{F9B4316B-F9D3-6602-6609-6684BCBB3A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0415" y="238741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关中断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程序示例：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D8FAB4-F06A-6BC1-D8D7-E03E998E81C1}"/>
              </a:ext>
            </a:extLst>
          </p:cNvPr>
          <p:cNvSpPr/>
          <p:nvPr/>
        </p:nvSpPr>
        <p:spPr>
          <a:xfrm>
            <a:off x="1870740" y="2746191"/>
            <a:ext cx="8208925" cy="247332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8132A6-0287-D89A-8288-0E0A42E3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9165" y="2728728"/>
            <a:ext cx="8822660" cy="281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portDISABLE_INTERRUPTS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 		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vPortRaiseBASEPRI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</a:p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static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portFORCE_INLINE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vPortRaiseBASEPRI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uint32_t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=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configMAX_SYSCALL_INTERRUPT_PRIORITY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;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__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asm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{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msr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dsb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isb</a:t>
            </a:r>
            <a:endParaRPr lang="en-US" altLang="zh-CN" sz="10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    (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&lt;&lt; (8 -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configPRIO_BITS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 )</a:t>
            </a: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5      </a:t>
            </a:r>
            <a:r>
              <a:rPr lang="en-US" altLang="zh-CN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/* </a:t>
            </a:r>
            <a:r>
              <a:rPr lang="en-US" altLang="zh-CN" sz="900" dirty="0" err="1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可管理的最高中断优先级 *</a:t>
            </a:r>
            <a:r>
              <a:rPr lang="en-US" altLang="zh-CN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</a:t>
            </a:r>
            <a:r>
              <a:rPr lang="zh-CN" altLang="en-US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endParaRPr lang="en-US" altLang="zh-CN" sz="900" dirty="0">
              <a:solidFill>
                <a:srgbClr val="0000FF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100" dirty="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endParaRPr lang="en-US" altLang="zh-CN" sz="11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8">
            <a:extLst>
              <a:ext uri="{FF2B5EF4-FFF2-40B4-BE49-F238E27FC236}">
                <a16:creationId xmlns:a16="http://schemas.microsoft.com/office/drawing/2014/main" id="{3779622A-ECEA-5667-5CF7-780CBD3B8E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0415" y="5219516"/>
            <a:ext cx="2809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中断优先级在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~ 15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的全部被关闭</a:t>
            </a:r>
          </a:p>
        </p:txBody>
      </p:sp>
    </p:spTree>
    <p:extLst>
      <p:ext uri="{BB962C8B-B14F-4D97-AF65-F5344CB8AC3E}">
        <p14:creationId xmlns:p14="http://schemas.microsoft.com/office/powerpoint/2010/main" val="39211516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36FCE-E800-09D3-FA4C-F054653E3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B4A7609-6025-476C-6FCB-62205FDCC1B5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804A7B9-48AC-9CE7-0E7F-C3D022ECF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299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D03E2136-8C62-5687-D31B-C818A8823D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1324" y="1921651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设置为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0x50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0" name="文本框 8">
            <a:extLst>
              <a:ext uri="{FF2B5EF4-FFF2-40B4-BE49-F238E27FC236}">
                <a16:creationId xmlns:a16="http://schemas.microsoft.com/office/drawing/2014/main" id="{0137A8A2-E39E-9F6B-EB41-8AB190D84C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2449" y="4496576"/>
            <a:ext cx="43132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在中断服务函数中调度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函数需注意：</a:t>
            </a:r>
          </a:p>
        </p:txBody>
      </p:sp>
      <p:sp>
        <p:nvSpPr>
          <p:cNvPr id="11" name="文本框 18">
            <a:extLst>
              <a:ext uri="{FF2B5EF4-FFF2-40B4-BE49-F238E27FC236}">
                <a16:creationId xmlns:a16="http://schemas.microsoft.com/office/drawing/2014/main" id="{E64689CB-3405-90D2-2C7E-384914541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4199" y="5109351"/>
            <a:ext cx="7265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、在中断服务函数里边需调用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函数，必须使用带“</a:t>
            </a:r>
            <a:r>
              <a:rPr lang="en-US" altLang="zh-CN" sz="14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”后缀的函数</a:t>
            </a:r>
          </a:p>
        </p:txBody>
      </p:sp>
      <p:sp>
        <p:nvSpPr>
          <p:cNvPr id="12" name="文本框 19">
            <a:extLst>
              <a:ext uri="{FF2B5EF4-FFF2-40B4-BE49-F238E27FC236}">
                <a16:creationId xmlns:a16="http://schemas.microsoft.com/office/drawing/2014/main" id="{518578D9-39FF-7492-77CC-89CD1A3509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4199" y="4785501"/>
            <a:ext cx="48577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、中断服务函数的优先级需在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所管理的范围内</a:t>
            </a:r>
          </a:p>
        </p:txBody>
      </p:sp>
      <p:pic>
        <p:nvPicPr>
          <p:cNvPr id="13" name="图片 2">
            <a:extLst>
              <a:ext uri="{FF2B5EF4-FFF2-40B4-BE49-F238E27FC236}">
                <a16:creationId xmlns:a16="http://schemas.microsoft.com/office/drawing/2014/main" id="{EEEEECD2-4BFD-C9A9-77D7-E4B3B1AD6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199" y="2299476"/>
            <a:ext cx="5100637" cy="20224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72675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DA69-8E87-9D7C-832C-85BC1520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BDF80660-121E-8453-B1E6-D5662B3258B5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AE473E9-203F-483B-0841-A512CA11E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504" y="137721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1EA2A974-91A1-2868-D537-13D95EA5F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529" y="1937600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>
            <a:extLst>
              <a:ext uri="{FF2B5EF4-FFF2-40B4-BE49-F238E27FC236}">
                <a16:creationId xmlns:a16="http://schemas.microsoft.com/office/drawing/2014/main" id="{58A83B08-7273-B4C8-6CA0-3089819DD0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6741" y="2382100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开中断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程序示例：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6CAC4B2-4A6A-4A95-6550-630006E9509A}"/>
              </a:ext>
            </a:extLst>
          </p:cNvPr>
          <p:cNvSpPr/>
          <p:nvPr/>
        </p:nvSpPr>
        <p:spPr>
          <a:xfrm>
            <a:off x="1977066" y="2731350"/>
            <a:ext cx="5854700" cy="212566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24">
            <a:extLst>
              <a:ext uri="{FF2B5EF4-FFF2-40B4-BE49-F238E27FC236}">
                <a16:creationId xmlns:a16="http://schemas.microsoft.com/office/drawing/2014/main" id="{8DC54518-F2F4-DD2D-BF62-905A234322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6279" y="2839300"/>
            <a:ext cx="5805487" cy="2017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#define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portENABLE_INTERRUPTS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()		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( 0 )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static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portFORCE_INLINE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void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uint32_t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__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asm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		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msr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endParaRPr lang="en-US" altLang="zh-CN" sz="11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5">
            <a:extLst>
              <a:ext uri="{FF2B5EF4-FFF2-40B4-BE49-F238E27FC236}">
                <a16:creationId xmlns:a16="http://schemas.microsoft.com/office/drawing/2014/main" id="{2A45D793-7100-066C-4CAD-4F20D2E239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6741" y="5031637"/>
            <a:ext cx="54848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中断管理就是利用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寄存器实现的</a:t>
            </a:r>
          </a:p>
        </p:txBody>
      </p:sp>
    </p:spTree>
    <p:extLst>
      <p:ext uri="{BB962C8B-B14F-4D97-AF65-F5344CB8AC3E}">
        <p14:creationId xmlns:p14="http://schemas.microsoft.com/office/powerpoint/2010/main" val="105375156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4" y="2517775"/>
            <a:ext cx="5940743" cy="1080770"/>
          </a:xfrm>
        </p:spPr>
        <p:txBody>
          <a:bodyPr wrap="square">
            <a:normAutofit fontScale="90000"/>
          </a:bodyPr>
          <a:lstStyle/>
          <a:p>
            <a:r>
              <a:rPr dirty="0">
                <a:sym typeface="+mn-ea"/>
              </a:rPr>
              <a:t>任务间通信与同步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09561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dirty="0">
                <a:sym typeface="+mn-ea"/>
              </a:rPr>
              <a:t>任务间通信与同步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2F3356-C6CC-4026-F0A0-C71757757276}"/>
              </a:ext>
            </a:extLst>
          </p:cNvPr>
          <p:cNvSpPr txBox="1"/>
          <p:nvPr/>
        </p:nvSpPr>
        <p:spPr>
          <a:xfrm>
            <a:off x="544830" y="1506855"/>
            <a:ext cx="10096500" cy="1884931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，信号量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，队列和队列集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4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，事件标志组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610860"/>
      </p:ext>
    </p:extLst>
  </p:cSld>
  <p:clrMapOvr>
    <a:masterClrMapping/>
  </p:clrMapOvr>
  <p:transition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0AFA4-70EF-06D5-7CC5-F00AFE5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2B08429-A736-A378-FD50-5B9E1125265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58B42A-6134-C51A-A65F-C2C4AA6471B8}"/>
              </a:ext>
            </a:extLst>
          </p:cNvPr>
          <p:cNvSpPr txBox="1"/>
          <p:nvPr/>
        </p:nvSpPr>
        <p:spPr>
          <a:xfrm>
            <a:off x="675307" y="785629"/>
            <a:ext cx="6093618" cy="1023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1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，任务通知的简介</a:t>
            </a:r>
            <a:endParaRPr lang="en-US" altLang="zh-CN" sz="1400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2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，任务通知值和通知状态</a:t>
            </a:r>
            <a:endParaRPr lang="en-US" altLang="zh-CN" sz="1400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sz="1400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9">
            <a:extLst>
              <a:ext uri="{FF2B5EF4-FFF2-40B4-BE49-F238E27FC236}">
                <a16:creationId xmlns:a16="http://schemas.microsoft.com/office/drawing/2014/main" id="{05C5E30E-986D-EF8A-B7E2-82E39797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139" y="2056123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，任务通知的简介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2" name="文本框 1">
            <a:extLst>
              <a:ext uri="{FF2B5EF4-FFF2-40B4-BE49-F238E27FC236}">
                <a16:creationId xmlns:a16="http://schemas.microsoft.com/office/drawing/2014/main" id="{954B3DAA-31C4-A485-B36D-53EA038C1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2519673"/>
            <a:ext cx="7786687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任务通知：用来通知任务的，任务控制块中的结构体成员变量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ulNotifiedValue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就是这个通知值。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6">
            <a:extLst>
              <a:ext uri="{FF2B5EF4-FFF2-40B4-BE49-F238E27FC236}">
                <a16:creationId xmlns:a16="http://schemas.microsoft.com/office/drawing/2014/main" id="{8CCFBF1F-13F6-39AB-3F7B-AAE5A18100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2956236"/>
            <a:ext cx="80137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使用队列、信号量、事件标志组时都需另外创建一个结构体，通过中间的结构体进行间接通信！</a:t>
            </a:r>
          </a:p>
        </p:txBody>
      </p:sp>
      <p:sp>
        <p:nvSpPr>
          <p:cNvPr id="14" name="文本框 27">
            <a:extLst>
              <a:ext uri="{FF2B5EF4-FFF2-40B4-BE49-F238E27FC236}">
                <a16:creationId xmlns:a16="http://schemas.microsoft.com/office/drawing/2014/main" id="{D704BE72-BF2D-602C-D9BF-B3064AB50A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4578661"/>
            <a:ext cx="7613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使用任务通知时，任务结构体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中就包含了内部对象，可以直接接收别人发过来的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pic>
        <p:nvPicPr>
          <p:cNvPr id="15" name="图片 28">
            <a:extLst>
              <a:ext uri="{FF2B5EF4-FFF2-40B4-BE49-F238E27FC236}">
                <a16:creationId xmlns:a16="http://schemas.microsoft.com/office/drawing/2014/main" id="{660C0316-A95B-D0E0-8425-25F73B259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4962836"/>
            <a:ext cx="4770438" cy="131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图片 29">
            <a:extLst>
              <a:ext uri="{FF2B5EF4-FFF2-40B4-BE49-F238E27FC236}">
                <a16:creationId xmlns:a16="http://schemas.microsoft.com/office/drawing/2014/main" id="{5A10249D-72BF-0DD8-B20F-38FD6CB41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3365811"/>
            <a:ext cx="4770438" cy="1201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72455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1A06-BAFE-03E7-B079-B37E2808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0317950-9332-50B0-583F-E88B29B1577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09ABC79-9990-4169-E2F9-7DA1081B8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675" y="1526068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任务通知值的更新方式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">
            <a:extLst>
              <a:ext uri="{FF2B5EF4-FFF2-40B4-BE49-F238E27FC236}">
                <a16:creationId xmlns:a16="http://schemas.microsoft.com/office/drawing/2014/main" id="{9C602ADE-411A-2B7B-EB23-96B4558D62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2159481"/>
            <a:ext cx="2574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不覆盖接受任务的通知值</a:t>
            </a:r>
          </a:p>
        </p:txBody>
      </p:sp>
      <p:sp>
        <p:nvSpPr>
          <p:cNvPr id="10" name="文本框 7">
            <a:extLst>
              <a:ext uri="{FF2B5EF4-FFF2-40B4-BE49-F238E27FC236}">
                <a16:creationId xmlns:a16="http://schemas.microsoft.com/office/drawing/2014/main" id="{55DD95A8-BECB-8643-97BB-B2F634FE5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2578581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覆盖接受任务的通知值</a:t>
            </a:r>
          </a:p>
        </p:txBody>
      </p:sp>
      <p:sp>
        <p:nvSpPr>
          <p:cNvPr id="11" name="文本框 8">
            <a:extLst>
              <a:ext uri="{FF2B5EF4-FFF2-40B4-BE49-F238E27FC236}">
                <a16:creationId xmlns:a16="http://schemas.microsoft.com/office/drawing/2014/main" id="{CFD2F881-D04F-8E79-8374-2480413E3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3007206"/>
            <a:ext cx="347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更新接受任务通知值的一个或多个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文本框 9">
            <a:extLst>
              <a:ext uri="{FF2B5EF4-FFF2-40B4-BE49-F238E27FC236}">
                <a16:creationId xmlns:a16="http://schemas.microsoft.com/office/drawing/2014/main" id="{BD77AC22-E1E5-C5BB-C8CA-78F2191362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3440593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增加接受任务的通知值</a:t>
            </a:r>
          </a:p>
        </p:txBody>
      </p:sp>
      <p:sp>
        <p:nvSpPr>
          <p:cNvPr id="13" name="文本框 13">
            <a:extLst>
              <a:ext uri="{FF2B5EF4-FFF2-40B4-BE49-F238E27FC236}">
                <a16:creationId xmlns:a16="http://schemas.microsoft.com/office/drawing/2014/main" id="{E8DCE03A-23BD-0E2B-C2FD-54EBB6EC95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1062" y="4066068"/>
            <a:ext cx="78517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只要合理，灵活的利用任务通知的特点，可以在一些场合中替代队列、信号量、事件标志组！</a:t>
            </a:r>
          </a:p>
        </p:txBody>
      </p:sp>
    </p:spTree>
    <p:extLst>
      <p:ext uri="{BB962C8B-B14F-4D97-AF65-F5344CB8AC3E}">
        <p14:creationId xmlns:p14="http://schemas.microsoft.com/office/powerpoint/2010/main" val="18720800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5E27F-E236-A498-613E-6F4B50E8F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BE36455-0F28-0BDC-F759-C8CF6F65BE7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4D2C3CF-7557-2F87-DBF3-0FDBC30FC2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3545" y="1415256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任务通知的优势及劣势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5">
            <a:extLst>
              <a:ext uri="{FF2B5EF4-FFF2-40B4-BE49-F238E27FC236}">
                <a16:creationId xmlns:a16="http://schemas.microsoft.com/office/drawing/2014/main" id="{51DF8526-6F08-D4C7-65E6-9A8EADE20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895" y="2356644"/>
            <a:ext cx="6470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使用任务通知向任务发送事件或数据比使用队列、事件标志组或信号量快得多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4BB295F-BD2C-CEED-977A-BCF56E4634DC}"/>
              </a:ext>
            </a:extLst>
          </p:cNvPr>
          <p:cNvSpPr/>
          <p:nvPr/>
        </p:nvSpPr>
        <p:spPr>
          <a:xfrm>
            <a:off x="1844232" y="2356644"/>
            <a:ext cx="1346200" cy="3063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效率更高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9C2708-CAF9-B5D9-AF3D-4DE958969164}"/>
              </a:ext>
            </a:extLst>
          </p:cNvPr>
          <p:cNvSpPr/>
          <p:nvPr/>
        </p:nvSpPr>
        <p:spPr>
          <a:xfrm>
            <a:off x="1844232" y="2855119"/>
            <a:ext cx="13462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使用内存更小</a:t>
            </a:r>
          </a:p>
        </p:txBody>
      </p:sp>
      <p:sp>
        <p:nvSpPr>
          <p:cNvPr id="12" name="文本框 29">
            <a:extLst>
              <a:ext uri="{FF2B5EF4-FFF2-40B4-BE49-F238E27FC236}">
                <a16:creationId xmlns:a16="http://schemas.microsoft.com/office/drawing/2014/main" id="{D4821715-EDC0-2324-C648-D7537B6C88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7732" y="2837656"/>
            <a:ext cx="6530975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使用其他方法时都要先创建对应的结构体，使用任务通知时无需额外创建结构体</a:t>
            </a:r>
          </a:p>
        </p:txBody>
      </p:sp>
      <p:sp>
        <p:nvSpPr>
          <p:cNvPr id="13" name="文本框 30">
            <a:extLst>
              <a:ext uri="{FF2B5EF4-FFF2-40B4-BE49-F238E27FC236}">
                <a16:creationId xmlns:a16="http://schemas.microsoft.com/office/drawing/2014/main" id="{E7CC43C4-7652-5D89-F837-5FDCAD0CA7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157" y="196770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任务通知的优势：</a:t>
            </a:r>
          </a:p>
        </p:txBody>
      </p:sp>
      <p:sp>
        <p:nvSpPr>
          <p:cNvPr id="14" name="文本框 4095">
            <a:extLst>
              <a:ext uri="{FF2B5EF4-FFF2-40B4-BE49-F238E27FC236}">
                <a16:creationId xmlns:a16="http://schemas.microsoft.com/office/drawing/2014/main" id="{37541259-B21F-450D-AB42-72FFB02873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157" y="3277394"/>
            <a:ext cx="1620838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任务通知的劣势：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4B87DCB-0E53-DEB5-AE28-170F536E7518}"/>
              </a:ext>
            </a:extLst>
          </p:cNvPr>
          <p:cNvSpPr/>
          <p:nvPr/>
        </p:nvSpPr>
        <p:spPr>
          <a:xfrm>
            <a:off x="1844232" y="3671094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无法发送数据给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F9303BE-F5AC-FBF1-F2F1-1326CFC216FE}"/>
              </a:ext>
            </a:extLst>
          </p:cNvPr>
          <p:cNvSpPr/>
          <p:nvPr/>
        </p:nvSpPr>
        <p:spPr>
          <a:xfrm>
            <a:off x="1844232" y="4152106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无法广播给多个任务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4FF3B95-6EB0-10CE-3326-A7BD15B749A8}"/>
              </a:ext>
            </a:extLst>
          </p:cNvPr>
          <p:cNvSpPr/>
          <p:nvPr/>
        </p:nvSpPr>
        <p:spPr>
          <a:xfrm>
            <a:off x="1844232" y="5114131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发送受阻不支持阻塞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95DFA3F3-CEEC-081D-1D18-9DDC90B8B41C}"/>
              </a:ext>
            </a:extLst>
          </p:cNvPr>
          <p:cNvSpPr/>
          <p:nvPr/>
        </p:nvSpPr>
        <p:spPr>
          <a:xfrm>
            <a:off x="1844232" y="4633119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无法缓存多个数据</a:t>
            </a:r>
          </a:p>
        </p:txBody>
      </p:sp>
      <p:sp>
        <p:nvSpPr>
          <p:cNvPr id="19" name="文本框 4101">
            <a:extLst>
              <a:ext uri="{FF2B5EF4-FFF2-40B4-BE49-F238E27FC236}">
                <a16:creationId xmlns:a16="http://schemas.microsoft.com/office/drawing/2014/main" id="{E5E7EEB8-5943-A96E-03C8-BC735E08EE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3510756"/>
            <a:ext cx="6842125" cy="63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没有任务结构体，所以无法给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发送数据。但是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可以使用任务通知的功能，发数据给任务。</a:t>
            </a:r>
          </a:p>
        </p:txBody>
      </p:sp>
      <p:sp>
        <p:nvSpPr>
          <p:cNvPr id="20" name="文本框 4102">
            <a:extLst>
              <a:ext uri="{FF2B5EF4-FFF2-40B4-BE49-F238E27FC236}">
                <a16:creationId xmlns:a16="http://schemas.microsoft.com/office/drawing/2014/main" id="{5829234E-3A2F-7F74-38DD-466C2E732E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4125119"/>
            <a:ext cx="4541837" cy="350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任务通知只能是被指定的一个任务接收并处理 </a:t>
            </a:r>
          </a:p>
        </p:txBody>
      </p:sp>
      <p:sp>
        <p:nvSpPr>
          <p:cNvPr id="21" name="文本框 4105">
            <a:extLst>
              <a:ext uri="{FF2B5EF4-FFF2-40B4-BE49-F238E27FC236}">
                <a16:creationId xmlns:a16="http://schemas.microsoft.com/office/drawing/2014/main" id="{1CF2EB2D-2DF3-9B6A-B2B1-9E96F73663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4487069"/>
            <a:ext cx="6435725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任务通知是通过更新任务通知值来发送数据的，任务结构体中只有一个任务通知值，只能保持一个数据。</a:t>
            </a:r>
          </a:p>
        </p:txBody>
      </p:sp>
      <p:sp>
        <p:nvSpPr>
          <p:cNvPr id="22" name="文本框 4107">
            <a:extLst>
              <a:ext uri="{FF2B5EF4-FFF2-40B4-BE49-F238E27FC236}">
                <a16:creationId xmlns:a16="http://schemas.microsoft.com/office/drawing/2014/main" id="{61E106DE-6C63-70BF-E50E-12E0224470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5136356"/>
            <a:ext cx="3224212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发送方无法进入阻塞状态等待</a:t>
            </a:r>
          </a:p>
        </p:txBody>
      </p:sp>
    </p:spTree>
    <p:extLst>
      <p:ext uri="{BB962C8B-B14F-4D97-AF65-F5344CB8AC3E}">
        <p14:creationId xmlns:p14="http://schemas.microsoft.com/office/powerpoint/2010/main" val="159278229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  <p:bldP spid="19" grpId="0"/>
      <p:bldP spid="20" grpId="0"/>
      <p:bldP spid="21" grpId="0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8A89-EE10-C7E3-DF84-A0ED51E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DEC245E-CE98-C519-FFED-AD0AE80539B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6098961-F3F1-C1B5-F0FF-5245BEA487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173" y="14250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，任务通知值和通知状态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D8D91C9-4DF4-500D-18C6-A7384917D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023" y="1872733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任务都有一个结构体：任务控制块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，它里边有两个结构体成员变量：</a:t>
            </a:r>
            <a:endParaRPr lang="zh-CN" altLang="en-US" sz="1400" dirty="0"/>
          </a:p>
        </p:txBody>
      </p:sp>
      <p:sp>
        <p:nvSpPr>
          <p:cNvPr id="10" name="文本框 21">
            <a:extLst>
              <a:ext uri="{FF2B5EF4-FFF2-40B4-BE49-F238E27FC236}">
                <a16:creationId xmlns:a16="http://schemas.microsoft.com/office/drawing/2014/main" id="{E46642C5-876E-3C9B-0C53-6EE5FF94A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6810" y="4939783"/>
            <a:ext cx="4619625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14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uint32_t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类型，用来表示通知值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uint8_t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类型，用来表示通知状态</a:t>
            </a:r>
          </a:p>
        </p:txBody>
      </p:sp>
      <p:grpSp>
        <p:nvGrpSpPr>
          <p:cNvPr id="11" name="组合 23">
            <a:extLst>
              <a:ext uri="{FF2B5EF4-FFF2-40B4-BE49-F238E27FC236}">
                <a16:creationId xmlns:a16="http://schemas.microsoft.com/office/drawing/2014/main" id="{E052D22D-A0A9-1D40-6088-D6D30D049A78}"/>
              </a:ext>
            </a:extLst>
          </p:cNvPr>
          <p:cNvGrpSpPr>
            <a:grpSpLocks/>
          </p:cNvGrpSpPr>
          <p:nvPr/>
        </p:nvGrpSpPr>
        <p:grpSpPr bwMode="auto">
          <a:xfrm>
            <a:off x="2356810" y="2302946"/>
            <a:ext cx="7882343" cy="2605087"/>
            <a:chOff x="512617" y="2081553"/>
            <a:chExt cx="7882173" cy="2605940"/>
          </a:xfrm>
        </p:grpSpPr>
        <p:sp>
          <p:nvSpPr>
            <p:cNvPr id="12" name="文本框 19">
              <a:extLst>
                <a:ext uri="{FF2B5EF4-FFF2-40B4-BE49-F238E27FC236}">
                  <a16:creationId xmlns:a16="http://schemas.microsoft.com/office/drawing/2014/main" id="{E5ED902B-4574-4E95-E83B-25A33011E3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2619" y="2081553"/>
              <a:ext cx="7882171" cy="2605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 struct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tskTaskControlBlock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#if ( configUSE_TASK_NOTIFICATIONS  ==  1 )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 uint32_t   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ulNotifiedValue 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[ configTASK_NOTIFICATION_ARRAY_ENTRIES ];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 uint8_t     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ucNotifyState 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[ configTASK_NOTIFICATION_ARRAY_ENTRIES ];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endif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tskTCB;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configTASK_NOTIFICATION_ARRAY_ENTRIES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1  	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定义任务通知数组的大小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默认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: 1 */</a:t>
              </a:r>
              <a:endParaRPr lang="zh-CN" altLang="en-US" sz="11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8276A94-53BB-EC53-C6FC-7510D767108A}"/>
                </a:ext>
              </a:extLst>
            </p:cNvPr>
            <p:cNvSpPr/>
            <p:nvPr/>
          </p:nvSpPr>
          <p:spPr>
            <a:xfrm>
              <a:off x="512617" y="2114901"/>
              <a:ext cx="7690791" cy="257259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6490544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C639A-24AB-E799-5CD0-881464076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5142CF0-B01F-CE1E-60FD-D99983EBD42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15DB257-1F6A-E680-D142-B060FF46A5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470" y="69672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任务通知值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0A25B795-7415-CAA3-08A2-74608E63D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1199966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任务通知值的更新方式有多种类型：</a:t>
            </a:r>
            <a:endParaRPr lang="zh-CN" altLang="en-US" sz="1400" dirty="0"/>
          </a:p>
        </p:txBody>
      </p:sp>
      <p:sp>
        <p:nvSpPr>
          <p:cNvPr id="10" name="文本框 2">
            <a:extLst>
              <a:ext uri="{FF2B5EF4-FFF2-40B4-BE49-F238E27FC236}">
                <a16:creationId xmlns:a16="http://schemas.microsoft.com/office/drawing/2014/main" id="{FC7785A7-ADDC-3CC2-FE5B-4570DE5B5E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1658753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计数值（数值累加，类似信号量）</a:t>
            </a:r>
            <a:endParaRPr lang="zh-CN" altLang="en-US" sz="1400" dirty="0"/>
          </a:p>
        </p:txBody>
      </p:sp>
      <p:sp>
        <p:nvSpPr>
          <p:cNvPr id="11" name="文本框 12">
            <a:extLst>
              <a:ext uri="{FF2B5EF4-FFF2-40B4-BE49-F238E27FC236}">
                <a16:creationId xmlns:a16="http://schemas.microsoft.com/office/drawing/2014/main" id="{61B103FB-993E-548A-FCB4-DFED859E30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2022291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相应位置一（类似事件标志组）</a:t>
            </a:r>
          </a:p>
        </p:txBody>
      </p:sp>
      <p:sp>
        <p:nvSpPr>
          <p:cNvPr id="12" name="文本框 13">
            <a:extLst>
              <a:ext uri="{FF2B5EF4-FFF2-40B4-BE49-F238E27FC236}">
                <a16:creationId xmlns:a16="http://schemas.microsoft.com/office/drawing/2014/main" id="{4B7F081B-9B7E-C696-920E-5EDC65F62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2385828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任意数值（支持覆写和不覆写，类似队列）</a:t>
            </a:r>
          </a:p>
        </p:txBody>
      </p:sp>
      <p:sp>
        <p:nvSpPr>
          <p:cNvPr id="19" name="文本框 9">
            <a:extLst>
              <a:ext uri="{FF2B5EF4-FFF2-40B4-BE49-F238E27FC236}">
                <a16:creationId xmlns:a16="http://schemas.microsoft.com/office/drawing/2014/main" id="{C349D5E7-5223-7C1C-2795-5EF01D01E5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573" y="2736062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任务通知状态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0" name="文本框 14">
            <a:extLst>
              <a:ext uri="{FF2B5EF4-FFF2-40B4-BE49-F238E27FC236}">
                <a16:creationId xmlns:a16="http://schemas.microsoft.com/office/drawing/2014/main" id="{26B611B3-BB58-554A-1298-5D8B41A827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3183737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其中任务通知状态共有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种取值：</a:t>
            </a:r>
            <a:endParaRPr lang="zh-CN" altLang="en-US" sz="1400"/>
          </a:p>
        </p:txBody>
      </p:sp>
      <p:grpSp>
        <p:nvGrpSpPr>
          <p:cNvPr id="21" name="组合 9">
            <a:extLst>
              <a:ext uri="{FF2B5EF4-FFF2-40B4-BE49-F238E27FC236}">
                <a16:creationId xmlns:a16="http://schemas.microsoft.com/office/drawing/2014/main" id="{F072ACEC-D751-D017-1999-7AC3BF926E0B}"/>
              </a:ext>
            </a:extLst>
          </p:cNvPr>
          <p:cNvGrpSpPr>
            <a:grpSpLocks/>
          </p:cNvGrpSpPr>
          <p:nvPr/>
        </p:nvGrpSpPr>
        <p:grpSpPr bwMode="auto">
          <a:xfrm>
            <a:off x="970922" y="3658400"/>
            <a:ext cx="9698850" cy="1227137"/>
            <a:chOff x="471269" y="1573838"/>
            <a:chExt cx="7006280" cy="1226583"/>
          </a:xfrm>
        </p:grpSpPr>
        <p:sp>
          <p:nvSpPr>
            <p:cNvPr id="22" name="文本框 1">
              <a:extLst>
                <a:ext uri="{FF2B5EF4-FFF2-40B4-BE49-F238E27FC236}">
                  <a16:creationId xmlns:a16="http://schemas.microsoft.com/office/drawing/2014/main" id="{29134C7F-C77F-8FAC-8AB5-1DE8FD1129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71" y="1573838"/>
              <a:ext cx="6925630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taskNOT_WAITING_NOTIFICATION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任务未等待通知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23" name="文本框 6">
              <a:extLst>
                <a:ext uri="{FF2B5EF4-FFF2-40B4-BE49-F238E27FC236}">
                  <a16:creationId xmlns:a16="http://schemas.microsoft.com/office/drawing/2014/main" id="{A67BD8B5-02FF-026C-1436-78ECE93AC3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69" y="1992672"/>
              <a:ext cx="6871865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任务在等待通知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4" name="文本框 7">
              <a:extLst>
                <a:ext uri="{FF2B5EF4-FFF2-40B4-BE49-F238E27FC236}">
                  <a16:creationId xmlns:a16="http://schemas.microsoft.com/office/drawing/2014/main" id="{373C9672-04A6-1066-4351-80E2EC6485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69" y="2374764"/>
              <a:ext cx="6783537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taskNOTIFICATION_RECEIVED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任务在等待接收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2AF8933-460E-24AD-8384-59FF3FB25FF1}"/>
                </a:ext>
              </a:extLst>
            </p:cNvPr>
            <p:cNvSpPr/>
            <p:nvPr/>
          </p:nvSpPr>
          <p:spPr>
            <a:xfrm>
              <a:off x="471270" y="1621441"/>
              <a:ext cx="7006279" cy="117898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F2BD9837-7E4A-8238-189F-C06CEF6D59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5707862"/>
            <a:ext cx="753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等待通知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：接收方已经准备好了（调用了接收任务通知函数），等待发送方给个通知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A2EE51F-EF0A-B8F4-B243-D86CDB68DE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6215862"/>
            <a:ext cx="67564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等待接收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：发送方已经发送出去（调用了发送任务通知函数），等待接收方接收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44D3E4E-5CA6-27FD-B7F4-C2351A2B1E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5204625"/>
            <a:ext cx="4103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任务未等待通知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：任务通知默认的初始化状态</a:t>
            </a:r>
          </a:p>
        </p:txBody>
      </p:sp>
    </p:spTree>
    <p:extLst>
      <p:ext uri="{BB962C8B-B14F-4D97-AF65-F5344CB8AC3E}">
        <p14:creationId xmlns:p14="http://schemas.microsoft.com/office/powerpoint/2010/main" val="10323490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20" grpId="0"/>
      <p:bldP spid="26" grpId="0"/>
      <p:bldP spid="27" grpId="0"/>
      <p:bldP spid="28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5BD9A-E664-E59E-1AA9-082D6D2A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3E4C060-7D85-6942-F14A-2594C6729AE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C25923E-3913-E148-9C55-143D8AE2A5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167" y="79773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C0A6CBCE-EAA1-4645-D5AA-0839A6CD6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1358126"/>
            <a:ext cx="80708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函数主要有两类：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①发送通知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②接收通知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。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" name="文本框 7">
            <a:extLst>
              <a:ext uri="{FF2B5EF4-FFF2-40B4-BE49-F238E27FC236}">
                <a16:creationId xmlns:a16="http://schemas.microsoft.com/office/drawing/2014/main" id="{FC06EDCE-025F-F2BC-148D-6AE64203AC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1761351"/>
            <a:ext cx="79232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函数可以用于任务和中断服务函数中；接收通知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函数只能用在任务中。</a:t>
            </a:r>
          </a:p>
        </p:txBody>
      </p:sp>
      <p:graphicFrame>
        <p:nvGraphicFramePr>
          <p:cNvPr id="11" name="表格 9">
            <a:extLst>
              <a:ext uri="{FF2B5EF4-FFF2-40B4-BE49-F238E27FC236}">
                <a16:creationId xmlns:a16="http://schemas.microsoft.com/office/drawing/2014/main" id="{5F8BC576-FBC3-8FA3-D973-22B6AF91B0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9866"/>
              </p:ext>
            </p:extLst>
          </p:nvPr>
        </p:nvGraphicFramePr>
        <p:xfrm>
          <a:off x="623667" y="2574151"/>
          <a:ext cx="5489575" cy="2324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7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6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91453" marR="91453" marT="45736" marB="4573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53" marR="91453" marT="45736" marB="4573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68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发送通知，带有通知值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87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xTaskNotifyAndQuery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发送通知，带有通知值并且保留接收任务的原通知值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发送通知，不带通知值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rowSpan="3"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在中断中发送任务通知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xTaskNotifyAndQueryFromISR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vTaskNotifyGiveFromISR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文本框 13">
            <a:extLst>
              <a:ext uri="{FF2B5EF4-FFF2-40B4-BE49-F238E27FC236}">
                <a16:creationId xmlns:a16="http://schemas.microsoft.com/office/drawing/2014/main" id="{8B79BD16-EEA0-179D-01E0-2BAE0E9BF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2209026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①发送通知相关</a:t>
            </a:r>
            <a:r>
              <a:rPr lang="en-US" altLang="zh-CN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  <a:endParaRPr lang="zh-CN" altLang="en-US" sz="1400" b="1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FFDDFA4-1CA9-C58B-A84A-672E5AB50875}"/>
              </a:ext>
            </a:extLst>
          </p:cNvPr>
          <p:cNvSpPr txBox="1"/>
          <p:nvPr/>
        </p:nvSpPr>
        <p:spPr>
          <a:xfrm>
            <a:off x="7288619" y="2905335"/>
            <a:ext cx="4736804" cy="3127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Menlo"/>
              </a:rPr>
              <a:t>USART_IRQHandler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altLang="zh-CN" sz="1100" b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BaseType_t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pdFALSE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先初始化为 </a:t>
            </a:r>
            <a:r>
              <a:rPr lang="en-US" altLang="zh-CN" sz="1100" b="0" i="1" dirty="0" err="1">
                <a:solidFill>
                  <a:srgbClr val="A0A1A7"/>
                </a:solidFill>
                <a:effectLst/>
                <a:latin typeface="Menlo"/>
              </a:rPr>
              <a:t>pdFALSE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...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处理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USART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中断，比如收到数据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...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通知任务数据已准备好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Menlo"/>
              </a:rPr>
              <a:t>xTaskNotifyFromISR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xHighPriorityTaskHandle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eNoAction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Menlo"/>
              </a:rPr>
              <a:t>&amp;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检查是否需要触发一次上下文切换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Menlo"/>
              </a:rPr>
              <a:t>portYIELD_FROM_ISR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Menlo"/>
              </a:rPr>
              <a:t>(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Menlo"/>
              </a:rPr>
              <a:t> );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E14FBE99-AAFB-7397-6FE1-FCF42045BE62}"/>
              </a:ext>
            </a:extLst>
          </p:cNvPr>
          <p:cNvSpPr/>
          <p:nvPr/>
        </p:nvSpPr>
        <p:spPr>
          <a:xfrm>
            <a:off x="6113242" y="4316819"/>
            <a:ext cx="1175377" cy="797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6049248-7217-D683-727C-B05EFC28F162}"/>
              </a:ext>
            </a:extLst>
          </p:cNvPr>
          <p:cNvSpPr txBox="1"/>
          <p:nvPr/>
        </p:nvSpPr>
        <p:spPr>
          <a:xfrm>
            <a:off x="480128" y="5403075"/>
            <a:ext cx="64523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函数即将退出时，你需要检查这个变量的值。如果它是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anose="020B0400000000000000" pitchFamily="34" charset="-122"/>
              </a:rPr>
              <a:t>pdTRUE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，你就需要调用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anose="020B0400000000000000" pitchFamily="34" charset="-122"/>
              </a:rPr>
              <a:t>portYIELD_FROM_ISR</a:t>
            </a:r>
            <a:r>
              <a:rPr lang="en-US" altLang="zh-CN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 来请求一次上下文切换。这样，一旦中断结束，系统会立即切换到那个更高优先级的任务，而不是回到被中断的任务。</a:t>
            </a:r>
          </a:p>
        </p:txBody>
      </p:sp>
    </p:spTree>
    <p:extLst>
      <p:ext uri="{BB962C8B-B14F-4D97-AF65-F5344CB8AC3E}">
        <p14:creationId xmlns:p14="http://schemas.microsoft.com/office/powerpoint/2010/main" val="4002108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8BD59-41AA-B71B-AD1B-70A2AF767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7A0E22A-8786-87EC-EF84-7C19818B690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6BC3DDF-52D1-E216-690E-2256B44FBC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654" y="86684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5">
            <a:extLst>
              <a:ext uri="{FF2B5EF4-FFF2-40B4-BE49-F238E27FC236}">
                <a16:creationId xmlns:a16="http://schemas.microsoft.com/office/drawing/2014/main" id="{1736AC9E-37B2-FC05-6130-ECC26957CB0A}"/>
              </a:ext>
            </a:extLst>
          </p:cNvPr>
          <p:cNvGrpSpPr>
            <a:grpSpLocks/>
          </p:cNvGrpSpPr>
          <p:nvPr/>
        </p:nvGrpSpPr>
        <p:grpSpPr bwMode="auto">
          <a:xfrm>
            <a:off x="1056154" y="1330398"/>
            <a:ext cx="9889230" cy="1990725"/>
            <a:chOff x="295564" y="1242657"/>
            <a:chExt cx="9887629" cy="1989969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52108F61-7012-1EAC-173A-6AF4BC5E87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193" y="1242657"/>
              <a:ext cx="9426657" cy="172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xTaskNotifyAndQuery( xTaskToNotify ,  ulValue ,  eAction ,  pulPreviousNotifyValue  )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xTaskToNotify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tskDEFAULT_INDEX_TO_NOTIFY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ulValue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eAction ),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pulPreviousNotifyValue ) )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7C2B2CE-D611-3FD3-DB36-61CC7E0F1AEA}"/>
                </a:ext>
              </a:extLst>
            </p:cNvPr>
            <p:cNvSpPr/>
            <p:nvPr/>
          </p:nvSpPr>
          <p:spPr>
            <a:xfrm>
              <a:off x="295564" y="1255352"/>
              <a:ext cx="9887629" cy="197727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18">
            <a:extLst>
              <a:ext uri="{FF2B5EF4-FFF2-40B4-BE49-F238E27FC236}">
                <a16:creationId xmlns:a16="http://schemas.microsoft.com/office/drawing/2014/main" id="{4A6A9170-53E6-6E2C-0E3D-84D090AC7992}"/>
              </a:ext>
            </a:extLst>
          </p:cNvPr>
          <p:cNvGrpSpPr>
            <a:grpSpLocks/>
          </p:cNvGrpSpPr>
          <p:nvPr/>
        </p:nvGrpSpPr>
        <p:grpSpPr bwMode="auto">
          <a:xfrm>
            <a:off x="1072028" y="3413197"/>
            <a:ext cx="10267913" cy="1137536"/>
            <a:chOff x="295564" y="3283172"/>
            <a:chExt cx="8996363" cy="1136504"/>
          </a:xfrm>
        </p:grpSpPr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C6CAEAA-E037-1311-6180-D5DFBB07F3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5564" y="3283172"/>
              <a:ext cx="8996363" cy="617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  (  xTaskToNotify ,  ulValue ,  eAction  )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( xTaskToNotify ) ,  ( tskDEFAULT_INDEX_TO_NOTIFY ) ,  ( ulValue ) ,  ( eAction ) ,  NULL  )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93E88DC-492E-58B3-89CB-C0C0335D08A3}"/>
                </a:ext>
              </a:extLst>
            </p:cNvPr>
            <p:cNvSpPr/>
            <p:nvPr/>
          </p:nvSpPr>
          <p:spPr>
            <a:xfrm>
              <a:off x="295564" y="3283172"/>
              <a:ext cx="8664576" cy="113650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5" name="组合 19">
            <a:extLst>
              <a:ext uri="{FF2B5EF4-FFF2-40B4-BE49-F238E27FC236}">
                <a16:creationId xmlns:a16="http://schemas.microsoft.com/office/drawing/2014/main" id="{D704282C-2AEF-21B8-C306-47804FA7C26F}"/>
              </a:ext>
            </a:extLst>
          </p:cNvPr>
          <p:cNvGrpSpPr>
            <a:grpSpLocks/>
          </p:cNvGrpSpPr>
          <p:nvPr/>
        </p:nvGrpSpPr>
        <p:grpSpPr bwMode="auto">
          <a:xfrm>
            <a:off x="1029726" y="4641519"/>
            <a:ext cx="9957717" cy="1317145"/>
            <a:chOff x="269135" y="4441386"/>
            <a:chExt cx="9958045" cy="1319077"/>
          </a:xfrm>
        </p:grpSpPr>
        <p:sp>
          <p:nvSpPr>
            <p:cNvPr id="16" name="文本框 14">
              <a:extLst>
                <a:ext uri="{FF2B5EF4-FFF2-40B4-BE49-F238E27FC236}">
                  <a16:creationId xmlns:a16="http://schemas.microsoft.com/office/drawing/2014/main" id="{332CA215-9ADB-0EDB-1152-1D51C91F82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196" y="4541769"/>
              <a:ext cx="9915984" cy="6145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xTaskNotifyGive(  xTaskToNotify 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( xTaskToNotify ) ,  ( tskDEFAULT_INDEX_TO_NOTIFY ) ,  ( 0 ) ,   eIncrement ,  NULL )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AB44891-44BA-9CC5-03B1-C46A609E6D1C}"/>
                </a:ext>
              </a:extLst>
            </p:cNvPr>
            <p:cNvSpPr/>
            <p:nvPr/>
          </p:nvSpPr>
          <p:spPr>
            <a:xfrm>
              <a:off x="269135" y="4441386"/>
              <a:ext cx="9915984" cy="131907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763518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7D4F-51B8-49BC-357D-FD8A4FC4E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E4FF8B8-D6BE-4AED-D6A6-2C7647E44710}"/>
              </a:ext>
            </a:extLst>
          </p:cNvPr>
          <p:cNvSpPr txBox="1"/>
          <p:nvPr/>
        </p:nvSpPr>
        <p:spPr>
          <a:xfrm>
            <a:off x="122814" y="178356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7C5AAD4-B59E-7660-320E-09DF2F6EC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5585" y="645190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9">
            <a:extLst>
              <a:ext uri="{FF2B5EF4-FFF2-40B4-BE49-F238E27FC236}">
                <a16:creationId xmlns:a16="http://schemas.microsoft.com/office/drawing/2014/main" id="{09E68F13-54E3-8900-7D9D-E754498857E0}"/>
              </a:ext>
            </a:extLst>
          </p:cNvPr>
          <p:cNvGrpSpPr>
            <a:grpSpLocks/>
          </p:cNvGrpSpPr>
          <p:nvPr/>
        </p:nvGrpSpPr>
        <p:grpSpPr bwMode="auto">
          <a:xfrm>
            <a:off x="1479135" y="1167477"/>
            <a:ext cx="9734290" cy="1710253"/>
            <a:chOff x="600364" y="1086401"/>
            <a:chExt cx="7920181" cy="1485349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6855FAFE-82A1-2B43-E9A9-D817129CDC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2547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xTaskGenericNotify(  TaskHandle_t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UBaseType_t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uxIndexToNotify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eNotifyAction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eAction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uint32_t *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pulPreviousNotificationValue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6180853-26F3-FACD-A062-EC7D183A8EE0}"/>
                </a:ext>
              </a:extLst>
            </p:cNvPr>
            <p:cNvSpPr/>
            <p:nvPr/>
          </p:nvSpPr>
          <p:spPr>
            <a:xfrm>
              <a:off x="600364" y="1086401"/>
              <a:ext cx="7804314" cy="148534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13">
            <a:extLst>
              <a:ext uri="{FF2B5EF4-FFF2-40B4-BE49-F238E27FC236}">
                <a16:creationId xmlns:a16="http://schemas.microsoft.com/office/drawing/2014/main" id="{8360DC44-A03F-ADF1-43AD-1A1D760DB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722048"/>
              </p:ext>
            </p:extLst>
          </p:nvPr>
        </p:nvGraphicFramePr>
        <p:xfrm>
          <a:off x="2789814" y="2949731"/>
          <a:ext cx="6130925" cy="1554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7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902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4" marR="91444" marT="45694" marB="4569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4" marR="91444" marT="45694" marB="456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接收任务通知的</a:t>
                      </a:r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任务句柄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ulValue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任务通知值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eAction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通知方式（通知值更新方式）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pulPreviousNotificationValue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用于保存更新前的任务通知值（为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则不保存）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" name="组合 2">
            <a:extLst>
              <a:ext uri="{FF2B5EF4-FFF2-40B4-BE49-F238E27FC236}">
                <a16:creationId xmlns:a16="http://schemas.microsoft.com/office/drawing/2014/main" id="{4E9CA611-2E09-42F1-B81E-F4CBC965F6C2}"/>
              </a:ext>
            </a:extLst>
          </p:cNvPr>
          <p:cNvGrpSpPr>
            <a:grpSpLocks/>
          </p:cNvGrpSpPr>
          <p:nvPr/>
        </p:nvGrpSpPr>
        <p:grpSpPr bwMode="auto">
          <a:xfrm>
            <a:off x="2498898" y="4575900"/>
            <a:ext cx="7809984" cy="2287588"/>
            <a:chOff x="655782" y="1500181"/>
            <a:chExt cx="7807647" cy="2286728"/>
          </a:xfrm>
        </p:grpSpPr>
        <p:sp>
          <p:nvSpPr>
            <p:cNvPr id="16" name="文本框 14">
              <a:extLst>
                <a:ext uri="{FF2B5EF4-FFF2-40B4-BE49-F238E27FC236}">
                  <a16:creationId xmlns:a16="http://schemas.microsoft.com/office/drawing/2014/main" id="{93C5FD87-153A-1A15-5730-E930017504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522" y="1500181"/>
              <a:ext cx="7785907" cy="22748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enum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   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eNoAction = 0,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无操作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更新指定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bit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eIncrement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通知值加一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eSetValueWithOverwrite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覆写的方式更新通知值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eSetValueWithoutOverwrite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不覆写通知值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eNotifyAction;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EFE89C6-728C-F85A-A16E-9DD46C2671F9}"/>
                </a:ext>
              </a:extLst>
            </p:cNvPr>
            <p:cNvSpPr/>
            <p:nvPr/>
          </p:nvSpPr>
          <p:spPr>
            <a:xfrm>
              <a:off x="655782" y="1500181"/>
              <a:ext cx="6718135" cy="228672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9374847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A4161-2897-2907-742E-AEA412FE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B231F79A-0C4B-9AEE-173A-907CE00D52E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421346D2-880C-E36D-C0C2-626CAE5CF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0126" y="1441007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E32C72DF-683E-9664-A6A9-789DC94CB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864448"/>
              </p:ext>
            </p:extLst>
          </p:nvPr>
        </p:nvGraphicFramePr>
        <p:xfrm>
          <a:off x="1932726" y="2330007"/>
          <a:ext cx="7877175" cy="1870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8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7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91427" marR="91427" marT="45715" marB="4571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27" marR="91427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27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ulTaskNotifyTake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获取任务通知，可以设置在退出此函数的时候将任务通知值清零或者减一。</a:t>
                      </a:r>
                      <a:endParaRPr lang="en-US" altLang="zh-CN" sz="12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当任务通知用作二值信号量或者计数信号量的时候，使用此函数来获取信号量。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55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获取任务通知，比 </a:t>
                      </a:r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ulTaskNotifyTak</a:t>
                      </a:r>
                      <a:r>
                        <a:rPr lang="en-US" altLang="zh-CN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更为复杂，可获取通知值和清除通知值的指定位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文本框 13">
            <a:extLst>
              <a:ext uri="{FF2B5EF4-FFF2-40B4-BE49-F238E27FC236}">
                <a16:creationId xmlns:a16="http://schemas.microsoft.com/office/drawing/2014/main" id="{4EDEF048-4CF3-169D-4ADA-B89101605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0013" y="1963295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②接收通知相关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EF1381E-7D7F-0672-46F4-FA62C16BC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4482657"/>
            <a:ext cx="723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总结：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48C1DA1-549F-B69A-2159-D332EF2B4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4870007"/>
            <a:ext cx="52657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当任务通知用作于信号量时，使用函数获取信号量：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ulTaskNotifyTake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F683F2-1BAC-75E2-D5E0-CB247FBA9F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5201795"/>
            <a:ext cx="58372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当任务通知用作于事件标志组或队列时，使用此函数来获取：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xTaskNotifyWait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1738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DC46-9069-ACFC-D17F-568671403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BD9184F-AE33-B317-15B0-F8E602904F8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2" name="文本框 9">
            <a:extLst>
              <a:ext uri="{FF2B5EF4-FFF2-40B4-BE49-F238E27FC236}">
                <a16:creationId xmlns:a16="http://schemas.microsoft.com/office/drawing/2014/main" id="{CA5C519F-7D4F-F256-6F96-EB45F102C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3033" y="754911"/>
            <a:ext cx="3900487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3" name="组合 9">
            <a:extLst>
              <a:ext uri="{FF2B5EF4-FFF2-40B4-BE49-F238E27FC236}">
                <a16:creationId xmlns:a16="http://schemas.microsoft.com/office/drawing/2014/main" id="{7FA49BC5-D288-61EB-B6FD-4884A4851911}"/>
              </a:ext>
            </a:extLst>
          </p:cNvPr>
          <p:cNvGrpSpPr>
            <a:grpSpLocks/>
          </p:cNvGrpSpPr>
          <p:nvPr/>
        </p:nvGrpSpPr>
        <p:grpSpPr bwMode="auto">
          <a:xfrm>
            <a:off x="2046583" y="1420074"/>
            <a:ext cx="8889003" cy="1530462"/>
            <a:chOff x="600364" y="1086400"/>
            <a:chExt cx="8887383" cy="1951810"/>
          </a:xfrm>
        </p:grpSpPr>
        <p:sp>
          <p:nvSpPr>
            <p:cNvPr id="4" name="文本框 7">
              <a:extLst>
                <a:ext uri="{FF2B5EF4-FFF2-40B4-BE49-F238E27FC236}">
                  <a16:creationId xmlns:a16="http://schemas.microsoft.com/office/drawing/2014/main" id="{B7B15E10-A987-B215-D279-24B21B759C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4457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ulTaskNotifyTake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			</a:t>
              </a:r>
            </a:p>
            <a:p>
              <a:pPr>
                <a:lnSpc>
                  <a:spcPct val="150000"/>
                </a:lnSpc>
              </a:pP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ulTaskGenericNotifyTake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) 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E83171A-7764-F3ED-75A5-7F26B678E08E}"/>
                </a:ext>
              </a:extLst>
            </p:cNvPr>
            <p:cNvSpPr/>
            <p:nvPr/>
          </p:nvSpPr>
          <p:spPr>
            <a:xfrm>
              <a:off x="600364" y="1086400"/>
              <a:ext cx="8887383" cy="195181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6" name="表格 13">
            <a:extLst>
              <a:ext uri="{FF2B5EF4-FFF2-40B4-BE49-F238E27FC236}">
                <a16:creationId xmlns:a16="http://schemas.microsoft.com/office/drawing/2014/main" id="{743DAA18-3AAC-98A6-673E-CF399C82A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41637"/>
              </p:ext>
            </p:extLst>
          </p:nvPr>
        </p:nvGraphicFramePr>
        <p:xfrm>
          <a:off x="3115155" y="3637701"/>
          <a:ext cx="5514975" cy="1517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5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7" marR="91447" marT="45607" marB="45607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607" marB="4560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98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xClearCountOnExit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指定在成功接收通知后，将通知值清零或减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pdTRUE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：把通知值清零；</a:t>
                      </a: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pdFALSE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：把通知值减一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阻塞等待任务通知值的最大时间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8C7A3594-EDEC-E76E-FCDE-0F43062E1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814159"/>
              </p:ext>
            </p:extLst>
          </p:nvPr>
        </p:nvGraphicFramePr>
        <p:xfrm>
          <a:off x="3115155" y="5288701"/>
          <a:ext cx="5514975" cy="8588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7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91447" marR="91447" marT="45704" marB="4570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704" marB="4570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034">
                <a:tc>
                  <a:txBody>
                    <a:bodyPr/>
                    <a:lstStyle/>
                    <a:p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03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非 </a:t>
                      </a:r>
                      <a:r>
                        <a:rPr lang="en-US" altLang="zh-CN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接收成功，返回任务通知的通知值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文本框 15">
            <a:extLst>
              <a:ext uri="{FF2B5EF4-FFF2-40B4-BE49-F238E27FC236}">
                <a16:creationId xmlns:a16="http://schemas.microsoft.com/office/drawing/2014/main" id="{0603CF20-46A0-1B24-4B4E-13C123815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87" y="3270508"/>
            <a:ext cx="7620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接收任务通知值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，可以设置在退出此函数的时候将任务通知值清零或者减一</a:t>
            </a:r>
          </a:p>
        </p:txBody>
      </p:sp>
    </p:spTree>
    <p:extLst>
      <p:ext uri="{BB962C8B-B14F-4D97-AF65-F5344CB8AC3E}">
        <p14:creationId xmlns:p14="http://schemas.microsoft.com/office/powerpoint/2010/main" val="7553386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DC9E-62E1-44CC-2C34-2A7CF780E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0C6FC9A-2632-032A-C02C-15384D7F66A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335E67A3-259E-EEB0-01CC-9B2C2C3F40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8983" y="9678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9">
            <a:extLst>
              <a:ext uri="{FF2B5EF4-FFF2-40B4-BE49-F238E27FC236}">
                <a16:creationId xmlns:a16="http://schemas.microsoft.com/office/drawing/2014/main" id="{60945131-08C9-F8FC-B5AE-C376091D07AA}"/>
              </a:ext>
            </a:extLst>
          </p:cNvPr>
          <p:cNvGrpSpPr>
            <a:grpSpLocks/>
          </p:cNvGrpSpPr>
          <p:nvPr/>
        </p:nvGrpSpPr>
        <p:grpSpPr bwMode="auto">
          <a:xfrm>
            <a:off x="1972045" y="1431408"/>
            <a:ext cx="8665830" cy="3363876"/>
            <a:chOff x="600364" y="1086400"/>
            <a:chExt cx="8665986" cy="3362617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AA2E4DC8-B36B-C134-535A-272B9EB0E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25517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	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              )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5955270-C307-1A78-486E-82F0CCDEB17B}"/>
                </a:ext>
              </a:extLst>
            </p:cNvPr>
            <p:cNvSpPr/>
            <p:nvPr/>
          </p:nvSpPr>
          <p:spPr>
            <a:xfrm>
              <a:off x="600364" y="1086400"/>
              <a:ext cx="8665986" cy="336261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2">
            <a:extLst>
              <a:ext uri="{FF2B5EF4-FFF2-40B4-BE49-F238E27FC236}">
                <a16:creationId xmlns:a16="http://schemas.microsoft.com/office/drawing/2014/main" id="{357AEBA8-106A-08C7-688A-D849CE34D5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5696" y="4926068"/>
            <a:ext cx="83978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此函数用于获取通知值和清除通知值的指定位值，适用于</a:t>
            </a:r>
            <a:r>
              <a:rPr lang="zh-CN" altLang="en-US" sz="12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模拟队列和事件标志组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，使用该函数来获取任务通知 。 </a:t>
            </a:r>
          </a:p>
        </p:txBody>
      </p:sp>
    </p:spTree>
    <p:extLst>
      <p:ext uri="{BB962C8B-B14F-4D97-AF65-F5344CB8AC3E}">
        <p14:creationId xmlns:p14="http://schemas.microsoft.com/office/powerpoint/2010/main" val="33466882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503DD-8D5D-2831-DEFA-1FBA59B5D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A63A6A9-6B4D-9652-9BA9-5BD116F9A5A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12B20B6F-000C-381D-F37D-2FB47DAFC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2536" y="695325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4" name="组合 9">
            <a:extLst>
              <a:ext uri="{FF2B5EF4-FFF2-40B4-BE49-F238E27FC236}">
                <a16:creationId xmlns:a16="http://schemas.microsoft.com/office/drawing/2014/main" id="{01785C73-CD7F-44A1-5E01-027A35FB232B}"/>
              </a:ext>
            </a:extLst>
          </p:cNvPr>
          <p:cNvGrpSpPr>
            <a:grpSpLocks/>
          </p:cNvGrpSpPr>
          <p:nvPr/>
        </p:nvGrpSpPr>
        <p:grpSpPr bwMode="auto">
          <a:xfrm>
            <a:off x="1717823" y="1296988"/>
            <a:ext cx="9627115" cy="1721691"/>
            <a:chOff x="600364" y="1086400"/>
            <a:chExt cx="9627289" cy="1721745"/>
          </a:xfrm>
        </p:grpSpPr>
        <p:sp>
          <p:nvSpPr>
            <p:cNvPr id="5" name="文本框 7">
              <a:extLst>
                <a:ext uri="{FF2B5EF4-FFF2-40B4-BE49-F238E27FC236}">
                  <a16:creationId xmlns:a16="http://schemas.microsoft.com/office/drawing/2014/main" id="{470FD3C9-F53A-41C7-D129-E7CA745AAF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3" y="1086401"/>
              <a:ext cx="9604200" cy="1721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UBaseType_t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uxIndexToWaitOn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   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);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b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9825961-0F51-A25F-12EE-6F7CE2E01630}"/>
                </a:ext>
              </a:extLst>
            </p:cNvPr>
            <p:cNvSpPr/>
            <p:nvPr/>
          </p:nvSpPr>
          <p:spPr>
            <a:xfrm>
              <a:off x="600364" y="1086400"/>
              <a:ext cx="7804291" cy="14859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7" name="表格 13">
            <a:extLst>
              <a:ext uri="{FF2B5EF4-FFF2-40B4-BE49-F238E27FC236}">
                <a16:creationId xmlns:a16="http://schemas.microsoft.com/office/drawing/2014/main" id="{0FE21B62-7D22-9610-838C-2D59C626F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349618"/>
              </p:ext>
            </p:extLst>
          </p:nvPr>
        </p:nvGraphicFramePr>
        <p:xfrm>
          <a:off x="2580885" y="2921000"/>
          <a:ext cx="5894388" cy="19018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8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97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9" marR="91449" marT="45744" marB="4574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9" marR="91449" marT="45744" marB="457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ulBitesToClearOnEntry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等待前清零指定任务通知值的比特位（旧值对应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ulBitesToClearOnExit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成功等待后清零指定的任务通知值比特位（新值对应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pulNotificationValue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用来取出通知值（如果不需要取出，可设为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阻塞等待任务通知值的最大时间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BCAF0B4D-32A4-A98E-66AF-2DB5ADCEC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285102"/>
              </p:ext>
            </p:extLst>
          </p:nvPr>
        </p:nvGraphicFramePr>
        <p:xfrm>
          <a:off x="2878596" y="5035366"/>
          <a:ext cx="5514975" cy="860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3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91447" marR="91447" marT="45793" marB="4579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793" marB="4579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等待任务通知成功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等待任务通知失败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50382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31C8F-8458-B04E-FB03-0B949C87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ADC5CC1-1EAA-F8BC-A2E8-51E0930A7CA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E1B80ED6-5219-9740-F2A9-8E62798DFF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1270" y="105291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再什么时候需要使用信号量进行数据传输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文本框 159">
            <a:extLst>
              <a:ext uri="{FF2B5EF4-FFF2-40B4-BE49-F238E27FC236}">
                <a16:creationId xmlns:a16="http://schemas.microsoft.com/office/drawing/2014/main" id="{AE5391CB-970D-99ED-128D-82F08DB60C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095" y="1703794"/>
            <a:ext cx="57419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任务通知的局限性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、只能一对一通信；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、任务通知的计数值有上限（通常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位）</a:t>
            </a: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、无法同时通知多个等待任务</a:t>
            </a:r>
          </a:p>
        </p:txBody>
      </p:sp>
    </p:spTree>
    <p:extLst>
      <p:ext uri="{BB962C8B-B14F-4D97-AF65-F5344CB8AC3E}">
        <p14:creationId xmlns:p14="http://schemas.microsoft.com/office/powerpoint/2010/main" val="401124350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70E-CFA4-CCF8-48EF-521329643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62445DF-43E1-35BB-853C-F993596476E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A7FA50AA-AD50-1217-A3C3-603135C74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1270" y="105291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文本框 159">
            <a:extLst>
              <a:ext uri="{FF2B5EF4-FFF2-40B4-BE49-F238E27FC236}">
                <a16:creationId xmlns:a16="http://schemas.microsoft.com/office/drawing/2014/main" id="{FCB7311F-112B-4362-E2E4-B7F38FA8E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095" y="1703794"/>
            <a:ext cx="5741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信号量是一种解决同步问题的机制，可以实现对共享资源的有序访问 </a:t>
            </a:r>
          </a:p>
        </p:txBody>
      </p:sp>
      <p:sp>
        <p:nvSpPr>
          <p:cNvPr id="16" name="文本框 160">
            <a:extLst>
              <a:ext uri="{FF2B5EF4-FFF2-40B4-BE49-F238E27FC236}">
                <a16:creationId xmlns:a16="http://schemas.microsoft.com/office/drawing/2014/main" id="{197AD5D4-2E97-2E44-D771-89D8BBB650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918" y="4173944"/>
            <a:ext cx="451282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：信号量资源数（计数值）</a:t>
            </a:r>
          </a:p>
        </p:txBody>
      </p:sp>
      <p:pic>
        <p:nvPicPr>
          <p:cNvPr id="17" name="图片 17">
            <a:extLst>
              <a:ext uri="{FF2B5EF4-FFF2-40B4-BE49-F238E27FC236}">
                <a16:creationId xmlns:a16="http://schemas.microsoft.com/office/drawing/2014/main" id="{D01B8CDC-F31F-3623-EB43-38DB4DF0F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95" y="2203857"/>
            <a:ext cx="1368425" cy="627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CF1A68C0-C934-A5CF-E4EF-9D4F57405418}"/>
              </a:ext>
            </a:extLst>
          </p:cNvPr>
          <p:cNvGrpSpPr>
            <a:grpSpLocks/>
          </p:cNvGrpSpPr>
          <p:nvPr/>
        </p:nvGrpSpPr>
        <p:grpSpPr bwMode="auto">
          <a:xfrm>
            <a:off x="1752120" y="2159407"/>
            <a:ext cx="3895725" cy="1844675"/>
            <a:chOff x="598488" y="1728788"/>
            <a:chExt cx="3895725" cy="1844675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FC691FFE-A2B5-9A28-78F1-7685FFF8E3F2}"/>
                </a:ext>
              </a:extLst>
            </p:cNvPr>
            <p:cNvSpPr/>
            <p:nvPr/>
          </p:nvSpPr>
          <p:spPr>
            <a:xfrm>
              <a:off x="598488" y="1728788"/>
              <a:ext cx="3895725" cy="1844675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3EF1AAF4-B165-B685-499B-98CC682AC464}"/>
                </a:ext>
              </a:extLst>
            </p:cNvPr>
            <p:cNvSpPr/>
            <p:nvPr/>
          </p:nvSpPr>
          <p:spPr>
            <a:xfrm>
              <a:off x="717550" y="2111375"/>
              <a:ext cx="1069975" cy="1350963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AE348BD1-D51F-CFA8-DA0E-639C6B2739FC}"/>
                </a:ext>
              </a:extLst>
            </p:cNvPr>
            <p:cNvSpPr/>
            <p:nvPr/>
          </p:nvSpPr>
          <p:spPr>
            <a:xfrm>
              <a:off x="2011363" y="2116138"/>
              <a:ext cx="1069975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2332533D-E639-3E58-8C75-67E487124C5A}"/>
                </a:ext>
              </a:extLst>
            </p:cNvPr>
            <p:cNvSpPr/>
            <p:nvPr/>
          </p:nvSpPr>
          <p:spPr>
            <a:xfrm>
              <a:off x="3282950" y="2112963"/>
              <a:ext cx="1068388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7CB52745-E748-B642-54C2-AF00CE4F08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575" y="2171700"/>
              <a:ext cx="647700" cy="1257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" name="图片 13">
              <a:extLst>
                <a:ext uri="{FF2B5EF4-FFF2-40B4-BE49-F238E27FC236}">
                  <a16:creationId xmlns:a16="http://schemas.microsoft.com/office/drawing/2014/main" id="{B1605055-FAF1-AFF2-B00B-D7FC888C60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51075" y="2195513"/>
              <a:ext cx="619125" cy="1214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" name="图片 15">
              <a:extLst>
                <a:ext uri="{FF2B5EF4-FFF2-40B4-BE49-F238E27FC236}">
                  <a16:creationId xmlns:a16="http://schemas.microsoft.com/office/drawing/2014/main" id="{FF0AEA51-96D3-6776-ACA2-2456D625A7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3300" y="2219325"/>
              <a:ext cx="563563" cy="11445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文本框 18">
              <a:extLst>
                <a:ext uri="{FF2B5EF4-FFF2-40B4-BE49-F238E27FC236}">
                  <a16:creationId xmlns:a16="http://schemas.microsoft.com/office/drawing/2014/main" id="{0B207B1B-EF5E-E134-B438-B985F74E3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2189163" y="1781175"/>
              <a:ext cx="906462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4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停车位</a:t>
              </a:r>
            </a:p>
          </p:txBody>
        </p:sp>
      </p:grpSp>
      <p:sp>
        <p:nvSpPr>
          <p:cNvPr id="27" name="文本框 160">
            <a:extLst>
              <a:ext uri="{FF2B5EF4-FFF2-40B4-BE49-F238E27FC236}">
                <a16:creationId xmlns:a16="http://schemas.microsoft.com/office/drawing/2014/main" id="{148B13EF-8739-9740-8B73-CE7596305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7176" y="4874032"/>
            <a:ext cx="4399556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占用车位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：获取信号量（计数值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--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8" name="文本框 160">
            <a:extLst>
              <a:ext uri="{FF2B5EF4-FFF2-40B4-BE49-F238E27FC236}">
                <a16:creationId xmlns:a16="http://schemas.microsoft.com/office/drawing/2014/main" id="{25A2902B-EF0D-3FC0-1DFB-4AF0F4D65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918" y="4523194"/>
            <a:ext cx="428105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让出占用车位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：释放信号量（计数值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++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9" name="文本框 24">
            <a:extLst>
              <a:ext uri="{FF2B5EF4-FFF2-40B4-BE49-F238E27FC236}">
                <a16:creationId xmlns:a16="http://schemas.microsoft.com/office/drawing/2014/main" id="{C36E881F-10F2-2CB0-143E-B1400572F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7870" y="2446744"/>
            <a:ext cx="237648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假设有一个人需要在停车场停车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0" name="文本框 26">
            <a:extLst>
              <a:ext uri="{FF2B5EF4-FFF2-40B4-BE49-F238E27FC236}">
                <a16:creationId xmlns:a16="http://schemas.microsoft.com/office/drawing/2014/main" id="{562DABDE-9FE5-A24F-4886-F3DAFA9FA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9770" y="2973794"/>
            <a:ext cx="475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、首先判断停车场是否还有空车位（判断信号量是否有资源）；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1" name="文本框 28">
            <a:extLst>
              <a:ext uri="{FF2B5EF4-FFF2-40B4-BE49-F238E27FC236}">
                <a16:creationId xmlns:a16="http://schemas.microsoft.com/office/drawing/2014/main" id="{D936E792-C143-00A0-D0D9-5D2AB8770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182" y="3313519"/>
            <a:ext cx="4367213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、停车场正好有空车位（信号量有资源），那么就可以直接将车开入空车位进行停车（获取信号量成功）；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2" name="文本框 30">
            <a:extLst>
              <a:ext uri="{FF2B5EF4-FFF2-40B4-BE49-F238E27FC236}">
                <a16:creationId xmlns:a16="http://schemas.microsoft.com/office/drawing/2014/main" id="{EA6B6BF4-CFA8-A6D9-2A4D-C24A72B1B5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14532" y="3929469"/>
            <a:ext cx="4360863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、停车场已经没有空车位了（信号量没有资源），那么这个人可以选择不停车（获取信号量失败）；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也可以选择等待（任务阻塞）其他人将车开出停车场（释放信号量资源）， 然后再将车停入空车位 。</a:t>
            </a:r>
          </a:p>
        </p:txBody>
      </p:sp>
    </p:spTree>
    <p:extLst>
      <p:ext uri="{BB962C8B-B14F-4D97-AF65-F5344CB8AC3E}">
        <p14:creationId xmlns:p14="http://schemas.microsoft.com/office/powerpoint/2010/main" val="195814620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6843F-002B-B304-2C42-CE40632C9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2E3DBBE-871E-F5D8-83D9-5E1C127301E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6E94B5E-1C1C-2102-FB24-B5BE9E4DC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2791" y="126557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607D463-947F-8001-9195-DE7DF29BA99E}"/>
              </a:ext>
            </a:extLst>
          </p:cNvPr>
          <p:cNvSpPr/>
          <p:nvPr/>
        </p:nvSpPr>
        <p:spPr>
          <a:xfrm>
            <a:off x="1728566" y="1948195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</a:p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6328242-1962-4569-73A7-0C8A9677464F}"/>
              </a:ext>
            </a:extLst>
          </p:cNvPr>
          <p:cNvSpPr/>
          <p:nvPr/>
        </p:nvSpPr>
        <p:spPr>
          <a:xfrm>
            <a:off x="1728566" y="2840370"/>
            <a:ext cx="1317625" cy="7826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0D4FBBC-406A-AC6A-3499-DFCA01F5814B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046191" y="2340308"/>
            <a:ext cx="720725" cy="423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5E1DF45-F794-87D8-A9CC-05F8AAA715D5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046191" y="2764170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86342DE-2843-0EDD-798A-19B66D7EC93F}"/>
              </a:ext>
            </a:extLst>
          </p:cNvPr>
          <p:cNvSpPr/>
          <p:nvPr/>
        </p:nvSpPr>
        <p:spPr>
          <a:xfrm>
            <a:off x="6770466" y="1822783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B36CD66-BBC1-75E3-C08F-017E208A8D71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 flipV="1">
            <a:off x="6125941" y="2214895"/>
            <a:ext cx="644525" cy="531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4B3FBA79-A7C6-46AF-4192-F722ECF79667}"/>
              </a:ext>
            </a:extLst>
          </p:cNvPr>
          <p:cNvSpPr/>
          <p:nvPr/>
        </p:nvSpPr>
        <p:spPr>
          <a:xfrm>
            <a:off x="3766916" y="2394283"/>
            <a:ext cx="2359025" cy="704850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B8E8E86-C74C-7016-3CB2-1F5A692E257A}"/>
              </a:ext>
            </a:extLst>
          </p:cNvPr>
          <p:cNvSpPr/>
          <p:nvPr/>
        </p:nvSpPr>
        <p:spPr>
          <a:xfrm>
            <a:off x="6770466" y="2764170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D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9431F05-B9B2-959C-744D-D9A0C48F6BF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6125941" y="2746708"/>
            <a:ext cx="644525" cy="409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3CA5371-2ABD-4A26-817B-CE64B01D1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5328" y="2408570"/>
            <a:ext cx="64611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42E6FD-BB14-761E-587B-FFC729455A73}"/>
              </a:ext>
            </a:extLst>
          </p:cNvPr>
          <p:cNvSpPr/>
          <p:nvPr/>
        </p:nvSpPr>
        <p:spPr>
          <a:xfrm>
            <a:off x="4525741" y="2608595"/>
            <a:ext cx="879475" cy="31115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21">
            <a:extLst>
              <a:ext uri="{FF2B5EF4-FFF2-40B4-BE49-F238E27FC236}">
                <a16:creationId xmlns:a16="http://schemas.microsoft.com/office/drawing/2014/main" id="{504D3829-8A64-6C10-38FB-A7D1948D89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86053" y="2640345"/>
            <a:ext cx="9096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计数值</a:t>
            </a:r>
          </a:p>
        </p:txBody>
      </p:sp>
      <p:sp>
        <p:nvSpPr>
          <p:cNvPr id="21" name="文本框 22">
            <a:extLst>
              <a:ext uri="{FF2B5EF4-FFF2-40B4-BE49-F238E27FC236}">
                <a16:creationId xmlns:a16="http://schemas.microsoft.com/office/drawing/2014/main" id="{F7DB1E1A-8FC8-0F77-6EE0-D357F141F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3970670"/>
            <a:ext cx="2968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当计数值大于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，代表有信号量资源</a:t>
            </a:r>
          </a:p>
        </p:txBody>
      </p:sp>
      <p:sp>
        <p:nvSpPr>
          <p:cNvPr id="22" name="文本框 23">
            <a:extLst>
              <a:ext uri="{FF2B5EF4-FFF2-40B4-BE49-F238E27FC236}">
                <a16:creationId xmlns:a16="http://schemas.microsoft.com/office/drawing/2014/main" id="{436F69F5-B163-A82B-5BA9-AF5CF7A390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5045408"/>
            <a:ext cx="23764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信号量：用于传递状态</a:t>
            </a:r>
          </a:p>
        </p:txBody>
      </p:sp>
      <p:sp>
        <p:nvSpPr>
          <p:cNvPr id="23" name="文本框 24">
            <a:extLst>
              <a:ext uri="{FF2B5EF4-FFF2-40B4-BE49-F238E27FC236}">
                <a16:creationId xmlns:a16="http://schemas.microsoft.com/office/drawing/2014/main" id="{B8537BAE-4B60-F9CE-F22E-BE3B18564B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4334208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当释放信号量，信号量计数值（资源数）加一</a:t>
            </a:r>
          </a:p>
        </p:txBody>
      </p:sp>
      <p:sp>
        <p:nvSpPr>
          <p:cNvPr id="24" name="文本框 26">
            <a:extLst>
              <a:ext uri="{FF2B5EF4-FFF2-40B4-BE49-F238E27FC236}">
                <a16:creationId xmlns:a16="http://schemas.microsoft.com/office/drawing/2014/main" id="{14C3ECE5-4F9C-BAA1-BAC0-0E25E90EA0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4685045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当获取信号量，信号量计数值（资源数）减一</a:t>
            </a:r>
          </a:p>
        </p:txBody>
      </p:sp>
      <p:sp>
        <p:nvSpPr>
          <p:cNvPr id="25" name="文本框 28">
            <a:extLst>
              <a:ext uri="{FF2B5EF4-FFF2-40B4-BE49-F238E27FC236}">
                <a16:creationId xmlns:a16="http://schemas.microsoft.com/office/drawing/2014/main" id="{B7C4F465-42E8-33F9-34DD-082652EB25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8466" y="3900820"/>
            <a:ext cx="4230687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信号量的计数值都有限制：限定最大值。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如果最大值被限定为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，那么它就是二值信号量；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如果最大值不是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，它就是计数型信号量。</a:t>
            </a:r>
          </a:p>
        </p:txBody>
      </p:sp>
    </p:spTree>
    <p:extLst>
      <p:ext uri="{BB962C8B-B14F-4D97-AF65-F5344CB8AC3E}">
        <p14:creationId xmlns:p14="http://schemas.microsoft.com/office/powerpoint/2010/main" val="110571214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5" grpId="0" animBg="1"/>
      <p:bldP spid="16" grpId="0" animBg="1"/>
      <p:bldP spid="18" grpId="0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81D29-386C-BC8C-DB5C-BA547A53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49F35D7-90AC-A2EE-FB7C-057EE1115BF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A3F6CEE-A756-D69F-06CF-25EDA0283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70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队列与信号量的对比 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350794CC-B393-1FE5-ECFE-639EC98FD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916936"/>
              </p:ext>
            </p:extLst>
          </p:nvPr>
        </p:nvGraphicFramePr>
        <p:xfrm>
          <a:off x="2564145" y="1989852"/>
          <a:ext cx="6376988" cy="1898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3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3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队列</a:t>
                      </a:r>
                      <a:endParaRPr lang="zh-CN" altLang="en-US" sz="12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信号量</a:t>
                      </a:r>
                      <a:endParaRPr lang="zh-CN" altLang="en-US" sz="12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可以容纳多个数据；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创建队列有两部分内存：队列结构体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队列项存储空间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仅存放计数值，无法存放其他数据；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创建信号量，只需分配信号量结构体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写入队列：当队列满时，可阻塞；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释放信号量：不可阻塞，计数值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++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当计数值为最大值时，返回失败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读取队列：当队列为空时，可阻塞；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获取信号量：计数值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--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当没有资源时，可阻塞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734407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CF10A-41DE-D902-85E4-0B9837F6E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6FBD567-FE43-4025-B7A3-3424CD42B99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EF1114-F5DD-D030-5507-7EDCCB2D8E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894" y="124430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，二值信号量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E46D6640-5B24-CB2C-5644-5433EE6D1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2369" y="1839618"/>
            <a:ext cx="90225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二值信号量的本质是一个队列长度为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 ，该队列就只有空和满两种情况，这就是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二值（</a:t>
            </a:r>
            <a:r>
              <a:rPr lang="en-US" altLang="zh-CN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0/1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。</a:t>
            </a:r>
          </a:p>
        </p:txBody>
      </p:sp>
      <p:sp>
        <p:nvSpPr>
          <p:cNvPr id="10" name="文本框 6">
            <a:extLst>
              <a:ext uri="{FF2B5EF4-FFF2-40B4-BE49-F238E27FC236}">
                <a16:creationId xmlns:a16="http://schemas.microsoft.com/office/drawing/2014/main" id="{DE01951C-A17C-151D-DCA2-4F7E9D1666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2369" y="2204743"/>
            <a:ext cx="8358187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二值信号量通常用于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互斥访问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或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任务同步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 与互斥信号量比较类似，但是二值信号量有可能会导致优先级翻转的问题 ，所以二值信号量更适合用于同步！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B95B89D-571F-7014-3DB8-6B52D0857FE9}"/>
              </a:ext>
            </a:extLst>
          </p:cNvPr>
          <p:cNvSpPr/>
          <p:nvPr/>
        </p:nvSpPr>
        <p:spPr>
          <a:xfrm>
            <a:off x="2799981" y="4624093"/>
            <a:ext cx="250507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Give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操作相当把该标志置“满”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3FFF582-1B9D-0DD9-4CEF-22C60FD5A913}"/>
              </a:ext>
            </a:extLst>
          </p:cNvPr>
          <p:cNvSpPr/>
          <p:nvPr/>
        </p:nvSpPr>
        <p:spPr>
          <a:xfrm>
            <a:off x="5922594" y="4624093"/>
            <a:ext cx="271462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Take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操作相当于把该标志取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9">
            <a:extLst>
              <a:ext uri="{FF2B5EF4-FFF2-40B4-BE49-F238E27FC236}">
                <a16:creationId xmlns:a16="http://schemas.microsoft.com/office/drawing/2014/main" id="{232DABCE-5D07-8F27-A513-ACAAD7231B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5394" y="3420768"/>
            <a:ext cx="22526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</a:t>
            </a:r>
          </a:p>
        </p:txBody>
      </p:sp>
      <p:sp>
        <p:nvSpPr>
          <p:cNvPr id="14" name="文本框 30">
            <a:extLst>
              <a:ext uri="{FF2B5EF4-FFF2-40B4-BE49-F238E27FC236}">
                <a16:creationId xmlns:a16="http://schemas.microsoft.com/office/drawing/2014/main" id="{9AE47614-188F-5387-8CC9-96A62A11B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4369" y="3396955"/>
            <a:ext cx="22526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获取二值信号量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C6ACB70-16C3-A0B5-6496-A6D33077E047}"/>
              </a:ext>
            </a:extLst>
          </p:cNvPr>
          <p:cNvSpPr/>
          <p:nvPr/>
        </p:nvSpPr>
        <p:spPr>
          <a:xfrm>
            <a:off x="2180856" y="3747793"/>
            <a:ext cx="1060450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grpSp>
        <p:nvGrpSpPr>
          <p:cNvPr id="16" name="组合 36">
            <a:extLst>
              <a:ext uri="{FF2B5EF4-FFF2-40B4-BE49-F238E27FC236}">
                <a16:creationId xmlns:a16="http://schemas.microsoft.com/office/drawing/2014/main" id="{C56472A2-65FE-682B-4674-A7AEBBA2292F}"/>
              </a:ext>
            </a:extLst>
          </p:cNvPr>
          <p:cNvGrpSpPr>
            <a:grpSpLocks/>
          </p:cNvGrpSpPr>
          <p:nvPr/>
        </p:nvGrpSpPr>
        <p:grpSpPr bwMode="auto">
          <a:xfrm>
            <a:off x="4863731" y="3800180"/>
            <a:ext cx="1543050" cy="600075"/>
            <a:chOff x="3800475" y="3247616"/>
            <a:chExt cx="1543050" cy="600484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B7DA000-D5F2-B12F-D0A5-ECB830F67BA3}"/>
                </a:ext>
              </a:extLst>
            </p:cNvPr>
            <p:cNvSpPr/>
            <p:nvPr/>
          </p:nvSpPr>
          <p:spPr>
            <a:xfrm>
              <a:off x="3800475" y="3247616"/>
              <a:ext cx="1543050" cy="600484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81FFF81-884C-29A7-41F6-26E76AEB1B8F}"/>
                </a:ext>
              </a:extLst>
            </p:cNvPr>
            <p:cNvSpPr/>
            <p:nvPr/>
          </p:nvSpPr>
          <p:spPr>
            <a:xfrm>
              <a:off x="4294188" y="3520852"/>
              <a:ext cx="555625" cy="25576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9" name="文本框 35">
              <a:extLst>
                <a:ext uri="{FF2B5EF4-FFF2-40B4-BE49-F238E27FC236}">
                  <a16:creationId xmlns:a16="http://schemas.microsoft.com/office/drawing/2014/main" id="{4092B0A7-CAC7-04DC-7142-188693E3F0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7006" y="3258996"/>
              <a:ext cx="88998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</a:p>
          </p:txBody>
        </p:sp>
      </p:grp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162268B-11F8-BD49-3B09-1FE91B5ED485}"/>
              </a:ext>
            </a:extLst>
          </p:cNvPr>
          <p:cNvSpPr/>
          <p:nvPr/>
        </p:nvSpPr>
        <p:spPr>
          <a:xfrm>
            <a:off x="8154619" y="3755730"/>
            <a:ext cx="1058862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7BD9C7F-54F7-A570-8476-7C8032C3BE11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3241306" y="4100218"/>
            <a:ext cx="16224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44">
            <a:extLst>
              <a:ext uri="{FF2B5EF4-FFF2-40B4-BE49-F238E27FC236}">
                <a16:creationId xmlns:a16="http://schemas.microsoft.com/office/drawing/2014/main" id="{8DA69895-81D3-8F70-6EE6-DBD5746CD2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5931" y="3863680"/>
            <a:ext cx="1503363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</a:t>
            </a:r>
          </a:p>
        </p:txBody>
      </p:sp>
      <p:sp>
        <p:nvSpPr>
          <p:cNvPr id="23" name="文本框 45">
            <a:extLst>
              <a:ext uri="{FF2B5EF4-FFF2-40B4-BE49-F238E27FC236}">
                <a16:creationId xmlns:a16="http://schemas.microsoft.com/office/drawing/2014/main" id="{33EE0D9D-A273-2675-F47E-09F1844F4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5269" y="41367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</a:t>
            </a:r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FromISR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C9B0B12B-A8B1-92F0-99FB-6E22C0B04F24}"/>
              </a:ext>
            </a:extLst>
          </p:cNvPr>
          <p:cNvCxnSpPr>
            <a:stCxn id="17" idx="3"/>
            <a:endCxn id="20" idx="1"/>
          </p:cNvCxnSpPr>
          <p:nvPr/>
        </p:nvCxnSpPr>
        <p:spPr>
          <a:xfrm>
            <a:off x="6406781" y="4100218"/>
            <a:ext cx="1747838" cy="7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50">
            <a:extLst>
              <a:ext uri="{FF2B5EF4-FFF2-40B4-BE49-F238E27FC236}">
                <a16:creationId xmlns:a16="http://schemas.microsoft.com/office/drawing/2014/main" id="{6B0C7905-E52F-52E4-FA04-D22697EAC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9669" y="3855743"/>
            <a:ext cx="150495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6" name="文本框 51">
            <a:extLst>
              <a:ext uri="{FF2B5EF4-FFF2-40B4-BE49-F238E27FC236}">
                <a16:creationId xmlns:a16="http://schemas.microsoft.com/office/drawing/2014/main" id="{8C0EA150-06E1-D411-B94C-4C6995775B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3294" y="41240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xSemaphoreTakeFromISR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628197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20" grpId="0" animBg="1"/>
      <p:bldP spid="22" grpId="0"/>
      <p:bldP spid="23" grpId="0"/>
      <p:bldP spid="25" grpId="0"/>
      <p:bldP spid="26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8697-51B1-5B1A-9714-5384D0C8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3D0B1B9-F408-AB95-2963-4CBF1531976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8A0C4AE-2BA9-2A64-54E0-4EDC52DD80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176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C84A1ECB-1EE3-9AC3-CC91-80C493987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243" y="1756490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使用二值信号量的过程：创建二值信号量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获取二值信号量   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A7D7C684-61B4-128F-A6AF-E0557BFED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008451"/>
              </p:ext>
            </p:extLst>
          </p:nvPr>
        </p:nvGraphicFramePr>
        <p:xfrm>
          <a:off x="2020555" y="2297827"/>
          <a:ext cx="5448300" cy="198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7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</a:p>
                  </a:txBody>
                  <a:tcPr marT="45739" marB="4573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39" marB="45739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xSemaphoreCreateBinary()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xSemaphoreCreateBinaryStatic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xSemaphoreTakeFromISR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54528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21E92-92D2-BB48-2DA0-07F41C31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7CDBD76-053F-999E-3053-8827472843C7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698A2592-A7A0-3DA5-5279-854C942F59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6126" y="75674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4" name="文本框 6">
            <a:extLst>
              <a:ext uri="{FF2B5EF4-FFF2-40B4-BE49-F238E27FC236}">
                <a16:creationId xmlns:a16="http://schemas.microsoft.com/office/drawing/2014/main" id="{C9C47543-E541-3F88-22B1-EC3247457F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0301" y="1261570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创建二值信号量函数：</a:t>
            </a: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SemaphoreHandle_t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xSemaphoreCreateBinary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void )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5D689B89-3592-C7C0-8DC9-5F3A2F188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782669"/>
              </p:ext>
            </p:extLst>
          </p:nvPr>
        </p:nvGraphicFramePr>
        <p:xfrm>
          <a:off x="1580301" y="5160003"/>
          <a:ext cx="4619625" cy="800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99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77" marB="4567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77" marB="4567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99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15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创建成功返回二值信号量的句柄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组合 5">
            <a:extLst>
              <a:ext uri="{FF2B5EF4-FFF2-40B4-BE49-F238E27FC236}">
                <a16:creationId xmlns:a16="http://schemas.microsoft.com/office/drawing/2014/main" id="{DC181658-B817-938F-F2C0-A231C529042D}"/>
              </a:ext>
            </a:extLst>
          </p:cNvPr>
          <p:cNvGrpSpPr>
            <a:grpSpLocks/>
          </p:cNvGrpSpPr>
          <p:nvPr/>
        </p:nvGrpSpPr>
        <p:grpSpPr bwMode="auto">
          <a:xfrm>
            <a:off x="1580301" y="3186740"/>
            <a:ext cx="9801852" cy="1810562"/>
            <a:chOff x="542131" y="1235022"/>
            <a:chExt cx="7487443" cy="1725665"/>
          </a:xfrm>
        </p:grpSpPr>
        <p:sp>
          <p:nvSpPr>
            <p:cNvPr id="7" name="文本框 12">
              <a:extLst>
                <a:ext uri="{FF2B5EF4-FFF2-40B4-BE49-F238E27FC236}">
                  <a16:creationId xmlns:a16="http://schemas.microsoft.com/office/drawing/2014/main" id="{F34957D9-4B5B-9519-D11C-9F0F944A9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7487443" cy="16409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chemeClr val="tx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3766582-2828-06B3-E6BA-F6D6B6914A71}"/>
                </a:ext>
              </a:extLst>
            </p:cNvPr>
            <p:cNvSpPr/>
            <p:nvPr/>
          </p:nvSpPr>
          <p:spPr>
            <a:xfrm>
              <a:off x="542131" y="1235022"/>
              <a:ext cx="7157278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/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3947B7A5-E5EA-4DD3-D317-70C9355EA320}"/>
              </a:ext>
            </a:extLst>
          </p:cNvPr>
          <p:cNvGrpSpPr>
            <a:grpSpLocks/>
          </p:cNvGrpSpPr>
          <p:nvPr/>
        </p:nvGrpSpPr>
        <p:grpSpPr bwMode="auto">
          <a:xfrm>
            <a:off x="1580300" y="1615582"/>
            <a:ext cx="9690211" cy="1276473"/>
            <a:chOff x="506413" y="950913"/>
            <a:chExt cx="8305800" cy="965200"/>
          </a:xfrm>
        </p:grpSpPr>
        <p:sp>
          <p:nvSpPr>
            <p:cNvPr id="10" name="文本框 2">
              <a:extLst>
                <a:ext uri="{FF2B5EF4-FFF2-40B4-BE49-F238E27FC236}">
                  <a16:creationId xmlns:a16="http://schemas.microsoft.com/office/drawing/2014/main" id="{3ECDA822-B744-9E9D-31C4-35DE688CA0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50" y="950913"/>
              <a:ext cx="8266113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#define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xSemaphoreCreateBinary( )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\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xQueueGenericCreate(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1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semSEMAPHORE_QUEUE_ITEM_LENGTH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queueQUEUE_TYPE_BINARY_SEMAPHORE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</a:t>
              </a:r>
            </a:p>
          </p:txBody>
        </p:sp>
        <p:sp>
          <p:nvSpPr>
            <p:cNvPr id="11" name="文本框 7">
              <a:extLst>
                <a:ext uri="{FF2B5EF4-FFF2-40B4-BE49-F238E27FC236}">
                  <a16:creationId xmlns:a16="http://schemas.microsoft.com/office/drawing/2014/main" id="{3A8879A5-9256-3E12-8D67-D4283F93BB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688" y="1627188"/>
              <a:ext cx="6748462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semSEMAPHORE_QUEUE_ITEM_LENGTH      ( ( uint8_t )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0U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EABE2CB-1EFF-9199-E223-892C272EF40C}"/>
                </a:ext>
              </a:extLst>
            </p:cNvPr>
            <p:cNvSpPr/>
            <p:nvPr/>
          </p:nvSpPr>
          <p:spPr>
            <a:xfrm>
              <a:off x="506413" y="966788"/>
              <a:ext cx="8305800" cy="9493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559848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6174-2AC4-40DE-4D5D-4BE833D0A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2D1CE65-7563-AC91-A112-68C42F9FEA9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51A9B99-7404-A14B-EA29-A0DFFE79D3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6331" y="106355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B5B641E4-43C2-031F-BD98-A45DFD12BF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5106" y="1598540"/>
            <a:ext cx="70818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xSemaphoreGive(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44CE241-9ED5-9202-571B-616A8B467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939920"/>
              </p:ext>
            </p:extLst>
          </p:nvPr>
        </p:nvGraphicFramePr>
        <p:xfrm>
          <a:off x="1745106" y="419727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释放信号量成功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errQUEUE_FULL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释放信号量失败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3FE6F8C6-5353-54F5-C421-62B4A6766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212335"/>
              </p:ext>
            </p:extLst>
          </p:nvPr>
        </p:nvGraphicFramePr>
        <p:xfrm>
          <a:off x="1745106" y="333844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要释放的信号量句柄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2" name="组合 11">
            <a:extLst>
              <a:ext uri="{FF2B5EF4-FFF2-40B4-BE49-F238E27FC236}">
                <a16:creationId xmlns:a16="http://schemas.microsoft.com/office/drawing/2014/main" id="{DB23CD76-7C11-F362-1FAB-38F76DE768CC}"/>
              </a:ext>
            </a:extLst>
          </p:cNvPr>
          <p:cNvGrpSpPr>
            <a:grpSpLocks/>
          </p:cNvGrpSpPr>
          <p:nvPr/>
        </p:nvGrpSpPr>
        <p:grpSpPr bwMode="auto">
          <a:xfrm>
            <a:off x="1745105" y="1947789"/>
            <a:ext cx="9328703" cy="1226029"/>
            <a:chOff x="506413" y="1506538"/>
            <a:chExt cx="8515350" cy="989012"/>
          </a:xfrm>
        </p:grpSpPr>
        <p:sp>
          <p:nvSpPr>
            <p:cNvPr id="13" name="文本框 6">
              <a:extLst>
                <a:ext uri="{FF2B5EF4-FFF2-40B4-BE49-F238E27FC236}">
                  <a16:creationId xmlns:a16="http://schemas.microsoft.com/office/drawing/2014/main" id="{FC4D43CD-CC18-F4B9-C61F-C1B7356145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413" y="1506538"/>
              <a:ext cx="8407400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xSemaphoreGive (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\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xQueueGenericSend( ( QueueHandle_t ) (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  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NULL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semGIVE_BLOCK_TIME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queueSEND_TO_BACK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9A4E00E3-61AE-E272-86AB-9560A20A62F4}"/>
                </a:ext>
              </a:extLst>
            </p:cNvPr>
            <p:cNvSpPr/>
            <p:nvPr/>
          </p:nvSpPr>
          <p:spPr>
            <a:xfrm>
              <a:off x="506413" y="1506538"/>
              <a:ext cx="8515350" cy="98901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5" name="文本框 12">
              <a:extLst>
                <a:ext uri="{FF2B5EF4-FFF2-40B4-BE49-F238E27FC236}">
                  <a16:creationId xmlns:a16="http://schemas.microsoft.com/office/drawing/2014/main" id="{8C891564-5F1F-43DC-0A69-21A3BE12C0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413" y="2179638"/>
              <a:ext cx="4619625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semGIVE_BLOCK_TIME                  ( ( TickType_t )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0U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67629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984B-94D8-C260-DB6F-985619943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80912BB-029E-7A93-A3B0-F082955DB06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B0648A0-EB6A-6214-F900-484E6803E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950" y="978491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5D1F8010-6559-7A07-A274-592FB8AA9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7000" y="1711916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获取二值信号量函数：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xSemaphoreTake(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xBlockTime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51781699-50B4-B994-5F19-B0507F5B43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343231"/>
              </p:ext>
            </p:extLst>
          </p:nvPr>
        </p:nvGraphicFramePr>
        <p:xfrm>
          <a:off x="2315425" y="3497854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1" marB="4564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endParaRPr 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获取信号量成功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endParaRPr lang="en-US" altLang="zh-CN" sz="11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超时，获取信号量失败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11566A26-8840-E6FF-66DB-2BC96E6D7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987503"/>
              </p:ext>
            </p:extLst>
          </p:nvPr>
        </p:nvGraphicFramePr>
        <p:xfrm>
          <a:off x="2315425" y="226119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要获取的信号量句柄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xBlockTime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阻塞时间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5184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34374-2005-88E2-704A-D7F42F693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E3CFB46A-E4F3-A525-A85D-D5E06D0DAE68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9">
            <a:extLst>
              <a:ext uri="{FF2B5EF4-FFF2-40B4-BE49-F238E27FC236}">
                <a16:creationId xmlns:a16="http://schemas.microsoft.com/office/drawing/2014/main" id="{056FE34B-2803-E451-B92F-8CDF363F7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912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，计数型信号量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5" name="文本框 32">
            <a:extLst>
              <a:ext uri="{FF2B5EF4-FFF2-40B4-BE49-F238E27FC236}">
                <a16:creationId xmlns:a16="http://schemas.microsoft.com/office/drawing/2014/main" id="{5B10D437-C40A-9D18-E5DF-20D33E8E3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7874" y="1523373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计数型信号量相当于队列长度大于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的队列，因此计数型信号量能够容纳多个资源，这在计数型信号量被创建的时候确定的 </a:t>
            </a:r>
          </a:p>
        </p:txBody>
      </p:sp>
      <p:sp>
        <p:nvSpPr>
          <p:cNvPr id="36" name="文本框 1">
            <a:extLst>
              <a:ext uri="{FF2B5EF4-FFF2-40B4-BE49-F238E27FC236}">
                <a16:creationId xmlns:a16="http://schemas.microsoft.com/office/drawing/2014/main" id="{8EB1B1E7-090E-E723-CF20-521FBBDC6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99" y="2458410"/>
            <a:ext cx="2160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计数型信号量适用场合：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7281FCE9-2E45-C2FD-A444-68FF265B2033}"/>
              </a:ext>
            </a:extLst>
          </p:cNvPr>
          <p:cNvSpPr/>
          <p:nvPr/>
        </p:nvSpPr>
        <p:spPr>
          <a:xfrm>
            <a:off x="1928849" y="3110873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事件计数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B4819A1-1737-CBF5-3866-006F69464FB9}"/>
              </a:ext>
            </a:extLst>
          </p:cNvPr>
          <p:cNvSpPr/>
          <p:nvPr/>
        </p:nvSpPr>
        <p:spPr>
          <a:xfrm>
            <a:off x="1928849" y="4214185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资源管理</a:t>
            </a:r>
          </a:p>
        </p:txBody>
      </p:sp>
      <p:sp>
        <p:nvSpPr>
          <p:cNvPr id="39" name="文本框 12">
            <a:extLst>
              <a:ext uri="{FF2B5EF4-FFF2-40B4-BE49-F238E27FC236}">
                <a16:creationId xmlns:a16="http://schemas.microsoft.com/office/drawing/2014/main" id="{EE821485-3201-0F5F-F52C-FF8F67A792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8374" y="2860048"/>
            <a:ext cx="68453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当每次事件发生后，在事件处理函数中释放计数型信号量（计数值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），其他任务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会获取计数型信号量（计数值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 ，这种场合一般在创建时将初始计数值设置为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</p:txBody>
      </p:sp>
      <p:sp>
        <p:nvSpPr>
          <p:cNvPr id="40" name="文本框 16">
            <a:extLst>
              <a:ext uri="{FF2B5EF4-FFF2-40B4-BE49-F238E27FC236}">
                <a16:creationId xmlns:a16="http://schemas.microsoft.com/office/drawing/2014/main" id="{682680F7-D523-068A-ADEF-A2D2B23769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6474" y="3876048"/>
            <a:ext cx="6807200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信号量表示有效的资源数目。任务必须先获取信号量（信号量计数值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）才能获取资源控制权。当计数值减为零时表示没有的资源。当任务使用完资源后，必须释放信号量（信号量计数值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）。信号量创建时计数值应等于最大资源数目</a:t>
            </a:r>
          </a:p>
        </p:txBody>
      </p:sp>
    </p:spTree>
    <p:extLst>
      <p:ext uri="{BB962C8B-B14F-4D97-AF65-F5344CB8AC3E}">
        <p14:creationId xmlns:p14="http://schemas.microsoft.com/office/powerpoint/2010/main" val="64199612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 animBg="1"/>
      <p:bldP spid="39" grpId="0"/>
      <p:bldP spid="40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FDDC-1C1D-3FFF-26A2-275F838F1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6A9C970-FAC8-A345-77E1-CD677A637E5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FFF6886-30AC-8A7D-C57C-A65C389883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23367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86C887B4-BBD2-A00A-34C5-B14840B732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469" y="1828985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使用计数型信号量的过程：创建计数型信号量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获取信号量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7F7E0DD-C910-46D5-4D95-F264B6F8B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627520"/>
              </p:ext>
            </p:extLst>
          </p:nvPr>
        </p:nvGraphicFramePr>
        <p:xfrm>
          <a:off x="1854994" y="2373497"/>
          <a:ext cx="5448300" cy="113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76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</a:p>
                  </a:txBody>
                  <a:tcPr marT="45748" marB="4574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48" marB="4574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xSemaphoreCreateCounting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使用动态方法创建计数型信号量。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xSemaphoreCreateCountingStatic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使用静态方法创建计数型信号量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uxSemaphoreGetCount</a:t>
                      </a:r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获取信号量的计数值</a:t>
                      </a: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文本框 7">
            <a:extLst>
              <a:ext uri="{FF2B5EF4-FFF2-40B4-BE49-F238E27FC236}">
                <a16:creationId xmlns:a16="http://schemas.microsoft.com/office/drawing/2014/main" id="{BED85DB9-E3DD-5FB4-BF1D-FED0BC21B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4994" y="4181660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计数型信号量的释放和获取与二值信号量相同 ！</a:t>
            </a:r>
          </a:p>
        </p:txBody>
      </p:sp>
    </p:spTree>
    <p:extLst>
      <p:ext uri="{BB962C8B-B14F-4D97-AF65-F5344CB8AC3E}">
        <p14:creationId xmlns:p14="http://schemas.microsoft.com/office/powerpoint/2010/main" val="271514520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1B715-F610-A31E-4EA1-54D1DCEA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F67538F-00CF-6565-A38F-0DFC3D51AE1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C3EEE65-C880-CC6B-A1C3-B5D6763AB8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计数型信号量创建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1B1CA89A-CF2B-BCCB-B5F7-670E2294C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469" y="1756489"/>
            <a:ext cx="9419810" cy="707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xSemaphoreCreateCounting(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uxMaxCount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  		\</a:t>
            </a:r>
            <a:b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xQueueCreateCountingSemaphore( 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uxMaxCount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, 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E30E3B70-D328-8DEF-70B1-52800BDC6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314301"/>
              </p:ext>
            </p:extLst>
          </p:nvPr>
        </p:nvGraphicFramePr>
        <p:xfrm>
          <a:off x="1845469" y="4112340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创建成功返回计数型信号量的句柄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D722D61D-B1B3-E659-FD9B-CED08554F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351127"/>
              </p:ext>
            </p:extLst>
          </p:nvPr>
        </p:nvGraphicFramePr>
        <p:xfrm>
          <a:off x="1845469" y="3056652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1" marB="4564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uxMaxCount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计数值的最大值限定</a:t>
                      </a: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uxInitialCount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计数值的初始值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108533C3-A121-8741-C349-E3B0C21CEE25}"/>
              </a:ext>
            </a:extLst>
          </p:cNvPr>
          <p:cNvSpPr/>
          <p:nvPr/>
        </p:nvSpPr>
        <p:spPr>
          <a:xfrm>
            <a:off x="1845468" y="1780301"/>
            <a:ext cx="9705499" cy="707717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>
            <a:extLst>
              <a:ext uri="{FF2B5EF4-FFF2-40B4-BE49-F238E27FC236}">
                <a16:creationId xmlns:a16="http://schemas.microsoft.com/office/drawing/2014/main" id="{843C70B5-2DD7-29D4-DF51-C051BFF07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4506" y="2645490"/>
            <a:ext cx="30988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此函数用于创建一个计数型信号量 。</a:t>
            </a:r>
          </a:p>
        </p:txBody>
      </p:sp>
    </p:spTree>
    <p:extLst>
      <p:ext uri="{BB962C8B-B14F-4D97-AF65-F5344CB8AC3E}">
        <p14:creationId xmlns:p14="http://schemas.microsoft.com/office/powerpoint/2010/main" val="33604800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64EE1-04D0-0878-9F25-2D52F0A7D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69CD509-F82B-8D4B-5BFC-1FA9911B41E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FB88AC1-49F2-F1AC-421B-9173D24A3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23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计数型信号量创建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CF76CCA8-C8E2-BD38-E493-E187F28C64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0713" y="1756489"/>
            <a:ext cx="9568078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uxSemaphoreGetCount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						\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uxQueueMessagesWaiting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)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80D8198F-BA90-2BEC-B0E3-168DFCF2B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372899"/>
              </p:ext>
            </p:extLst>
          </p:nvPr>
        </p:nvGraphicFramePr>
        <p:xfrm>
          <a:off x="1890713" y="38980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0" marB="4568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当前信号量的计数值大小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0" marB="4568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1C0B4EF1-9039-5B79-EF11-FFA0500C3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26052"/>
              </p:ext>
            </p:extLst>
          </p:nvPr>
        </p:nvGraphicFramePr>
        <p:xfrm>
          <a:off x="1890713" y="31106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100" dirty="0" err="1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信号量句柄</a:t>
                      </a:r>
                    </a:p>
                  </a:txBody>
                  <a:tcPr marT="45684" marB="4568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A13932F6-1D89-9FA8-1408-0AF40A0FDD5E}"/>
              </a:ext>
            </a:extLst>
          </p:cNvPr>
          <p:cNvSpPr/>
          <p:nvPr/>
        </p:nvSpPr>
        <p:spPr>
          <a:xfrm>
            <a:off x="1890713" y="1780302"/>
            <a:ext cx="9858264" cy="80852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>
            <a:extLst>
              <a:ext uri="{FF2B5EF4-FFF2-40B4-BE49-F238E27FC236}">
                <a16:creationId xmlns:a16="http://schemas.microsoft.com/office/drawing/2014/main" id="{108CDC15-2C18-932E-D67B-8F1E6E8686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9750" y="2645490"/>
            <a:ext cx="32369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此函数用于获取信号量当前计数值大小</a:t>
            </a:r>
          </a:p>
        </p:txBody>
      </p:sp>
    </p:spTree>
    <p:extLst>
      <p:ext uri="{BB962C8B-B14F-4D97-AF65-F5344CB8AC3E}">
        <p14:creationId xmlns:p14="http://schemas.microsoft.com/office/powerpoint/2010/main" val="28118132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C5D5D-A0C1-5CEF-A148-720E8803E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9708C25-0C4A-2AF2-19E9-661EF16D92B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834FBAB-A429-B562-2461-F1473B227F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0383" y="1111398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843C7F-729B-D859-DDD9-8C79BE22C7C4}"/>
              </a:ext>
            </a:extLst>
          </p:cNvPr>
          <p:cNvSpPr txBox="1"/>
          <p:nvPr/>
        </p:nvSpPr>
        <p:spPr>
          <a:xfrm>
            <a:off x="1748208" y="1762273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队列是任务到任务、任务到中断、中断到任务数据交流的一种机制（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消息传递</a:t>
            </a: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</p:txBody>
      </p:sp>
      <p:sp>
        <p:nvSpPr>
          <p:cNvPr id="10" name="文本框 160">
            <a:extLst>
              <a:ext uri="{FF2B5EF4-FFF2-40B4-BE49-F238E27FC236}">
                <a16:creationId xmlns:a16="http://schemas.microsoft.com/office/drawing/2014/main" id="{7660EA8A-AF5C-BCD2-9850-902B47CC96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920" y="2251223"/>
            <a:ext cx="70437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类似全局变量？假设有一个全局变量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 = 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，现有两个任务都在写这个变量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9205A39-7EC7-BBBA-C430-014F936F8606}"/>
              </a:ext>
            </a:extLst>
          </p:cNvPr>
          <p:cNvSpPr/>
          <p:nvPr/>
        </p:nvSpPr>
        <p:spPr bwMode="auto">
          <a:xfrm>
            <a:off x="1914895" y="2951310"/>
            <a:ext cx="3354387" cy="12485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（）</a:t>
            </a:r>
            <a:endParaRPr lang="en-US" altLang="zh-CN" sz="1400" dirty="0">
              <a:solidFill>
                <a:schemeClr val="bg2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a++;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400" dirty="0">
              <a:solidFill>
                <a:schemeClr val="bg2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8590A9CA-B8FA-4266-9559-9756C9608039}"/>
              </a:ext>
            </a:extLst>
          </p:cNvPr>
          <p:cNvSpPr/>
          <p:nvPr/>
        </p:nvSpPr>
        <p:spPr bwMode="auto">
          <a:xfrm>
            <a:off x="3327769" y="3348519"/>
            <a:ext cx="161925" cy="6873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E84E9A-1ABF-B70B-FA99-B52BF1A9A17D}"/>
              </a:ext>
            </a:extLst>
          </p:cNvPr>
          <p:cNvSpPr txBox="1"/>
          <p:nvPr/>
        </p:nvSpPr>
        <p:spPr bwMode="auto">
          <a:xfrm>
            <a:off x="3445244" y="3267963"/>
            <a:ext cx="1316038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CA28FD5-C80C-95F1-C542-72458940C557}"/>
              </a:ext>
            </a:extLst>
          </p:cNvPr>
          <p:cNvSpPr txBox="1"/>
          <p:nvPr/>
        </p:nvSpPr>
        <p:spPr bwMode="auto">
          <a:xfrm>
            <a:off x="3445244" y="3537838"/>
            <a:ext cx="1649413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8D38F-22D0-8192-4190-0DB9C8AA5EAF}"/>
              </a:ext>
            </a:extLst>
          </p:cNvPr>
          <p:cNvSpPr txBox="1"/>
          <p:nvPr/>
        </p:nvSpPr>
        <p:spPr bwMode="auto">
          <a:xfrm>
            <a:off x="3462707" y="3799775"/>
            <a:ext cx="1316037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5309AD9-0A0E-9B7F-2670-FFD175653ECB}"/>
              </a:ext>
            </a:extLst>
          </p:cNvPr>
          <p:cNvSpPr/>
          <p:nvPr/>
        </p:nvSpPr>
        <p:spPr bwMode="auto">
          <a:xfrm>
            <a:off x="5943970" y="2951311"/>
            <a:ext cx="4087849" cy="12065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（）</a:t>
            </a:r>
            <a:endParaRPr lang="en-US" altLang="zh-CN" sz="14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a++;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4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7" name="左大括号 16">
            <a:extLst>
              <a:ext uri="{FF2B5EF4-FFF2-40B4-BE49-F238E27FC236}">
                <a16:creationId xmlns:a16="http://schemas.microsoft.com/office/drawing/2014/main" id="{FFB89442-9830-B490-E58B-71B938F766D4}"/>
              </a:ext>
            </a:extLst>
          </p:cNvPr>
          <p:cNvSpPr/>
          <p:nvPr/>
        </p:nvSpPr>
        <p:spPr bwMode="auto">
          <a:xfrm>
            <a:off x="7391918" y="3296022"/>
            <a:ext cx="161925" cy="68738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205CF29-1E3B-9DDB-E96F-FF8F6D6E0AD0}"/>
              </a:ext>
            </a:extLst>
          </p:cNvPr>
          <p:cNvSpPr txBox="1"/>
          <p:nvPr/>
        </p:nvSpPr>
        <p:spPr bwMode="auto">
          <a:xfrm>
            <a:off x="7536381" y="3242047"/>
            <a:ext cx="131762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DDDFE2-E4E6-AA29-FDAB-A2C4B738EECC}"/>
              </a:ext>
            </a:extLst>
          </p:cNvPr>
          <p:cNvSpPr txBox="1"/>
          <p:nvPr/>
        </p:nvSpPr>
        <p:spPr bwMode="auto">
          <a:xfrm>
            <a:off x="7536381" y="3511922"/>
            <a:ext cx="1651000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CE44DE-E11E-5377-BEA2-AB17C5F1FA30}"/>
              </a:ext>
            </a:extLst>
          </p:cNvPr>
          <p:cNvSpPr txBox="1"/>
          <p:nvPr/>
        </p:nvSpPr>
        <p:spPr bwMode="auto">
          <a:xfrm>
            <a:off x="7553843" y="3773860"/>
            <a:ext cx="1317625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1" name="文本框 31">
            <a:extLst>
              <a:ext uri="{FF2B5EF4-FFF2-40B4-BE49-F238E27FC236}">
                <a16:creationId xmlns:a16="http://schemas.microsoft.com/office/drawing/2014/main" id="{90B3B075-84D4-6E8C-0D7F-1BCA19238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9020" y="4541986"/>
            <a:ext cx="8383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全局变量的弊端</a:t>
            </a:r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数据无保护，导致数据不安全，当多个任务同时对该变量操作时，数据易受损</a:t>
            </a:r>
            <a:endParaRPr lang="zh-CN" altLang="en-US" sz="1400" b="1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42528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F19A7-8635-87C6-505A-4AB76C65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C6942DE-D91A-BE0B-5194-72D763D27CA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B3AB24C-D2C4-6C3C-412D-384608113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1647" y="1223039"/>
            <a:ext cx="23463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FCBE863-F24D-37BB-EB1E-69BC1C59E8A1}"/>
              </a:ext>
            </a:extLst>
          </p:cNvPr>
          <p:cNvSpPr txBox="1"/>
          <p:nvPr/>
        </p:nvSpPr>
        <p:spPr>
          <a:xfrm>
            <a:off x="1769472" y="1873914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使用队列的情况如下：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51CE4A6-6C4C-4EA3-ADE8-40A46CDE9315}"/>
              </a:ext>
            </a:extLst>
          </p:cNvPr>
          <p:cNvSpPr/>
          <p:nvPr/>
        </p:nvSpPr>
        <p:spPr>
          <a:xfrm>
            <a:off x="2075859" y="2380327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5985A37-21F6-F3E4-A574-576C5A1B137B}"/>
              </a:ext>
            </a:extLst>
          </p:cNvPr>
          <p:cNvSpPr/>
          <p:nvPr/>
        </p:nvSpPr>
        <p:spPr>
          <a:xfrm>
            <a:off x="2075859" y="3272502"/>
            <a:ext cx="1317625" cy="78263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pic>
        <p:nvPicPr>
          <p:cNvPr id="12" name="图片 27">
            <a:extLst>
              <a:ext uri="{FF2B5EF4-FFF2-40B4-BE49-F238E27FC236}">
                <a16:creationId xmlns:a16="http://schemas.microsoft.com/office/drawing/2014/main" id="{743BAD2F-D1E5-F0F5-C6E8-1029721F4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209" y="2826414"/>
            <a:ext cx="2359025" cy="73818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8082795-34BC-01E0-5ADA-F62A6F582A95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3393484" y="2772439"/>
            <a:ext cx="720725" cy="423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4242CCF3-8BA3-C2DE-F674-CE9B262222A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393484" y="3196302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4CA922E-8494-9978-D653-E0222625AC03}"/>
              </a:ext>
            </a:extLst>
          </p:cNvPr>
          <p:cNvSpPr/>
          <p:nvPr/>
        </p:nvSpPr>
        <p:spPr>
          <a:xfrm>
            <a:off x="7139984" y="2797839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4689C35-1756-E78E-6A7E-5C680F9B8123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 flipV="1">
            <a:off x="6473234" y="3189952"/>
            <a:ext cx="666750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46">
            <a:extLst>
              <a:ext uri="{FF2B5EF4-FFF2-40B4-BE49-F238E27FC236}">
                <a16:creationId xmlns:a16="http://schemas.microsoft.com/office/drawing/2014/main" id="{DE50D3CE-3924-FAF3-FAA2-FC6E31B2C8B2}"/>
              </a:ext>
            </a:extLst>
          </p:cNvPr>
          <p:cNvGrpSpPr>
            <a:grpSpLocks/>
          </p:cNvGrpSpPr>
          <p:nvPr/>
        </p:nvGrpSpPr>
        <p:grpSpPr bwMode="auto">
          <a:xfrm>
            <a:off x="2075859" y="4117052"/>
            <a:ext cx="1911350" cy="1277937"/>
            <a:chOff x="831151" y="3571619"/>
            <a:chExt cx="1912049" cy="1277273"/>
          </a:xfrm>
        </p:grpSpPr>
        <p:sp>
          <p:nvSpPr>
            <p:cNvPr id="18" name="文本框 50">
              <a:extLst>
                <a:ext uri="{FF2B5EF4-FFF2-40B4-BE49-F238E27FC236}">
                  <a16:creationId xmlns:a16="http://schemas.microsoft.com/office/drawing/2014/main" id="{350E0137-0029-768B-0FC2-F3E7F718B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1151" y="3571619"/>
              <a:ext cx="1912049" cy="1277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写队列：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xQueueSend( )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写队列实际操作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87402A7B-3E63-0837-16E5-C1AC600FC806}"/>
                </a:ext>
              </a:extLst>
            </p:cNvPr>
            <p:cNvSpPr/>
            <p:nvPr/>
          </p:nvSpPr>
          <p:spPr>
            <a:xfrm>
              <a:off x="831151" y="3571619"/>
              <a:ext cx="1912049" cy="12328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5D710775-117A-7291-D8A1-A2CD949FAC50}"/>
              </a:ext>
            </a:extLst>
          </p:cNvPr>
          <p:cNvGrpSpPr>
            <a:grpSpLocks/>
          </p:cNvGrpSpPr>
          <p:nvPr/>
        </p:nvGrpSpPr>
        <p:grpSpPr bwMode="auto">
          <a:xfrm>
            <a:off x="4712697" y="4094827"/>
            <a:ext cx="1911350" cy="1277937"/>
            <a:chOff x="4767263" y="3521384"/>
            <a:chExt cx="1912049" cy="1277273"/>
          </a:xfrm>
        </p:grpSpPr>
        <p:sp>
          <p:nvSpPr>
            <p:cNvPr id="21" name="文本框 62">
              <a:extLst>
                <a:ext uri="{FF2B5EF4-FFF2-40B4-BE49-F238E27FC236}">
                  <a16:creationId xmlns:a16="http://schemas.microsoft.com/office/drawing/2014/main" id="{3D776DE0-E1E9-6D8B-C682-372C5C28BD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7263" y="3521384"/>
              <a:ext cx="1912049" cy="1277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读队列：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xQueueReceive( )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读队列实际操作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6FEB747D-5AC8-3682-F9A3-35C640C58E01}"/>
                </a:ext>
              </a:extLst>
            </p:cNvPr>
            <p:cNvSpPr/>
            <p:nvPr/>
          </p:nvSpPr>
          <p:spPr>
            <a:xfrm>
              <a:off x="4767263" y="3521384"/>
              <a:ext cx="1912049" cy="12328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3" name="文本框 48">
            <a:extLst>
              <a:ext uri="{FF2B5EF4-FFF2-40B4-BE49-F238E27FC236}">
                <a16:creationId xmlns:a16="http://schemas.microsoft.com/office/drawing/2014/main" id="{D1E6403F-6C83-0EDD-F2FC-F6530A1AAB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7722" y="4310727"/>
            <a:ext cx="3570287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读写队列做好了保护，防止多任务同时访问冲突；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我们只需要直接调用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函数即可，简单易用！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24C715A-1F66-608E-27AB-5C1897C9D0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7209" y="1796127"/>
            <a:ext cx="6126163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基于队列， 实现了多种功能，其中包括队列集、互斥信号量、计数型信号量、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二值信号量、 递归互斥信号量，因此很有必要深入了解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 。</a:t>
            </a:r>
          </a:p>
        </p:txBody>
      </p:sp>
    </p:spTree>
    <p:extLst>
      <p:ext uri="{BB962C8B-B14F-4D97-AF65-F5344CB8AC3E}">
        <p14:creationId xmlns:p14="http://schemas.microsoft.com/office/powerpoint/2010/main" val="26108675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5" grpId="0" animBg="1"/>
      <p:bldP spid="23" grpId="0"/>
      <p:bldP spid="24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B05CD-CDF2-1F1E-1E15-C866E437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5F18164-4271-0F74-E983-B7C895033EB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84917C5F-C324-99C4-1F79-E01118C42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8350" y="1116714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32">
            <a:extLst>
              <a:ext uri="{FF2B5EF4-FFF2-40B4-BE49-F238E27FC236}">
                <a16:creationId xmlns:a16="http://schemas.microsoft.com/office/drawing/2014/main" id="{4C7F5821-E0FF-9C85-8627-00736BD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312" y="1562802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在队列中可以存储数量有限、大小固定的数据。队列中的每一个数据叫做“队列项目”，队列能够存储“队列项目”的最大数量称为队列的长度 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CC13AE1-222E-9806-B267-13BCFDD4A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425" y="2915352"/>
            <a:ext cx="2827337" cy="8858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文本框 12">
            <a:extLst>
              <a:ext uri="{FF2B5EF4-FFF2-40B4-BE49-F238E27FC236}">
                <a16:creationId xmlns:a16="http://schemas.microsoft.com/office/drawing/2014/main" id="{28FBA89D-275A-137C-9D49-9E842FC1EF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5162" y="3140777"/>
            <a:ext cx="1816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、队列长度为：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</a:t>
            </a:r>
          </a:p>
        </p:txBody>
      </p:sp>
      <p:sp>
        <p:nvSpPr>
          <p:cNvPr id="12" name="文本框 36">
            <a:extLst>
              <a:ext uri="{FF2B5EF4-FFF2-40B4-BE49-F238E27FC236}">
                <a16:creationId xmlns:a16="http://schemas.microsoft.com/office/drawing/2014/main" id="{19D5F4ED-8FCA-8BE7-80CC-F2A41C859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7225" y="3505902"/>
            <a:ext cx="245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、队列项目大小为：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字节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55A4F19-C860-C013-9DE6-31F4BE1D2CBC}"/>
              </a:ext>
            </a:extLst>
          </p:cNvPr>
          <p:cNvCxnSpPr>
            <a:cxnSpLocks/>
          </p:cNvCxnSpPr>
          <p:nvPr/>
        </p:nvCxnSpPr>
        <p:spPr>
          <a:xfrm>
            <a:off x="2250337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ABDFDDD-8102-1825-50B6-70EC9D8C2CD2}"/>
              </a:ext>
            </a:extLst>
          </p:cNvPr>
          <p:cNvCxnSpPr>
            <a:cxnSpLocks/>
          </p:cNvCxnSpPr>
          <p:nvPr/>
        </p:nvCxnSpPr>
        <p:spPr>
          <a:xfrm>
            <a:off x="2648800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文本框 17">
            <a:extLst>
              <a:ext uri="{FF2B5EF4-FFF2-40B4-BE49-F238E27FC236}">
                <a16:creationId xmlns:a16="http://schemas.microsoft.com/office/drawing/2014/main" id="{3403BF95-B4EC-F6EC-059D-D4E710EBA9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5725" y="3931352"/>
            <a:ext cx="542925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9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10</a:t>
            </a:r>
            <a:r>
              <a:rPr lang="zh-CN" altLang="en-US" sz="9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字节</a:t>
            </a: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4EB1A-8747-264D-AFDB-9D5444D619FE}"/>
              </a:ext>
            </a:extLst>
          </p:cNvPr>
          <p:cNvCxnSpPr/>
          <p:nvPr/>
        </p:nvCxnSpPr>
        <p:spPr>
          <a:xfrm>
            <a:off x="2245575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F4552E-BD75-0729-3D4A-F0521985DF3F}"/>
              </a:ext>
            </a:extLst>
          </p:cNvPr>
          <p:cNvCxnSpPr/>
          <p:nvPr/>
        </p:nvCxnSpPr>
        <p:spPr>
          <a:xfrm>
            <a:off x="4672862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本框 20">
            <a:extLst>
              <a:ext uri="{FF2B5EF4-FFF2-40B4-BE49-F238E27FC236}">
                <a16:creationId xmlns:a16="http://schemas.microsoft.com/office/drawing/2014/main" id="{833E8C6E-A2A6-443D-63CB-B98738E793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4275" y="2274002"/>
            <a:ext cx="401637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</a:t>
            </a: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E2C3A7FA-8922-18D3-E461-88957F4A495C}"/>
              </a:ext>
            </a:extLst>
          </p:cNvPr>
          <p:cNvSpPr/>
          <p:nvPr/>
        </p:nvSpPr>
        <p:spPr>
          <a:xfrm rot="5400000">
            <a:off x="3332219" y="1377858"/>
            <a:ext cx="249237" cy="2416175"/>
          </a:xfrm>
          <a:prstGeom prst="leftBrace">
            <a:avLst>
              <a:gd name="adj1" fmla="val 8333"/>
              <a:gd name="adj2" fmla="val 4924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50">
            <a:extLst>
              <a:ext uri="{FF2B5EF4-FFF2-40B4-BE49-F238E27FC236}">
                <a16:creationId xmlns:a16="http://schemas.microsoft.com/office/drawing/2014/main" id="{FB740FDA-66F3-FFBE-8BB8-36B7B54BCE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1425" y="4520314"/>
            <a:ext cx="52752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在创建队列时，就要指定队列长度以及队列项目的大小！</a:t>
            </a:r>
          </a:p>
        </p:txBody>
      </p:sp>
    </p:spTree>
    <p:extLst>
      <p:ext uri="{BB962C8B-B14F-4D97-AF65-F5344CB8AC3E}">
        <p14:creationId xmlns:p14="http://schemas.microsoft.com/office/powerpoint/2010/main" val="19886296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5" grpId="0"/>
      <p:bldP spid="18" grpId="0"/>
      <p:bldP spid="19" grpId="0" animBg="1"/>
      <p:bldP spid="2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BA0B2-7A17-5D49-66AA-210213221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E3C4EF69-8F5D-24E9-192B-75BA736D051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137EB34-2F30-A240-90FB-DDE73BFC7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168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，队列简介（了解）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8">
            <a:extLst>
              <a:ext uri="{FF2B5EF4-FFF2-40B4-BE49-F238E27FC236}">
                <a16:creationId xmlns:a16="http://schemas.microsoft.com/office/drawing/2014/main" id="{545667B8-CE6C-5CE4-C0F5-8B67101B95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5893" y="1705690"/>
            <a:ext cx="1889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队列特点：</a:t>
            </a:r>
          </a:p>
        </p:txBody>
      </p:sp>
      <p:sp>
        <p:nvSpPr>
          <p:cNvPr id="10" name="文本框 91">
            <a:extLst>
              <a:ext uri="{FF2B5EF4-FFF2-40B4-BE49-F238E27FC236}">
                <a16:creationId xmlns:a16="http://schemas.microsoft.com/office/drawing/2014/main" id="{D3A508A9-C5F3-C819-0372-04371449F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3580" y="1989852"/>
            <a:ext cx="6927850" cy="552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队列通常采用“先进先出”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(FIFO)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的数据存储缓冲机制，即先入队的数据会先从队列中被读取，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中也可以配置为“后进先出”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LIFO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方式；</a:t>
            </a:r>
          </a:p>
        </p:txBody>
      </p:sp>
      <p:sp>
        <p:nvSpPr>
          <p:cNvPr id="11" name="文本框 92">
            <a:extLst>
              <a:ext uri="{FF2B5EF4-FFF2-40B4-BE49-F238E27FC236}">
                <a16:creationId xmlns:a16="http://schemas.microsoft.com/office/drawing/2014/main" id="{FFA39ED8-0585-6137-FBAA-E20D777876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3580" y="2581990"/>
            <a:ext cx="6927850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中队列采用实际值传递，即将数据拷贝到队列中进行传递，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采用拷贝数据传递，也可以传递指针，所以在传递较大的数据的时候采用指针传递</a:t>
            </a:r>
          </a:p>
        </p:txBody>
      </p:sp>
      <p:sp>
        <p:nvSpPr>
          <p:cNvPr id="12" name="文本框 93">
            <a:extLst>
              <a:ext uri="{FF2B5EF4-FFF2-40B4-BE49-F238E27FC236}">
                <a16:creationId xmlns:a16="http://schemas.microsoft.com/office/drawing/2014/main" id="{918B6C90-FF05-59F2-E696-99F73C2DF9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2468" y="3313827"/>
            <a:ext cx="62801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队列不属于某个任务，任何任务和中断都可以向队列发送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读取消息</a:t>
            </a:r>
          </a:p>
        </p:txBody>
      </p:sp>
      <p:sp>
        <p:nvSpPr>
          <p:cNvPr id="13" name="文本框 94">
            <a:extLst>
              <a:ext uri="{FF2B5EF4-FFF2-40B4-BE49-F238E27FC236}">
                <a16:creationId xmlns:a16="http://schemas.microsoft.com/office/drawing/2014/main" id="{4312B61E-88DE-C903-A6D4-4CE95ABEF2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7330" y="4359990"/>
            <a:ext cx="8285163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若阻塞时间为0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：直接返回不会等待；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若阻塞时间为0~port_MAX_DELAY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：等待设定的阻塞时间，若在该时间内还无法入队，超时后直接返回不再等待；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：死等，一直等到可以入队为止。出队阻塞与入队阻塞类似；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60446CA-3912-A602-6B13-47D62D4452C5}"/>
              </a:ext>
            </a:extLst>
          </p:cNvPr>
          <p:cNvSpPr/>
          <p:nvPr/>
        </p:nvSpPr>
        <p:spPr>
          <a:xfrm>
            <a:off x="1617330" y="211367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、数据入队出队方式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283554E-1E43-994C-4678-28114A046DE9}"/>
              </a:ext>
            </a:extLst>
          </p:cNvPr>
          <p:cNvSpPr/>
          <p:nvPr/>
        </p:nvSpPr>
        <p:spPr>
          <a:xfrm>
            <a:off x="1617330" y="384881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、出队、入队阻塞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E88DB42-2179-A9FD-3AE7-269D94878FFB}"/>
              </a:ext>
            </a:extLst>
          </p:cNvPr>
          <p:cNvSpPr/>
          <p:nvPr/>
        </p:nvSpPr>
        <p:spPr>
          <a:xfrm>
            <a:off x="1617330" y="269152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、数据传递方式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C424319-55F8-C5D9-D849-CEE0C1B2043A}"/>
              </a:ext>
            </a:extLst>
          </p:cNvPr>
          <p:cNvSpPr/>
          <p:nvPr/>
        </p:nvSpPr>
        <p:spPr>
          <a:xfrm>
            <a:off x="1617330" y="327096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、多任务访问</a:t>
            </a:r>
          </a:p>
        </p:txBody>
      </p:sp>
      <p:sp>
        <p:nvSpPr>
          <p:cNvPr id="18" name="文本框 100">
            <a:extLst>
              <a:ext uri="{FF2B5EF4-FFF2-40B4-BE49-F238E27FC236}">
                <a16:creationId xmlns:a16="http://schemas.microsoft.com/office/drawing/2014/main" id="{2883B820-66EC-2E62-B518-1A2227AEB2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2468" y="3850402"/>
            <a:ext cx="6194425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当任务向一个队列发送消息时，可以指定一个阻塞时间，假设此时当队列已满无法入队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454949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2279-D8C2-303F-133A-7BD03CBA2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F43ED7F-4D8A-2B1B-A147-1CCA8537B83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C4CD27F-A6BD-9CFB-E775-88BE4F5C39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3682" y="1095449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，队列简介（了解）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8">
            <a:extLst>
              <a:ext uri="{FF2B5EF4-FFF2-40B4-BE49-F238E27FC236}">
                <a16:creationId xmlns:a16="http://schemas.microsoft.com/office/drawing/2014/main" id="{2C07CF82-9B3F-8107-4558-59F75B5DF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1649487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入队阻塞：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pSp>
        <p:nvGrpSpPr>
          <p:cNvPr id="10" name="组合 7">
            <a:extLst>
              <a:ext uri="{FF2B5EF4-FFF2-40B4-BE49-F238E27FC236}">
                <a16:creationId xmlns:a16="http://schemas.microsoft.com/office/drawing/2014/main" id="{3F6DE06C-68D0-6D36-34DF-8200DF188513}"/>
              </a:ext>
            </a:extLst>
          </p:cNvPr>
          <p:cNvGrpSpPr>
            <a:grpSpLocks/>
          </p:cNvGrpSpPr>
          <p:nvPr/>
        </p:nvGrpSpPr>
        <p:grpSpPr bwMode="auto">
          <a:xfrm>
            <a:off x="3380582" y="2249562"/>
            <a:ext cx="2314575" cy="463550"/>
            <a:chOff x="1971676" y="1396469"/>
            <a:chExt cx="2314574" cy="463551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57D1EE27-7801-D1F9-417A-522F5D706126}"/>
                </a:ext>
              </a:extLst>
            </p:cNvPr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20F7F40E-69A0-B416-B0B8-F86BE53712BF}"/>
                </a:ext>
              </a:extLst>
            </p:cNvPr>
            <p:cNvCxnSpPr/>
            <p:nvPr/>
          </p:nvCxnSpPr>
          <p:spPr>
            <a:xfrm>
              <a:off x="243840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A9673A9A-D0F9-D228-BC9C-1AA5E57D8898}"/>
                </a:ext>
              </a:extLst>
            </p:cNvPr>
            <p:cNvCxnSpPr/>
            <p:nvPr/>
          </p:nvCxnSpPr>
          <p:spPr>
            <a:xfrm>
              <a:off x="288925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F8646F9-67C5-D904-780E-64B7F857A35D}"/>
                </a:ext>
              </a:extLst>
            </p:cNvPr>
            <p:cNvCxnSpPr/>
            <p:nvPr/>
          </p:nvCxnSpPr>
          <p:spPr>
            <a:xfrm>
              <a:off x="3359150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BF7FBA7E-F5EF-80F8-64E3-F2AE5AA46907}"/>
                </a:ext>
              </a:extLst>
            </p:cNvPr>
            <p:cNvCxnSpPr/>
            <p:nvPr/>
          </p:nvCxnSpPr>
          <p:spPr>
            <a:xfrm>
              <a:off x="3816350" y="1396469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47D07094-2788-617C-D852-33F09FB7A7D6}"/>
              </a:ext>
            </a:extLst>
          </p:cNvPr>
          <p:cNvCxnSpPr>
            <a:endCxn id="11" idx="1"/>
          </p:cNvCxnSpPr>
          <p:nvPr/>
        </p:nvCxnSpPr>
        <p:spPr>
          <a:xfrm>
            <a:off x="2666207" y="2478162"/>
            <a:ext cx="71437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5">
            <a:extLst>
              <a:ext uri="{FF2B5EF4-FFF2-40B4-BE49-F238E27FC236}">
                <a16:creationId xmlns:a16="http://schemas.microsoft.com/office/drawing/2014/main" id="{4562F0B2-9809-AEC0-B50B-13E844C135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0344" y="2213049"/>
            <a:ext cx="5445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入队</a:t>
            </a:r>
          </a:p>
        </p:txBody>
      </p:sp>
      <p:sp>
        <p:nvSpPr>
          <p:cNvPr id="18" name="文本框 34">
            <a:extLst>
              <a:ext uri="{FF2B5EF4-FFF2-40B4-BE49-F238E27FC236}">
                <a16:creationId xmlns:a16="http://schemas.microsoft.com/office/drawing/2014/main" id="{D5FB68D3-A92E-00C1-669F-15971CDD2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2479749"/>
            <a:ext cx="16383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往队列写入数据</a:t>
            </a:r>
          </a:p>
        </p:txBody>
      </p:sp>
      <p:sp>
        <p:nvSpPr>
          <p:cNvPr id="19" name="文本框 35">
            <a:extLst>
              <a:ext uri="{FF2B5EF4-FFF2-40B4-BE49-F238E27FC236}">
                <a16:creationId xmlns:a16="http://schemas.microsoft.com/office/drawing/2014/main" id="{2E2F87A4-E333-3917-15C8-97E1B5E3FF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3444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0" name="文本框 36">
            <a:extLst>
              <a:ext uri="{FF2B5EF4-FFF2-40B4-BE49-F238E27FC236}">
                <a16:creationId xmlns:a16="http://schemas.microsoft.com/office/drawing/2014/main" id="{38B1143E-2E5F-D603-6517-00C8ABAB78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1757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1" name="文本框 37">
            <a:extLst>
              <a:ext uri="{FF2B5EF4-FFF2-40B4-BE49-F238E27FC236}">
                <a16:creationId xmlns:a16="http://schemas.microsoft.com/office/drawing/2014/main" id="{805703EE-496A-6EE0-79F4-18EAE8B74B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8482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2" name="文本框 38">
            <a:extLst>
              <a:ext uri="{FF2B5EF4-FFF2-40B4-BE49-F238E27FC236}">
                <a16:creationId xmlns:a16="http://schemas.microsoft.com/office/drawing/2014/main" id="{25675B1F-B017-BABE-00D8-0768CE2046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25207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3" name="文本框 39">
            <a:extLst>
              <a:ext uri="{FF2B5EF4-FFF2-40B4-BE49-F238E27FC236}">
                <a16:creationId xmlns:a16="http://schemas.microsoft.com/office/drawing/2014/main" id="{08C750AC-EB1E-8ABD-FBC0-1596199AE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3519" y="2340049"/>
            <a:ext cx="36353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4" name="文本框 20">
            <a:extLst>
              <a:ext uri="{FF2B5EF4-FFF2-40B4-BE49-F238E27FC236}">
                <a16:creationId xmlns:a16="http://schemas.microsoft.com/office/drawing/2014/main" id="{8056E1FF-5D31-A9AC-DDFF-1BFFAF67B5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5607" y="1941587"/>
            <a:ext cx="542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</a:t>
            </a:r>
          </a:p>
        </p:txBody>
      </p:sp>
      <p:sp>
        <p:nvSpPr>
          <p:cNvPr id="25" name="右大括号 24">
            <a:extLst>
              <a:ext uri="{FF2B5EF4-FFF2-40B4-BE49-F238E27FC236}">
                <a16:creationId xmlns:a16="http://schemas.microsoft.com/office/drawing/2014/main" id="{E3BC1BC7-650F-1109-7DF0-E728E584D02A}"/>
              </a:ext>
            </a:extLst>
          </p:cNvPr>
          <p:cNvSpPr/>
          <p:nvPr/>
        </p:nvSpPr>
        <p:spPr>
          <a:xfrm rot="5400000">
            <a:off x="4421188" y="1702668"/>
            <a:ext cx="233363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6" name="文本框 44">
            <a:extLst>
              <a:ext uri="{FF2B5EF4-FFF2-40B4-BE49-F238E27FC236}">
                <a16:creationId xmlns:a16="http://schemas.microsoft.com/office/drawing/2014/main" id="{3B0A48BF-2869-5002-4C4D-CD7FB7200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2732" y="3009974"/>
            <a:ext cx="903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队列已满</a:t>
            </a:r>
          </a:p>
        </p:txBody>
      </p:sp>
      <p:sp>
        <p:nvSpPr>
          <p:cNvPr id="27" name="文本框 45">
            <a:extLst>
              <a:ext uri="{FF2B5EF4-FFF2-40B4-BE49-F238E27FC236}">
                <a16:creationId xmlns:a16="http://schemas.microsoft.com/office/drawing/2014/main" id="{CD18EBCD-778B-C8F5-D31B-E2E87C64DB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34052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出队阻塞：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pSp>
        <p:nvGrpSpPr>
          <p:cNvPr id="28" name="组合 47">
            <a:extLst>
              <a:ext uri="{FF2B5EF4-FFF2-40B4-BE49-F238E27FC236}">
                <a16:creationId xmlns:a16="http://schemas.microsoft.com/office/drawing/2014/main" id="{2DB21542-FD87-5C38-4541-94207286287E}"/>
              </a:ext>
            </a:extLst>
          </p:cNvPr>
          <p:cNvGrpSpPr>
            <a:grpSpLocks/>
          </p:cNvGrpSpPr>
          <p:nvPr/>
        </p:nvGrpSpPr>
        <p:grpSpPr bwMode="auto">
          <a:xfrm>
            <a:off x="1859757" y="4156149"/>
            <a:ext cx="2314575" cy="463550"/>
            <a:chOff x="1971676" y="1396469"/>
            <a:chExt cx="2314574" cy="463551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78C44C7-B72C-50E6-F165-C45961EA0295}"/>
                </a:ext>
              </a:extLst>
            </p:cNvPr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647CA2E-C758-E2A4-C8AA-55F62EB133DF}"/>
                </a:ext>
              </a:extLst>
            </p:cNvPr>
            <p:cNvCxnSpPr/>
            <p:nvPr/>
          </p:nvCxnSpPr>
          <p:spPr>
            <a:xfrm>
              <a:off x="243840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42FEC9A5-C84A-54A8-F2AA-802DEB27E617}"/>
                </a:ext>
              </a:extLst>
            </p:cNvPr>
            <p:cNvCxnSpPr/>
            <p:nvPr/>
          </p:nvCxnSpPr>
          <p:spPr>
            <a:xfrm>
              <a:off x="288925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884B0EEE-D99A-0D0A-E501-A4DC524A7B5F}"/>
                </a:ext>
              </a:extLst>
            </p:cNvPr>
            <p:cNvCxnSpPr/>
            <p:nvPr/>
          </p:nvCxnSpPr>
          <p:spPr>
            <a:xfrm>
              <a:off x="3359150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DD954652-7BD3-F5D7-AFFE-AD1CA1D1760E}"/>
                </a:ext>
              </a:extLst>
            </p:cNvPr>
            <p:cNvCxnSpPr/>
            <p:nvPr/>
          </p:nvCxnSpPr>
          <p:spPr>
            <a:xfrm>
              <a:off x="3816350" y="1396469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726C57D-8F97-C613-91E9-7E56840B16E8}"/>
              </a:ext>
            </a:extLst>
          </p:cNvPr>
          <p:cNvCxnSpPr>
            <a:cxnSpLocks/>
          </p:cNvCxnSpPr>
          <p:nvPr/>
        </p:nvCxnSpPr>
        <p:spPr>
          <a:xfrm>
            <a:off x="4171157" y="4392687"/>
            <a:ext cx="714375" cy="4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54">
            <a:extLst>
              <a:ext uri="{FF2B5EF4-FFF2-40B4-BE49-F238E27FC236}">
                <a16:creationId xmlns:a16="http://schemas.microsoft.com/office/drawing/2014/main" id="{E2DD471E-34B2-1989-0E0E-67BA4BFEBD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5294" y="4135512"/>
            <a:ext cx="544513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出队</a:t>
            </a:r>
          </a:p>
        </p:txBody>
      </p:sp>
      <p:sp>
        <p:nvSpPr>
          <p:cNvPr id="36" name="文本框 55">
            <a:extLst>
              <a:ext uri="{FF2B5EF4-FFF2-40B4-BE49-F238E27FC236}">
                <a16:creationId xmlns:a16="http://schemas.microsoft.com/office/drawing/2014/main" id="{DC39D221-20A5-CDBF-AC0D-C4555CF50F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6707" y="4399037"/>
            <a:ext cx="16383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从队列读取数据</a:t>
            </a:r>
          </a:p>
        </p:txBody>
      </p:sp>
      <p:sp>
        <p:nvSpPr>
          <p:cNvPr id="37" name="文本框 56">
            <a:extLst>
              <a:ext uri="{FF2B5EF4-FFF2-40B4-BE49-F238E27FC236}">
                <a16:creationId xmlns:a16="http://schemas.microsoft.com/office/drawing/2014/main" id="{791A6E36-5DC8-EF7C-68C4-A4410E88B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4207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38" name="文本框 57">
            <a:extLst>
              <a:ext uri="{FF2B5EF4-FFF2-40B4-BE49-F238E27FC236}">
                <a16:creationId xmlns:a16="http://schemas.microsoft.com/office/drawing/2014/main" id="{07688E44-6C1C-4EC5-067C-A03648FCE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0932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39" name="文本框 58">
            <a:extLst>
              <a:ext uri="{FF2B5EF4-FFF2-40B4-BE49-F238E27FC236}">
                <a16:creationId xmlns:a16="http://schemas.microsoft.com/office/drawing/2014/main" id="{B4F02892-9799-9C5A-B779-9CD26EC1E1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7657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0" name="文本框 59">
            <a:extLst>
              <a:ext uri="{FF2B5EF4-FFF2-40B4-BE49-F238E27FC236}">
                <a16:creationId xmlns:a16="http://schemas.microsoft.com/office/drawing/2014/main" id="{96F2004B-1C46-80B9-FA11-5748DDB8D5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5969" y="4245049"/>
            <a:ext cx="3635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1" name="文本框 60">
            <a:extLst>
              <a:ext uri="{FF2B5EF4-FFF2-40B4-BE49-F238E27FC236}">
                <a16:creationId xmlns:a16="http://schemas.microsoft.com/office/drawing/2014/main" id="{C12743DB-3599-CE38-ED99-DD8991A10C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2694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2" name="文本框 61">
            <a:extLst>
              <a:ext uri="{FF2B5EF4-FFF2-40B4-BE49-F238E27FC236}">
                <a16:creationId xmlns:a16="http://schemas.microsoft.com/office/drawing/2014/main" id="{0FFCF975-0ADC-ABE6-BA50-70C6EBCEF4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4782" y="3848174"/>
            <a:ext cx="544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</a:t>
            </a:r>
          </a:p>
        </p:txBody>
      </p:sp>
      <p:sp>
        <p:nvSpPr>
          <p:cNvPr id="43" name="右大括号 42">
            <a:extLst>
              <a:ext uri="{FF2B5EF4-FFF2-40B4-BE49-F238E27FC236}">
                <a16:creationId xmlns:a16="http://schemas.microsoft.com/office/drawing/2014/main" id="{EDA76494-1B58-C00A-E1E1-B0B505BBE4E1}"/>
              </a:ext>
            </a:extLst>
          </p:cNvPr>
          <p:cNvSpPr/>
          <p:nvPr/>
        </p:nvSpPr>
        <p:spPr>
          <a:xfrm rot="5400000">
            <a:off x="2900364" y="3609255"/>
            <a:ext cx="233362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4" name="文本框 63">
            <a:extLst>
              <a:ext uri="{FF2B5EF4-FFF2-40B4-BE49-F238E27FC236}">
                <a16:creationId xmlns:a16="http://schemas.microsoft.com/office/drawing/2014/main" id="{21A13B03-3EE1-D750-9E43-4A5AE6FB77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3494" y="49165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队列无数据</a:t>
            </a:r>
          </a:p>
        </p:txBody>
      </p:sp>
      <p:sp>
        <p:nvSpPr>
          <p:cNvPr id="45" name="文本框 72">
            <a:extLst>
              <a:ext uri="{FF2B5EF4-FFF2-40B4-BE49-F238E27FC236}">
                <a16:creationId xmlns:a16="http://schemas.microsoft.com/office/drawing/2014/main" id="{3095990B-EA25-44EC-00A3-EDD2E40D50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3619" y="1965399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队列满了，此时写不进去数据；</a:t>
            </a:r>
            <a:endParaRPr lang="en-US" altLang="zh-CN" sz="1200">
              <a:solidFill>
                <a:srgbClr val="FF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xTasksWaitingToSend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46" name="文本框 73">
            <a:extLst>
              <a:ext uri="{FF2B5EF4-FFF2-40B4-BE49-F238E27FC236}">
                <a16:creationId xmlns:a16="http://schemas.microsoft.com/office/drawing/2014/main" id="{961D3F8E-01AB-FB5B-E006-D9FBA966D7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3619" y="3954537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队列为空，此时读取不了数据；</a:t>
            </a:r>
            <a:endParaRPr lang="en-US" altLang="zh-CN" sz="1200">
              <a:solidFill>
                <a:srgbClr val="FF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xTasksWaitingToReceive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999614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 animBg="1"/>
      <p:bldP spid="44" grpId="0"/>
      <p:bldP spid="45" grpId="0"/>
      <p:bldP spid="4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805B-6B28-231F-7C26-786059D7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EC359DA-F119-5436-A779-D59DFA7B8B7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C995ACD3-ACEF-61EF-6D9B-69BB508199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4931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队列操作基本过程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67F2FAE-8812-E15F-33F8-06EBD2333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1899365"/>
            <a:ext cx="3624262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图片 12">
            <a:extLst>
              <a:ext uri="{FF2B5EF4-FFF2-40B4-BE49-F238E27FC236}">
                <a16:creationId xmlns:a16="http://schemas.microsoft.com/office/drawing/2014/main" id="{1D195F4A-CDA9-1055-3BC9-6F84CF2C2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2989977"/>
            <a:ext cx="3624262" cy="86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4">
            <a:extLst>
              <a:ext uri="{FF2B5EF4-FFF2-40B4-BE49-F238E27FC236}">
                <a16:creationId xmlns:a16="http://schemas.microsoft.com/office/drawing/2014/main" id="{621269D2-1B0A-643A-3CB2-FB96CEA4C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4250452"/>
            <a:ext cx="3624262" cy="87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图片 16">
            <a:extLst>
              <a:ext uri="{FF2B5EF4-FFF2-40B4-BE49-F238E27FC236}">
                <a16:creationId xmlns:a16="http://schemas.microsoft.com/office/drawing/2014/main" id="{B16C02A9-1071-7EBA-9D5C-9EA687EBD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406" y="2647077"/>
            <a:ext cx="4087812" cy="180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文本框 17">
            <a:extLst>
              <a:ext uri="{FF2B5EF4-FFF2-40B4-BE49-F238E27FC236}">
                <a16:creationId xmlns:a16="http://schemas.microsoft.com/office/drawing/2014/main" id="{05D1A07B-B5E1-6422-448E-9478582CD7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731" y="1645365"/>
            <a:ext cx="97790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①创建队列</a:t>
            </a:r>
          </a:p>
        </p:txBody>
      </p:sp>
      <p:sp>
        <p:nvSpPr>
          <p:cNvPr id="14" name="文本框 70">
            <a:extLst>
              <a:ext uri="{FF2B5EF4-FFF2-40B4-BE49-F238E27FC236}">
                <a16:creationId xmlns:a16="http://schemas.microsoft.com/office/drawing/2014/main" id="{38F99A6C-301B-11DD-BBD7-4F0653434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731" y="2731215"/>
            <a:ext cx="1928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②往队列写入第一个消息</a:t>
            </a:r>
          </a:p>
        </p:txBody>
      </p:sp>
      <p:sp>
        <p:nvSpPr>
          <p:cNvPr id="15" name="文本框 71">
            <a:extLst>
              <a:ext uri="{FF2B5EF4-FFF2-40B4-BE49-F238E27FC236}">
                <a16:creationId xmlns:a16="http://schemas.microsoft.com/office/drawing/2014/main" id="{2250F6ED-3A04-9097-2EEA-446213629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431" y="4005977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③往队列写入第二个消息</a:t>
            </a:r>
          </a:p>
        </p:txBody>
      </p:sp>
      <p:sp>
        <p:nvSpPr>
          <p:cNvPr id="16" name="文本框 72">
            <a:extLst>
              <a:ext uri="{FF2B5EF4-FFF2-40B4-BE49-F238E27FC236}">
                <a16:creationId xmlns:a16="http://schemas.microsoft.com/office/drawing/2014/main" id="{E8FA7827-E48B-F99B-8BA7-AFCC4BC180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4556" y="2370852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④从队列读取第一个消息</a:t>
            </a:r>
          </a:p>
        </p:txBody>
      </p:sp>
    </p:spTree>
    <p:extLst>
      <p:ext uri="{BB962C8B-B14F-4D97-AF65-F5344CB8AC3E}">
        <p14:creationId xmlns:p14="http://schemas.microsoft.com/office/powerpoint/2010/main" val="40628110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367F-E035-6920-881F-B3814FD1C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1D9A851-2233-1614-D370-A6E0C4CB0B6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B6F8427-7833-9EFF-BEE1-AC9449A6D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205" y="92997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2">
            <a:extLst>
              <a:ext uri="{FF2B5EF4-FFF2-40B4-BE49-F238E27FC236}">
                <a16:creationId xmlns:a16="http://schemas.microsoft.com/office/drawing/2014/main" id="{9B5627FD-E3EA-D741-B1C3-E22C48B17031}"/>
              </a:ext>
            </a:extLst>
          </p:cNvPr>
          <p:cNvGrpSpPr>
            <a:grpSpLocks/>
          </p:cNvGrpSpPr>
          <p:nvPr/>
        </p:nvGrpSpPr>
        <p:grpSpPr bwMode="auto">
          <a:xfrm>
            <a:off x="3718242" y="937916"/>
            <a:ext cx="7832726" cy="4062332"/>
            <a:chOff x="301752" y="1252526"/>
            <a:chExt cx="7832349" cy="4061489"/>
          </a:xfrm>
        </p:grpSpPr>
        <p:sp>
          <p:nvSpPr>
            <p:cNvPr id="10" name="文本框 68">
              <a:extLst>
                <a:ext uri="{FF2B5EF4-FFF2-40B4-BE49-F238E27FC236}">
                  <a16:creationId xmlns:a16="http://schemas.microsoft.com/office/drawing/2014/main" id="{999C870E-1A24-2C69-7033-5E79DC81D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17" y="1252527"/>
              <a:ext cx="7765484" cy="406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QueueDefinition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pcHead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存储区域的起始地址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pcWriteTo;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下一个写入的位置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union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{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QueuePointers_t     xQueue;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SemaphoreData_t  xSemaphore;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} u ;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List_t xTasksWaitingToSend;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等待发送列表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List_t xTasksWaitingToReceive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等待接收列表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volatile UBaseType_t uxMessagesWaiting;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非空闲队列项目的数量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uxLength；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队列长度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uxItemSize;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队列项目的大小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volatile int8_t cRxLock;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读取上锁计数器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int8_t cTxLock；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/*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其他的一些条件编译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xQUEUE;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CA21E6A-1784-C33E-0447-35F75C94F9C3}"/>
                </a:ext>
              </a:extLst>
            </p:cNvPr>
            <p:cNvSpPr/>
            <p:nvPr/>
          </p:nvSpPr>
          <p:spPr>
            <a:xfrm>
              <a:off x="301752" y="1252526"/>
              <a:ext cx="7593128" cy="406148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14179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53C9-ECEE-F24B-CCE8-90E896220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236BAF5-29F9-B5DC-C5DC-7F9A91C905D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6AB8B8C-F19F-EBA4-368A-D4F8F03D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5833" y="109544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，队列结构体介绍（熟悉）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6">
            <a:extLst>
              <a:ext uri="{FF2B5EF4-FFF2-40B4-BE49-F238E27FC236}">
                <a16:creationId xmlns:a16="http://schemas.microsoft.com/office/drawing/2014/main" id="{2BF2E804-F3F4-EEF3-116D-79237F5C5E44}"/>
              </a:ext>
            </a:extLst>
          </p:cNvPr>
          <p:cNvGrpSpPr>
            <a:grpSpLocks/>
          </p:cNvGrpSpPr>
          <p:nvPr/>
        </p:nvGrpSpPr>
        <p:grpSpPr bwMode="auto">
          <a:xfrm>
            <a:off x="1573508" y="1955873"/>
            <a:ext cx="7815041" cy="1063773"/>
            <a:chOff x="577523" y="1391731"/>
            <a:chExt cx="5228917" cy="1015663"/>
          </a:xfrm>
        </p:grpSpPr>
        <p:sp>
          <p:nvSpPr>
            <p:cNvPr id="10" name="文本框 69">
              <a:extLst>
                <a:ext uri="{FF2B5EF4-FFF2-40B4-BE49-F238E27FC236}">
                  <a16:creationId xmlns:a16="http://schemas.microsoft.com/office/drawing/2014/main" id="{3587111A-1707-1C54-5752-CB329960D4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23" y="1391731"/>
              <a:ext cx="5091757" cy="1015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QueuePointers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int8_t * pcTail;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存储区的结束地址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pcReadFrom;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最后一个读取队列的地址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QueuePointers_t;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B586F6C-8B85-2F11-8563-ABF9386CE0BE}"/>
                </a:ext>
              </a:extLst>
            </p:cNvPr>
            <p:cNvSpPr/>
            <p:nvPr/>
          </p:nvSpPr>
          <p:spPr>
            <a:xfrm>
              <a:off x="577523" y="1391731"/>
              <a:ext cx="5228917" cy="1015663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7">
            <a:extLst>
              <a:ext uri="{FF2B5EF4-FFF2-40B4-BE49-F238E27FC236}">
                <a16:creationId xmlns:a16="http://schemas.microsoft.com/office/drawing/2014/main" id="{51486E00-B446-C92E-079F-4F60AD6EC5D7}"/>
              </a:ext>
            </a:extLst>
          </p:cNvPr>
          <p:cNvGrpSpPr>
            <a:grpSpLocks/>
          </p:cNvGrpSpPr>
          <p:nvPr/>
        </p:nvGrpSpPr>
        <p:grpSpPr bwMode="auto">
          <a:xfrm>
            <a:off x="1573508" y="3470349"/>
            <a:ext cx="7974529" cy="1034209"/>
            <a:chOff x="577522" y="2712195"/>
            <a:chExt cx="7974545" cy="1034971"/>
          </a:xfrm>
        </p:grpSpPr>
        <p:sp>
          <p:nvSpPr>
            <p:cNvPr id="13" name="文本框 70">
              <a:extLst>
                <a:ext uri="{FF2B5EF4-FFF2-40B4-BE49-F238E27FC236}">
                  <a16:creationId xmlns:a16="http://schemas.microsoft.com/office/drawing/2014/main" id="{E3352118-EECE-1DAA-B97B-0A61F84D67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24" y="2730755"/>
              <a:ext cx="7974543" cy="10164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SemaphoreData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TaskHandle_t xMutexHolder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互斥信号量持有者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uxRecursiveCallCount;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递归互斥信号量的获取计数器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SemaphoreData_t;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1EF1EE6-E640-9709-634A-5A0568CFADD5}"/>
                </a:ext>
              </a:extLst>
            </p:cNvPr>
            <p:cNvSpPr/>
            <p:nvPr/>
          </p:nvSpPr>
          <p:spPr>
            <a:xfrm>
              <a:off x="577522" y="2712195"/>
              <a:ext cx="7815056" cy="96700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5" name="文本框 8">
            <a:extLst>
              <a:ext uri="{FF2B5EF4-FFF2-40B4-BE49-F238E27FC236}">
                <a16:creationId xmlns:a16="http://schemas.microsoft.com/office/drawing/2014/main" id="{2E154D2D-F952-11AC-E5D6-7B3FAE9BE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4133" y="162091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当用于队列使用时：</a:t>
            </a:r>
          </a:p>
        </p:txBody>
      </p:sp>
      <p:sp>
        <p:nvSpPr>
          <p:cNvPr id="16" name="文本框 19">
            <a:extLst>
              <a:ext uri="{FF2B5EF4-FFF2-40B4-BE49-F238E27FC236}">
                <a16:creationId xmlns:a16="http://schemas.microsoft.com/office/drawing/2014/main" id="{688738AF-B60D-B9CA-3745-5EB0DA510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4133" y="3152849"/>
            <a:ext cx="4616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当用于互斥信号量和递归互斥信号量时 ：</a:t>
            </a:r>
          </a:p>
        </p:txBody>
      </p:sp>
    </p:spTree>
    <p:extLst>
      <p:ext uri="{BB962C8B-B14F-4D97-AF65-F5344CB8AC3E}">
        <p14:creationId xmlns:p14="http://schemas.microsoft.com/office/powerpoint/2010/main" val="7759631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9726-26AF-449A-B835-1855D170C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7D072C5-0850-5F06-3E1B-B249A21E4DA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D0609884-CEEA-9A0A-1333-BFEE5E976D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447" y="79984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4" name="组合 117">
            <a:extLst>
              <a:ext uri="{FF2B5EF4-FFF2-40B4-BE49-F238E27FC236}">
                <a16:creationId xmlns:a16="http://schemas.microsoft.com/office/drawing/2014/main" id="{3D506C79-C2CE-D84A-1B82-89B4B06991F7}"/>
              </a:ext>
            </a:extLst>
          </p:cNvPr>
          <p:cNvGrpSpPr>
            <a:grpSpLocks/>
          </p:cNvGrpSpPr>
          <p:nvPr/>
        </p:nvGrpSpPr>
        <p:grpSpPr bwMode="auto">
          <a:xfrm>
            <a:off x="3609384" y="1814254"/>
            <a:ext cx="4359275" cy="3832225"/>
            <a:chOff x="3244469" y="912528"/>
            <a:chExt cx="4359793" cy="383265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667836D-8B0D-5263-0F98-E62CCD55808A}"/>
                </a:ext>
              </a:extLst>
            </p:cNvPr>
            <p:cNvSpPr/>
            <p:nvPr/>
          </p:nvSpPr>
          <p:spPr>
            <a:xfrm>
              <a:off x="3666794" y="917292"/>
              <a:ext cx="1873473" cy="381518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C879C8F-876E-9EF5-8F6C-C3EBA591BA41}"/>
                </a:ext>
              </a:extLst>
            </p:cNvPr>
            <p:cNvSpPr/>
            <p:nvPr/>
          </p:nvSpPr>
          <p:spPr>
            <a:xfrm>
              <a:off x="3658856" y="1869898"/>
              <a:ext cx="1881411" cy="2872107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BC48361-C68D-1EA2-2811-642334F10E98}"/>
                </a:ext>
              </a:extLst>
            </p:cNvPr>
            <p:cNvSpPr/>
            <p:nvPr/>
          </p:nvSpPr>
          <p:spPr>
            <a:xfrm>
              <a:off x="3669970" y="912528"/>
              <a:ext cx="1875061" cy="949431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8" name="文本框 56">
              <a:extLst>
                <a:ext uri="{FF2B5EF4-FFF2-40B4-BE49-F238E27FC236}">
                  <a16:creationId xmlns:a16="http://schemas.microsoft.com/office/drawing/2014/main" id="{269EE17E-A568-7C80-5F86-B65687F9A6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2808966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uxLength = 4</a:t>
              </a:r>
              <a:endPara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9" name="文本框 57">
              <a:extLst>
                <a:ext uri="{FF2B5EF4-FFF2-40B4-BE49-F238E27FC236}">
                  <a16:creationId xmlns:a16="http://schemas.microsoft.com/office/drawing/2014/main" id="{D72F96CC-8D35-11E7-FFD0-FC8BF8E8FF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08854" y="449895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pcHead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0" name="文本框 58">
              <a:extLst>
                <a:ext uri="{FF2B5EF4-FFF2-40B4-BE49-F238E27FC236}">
                  <a16:creationId xmlns:a16="http://schemas.microsoft.com/office/drawing/2014/main" id="{52693A80-4D0D-3F1E-1AC6-67D0961CAD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422749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pcWriteTo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文本框 59">
              <a:extLst>
                <a:ext uri="{FF2B5EF4-FFF2-40B4-BE49-F238E27FC236}">
                  <a16:creationId xmlns:a16="http://schemas.microsoft.com/office/drawing/2014/main" id="{7E64A56D-86B6-32F9-0F7C-5764A40508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3981278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xQueue.pcTail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文本框 61">
              <a:extLst>
                <a:ext uri="{FF2B5EF4-FFF2-40B4-BE49-F238E27FC236}">
                  <a16:creationId xmlns:a16="http://schemas.microsoft.com/office/drawing/2014/main" id="{FF612846-0A73-3352-7DA7-08914C7108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08854" y="3743099"/>
              <a:ext cx="156819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xQueue.pcReadFrom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文本框 63">
              <a:extLst>
                <a:ext uri="{FF2B5EF4-FFF2-40B4-BE49-F238E27FC236}">
                  <a16:creationId xmlns:a16="http://schemas.microsoft.com/office/drawing/2014/main" id="{03211B4A-843E-8CC6-8B15-4823BC135C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035" y="3518929"/>
              <a:ext cx="1578578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xTasksWaitingToSend</a:t>
              </a:r>
            </a:p>
          </p:txBody>
        </p:sp>
        <p:sp>
          <p:nvSpPr>
            <p:cNvPr id="14" name="文本框 65">
              <a:extLst>
                <a:ext uri="{FF2B5EF4-FFF2-40B4-BE49-F238E27FC236}">
                  <a16:creationId xmlns:a16="http://schemas.microsoft.com/office/drawing/2014/main" id="{CEA0DB6A-5D4B-49F7-9E3A-999CB9D4BF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2451" y="3296594"/>
              <a:ext cx="1765745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xTasksWaitingToReceive</a:t>
              </a:r>
            </a:p>
          </p:txBody>
        </p:sp>
        <p:sp>
          <p:nvSpPr>
            <p:cNvPr id="15" name="文本框 67">
              <a:extLst>
                <a:ext uri="{FF2B5EF4-FFF2-40B4-BE49-F238E27FC236}">
                  <a16:creationId xmlns:a16="http://schemas.microsoft.com/office/drawing/2014/main" id="{1DA21FE1-FD93-0105-F846-066E6A7697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035" y="3057976"/>
              <a:ext cx="168214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uxMessagesWaiting = 0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6" name="文本框 68">
              <a:extLst>
                <a:ext uri="{FF2B5EF4-FFF2-40B4-BE49-F238E27FC236}">
                  <a16:creationId xmlns:a16="http://schemas.microsoft.com/office/drawing/2014/main" id="{7711A3AD-8535-E86B-529E-8449FD184D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6140" y="2556312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 = 32</a:t>
              </a:r>
              <a:endPara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7" name="文本框 70">
              <a:extLst>
                <a:ext uri="{FF2B5EF4-FFF2-40B4-BE49-F238E27FC236}">
                  <a16:creationId xmlns:a16="http://schemas.microsoft.com/office/drawing/2014/main" id="{4FE4B0D7-2FC0-FE3D-7A09-550126F9BB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6410" y="2336350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cRxLock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8" name="文本框 71">
              <a:extLst>
                <a:ext uri="{FF2B5EF4-FFF2-40B4-BE49-F238E27FC236}">
                  <a16:creationId xmlns:a16="http://schemas.microsoft.com/office/drawing/2014/main" id="{CC04F579-FFAC-787F-DD01-4D4FBBD876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6410" y="211050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cTxLock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9" name="文本框 72">
              <a:extLst>
                <a:ext uri="{FF2B5EF4-FFF2-40B4-BE49-F238E27FC236}">
                  <a16:creationId xmlns:a16="http://schemas.microsoft.com/office/drawing/2014/main" id="{6901528C-C405-16E7-67FB-2C55055EED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8499" y="189641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其他成员变量（视条件编译而定）</a:t>
              </a: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A1BAC16D-4708-D7BD-6E3D-39243A4BCF0C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00691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0BF617C1-7B49-6985-AC14-DD2FE434B4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5321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B22A8986-522E-4781-CDC3-1ADB55D0349D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294043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D217F215-BE9B-9540-1A3A-46D8C32D4CF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76875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C52779A7-1ADE-BF79-B78B-6F229C6EB961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24506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D5432CD4-ABBB-C1C6-3706-45F5E1A27CA8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48162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B650E55C-8EBB-BE31-8DA2-252340C5D2AC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34302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6257BB9-E370-AB78-3FBE-726A52B4C0C9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819328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1FE162A6-CDD0-8B4E-66DC-5B7E277A3333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63174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023EB67-9FB1-64A4-EA66-C190C208CA20}"/>
                </a:ext>
              </a:extLst>
            </p:cNvPr>
            <p:cNvCxnSpPr>
              <a:cxnSpLocks/>
            </p:cNvCxnSpPr>
            <p:nvPr/>
          </p:nvCxnSpPr>
          <p:spPr>
            <a:xfrm>
              <a:off x="3673145" y="116338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AB12265A-EAEC-6B62-E28D-AD478B1177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3935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44D2FA73-5A6A-93C8-6DDC-9F92C8549CB5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86830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5A8AFCED-1F81-B16F-2D5A-42CEED53B127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10646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ACC60F3-5A59-CE7B-EDE1-602EDCF22D52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581177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22CCC03-F9DE-6FD7-7AE6-EFDF05189D7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05589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91">
              <a:extLst>
                <a:ext uri="{FF2B5EF4-FFF2-40B4-BE49-F238E27FC236}">
                  <a16:creationId xmlns:a16="http://schemas.microsoft.com/office/drawing/2014/main" id="{44AD63F6-3C8D-81FE-F6CC-D86CF79D62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621809"/>
              <a:ext cx="132798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1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6" name="文本框 92">
              <a:extLst>
                <a:ext uri="{FF2B5EF4-FFF2-40B4-BE49-F238E27FC236}">
                  <a16:creationId xmlns:a16="http://schemas.microsoft.com/office/drawing/2014/main" id="{9268711E-85B3-7715-F1A3-E487E4338F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391924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7" name="文本框 93">
              <a:extLst>
                <a:ext uri="{FF2B5EF4-FFF2-40B4-BE49-F238E27FC236}">
                  <a16:creationId xmlns:a16="http://schemas.microsoft.com/office/drawing/2014/main" id="{63A4B2AF-FDEA-96D2-386B-689F93757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164735"/>
              <a:ext cx="1686313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8" name="文本框 94">
              <a:extLst>
                <a:ext uri="{FF2B5EF4-FFF2-40B4-BE49-F238E27FC236}">
                  <a16:creationId xmlns:a16="http://schemas.microsoft.com/office/drawing/2014/main" id="{A6BF8FBE-55A5-FAB7-3A3B-E56F64A36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935665"/>
              <a:ext cx="162839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4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BFB8DB18-DB2A-DC48-0C8C-A585C9F1DC1A}"/>
                </a:ext>
              </a:extLst>
            </p:cNvPr>
            <p:cNvCxnSpPr/>
            <p:nvPr/>
          </p:nvCxnSpPr>
          <p:spPr>
            <a:xfrm flipH="1">
              <a:off x="3261934" y="4589588"/>
              <a:ext cx="411211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1E5C18CA-39BF-C8CE-87E8-A52949DF95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4469" y="1861959"/>
              <a:ext cx="17465" cy="272762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4A40E642-B54F-12D2-AD15-D5312B0E8768}"/>
                </a:ext>
              </a:extLst>
            </p:cNvPr>
            <p:cNvCxnSpPr>
              <a:cxnSpLocks/>
            </p:cNvCxnSpPr>
            <p:nvPr/>
          </p:nvCxnSpPr>
          <p:spPr>
            <a:xfrm>
              <a:off x="3244469" y="1861959"/>
              <a:ext cx="42232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0E8D46C-260A-5C0D-0CC3-031C269711F3}"/>
                </a:ext>
              </a:extLst>
            </p:cNvPr>
            <p:cNvCxnSpPr>
              <a:cxnSpLocks/>
            </p:cNvCxnSpPr>
            <p:nvPr/>
          </p:nvCxnSpPr>
          <p:spPr>
            <a:xfrm>
              <a:off x="3434992" y="4359375"/>
              <a:ext cx="238153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DA6D661-562B-9B36-3CE7-0F9C1887F1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3916" y="1163381"/>
              <a:ext cx="36199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8FD8FAF9-39AA-B6A8-9DBF-80D65DBE76E0}"/>
                </a:ext>
              </a:extLst>
            </p:cNvPr>
            <p:cNvCxnSpPr>
              <a:cxnSpLocks/>
            </p:cNvCxnSpPr>
            <p:nvPr/>
          </p:nvCxnSpPr>
          <p:spPr>
            <a:xfrm>
              <a:off x="3434992" y="1869898"/>
              <a:ext cx="0" cy="248947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9B5851FC-E0A3-2F9B-E018-E68220819093}"/>
                </a:ext>
              </a:extLst>
            </p:cNvPr>
            <p:cNvCxnSpPr/>
            <p:nvPr/>
          </p:nvCxnSpPr>
          <p:spPr>
            <a:xfrm>
              <a:off x="5533916" y="3897361"/>
              <a:ext cx="35564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FBFAB43D-FB2C-2CD7-BE8A-33F076AD8D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9558" y="1163381"/>
              <a:ext cx="6351" cy="273398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2E7F98B9-3844-830E-3DBD-DC547F7F905F}"/>
                </a:ext>
              </a:extLst>
            </p:cNvPr>
            <p:cNvCxnSpPr>
              <a:cxnSpLocks/>
            </p:cNvCxnSpPr>
            <p:nvPr/>
          </p:nvCxnSpPr>
          <p:spPr>
            <a:xfrm>
              <a:off x="5540267" y="4137100"/>
              <a:ext cx="60173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AA8C540B-5E25-4C63-A449-014906D32C08}"/>
                </a:ext>
              </a:extLst>
            </p:cNvPr>
            <p:cNvCxnSpPr/>
            <p:nvPr/>
          </p:nvCxnSpPr>
          <p:spPr>
            <a:xfrm flipV="1">
              <a:off x="6142001" y="912528"/>
              <a:ext cx="0" cy="322457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130EE8B4-BE6C-3911-4BC7-B0505ABAC2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3916" y="912528"/>
              <a:ext cx="60808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右大括号 49">
              <a:extLst>
                <a:ext uri="{FF2B5EF4-FFF2-40B4-BE49-F238E27FC236}">
                  <a16:creationId xmlns:a16="http://schemas.microsoft.com/office/drawing/2014/main" id="{63C562F6-A2BD-DD18-ABB0-31429A088D2A}"/>
                </a:ext>
              </a:extLst>
            </p:cNvPr>
            <p:cNvSpPr/>
            <p:nvPr/>
          </p:nvSpPr>
          <p:spPr>
            <a:xfrm>
              <a:off x="6321410" y="912528"/>
              <a:ext cx="271495" cy="949431"/>
            </a:xfrm>
            <a:prstGeom prst="rightBrac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1" name="右大括号 50">
              <a:extLst>
                <a:ext uri="{FF2B5EF4-FFF2-40B4-BE49-F238E27FC236}">
                  <a16:creationId xmlns:a16="http://schemas.microsoft.com/office/drawing/2014/main" id="{E7138E41-3742-D9D4-330D-9465715BEC44}"/>
                </a:ext>
              </a:extLst>
            </p:cNvPr>
            <p:cNvSpPr/>
            <p:nvPr/>
          </p:nvSpPr>
          <p:spPr>
            <a:xfrm>
              <a:off x="6327760" y="1869898"/>
              <a:ext cx="339765" cy="2862581"/>
            </a:xfrm>
            <a:prstGeom prst="rightBrac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rgbClr val="FFC000"/>
                </a:solidFill>
              </a:endParaRPr>
            </a:p>
          </p:txBody>
        </p: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ACCA475F-AE66-8AC3-9123-2CF80950EA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18039" y="912528"/>
              <a:ext cx="803370" cy="7939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2506DDE-0386-BD32-493C-60EBF17E527B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>
              <a:off x="5524390" y="1869898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E5E89467-1432-3CC5-3D1F-8EFBFBC7BD5F}"/>
                </a:ext>
              </a:extLst>
            </p:cNvPr>
            <p:cNvCxnSpPr>
              <a:cxnSpLocks/>
            </p:cNvCxnSpPr>
            <p:nvPr/>
          </p:nvCxnSpPr>
          <p:spPr>
            <a:xfrm>
              <a:off x="5548206" y="4732479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5" name="文本框 155">
              <a:extLst>
                <a:ext uri="{FF2B5EF4-FFF2-40B4-BE49-F238E27FC236}">
                  <a16:creationId xmlns:a16="http://schemas.microsoft.com/office/drawing/2014/main" id="{645BB20A-DE0C-7207-EDFF-7925697DE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3920" y="1210901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队列项（消息）</a:t>
              </a:r>
              <a:endPara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</a:t>
              </a:r>
            </a:p>
          </p:txBody>
        </p:sp>
        <p:sp>
          <p:nvSpPr>
            <p:cNvPr id="56" name="文本框 156">
              <a:extLst>
                <a:ext uri="{FF2B5EF4-FFF2-40B4-BE49-F238E27FC236}">
                  <a16:creationId xmlns:a16="http://schemas.microsoft.com/office/drawing/2014/main" id="{6918AEAF-F9A7-8750-C929-6B52C93590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6471" y="3146808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队列结构体</a:t>
              </a:r>
              <a:endPara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</a:t>
              </a:r>
            </a:p>
          </p:txBody>
        </p:sp>
      </p:grpSp>
      <p:sp>
        <p:nvSpPr>
          <p:cNvPr id="57" name="文本框 2">
            <a:extLst>
              <a:ext uri="{FF2B5EF4-FFF2-40B4-BE49-F238E27FC236}">
                <a16:creationId xmlns:a16="http://schemas.microsoft.com/office/drawing/2014/main" id="{CD8007CC-F620-19A2-1312-59F8F9294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209" y="1336417"/>
            <a:ext cx="2159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队列结构体整体示意图：</a:t>
            </a:r>
          </a:p>
        </p:txBody>
      </p:sp>
    </p:spTree>
    <p:extLst>
      <p:ext uri="{BB962C8B-B14F-4D97-AF65-F5344CB8AC3E}">
        <p14:creationId xmlns:p14="http://schemas.microsoft.com/office/powerpoint/2010/main" val="17804434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0E65E-2551-DC5C-FDD7-2336B072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F09A099-4858-B0DE-46AE-6E339219A77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1CD1D32-EDC5-2460-CFB4-FBE3B8502F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8229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DCD7B97E-EF2A-A748-4237-091E7881F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115434"/>
              </p:ext>
            </p:extLst>
          </p:nvPr>
        </p:nvGraphicFramePr>
        <p:xfrm>
          <a:off x="1800816" y="2639385"/>
          <a:ext cx="5065713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动态方式创建队列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静态方式创建队列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文本框 14">
            <a:extLst>
              <a:ext uri="{FF2B5EF4-FFF2-40B4-BE49-F238E27FC236}">
                <a16:creationId xmlns:a16="http://schemas.microsoft.com/office/drawing/2014/main" id="{B9ADF6DB-E528-C9C1-F8A3-6DF6B6635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0654" y="1664660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使用队列的主要流程：创建队列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读队列。</a:t>
            </a:r>
          </a:p>
        </p:txBody>
      </p:sp>
      <p:sp>
        <p:nvSpPr>
          <p:cNvPr id="11" name="文本框 16">
            <a:extLst>
              <a:ext uri="{FF2B5EF4-FFF2-40B4-BE49-F238E27FC236}">
                <a16:creationId xmlns:a16="http://schemas.microsoft.com/office/drawing/2014/main" id="{65CAEC98-4112-7A21-03F6-76D93110C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129" y="210122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创建队列相关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函数介绍：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84CDBC1F-8926-C8B4-7D04-250EC82D4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129" y="3645860"/>
            <a:ext cx="8140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动态和静态创建队列之间的区别：队列所需的内存空间由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管理的堆中分配，而静态创建需要用户自行分配内存。</a:t>
            </a:r>
          </a:p>
        </p:txBody>
      </p:sp>
    </p:spTree>
    <p:extLst>
      <p:ext uri="{BB962C8B-B14F-4D97-AF65-F5344CB8AC3E}">
        <p14:creationId xmlns:p14="http://schemas.microsoft.com/office/powerpoint/2010/main" val="35240963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F31C9-70DC-6B18-786D-3E09FF3A3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A2C3C96-0711-73B3-00A4-5FB2C361DE4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38D2262F-E83A-80A8-3CDD-7666A2D8B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6587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2">
            <a:extLst>
              <a:ext uri="{FF2B5EF4-FFF2-40B4-BE49-F238E27FC236}">
                <a16:creationId xmlns:a16="http://schemas.microsoft.com/office/drawing/2014/main" id="{73AF8695-624D-03A2-9864-E92D43E0E17D}"/>
              </a:ext>
            </a:extLst>
          </p:cNvPr>
          <p:cNvGrpSpPr>
            <a:grpSpLocks/>
          </p:cNvGrpSpPr>
          <p:nvPr/>
        </p:nvGrpSpPr>
        <p:grpSpPr bwMode="auto">
          <a:xfrm>
            <a:off x="1738387" y="1723152"/>
            <a:ext cx="9712878" cy="982834"/>
            <a:chOff x="376238" y="3227832"/>
            <a:chExt cx="8767762" cy="1012007"/>
          </a:xfrm>
        </p:grpSpPr>
        <p:sp>
          <p:nvSpPr>
            <p:cNvPr id="10" name="文本框 13">
              <a:extLst>
                <a:ext uri="{FF2B5EF4-FFF2-40B4-BE49-F238E27FC236}">
                  <a16:creationId xmlns:a16="http://schemas.microsoft.com/office/drawing/2014/main" id="{F8844139-7C1F-AB90-C196-71BC59A07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238" y="3334849"/>
              <a:ext cx="8767762" cy="9049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(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   						 \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</a:t>
              </a:r>
            </a:p>
            <a:p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 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xQueueGenericCreate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),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), (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queueQUEUE_TYPE_BASE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)) 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25FFB89-73E4-3941-5BFB-557F695FE218}"/>
                </a:ext>
              </a:extLst>
            </p:cNvPr>
            <p:cNvSpPr/>
            <p:nvPr/>
          </p:nvSpPr>
          <p:spPr>
            <a:xfrm>
              <a:off x="376238" y="3227832"/>
              <a:ext cx="8685804" cy="89975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93B0DFD7-2D9D-D516-541D-DDF3D8562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317061"/>
              </p:ext>
            </p:extLst>
          </p:nvPr>
        </p:nvGraphicFramePr>
        <p:xfrm>
          <a:off x="1738387" y="3159840"/>
          <a:ext cx="5065712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队列长度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uxItemSize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队列项目的大小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表格 6">
            <a:extLst>
              <a:ext uri="{FF2B5EF4-FFF2-40B4-BE49-F238E27FC236}">
                <a16:creationId xmlns:a16="http://schemas.microsoft.com/office/drawing/2014/main" id="{CE7B5067-CC8F-F565-E2DC-F0BDD61A2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40839"/>
              </p:ext>
            </p:extLst>
          </p:nvPr>
        </p:nvGraphicFramePr>
        <p:xfrm>
          <a:off x="1738387" y="4185365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队列创建成功，返回队列句柄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48410A78-6E24-E459-5F5D-D18AFD8600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0124" y="2629615"/>
            <a:ext cx="8385175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此函数用于使用动态方式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创建队列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，队列所需的内存空间由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管理的堆中分配 </a:t>
            </a:r>
          </a:p>
        </p:txBody>
      </p:sp>
    </p:spTree>
    <p:extLst>
      <p:ext uri="{BB962C8B-B14F-4D97-AF65-F5344CB8AC3E}">
        <p14:creationId xmlns:p14="http://schemas.microsoft.com/office/powerpoint/2010/main" val="21070106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49AB1-1C92-166F-B404-9AA2A464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3251BE4-42C0-E9C4-6C74-017E71707CF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B8FB2E3-1DAA-B616-8586-CE89224324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555" y="104228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594C9FF-CDC4-AB91-6899-5BE1DC1DD70F}"/>
              </a:ext>
            </a:extLst>
          </p:cNvPr>
          <p:cNvGrpSpPr>
            <a:grpSpLocks/>
          </p:cNvGrpSpPr>
          <p:nvPr/>
        </p:nvGrpSpPr>
        <p:grpSpPr bwMode="auto">
          <a:xfrm>
            <a:off x="1937305" y="2128136"/>
            <a:ext cx="9662816" cy="1727200"/>
            <a:chOff x="542131" y="1235022"/>
            <a:chExt cx="9661791" cy="1725665"/>
          </a:xfrm>
        </p:grpSpPr>
        <p:sp>
          <p:nvSpPr>
            <p:cNvPr id="10" name="文本框 12">
              <a:extLst>
                <a:ext uri="{FF2B5EF4-FFF2-40B4-BE49-F238E27FC236}">
                  <a16:creationId xmlns:a16="http://schemas.microsoft.com/office/drawing/2014/main" id="{456A1227-F5A7-5866-0633-B101EFAEF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9661791" cy="17201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FAF7B742-FECE-CEAE-2FAF-69D2612C5614}"/>
                </a:ext>
              </a:extLst>
            </p:cNvPr>
            <p:cNvSpPr/>
            <p:nvPr/>
          </p:nvSpPr>
          <p:spPr>
            <a:xfrm>
              <a:off x="542131" y="1235022"/>
              <a:ext cx="9225902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7">
            <a:extLst>
              <a:ext uri="{FF2B5EF4-FFF2-40B4-BE49-F238E27FC236}">
                <a16:creationId xmlns:a16="http://schemas.microsoft.com/office/drawing/2014/main" id="{9C659063-89EF-AA71-18E8-4C01C7EEA8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455" y="1610611"/>
            <a:ext cx="8162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前面说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基于队列实现了多种功能，每一种功能对应一种队列类型，队列类型的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queue.h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文件中有定义：</a:t>
            </a:r>
          </a:p>
        </p:txBody>
      </p:sp>
    </p:spTree>
    <p:extLst>
      <p:ext uri="{BB962C8B-B14F-4D97-AF65-F5344CB8AC3E}">
        <p14:creationId xmlns:p14="http://schemas.microsoft.com/office/powerpoint/2010/main" val="427498604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7B05-A88A-5606-C335-C6543D18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85CE65B-2BF1-6D6B-B7B7-B0AEE3C1F99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F7EA9A0-86FA-6779-19D0-7A02BB71CF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810" y="101570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8CCBE80E-59C1-4412-9FBA-E56C96464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235" y="1591967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写入消息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12B05674-9FB3-E05F-EF68-BC8C131EF9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542934"/>
              </p:ext>
            </p:extLst>
          </p:nvPr>
        </p:nvGraphicFramePr>
        <p:xfrm>
          <a:off x="1875022" y="2012654"/>
          <a:ext cx="5784850" cy="2378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3" marR="6859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xQueueSendToBack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同 </a:t>
                      </a: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xQueueSend()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xQueueSendToFront()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xQueueOverwrite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xQueueSendToBackFromISR()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同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xQueueSendToFrontFromISR()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xQueueOverwriteFromISR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6672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6B72A-2477-52AC-D3DD-921B4A47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263E4E3-49A2-CCED-F793-359E2FAA846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5126742-0A22-C886-722A-E5F4748D09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2670" y="101038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E240F00A-4219-F928-5CF3-889EA560E0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5095" y="1529501"/>
            <a:ext cx="1804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队列写入消息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C3808819-F494-6B53-3C9A-393D5E543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18438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1" name="文本框 15">
            <a:extLst>
              <a:ext uri="{FF2B5EF4-FFF2-40B4-BE49-F238E27FC236}">
                <a16:creationId xmlns:a16="http://schemas.microsoft.com/office/drawing/2014/main" id="{67C318AA-915C-13AF-FC4A-F947185063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25804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xQueueSendToBack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\   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2" name="文本框 16">
            <a:extLst>
              <a:ext uri="{FF2B5EF4-FFF2-40B4-BE49-F238E27FC236}">
                <a16:creationId xmlns:a16="http://schemas.microsoft.com/office/drawing/2014/main" id="{80A6137D-F20D-E5CD-796D-41CA3827B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4" y="3315437"/>
            <a:ext cx="1059944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xQueueSendToFront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queueSEND_TO_FRONT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3" name="文本框 17">
            <a:extLst>
              <a:ext uri="{FF2B5EF4-FFF2-40B4-BE49-F238E27FC236}">
                <a16:creationId xmlns:a16="http://schemas.microsoft.com/office/drawing/2014/main" id="{356DE051-AF03-899A-2925-3B3B51A4BD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4098742"/>
            <a:ext cx="11620168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 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0,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</a:p>
        </p:txBody>
      </p:sp>
      <p:sp>
        <p:nvSpPr>
          <p:cNvPr id="14" name="文本框 18">
            <a:extLst>
              <a:ext uri="{FF2B5EF4-FFF2-40B4-BE49-F238E27FC236}">
                <a16:creationId xmlns:a16="http://schemas.microsoft.com/office/drawing/2014/main" id="{3D6C1035-5EAC-E588-F63E-9CC4C46D8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4871856"/>
            <a:ext cx="8224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可以看到这几个写入函数调用的是同一个函数xQueueGenericSend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，只是指定了不同的写入位置！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CEA70B8-57F6-F2B2-F3EB-CCBD813242AE}"/>
              </a:ext>
            </a:extLst>
          </p:cNvPr>
          <p:cNvSpPr/>
          <p:nvPr/>
        </p:nvSpPr>
        <p:spPr>
          <a:xfrm>
            <a:off x="1463195" y="1843826"/>
            <a:ext cx="10588330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167F251-A569-4269-BCE2-DE933A4DFE2A}"/>
              </a:ext>
            </a:extLst>
          </p:cNvPr>
          <p:cNvSpPr/>
          <p:nvPr/>
        </p:nvSpPr>
        <p:spPr>
          <a:xfrm>
            <a:off x="1458432" y="2591538"/>
            <a:ext cx="1059309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021790A-2D53-F14F-D096-392F1D62CE60}"/>
              </a:ext>
            </a:extLst>
          </p:cNvPr>
          <p:cNvSpPr/>
          <p:nvPr/>
        </p:nvSpPr>
        <p:spPr>
          <a:xfrm>
            <a:off x="1464782" y="3320201"/>
            <a:ext cx="10593093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F99332-1E27-A0A2-1876-F006E50EF5E6}"/>
              </a:ext>
            </a:extLst>
          </p:cNvPr>
          <p:cNvSpPr/>
          <p:nvPr/>
        </p:nvSpPr>
        <p:spPr>
          <a:xfrm>
            <a:off x="1458432" y="4095568"/>
            <a:ext cx="1059944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98577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3" grpId="0"/>
      <p:bldP spid="14" grpId="0"/>
      <p:bldP spid="1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C2EFD-B19A-99AA-8901-B8619F62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BF41E33-A6DF-DD60-6A5B-260619DC19D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86F93E9-C303-F551-C867-1686136C98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400" y="112203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8683536-FA3F-5935-8C9D-B17CAEA66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775" y="1657018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队列一共有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种写入位置 ：</a:t>
            </a:r>
          </a:p>
        </p:txBody>
      </p:sp>
      <p:grpSp>
        <p:nvGrpSpPr>
          <p:cNvPr id="10" name="组合 6">
            <a:extLst>
              <a:ext uri="{FF2B5EF4-FFF2-40B4-BE49-F238E27FC236}">
                <a16:creationId xmlns:a16="http://schemas.microsoft.com/office/drawing/2014/main" id="{EE43F1B7-8521-C0C3-D80B-0AC7BEE1FF9D}"/>
              </a:ext>
            </a:extLst>
          </p:cNvPr>
          <p:cNvGrpSpPr>
            <a:grpSpLocks/>
          </p:cNvGrpSpPr>
          <p:nvPr/>
        </p:nvGrpSpPr>
        <p:grpSpPr bwMode="auto">
          <a:xfrm>
            <a:off x="1966100" y="2193593"/>
            <a:ext cx="9687184" cy="1070602"/>
            <a:chOff x="642937" y="1542232"/>
            <a:chExt cx="6910388" cy="971550"/>
          </a:xfrm>
        </p:grpSpPr>
        <p:sp>
          <p:nvSpPr>
            <p:cNvPr id="11" name="文本框 12">
              <a:extLst>
                <a:ext uri="{FF2B5EF4-FFF2-40B4-BE49-F238E27FC236}">
                  <a16:creationId xmlns:a16="http://schemas.microsoft.com/office/drawing/2014/main" id="{55CE1302-B402-C4F1-0B3B-BD717876CF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937" y="1580673"/>
              <a:ext cx="6910388" cy="8946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queueSEND_TO_BACK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0 )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写入队列尾部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queueSEND_TO_FRONT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1 )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写入队列头部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queueOVERWRITE   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2 )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覆写队列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668292C-9374-8B98-5297-F886CABB4D74}"/>
                </a:ext>
              </a:extLst>
            </p:cNvPr>
            <p:cNvSpPr/>
            <p:nvPr/>
          </p:nvSpPr>
          <p:spPr>
            <a:xfrm>
              <a:off x="642937" y="1542232"/>
              <a:ext cx="6886576" cy="9715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6">
            <a:extLst>
              <a:ext uri="{FF2B5EF4-FFF2-40B4-BE49-F238E27FC236}">
                <a16:creationId xmlns:a16="http://schemas.microsoft.com/office/drawing/2014/main" id="{1436C034-830A-DE69-A574-BE168160B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775" y="3495343"/>
            <a:ext cx="72183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注意：覆写方式写入队列，只有在队列的队列长度为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时，才能够使用 </a:t>
            </a:r>
          </a:p>
        </p:txBody>
      </p:sp>
    </p:spTree>
    <p:extLst>
      <p:ext uri="{BB962C8B-B14F-4D97-AF65-F5344CB8AC3E}">
        <p14:creationId xmlns:p14="http://schemas.microsoft.com/office/powerpoint/2010/main" val="34284058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5B947-C4C8-76B5-F42D-660A55B3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E3EB0DF-C9D4-8451-85C4-E10AA25FABF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9E616E1-3410-D22B-F672-B32EEB10FF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299" y="87216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F52F0858-24D4-BF08-B236-913BD8945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407946"/>
              </p:ext>
            </p:extLst>
          </p:nvPr>
        </p:nvGraphicFramePr>
        <p:xfrm>
          <a:off x="2045624" y="3005765"/>
          <a:ext cx="4935537" cy="127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4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  <a:endParaRPr lang="en-US" altLang="zh-CN" sz="11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68591" marR="68591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1" marR="68591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待写入的队列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pvItemToQueue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待写入消息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xCopyPosition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写入的位置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" name="组合 2">
            <a:extLst>
              <a:ext uri="{FF2B5EF4-FFF2-40B4-BE49-F238E27FC236}">
                <a16:creationId xmlns:a16="http://schemas.microsoft.com/office/drawing/2014/main" id="{5D6650A6-AC83-9122-6390-07E2F378AC14}"/>
              </a:ext>
            </a:extLst>
          </p:cNvPr>
          <p:cNvGrpSpPr>
            <a:grpSpLocks/>
          </p:cNvGrpSpPr>
          <p:nvPr/>
        </p:nvGrpSpPr>
        <p:grpSpPr bwMode="auto">
          <a:xfrm>
            <a:off x="2045624" y="1686553"/>
            <a:ext cx="9505344" cy="1449387"/>
            <a:chOff x="500062" y="1198563"/>
            <a:chExt cx="6281928" cy="1448666"/>
          </a:xfrm>
        </p:grpSpPr>
        <p:sp>
          <p:nvSpPr>
            <p:cNvPr id="11" name="文本框 14">
              <a:extLst>
                <a:ext uri="{FF2B5EF4-FFF2-40B4-BE49-F238E27FC236}">
                  <a16:creationId xmlns:a16="http://schemas.microsoft.com/office/drawing/2014/main" id="{C80880D4-D844-B9BE-F1B1-E4A82145C3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0062" y="1198563"/>
              <a:ext cx="5784849" cy="1448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     xQueueGenericSend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QueueHandle_t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void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pvItemToQueue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 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xCopyPosition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);</a:t>
              </a:r>
              <a:r>
                <a:rPr lang="en-US" altLang="zh-CN" sz="120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br>
                <a:rPr lang="en-US" altLang="zh-CN" sz="120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B98F57-F628-9972-8E3D-582D7E441023}"/>
                </a:ext>
              </a:extLst>
            </p:cNvPr>
            <p:cNvSpPr/>
            <p:nvPr/>
          </p:nvSpPr>
          <p:spPr>
            <a:xfrm>
              <a:off x="500062" y="1230297"/>
              <a:ext cx="6281928" cy="120590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6">
            <a:extLst>
              <a:ext uri="{FF2B5EF4-FFF2-40B4-BE49-F238E27FC236}">
                <a16:creationId xmlns:a16="http://schemas.microsoft.com/office/drawing/2014/main" id="{71992254-35C4-4186-205F-4D3E33A8C8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386" y="1367465"/>
            <a:ext cx="30575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往队列写入消息函数入口参数解析：</a:t>
            </a:r>
          </a:p>
        </p:txBody>
      </p:sp>
      <p:graphicFrame>
        <p:nvGraphicFramePr>
          <p:cNvPr id="14" name="表格 6">
            <a:extLst>
              <a:ext uri="{FF2B5EF4-FFF2-40B4-BE49-F238E27FC236}">
                <a16:creationId xmlns:a16="http://schemas.microsoft.com/office/drawing/2014/main" id="{500339A1-4D61-9D6B-49E1-C09BE84B0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682184"/>
              </p:ext>
            </p:extLst>
          </p:nvPr>
        </p:nvGraphicFramePr>
        <p:xfrm>
          <a:off x="2045624" y="4342440"/>
          <a:ext cx="4386262" cy="7270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72" marR="68572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72" marR="68572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队列写入成功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errQUEUE_FULL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队列写入失败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17890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D92D-5E09-95DC-1895-0DA0335C9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E9973AE-4FAD-36A5-D6C9-BEF356D85F4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238FC8E-E573-A455-E440-C29EA40D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168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CF72549-7A7F-57C5-609A-8359EEB167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593" y="1629181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从队列读取消息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29FBD5B9-420D-FAC7-813D-7B834A6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70302"/>
              </p:ext>
            </p:extLst>
          </p:nvPr>
        </p:nvGraphicFramePr>
        <p:xfrm>
          <a:off x="1763380" y="2049868"/>
          <a:ext cx="5784850" cy="132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3" marR="6859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xQueueReceive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xQueuePeek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xQueueReceiveFromISR()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xQueuePeekFromISR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4141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BD7-D6BF-FDD2-741D-B29D5963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CC71EF5-50FD-2DD3-4760-E9B62DEFD9C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971CAC1-5EB4-CE07-18B7-22BBC79150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289" y="9572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B227D0B5-FFFA-B839-3098-FDDBEB17C8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5714" y="1924014"/>
            <a:ext cx="8143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此函数用于在任务中，从队列中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，并且消息读取成功后，会将消息从队列中移除。 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9320F854-E341-AA85-8B1D-7C955DC0F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5714" y="1523964"/>
            <a:ext cx="8024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xQueueReceive( QueueHandle_t  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void *   const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pvBuffer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TickType_t  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</a:p>
        </p:txBody>
      </p:sp>
      <p:graphicFrame>
        <p:nvGraphicFramePr>
          <p:cNvPr id="11" name="表格 6">
            <a:extLst>
              <a:ext uri="{FF2B5EF4-FFF2-40B4-BE49-F238E27FC236}">
                <a16:creationId xmlns:a16="http://schemas.microsoft.com/office/drawing/2014/main" id="{FB132B89-C362-6A75-3796-2506C461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532985"/>
              </p:ext>
            </p:extLst>
          </p:nvPr>
        </p:nvGraphicFramePr>
        <p:xfrm>
          <a:off x="1943026" y="2430426"/>
          <a:ext cx="5137150" cy="105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39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待读取的队列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9C9ABAE9-C1B0-14D9-609F-4B22603D2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218355"/>
              </p:ext>
            </p:extLst>
          </p:nvPr>
        </p:nvGraphicFramePr>
        <p:xfrm>
          <a:off x="1943026" y="3729001"/>
          <a:ext cx="5137150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4784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C68E1-2C48-3F95-4E8E-C7A9C39A1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BA293E2-A726-9477-2AC8-2D43DB2B76B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16313F0-64E5-69E6-5611-7CA053320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3800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4D977033-B760-205E-B25A-4E2CC2C63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6550" y="2032960"/>
            <a:ext cx="8521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此函数用于在任务中，从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队列中读取消息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 但与函数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xQueueReceive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不同，此函数在成功读取消息后，并不会移除已读取的消息！ 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F69A1B7A-75D5-C754-0720-9210455FBA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6550" y="1634498"/>
            <a:ext cx="80232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_t   xQueuePeek( QueueHandle_t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 void * const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pvBuffer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 TickType_t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  <a:endParaRPr lang="zh-CN" altLang="en-US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1" name="表格 6">
            <a:extLst>
              <a:ext uri="{FF2B5EF4-FFF2-40B4-BE49-F238E27FC236}">
                <a16:creationId xmlns:a16="http://schemas.microsoft.com/office/drawing/2014/main" id="{CF517E64-222F-03A6-6E10-4778A02E2D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997030"/>
              </p:ext>
            </p:extLst>
          </p:nvPr>
        </p:nvGraphicFramePr>
        <p:xfrm>
          <a:off x="1783537" y="2860048"/>
          <a:ext cx="5137150" cy="1057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待读取的队列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33396CB3-920E-FDDD-E293-DDA6E4598E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30027"/>
              </p:ext>
            </p:extLst>
          </p:nvPr>
        </p:nvGraphicFramePr>
        <p:xfrm>
          <a:off x="1783537" y="4244348"/>
          <a:ext cx="5137150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82091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F9F2-25B5-9DD7-1E22-79B760C4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D10F992-9493-6F36-B208-C51B4EE35989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17A24F7-C068-AC0A-4569-E596A7612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024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1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4</a:t>
            </a:r>
            <a:r>
              <a:rPr lang="zh-CN" altLang="en-US" b="1" dirty="0">
                <a:solidFill>
                  <a:schemeClr val="bg1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，队列集简介（了解）</a:t>
            </a:r>
            <a:endParaRPr lang="en-US" altLang="zh-CN" b="1" dirty="0">
              <a:solidFill>
                <a:schemeClr val="bg1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C5B0650-C0AB-9C55-8146-8DBE9D2E0F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1697752"/>
            <a:ext cx="8591550" cy="706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一个队列只允许任务间传递的消息为同一种数据类型，如果需要在任务间传递不同数据类型的消息时，那么就可以使用队列集 ！</a:t>
            </a:r>
          </a:p>
        </p:txBody>
      </p:sp>
      <p:sp>
        <p:nvSpPr>
          <p:cNvPr id="10" name="文本框 2">
            <a:extLst>
              <a:ext uri="{FF2B5EF4-FFF2-40B4-BE49-F238E27FC236}">
                <a16:creationId xmlns:a16="http://schemas.microsoft.com/office/drawing/2014/main" id="{D82B8560-3A8E-C35E-A3E3-A4E5F80BB0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2483565"/>
            <a:ext cx="8724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作用：用于对多个队列或信号量进行“监听”，其中不管哪一个消息到来，都可让任务退出阻塞状态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4F5B0F30-E6B2-361C-79C8-CF9BB5659157}"/>
              </a:ext>
            </a:extLst>
          </p:cNvPr>
          <p:cNvGrpSpPr>
            <a:grpSpLocks/>
          </p:cNvGrpSpPr>
          <p:nvPr/>
        </p:nvGrpSpPr>
        <p:grpSpPr bwMode="auto">
          <a:xfrm>
            <a:off x="2069399" y="3442415"/>
            <a:ext cx="3124606" cy="1725008"/>
            <a:chOff x="758756" y="2675746"/>
            <a:chExt cx="1955261" cy="1618441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31ECC05-8B7A-E844-61A3-F912CB9DF34F}"/>
                </a:ext>
              </a:extLst>
            </p:cNvPr>
            <p:cNvSpPr/>
            <p:nvPr/>
          </p:nvSpPr>
          <p:spPr>
            <a:xfrm>
              <a:off x="758756" y="2675746"/>
              <a:ext cx="1955261" cy="1618441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3" name="文本框 2">
              <a:extLst>
                <a:ext uri="{FF2B5EF4-FFF2-40B4-BE49-F238E27FC236}">
                  <a16:creationId xmlns:a16="http://schemas.microsoft.com/office/drawing/2014/main" id="{1B6D1E7E-3751-89D1-5276-DDD337DD78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6034" y="2767734"/>
              <a:ext cx="1857983" cy="1448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)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等待接收队列；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</a:p>
            <a:p>
              <a:pPr lvl="1"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获取信号量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74C288A-B41E-29B8-F43B-C6797EFB1730}"/>
              </a:ext>
            </a:extLst>
          </p:cNvPr>
          <p:cNvGrpSpPr>
            <a:grpSpLocks/>
          </p:cNvGrpSpPr>
          <p:nvPr/>
        </p:nvGrpSpPr>
        <p:grpSpPr bwMode="auto">
          <a:xfrm>
            <a:off x="6574724" y="3395392"/>
            <a:ext cx="3185964" cy="1857092"/>
            <a:chOff x="5239964" y="2675746"/>
            <a:chExt cx="2882632" cy="1905982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501F9AB-8AA5-7B99-2125-128CD7B87533}"/>
                </a:ext>
              </a:extLst>
            </p:cNvPr>
            <p:cNvSpPr/>
            <p:nvPr/>
          </p:nvSpPr>
          <p:spPr>
            <a:xfrm>
              <a:off x="5239964" y="2675746"/>
              <a:ext cx="2600083" cy="190598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6" name="文本框 7">
              <a:extLst>
                <a:ext uri="{FF2B5EF4-FFF2-40B4-BE49-F238E27FC236}">
                  <a16:creationId xmlns:a16="http://schemas.microsoft.com/office/drawing/2014/main" id="{13ECF3F6-1E85-1E40-2845-5F75643A30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7242" y="2767734"/>
              <a:ext cx="2785354" cy="1725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)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等待队列集中消息；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if(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队列还是信号量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</p:grpSp>
      <p:sp>
        <p:nvSpPr>
          <p:cNvPr id="17" name="文本框 2">
            <a:extLst>
              <a:ext uri="{FF2B5EF4-FFF2-40B4-BE49-F238E27FC236}">
                <a16:creationId xmlns:a16="http://schemas.microsoft.com/office/drawing/2014/main" id="{20CC870C-D95F-1A82-13B3-FF24008C4C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2861390"/>
            <a:ext cx="85915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假设：有个接收任务，使用到队列接收和信号量的获取，如下：</a:t>
            </a:r>
          </a:p>
        </p:txBody>
      </p:sp>
    </p:spTree>
    <p:extLst>
      <p:ext uri="{BB962C8B-B14F-4D97-AF65-F5344CB8AC3E}">
        <p14:creationId xmlns:p14="http://schemas.microsoft.com/office/powerpoint/2010/main" val="178961714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7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412E-5700-E867-82E0-82EE72FD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1DBB70B-F98C-75B3-A157-D849906CFBC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7E4D035-14D9-0715-E273-4D48DDA1B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400" y="1334682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13">
            <a:extLst>
              <a:ext uri="{FF2B5EF4-FFF2-40B4-BE49-F238E27FC236}">
                <a16:creationId xmlns:a16="http://schemas.microsoft.com/office/drawing/2014/main" id="{940C83FF-69E4-8BF8-BBF0-CC8D8BECD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930056"/>
              </p:ext>
            </p:extLst>
          </p:nvPr>
        </p:nvGraphicFramePr>
        <p:xfrm>
          <a:off x="1991500" y="2003020"/>
          <a:ext cx="5232400" cy="1670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3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创建队列集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xQueueAddToSet()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队列添加到队列集中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xQueueRemoveFromSet()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从队列集中移除队列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xQueueSelectFromSet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xQueueSelectFromSetFromISR()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9678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A856E-644C-BC36-A4DF-BCF39003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12ACD35-1740-38D9-63E4-9223A712F65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78FED0-C47C-EA3F-CE54-D16102413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6466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9CF15878-DCFB-0DC2-C756-B8FA60860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478" y="1780302"/>
            <a:ext cx="75660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  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xQueueCreateSet( const  UBaseType_t 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uxEventQueueLength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);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FAFC262F-F9E9-5D17-8EBE-03976A14C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111986"/>
              </p:ext>
            </p:extLst>
          </p:nvPr>
        </p:nvGraphicFramePr>
        <p:xfrm>
          <a:off x="1615891" y="254389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uxEventQueueLength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队列集可容纳的队列数量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5B12A7B-0B62-255B-14AB-844C5F21E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575237"/>
              </p:ext>
            </p:extLst>
          </p:nvPr>
        </p:nvGraphicFramePr>
        <p:xfrm>
          <a:off x="1615891" y="344082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队列集创建失败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队列集创建成功，返回队列集句柄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527170A0-D38F-E671-12E8-EED2E5E21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478" y="2167652"/>
            <a:ext cx="24463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此函数用于创建队列集。</a:t>
            </a:r>
          </a:p>
        </p:txBody>
      </p:sp>
    </p:spTree>
    <p:extLst>
      <p:ext uri="{BB962C8B-B14F-4D97-AF65-F5344CB8AC3E}">
        <p14:creationId xmlns:p14="http://schemas.microsoft.com/office/powerpoint/2010/main" val="1177582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C2E1E-46EC-CD48-6DD2-FBC16254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1575A70-8381-9CC9-D63F-563EFF8A5A6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105F927-0356-AF07-BF7E-D238ABE644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405" y="1106081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5AC95565-8CD3-C01E-0C7A-7D2F2887E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6367" y="1598206"/>
            <a:ext cx="10410456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xQueueAddToSet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	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);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5551900-8ADF-A465-D7D4-AE8431B86D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4021877"/>
              </p:ext>
            </p:extLst>
          </p:nvPr>
        </p:nvGraphicFramePr>
        <p:xfrm>
          <a:off x="1530830" y="292853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待添加的队列句柄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76B67D76-5FDB-EE92-CE1E-1FC483B37A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474421"/>
              </p:ext>
            </p:extLst>
          </p:nvPr>
        </p:nvGraphicFramePr>
        <p:xfrm>
          <a:off x="1530830" y="408740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队列集添加队列成功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队列集添加队列失败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4BD0214B-3233-9044-23AC-FC2FECC377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8905" y="2425294"/>
            <a:ext cx="8213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此函数用于往队列集中添加队列，要注意的时，队列在被添加到队列集之前，队列中不能有有效的消息 </a:t>
            </a:r>
          </a:p>
        </p:txBody>
      </p:sp>
    </p:spTree>
    <p:extLst>
      <p:ext uri="{BB962C8B-B14F-4D97-AF65-F5344CB8AC3E}">
        <p14:creationId xmlns:p14="http://schemas.microsoft.com/office/powerpoint/2010/main" val="29354626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5137-69CE-E1F9-8596-5A191E03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CCB331A-C618-1264-448C-D6AF42C23ED9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627E758-DA0D-4BE4-2238-E2C74D206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3424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780D6024-21BA-14E3-D080-B7926BF92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7984" y="1624727"/>
            <a:ext cx="10567951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xQueueRemoveFromSet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	    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);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A5ADF540-5834-78F9-CA81-FE2E975F90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913646"/>
              </p:ext>
            </p:extLst>
          </p:nvPr>
        </p:nvGraphicFramePr>
        <p:xfrm>
          <a:off x="2094356" y="2902665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待移除的队列句柄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D8BA830-71C4-FE48-9FE7-9FC59242B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600560"/>
              </p:ext>
            </p:extLst>
          </p:nvPr>
        </p:nvGraphicFramePr>
        <p:xfrm>
          <a:off x="2094356" y="4109165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42" marB="4564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2" marB="4564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队列集移除队列成功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队列集移除队列失败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8BFDD3F1-0722-361A-2EA9-68E334BC9C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8468" y="2451815"/>
            <a:ext cx="83581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此函数用于从队列集中移除队列， 要注意的是，队列在从队列集移除之前，必须没有有效的消息</a:t>
            </a:r>
          </a:p>
        </p:txBody>
      </p:sp>
    </p:spTree>
    <p:extLst>
      <p:ext uri="{BB962C8B-B14F-4D97-AF65-F5344CB8AC3E}">
        <p14:creationId xmlns:p14="http://schemas.microsoft.com/office/powerpoint/2010/main" val="3361955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D1F2-337D-817D-704A-988DDBB57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B4331B8-7E90-469B-A0A9-1B0B9B91A15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F734BBA-685D-3A46-6E55-396A6AFAD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609" y="989123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函数介绍（熟悉）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F2FBB97A-403A-119D-9649-DF1F33002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609" y="1624123"/>
            <a:ext cx="10798600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xQueueSelectFromSet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                                        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TickType_t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const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1FBD0648-8C47-CB0C-3D61-0F2AA83ED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443652"/>
              </p:ext>
            </p:extLst>
          </p:nvPr>
        </p:nvGraphicFramePr>
        <p:xfrm>
          <a:off x="2048669" y="296238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DBB7C7D9-45B5-8156-9424-45B1AEA793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618946"/>
              </p:ext>
            </p:extLst>
          </p:nvPr>
        </p:nvGraphicFramePr>
        <p:xfrm>
          <a:off x="2048669" y="4037123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获取消息失败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获取到消息的队列句柄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6C439926-207A-01E3-4A40-FBE3E9EAE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256" y="2482961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此函数用于在任务中获取队列集中有有效消息的队列</a:t>
            </a:r>
          </a:p>
        </p:txBody>
      </p:sp>
    </p:spTree>
    <p:extLst>
      <p:ext uri="{BB962C8B-B14F-4D97-AF65-F5344CB8AC3E}">
        <p14:creationId xmlns:p14="http://schemas.microsoft.com/office/powerpoint/2010/main" val="29088939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B1D05-E5E6-611F-2D77-11D82AD2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770537B-86F7-2848-E479-D650E059AA6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035CF38-3FBD-EDB2-4DE0-F86CE6E4D7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5322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7BF0D7-FC34-CD19-AFFE-28EE97BDA3A1}"/>
              </a:ext>
            </a:extLst>
          </p:cNvPr>
          <p:cNvSpPr txBox="1"/>
          <p:nvPr/>
        </p:nvSpPr>
        <p:spPr>
          <a:xfrm>
            <a:off x="1663147" y="1812052"/>
            <a:ext cx="4854575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事件标志位：用一个位，来表示事件是否发生</a:t>
            </a:r>
          </a:p>
        </p:txBody>
      </p:sp>
      <p:sp>
        <p:nvSpPr>
          <p:cNvPr id="10" name="文本框 160">
            <a:extLst>
              <a:ext uri="{FF2B5EF4-FFF2-40B4-BE49-F238E27FC236}">
                <a16:creationId xmlns:a16="http://schemas.microsoft.com/office/drawing/2014/main" id="{2AC55BAD-C709-8F19-5D85-5ED95BBFC7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162890"/>
            <a:ext cx="70437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事件标志组是一组事件标志位的集合， 可以简单的理解事件标志组，就是一个整数。</a:t>
            </a:r>
          </a:p>
        </p:txBody>
      </p:sp>
      <p:sp>
        <p:nvSpPr>
          <p:cNvPr id="11" name="文本框 31">
            <a:extLst>
              <a:ext uri="{FF2B5EF4-FFF2-40B4-BE49-F238E27FC236}">
                <a16:creationId xmlns:a16="http://schemas.microsoft.com/office/drawing/2014/main" id="{390E8A69-33BC-FF06-5B7B-858F60F03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4621927"/>
            <a:ext cx="59182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可以等待某一位成立，或者等待多位同时成立</a:t>
            </a:r>
          </a:p>
        </p:txBody>
      </p:sp>
      <p:sp>
        <p:nvSpPr>
          <p:cNvPr id="12" name="文本框 6">
            <a:extLst>
              <a:ext uri="{FF2B5EF4-FFF2-40B4-BE49-F238E27FC236}">
                <a16:creationId xmlns:a16="http://schemas.microsoft.com/office/drawing/2014/main" id="{7C39FA26-C1F1-E3D4-96DD-3DCF636FC8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980452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它的每一个位表示一个事件（高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位不算）</a:t>
            </a:r>
          </a:p>
        </p:txBody>
      </p:sp>
      <p:sp>
        <p:nvSpPr>
          <p:cNvPr id="13" name="文本框 7">
            <a:extLst>
              <a:ext uri="{FF2B5EF4-FFF2-40B4-BE49-F238E27FC236}">
                <a16:creationId xmlns:a16="http://schemas.microsoft.com/office/drawing/2014/main" id="{C92B49DA-6C76-F5C4-3666-0C217FE7F5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3421777"/>
            <a:ext cx="82534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每一位事件的含义，由用户自己决定，如：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表示按键是否按下，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表示是否接受到消息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… …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35F3F8D1-8CB0-AF3A-996B-C6C4B9702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7947" y="3801190"/>
            <a:ext cx="47593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这些位的值为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：表示事件发生了；值为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：表示事件未发生</a:t>
            </a:r>
          </a:p>
        </p:txBody>
      </p:sp>
      <p:sp>
        <p:nvSpPr>
          <p:cNvPr id="15" name="文本框 12">
            <a:extLst>
              <a:ext uri="{FF2B5EF4-FFF2-40B4-BE49-F238E27FC236}">
                <a16:creationId xmlns:a16="http://schemas.microsoft.com/office/drawing/2014/main" id="{ED47883E-07C0-8700-464D-9928C0884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4175840"/>
            <a:ext cx="412908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任意任务或中断都可以读写这些位</a:t>
            </a:r>
          </a:p>
        </p:txBody>
      </p:sp>
      <p:sp>
        <p:nvSpPr>
          <p:cNvPr id="16" name="文本框 160">
            <a:extLst>
              <a:ext uri="{FF2B5EF4-FFF2-40B4-BE49-F238E27FC236}">
                <a16:creationId xmlns:a16="http://schemas.microsoft.com/office/drawing/2014/main" id="{B4D0CBC4-C943-4728-2B5D-9B6FFE8E80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562940"/>
            <a:ext cx="233680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事件标志组的特点：</a:t>
            </a:r>
          </a:p>
        </p:txBody>
      </p:sp>
    </p:spTree>
    <p:extLst>
      <p:ext uri="{BB962C8B-B14F-4D97-AF65-F5344CB8AC3E}">
        <p14:creationId xmlns:p14="http://schemas.microsoft.com/office/powerpoint/2010/main" val="26603933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C55D-E8DF-A0B3-3020-59356DE7D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5028735-BAC0-001C-D74B-6EC3946CE66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780C428-4C3F-AB44-7CB7-6FCBE46000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4056" y="98912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35B474C-173C-8F75-5425-2A06B1A32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1881" y="1639998"/>
            <a:ext cx="8216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一个事件组就包含了一个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数据类型的变量，变量类型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的定义如下所示： </a:t>
            </a:r>
          </a:p>
        </p:txBody>
      </p:sp>
      <p:grpSp>
        <p:nvGrpSpPr>
          <p:cNvPr id="10" name="组合 13">
            <a:extLst>
              <a:ext uri="{FF2B5EF4-FFF2-40B4-BE49-F238E27FC236}">
                <a16:creationId xmlns:a16="http://schemas.microsoft.com/office/drawing/2014/main" id="{BED9A65E-D225-1BE9-00E4-3B4B8FA98F74}"/>
              </a:ext>
            </a:extLst>
          </p:cNvPr>
          <p:cNvGrpSpPr>
            <a:grpSpLocks/>
          </p:cNvGrpSpPr>
          <p:nvPr/>
        </p:nvGrpSpPr>
        <p:grpSpPr bwMode="auto">
          <a:xfrm>
            <a:off x="1700617" y="2094023"/>
            <a:ext cx="6885173" cy="2093913"/>
            <a:chOff x="685800" y="1855183"/>
            <a:chExt cx="4694238" cy="2095025"/>
          </a:xfrm>
        </p:grpSpPr>
        <p:sp>
          <p:nvSpPr>
            <p:cNvPr id="11" name="文本框 2">
              <a:extLst>
                <a:ext uri="{FF2B5EF4-FFF2-40B4-BE49-F238E27FC236}">
                  <a16:creationId xmlns:a16="http://schemas.microsoft.com/office/drawing/2014/main" id="{E12A6968-8318-A012-81EC-21C9AAF2E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318" y="1855183"/>
              <a:ext cx="4617720" cy="20082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#if (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configUSE_16_BIT_TICKS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= =  1 )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uint16_t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#else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#endif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configUSE_16_BIT_TICKS   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A8AF5B8-37EE-2A12-A0D3-D2451C43F583}"/>
                </a:ext>
              </a:extLst>
            </p:cNvPr>
            <p:cNvSpPr/>
            <p:nvPr/>
          </p:nvSpPr>
          <p:spPr>
            <a:xfrm>
              <a:off x="685800" y="1855183"/>
              <a:ext cx="4694238" cy="20950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5">
            <a:extLst>
              <a:ext uri="{FF2B5EF4-FFF2-40B4-BE49-F238E27FC236}">
                <a16:creationId xmlns:a16="http://schemas.microsoft.com/office/drawing/2014/main" id="{8A3B5DE6-D2F7-090D-A752-2071EBDA1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0618" y="4357798"/>
            <a:ext cx="513238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实际上是一个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16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位或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位无符号的数据类型 </a:t>
            </a:r>
          </a:p>
        </p:txBody>
      </p:sp>
    </p:spTree>
    <p:extLst>
      <p:ext uri="{BB962C8B-B14F-4D97-AF65-F5344CB8AC3E}">
        <p14:creationId xmlns:p14="http://schemas.microsoft.com/office/powerpoint/2010/main" val="40007901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DC0E5-889D-BE0F-5C70-615BFBFE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B1406CA-B757-1047-9850-872DE158492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4273E3A3-AF4B-062F-30DB-CF5E0F681C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238" y="1068867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，事件标志组简介（了解）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9" name="图片 7">
            <a:extLst>
              <a:ext uri="{FF2B5EF4-FFF2-40B4-BE49-F238E27FC236}">
                <a16:creationId xmlns:a16="http://schemas.microsoft.com/office/drawing/2014/main" id="{005D89D0-4B11-6162-D537-389DEE596E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63" y="2640492"/>
            <a:ext cx="6035675" cy="1189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41D8962-6E7A-0CEE-782E-C251787091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5150" y="1670530"/>
            <a:ext cx="829627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虽然使用了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位无符号的数据类型变量来存储事件标志， 但其中的高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位用作存储事件标志组的控制信息，低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位用作存储事件标志 ，所以说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一个事件组最多可以存储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24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个事件标志！</a:t>
            </a:r>
          </a:p>
        </p:txBody>
      </p:sp>
    </p:spTree>
    <p:extLst>
      <p:ext uri="{BB962C8B-B14F-4D97-AF65-F5344CB8AC3E}">
        <p14:creationId xmlns:p14="http://schemas.microsoft.com/office/powerpoint/2010/main" val="38798686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2A83-F714-5B95-6DB0-400AF94F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E5F0855-0748-6164-0761-45151565EC2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C327FB-7817-BB81-8213-2B894177D1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8996" y="1015705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事件标志组与队列、信号量的区别？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13">
            <a:extLst>
              <a:ext uri="{FF2B5EF4-FFF2-40B4-BE49-F238E27FC236}">
                <a16:creationId xmlns:a16="http://schemas.microsoft.com/office/drawing/2014/main" id="{5B325AD2-3563-CE8D-80DC-C6F292876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326025"/>
              </p:ext>
            </p:extLst>
          </p:nvPr>
        </p:nvGraphicFramePr>
        <p:xfrm>
          <a:off x="1590158" y="2168230"/>
          <a:ext cx="8024813" cy="1593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2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05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751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功能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唤醒对象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事件清除</a:t>
                      </a: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队列、信号量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事件发生时，只会唤醒一个任务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是消耗型的资源，队列的数据被读走就没了；信号量被获取后就减少了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事件发生时，会唤醒所有符合条件的任务，可以理解为“广播”的作用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被唤醒的任务有两个选择，可以让事件保留不动，也可以清除事件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578282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10D27-FD07-F471-C428-A3FDA83D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D9101E7-FBBD-A025-F495-F237E271DD0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544FD1C-BFDA-302C-387E-B70AEDA1E9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417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2">
            <a:extLst>
              <a:ext uri="{FF2B5EF4-FFF2-40B4-BE49-F238E27FC236}">
                <a16:creationId xmlns:a16="http://schemas.microsoft.com/office/drawing/2014/main" id="{CD2291A8-3B36-D87E-A9CE-8C40EC030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443865"/>
              </p:ext>
            </p:extLst>
          </p:nvPr>
        </p:nvGraphicFramePr>
        <p:xfrm>
          <a:off x="1853278" y="1840627"/>
          <a:ext cx="4973638" cy="2547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6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6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860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xEventGroupCreate()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xEventGroupClearBits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xEventGroupClearBitsFromISR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xEventGroupSetBits()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xEventGroupSetBitsFromISR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xEventGroupWaitBits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06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xEventGroupSync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设置事件标志位，并等待事件标志位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文本框 2">
            <a:extLst>
              <a:ext uri="{FF2B5EF4-FFF2-40B4-BE49-F238E27FC236}">
                <a16:creationId xmlns:a16="http://schemas.microsoft.com/office/drawing/2014/main" id="{644A9CD4-BF51-C286-18CC-F62B4AA2A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3278" y="4674315"/>
            <a:ext cx="83343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更多事件标志组相关的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函数介绍请查阅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《FreeRTOS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开发指南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》-- 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第十六章“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事件标志组”</a:t>
            </a:r>
          </a:p>
        </p:txBody>
      </p:sp>
    </p:spTree>
    <p:extLst>
      <p:ext uri="{BB962C8B-B14F-4D97-AF65-F5344CB8AC3E}">
        <p14:creationId xmlns:p14="http://schemas.microsoft.com/office/powerpoint/2010/main" val="7030483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C1576-32D3-B92D-464C-110BB2FE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F9F5FA8-DE12-E7DF-D326-B51B3316B75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1ECE0EF-288F-082C-6689-9BE9A4722C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47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动态方式创建事件标志组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C1E56D05-9991-9C99-B2E7-49870415F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1097" y="172919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EventGroupHandle_t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xEventGroupCreate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( 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;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6CCC1859-1E92-E929-73FE-BEA9A9F8D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126802"/>
              </p:ext>
            </p:extLst>
          </p:nvPr>
        </p:nvGraphicFramePr>
        <p:xfrm>
          <a:off x="891584" y="2291168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事件标志组创建成功，返回其句柄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文本框 9">
            <a:extLst>
              <a:ext uri="{FF2B5EF4-FFF2-40B4-BE49-F238E27FC236}">
                <a16:creationId xmlns:a16="http://schemas.microsoft.com/office/drawing/2014/main" id="{88AE6EEA-7DDB-F6E3-868C-2508E36B3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47" y="315284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清除事件标志位</a:t>
            </a:r>
            <a:r>
              <a:rPr lang="en-US" altLang="zh-CN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25280AF7-EF90-DF79-9B86-DF913BDF6D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155204"/>
              </p:ext>
            </p:extLst>
          </p:nvPr>
        </p:nvGraphicFramePr>
        <p:xfrm>
          <a:off x="869845" y="4556568"/>
          <a:ext cx="5065712" cy="879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6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7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69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待清零的事件标志位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表格 6">
            <a:extLst>
              <a:ext uri="{FF2B5EF4-FFF2-40B4-BE49-F238E27FC236}">
                <a16:creationId xmlns:a16="http://schemas.microsoft.com/office/drawing/2014/main" id="{E948467D-E438-5E21-806F-0F2148C758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46121"/>
              </p:ext>
            </p:extLst>
          </p:nvPr>
        </p:nvGraphicFramePr>
        <p:xfrm>
          <a:off x="869845" y="5763068"/>
          <a:ext cx="5065712" cy="528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4" marB="4567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清零事件标志位之前事件组中事件标志位的值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4" marB="4567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4" name="组合 13">
            <a:extLst>
              <a:ext uri="{FF2B5EF4-FFF2-40B4-BE49-F238E27FC236}">
                <a16:creationId xmlns:a16="http://schemas.microsoft.com/office/drawing/2014/main" id="{423885BF-4CD0-911C-B2A4-B70DE86F7275}"/>
              </a:ext>
            </a:extLst>
          </p:cNvPr>
          <p:cNvGrpSpPr>
            <a:grpSpLocks/>
          </p:cNvGrpSpPr>
          <p:nvPr/>
        </p:nvGrpSpPr>
        <p:grpSpPr bwMode="auto">
          <a:xfrm>
            <a:off x="801097" y="3684331"/>
            <a:ext cx="10841554" cy="617538"/>
            <a:chOff x="510335" y="1316831"/>
            <a:chExt cx="7510462" cy="617538"/>
          </a:xfrm>
        </p:grpSpPr>
        <p:sp>
          <p:nvSpPr>
            <p:cNvPr id="15" name="文本框 6">
              <a:extLst>
                <a:ext uri="{FF2B5EF4-FFF2-40B4-BE49-F238E27FC236}">
                  <a16:creationId xmlns:a16="http://schemas.microsoft.com/office/drawing/2014/main" id="{9EC54D35-9666-D424-01A5-31F7147E2E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335" y="1316831"/>
              <a:ext cx="7510462" cy="617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xEventGroupClearBits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const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uxBitsToClear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D6E6E7B-E7B0-781A-8ED5-449920E76625}"/>
                </a:ext>
              </a:extLst>
            </p:cNvPr>
            <p:cNvSpPr/>
            <p:nvPr/>
          </p:nvSpPr>
          <p:spPr>
            <a:xfrm>
              <a:off x="557960" y="1316831"/>
              <a:ext cx="5459412" cy="61753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6660966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6A599-CDE5-4A17-EE0D-E1F5738F0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AC5C6D1-E995-E38E-960B-EBDCC883FF3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446197F-B95F-5B0E-1115-8382BA5FE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931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设置事件标志位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F9424F76-4DD9-6971-D3F9-A16113EE3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43659"/>
              </p:ext>
            </p:extLst>
          </p:nvPr>
        </p:nvGraphicFramePr>
        <p:xfrm>
          <a:off x="852806" y="4287026"/>
          <a:ext cx="5065712" cy="538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05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0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810" marB="458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函数返回时，事件组中的事件标志位值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810" marB="4581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85AC8498-3E7E-2D89-F231-A0847EA4C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472906"/>
              </p:ext>
            </p:extLst>
          </p:nvPr>
        </p:nvGraphicFramePr>
        <p:xfrm>
          <a:off x="852806" y="3132913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待设置的事件标志位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组合 6">
            <a:extLst>
              <a:ext uri="{FF2B5EF4-FFF2-40B4-BE49-F238E27FC236}">
                <a16:creationId xmlns:a16="http://schemas.microsoft.com/office/drawing/2014/main" id="{3684A259-98A2-5CC6-9B1E-1408C3D1D64F}"/>
              </a:ext>
            </a:extLst>
          </p:cNvPr>
          <p:cNvGrpSpPr>
            <a:grpSpLocks/>
          </p:cNvGrpSpPr>
          <p:nvPr/>
        </p:nvGrpSpPr>
        <p:grpSpPr bwMode="auto">
          <a:xfrm>
            <a:off x="743267" y="1980388"/>
            <a:ext cx="9644741" cy="1028700"/>
            <a:chOff x="561974" y="1241425"/>
            <a:chExt cx="9644741" cy="1028700"/>
          </a:xfrm>
        </p:grpSpPr>
        <p:sp>
          <p:nvSpPr>
            <p:cNvPr id="12" name="文本框 6">
              <a:extLst>
                <a:ext uri="{FF2B5EF4-FFF2-40B4-BE49-F238E27FC236}">
                  <a16:creationId xmlns:a16="http://schemas.microsoft.com/office/drawing/2014/main" id="{53FA6D67-D495-0FEB-E861-8EC3FB043A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974" y="1241425"/>
              <a:ext cx="9644741" cy="10287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xEventGroupSetBits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  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EE3D81E-0A80-4B41-B71D-602B72D502C3}"/>
                </a:ext>
              </a:extLst>
            </p:cNvPr>
            <p:cNvSpPr/>
            <p:nvPr/>
          </p:nvSpPr>
          <p:spPr>
            <a:xfrm>
              <a:off x="561975" y="1316038"/>
              <a:ext cx="6469063" cy="64928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212432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07B36-BBC4-8466-03D4-333F984F7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A98A258-B0DB-7A2B-583E-29CE4DBC7B2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A2100AE0-D692-BA6A-2686-B9C28D75AE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424" y="787622"/>
            <a:ext cx="371157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等待事件标志位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4" name="表格 6">
            <a:extLst>
              <a:ext uri="{FF2B5EF4-FFF2-40B4-BE49-F238E27FC236}">
                <a16:creationId xmlns:a16="http://schemas.microsoft.com/office/drawing/2014/main" id="{D7D42552-ADEC-723B-2ED7-76477EBA8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31993"/>
              </p:ext>
            </p:extLst>
          </p:nvPr>
        </p:nvGraphicFramePr>
        <p:xfrm>
          <a:off x="957374" y="4716685"/>
          <a:ext cx="5543550" cy="898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4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1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01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等待事件标志位成功，返回等待到的事件标志位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32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等待事件标志位失败，返回事件组中的事件标志位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5B0155A-DB06-8A59-31AC-5781F7DF90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161383"/>
              </p:ext>
            </p:extLst>
          </p:nvPr>
        </p:nvGraphicFramePr>
        <p:xfrm>
          <a:off x="957374" y="2410047"/>
          <a:ext cx="5543550" cy="2225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91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730" marB="4573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730" marB="4573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xEvenrGroup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等待的事件标志位，可以用逻辑或等待多个事件标志位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成功等待到事件标志位后，清除事件组中对应的事件标志位，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：清除</a:t>
                      </a: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指定位；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：不清除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xWaitForAllBits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中的所有事件标志位（逻辑与）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：等待的位，全部为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：等待的位，某个为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文本框 8">
            <a:extLst>
              <a:ext uri="{FF2B5EF4-FFF2-40B4-BE49-F238E27FC236}">
                <a16:creationId xmlns:a16="http://schemas.microsoft.com/office/drawing/2014/main" id="{311B3DBC-6F31-85CC-72C4-3B5B85A1C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132360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</a:t>
            </a:r>
          </a:p>
        </p:txBody>
      </p:sp>
      <p:sp>
        <p:nvSpPr>
          <p:cNvPr id="7" name="文本框 12">
            <a:extLst>
              <a:ext uri="{FF2B5EF4-FFF2-40B4-BE49-F238E27FC236}">
                <a16:creationId xmlns:a16="http://schemas.microsoft.com/office/drawing/2014/main" id="{C25EAF6C-4E8A-3D96-925E-78D28334F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521297"/>
            <a:ext cx="300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可以等待某一位、也可以等待多位</a:t>
            </a:r>
            <a:endParaRPr lang="zh-CN" altLang="en-US" sz="1200"/>
          </a:p>
        </p:txBody>
      </p:sp>
      <p:sp>
        <p:nvSpPr>
          <p:cNvPr id="8" name="文本框 14">
            <a:extLst>
              <a:ext uri="{FF2B5EF4-FFF2-40B4-BE49-F238E27FC236}">
                <a16:creationId xmlns:a16="http://schemas.microsoft.com/office/drawing/2014/main" id="{E65F4F83-4312-596E-FD8E-A7E7155AE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892772"/>
            <a:ext cx="31527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等到期望的事件后，还可以清除某些位</a:t>
            </a:r>
            <a:endParaRPr lang="zh-CN" altLang="en-US" sz="1200"/>
          </a:p>
        </p:txBody>
      </p:sp>
      <p:grpSp>
        <p:nvGrpSpPr>
          <p:cNvPr id="9" name="组合 3">
            <a:extLst>
              <a:ext uri="{FF2B5EF4-FFF2-40B4-BE49-F238E27FC236}">
                <a16:creationId xmlns:a16="http://schemas.microsoft.com/office/drawing/2014/main" id="{0309E0AC-48D0-8648-853F-088A22A8506B}"/>
              </a:ext>
            </a:extLst>
          </p:cNvPr>
          <p:cNvGrpSpPr>
            <a:grpSpLocks/>
          </p:cNvGrpSpPr>
          <p:nvPr/>
        </p:nvGrpSpPr>
        <p:grpSpPr bwMode="auto">
          <a:xfrm>
            <a:off x="957374" y="1235297"/>
            <a:ext cx="9643286" cy="1174750"/>
            <a:chOff x="361950" y="501650"/>
            <a:chExt cx="9643286" cy="1174750"/>
          </a:xfrm>
        </p:grpSpPr>
        <p:sp>
          <p:nvSpPr>
            <p:cNvPr id="10" name="文本框 6">
              <a:extLst>
                <a:ext uri="{FF2B5EF4-FFF2-40B4-BE49-F238E27FC236}">
                  <a16:creationId xmlns:a16="http://schemas.microsoft.com/office/drawing/2014/main" id="{6E7C7352-2202-8D3E-0602-6D190920B8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950" y="501650"/>
              <a:ext cx="9643286" cy="1174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xEventGroupWaitBits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uxBitsToWaitFor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xClearOnExit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xWaitForAllBits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)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08BB60E-2C0C-144D-8328-92B61D59E8C2}"/>
                </a:ext>
              </a:extLst>
            </p:cNvPr>
            <p:cNvSpPr/>
            <p:nvPr/>
          </p:nvSpPr>
          <p:spPr>
            <a:xfrm>
              <a:off x="361950" y="517525"/>
              <a:ext cx="8712938" cy="11112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659285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5653A-4B76-923E-D329-FBEF6D94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A98F3F03-F986-BCD8-8721-8D8C4B3F456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106ABB6-9A54-D7A8-036C-832A5D58EA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019" y="110402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同步函数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09DD4E25-837E-6EDE-1291-78F72C44A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011357"/>
              </p:ext>
            </p:extLst>
          </p:nvPr>
        </p:nvGraphicFramePr>
        <p:xfrm>
          <a:off x="1264831" y="4398090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8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等待事件标志位成功，返回等待到的事件标志位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等待事件标志位失败，返回事件组中的事件标志位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96092E71-EA37-8961-1C2F-E361A3E01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048833"/>
              </p:ext>
            </p:extLst>
          </p:nvPr>
        </p:nvGraphicFramePr>
        <p:xfrm>
          <a:off x="1264831" y="2893140"/>
          <a:ext cx="5065713" cy="1323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7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等待事件标志所在事件组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达到同步点后，要设置的事件标志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文本框 9">
            <a:extLst>
              <a:ext uri="{FF2B5EF4-FFF2-40B4-BE49-F238E27FC236}">
                <a16:creationId xmlns:a16="http://schemas.microsoft.com/office/drawing/2014/main" id="{B80E22F7-57F8-5DEB-4FE6-C7E0F1D01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3431302"/>
            <a:ext cx="15017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：做饭</a:t>
            </a: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970DD4DE-7712-01E6-B237-39EBDB5D2E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4381" y="3771027"/>
            <a:ext cx="15017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：做菜</a:t>
            </a:r>
          </a:p>
        </p:txBody>
      </p:sp>
      <p:sp>
        <p:nvSpPr>
          <p:cNvPr id="13" name="文本框 13">
            <a:extLst>
              <a:ext uri="{FF2B5EF4-FFF2-40B4-BE49-F238E27FC236}">
                <a16:creationId xmlns:a16="http://schemas.microsoft.com/office/drawing/2014/main" id="{68C5AA03-41F9-F3B7-43CC-68634BD6B7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4381" y="4144090"/>
            <a:ext cx="3397250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做好自己的事之后，需要等待菜也做好，大家在一起吃饭。</a:t>
            </a:r>
          </a:p>
        </p:txBody>
      </p:sp>
      <p:sp>
        <p:nvSpPr>
          <p:cNvPr id="14" name="文本框 15">
            <a:extLst>
              <a:ext uri="{FF2B5EF4-FFF2-40B4-BE49-F238E27FC236}">
                <a16:creationId xmlns:a16="http://schemas.microsoft.com/office/drawing/2014/main" id="{3B0AD023-4F13-A8E4-FC33-77AE65C38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4829890"/>
            <a:ext cx="14049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特点：同步！</a:t>
            </a:r>
          </a:p>
        </p:txBody>
      </p:sp>
      <p:sp>
        <p:nvSpPr>
          <p:cNvPr id="15" name="文本框 16">
            <a:extLst>
              <a:ext uri="{FF2B5EF4-FFF2-40B4-BE49-F238E27FC236}">
                <a16:creationId xmlns:a16="http://schemas.microsoft.com/office/drawing/2014/main" id="{13886F3D-4DA5-DD2C-648E-E727B036B0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3055065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例子：</a:t>
            </a:r>
          </a:p>
        </p:txBody>
      </p:sp>
      <p:grpSp>
        <p:nvGrpSpPr>
          <p:cNvPr id="16" name="组合 2">
            <a:extLst>
              <a:ext uri="{FF2B5EF4-FFF2-40B4-BE49-F238E27FC236}">
                <a16:creationId xmlns:a16="http://schemas.microsoft.com/office/drawing/2014/main" id="{595E7CD6-2C6D-B4FD-5612-4CE0B3D857BA}"/>
              </a:ext>
            </a:extLst>
          </p:cNvPr>
          <p:cNvGrpSpPr>
            <a:grpSpLocks/>
          </p:cNvGrpSpPr>
          <p:nvPr/>
        </p:nvGrpSpPr>
        <p:grpSpPr bwMode="auto">
          <a:xfrm>
            <a:off x="1264831" y="1467565"/>
            <a:ext cx="10213016" cy="1674812"/>
            <a:chOff x="552450" y="928688"/>
            <a:chExt cx="6543675" cy="1674812"/>
          </a:xfrm>
        </p:grpSpPr>
        <p:sp>
          <p:nvSpPr>
            <p:cNvPr id="17" name="文本框 6">
              <a:extLst>
                <a:ext uri="{FF2B5EF4-FFF2-40B4-BE49-F238E27FC236}">
                  <a16:creationId xmlns:a16="http://schemas.microsoft.com/office/drawing/2014/main" id="{4878A134-2183-EF09-CA1E-94B63E939E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2450" y="928688"/>
              <a:ext cx="6543675" cy="1674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xEventGroupSync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uxBitsToWaitFor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300A9725-C1F5-1CA2-AF2C-A9780434DBFA}"/>
                </a:ext>
              </a:extLst>
            </p:cNvPr>
            <p:cNvSpPr/>
            <p:nvPr/>
          </p:nvSpPr>
          <p:spPr>
            <a:xfrm>
              <a:off x="552450" y="995363"/>
              <a:ext cx="6327775" cy="132397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5113928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CATEGORY" val="custom"/>
  <p:tag name="KSO_WM_TEMPLATE_INDEX" val="2023098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40"/>
  <p:tag name="KSO_WM_UNIT_TYPE" val="f"/>
  <p:tag name="KSO_WM_UNIT_INDEX" val="1"/>
  <p:tag name="KSO_WM_TEMPLATE_CATEGORY" val="custom"/>
  <p:tag name="KSO_WM_TEMPLATE_INDEX" val="2023098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980"/>
  <p:tag name="KSO_WM_TEMPLATE_THUMBS_INDEX" val="1、9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9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0980_4*l_h_i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0980_4*l_h_a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0980_4*l_h_i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0980_4*l_h_a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0980_4*l_h_i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0980_4*l_h_a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heme/theme1.xml><?xml version="1.0" encoding="utf-8"?>
<a:theme xmlns:a="http://schemas.openxmlformats.org/drawingml/2006/main" name="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accent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25780</TotalTime>
  <Words>15732</Words>
  <Application>Microsoft Office PowerPoint</Application>
  <PresentationFormat>自定义</PresentationFormat>
  <Paragraphs>1817</Paragraphs>
  <Slides>140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140</vt:i4>
      </vt:variant>
    </vt:vector>
  </HeadingPairs>
  <TitlesOfParts>
    <vt:vector size="162" baseType="lpstr">
      <vt:lpstr>CourierNewPSMT</vt:lpstr>
      <vt:lpstr>Menlo</vt:lpstr>
      <vt:lpstr>PingFang SC</vt:lpstr>
      <vt:lpstr>quote-cjk-patch</vt:lpstr>
      <vt:lpstr>冬青黑体简体中文 W6</vt:lpstr>
      <vt:lpstr>仿宋</vt:lpstr>
      <vt:lpstr>思源黑体 CN Bold</vt:lpstr>
      <vt:lpstr>思源黑体 CN Normal</vt:lpstr>
      <vt:lpstr>宋体</vt:lpstr>
      <vt:lpstr>微软雅黑</vt:lpstr>
      <vt:lpstr>微软雅黑</vt:lpstr>
      <vt:lpstr>Arial</vt:lpstr>
      <vt:lpstr>Calibri</vt:lpstr>
      <vt:lpstr>Candara</vt:lpstr>
      <vt:lpstr>Courier New</vt:lpstr>
      <vt:lpstr>Lucida Sans</vt:lpstr>
      <vt:lpstr>Times New Roman</vt:lpstr>
      <vt:lpstr>Wingdings</vt:lpstr>
      <vt:lpstr>Default Design</vt:lpstr>
      <vt:lpstr>自定义设计方案</vt:lpstr>
      <vt:lpstr>1_Default Design</vt:lpstr>
      <vt:lpstr>Office 主题​​</vt:lpstr>
      <vt:lpstr>PowerPoint 演示文稿</vt:lpstr>
      <vt:lpstr>PowerPoint 演示文稿</vt:lpstr>
      <vt:lpstr>FreeRTOS</vt:lpstr>
      <vt:lpstr>RTOS 基本概念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任务与调度机制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时间管理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内存管理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中断管理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任务间通信与同步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Washington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Marketing</dc:creator>
  <cp:lastModifiedBy>1 1</cp:lastModifiedBy>
  <cp:revision>840</cp:revision>
  <cp:lastPrinted>2014-04-21T18:27:00Z</cp:lastPrinted>
  <dcterms:created xsi:type="dcterms:W3CDTF">2001-10-04T20:08:00Z</dcterms:created>
  <dcterms:modified xsi:type="dcterms:W3CDTF">2026-02-01T12:15:03Z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C3CCAF5F06344E72BC95475314ED453F_12</vt:lpwstr>
  </property>
  <property fmtid="{D5CDD505-2E9C-101B-9397-08002B2CF9AE}" pid="3" name="KSOProductBuildVer">
    <vt:lpwstr>2052-12.1.0.22529</vt:lpwstr>
  </property>
</Properties>
</file>