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3"/>
    <p:sldMasterId id="2147483675" r:id="rId4"/>
    <p:sldMasterId id="2147483690" r:id="rId5"/>
  </p:sldMasterIdLst>
  <p:notesMasterIdLst>
    <p:notesMasterId r:id="rId13"/>
  </p:notesMasterIdLst>
  <p:handoutMasterIdLst>
    <p:handoutMasterId r:id="rId78"/>
  </p:handoutMasterIdLst>
  <p:sldIdLst>
    <p:sldId id="316" r:id="rId6"/>
    <p:sldId id="310" r:id="rId7"/>
    <p:sldId id="321" r:id="rId8"/>
    <p:sldId id="374" r:id="rId9"/>
    <p:sldId id="318" r:id="rId10"/>
    <p:sldId id="371" r:id="rId11"/>
    <p:sldId id="372" r:id="rId12"/>
    <p:sldId id="373" r:id="rId14"/>
    <p:sldId id="375" r:id="rId15"/>
    <p:sldId id="377" r:id="rId16"/>
    <p:sldId id="378" r:id="rId17"/>
    <p:sldId id="380" r:id="rId18"/>
    <p:sldId id="382" r:id="rId19"/>
    <p:sldId id="379" r:id="rId20"/>
    <p:sldId id="394" r:id="rId21"/>
    <p:sldId id="395" r:id="rId22"/>
    <p:sldId id="383" r:id="rId23"/>
    <p:sldId id="376" r:id="rId24"/>
    <p:sldId id="407" r:id="rId25"/>
    <p:sldId id="411" r:id="rId26"/>
    <p:sldId id="412" r:id="rId27"/>
    <p:sldId id="413" r:id="rId28"/>
    <p:sldId id="414" r:id="rId29"/>
    <p:sldId id="415" r:id="rId30"/>
    <p:sldId id="416" r:id="rId31"/>
    <p:sldId id="417" r:id="rId32"/>
    <p:sldId id="418" r:id="rId33"/>
    <p:sldId id="419" r:id="rId34"/>
    <p:sldId id="420" r:id="rId35"/>
    <p:sldId id="423" r:id="rId36"/>
    <p:sldId id="424" r:id="rId37"/>
    <p:sldId id="402" r:id="rId38"/>
    <p:sldId id="403" r:id="rId39"/>
    <p:sldId id="396" r:id="rId40"/>
    <p:sldId id="398" r:id="rId41"/>
    <p:sldId id="399" r:id="rId42"/>
    <p:sldId id="400" r:id="rId43"/>
    <p:sldId id="401" r:id="rId44"/>
    <p:sldId id="404" r:id="rId45"/>
    <p:sldId id="405" r:id="rId46"/>
    <p:sldId id="429" r:id="rId47"/>
    <p:sldId id="430" r:id="rId48"/>
    <p:sldId id="433" r:id="rId49"/>
    <p:sldId id="434" r:id="rId50"/>
    <p:sldId id="435" r:id="rId51"/>
    <p:sldId id="436" r:id="rId52"/>
    <p:sldId id="437" r:id="rId53"/>
    <p:sldId id="438" r:id="rId54"/>
    <p:sldId id="384" r:id="rId55"/>
    <p:sldId id="385" r:id="rId56"/>
    <p:sldId id="445" r:id="rId57"/>
    <p:sldId id="444" r:id="rId58"/>
    <p:sldId id="446" r:id="rId59"/>
    <p:sldId id="455" r:id="rId60"/>
    <p:sldId id="388" r:id="rId61"/>
    <p:sldId id="389" r:id="rId62"/>
    <p:sldId id="450" r:id="rId63"/>
    <p:sldId id="447" r:id="rId64"/>
    <p:sldId id="461" r:id="rId65"/>
    <p:sldId id="452" r:id="rId66"/>
    <p:sldId id="451" r:id="rId67"/>
    <p:sldId id="454" r:id="rId68"/>
    <p:sldId id="448" r:id="rId69"/>
    <p:sldId id="449" r:id="rId70"/>
    <p:sldId id="458" r:id="rId71"/>
    <p:sldId id="386" r:id="rId72"/>
    <p:sldId id="387" r:id="rId73"/>
    <p:sldId id="390" r:id="rId74"/>
    <p:sldId id="391" r:id="rId75"/>
    <p:sldId id="392" r:id="rId76"/>
    <p:sldId id="393" r:id="rId77"/>
  </p:sldIdLst>
  <p:sldSz cx="12187555" cy="7021830"/>
  <p:notesSz cx="9296400" cy="7010400"/>
  <p:defaultTextStyle>
    <a:defPPr>
      <a:defRPr lang="en-US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lvl="1" indent="-15748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lvl="2" indent="-31432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lvl="3" indent="-47180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lvl="4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1" userDrawn="1">
          <p15:clr>
            <a:srgbClr val="A4A3A4"/>
          </p15:clr>
        </p15:guide>
        <p15:guide id="2" orient="horz" pos="685" userDrawn="1">
          <p15:clr>
            <a:srgbClr val="A4A3A4"/>
          </p15:clr>
        </p15:guide>
        <p15:guide id="3" pos="2632" userDrawn="1">
          <p15:clr>
            <a:srgbClr val="A4A3A4"/>
          </p15:clr>
        </p15:guide>
        <p15:guide id="4" pos="5159" userDrawn="1">
          <p15:clr>
            <a:srgbClr val="A4A3A4"/>
          </p15:clr>
        </p15:guide>
        <p15:guide id="5" pos="34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clrMru>
    <a:srgbClr val="7A8287"/>
    <a:srgbClr val="717171"/>
    <a:srgbClr val="B30000"/>
    <a:srgbClr val="7E0000"/>
    <a:srgbClr val="9E0A26"/>
    <a:srgbClr val="0D9342"/>
    <a:srgbClr val="747474"/>
    <a:srgbClr val="7C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4083"/>
    <p:restoredTop sz="97673"/>
  </p:normalViewPr>
  <p:slideViewPr>
    <p:cSldViewPr snapToGrid="0" showGuides="1">
      <p:cViewPr varScale="1">
        <p:scale>
          <a:sx n="91" d="100"/>
          <a:sy n="91" d="100"/>
        </p:scale>
        <p:origin x="384" y="84"/>
      </p:cViewPr>
      <p:guideLst>
        <p:guide orient="horz" pos="1561"/>
        <p:guide orient="horz" pos="685"/>
        <p:guide pos="2632"/>
        <p:guide pos="5159"/>
        <p:guide pos="34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50" d="100"/>
        <a:sy n="50" d="100"/>
      </p:scale>
      <p:origin x="0" y="0"/>
    </p:cViewPr>
  </p:sorterViewPr>
  <p:gridSpacing cx="76199" cy="76199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2" Type="http://schemas.openxmlformats.org/officeDocument/2006/relationships/commentAuthors" Target="commentAuthors.xml"/><Relationship Id="rId81" Type="http://schemas.openxmlformats.org/officeDocument/2006/relationships/tableStyles" Target="tableStyles.xml"/><Relationship Id="rId80" Type="http://schemas.openxmlformats.org/officeDocument/2006/relationships/viewProps" Target="viewProps.xml"/><Relationship Id="rId8" Type="http://schemas.openxmlformats.org/officeDocument/2006/relationships/slide" Target="slides/slide3.xml"/><Relationship Id="rId79" Type="http://schemas.openxmlformats.org/officeDocument/2006/relationships/presProps" Target="presProps.xml"/><Relationship Id="rId78" Type="http://schemas.openxmlformats.org/officeDocument/2006/relationships/handoutMaster" Target="handoutMasters/handoutMaster1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7" Type="http://schemas.openxmlformats.org/officeDocument/2006/relationships/slide" Target="slides/slide2.xml"/><Relationship Id="rId69" Type="http://schemas.openxmlformats.org/officeDocument/2006/relationships/slide" Target="slides/slide63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0" Type="http://schemas.openxmlformats.org/officeDocument/2006/relationships/slide" Target="slides/slide54.xml"/><Relationship Id="rId6" Type="http://schemas.openxmlformats.org/officeDocument/2006/relationships/slide" Target="slides/slide1.xml"/><Relationship Id="rId59" Type="http://schemas.openxmlformats.org/officeDocument/2006/relationships/slide" Target="slides/slide53.xml"/><Relationship Id="rId58" Type="http://schemas.openxmlformats.org/officeDocument/2006/relationships/slide" Target="slides/slide52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4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0" Type="http://schemas.openxmlformats.org/officeDocument/2006/relationships/slide" Target="slides/slide34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0" Type="http://schemas.openxmlformats.org/officeDocument/2006/relationships/slide" Target="slides/slide14.xml"/><Relationship Id="rId2" Type="http://schemas.openxmlformats.org/officeDocument/2006/relationships/theme" Target="theme/theme1.xml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52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86200" y="0"/>
            <a:ext cx="437673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8277225" y="0"/>
            <a:ext cx="10175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F236681-7156-4480-AE64-29C68A5EE95B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3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3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CA73A3-3EE7-4293-867F-9B8FBD0D7801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7938"/>
            <a:ext cx="3757613" cy="275590"/>
          </a:xfrm>
          <a:prstGeom prst="rect">
            <a:avLst/>
          </a:prstGeom>
          <a:noFill/>
        </p:spPr>
        <p:txBody>
          <a:bodyPr lIns="91650" tIns="45825" rIns="91650" bIns="45825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301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WASHINGTON STATE UNIVERSITY</a:t>
            </a:r>
            <a:endParaRPr kumimoji="0" lang="en-US" sz="1200" b="0" i="0" u="none" strike="noStrike" kern="1200" cap="none" spc="301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2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5738" y="0"/>
            <a:ext cx="4029075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412" name="Rectangle 4"/>
          <p:cNvSpPr>
            <a:spLocks noGrp="1" noRot="1" noChangeAspect="1" noTextEdit="1"/>
          </p:cNvSpPr>
          <p:nvPr>
            <p:ph type="sldImg"/>
          </p:nvPr>
        </p:nvSpPr>
        <p:spPr>
          <a:xfrm>
            <a:off x="2370138" y="527050"/>
            <a:ext cx="4562475" cy="2628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1229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0275" y="3330575"/>
            <a:ext cx="7435850" cy="3152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Click to edit Master text styles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61468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Second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1228725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Third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1843405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Fourth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245745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Fifth level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2BAE9E6-DFE7-48C6-84B7-49545C10A24D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7340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8808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0276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1744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操作系统的本身是一个比较复杂的东西，任务的管理和调度实现的底层是很复杂和困难的。但是呢，我们一般都是把操作系统本身作为一个工具一个平台，我们的目的是使用它的功能而不是开发一个操作系统。</a:t>
            </a:r>
            <a:endParaRPr lang="en-US" altLang="zh-CN"/>
          </a:p>
          <a:p>
            <a:r>
              <a:rPr lang="zh-CN" altLang="zh-CN"/>
              <a:t>实际上真正能使用操作系统的人并不多，反而是跑裸机的占大多数，这也和产品的具体要求有关，很多简单的系统只需要裸机即可满足。</a:t>
            </a:r>
            <a:endParaRPr lang="en-US" altLang="zh-CN"/>
          </a:p>
          <a:p>
            <a:endParaRPr lang="en-US" altLang="zh-CN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FreeRTOS 的优点：小巧、支持多平台、功能模块化。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FreeRTOS 是开源的，下载后可以自由修改和使用。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5" Type="http://schemas.openxmlformats.org/officeDocument/2006/relationships/tags" Target="../tags/tag8.xml"/><Relationship Id="rId4" Type="http://schemas.openxmlformats.org/officeDocument/2006/relationships/tags" Target="../tags/tag7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image" Target="../media/image6.png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image" Target="../media/image7.png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8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7" Type="http://schemas.openxmlformats.org/officeDocument/2006/relationships/tags" Target="../tags/tag39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6" Type="http://schemas.openxmlformats.org/officeDocument/2006/relationships/tags" Target="../tags/tag63.xml"/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9" Type="http://schemas.openxmlformats.org/officeDocument/2006/relationships/tags" Target="../tags/tag70.xml"/><Relationship Id="rId8" Type="http://schemas.openxmlformats.org/officeDocument/2006/relationships/tags" Target="../tags/tag69.xml"/><Relationship Id="rId7" Type="http://schemas.openxmlformats.org/officeDocument/2006/relationships/tags" Target="../tags/tag68.x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image" Target="../media/image9.png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81225"/>
            <a:ext cx="10358438" cy="150495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978275"/>
            <a:ext cx="8529638" cy="17954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2025" y="4511675"/>
            <a:ext cx="10360025" cy="1395413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2025" y="2976563"/>
            <a:ext cx="10360025" cy="153511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38300"/>
            <a:ext cx="5407025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69025" y="1638300"/>
            <a:ext cx="5408613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71625"/>
            <a:ext cx="5384800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227263"/>
            <a:ext cx="5384800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1250" y="1571625"/>
            <a:ext cx="5386388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1250" y="2227263"/>
            <a:ext cx="5386388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9400"/>
            <a:ext cx="4010025" cy="11906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4088" y="279400"/>
            <a:ext cx="6813550" cy="59928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70025"/>
            <a:ext cx="4010025" cy="48021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188" y="4914900"/>
            <a:ext cx="7312025" cy="5810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188" y="627063"/>
            <a:ext cx="7312025" cy="42132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188" y="5495925"/>
            <a:ext cx="7312025" cy="8239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6025" y="280988"/>
            <a:ext cx="2741613" cy="5991225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80988"/>
            <a:ext cx="8074025" cy="59912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第二级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第三级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第四级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 dirty="0"/>
              <a:t>Click to edit Master subtitle style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base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base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base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base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  <a:endParaRPr lang="en-US" strike="noStrike" noProof="1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 userDrawn="1">
            <p:custDataLst>
              <p:tags r:id="rId2"/>
            </p:custDataLst>
          </p:nvPr>
        </p:nvSpPr>
        <p:spPr>
          <a:xfrm>
            <a:off x="6053753" y="909138"/>
            <a:ext cx="5907139" cy="5791822"/>
          </a:xfrm>
          <a:custGeom>
            <a:avLst/>
            <a:gdLst>
              <a:gd name="connsiteX0" fmla="*/ 3879682 w 5909293"/>
              <a:gd name="connsiteY0" fmla="*/ 175 h 5793934"/>
              <a:gd name="connsiteX1" fmla="*/ 4334567 w 5909293"/>
              <a:gd name="connsiteY1" fmla="*/ 60453 h 5793934"/>
              <a:gd name="connsiteX2" fmla="*/ 5246308 w 5909293"/>
              <a:gd name="connsiteY2" fmla="*/ 1122598 h 5793934"/>
              <a:gd name="connsiteX3" fmla="*/ 5872742 w 5909293"/>
              <a:gd name="connsiteY3" fmla="*/ 3288868 h 5793934"/>
              <a:gd name="connsiteX4" fmla="*/ 5819651 w 5909293"/>
              <a:gd name="connsiteY4" fmla="*/ 4125030 h 5793934"/>
              <a:gd name="connsiteX5" fmla="*/ 5157837 w 5909293"/>
              <a:gd name="connsiteY5" fmla="*/ 4912778 h 5793934"/>
              <a:gd name="connsiteX6" fmla="*/ 3379536 w 5909293"/>
              <a:gd name="connsiteY6" fmla="*/ 5735681 h 5793934"/>
              <a:gd name="connsiteX7" fmla="*/ 2078353 w 5909293"/>
              <a:gd name="connsiteY7" fmla="*/ 5726438 h 5793934"/>
              <a:gd name="connsiteX8" fmla="*/ 1489530 w 5909293"/>
              <a:gd name="connsiteY8" fmla="*/ 5363600 h 5793934"/>
              <a:gd name="connsiteX9" fmla="*/ 1035251 w 5909293"/>
              <a:gd name="connsiteY9" fmla="*/ 4220617 h 5793934"/>
              <a:gd name="connsiteX10" fmla="*/ 602247 w 5909293"/>
              <a:gd name="connsiteY10" fmla="*/ 3634929 h 5793934"/>
              <a:gd name="connsiteX11" fmla="*/ 169546 w 5909293"/>
              <a:gd name="connsiteY11" fmla="*/ 2942699 h 5793934"/>
              <a:gd name="connsiteX12" fmla="*/ 652478 w 5909293"/>
              <a:gd name="connsiteY12" fmla="*/ 842508 h 5793934"/>
              <a:gd name="connsiteX13" fmla="*/ 1316613 w 5909293"/>
              <a:gd name="connsiteY13" fmla="*/ 445895 h 5793934"/>
              <a:gd name="connsiteX14" fmla="*/ 1375567 w 5909293"/>
              <a:gd name="connsiteY14" fmla="*/ 424437 h 5793934"/>
              <a:gd name="connsiteX15" fmla="*/ 3408460 w 5909293"/>
              <a:gd name="connsiteY15" fmla="*/ 39296 h 5793934"/>
              <a:gd name="connsiteX16" fmla="*/ 3879682 w 5909293"/>
              <a:gd name="connsiteY16" fmla="*/ 175 h 5793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909293" h="5793934">
                <a:moveTo>
                  <a:pt x="3879682" y="175"/>
                </a:moveTo>
                <a:cubicBezTo>
                  <a:pt x="4036099" y="-1809"/>
                  <a:pt x="4189792" y="12773"/>
                  <a:pt x="4334567" y="60453"/>
                </a:cubicBezTo>
                <a:cubicBezTo>
                  <a:pt x="4813657" y="215756"/>
                  <a:pt x="5066087" y="681130"/>
                  <a:pt x="5246308" y="1122598"/>
                </a:cubicBezTo>
                <a:cubicBezTo>
                  <a:pt x="5530593" y="1818660"/>
                  <a:pt x="5740779" y="2546018"/>
                  <a:pt x="5872742" y="3288868"/>
                </a:cubicBezTo>
                <a:cubicBezTo>
                  <a:pt x="5918136" y="3538857"/>
                  <a:pt x="5941127" y="3794404"/>
                  <a:pt x="5819651" y="4125030"/>
                </a:cubicBezTo>
                <a:cubicBezTo>
                  <a:pt x="5698175" y="4455657"/>
                  <a:pt x="5555500" y="4602769"/>
                  <a:pt x="5157837" y="4912778"/>
                </a:cubicBezTo>
                <a:cubicBezTo>
                  <a:pt x="4760174" y="5222787"/>
                  <a:pt x="3749504" y="5653807"/>
                  <a:pt x="3379536" y="5735681"/>
                </a:cubicBezTo>
                <a:cubicBezTo>
                  <a:pt x="3009569" y="5817556"/>
                  <a:pt x="2330918" y="5811898"/>
                  <a:pt x="2078353" y="5726438"/>
                </a:cubicBezTo>
                <a:cubicBezTo>
                  <a:pt x="1825789" y="5640979"/>
                  <a:pt x="1633575" y="5511056"/>
                  <a:pt x="1489530" y="5363600"/>
                </a:cubicBezTo>
                <a:cubicBezTo>
                  <a:pt x="1194462" y="5065173"/>
                  <a:pt x="1220104" y="4592041"/>
                  <a:pt x="1035251" y="4220617"/>
                </a:cubicBezTo>
                <a:cubicBezTo>
                  <a:pt x="929927" y="4002824"/>
                  <a:pt x="753122" y="3825759"/>
                  <a:pt x="602247" y="3634929"/>
                </a:cubicBezTo>
                <a:cubicBezTo>
                  <a:pt x="430739" y="3418728"/>
                  <a:pt x="291908" y="3187171"/>
                  <a:pt x="169546" y="2942699"/>
                </a:cubicBezTo>
                <a:cubicBezTo>
                  <a:pt x="-176217" y="2249976"/>
                  <a:pt x="17688" y="1398039"/>
                  <a:pt x="652478" y="842508"/>
                </a:cubicBezTo>
                <a:cubicBezTo>
                  <a:pt x="844971" y="671207"/>
                  <a:pt x="1070014" y="535650"/>
                  <a:pt x="1316613" y="445895"/>
                </a:cubicBezTo>
                <a:cubicBezTo>
                  <a:pt x="1336025" y="438830"/>
                  <a:pt x="1354717" y="432026"/>
                  <a:pt x="1375567" y="424437"/>
                </a:cubicBezTo>
                <a:cubicBezTo>
                  <a:pt x="2029851" y="208795"/>
                  <a:pt x="2725822" y="123350"/>
                  <a:pt x="3408460" y="39296"/>
                </a:cubicBezTo>
                <a:cubicBezTo>
                  <a:pt x="3564127" y="20711"/>
                  <a:pt x="3723266" y="2160"/>
                  <a:pt x="3879682" y="175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27" name="图片 26" descr="无人机5资源 1@600x-8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432349" y="1760224"/>
            <a:ext cx="6640948" cy="5178441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702689" y="1387615"/>
            <a:ext cx="5391089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01419" y="3821952"/>
            <a:ext cx="2879945" cy="5801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 b="0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汇报人：</a:t>
            </a:r>
            <a:r>
              <a:rPr lang="en-US" altLang="zh-CN" dirty="0"/>
              <a:t>WPS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8"/>
            <p:custDataLst>
              <p:tags r:id="rId7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9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20"/>
            <p:custDataLst>
              <p:tags r:id="rId9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071" y="1359050"/>
            <a:ext cx="10795538" cy="489977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标题 6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275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2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6"/>
          <p:cNvSpPr/>
          <p:nvPr userDrawn="1">
            <p:custDataLst>
              <p:tags r:id="rId2"/>
            </p:custDataLst>
          </p:nvPr>
        </p:nvSpPr>
        <p:spPr bwMode="auto">
          <a:xfrm rot="6240000" flipH="1">
            <a:off x="1155279" y="2458469"/>
            <a:ext cx="2942152" cy="3513444"/>
          </a:xfrm>
          <a:custGeom>
            <a:avLst/>
            <a:gdLst>
              <a:gd name="connsiteX0" fmla="*/ 4417 w 6611"/>
              <a:gd name="connsiteY0" fmla="*/ 31 h 6706"/>
              <a:gd name="connsiteX1" fmla="*/ 3525 w 6611"/>
              <a:gd name="connsiteY1" fmla="*/ 35 h 6706"/>
              <a:gd name="connsiteX2" fmla="*/ 1943 w 6611"/>
              <a:gd name="connsiteY2" fmla="*/ 444 h 6706"/>
              <a:gd name="connsiteX3" fmla="*/ 850 w 6611"/>
              <a:gd name="connsiteY3" fmla="*/ 1131 h 6706"/>
              <a:gd name="connsiteX4" fmla="*/ 7 w 6611"/>
              <a:gd name="connsiteY4" fmla="*/ 2491 h 6706"/>
              <a:gd name="connsiteX5" fmla="*/ 211 w 6611"/>
              <a:gd name="connsiteY5" fmla="*/ 4826 h 6706"/>
              <a:gd name="connsiteX6" fmla="*/ 752 w 6611"/>
              <a:gd name="connsiteY6" fmla="*/ 5937 h 6706"/>
              <a:gd name="connsiteX7" fmla="*/ 1926 w 6611"/>
              <a:gd name="connsiteY7" fmla="*/ 6575 h 6706"/>
              <a:gd name="connsiteX8" fmla="*/ 4060 w 6611"/>
              <a:gd name="connsiteY8" fmla="*/ 6611 h 6706"/>
              <a:gd name="connsiteX9" fmla="*/ 5547 w 6611"/>
              <a:gd name="connsiteY9" fmla="*/ 5965 h 6706"/>
              <a:gd name="connsiteX10" fmla="*/ 6120 w 6611"/>
              <a:gd name="connsiteY10" fmla="*/ 5119 h 6706"/>
              <a:gd name="connsiteX11" fmla="*/ 6193 w 6611"/>
              <a:gd name="connsiteY11" fmla="*/ 4057 h 6706"/>
              <a:gd name="connsiteX12" fmla="*/ 6398 w 6611"/>
              <a:gd name="connsiteY12" fmla="*/ 3222 h 6706"/>
              <a:gd name="connsiteX13" fmla="*/ 6599 w 6611"/>
              <a:gd name="connsiteY13" fmla="*/ 2281 h 6706"/>
              <a:gd name="connsiteX14" fmla="*/ 5278 w 6611"/>
              <a:gd name="connsiteY14" fmla="*/ 246 h 6706"/>
              <a:gd name="connsiteX15" fmla="*/ 4417 w 6611"/>
              <a:gd name="connsiteY15" fmla="*/ 31 h 6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0" t="0" r="r" b="b"/>
            <a:pathLst>
              <a:path w="6612" h="6706">
                <a:moveTo>
                  <a:pt x="4417" y="31"/>
                </a:moveTo>
                <a:cubicBezTo>
                  <a:pt x="4275" y="12"/>
                  <a:pt x="4045" y="-31"/>
                  <a:pt x="3525" y="35"/>
                </a:cubicBezTo>
                <a:cubicBezTo>
                  <a:pt x="3006" y="101"/>
                  <a:pt x="2368" y="252"/>
                  <a:pt x="1943" y="444"/>
                </a:cubicBezTo>
                <a:cubicBezTo>
                  <a:pt x="1518" y="636"/>
                  <a:pt x="1206" y="810"/>
                  <a:pt x="850" y="1131"/>
                </a:cubicBezTo>
                <a:cubicBezTo>
                  <a:pt x="494" y="1452"/>
                  <a:pt x="28" y="1938"/>
                  <a:pt x="7" y="2491"/>
                </a:cubicBezTo>
                <a:cubicBezTo>
                  <a:pt x="-27" y="3362"/>
                  <a:pt x="58" y="4271"/>
                  <a:pt x="211" y="4826"/>
                </a:cubicBezTo>
                <a:cubicBezTo>
                  <a:pt x="364" y="5381"/>
                  <a:pt x="482" y="5677"/>
                  <a:pt x="752" y="5937"/>
                </a:cubicBezTo>
                <a:cubicBezTo>
                  <a:pt x="1022" y="6197"/>
                  <a:pt x="1328" y="6417"/>
                  <a:pt x="1926" y="6575"/>
                </a:cubicBezTo>
                <a:cubicBezTo>
                  <a:pt x="2524" y="6733"/>
                  <a:pt x="3366" y="6751"/>
                  <a:pt x="4060" y="6611"/>
                </a:cubicBezTo>
                <a:cubicBezTo>
                  <a:pt x="4755" y="6471"/>
                  <a:pt x="5352" y="6115"/>
                  <a:pt x="5547" y="5965"/>
                </a:cubicBezTo>
                <a:cubicBezTo>
                  <a:pt x="5742" y="5815"/>
                  <a:pt x="6019" y="5562"/>
                  <a:pt x="6120" y="5119"/>
                </a:cubicBezTo>
                <a:cubicBezTo>
                  <a:pt x="6221" y="4677"/>
                  <a:pt x="6140" y="4535"/>
                  <a:pt x="6193" y="4057"/>
                </a:cubicBezTo>
                <a:cubicBezTo>
                  <a:pt x="6221" y="3778"/>
                  <a:pt x="6310" y="3490"/>
                  <a:pt x="6398" y="3222"/>
                </a:cubicBezTo>
                <a:cubicBezTo>
                  <a:pt x="6538" y="2812"/>
                  <a:pt x="6563" y="2596"/>
                  <a:pt x="6599" y="2281"/>
                </a:cubicBezTo>
                <a:cubicBezTo>
                  <a:pt x="6700" y="1390"/>
                  <a:pt x="6184" y="599"/>
                  <a:pt x="5278" y="246"/>
                </a:cubicBezTo>
                <a:cubicBezTo>
                  <a:pt x="5003" y="136"/>
                  <a:pt x="4559" y="50"/>
                  <a:pt x="4417" y="31"/>
                </a:cubicBezTo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pic>
        <p:nvPicPr>
          <p:cNvPr id="7" name="图片 6" descr="D:\工作文件\临时素材\无人机5资源-1@600x-8.png无人机5资源-1@600x-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rcRect l="150" r="150"/>
          <a:stretch>
            <a:fillRect/>
          </a:stretch>
        </p:blipFill>
        <p:spPr>
          <a:xfrm>
            <a:off x="869633" y="1632635"/>
            <a:ext cx="3756560" cy="326144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459009" y="3489968"/>
            <a:ext cx="5890652" cy="1760848"/>
          </a:xfrm>
        </p:spPr>
        <p:txBody>
          <a:bodyPr wrap="square" lIns="0" tIns="0" rIns="0" bIns="0" anchor="t" anchorCtr="0">
            <a:normAutofit/>
          </a:bodyPr>
          <a:lstStyle>
            <a:lvl1pPr algn="l">
              <a:defRPr sz="450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5459009" y="2447043"/>
            <a:ext cx="5890652" cy="959770"/>
          </a:xfrm>
          <a:prstGeom prst="roundRect">
            <a:avLst>
              <a:gd name="adj" fmla="val 0"/>
            </a:avLst>
          </a:prstGeom>
          <a:noFill/>
        </p:spPr>
        <p:txBody>
          <a:bodyPr wrap="square" anchor="b" anchorCtr="0">
            <a:noAutofit/>
          </a:bodyPr>
          <a:lstStyle>
            <a:lvl1pPr marL="0" indent="0" algn="l" eaLnBrk="1" fontAlgn="auto" latinLnBrk="0" hangingPunct="1">
              <a:lnSpc>
                <a:spcPct val="100000"/>
              </a:lnSpc>
              <a:spcBef>
                <a:spcPts val="0"/>
              </a:spcBef>
              <a:buNone/>
              <a:defRPr sz="4915" b="1" u="none" strike="noStrike" kern="1200" cap="none" spc="100" normalizeH="0">
                <a:solidFill>
                  <a:schemeClr val="accent1"/>
                </a:solidFill>
                <a:uFillTx/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4"/>
            <p:custDataLst>
              <p:tags r:id="rId7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5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6"/>
            <p:custDataLst>
              <p:tags r:id="rId9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071" y="1359050"/>
            <a:ext cx="5322534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69950" y="1359050"/>
            <a:ext cx="5320659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95072" y="1359050"/>
            <a:ext cx="5300317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95072" y="2143689"/>
            <a:ext cx="5300317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169950" y="1359050"/>
            <a:ext cx="5327295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169950" y="2143689"/>
            <a:ext cx="5327295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071" y="443034"/>
            <a:ext cx="10802173" cy="5815479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071" y="1378693"/>
            <a:ext cx="10802173" cy="5757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55" b="0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2"/>
            </p:custDataLst>
          </p:nvPr>
        </p:nvSpPr>
        <p:spPr>
          <a:xfrm>
            <a:off x="6214960" y="937752"/>
            <a:ext cx="5595525" cy="5915283"/>
          </a:xfrm>
          <a:custGeom>
            <a:avLst/>
            <a:gdLst>
              <a:gd name="connsiteX0" fmla="*/ 3604196 w 5597566"/>
              <a:gd name="connsiteY0" fmla="*/ 127 h 5917440"/>
              <a:gd name="connsiteX1" fmla="*/ 5020674 w 5597566"/>
              <a:gd name="connsiteY1" fmla="*/ 776538 h 5917440"/>
              <a:gd name="connsiteX2" fmla="*/ 5376373 w 5597566"/>
              <a:gd name="connsiteY2" fmla="*/ 1444944 h 5917440"/>
              <a:gd name="connsiteX3" fmla="*/ 5557177 w 5597566"/>
              <a:gd name="connsiteY3" fmla="*/ 2184215 h 5917440"/>
              <a:gd name="connsiteX4" fmla="*/ 5545132 w 5597566"/>
              <a:gd name="connsiteY4" fmla="*/ 3578297 h 5917440"/>
              <a:gd name="connsiteX5" fmla="*/ 5202018 w 5597566"/>
              <a:gd name="connsiteY5" fmla="*/ 4624938 h 5917440"/>
              <a:gd name="connsiteX6" fmla="*/ 4250176 w 5597566"/>
              <a:gd name="connsiteY6" fmla="*/ 5603523 h 5917440"/>
              <a:gd name="connsiteX7" fmla="*/ 2275095 w 5597566"/>
              <a:gd name="connsiteY7" fmla="*/ 5916586 h 5917440"/>
              <a:gd name="connsiteX8" fmla="*/ 1243715 w 5597566"/>
              <a:gd name="connsiteY8" fmla="*/ 5698027 h 5917440"/>
              <a:gd name="connsiteX9" fmla="*/ 473239 w 5597566"/>
              <a:gd name="connsiteY9" fmla="*/ 4857811 h 5917440"/>
              <a:gd name="connsiteX10" fmla="*/ 2965 w 5597566"/>
              <a:gd name="connsiteY10" fmla="*/ 3098601 h 5917440"/>
              <a:gd name="connsiteX11" fmla="*/ 230813 w 5597566"/>
              <a:gd name="connsiteY11" fmla="*/ 1734249 h 5917440"/>
              <a:gd name="connsiteX12" fmla="*/ 812883 w 5597566"/>
              <a:gd name="connsiteY12" fmla="*/ 1085274 h 5917440"/>
              <a:gd name="connsiteX13" fmla="*/ 1676967 w 5597566"/>
              <a:gd name="connsiteY13" fmla="*/ 805643 h 5917440"/>
              <a:gd name="connsiteX14" fmla="*/ 2325887 w 5597566"/>
              <a:gd name="connsiteY14" fmla="*/ 463589 h 5917440"/>
              <a:gd name="connsiteX15" fmla="*/ 3063384 w 5597566"/>
              <a:gd name="connsiteY15" fmla="*/ 102968 h 5917440"/>
              <a:gd name="connsiteX16" fmla="*/ 3604196 w 5597566"/>
              <a:gd name="connsiteY16" fmla="*/ 127 h 5917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597566" h="5917440">
                <a:moveTo>
                  <a:pt x="3604196" y="127"/>
                </a:moveTo>
                <a:cubicBezTo>
                  <a:pt x="4143157" y="-6764"/>
                  <a:pt x="4661253" y="268656"/>
                  <a:pt x="5020674" y="776538"/>
                </a:cubicBezTo>
                <a:cubicBezTo>
                  <a:pt x="5168497" y="981494"/>
                  <a:pt x="5331334" y="1331311"/>
                  <a:pt x="5376373" y="1444944"/>
                </a:cubicBezTo>
                <a:cubicBezTo>
                  <a:pt x="5421411" y="1558578"/>
                  <a:pt x="5504481" y="1740109"/>
                  <a:pt x="5557177" y="2184215"/>
                </a:cubicBezTo>
                <a:cubicBezTo>
                  <a:pt x="5609665" y="2627494"/>
                  <a:pt x="5616351" y="3186831"/>
                  <a:pt x="5545132" y="3578297"/>
                </a:cubicBezTo>
                <a:cubicBezTo>
                  <a:pt x="5473912" y="3969764"/>
                  <a:pt x="5394269" y="4263968"/>
                  <a:pt x="5202018" y="4624938"/>
                </a:cubicBezTo>
                <a:cubicBezTo>
                  <a:pt x="5009767" y="4985909"/>
                  <a:pt x="4703629" y="5471999"/>
                  <a:pt x="4250176" y="5603523"/>
                </a:cubicBezTo>
                <a:cubicBezTo>
                  <a:pt x="3536157" y="5811445"/>
                  <a:pt x="2766119" y="5928695"/>
                  <a:pt x="2275095" y="5916586"/>
                </a:cubicBezTo>
                <a:cubicBezTo>
                  <a:pt x="1784072" y="5904476"/>
                  <a:pt x="1514679" y="5867884"/>
                  <a:pt x="1243715" y="5698027"/>
                </a:cubicBezTo>
                <a:cubicBezTo>
                  <a:pt x="972750" y="5528171"/>
                  <a:pt x="727468" y="5320256"/>
                  <a:pt x="473239" y="4857811"/>
                </a:cubicBezTo>
                <a:cubicBezTo>
                  <a:pt x="219012" y="4395366"/>
                  <a:pt x="30316" y="3702028"/>
                  <a:pt x="2965" y="3098601"/>
                </a:cubicBezTo>
                <a:cubicBezTo>
                  <a:pt x="-24592" y="2494347"/>
                  <a:pt x="146889" y="1926640"/>
                  <a:pt x="230813" y="1734249"/>
                </a:cubicBezTo>
                <a:cubicBezTo>
                  <a:pt x="314738" y="1541857"/>
                  <a:pt x="467003" y="1260322"/>
                  <a:pt x="812883" y="1085274"/>
                </a:cubicBezTo>
                <a:cubicBezTo>
                  <a:pt x="1157935" y="910432"/>
                  <a:pt x="1292205" y="948179"/>
                  <a:pt x="1676967" y="805643"/>
                </a:cubicBezTo>
                <a:cubicBezTo>
                  <a:pt x="1902150" y="724878"/>
                  <a:pt x="2122194" y="591756"/>
                  <a:pt x="2325887" y="463589"/>
                </a:cubicBezTo>
                <a:cubicBezTo>
                  <a:pt x="2636399" y="263066"/>
                  <a:pt x="2810049" y="197787"/>
                  <a:pt x="3063384" y="102968"/>
                </a:cubicBezTo>
                <a:cubicBezTo>
                  <a:pt x="3242571" y="36089"/>
                  <a:pt x="3424543" y="2424"/>
                  <a:pt x="3604196" y="127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6" t="-1" r="15418" b="631"/>
          <a:stretch>
            <a:fillRect/>
          </a:stretch>
        </p:blipFill>
        <p:spPr>
          <a:xfrm>
            <a:off x="5988406" y="2504807"/>
            <a:ext cx="5415210" cy="44306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695071" y="1387615"/>
            <a:ext cx="5398706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/>
            </a:lvl1pPr>
          </a:lstStyle>
          <a:p>
            <a:r>
              <a:rPr lang="zh-CN" altLang="en-US" dirty="0"/>
              <a:t>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07461" y="6437198"/>
            <a:ext cx="2742200" cy="36499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01744" y="3822586"/>
            <a:ext cx="2878950" cy="5793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5.png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1.xml"/><Relationship Id="rId5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9.xml"/><Relationship Id="rId3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7.xml"/><Relationship Id="rId16" Type="http://schemas.openxmlformats.org/officeDocument/2006/relationships/theme" Target="../theme/theme3.xml"/><Relationship Id="rId15" Type="http://schemas.openxmlformats.org/officeDocument/2006/relationships/image" Target="../media/image5.png"/><Relationship Id="rId14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38.xml"/><Relationship Id="rId12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35.xml"/><Relationship Id="rId1" Type="http://schemas.openxmlformats.org/officeDocument/2006/relationships/slideLayout" Target="../slideLayouts/slideLayout26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8.xml"/><Relationship Id="rId8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1.xml"/><Relationship Id="rId18" Type="http://schemas.openxmlformats.org/officeDocument/2006/relationships/theme" Target="../theme/theme4.xml"/><Relationship Id="rId17" Type="http://schemas.openxmlformats.org/officeDocument/2006/relationships/tags" Target="../tags/tag76.xml"/><Relationship Id="rId16" Type="http://schemas.openxmlformats.org/officeDocument/2006/relationships/tags" Target="../tags/tag75.xml"/><Relationship Id="rId15" Type="http://schemas.openxmlformats.org/officeDocument/2006/relationships/tags" Target="../tags/tag74.xml"/><Relationship Id="rId14" Type="http://schemas.openxmlformats.org/officeDocument/2006/relationships/tags" Target="../tags/tag73.xml"/><Relationship Id="rId13" Type="http://schemas.openxmlformats.org/officeDocument/2006/relationships/tags" Target="../tags/tag72.xml"/><Relationship Id="rId12" Type="http://schemas.openxmlformats.org/officeDocument/2006/relationships/tags" Target="../tags/tag71.xml"/><Relationship Id="rId11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49.xml"/><Relationship Id="rId1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p>
            <a:pPr lvl="0"/>
            <a:r>
              <a:rPr lang="en-US" altLang="en-US" dirty="0"/>
              <a:t>Click to edit Master text styles</a:t>
            </a:r>
            <a:endParaRPr lang="en-US" altLang="en-US" dirty="0"/>
          </a:p>
          <a:p>
            <a:pPr lvl="1"/>
            <a:r>
              <a:rPr lang="en-US" altLang="en-US" dirty="0"/>
              <a:t>Second level</a:t>
            </a:r>
            <a:endParaRPr lang="en-US" altLang="en-US" dirty="0"/>
          </a:p>
          <a:p>
            <a:pPr lvl="2"/>
            <a:r>
              <a:rPr lang="en-US" altLang="en-US" dirty="0"/>
              <a:t>Third level</a:t>
            </a:r>
            <a:endParaRPr lang="en-US" altLang="en-US" dirty="0"/>
          </a:p>
          <a:p>
            <a:pPr lvl="3"/>
            <a:r>
              <a:rPr lang="en-US" altLang="en-US" dirty="0"/>
              <a:t>Fourth level</a:t>
            </a:r>
            <a:endParaRPr lang="en-US" altLang="en-US" dirty="0"/>
          </a:p>
          <a:p>
            <a:pPr lvl="4"/>
            <a:r>
              <a:rPr lang="en-US" altLang="en-US" dirty="0"/>
              <a:t>Fifth level</a:t>
            </a:r>
            <a:endParaRPr lang="en-US" altLang="en-US" dirty="0"/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p>
            <a:pPr lvl="0"/>
            <a:r>
              <a:rPr lang="en-US" altLang="en-US" dirty="0"/>
              <a:t>Click to edit Master title style</a:t>
            </a:r>
            <a:endParaRPr lang="en-US" altLang="en-US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50" name="文本占位符 2"/>
          <p:cNvSpPr>
            <a:spLocks noGrp="1"/>
          </p:cNvSpPr>
          <p:nvPr>
            <p:ph type="body"/>
          </p:nvPr>
        </p:nvSpPr>
        <p:spPr>
          <a:xfrm>
            <a:off x="609600" y="1638300"/>
            <a:ext cx="10968038" cy="463391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507163"/>
            <a:ext cx="2843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4013" y="6507163"/>
            <a:ext cx="3859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4425" y="6507163"/>
            <a:ext cx="2843213" cy="3746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p>
            <a:pPr lvl="0"/>
            <a:r>
              <a:rPr lang="en-US" altLang="en-US" dirty="0"/>
              <a:t>Click to edit Master text styles</a:t>
            </a:r>
            <a:endParaRPr lang="en-US" altLang="en-US" dirty="0"/>
          </a:p>
          <a:p>
            <a:pPr lvl="1"/>
            <a:r>
              <a:rPr lang="en-US" altLang="en-US" dirty="0"/>
              <a:t>Second level</a:t>
            </a:r>
            <a:endParaRPr lang="en-US" altLang="en-US" dirty="0"/>
          </a:p>
          <a:p>
            <a:pPr lvl="2"/>
            <a:r>
              <a:rPr lang="en-US" altLang="en-US" dirty="0"/>
              <a:t>Third level</a:t>
            </a:r>
            <a:endParaRPr lang="en-US" altLang="en-US" dirty="0"/>
          </a:p>
          <a:p>
            <a:pPr lvl="3"/>
            <a:r>
              <a:rPr lang="en-US" altLang="en-US" dirty="0"/>
              <a:t>Fourth level</a:t>
            </a:r>
            <a:endParaRPr lang="en-US" altLang="en-US" dirty="0"/>
          </a:p>
          <a:p>
            <a:pPr lvl="4"/>
            <a:r>
              <a:rPr lang="en-US" altLang="en-US" dirty="0"/>
              <a:t>Fifth level</a:t>
            </a:r>
            <a:endParaRPr lang="en-US" altLang="en-US" dirty="0"/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p>
            <a:pPr lvl="0"/>
            <a:r>
              <a:rPr lang="en-US" altLang="en-US" dirty="0"/>
              <a:t>Click to edit Master title style</a:t>
            </a:r>
            <a:endParaRPr lang="en-US" altLang="en-US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4547" y="443034"/>
            <a:ext cx="10796063" cy="71973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5071" y="1366032"/>
            <a:ext cx="10797412" cy="4892796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5071" y="6437198"/>
            <a:ext cx="2885023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7128" y="6437198"/>
            <a:ext cx="4113300" cy="3649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607461" y="6437198"/>
            <a:ext cx="2883148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83165"/>
            <a:ext cx="0" cy="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35990" rtl="0" eaLnBrk="1" latinLnBrk="0" hangingPunct="1">
        <a:lnSpc>
          <a:spcPct val="100000"/>
        </a:lnSpc>
        <a:spcBef>
          <a:spcPct val="0"/>
        </a:spcBef>
        <a:buNone/>
        <a:defRPr sz="327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4315" indent="-234315" algn="l" defTabSz="935990" rtl="0" eaLnBrk="1" latinLnBrk="0" hangingPunct="1">
        <a:lnSpc>
          <a:spcPct val="130000"/>
        </a:lnSpc>
        <a:spcBef>
          <a:spcPct val="205000"/>
        </a:spcBef>
        <a:buFont typeface="Arial" panose="020B0604020202020204" pitchFamily="34" charset="0"/>
        <a:buChar char="•"/>
        <a:defRPr sz="2455" kern="1200">
          <a:solidFill>
            <a:schemeClr val="tx1"/>
          </a:solidFill>
          <a:latin typeface="+mn-lt"/>
          <a:ea typeface="+mn-ea"/>
          <a:cs typeface="+mn-cs"/>
        </a:defRPr>
      </a:lvl1pPr>
      <a:lvl2pPr marL="551180" indent="-21145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17880" indent="-1657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55370" indent="-1530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4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64285" indent="-13017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7492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304292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51091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97891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1pPr>
      <a:lvl2pPr marL="46799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2pPr>
      <a:lvl3pPr marL="93599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3pPr>
      <a:lvl4pPr marL="140462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4pPr>
      <a:lvl5pPr marL="187261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5pPr>
      <a:lvl6pPr marL="234061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27660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74523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5.xml"/><Relationship Id="rId8" Type="http://schemas.openxmlformats.org/officeDocument/2006/relationships/tags" Target="../tags/tag84.xml"/><Relationship Id="rId7" Type="http://schemas.openxmlformats.org/officeDocument/2006/relationships/tags" Target="../tags/tag83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8" Type="http://schemas.openxmlformats.org/officeDocument/2006/relationships/slideLayout" Target="../slideLayouts/slideLayout42.xml"/><Relationship Id="rId17" Type="http://schemas.openxmlformats.org/officeDocument/2006/relationships/tags" Target="../tags/tag93.xml"/><Relationship Id="rId16" Type="http://schemas.openxmlformats.org/officeDocument/2006/relationships/tags" Target="../tags/tag92.xml"/><Relationship Id="rId15" Type="http://schemas.openxmlformats.org/officeDocument/2006/relationships/tags" Target="../tags/tag91.xml"/><Relationship Id="rId14" Type="http://schemas.openxmlformats.org/officeDocument/2006/relationships/tags" Target="../tags/tag90.xml"/><Relationship Id="rId13" Type="http://schemas.openxmlformats.org/officeDocument/2006/relationships/tags" Target="../tags/tag89.xml"/><Relationship Id="rId12" Type="http://schemas.openxmlformats.org/officeDocument/2006/relationships/tags" Target="../tags/tag88.xml"/><Relationship Id="rId11" Type="http://schemas.openxmlformats.org/officeDocument/2006/relationships/tags" Target="../tags/tag87.xml"/><Relationship Id="rId10" Type="http://schemas.openxmlformats.org/officeDocument/2006/relationships/tags" Target="../tags/tag86.xml"/><Relationship Id="rId1" Type="http://schemas.openxmlformats.org/officeDocument/2006/relationships/tags" Target="../tags/tag7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95.xml"/><Relationship Id="rId1" Type="http://schemas.openxmlformats.org/officeDocument/2006/relationships/tags" Target="../tags/tag9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tags" Target="../tags/tag106.xml"/><Relationship Id="rId8" Type="http://schemas.openxmlformats.org/officeDocument/2006/relationships/tags" Target="../tags/tag105.xml"/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107.xml"/><Relationship Id="rId1" Type="http://schemas.openxmlformats.org/officeDocument/2006/relationships/tags" Target="../tags/tag9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13.xml"/><Relationship Id="rId5" Type="http://schemas.openxmlformats.org/officeDocument/2006/relationships/tags" Target="../tags/tag112.xml"/><Relationship Id="rId4" Type="http://schemas.openxmlformats.org/officeDocument/2006/relationships/tags" Target="../tags/tag111.xml"/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19.xml"/><Relationship Id="rId5" Type="http://schemas.openxmlformats.org/officeDocument/2006/relationships/tags" Target="../tags/tag118.xml"/><Relationship Id="rId4" Type="http://schemas.openxmlformats.org/officeDocument/2006/relationships/tags" Target="../tags/tag117.xml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" Type="http://schemas.openxmlformats.org/officeDocument/2006/relationships/tags" Target="../tags/tag1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121.xml"/><Relationship Id="rId1" Type="http://schemas.openxmlformats.org/officeDocument/2006/relationships/tags" Target="../tags/tag12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123.xml"/><Relationship Id="rId1" Type="http://schemas.openxmlformats.org/officeDocument/2006/relationships/tags" Target="../tags/tag12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125.xml"/><Relationship Id="rId1" Type="http://schemas.openxmlformats.org/officeDocument/2006/relationships/tags" Target="../tags/tag12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5" name="组合 4"/>
          <p:cNvGrpSpPr/>
          <p:nvPr/>
        </p:nvGrpSpPr>
        <p:grpSpPr>
          <a:xfrm>
            <a:off x="-60325" y="2941638"/>
            <a:ext cx="12247563" cy="1476375"/>
            <a:chOff x="-59690" y="3590200"/>
            <a:chExt cx="12246928" cy="1476406"/>
          </a:xfrm>
        </p:grpSpPr>
        <p:sp>
          <p:nvSpPr>
            <p:cNvPr id="6" name="TextBox 5"/>
            <p:cNvSpPr txBox="1"/>
            <p:nvPr/>
          </p:nvSpPr>
          <p:spPr>
            <a:xfrm>
              <a:off x="-59690" y="3590200"/>
              <a:ext cx="12187238" cy="614058"/>
            </a:xfrm>
            <a:prstGeom prst="rect">
              <a:avLst/>
            </a:prstGeom>
            <a:noFill/>
          </p:spPr>
          <p:txBody>
            <a:bodyPr lIns="122932" tIns="61466" rIns="122932" bIns="61466">
              <a:spAutoFit/>
            </a:bodyPr>
            <a:lstStyle/>
            <a:p>
              <a:pPr marR="0" algn="ctr" defTabSz="914400">
                <a:buClrTx/>
                <a:buSzTx/>
                <a:buFontTx/>
                <a:buNone/>
                <a:defRPr/>
              </a:pPr>
              <a:r>
                <a:rPr kumimoji="0" lang="en-US" altLang="zh-CN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FreeRTOS</a:t>
              </a:r>
              <a:r>
                <a:rPr kumimoji="0" lang="zh-CN" altLang="en-US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核心</a:t>
              </a:r>
              <a:r>
                <a:rPr kumimoji="0" lang="zh-CN" altLang="en-US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机制</a:t>
              </a:r>
              <a:endParaRPr kumimoji="0" lang="zh-CN" altLang="en-US" sz="3200" kern="1200" cap="none" spc="134" normalizeH="0" baseline="0" noProof="0" dirty="0">
                <a:solidFill>
                  <a:schemeClr val="bg2">
                    <a:lumMod val="65000"/>
                    <a:lumOff val="35000"/>
                  </a:schemeClr>
                </a:solidFill>
                <a:latin typeface="冬青黑体简体中文 W6" pitchFamily="34" charset="-122"/>
                <a:ea typeface="冬青黑体简体中文 W6" pitchFamily="34" charset="-122"/>
                <a:cs typeface="+mn-cs"/>
              </a:endParaRPr>
            </a:p>
          </p:txBody>
        </p:sp>
        <p:sp>
          <p:nvSpPr>
            <p:cNvPr id="18437" name="TextBox 6"/>
            <p:cNvSpPr txBox="1">
              <a:spLocks noChangeArrowheads="1"/>
            </p:cNvSpPr>
            <p:nvPr/>
          </p:nvSpPr>
          <p:spPr bwMode="auto">
            <a:xfrm>
              <a:off x="0" y="4421987"/>
              <a:ext cx="12187238" cy="6446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134" normalizeH="0" baseline="0" noProof="0" dirty="0" smtClean="0">
                  <a:ln>
                    <a:noFill/>
                  </a:ln>
                  <a:solidFill>
                    <a:schemeClr val="bg2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仿宋" panose="02010609060101010101" pitchFamily="49" charset="-122"/>
                  <a:ea typeface="仿宋" panose="02010609060101010101" pitchFamily="49" charset="-122"/>
                  <a:cs typeface="+mn-cs"/>
                </a:rPr>
                <a:t>姓名：丰无界</a:t>
              </a:r>
              <a:endParaRPr kumimoji="0" lang="en-US" altLang="zh-CN" sz="1800" b="0" i="0" u="none" strike="noStrike" kern="1200" cap="none" spc="134" normalizeH="0" baseline="0" noProof="0" dirty="0" smtClean="0">
                <a:ln>
                  <a:noFill/>
                </a:ln>
                <a:solidFill>
                  <a:schemeClr val="bg2">
                    <a:lumMod val="65000"/>
                    <a:lumOff val="35000"/>
                  </a:schemeClr>
                </a:solidFill>
                <a:effectLst/>
                <a:uLnTx/>
                <a:uFillTx/>
                <a:latin typeface="仿宋" panose="02010609060101010101" pitchFamily="49" charset="-122"/>
                <a:ea typeface="仿宋" panose="02010609060101010101" pitchFamily="49" charset="-122"/>
                <a:cs typeface="+mn-cs"/>
              </a:endParaRP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338138" y="171450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r>
              <a:rPr lang="zh-CN" altLang="en-US">
                <a:latin typeface="Arial" panose="020B0604020202020204" pitchFamily="34" charset="0"/>
              </a:rPr>
              <a:t>课程</a:t>
            </a:r>
            <a:r>
              <a:rPr lang="zh-CN" altLang="en-US">
                <a:latin typeface="Arial" panose="020B0604020202020204" pitchFamily="34" charset="0"/>
              </a:rPr>
              <a:t>目标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93090" y="860425"/>
            <a:ext cx="4062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3090" y="944245"/>
            <a:ext cx="10509885" cy="3154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理解 FreeRTOS 核心机制与底层原理</a:t>
            </a:r>
            <a:endParaRPr sz="2000">
              <a:solidFill>
                <a:schemeClr val="bg2"/>
              </a:solidFill>
              <a:latin typeface="+mn-lt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掌握任务调度、时间管理、同步通信等关键技术</a:t>
            </a:r>
            <a:endParaRPr sz="2000">
              <a:solidFill>
                <a:schemeClr val="bg2"/>
              </a:solidFill>
              <a:latin typeface="+mn-lt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避免常见 RTOS 开发陷阱</a:t>
            </a:r>
            <a:endParaRPr sz="2000">
              <a:solidFill>
                <a:schemeClr val="bg2"/>
              </a:solidFill>
              <a:latin typeface="+mn-lt"/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结合实际案例加深理解</a:t>
            </a:r>
            <a:endParaRPr sz="2000">
              <a:solidFill>
                <a:schemeClr val="bg2"/>
              </a:solidFill>
              <a:latin typeface="+mn-lt"/>
              <a:sym typeface="+mn-ea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37565" y="648335"/>
            <a:ext cx="3763010" cy="1080770"/>
          </a:xfrm>
        </p:spPr>
        <p:txBody>
          <a:bodyPr wrap="square">
            <a:normAutofit/>
          </a:bodyPr>
          <a:lstStyle/>
          <a:p>
            <a:r>
              <a:rPr lang="en-US" spc="300" dirty="0">
                <a:latin typeface="+mj-ea"/>
                <a:sym typeface="+mn-ea"/>
              </a:rPr>
              <a:t>FreeRTOS</a:t>
            </a:r>
            <a:endParaRPr lang="en-US"/>
          </a:p>
        </p:txBody>
      </p:sp>
      <p:sp>
        <p:nvSpPr>
          <p:cNvPr id="6" name="序号"/>
          <p:cNvSpPr txBox="1"/>
          <p:nvPr>
            <p:custDataLst>
              <p:tags r:id="rId2"/>
            </p:custDataLst>
          </p:nvPr>
        </p:nvSpPr>
        <p:spPr>
          <a:xfrm>
            <a:off x="5614496" y="2315845"/>
            <a:ext cx="791210" cy="4895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01.</a:t>
            </a:r>
            <a:endParaRPr lang="zh-CN" alt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" name="项标题"/>
          <p:cNvSpPr txBox="1"/>
          <p:nvPr>
            <p:custDataLst>
              <p:tags r:id="rId3"/>
            </p:custDataLst>
          </p:nvPr>
        </p:nvSpPr>
        <p:spPr>
          <a:xfrm>
            <a:off x="6523355" y="2315845"/>
            <a:ext cx="4794250" cy="3714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0000" lnSpcReduction="10000"/>
          </a:bodyPr>
          <a:lstStyle/>
          <a:p>
            <a:pPr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RTOS 基本概念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9" name="序号"/>
          <p:cNvSpPr txBox="1"/>
          <p:nvPr>
            <p:custDataLst>
              <p:tags r:id="rId4"/>
            </p:custDataLst>
          </p:nvPr>
        </p:nvSpPr>
        <p:spPr>
          <a:xfrm>
            <a:off x="5614496" y="2780030"/>
            <a:ext cx="791210" cy="45974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02.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0" name="项标题"/>
          <p:cNvSpPr txBox="1"/>
          <p:nvPr>
            <p:custDataLst>
              <p:tags r:id="rId5"/>
            </p:custDataLst>
          </p:nvPr>
        </p:nvSpPr>
        <p:spPr>
          <a:xfrm>
            <a:off x="6523355" y="2806065"/>
            <a:ext cx="4794250" cy="4425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b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</a:t>
            </a: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与</a:t>
            </a:r>
            <a:r>
              <a:rPr lang="en-US" sz="2800" b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调度机制</a:t>
            </a:r>
            <a:endParaRPr lang="en-US" sz="2800" b="1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12" name="序号"/>
          <p:cNvSpPr txBox="1"/>
          <p:nvPr>
            <p:custDataLst>
              <p:tags r:id="rId6"/>
            </p:custDataLst>
          </p:nvPr>
        </p:nvSpPr>
        <p:spPr>
          <a:xfrm>
            <a:off x="5614496" y="3325495"/>
            <a:ext cx="791210" cy="45974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03.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" name="项标题"/>
          <p:cNvSpPr txBox="1"/>
          <p:nvPr>
            <p:custDataLst>
              <p:tags r:id="rId7"/>
            </p:custDataLst>
          </p:nvPr>
        </p:nvSpPr>
        <p:spPr>
          <a:xfrm>
            <a:off x="6523355" y="3337560"/>
            <a:ext cx="4794250" cy="4476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时间管理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序号"/>
          <p:cNvSpPr txBox="1"/>
          <p:nvPr>
            <p:custDataLst>
              <p:tags r:id="rId8"/>
            </p:custDataLst>
          </p:nvPr>
        </p:nvSpPr>
        <p:spPr>
          <a:xfrm>
            <a:off x="5614496" y="387096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04.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项标题"/>
          <p:cNvSpPr txBox="1"/>
          <p:nvPr>
            <p:custDataLst>
              <p:tags r:id="rId9"/>
            </p:custDataLst>
          </p:nvPr>
        </p:nvSpPr>
        <p:spPr>
          <a:xfrm>
            <a:off x="6523355" y="387413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任务间通信与同步</a:t>
            </a:r>
            <a:endParaRPr lang="zh-CN" altLang="en-US" sz="2400" b="1" spc="3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2" name="序号"/>
          <p:cNvSpPr txBox="1"/>
          <p:nvPr>
            <p:custDataLst>
              <p:tags r:id="rId10"/>
            </p:custDataLst>
          </p:nvPr>
        </p:nvSpPr>
        <p:spPr>
          <a:xfrm>
            <a:off x="5614496" y="441325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05.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" name="项标题"/>
          <p:cNvSpPr txBox="1"/>
          <p:nvPr>
            <p:custDataLst>
              <p:tags r:id="rId11"/>
            </p:custDataLst>
          </p:nvPr>
        </p:nvSpPr>
        <p:spPr>
          <a:xfrm>
            <a:off x="6523355" y="441515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内存管理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05880" y="5821680"/>
            <a:ext cx="3955415" cy="521970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p>
            <a:pPr algn="l">
              <a:buClrTx/>
              <a:buSzTx/>
              <a:buFontTx/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常见陷阱与调试技巧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8" name="序号"/>
          <p:cNvSpPr txBox="1"/>
          <p:nvPr>
            <p:custDataLst>
              <p:tags r:id="rId12"/>
            </p:custDataLst>
          </p:nvPr>
        </p:nvSpPr>
        <p:spPr>
          <a:xfrm>
            <a:off x="5614496" y="5887085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08.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8" name="序号"/>
          <p:cNvSpPr txBox="1"/>
          <p:nvPr>
            <p:custDataLst>
              <p:tags r:id="rId13"/>
            </p:custDataLst>
          </p:nvPr>
        </p:nvSpPr>
        <p:spPr>
          <a:xfrm>
            <a:off x="5614496" y="538607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07.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项标题"/>
          <p:cNvSpPr txBox="1"/>
          <p:nvPr>
            <p:custDataLst>
              <p:tags r:id="rId14"/>
            </p:custDataLst>
          </p:nvPr>
        </p:nvSpPr>
        <p:spPr>
          <a:xfrm>
            <a:off x="6523355" y="538797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00000"/>
              </a:lnSpc>
            </a:pPr>
            <a:r>
              <a:rPr lang="zh-CN" alt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钩子</a:t>
            </a:r>
            <a:r>
              <a:rPr lang="zh-CN" alt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函数</a:t>
            </a:r>
            <a:endParaRPr lang="zh-CN" alt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20" name="序号"/>
          <p:cNvSpPr txBox="1"/>
          <p:nvPr>
            <p:custDataLst>
              <p:tags r:id="rId15"/>
            </p:custDataLst>
          </p:nvPr>
        </p:nvSpPr>
        <p:spPr>
          <a:xfrm>
            <a:off x="5614496" y="489966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06.</a:t>
            </a:r>
            <a:endParaRPr 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项标题"/>
          <p:cNvSpPr txBox="1"/>
          <p:nvPr>
            <p:custDataLst>
              <p:tags r:id="rId16"/>
            </p:custDataLst>
          </p:nvPr>
        </p:nvSpPr>
        <p:spPr>
          <a:xfrm>
            <a:off x="6523355" y="490156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p>
            <a:pPr>
              <a:lnSpc>
                <a:spcPct val="100000"/>
              </a:lnSpc>
            </a:pPr>
            <a:r>
              <a:rPr lang="zh-CN" alt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中断</a:t>
            </a:r>
            <a:r>
              <a:rPr lang="zh-CN" alt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管理</a:t>
            </a:r>
            <a:endParaRPr lang="zh-CN" alt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</p:spTree>
    <p:custDataLst>
      <p:tags r:id="rId17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sym typeface="+mn-ea"/>
              </a:rPr>
              <a:t>RTOS 基本概念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0215" y="964565"/>
            <a:ext cx="89535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RTOS vs </a:t>
            </a:r>
            <a:r>
              <a:rPr 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其它</a:t>
            </a:r>
            <a:endParaRPr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实时性的定义：硬实时 vs 软实时</a:t>
            </a:r>
            <a:endParaRPr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 架构概览</a:t>
            </a:r>
            <a:endParaRPr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使用</a:t>
            </a:r>
            <a:endParaRPr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顺序执行的前后台系统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755650" y="1348105"/>
            <a:ext cx="3550920" cy="372364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rcRect l="734" b="606"/>
          <a:stretch>
            <a:fillRect/>
          </a:stretch>
        </p:blipFill>
        <p:spPr>
          <a:xfrm>
            <a:off x="4745990" y="1146175"/>
            <a:ext cx="5493385" cy="27076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38848" y="5377498"/>
            <a:ext cx="5080000" cy="82994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这种架构的优点是使用简单易于理解，而缺点是每个任务所占的</a:t>
            </a:r>
            <a:r>
              <a:rPr lang="en-US" altLang="zh-CN" sz="1600" b="0" i="0">
                <a:solidFill>
                  <a:schemeClr val="bg2"/>
                </a:solidFill>
                <a:latin typeface="PingFang SC"/>
                <a:ea typeface="PingFang SC"/>
              </a:rPr>
              <a:t>CPU</a:t>
            </a:r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时间过长的话，会导致程序的实时性能差，就比如按键的检测等。</a:t>
            </a:r>
            <a:endParaRPr lang="zh-CN" altLang="en-US" sz="1600" b="0" i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时间片轮询系统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013460" y="5670550"/>
            <a:ext cx="9574530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时间片轮询法相比顺序执行还是有很大优势的，既有顺序执行法的优点，也有操作系统的部分优点。</a:t>
            </a:r>
            <a:endParaRPr lang="zh-CN" altLang="en-US" sz="1600" b="0" i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939165" y="1326515"/>
            <a:ext cx="3748405" cy="411988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2"/>
          <a:stretch>
            <a:fillRect/>
          </a:stretch>
        </p:blipFill>
        <p:spPr>
          <a:xfrm>
            <a:off x="5092700" y="2091055"/>
            <a:ext cx="6458585" cy="194437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多任务操作系统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57835" y="5523865"/>
            <a:ext cx="1109281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在一些功能复杂，逻辑控制较为困难的系统中就适合选择多任务操作系统，比如视频监控系统、无人机等等应用场景。</a:t>
            </a:r>
            <a:endParaRPr lang="zh-CN" altLang="en-US" sz="1600" b="0" i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  <p:pic>
        <p:nvPicPr>
          <p:cNvPr id="3" name="图片 2"/>
          <p:cNvPicPr/>
          <p:nvPr/>
        </p:nvPicPr>
        <p:blipFill>
          <a:blip r:embed="rId1"/>
          <a:stretch>
            <a:fillRect/>
          </a:stretch>
        </p:blipFill>
        <p:spPr>
          <a:xfrm>
            <a:off x="129540" y="1338580"/>
            <a:ext cx="5728970" cy="394144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5858510" y="1310005"/>
            <a:ext cx="6329045" cy="39147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57835" y="5996305"/>
            <a:ext cx="10925810" cy="521970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没有最好的软件架构</a:t>
            </a:r>
            <a:r>
              <a:rPr lang="en-US" altLang="zh-CN" sz="1600" b="0" i="0">
                <a:solidFill>
                  <a:schemeClr val="bg2"/>
                </a:solidFill>
                <a:latin typeface="PingFang SC"/>
                <a:ea typeface="PingFang SC"/>
              </a:rPr>
              <a:t>(</a:t>
            </a:r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程序架构</a:t>
            </a:r>
            <a:r>
              <a:rPr lang="en-US" altLang="zh-CN" sz="1600" b="0" i="0">
                <a:solidFill>
                  <a:schemeClr val="bg2"/>
                </a:solidFill>
                <a:latin typeface="PingFang SC"/>
                <a:ea typeface="PingFang SC"/>
              </a:rPr>
              <a:t>)</a:t>
            </a:r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，而是只有最合适的。因为在不同的应用场景中适合采用不同的程序设计，而单纯的去比较哪种程序架构是最好的没有什么实际的意义。</a:t>
            </a:r>
            <a:endParaRPr lang="zh-CN" altLang="en-US" sz="1600" b="0" i="0">
              <a:solidFill>
                <a:schemeClr val="bg2"/>
              </a:solidFill>
              <a:latin typeface="PingFang SC"/>
              <a:ea typeface="PingFang SC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RTOS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其它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chemeClr val="bg2"/>
                </a:solidFill>
                <a:sym typeface="+mn-ea"/>
              </a:rPr>
              <a:t>RTOS：</a:t>
            </a:r>
            <a:r>
              <a:rPr>
                <a:solidFill>
                  <a:srgbClr val="FF0000"/>
                </a:solidFill>
                <a:sym typeface="+mn-ea"/>
              </a:rPr>
              <a:t>多任务、实时调度、可预测性</a:t>
            </a:r>
            <a:r>
              <a:rPr lang="zh-CN">
                <a:solidFill>
                  <a:schemeClr val="bg2"/>
                </a:solidFill>
                <a:ea typeface="宋体" panose="02010600030101010101" pitchFamily="2" charset="-122"/>
                <a:sym typeface="+mn-ea"/>
              </a:rPr>
              <a:t>（任务执行有规律，与及时性的区别）</a:t>
            </a:r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裸机：简单控制，单任务，</a:t>
            </a:r>
            <a:r>
              <a:rPr>
                <a:solidFill>
                  <a:srgbClr val="FF0000"/>
                </a:solidFill>
                <a:sym typeface="+mn-ea"/>
              </a:rPr>
              <a:t>实时性</a:t>
            </a:r>
            <a:r>
              <a:rPr>
                <a:solidFill>
                  <a:schemeClr val="bg2"/>
                </a:solidFill>
                <a:sym typeface="+mn-ea"/>
              </a:rPr>
              <a:t>差</a:t>
            </a:r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RTOS 是为复杂系统设计，支持硬件抽象层、任务切换与中断管理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3885" y="3510915"/>
            <a:ext cx="97282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>
                <a:solidFill>
                  <a:schemeClr val="bg2"/>
                </a:solidFill>
                <a:sym typeface="+mn-ea"/>
              </a:rPr>
              <a:t>RTOS vs 裸机的对比：</a:t>
            </a:r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裸机程序需要自己管理所有任务，RTOS 提供调度器和任务管理。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硬实时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软实时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chemeClr val="bg2"/>
                </a:solidFill>
                <a:sym typeface="+mn-ea"/>
              </a:rPr>
              <a:t>硬实时：任务必须在规定时间内完成，否则系统不可用</a:t>
            </a:r>
            <a:r>
              <a:rPr lang="en-US">
                <a:solidFill>
                  <a:schemeClr val="bg2"/>
                </a:solidFill>
                <a:sym typeface="+mn-ea"/>
              </a:rPr>
              <a:t>    ---</a:t>
            </a:r>
            <a:r>
              <a:rPr>
                <a:solidFill>
                  <a:schemeClr val="bg2"/>
                </a:solidFill>
                <a:sym typeface="+mn-ea"/>
              </a:rPr>
              <a:t>工业控制、汽车刹车系统；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软实时：任务完成的时间要求较宽松，尽量在规定时间内完成</a:t>
            </a:r>
            <a:r>
              <a:rPr lang="en-US">
                <a:solidFill>
                  <a:schemeClr val="bg2"/>
                </a:solidFill>
                <a:sym typeface="+mn-ea"/>
              </a:rPr>
              <a:t> ---</a:t>
            </a:r>
            <a:r>
              <a:rPr>
                <a:solidFill>
                  <a:schemeClr val="bg2"/>
                </a:solidFill>
                <a:sym typeface="+mn-ea"/>
              </a:rPr>
              <a:t>视频播放、音频处理。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架构概览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chemeClr val="bg2"/>
                </a:solidFill>
                <a:sym typeface="+mn-ea"/>
              </a:rPr>
              <a:t>FreeRTOS：开源、轻量、广泛应用于嵌入式系统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核心：任务管理、时间管理、同步通信、内存管理、调度器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可移植层：支持多种硬件架构（STM32、AVR、ARM、PIC）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使用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-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下载代码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chemeClr val="bg2"/>
                </a:solidFill>
                <a:sym typeface="+mn-ea"/>
              </a:rPr>
              <a:t>访问 FreeRTOS 官方网站（https://www.freertos.org）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或者从 GitHub 下载源代码：https://github.com/FreeRTOS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FreeRTOS 中的</a:t>
            </a:r>
            <a:r>
              <a:rPr lang="zh-CN">
                <a:solidFill>
                  <a:schemeClr val="bg2"/>
                </a:solidFill>
                <a:sym typeface="+mn-ea"/>
              </a:rPr>
              <a:t>部分</a:t>
            </a:r>
            <a:r>
              <a:rPr>
                <a:solidFill>
                  <a:schemeClr val="bg2"/>
                </a:solidFill>
                <a:sym typeface="+mn-ea"/>
              </a:rPr>
              <a:t>功能模块（任务管理、内存管理、通信机制）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32200"/>
            <a:ext cx="6242685" cy="33896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920" y="3785870"/>
            <a:ext cx="6419215" cy="323596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809365" y="116840"/>
            <a:ext cx="5125085" cy="4210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chemeClr val="bg2"/>
                </a:solidFill>
                <a:sym typeface="+mn-ea"/>
              </a:rPr>
              <a:t>FreeRTOS 中的各个功能模块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836295"/>
            <a:ext cx="12103100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solidFill>
                  <a:schemeClr val="bg2"/>
                </a:solidFill>
                <a:sym typeface="+mn-ea"/>
              </a:rPr>
              <a:t>这些功能模块是设计成可选的，你可以根据实际需求选择性地使用其中的一部分，而不必强制引入所有功能。</a:t>
            </a:r>
            <a:endParaRPr lang="zh-CN" altLang="en-US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1. 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任务管理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提供了任务（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Task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）创建、调度、删除、挂起等功能。你可以仅使用任务管理模块来实现基于任务的调度，无需使用其他模块。</a:t>
            </a:r>
            <a:endParaRPr lang="en-US" altLang="zh-CN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2. 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内存管理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支持多种内存管理方案（如堆、栈管理）。你可以选择是否使用它的内存分配功能，比如你可以选择自己编写内存管理代码，或者直接使用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提供的堆内存分配器。</a:t>
            </a:r>
            <a:endParaRPr lang="zh-CN" altLang="en-US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3. 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时间管理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：提供系统节拍计数、支持任务延时、软件定时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机制，让任务可以基于时间进行调度或周期性执行，满足实时性需求。</a:t>
            </a:r>
            <a:endParaRPr lang="zh-CN" altLang="en-US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4.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调度器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：根据任务优先级选择下一个运行的任务、支持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抢占式调度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和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时间片轮转调度、提供任务切换机制（上下文切换）</a:t>
            </a:r>
            <a:endParaRPr lang="zh-CN" altLang="en-US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5.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任务间通信机制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提供了多个通信机制，如消息队列、信号量、互斥量、事件组、消息流缓冲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区等。这些模块可以独立于任务管理使用。你可以在任务间使用这些通信机制，但如果你的系统中不需要任务间通信，你完全可以选择不使用这些功能</a:t>
            </a:r>
            <a:endParaRPr lang="zh-CN" altLang="en-US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6.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中断管理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：提供与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ISR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（中断服务例程）的交互接口（带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FromISR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后缀的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API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）支持中断触发任务切换临界区管理（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taskENTER_CRITICAL / taskEXIT_CRITICAL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）防止竞态条件，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将硬件中断与实时任务系统无缝结合，保证响应实时性</a:t>
            </a:r>
            <a:endParaRPr lang="zh-CN" altLang="en-US" b="1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7.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钩子函数：</a:t>
            </a:r>
            <a:r>
              <a:rPr lang="zh-CN" altLang="en-US" sz="1800">
                <a:solidFill>
                  <a:schemeClr val="bg2"/>
                </a:solidFill>
                <a:sym typeface="+mn-ea"/>
              </a:rPr>
              <a:t>Idle Hook：在系统空闲时执行用户代码（如省电操作）、Tick Hook：在每个系统节拍中执行用户代码</a:t>
            </a:r>
            <a:endParaRPr lang="zh-CN" altLang="en-US" sz="1800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zh-CN" altLang="en-US" sz="1800">
                <a:solidFill>
                  <a:schemeClr val="bg2"/>
                </a:solidFill>
                <a:sym typeface="+mn-ea"/>
              </a:rPr>
              <a:t>Malloc Failed Hook：内存分配失败时触发、Stack Overflow Hook：任务栈溢出时触发，提供用户自定义扩展机制，增强系统健壮性和可调试性。</a:t>
            </a:r>
            <a:endParaRPr lang="zh-CN" altLang="en-US" sz="1800">
              <a:solidFill>
                <a:schemeClr val="bg2"/>
              </a:solidFill>
              <a:sym typeface="+mn-ea"/>
            </a:endParaRPr>
          </a:p>
          <a:p>
            <a:pPr marL="0" lvl="1" indent="0"/>
            <a:endParaRPr lang="zh-CN" altLang="en-US" sz="1800">
              <a:solidFill>
                <a:schemeClr val="bg2"/>
              </a:solidFill>
              <a:sym typeface="+mn-ea"/>
            </a:endParaRPr>
          </a:p>
          <a:p>
            <a:r>
              <a:rPr lang="zh-CN" altLang="en-US">
                <a:solidFill>
                  <a:schemeClr val="bg2"/>
                </a:solidFill>
                <a:sym typeface="+mn-ea"/>
              </a:rPr>
              <a:t>假设你只需要使用任务调度功能来并行执行一些任务，那么你可以只开启任务管理相关的功能，而不需要使用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的内存管理和通信机制。相反，如果你的应用程序中不需要多个任务并发，只需要通信机制来同步不同硬件或组件的状态，也可以仅引入信号量或消息队列模块。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FreeRTOS 使用 - STM32 生成代码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455420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>
                <a:solidFill>
                  <a:schemeClr val="bg2"/>
                </a:solidFill>
                <a:sym typeface="+mn-ea"/>
              </a:rPr>
              <a:t>使用 STM32CubeMX 配置 FreeRTOS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在 STM32CubeMX 中启用 FreeRTOS，配置任务、堆栈大小、优先级等</a:t>
            </a:r>
            <a:endParaRPr>
              <a:solidFill>
                <a:schemeClr val="bg2"/>
              </a:solidFill>
              <a:sym typeface="+mn-ea"/>
            </a:endParaRP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生成代码后，使用 Keil 或 STM32CubeIDE 编译和调试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224530"/>
            <a:ext cx="6735445" cy="32442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195" y="3224530"/>
            <a:ext cx="5639435" cy="35115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228283" y="786765"/>
            <a:ext cx="5657850" cy="54483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1108075" y="636905"/>
            <a:ext cx="9021445" cy="616648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altLang="en-US">
                <a:solidFill>
                  <a:srgbClr val="D92142"/>
                </a:solidFill>
                <a:latin typeface="PingFang SC"/>
                <a:ea typeface="PingFang SC"/>
                <a:sym typeface="+mn-ea"/>
              </a:rPr>
              <a:t>任务与调度机制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任务与调度机制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</a:t>
            </a:r>
            <a:r>
              <a:rPr b="1">
                <a:sym typeface="+mn-ea"/>
              </a:rPr>
              <a:t>创建</a:t>
            </a:r>
            <a:r>
              <a:rPr>
                <a:sym typeface="+mn-ea"/>
              </a:rPr>
              <a:t>与</a:t>
            </a:r>
            <a:r>
              <a:rPr b="1">
                <a:sym typeface="+mn-ea"/>
              </a:rPr>
              <a:t>删除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优先级与调度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任务状态转换</a:t>
            </a:r>
            <a:r>
              <a:rPr b="1">
                <a:sym typeface="+mn-ea"/>
              </a:rPr>
              <a:t>（就绪、运行、阻塞、挂起）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104" name="文本框 9"/>
          <p:cNvSpPr txBox="1"/>
          <p:nvPr/>
        </p:nvSpPr>
        <p:spPr>
          <a:xfrm>
            <a:off x="1693228" y="149860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，任务创建和删除的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2088515" y="26177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/>
                <a:gridCol w="2604294"/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动态方式创建任务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静态方式创建任务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vTaskDelete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删除任务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</a:tr>
            </a:tbl>
          </a:graphicData>
        </a:graphic>
      </p:graphicFrame>
      <p:sp>
        <p:nvSpPr>
          <p:cNvPr id="4122" name="文本框 6"/>
          <p:cNvSpPr txBox="1"/>
          <p:nvPr/>
        </p:nvSpPr>
        <p:spPr>
          <a:xfrm>
            <a:off x="2078990" y="2119313"/>
            <a:ext cx="4313238" cy="3063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任务的创建和删除本质就是调用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9" name="矩形: 圆角 8"/>
          <p:cNvSpPr/>
          <p:nvPr/>
        </p:nvSpPr>
        <p:spPr>
          <a:xfrm>
            <a:off x="2078990" y="44783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动态创建任务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2088515" y="5062538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静态创建任务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25" name="文本框 27"/>
          <p:cNvSpPr txBox="1"/>
          <p:nvPr/>
        </p:nvSpPr>
        <p:spPr>
          <a:xfrm>
            <a:off x="3539490" y="4295775"/>
            <a:ext cx="5705475" cy="6302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任务的任务控制块以及任务的栈空间所需的内存，均由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管理的堆中分配 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26" name="文本框 28"/>
          <p:cNvSpPr txBox="1"/>
          <p:nvPr/>
        </p:nvSpPr>
        <p:spPr>
          <a:xfrm>
            <a:off x="3539490" y="5021263"/>
            <a:ext cx="5705475" cy="3492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任务的任务控制块以及任务的栈空间所需的内存，需用户分配提供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9" grpId="0" bldLvl="0" animBg="1"/>
      <p:bldP spid="27" grpId="0" bldLvl="0" animBg="1"/>
      <p:bldP spid="4125" grpId="0"/>
      <p:bldP spid="41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8" name="文本框 9"/>
          <p:cNvSpPr txBox="1"/>
          <p:nvPr/>
        </p:nvSpPr>
        <p:spPr>
          <a:xfrm>
            <a:off x="1542098" y="120015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动态创建任务函数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462280" y="1865630"/>
            <a:ext cx="11603990" cy="31032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BaseType_t xTaskCreate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(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b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TaskFunction_t 				pxTaskCode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指向任务函数的指针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		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	</a:t>
            </a:r>
            <a:b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char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pcName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任务名字，最大长度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configMAX_TASK_NAME_LEN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configSTACK_DEPTH_TYPE 		usStackDepth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任务堆栈大小，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注意字为单位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void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	pvParameters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传递给任务函数的参数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UBaseType_t 					uxPriority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任务优先级，范围：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0 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~ configMAX_PRIORITIES 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- 1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TaskHandle_t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pxCreatedTask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任务句柄，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就是任务的任务控制块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)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627823" y="5104130"/>
          <a:ext cx="6742113" cy="92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/>
                <a:gridCol w="3371056"/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</a:tr>
              <a:tr h="27453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pdPASS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任务创建成功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</a:tr>
              <a:tr h="3412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errCOULD_NOT_ALLOCATE_REQUIRED_MEMORY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任务创建失败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178435" y="1865630"/>
            <a:ext cx="11379200" cy="310324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2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152" name="文本框 9"/>
          <p:cNvSpPr txBox="1"/>
          <p:nvPr/>
        </p:nvSpPr>
        <p:spPr>
          <a:xfrm>
            <a:off x="1792605" y="1386840"/>
            <a:ext cx="4619625" cy="368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实现动态创建任务流程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854518" y="395859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、申请堆栈内存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任务控制块内存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" name="矩形: 圆角 12"/>
          <p:cNvSpPr/>
          <p:nvPr/>
        </p:nvSpPr>
        <p:spPr>
          <a:xfrm>
            <a:off x="1854518" y="44221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1854518" y="489680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1854518" y="25679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854518" y="298545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3" name="右大括号 2"/>
          <p:cNvSpPr/>
          <p:nvPr/>
        </p:nvSpPr>
        <p:spPr>
          <a:xfrm>
            <a:off x="6083618" y="2048828"/>
            <a:ext cx="257175" cy="1309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159" name="文本框 6"/>
          <p:cNvSpPr txBox="1"/>
          <p:nvPr/>
        </p:nvSpPr>
        <p:spPr>
          <a:xfrm>
            <a:off x="6412230" y="2566353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用起来只需这三步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右大括号 19"/>
          <p:cNvSpPr/>
          <p:nvPr/>
        </p:nvSpPr>
        <p:spPr>
          <a:xfrm>
            <a:off x="6062980" y="3945890"/>
            <a:ext cx="298450" cy="13160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 flipH="1">
            <a:off x="1792605" y="20504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 flipH="1">
            <a:off x="1854518" y="33585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H="1">
            <a:off x="1771968" y="3945890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H="1">
            <a:off x="1792605" y="5261928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165" name="文本框 24"/>
          <p:cNvSpPr txBox="1"/>
          <p:nvPr/>
        </p:nvSpPr>
        <p:spPr>
          <a:xfrm>
            <a:off x="6370955" y="4465003"/>
            <a:ext cx="20320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动态创建任务函数内部实现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771968" y="3523615"/>
            <a:ext cx="49196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854518" y="2150428"/>
            <a:ext cx="42291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configSUPPORT_DYNAMIC_ALLOCATION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  <p:bldP spid="13" grpId="0" bldLvl="0" animBg="1"/>
      <p:bldP spid="14" grpId="0" bldLvl="0" animBg="1"/>
      <p:bldP spid="19" grpId="0" bldLvl="0" animBg="1"/>
      <p:bldP spid="16" grpId="0" bldLvl="0" animBg="1"/>
      <p:bldP spid="3" grpId="0" bldLvl="0" animBg="1"/>
      <p:bldP spid="6159" grpId="0"/>
      <p:bldP spid="20" grpId="0" bldLvl="0" animBg="1"/>
      <p:bldP spid="6165" grpId="0"/>
      <p:bldP spid="26" grpId="0"/>
      <p:bldP spid="27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176" name="文本框 9"/>
          <p:cNvSpPr txBox="1"/>
          <p:nvPr/>
        </p:nvSpPr>
        <p:spPr>
          <a:xfrm>
            <a:off x="1808163" y="64579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任务控制块结构体成员介绍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5"/>
          <p:cNvSpPr txBox="1"/>
          <p:nvPr/>
        </p:nvSpPr>
        <p:spPr>
          <a:xfrm>
            <a:off x="417830" y="1105535"/>
            <a:ext cx="11677015" cy="323342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typedef </a:t>
            </a:r>
            <a:r>
              <a:rPr lang="en-US" altLang="zh-CN" sz="1200" dirty="0">
                <a:solidFill>
                  <a:srgbClr val="0000FF"/>
                </a:solidFill>
                <a:latin typeface="CourierNewPSMT"/>
                <a:ea typeface="等线" panose="02010600030101010101" pitchFamily="2" charset="-122"/>
              </a:rPr>
              <a:t>struct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tskTaskControlBlock       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{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volatile StackType_t 		* pxTopOfStack;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任务栈栈顶，必须为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TCB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的第一个成员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	ListItem_t 			xStateListItem;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任务状态列表项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 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ListItem_t 			xEventListItem;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任务事件列表项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UBaseType_t 			uxPriority;     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任务优先级，数值越大，优先级越大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StackType_t 			* pxStack;	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任务栈起始地址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char 				pcTaskName[ configMAX_TASK_NAME_LEN ];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	…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省略很多条件编译的成员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} tskTCB;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</p:txBody>
      </p:sp>
      <p:sp>
        <p:nvSpPr>
          <p:cNvPr id="7178" name="文本框 1"/>
          <p:cNvSpPr txBox="1"/>
          <p:nvPr/>
        </p:nvSpPr>
        <p:spPr>
          <a:xfrm>
            <a:off x="1808163" y="5892165"/>
            <a:ext cx="46736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注意：每个任务都有属于自己的任务控制块，类似身份证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79" name="文本框 2"/>
          <p:cNvSpPr txBox="1"/>
          <p:nvPr/>
        </p:nvSpPr>
        <p:spPr>
          <a:xfrm>
            <a:off x="1808163" y="5474653"/>
            <a:ext cx="53911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任务栈栈顶，在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任务切换时的任务上下文保存、任务恢复息息相关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27330" y="1104900"/>
            <a:ext cx="11754485" cy="400240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178" grpId="0"/>
      <p:bldP spid="7179" grpId="0"/>
      <p:bldP spid="2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200" name="文本框 9"/>
          <p:cNvSpPr txBox="1"/>
          <p:nvPr/>
        </p:nvSpPr>
        <p:spPr>
          <a:xfrm>
            <a:off x="1784033" y="752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603058" y="1289050"/>
            <a:ext cx="8359775" cy="24701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xTaskCreateStatic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(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TaskFunction_t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pxTaskCode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指向任务函数的指针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char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pcName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任务函数名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uint32_t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ulStackDepth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任务堆栈大小</a:t>
            </a:r>
            <a:r>
              <a:rPr kumimoji="0" lang="zh-CN" altLang="en-US" sz="1200" kern="1200" cap="none" spc="0" normalizeH="0" baseline="0" noProof="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  <a:cs typeface="+mn-cs"/>
              </a:rPr>
              <a:t>注意字为单位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pvParameters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传递的任务函数参数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UBaseType_t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uxPriority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任务优先级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StackType_t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puxStackBuffer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任务堆栈，一般为数组，由用户分配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StaticTask_t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	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pxTaskBuffer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	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任务控制块指针，由用户分配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); 		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15" name="表格 9"/>
          <p:cNvGraphicFramePr>
            <a:graphicFrameLocks noGrp="1"/>
          </p:cNvGraphicFramePr>
          <p:nvPr/>
        </p:nvGraphicFramePr>
        <p:xfrm>
          <a:off x="1922145" y="3910013"/>
          <a:ext cx="6742114" cy="92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/>
                <a:gridCol w="3371057"/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755" marB="45755" anchor="ctr"/>
                </a:tc>
              </a:tr>
              <a:tr h="274530">
                <a:tc>
                  <a:txBody>
                    <a:bodyPr/>
                    <a:lstStyle/>
                    <a:p>
                      <a:pPr indent="255905" algn="l"/>
                      <a:r>
                        <a:rPr lang="en-US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用户没有提供相应的内存，任务创建失败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  <a:tr h="341259"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任务句柄，任务创建成功</a:t>
                      </a:r>
                      <a:endParaRPr lang="zh-CN" sz="1100" kern="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1784033" y="1358900"/>
            <a:ext cx="7583488" cy="240030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224" name="文本框 9"/>
          <p:cNvSpPr txBox="1"/>
          <p:nvPr/>
        </p:nvSpPr>
        <p:spPr>
          <a:xfrm>
            <a:off x="1818005" y="139509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静态创建任务使用流程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1922780" y="29127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、实现两个接口函数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913255" y="248253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、定义空闲任务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定时器任务的任务堆栈及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5423218" y="2776220"/>
            <a:ext cx="204788" cy="506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228" name="文本框 24"/>
          <p:cNvSpPr txBox="1"/>
          <p:nvPr/>
        </p:nvSpPr>
        <p:spPr>
          <a:xfrm>
            <a:off x="5724843" y="2665095"/>
            <a:ext cx="29511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vApplicationGetIdleTaskMemory( )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9229" name="文本框 25"/>
          <p:cNvSpPr txBox="1"/>
          <p:nvPr/>
        </p:nvSpPr>
        <p:spPr>
          <a:xfrm>
            <a:off x="5723255" y="3047683"/>
            <a:ext cx="29591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vApplicationGetTimerTaskMemory ( 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867218" y="4233545"/>
            <a:ext cx="5978525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1930718" y="3774758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5" name="矩形: 圆角 24"/>
          <p:cNvSpPr/>
          <p:nvPr/>
        </p:nvSpPr>
        <p:spPr>
          <a:xfrm>
            <a:off x="1930718" y="4643120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1930718" y="514318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913255" y="33445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" name="右大括号 6"/>
          <p:cNvSpPr/>
          <p:nvPr/>
        </p:nvSpPr>
        <p:spPr>
          <a:xfrm>
            <a:off x="8533130" y="2025333"/>
            <a:ext cx="373063" cy="2111375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>
            <a:off x="1913255" y="2025333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>
            <a:off x="1965643" y="4136708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38" name="文本框 29"/>
          <p:cNvSpPr txBox="1"/>
          <p:nvPr/>
        </p:nvSpPr>
        <p:spPr>
          <a:xfrm>
            <a:off x="8871268" y="2942908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用起来只需这五步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1" name="右大括号 30"/>
          <p:cNvSpPr/>
          <p:nvPr/>
        </p:nvSpPr>
        <p:spPr>
          <a:xfrm>
            <a:off x="8533130" y="4581208"/>
            <a:ext cx="395288" cy="893763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>
            <a:off x="1913255" y="4585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1913255" y="5474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42" name="文本框 33"/>
          <p:cNvSpPr txBox="1"/>
          <p:nvPr/>
        </p:nvSpPr>
        <p:spPr>
          <a:xfrm>
            <a:off x="8871268" y="4882833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静态创建内部实现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5" name="矩形: 圆角 34"/>
          <p:cNvSpPr/>
          <p:nvPr/>
        </p:nvSpPr>
        <p:spPr>
          <a:xfrm>
            <a:off x="1908493" y="2052320"/>
            <a:ext cx="424021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、需将宏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configSUPPORT_STATIC_ALLOCATION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  <p:bldP spid="24" grpId="0" bldLvl="0" animBg="1"/>
      <p:bldP spid="2" grpId="0" bldLvl="0" animBg="1"/>
      <p:bldP spid="9228" grpId="0"/>
      <p:bldP spid="9229" grpId="0"/>
      <p:bldP spid="19" grpId="0"/>
      <p:bldP spid="23" grpId="0" bldLvl="0" animBg="1"/>
      <p:bldP spid="25" grpId="0" bldLvl="0" animBg="1"/>
      <p:bldP spid="26" grpId="0" bldLvl="0" animBg="1"/>
      <p:bldP spid="27" grpId="0" bldLvl="0" animBg="1"/>
      <p:bldP spid="7" grpId="0" bldLvl="0" animBg="1"/>
      <p:bldP spid="9238" grpId="0"/>
      <p:bldP spid="31" grpId="0" bldLvl="0" animBg="1"/>
      <p:bldP spid="9242" grpId="0"/>
      <p:bldP spid="35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248" name="文本框 9"/>
          <p:cNvSpPr txBox="1"/>
          <p:nvPr/>
        </p:nvSpPr>
        <p:spPr>
          <a:xfrm>
            <a:off x="1892618" y="140398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任务删除函数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225" name="文本框 13"/>
          <p:cNvSpPr txBox="1">
            <a:spLocks noChangeArrowheads="1"/>
          </p:cNvSpPr>
          <p:nvPr/>
        </p:nvSpPr>
        <p:spPr bwMode="auto">
          <a:xfrm>
            <a:off x="1556068" y="2015173"/>
            <a:ext cx="6873875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255905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vTaskDelete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(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xTaskToDelete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);</a:t>
            </a:r>
            <a:endParaRPr kumimoji="0" lang="zh-CN" altLang="zh-CN" sz="1400" b="0" i="0" u="none" strike="noStrike" kern="1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3" name="表格 6"/>
          <p:cNvGraphicFramePr>
            <a:graphicFrameLocks noGrp="1"/>
          </p:cNvGraphicFramePr>
          <p:nvPr/>
        </p:nvGraphicFramePr>
        <p:xfrm>
          <a:off x="1892618" y="2491423"/>
          <a:ext cx="6096000" cy="74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zh-CN" altLang="en-US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sz="1100" kern="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sz="1100" kern="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en-US" sz="12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xTaskToDelete</a:t>
                      </a:r>
                      <a:endParaRPr lang="zh-CN" sz="12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2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待删除任务的任务句柄</a:t>
                      </a:r>
                      <a:endParaRPr lang="zh-CN" sz="1200" kern="1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1892618" y="3693160"/>
            <a:ext cx="7413625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被删除的任务将从就绪态任务列表、阻塞态任务列表、挂起态任务列表和事件列表中移除</a:t>
            </a:r>
            <a:endParaRPr kumimoji="0" lang="zh-CN" altLang="en-US" sz="14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92618" y="3315335"/>
            <a:ext cx="2749550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用于删除已被创建的任务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3" name="文本框 8"/>
          <p:cNvSpPr txBox="1"/>
          <p:nvPr/>
        </p:nvSpPr>
        <p:spPr>
          <a:xfrm>
            <a:off x="1892618" y="4109085"/>
            <a:ext cx="544512" cy="3063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注意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892618" y="4340860"/>
            <a:ext cx="59150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1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、当传入的参数为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，则代表删除任务自身（当前正在运行的任务）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5" name="文本框 25"/>
          <p:cNvSpPr txBox="1"/>
          <p:nvPr/>
        </p:nvSpPr>
        <p:spPr>
          <a:xfrm>
            <a:off x="1892618" y="4742498"/>
            <a:ext cx="8428037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、空闲任务会负责释放被删除任务中由系统分配的内存，但是由用户在任务删除前申请的内存， 则需要由用户在任务被删除前提前释放，否则将导致内存泄露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9" grpId="0"/>
      <p:bldP spid="23" grpId="0"/>
      <p:bldP spid="10263" grpId="0"/>
      <p:bldP spid="25" grpId="0"/>
      <p:bldP spid="1026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272" name="文本框 9"/>
          <p:cNvSpPr txBox="1"/>
          <p:nvPr/>
        </p:nvSpPr>
        <p:spPr>
          <a:xfrm>
            <a:off x="1619885" y="14732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删除任务流程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1273" name="文本框 13"/>
          <p:cNvSpPr txBox="1"/>
          <p:nvPr/>
        </p:nvSpPr>
        <p:spPr>
          <a:xfrm>
            <a:off x="1619885" y="2149475"/>
            <a:ext cx="479425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、使用删除任务函数，需将宏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INCLUDE_vTaskDelete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1637348" y="3851275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、将被删除任务，移除所在列表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1637348" y="4443413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、判断所需要删除的任务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1627823" y="5035550"/>
            <a:ext cx="2505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、更新下个任务的阻塞时间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637348" y="3259138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、获取所要删除任务的控制块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1278" name="文本框 24"/>
          <p:cNvSpPr txBox="1"/>
          <p:nvPr/>
        </p:nvSpPr>
        <p:spPr>
          <a:xfrm>
            <a:off x="4140835" y="3286125"/>
            <a:ext cx="509587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通过传入的任务句柄，判断所需要删除哪个任务，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代表删除自身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79" name="文本框 25"/>
          <p:cNvSpPr txBox="1"/>
          <p:nvPr/>
        </p:nvSpPr>
        <p:spPr>
          <a:xfrm>
            <a:off x="4140835" y="3868738"/>
            <a:ext cx="4965700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将该任务在所在列表中移除，包括：就绪、阻塞、挂起、事件等列表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80" name="文本框 25"/>
          <p:cNvSpPr txBox="1"/>
          <p:nvPr/>
        </p:nvSpPr>
        <p:spPr>
          <a:xfrm>
            <a:off x="4299585" y="4314825"/>
            <a:ext cx="4964113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删除任务自身，需先添加到等待删除列表，内存释放将在空闲任务执行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81" name="文本框 22"/>
          <p:cNvSpPr txBox="1"/>
          <p:nvPr/>
        </p:nvSpPr>
        <p:spPr>
          <a:xfrm>
            <a:off x="4299585" y="4656138"/>
            <a:ext cx="4618038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删除其他任务，释放内存，任务数量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--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7" name="左大括号 6"/>
          <p:cNvSpPr/>
          <p:nvPr/>
        </p:nvSpPr>
        <p:spPr>
          <a:xfrm>
            <a:off x="4140835" y="4400550"/>
            <a:ext cx="158750" cy="4191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3" name="文本框 25"/>
          <p:cNvSpPr txBox="1"/>
          <p:nvPr/>
        </p:nvSpPr>
        <p:spPr>
          <a:xfrm>
            <a:off x="4129723" y="5011738"/>
            <a:ext cx="5562600" cy="3413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更新下一个任务的阻塞超时时间，以防被删除的任务就是下一个阻塞超时的任务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右大括号 7"/>
          <p:cNvSpPr/>
          <p:nvPr/>
        </p:nvSpPr>
        <p:spPr>
          <a:xfrm>
            <a:off x="6102985" y="2116138"/>
            <a:ext cx="220663" cy="668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5" name="文本框 13"/>
          <p:cNvSpPr txBox="1"/>
          <p:nvPr/>
        </p:nvSpPr>
        <p:spPr>
          <a:xfrm>
            <a:off x="1627823" y="2547938"/>
            <a:ext cx="4535487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、入口参数输入需要删除的任务句柄（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代表删除本身）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 flipH="1" flipV="1">
            <a:off x="1619885" y="2116138"/>
            <a:ext cx="4533900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627823" y="2782888"/>
            <a:ext cx="4535488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右大括号 28"/>
          <p:cNvSpPr/>
          <p:nvPr/>
        </p:nvSpPr>
        <p:spPr>
          <a:xfrm>
            <a:off x="9582785" y="3168650"/>
            <a:ext cx="220663" cy="22733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 flipV="1">
            <a:off x="1619885" y="31369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 flipV="1">
            <a:off x="1619885" y="54102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291" name="文本框 16"/>
          <p:cNvSpPr txBox="1"/>
          <p:nvPr/>
        </p:nvSpPr>
        <p:spPr>
          <a:xfrm>
            <a:off x="6299835" y="2327275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用起来只要这两步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1292" name="文本框 35"/>
          <p:cNvSpPr txBox="1"/>
          <p:nvPr/>
        </p:nvSpPr>
        <p:spPr>
          <a:xfrm>
            <a:off x="9814560" y="3808413"/>
            <a:ext cx="368300" cy="1014412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内部实现过程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3" grpId="0"/>
      <p:bldP spid="20" grpId="0" bldLvl="0" animBg="1"/>
      <p:bldP spid="21" grpId="0" bldLvl="0" animBg="1"/>
      <p:bldP spid="22" grpId="0" bldLvl="0" animBg="1"/>
      <p:bldP spid="24" grpId="0" bldLvl="0" animBg="1"/>
      <p:bldP spid="11278" grpId="0"/>
      <p:bldP spid="11279" grpId="0"/>
      <p:bldP spid="11280" grpId="0"/>
      <p:bldP spid="11281" grpId="0"/>
      <p:bldP spid="7" grpId="0" bldLvl="0" animBg="1"/>
      <p:bldP spid="11283" grpId="0"/>
      <p:bldP spid="8" grpId="0" bldLvl="0" animBg="1"/>
      <p:bldP spid="11285" grpId="0"/>
      <p:bldP spid="29" grpId="0" bldLvl="0" animBg="1"/>
      <p:bldP spid="11291" grpId="0"/>
      <p:bldP spid="1129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20" name="文本框 9"/>
          <p:cNvSpPr txBox="1"/>
          <p:nvPr/>
        </p:nvSpPr>
        <p:spPr>
          <a:xfrm>
            <a:off x="1367473" y="152273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702435" y="2256155"/>
            <a:ext cx="42468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2" name="文本框 6"/>
          <p:cNvSpPr txBox="1"/>
          <p:nvPr/>
        </p:nvSpPr>
        <p:spPr>
          <a:xfrm>
            <a:off x="1702435" y="288321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023110" y="37150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023110" y="42484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023110" y="481203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6" name="文本框 12"/>
          <p:cNvSpPr txBox="1"/>
          <p:nvPr/>
        </p:nvSpPr>
        <p:spPr>
          <a:xfrm>
            <a:off x="1989773" y="332613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7" name="文本框 13"/>
          <p:cNvSpPr txBox="1"/>
          <p:nvPr/>
        </p:nvSpPr>
        <p:spPr>
          <a:xfrm>
            <a:off x="3447098" y="373411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8" name="文本框 22"/>
          <p:cNvSpPr txBox="1"/>
          <p:nvPr/>
        </p:nvSpPr>
        <p:spPr>
          <a:xfrm>
            <a:off x="3447098" y="426434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9" name="文本框 23"/>
          <p:cNvSpPr txBox="1"/>
          <p:nvPr/>
        </p:nvSpPr>
        <p:spPr>
          <a:xfrm>
            <a:off x="3447098" y="482790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2029460" y="532479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31" name="文本框 27"/>
          <p:cNvSpPr txBox="1"/>
          <p:nvPr/>
        </p:nvSpPr>
        <p:spPr>
          <a:xfrm>
            <a:off x="3447098" y="534066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3322" grpId="0"/>
      <p:bldP spid="8" grpId="0" bldLvl="0" animBg="1"/>
      <p:bldP spid="18" grpId="0" bldLvl="0" animBg="1"/>
      <p:bldP spid="19" grpId="0" bldLvl="0" animBg="1"/>
      <p:bldP spid="13326" grpId="0"/>
      <p:bldP spid="13327" grpId="0"/>
      <p:bldP spid="13328" grpId="0"/>
      <p:bldP spid="13329" grpId="0"/>
      <p:bldP spid="26" grpId="0" bldLvl="0" animBg="1"/>
      <p:bldP spid="133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文本框 9"/>
          <p:cNvSpPr txBox="1"/>
          <p:nvPr/>
        </p:nvSpPr>
        <p:spPr>
          <a:xfrm>
            <a:off x="1991043" y="133540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4" name="左大括号 13"/>
          <p:cNvSpPr/>
          <p:nvPr/>
        </p:nvSpPr>
        <p:spPr>
          <a:xfrm>
            <a:off x="4134168" y="2208530"/>
            <a:ext cx="223838" cy="1911350"/>
          </a:xfrm>
          <a:prstGeom prst="leftBrace">
            <a:avLst>
              <a:gd name="adj1" fmla="val 8333"/>
              <a:gd name="adj2" fmla="val 47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矩形: 圆角 33"/>
          <p:cNvSpPr/>
          <p:nvPr/>
        </p:nvSpPr>
        <p:spPr>
          <a:xfrm>
            <a:off x="4791393" y="215773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34"/>
          <p:cNvSpPr/>
          <p:nvPr/>
        </p:nvSpPr>
        <p:spPr>
          <a:xfrm>
            <a:off x="4791393" y="25101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35"/>
          <p:cNvSpPr/>
          <p:nvPr/>
        </p:nvSpPr>
        <p:spPr>
          <a:xfrm>
            <a:off x="4791393" y="356901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36"/>
          <p:cNvSpPr/>
          <p:nvPr/>
        </p:nvSpPr>
        <p:spPr>
          <a:xfrm>
            <a:off x="4791393" y="286416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37"/>
          <p:cNvSpPr/>
          <p:nvPr/>
        </p:nvSpPr>
        <p:spPr>
          <a:xfrm>
            <a:off x="4791393" y="391668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38"/>
          <p:cNvSpPr/>
          <p:nvPr/>
        </p:nvSpPr>
        <p:spPr>
          <a:xfrm>
            <a:off x="4791393" y="32086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11980" y="2159318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2" name="直接连接符 21"/>
          <p:cNvCxnSpPr/>
          <p:nvPr/>
        </p:nvCxnSpPr>
        <p:spPr>
          <a:xfrm>
            <a:off x="4411980" y="242443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411980" y="272129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4411980" y="308165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4411980" y="346106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4411980" y="384524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4351655" y="2179955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351655" y="2478405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351655" y="2807018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77055" y="3168968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381818" y="3561080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381818" y="3897630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2" name="文本框 1"/>
          <p:cNvSpPr txBox="1"/>
          <p:nvPr/>
        </p:nvSpPr>
        <p:spPr>
          <a:xfrm>
            <a:off x="2430780" y="2967355"/>
            <a:ext cx="162083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就绪列表的初始化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20" grpId="0" bldLvl="0" animBg="1"/>
      <p:bldP spid="21" grpId="0" bldLvl="0" animBg="1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392" name="文本框 9"/>
          <p:cNvSpPr txBox="1"/>
          <p:nvPr/>
        </p:nvSpPr>
        <p:spPr>
          <a:xfrm>
            <a:off x="1665923" y="12547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任务创建和删除（静态方法）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000885" y="1988185"/>
            <a:ext cx="53644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学会 </a:t>
            </a: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xTaskCreateStatic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0" name="文本框 6"/>
          <p:cNvSpPr txBox="1"/>
          <p:nvPr/>
        </p:nvSpPr>
        <p:spPr>
          <a:xfrm>
            <a:off x="2000885" y="261524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321560" y="34470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321560" y="39804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321560" y="454406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4" name="文本框 12"/>
          <p:cNvSpPr txBox="1"/>
          <p:nvPr/>
        </p:nvSpPr>
        <p:spPr>
          <a:xfrm>
            <a:off x="2288223" y="305816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5" name="文本框 13"/>
          <p:cNvSpPr txBox="1"/>
          <p:nvPr/>
        </p:nvSpPr>
        <p:spPr>
          <a:xfrm>
            <a:off x="3745548" y="346614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6" name="文本框 22"/>
          <p:cNvSpPr txBox="1"/>
          <p:nvPr/>
        </p:nvSpPr>
        <p:spPr>
          <a:xfrm>
            <a:off x="3745548" y="399637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7" name="文本框 23"/>
          <p:cNvSpPr txBox="1"/>
          <p:nvPr/>
        </p:nvSpPr>
        <p:spPr>
          <a:xfrm>
            <a:off x="3745548" y="455993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2327910" y="505682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9" name="文本框 27"/>
          <p:cNvSpPr txBox="1"/>
          <p:nvPr/>
        </p:nvSpPr>
        <p:spPr>
          <a:xfrm>
            <a:off x="3745548" y="507269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370" grpId="0"/>
      <p:bldP spid="8" grpId="0" bldLvl="0" animBg="1"/>
      <p:bldP spid="18" grpId="0" bldLvl="0" animBg="1"/>
      <p:bldP spid="19" grpId="0" bldLvl="0" animBg="1"/>
      <p:bldP spid="15374" grpId="0"/>
      <p:bldP spid="15375" grpId="0"/>
      <p:bldP spid="15376" grpId="0"/>
      <p:bldP spid="15377" grpId="0"/>
      <p:bldP spid="26" grpId="0" bldLvl="0" animBg="1"/>
      <p:bldP spid="1537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296" name="文本框 9"/>
          <p:cNvSpPr txBox="1"/>
          <p:nvPr/>
        </p:nvSpPr>
        <p:spPr>
          <a:xfrm>
            <a:off x="1501775" y="16891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任务挂起函数内部实现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矩形: 圆角 19"/>
          <p:cNvSpPr/>
          <p:nvPr>
            <p:custDataLst>
              <p:tags r:id="rId1"/>
            </p:custDataLst>
          </p:nvPr>
        </p:nvSpPr>
        <p:spPr>
          <a:xfrm>
            <a:off x="1663700" y="2998788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、移除所在列表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>
            <p:custDataLst>
              <p:tags r:id="rId2"/>
            </p:custDataLst>
          </p:nvPr>
        </p:nvSpPr>
        <p:spPr>
          <a:xfrm>
            <a:off x="1654175" y="2470150"/>
            <a:ext cx="26416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、获取所要挂起任务的控制块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>
            <p:custDataLst>
              <p:tags r:id="rId3"/>
            </p:custDataLst>
          </p:nvPr>
        </p:nvSpPr>
        <p:spPr>
          <a:xfrm>
            <a:off x="1668463" y="4057650"/>
            <a:ext cx="2622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、判断任务调度器是否运行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>
            <p:custDataLst>
              <p:tags r:id="rId4"/>
            </p:custDataLst>
          </p:nvPr>
        </p:nvSpPr>
        <p:spPr>
          <a:xfrm>
            <a:off x="1654175" y="3529013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、插入挂起任务列表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2301" name="文本框 29"/>
          <p:cNvSpPr txBox="1"/>
          <p:nvPr>
            <p:custDataLst>
              <p:tags r:id="rId5"/>
            </p:custDataLst>
          </p:nvPr>
        </p:nvSpPr>
        <p:spPr>
          <a:xfrm>
            <a:off x="4286250" y="2478088"/>
            <a:ext cx="5741988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通过传入的任务句柄，判断所需要挂起哪个任务，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代表挂起自身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2" name="文本框 33"/>
          <p:cNvSpPr txBox="1"/>
          <p:nvPr>
            <p:custDataLst>
              <p:tags r:id="rId6"/>
            </p:custDataLst>
          </p:nvPr>
        </p:nvSpPr>
        <p:spPr>
          <a:xfrm>
            <a:off x="4260850" y="3000375"/>
            <a:ext cx="6069013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将要挂起的任务从相应的状态列表和事件列表中移除（就绪或阻塞列表）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3" name="文本框 35"/>
          <p:cNvSpPr txBox="1"/>
          <p:nvPr>
            <p:custDataLst>
              <p:tags r:id="rId7"/>
            </p:custDataLst>
          </p:nvPr>
        </p:nvSpPr>
        <p:spPr>
          <a:xfrm>
            <a:off x="4260850" y="3524250"/>
            <a:ext cx="5248275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将待挂起任务的任务状态列表向插入到挂起态任务列表末尾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4" name="文本框 36"/>
          <p:cNvSpPr txBox="1"/>
          <p:nvPr>
            <p:custDataLst>
              <p:tags r:id="rId8"/>
            </p:custDataLst>
          </p:nvPr>
        </p:nvSpPr>
        <p:spPr>
          <a:xfrm>
            <a:off x="4260850" y="4046538"/>
            <a:ext cx="5900738" cy="33083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在运行，更新下一次阻塞时间，防止被挂起任务为下一次阻塞超时任务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8" name="矩形: 圆角 37"/>
          <p:cNvSpPr/>
          <p:nvPr>
            <p:custDataLst>
              <p:tags r:id="rId9"/>
            </p:custDataLst>
          </p:nvPr>
        </p:nvSpPr>
        <p:spPr>
          <a:xfrm>
            <a:off x="1674813" y="4608513"/>
            <a:ext cx="262413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、判断待挂起任务是否为当前任务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2306" name="文本框 38"/>
          <p:cNvSpPr txBox="1"/>
          <p:nvPr>
            <p:custDataLst>
              <p:tags r:id="rId10"/>
            </p:custDataLst>
          </p:nvPr>
        </p:nvSpPr>
        <p:spPr>
          <a:xfrm>
            <a:off x="4310063" y="4557713"/>
            <a:ext cx="5532437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如果挂起的是任务自身，且调度器正在运行，需要进行一次任务切换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7" name="文本框 39"/>
          <p:cNvSpPr txBox="1"/>
          <p:nvPr/>
        </p:nvSpPr>
        <p:spPr>
          <a:xfrm>
            <a:off x="4286250" y="4795838"/>
            <a:ext cx="5908675" cy="5540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调度器没有运行，判断挂起任务数是否等于任务总数，是：当前控制块赋值为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，否：寻找下一个最高优先级任务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20" name="文本框 9"/>
          <p:cNvSpPr txBox="1"/>
          <p:nvPr/>
        </p:nvSpPr>
        <p:spPr>
          <a:xfrm>
            <a:off x="2053590" y="130429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任务恢复函数内部实现</a:t>
            </a:r>
            <a:endParaRPr lang="zh-CN" altLang="en-US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163128" y="2660015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、判断任务是否在挂起列表中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2153603" y="2131378"/>
            <a:ext cx="2727325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、恢复任务不能是正在运行任务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2153603" y="3188653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、判断恢复任务优先级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4" name="文本框 33"/>
          <p:cNvSpPr txBox="1"/>
          <p:nvPr/>
        </p:nvSpPr>
        <p:spPr>
          <a:xfrm>
            <a:off x="4876165" y="2675890"/>
            <a:ext cx="48990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是：就会将该任务在挂起列表中移除， 将该任务添加到就绪列表中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5" name="文本框 35"/>
          <p:cNvSpPr txBox="1"/>
          <p:nvPr/>
        </p:nvSpPr>
        <p:spPr>
          <a:xfrm>
            <a:off x="4868228" y="3233103"/>
            <a:ext cx="49069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判断恢复的任务优先级是否大于当前正在运行的 是的话执行任务切换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455340" y="711045"/>
            <a:ext cx="11542029" cy="6743065"/>
          </a:xfrm>
        </p:spPr>
        <p:txBody>
          <a:bodyPr/>
          <a:p>
            <a:pPr algn="l"/>
            <a:r>
              <a:rPr lang="zh-CN" altLang="en-US" sz="1400" b="1"/>
              <a:t>最高优先级</a:t>
            </a:r>
            <a:r>
              <a:rPr lang="en-US" altLang="zh-CN" sz="1400" b="1"/>
              <a:t> (Highest Priority - </a:t>
            </a:r>
            <a:r>
              <a:rPr lang="zh-CN" altLang="en-US" sz="1400" b="1"/>
              <a:t>时间关键</a:t>
            </a:r>
            <a:r>
              <a:rPr lang="en-US" altLang="zh-CN" sz="1400" b="1"/>
              <a:t>/</a:t>
            </a:r>
            <a:r>
              <a:rPr lang="zh-CN" altLang="en-US" sz="1400" b="1"/>
              <a:t>实时响应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  <a:endParaRPr lang="zh-CN" altLang="en-US" sz="1400"/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通常是配置允许的最高值</a:t>
            </a:r>
            <a:r>
              <a:rPr lang="en-US" altLang="zh-CN" sz="1400"/>
              <a:t> (</a:t>
            </a:r>
            <a:r>
              <a:rPr lang="zh-CN" altLang="en-US" sz="1400"/>
              <a:t>例如</a:t>
            </a:r>
            <a:r>
              <a:rPr lang="en-US" altLang="zh-CN" sz="1400"/>
              <a:t> configMAX_PRIORITIES - 1)</a:t>
            </a:r>
            <a:r>
              <a:rPr lang="zh-CN" altLang="en-US" sz="1400"/>
              <a:t>。</a:t>
            </a:r>
            <a:endParaRPr lang="zh-CN" altLang="en-US" sz="1400"/>
          </a:p>
          <a:p>
            <a:pPr algn="l"/>
            <a:r>
              <a:rPr lang="zh-CN" altLang="en-US" sz="1400"/>
              <a:t>功能角色：</a:t>
            </a:r>
            <a:endParaRPr lang="zh-CN" altLang="en-US" sz="1400"/>
          </a:p>
          <a:p>
            <a:pPr lvl="1" algn="l"/>
            <a:r>
              <a:rPr lang="zh-CN" altLang="en-US" sz="1400"/>
              <a:t>硬实时任务：</a:t>
            </a:r>
            <a:r>
              <a:rPr lang="en-US" altLang="zh-CN" sz="1400"/>
              <a:t> </a:t>
            </a:r>
            <a:r>
              <a:rPr lang="zh-CN" altLang="en-US" sz="1400"/>
              <a:t>对截止时间有严格要求，错过会导致系统失败的任务（如电机控制、安全关键状态监测）。</a:t>
            </a:r>
            <a:endParaRPr lang="zh-CN" altLang="en-US" sz="1400"/>
          </a:p>
          <a:p>
            <a:pPr lvl="1" algn="l"/>
            <a:r>
              <a:rPr lang="zh-CN" altLang="en-US" sz="1400"/>
              <a:t>中断延迟任务</a:t>
            </a:r>
            <a:r>
              <a:rPr lang="en-US" altLang="zh-CN" sz="1400"/>
              <a:t> (Deferred Interrupt Processing)</a:t>
            </a:r>
            <a:r>
              <a:rPr lang="zh-CN" altLang="en-US" sz="1400"/>
              <a:t>：</a:t>
            </a:r>
            <a:r>
              <a:rPr lang="en-US" altLang="zh-CN" sz="1400"/>
              <a:t> </a:t>
            </a:r>
            <a:r>
              <a:rPr lang="zh-CN" altLang="en-US" sz="1400"/>
              <a:t>由中断服务程序</a:t>
            </a:r>
            <a:r>
              <a:rPr lang="en-US" altLang="zh-CN" sz="1400"/>
              <a:t> (ISR) </a:t>
            </a:r>
            <a:r>
              <a:rPr lang="zh-CN" altLang="en-US" sz="1400"/>
              <a:t>唤醒，用于处理耗时较长或需要调用非</a:t>
            </a:r>
            <a:r>
              <a:rPr lang="en-US" altLang="zh-CN" sz="1400"/>
              <a:t> ISR </a:t>
            </a:r>
            <a:r>
              <a:rPr lang="zh-CN" altLang="en-US" sz="1400"/>
              <a:t>安全</a:t>
            </a:r>
            <a:r>
              <a:rPr lang="en-US" altLang="zh-CN" sz="1400"/>
              <a:t> API </a:t>
            </a:r>
            <a:r>
              <a:rPr lang="zh-CN" altLang="en-US" sz="1400"/>
              <a:t>的中断后续工作。它们必须能抢占几乎所有其他任务，以确保快速响应中断事件。</a:t>
            </a:r>
            <a:endParaRPr lang="zh-CN" altLang="en-US" sz="1400"/>
          </a:p>
          <a:p>
            <a:pPr lvl="1" algn="l"/>
            <a:r>
              <a:rPr lang="zh-CN" altLang="en-US" sz="1400"/>
              <a:t>系统关键任务：</a:t>
            </a:r>
            <a:r>
              <a:rPr lang="en-US" altLang="zh-CN" sz="1400"/>
              <a:t> </a:t>
            </a:r>
            <a:r>
              <a:rPr lang="zh-CN" altLang="en-US" sz="1400"/>
              <a:t>如某些通信协议栈的实时处理层、高优先级事件分发任务。</a:t>
            </a:r>
            <a:endParaRPr lang="zh-CN" altLang="en-US" sz="1400"/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数量通常很少。一旦就绪，会立即抢占所有低优先级任务运行。执行时间应尽可能短。</a:t>
            </a:r>
            <a:endParaRPr lang="zh-CN" altLang="en-US" sz="1400"/>
          </a:p>
          <a:p>
            <a:pPr algn="l"/>
            <a:endParaRPr lang="en-US" altLang="zh-CN" sz="1400"/>
          </a:p>
          <a:p>
            <a:pPr algn="l"/>
            <a:r>
              <a:rPr lang="zh-CN" altLang="en-US" sz="1400" b="1"/>
              <a:t>高</a:t>
            </a:r>
            <a:r>
              <a:rPr lang="en-US" altLang="zh-CN" sz="1400" b="1"/>
              <a:t>/</a:t>
            </a:r>
            <a:r>
              <a:rPr lang="zh-CN" altLang="en-US" sz="1400" b="1"/>
              <a:t>中高优先级</a:t>
            </a:r>
            <a:r>
              <a:rPr lang="en-US" altLang="zh-CN" sz="1400" b="1"/>
              <a:t> (High/Medium-High Priority - </a:t>
            </a:r>
            <a:r>
              <a:rPr lang="zh-CN" altLang="en-US" sz="1400" b="1"/>
              <a:t>重要功能</a:t>
            </a:r>
            <a:r>
              <a:rPr lang="en-US" altLang="zh-CN" sz="1400" b="1"/>
              <a:t>/</a:t>
            </a:r>
            <a:r>
              <a:rPr lang="zh-CN" altLang="en-US" sz="1400" b="1"/>
              <a:t>及时响应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  <a:endParaRPr lang="zh-CN" altLang="en-US" sz="1400" b="1"/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介于最高优先级和普通优先级之间，数值相对较高。</a:t>
            </a:r>
            <a:endParaRPr lang="zh-CN" altLang="en-US" sz="1400"/>
          </a:p>
          <a:p>
            <a:pPr algn="l"/>
            <a:r>
              <a:rPr lang="zh-CN" altLang="en-US" sz="1400"/>
              <a:t>功能角色：</a:t>
            </a:r>
            <a:endParaRPr lang="zh-CN" altLang="en-US" sz="1400"/>
          </a:p>
          <a:p>
            <a:pPr lvl="1" algn="l"/>
            <a:r>
              <a:rPr lang="zh-CN" altLang="en-US" sz="1400"/>
              <a:t>软实时任务：</a:t>
            </a:r>
            <a:r>
              <a:rPr lang="en-US" altLang="zh-CN" sz="1400"/>
              <a:t> </a:t>
            </a:r>
            <a:r>
              <a:rPr lang="zh-CN" altLang="en-US" sz="1400"/>
              <a:t>有响应时间要求，但偶尔错过截止时间不会导致灾难性后果的任务（如用户界面刷新、非关键传感器数据处理、中等速度的通信协议处理）。</a:t>
            </a:r>
            <a:endParaRPr lang="zh-CN" altLang="en-US" sz="1400"/>
          </a:p>
          <a:p>
            <a:pPr lvl="1" algn="l"/>
            <a:r>
              <a:rPr lang="zh-CN" altLang="en-US" sz="1400"/>
              <a:t>重要的业务流程任务：</a:t>
            </a:r>
            <a:r>
              <a:rPr lang="en-US" altLang="zh-CN" sz="1400"/>
              <a:t> </a:t>
            </a:r>
            <a:r>
              <a:rPr lang="zh-CN" altLang="en-US" sz="1400"/>
              <a:t>执行系统核心功能链中较关键环节的任务。</a:t>
            </a:r>
            <a:endParaRPr lang="zh-CN" altLang="en-US" sz="1400"/>
          </a:p>
          <a:p>
            <a:pPr lvl="1" algn="l"/>
            <a:r>
              <a:rPr lang="zh-CN" altLang="en-US" sz="1400"/>
              <a:t>事件驱动任务：</a:t>
            </a:r>
            <a:r>
              <a:rPr lang="en-US" altLang="zh-CN" sz="1400"/>
              <a:t> </a:t>
            </a:r>
            <a:r>
              <a:rPr lang="zh-CN" altLang="en-US" sz="1400"/>
              <a:t>等待高优先级事件（如按键、重要消息）并需要较快响应的任务。</a:t>
            </a:r>
            <a:endParaRPr lang="zh-CN" altLang="en-US" sz="1400"/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数量适中。能及时响应事件，抢占低优先级任务，但会被最高优先级任务抢占。执行时间需合理控制。</a:t>
            </a:r>
            <a:endParaRPr lang="zh-CN" altLang="en-US" sz="1400"/>
          </a:p>
          <a:p>
            <a:pPr algn="l"/>
            <a:endParaRPr lang="en-US" altLang="zh-CN" sz="1400"/>
          </a:p>
          <a:p>
            <a:pPr algn="l"/>
            <a:r>
              <a:rPr lang="zh-CN" altLang="en-US" sz="1400" b="1"/>
              <a:t>普通</a:t>
            </a:r>
            <a:r>
              <a:rPr lang="en-US" altLang="zh-CN" sz="1400" b="1"/>
              <a:t>/</a:t>
            </a:r>
            <a:r>
              <a:rPr lang="zh-CN" altLang="en-US" sz="1400" b="1"/>
              <a:t>中优先级</a:t>
            </a:r>
            <a:r>
              <a:rPr lang="en-US" altLang="zh-CN" sz="1400" b="1"/>
              <a:t> (Medium/Normal Priority - </a:t>
            </a:r>
            <a:r>
              <a:rPr lang="zh-CN" altLang="en-US" sz="1400" b="1"/>
              <a:t>常规业务逻辑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  <a:endParaRPr lang="zh-CN" altLang="en-US" sz="1400" b="1"/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在配置的优先级范围中间区域。</a:t>
            </a:r>
            <a:endParaRPr lang="zh-CN" altLang="en-US" sz="1400"/>
          </a:p>
          <a:p>
            <a:pPr lvl="1" algn="l"/>
            <a:r>
              <a:rPr lang="zh-CN" altLang="en-US" sz="1400"/>
              <a:t>功能角色：</a:t>
            </a:r>
            <a:endParaRPr lang="zh-CN" altLang="en-US" sz="1400"/>
          </a:p>
          <a:p>
            <a:pPr lvl="1" algn="l"/>
            <a:r>
              <a:rPr lang="zh-CN" altLang="en-US" sz="1400"/>
              <a:t>主要的应用程序逻辑：</a:t>
            </a:r>
            <a:r>
              <a:rPr lang="en-US" altLang="zh-CN" sz="1400"/>
              <a:t> </a:t>
            </a:r>
            <a:r>
              <a:rPr lang="zh-CN" altLang="en-US" sz="1400"/>
              <a:t>执行系统大部分常规业务处理的任务。</a:t>
            </a:r>
            <a:endParaRPr lang="zh-CN" altLang="en-US" sz="1400"/>
          </a:p>
          <a:p>
            <a:pPr lvl="1" algn="l"/>
            <a:r>
              <a:rPr lang="zh-CN" altLang="en-US" sz="1400"/>
              <a:t>后台计算</a:t>
            </a:r>
            <a:r>
              <a:rPr lang="en-US" altLang="zh-CN" sz="1400"/>
              <a:t>/</a:t>
            </a:r>
            <a:r>
              <a:rPr lang="zh-CN" altLang="en-US" sz="1400"/>
              <a:t>处理：</a:t>
            </a:r>
            <a:r>
              <a:rPr lang="en-US" altLang="zh-CN" sz="1400"/>
              <a:t> </a:t>
            </a:r>
            <a:r>
              <a:rPr lang="zh-CN" altLang="en-US" sz="1400"/>
              <a:t>不需要严格实时性，但需要持续运行的任务。</a:t>
            </a:r>
            <a:endParaRPr lang="zh-CN" altLang="en-US" sz="1400"/>
          </a:p>
          <a:p>
            <a:pPr lvl="1" algn="l"/>
            <a:r>
              <a:rPr lang="zh-CN" altLang="en-US" sz="1400"/>
              <a:t>较低速的通信处理。</a:t>
            </a:r>
            <a:endParaRPr lang="zh-CN" altLang="en-US" sz="1400"/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通常是系统中数量最多的任务。按照调度策略（通常是时间片轮转）共享</a:t>
            </a:r>
            <a:r>
              <a:rPr lang="en-US" altLang="zh-CN" sz="1400"/>
              <a:t> CPU </a:t>
            </a:r>
            <a:r>
              <a:rPr lang="zh-CN" altLang="en-US" sz="1400"/>
              <a:t>时间。会被更高优先级的任务抢占。</a:t>
            </a:r>
            <a:endParaRPr lang="zh-CN" altLang="en-US" sz="1400"/>
          </a:p>
          <a:p>
            <a:pPr algn="l"/>
            <a:endParaRPr lang="en-US" altLang="zh-CN" sz="1400"/>
          </a:p>
          <a:p>
            <a:pPr algn="l"/>
            <a:endParaRPr lang="zh-CN" altLang="en-US" sz="1400"/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500425" y="846935"/>
            <a:ext cx="11542029" cy="4332605"/>
          </a:xfrm>
        </p:spPr>
        <p:txBody>
          <a:bodyPr/>
          <a:p>
            <a:pPr algn="l"/>
            <a:r>
              <a:rPr lang="zh-CN" altLang="en-US" sz="1400" b="1">
                <a:sym typeface="+mn-ea"/>
              </a:rPr>
              <a:t>低优先级</a:t>
            </a:r>
            <a:r>
              <a:rPr altLang="zh-CN" sz="1400" b="1">
                <a:sym typeface="+mn-ea"/>
              </a:rPr>
              <a:t> (Low Priority - </a:t>
            </a:r>
            <a:r>
              <a:rPr lang="zh-CN" altLang="en-US" sz="1400" b="1">
                <a:sym typeface="+mn-ea"/>
              </a:rPr>
              <a:t>非实时</a:t>
            </a:r>
            <a:r>
              <a:rPr altLang="zh-CN" sz="1400" b="1">
                <a:sym typeface="+mn-ea"/>
              </a:rPr>
              <a:t>/</a:t>
            </a:r>
            <a:r>
              <a:rPr lang="zh-CN" altLang="en-US" sz="1400" b="1">
                <a:sym typeface="+mn-ea"/>
              </a:rPr>
              <a:t>后台任务</a:t>
            </a:r>
            <a:r>
              <a:rPr altLang="zh-CN" sz="1400" b="1">
                <a:sym typeface="+mn-ea"/>
              </a:rPr>
              <a:t>)</a:t>
            </a:r>
            <a:r>
              <a:rPr lang="zh-CN" altLang="en-US" sz="1400" b="1">
                <a:sym typeface="+mn-ea"/>
              </a:rPr>
              <a:t>：</a:t>
            </a:r>
            <a:endParaRPr lang="zh-CN" altLang="en-US" sz="1400" b="1"/>
          </a:p>
          <a:p>
            <a:pPr algn="l"/>
            <a:r>
              <a:rPr lang="zh-CN" altLang="en-US" sz="1400">
                <a:sym typeface="+mn-ea"/>
              </a:rPr>
              <a:t>优先级数值：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数值较低（接近</a:t>
            </a:r>
            <a:r>
              <a:rPr altLang="zh-CN" sz="1400">
                <a:sym typeface="+mn-ea"/>
              </a:rPr>
              <a:t> 0</a:t>
            </a:r>
            <a:r>
              <a:rPr lang="zh-CN" altLang="en-US" sz="1400">
                <a:sym typeface="+mn-ea"/>
              </a:rPr>
              <a:t>，但通常高于空闲任务）。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功能角色：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非实时后台任务：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如数据记录（非实时）、统计信息计算、非关键的定期自检。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低优先级事件处理：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处理不紧急的事件或消息。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特点：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只有在没有更高优先级任务就绪时才能运行。执行时间可以较长，对实时性要求很低。</a:t>
            </a:r>
            <a:endParaRPr lang="zh-CN" altLang="en-US" sz="1400"/>
          </a:p>
          <a:p>
            <a:pPr algn="l"/>
            <a:endParaRPr lang="en-US" altLang="zh-CN" sz="1400"/>
          </a:p>
          <a:p>
            <a:pPr algn="l"/>
            <a:r>
              <a:rPr lang="zh-CN" altLang="en-US" sz="1400" b="1">
                <a:sym typeface="+mn-ea"/>
              </a:rPr>
              <a:t>空闲优先级</a:t>
            </a:r>
            <a:r>
              <a:rPr altLang="zh-CN" sz="1400" b="1">
                <a:sym typeface="+mn-ea"/>
              </a:rPr>
              <a:t> (Idle Priority)</a:t>
            </a:r>
            <a:r>
              <a:rPr lang="zh-CN" altLang="en-US" sz="1400" b="1">
                <a:sym typeface="+mn-ea"/>
              </a:rPr>
              <a:t>：</a:t>
            </a:r>
            <a:endParaRPr lang="zh-CN" altLang="en-US" sz="1400" b="1"/>
          </a:p>
          <a:p>
            <a:pPr algn="l"/>
            <a:r>
              <a:rPr lang="zh-CN" altLang="en-US" sz="1400">
                <a:sym typeface="+mn-ea"/>
              </a:rPr>
              <a:t>优先级数值：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固定为</a:t>
            </a:r>
            <a:r>
              <a:rPr altLang="zh-CN" sz="1400">
                <a:sym typeface="+mn-ea"/>
              </a:rPr>
              <a:t> 0</a:t>
            </a:r>
            <a:r>
              <a:rPr lang="zh-CN" altLang="en-US" sz="1400">
                <a:sym typeface="+mn-ea"/>
              </a:rPr>
              <a:t>。这是系统中最低的优先级。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功能角色：</a:t>
            </a:r>
            <a:endParaRPr lang="zh-CN" altLang="en-US" sz="1400"/>
          </a:p>
          <a:p>
            <a:pPr indent="457200" algn="l"/>
            <a:r>
              <a:rPr lang="zh-CN" altLang="en-US" sz="1400">
                <a:sym typeface="+mn-ea"/>
              </a:rPr>
              <a:t>空闲任务</a:t>
            </a:r>
            <a:r>
              <a:rPr altLang="zh-CN" sz="1400">
                <a:sym typeface="+mn-ea"/>
              </a:rPr>
              <a:t> (Idle Task)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FreeRTOS </a:t>
            </a:r>
            <a:r>
              <a:rPr lang="zh-CN" altLang="en-US" sz="1400">
                <a:sym typeface="+mn-ea"/>
              </a:rPr>
              <a:t>内核自动创建的一个特殊任务。当且仅当没有其他任务处于就绪状态</a:t>
            </a:r>
            <a:r>
              <a:rPr altLang="zh-CN" sz="1400">
                <a:sym typeface="+mn-ea"/>
              </a:rPr>
              <a:t> (Ready) </a:t>
            </a:r>
            <a:r>
              <a:rPr lang="zh-CN" altLang="en-US" sz="1400">
                <a:sym typeface="+mn-ea"/>
              </a:rPr>
              <a:t>时，它才会运行。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关键作用：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执行后台清理：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例如，回收被删除任务的内存（如果启用了</a:t>
            </a:r>
            <a:r>
              <a:rPr altLang="zh-CN" sz="1400">
                <a:sym typeface="+mn-ea"/>
              </a:rPr>
              <a:t> configUSE_IDLE_HOOK </a:t>
            </a:r>
            <a:r>
              <a:rPr lang="zh-CN" altLang="en-US" sz="1400">
                <a:sym typeface="+mn-ea"/>
              </a:rPr>
              <a:t>或</a:t>
            </a:r>
            <a:r>
              <a:rPr altLang="zh-CN" sz="1400">
                <a:sym typeface="+mn-ea"/>
              </a:rPr>
              <a:t> configUSE_TICKLESS_IDLE</a:t>
            </a:r>
            <a:r>
              <a:rPr lang="zh-CN" altLang="en-US" sz="1400">
                <a:sym typeface="+mn-ea"/>
              </a:rPr>
              <a:t>）。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实现低功耗</a:t>
            </a:r>
            <a:r>
              <a:rPr altLang="zh-CN" sz="1400">
                <a:sym typeface="+mn-ea"/>
              </a:rPr>
              <a:t> (Tickless Idle)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在空闲任务中，系统可以进入低功耗睡眠模式（如果配置了</a:t>
            </a:r>
            <a:r>
              <a:rPr altLang="zh-CN" sz="1400">
                <a:sym typeface="+mn-ea"/>
              </a:rPr>
              <a:t> Tickless Idle</a:t>
            </a:r>
            <a:r>
              <a:rPr lang="zh-CN" altLang="en-US" sz="1400">
                <a:sym typeface="+mn-ea"/>
              </a:rPr>
              <a:t>）。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运行用户钩子函数</a:t>
            </a:r>
            <a:r>
              <a:rPr altLang="zh-CN" sz="1400">
                <a:sym typeface="+mn-ea"/>
              </a:rPr>
              <a:t> (Idle Hook)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开发者可以注册一个函数</a:t>
            </a:r>
            <a:r>
              <a:rPr altLang="zh-CN" sz="1400">
                <a:sym typeface="+mn-ea"/>
              </a:rPr>
              <a:t> (vApplicationIdleHook)</a:t>
            </a:r>
            <a:r>
              <a:rPr lang="zh-CN" altLang="en-US" sz="1400">
                <a:sym typeface="+mn-ea"/>
              </a:rPr>
              <a:t>，在空闲任务中执行自定义的低优先级后台操作（必须非常短，且不能阻塞！）。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特点：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优先级最低，不可改变。开发者不应手动创建优先级为</a:t>
            </a:r>
            <a:r>
              <a:rPr altLang="zh-CN" sz="1400">
                <a:sym typeface="+mn-ea"/>
              </a:rPr>
              <a:t> 0 </a:t>
            </a:r>
            <a:r>
              <a:rPr lang="zh-CN" altLang="en-US" sz="1400">
                <a:sym typeface="+mn-ea"/>
              </a:rPr>
              <a:t>的任务，以免干扰空闲任务的运行。</a:t>
            </a:r>
            <a:endParaRPr lang="zh-CN" altLang="en-US" sz="1400"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104" name="文本框 9"/>
          <p:cNvSpPr txBox="1"/>
          <p:nvPr/>
        </p:nvSpPr>
        <p:spPr>
          <a:xfrm>
            <a:off x="147638" y="62230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任务调度简介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523875" y="1641475"/>
            <a:ext cx="340518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一共支持三种任务调度方式：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矩形: 圆角 2"/>
          <p:cNvSpPr/>
          <p:nvPr>
            <p:custDataLst>
              <p:tags r:id="rId1"/>
            </p:custDataLst>
          </p:nvPr>
        </p:nvSpPr>
        <p:spPr>
          <a:xfrm>
            <a:off x="523875" y="2214563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抢占式调度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523875" y="3800475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协程式调度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523875" y="2997200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时间片调度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10" name="文本框 15"/>
          <p:cNvSpPr txBox="1"/>
          <p:nvPr>
            <p:custDataLst>
              <p:tags r:id="rId4"/>
            </p:custDataLst>
          </p:nvPr>
        </p:nvSpPr>
        <p:spPr>
          <a:xfrm>
            <a:off x="1812925" y="2074863"/>
            <a:ext cx="68072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主要是针对优先级不同的任务，每个任务都有一个优先级，优先级高的任务可以抢占优先级低的任务。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1" name="文本框 17"/>
          <p:cNvSpPr txBox="1"/>
          <p:nvPr>
            <p:custDataLst>
              <p:tags r:id="rId5"/>
            </p:custDataLst>
          </p:nvPr>
        </p:nvSpPr>
        <p:spPr>
          <a:xfrm>
            <a:off x="1781175" y="2886075"/>
            <a:ext cx="713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主要针对优先级相同的任务，当多个任务的优先级相同时， 任务调度器会在每一次系统时钟节拍到的时候切换任务。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2" name="文本框 19"/>
          <p:cNvSpPr txBox="1"/>
          <p:nvPr/>
        </p:nvSpPr>
        <p:spPr>
          <a:xfrm>
            <a:off x="523875" y="1203325"/>
            <a:ext cx="58959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调度器就是使用相关的调度算法来决定当前需要执行的哪个任务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" name="文本框 17"/>
          <p:cNvSpPr txBox="1"/>
          <p:nvPr>
            <p:custDataLst>
              <p:tags r:id="rId6"/>
            </p:custDataLst>
          </p:nvPr>
        </p:nvSpPr>
        <p:spPr>
          <a:xfrm>
            <a:off x="1781175" y="3648075"/>
            <a:ext cx="62865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当前执行任务将会一直运行，同时高优先级的任务不会抢占低优先级任务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现在虽然还支持，但是官方已经表示不再更新协程式调度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" grpId="0" bldLvl="0" animBg="1"/>
      <p:bldP spid="13" grpId="0" bldLvl="0" animBg="1"/>
      <p:bldP spid="14" grpId="0" bldLvl="0" animBg="1"/>
      <p:bldP spid="4110" grpId="0"/>
      <p:bldP spid="4111" grpId="0"/>
      <p:bldP spid="4112" grpId="0"/>
      <p:bldP spid="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8" name="文本框 9"/>
          <p:cNvSpPr txBox="1"/>
          <p:nvPr/>
        </p:nvSpPr>
        <p:spPr>
          <a:xfrm>
            <a:off x="230188" y="898525"/>
            <a:ext cx="2874962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抢占式调度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952500" y="2906713"/>
            <a:ext cx="3095625" cy="9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H="1" flipV="1">
            <a:off x="952500" y="1601788"/>
            <a:ext cx="12700" cy="1298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31" name="文本框 12"/>
          <p:cNvSpPr txBox="1"/>
          <p:nvPr/>
        </p:nvSpPr>
        <p:spPr>
          <a:xfrm>
            <a:off x="230188" y="1528763"/>
            <a:ext cx="64611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2" name="文本框 15"/>
          <p:cNvSpPr txBox="1"/>
          <p:nvPr/>
        </p:nvSpPr>
        <p:spPr>
          <a:xfrm>
            <a:off x="3641725" y="2933700"/>
            <a:ext cx="4921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1073150" y="2620963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631950" y="23844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181225" y="21558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730500" y="23717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3289300" y="216217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96913" y="2597150"/>
            <a:ext cx="255588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6913" y="2330450"/>
            <a:ext cx="252413" cy="2524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2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96913" y="2095500"/>
            <a:ext cx="252413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3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473575" y="2176463"/>
            <a:ext cx="4548188" cy="6175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的优先级分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别为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；在</a:t>
            </a:r>
            <a:r>
              <a:rPr kumimoji="0" lang="en-US" altLang="zh-CN" sz="1200" kern="1200" cap="none" spc="0" normalizeH="0" baseline="0" noProof="0" dirty="0" err="1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FreeRTOS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中任务设置的数值越大，优先级越高，所以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的优先级最高。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95800" y="1528763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473575" y="1917700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cxnSp>
        <p:nvCxnSpPr>
          <p:cNvPr id="4096" name="直接箭头连接符 4095"/>
          <p:cNvCxnSpPr/>
          <p:nvPr/>
        </p:nvCxnSpPr>
        <p:spPr>
          <a:xfrm>
            <a:off x="1384300" y="2322513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5" name="文本框 4096"/>
          <p:cNvSpPr txBox="1"/>
          <p:nvPr/>
        </p:nvSpPr>
        <p:spPr>
          <a:xfrm>
            <a:off x="1184275" y="2120900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1938338" y="2092325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7" name="文本框 36"/>
          <p:cNvSpPr txBox="1"/>
          <p:nvPr/>
        </p:nvSpPr>
        <p:spPr>
          <a:xfrm>
            <a:off x="1731963" y="1909763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4099" name="直接箭头连接符 4098"/>
          <p:cNvCxnSpPr/>
          <p:nvPr/>
        </p:nvCxnSpPr>
        <p:spPr>
          <a:xfrm flipH="1">
            <a:off x="2740025" y="2092325"/>
            <a:ext cx="257175" cy="279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9" name="文本框 39"/>
          <p:cNvSpPr txBox="1"/>
          <p:nvPr/>
        </p:nvSpPr>
        <p:spPr>
          <a:xfrm>
            <a:off x="2798763" y="1868488"/>
            <a:ext cx="415925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0" name="文本框 4099"/>
          <p:cNvSpPr txBox="1"/>
          <p:nvPr/>
        </p:nvSpPr>
        <p:spPr>
          <a:xfrm>
            <a:off x="269875" y="3336925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1" name="文本框 4100"/>
          <p:cNvSpPr txBox="1"/>
          <p:nvPr/>
        </p:nvSpPr>
        <p:spPr>
          <a:xfrm>
            <a:off x="290513" y="3736975"/>
            <a:ext cx="73199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在运行中，在这个过程中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2" name="文本框 4100"/>
          <p:cNvSpPr txBox="1"/>
          <p:nvPr/>
        </p:nvSpPr>
        <p:spPr>
          <a:xfrm>
            <a:off x="290513" y="4079875"/>
            <a:ext cx="61944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3" name="文本框 4100"/>
          <p:cNvSpPr txBox="1"/>
          <p:nvPr/>
        </p:nvSpPr>
        <p:spPr>
          <a:xfrm>
            <a:off x="290513" y="4418013"/>
            <a:ext cx="78247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阻塞了（系统延时或等待信号量等），此时就绪态中，优先级最高的任务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执行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4" name="文本框 4100"/>
          <p:cNvSpPr txBox="1"/>
          <p:nvPr/>
        </p:nvSpPr>
        <p:spPr>
          <a:xfrm>
            <a:off x="290513" y="4719638"/>
            <a:ext cx="70358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阻塞解除了（延时到了或者接收到信号量），此时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恢复到就绪态中，抢占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5" name="文本框 36"/>
          <p:cNvSpPr txBox="1"/>
          <p:nvPr/>
        </p:nvSpPr>
        <p:spPr>
          <a:xfrm>
            <a:off x="2633663" y="900113"/>
            <a:ext cx="655637" cy="3397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6" name="文本框 37"/>
          <p:cNvSpPr txBox="1"/>
          <p:nvPr/>
        </p:nvSpPr>
        <p:spPr>
          <a:xfrm>
            <a:off x="5494338" y="965200"/>
            <a:ext cx="366553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、高优先级任务不停止，低优先级任务无法执行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157" name="文本框 39"/>
          <p:cNvSpPr txBox="1"/>
          <p:nvPr/>
        </p:nvSpPr>
        <p:spPr>
          <a:xfrm>
            <a:off x="3195638" y="960438"/>
            <a:ext cx="21844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、高优先级任务，优先执行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487988" y="1246188"/>
            <a:ext cx="3665537" cy="2794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、被抢占的任务将会进入就绪态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5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1" grpId="0"/>
      <p:bldP spid="5132" grpId="0"/>
      <p:bldP spid="14" grpId="0" bldLvl="0" animBg="1"/>
      <p:bldP spid="18" grpId="0" bldLvl="0" animBg="1"/>
      <p:bldP spid="19" grpId="0" bldLvl="0" animBg="1"/>
      <p:bldP spid="20" grpId="0" bldLvl="0" animBg="1"/>
      <p:bldP spid="22" grpId="0" bldLvl="0" animBg="1"/>
      <p:bldP spid="23" grpId="0"/>
      <p:bldP spid="26" grpId="0"/>
      <p:bldP spid="27" grpId="0"/>
      <p:bldP spid="28" grpId="0"/>
      <p:bldP spid="30" grpId="0"/>
      <p:bldP spid="31" grpId="0"/>
      <p:bldP spid="5145" grpId="0"/>
      <p:bldP spid="5147" grpId="0"/>
      <p:bldP spid="5149" grpId="0"/>
      <p:bldP spid="5150" grpId="0"/>
      <p:bldP spid="5151" grpId="0"/>
      <p:bldP spid="5152" grpId="0"/>
      <p:bldP spid="5153" grpId="0"/>
      <p:bldP spid="5154" grpId="0"/>
      <p:bldP spid="5155" grpId="0"/>
      <p:bldP spid="5156" grpId="0"/>
      <p:bldP spid="5157" grpId="0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152" name="文本框 9"/>
          <p:cNvSpPr txBox="1"/>
          <p:nvPr/>
        </p:nvSpPr>
        <p:spPr>
          <a:xfrm>
            <a:off x="999808" y="1508760"/>
            <a:ext cx="4619625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时间片调度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1709420" y="3529648"/>
            <a:ext cx="32702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1722120" y="2327910"/>
            <a:ext cx="0" cy="1195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55" name="文本框 12"/>
          <p:cNvSpPr txBox="1"/>
          <p:nvPr/>
        </p:nvSpPr>
        <p:spPr>
          <a:xfrm>
            <a:off x="999808" y="2305685"/>
            <a:ext cx="722312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56" name="文本框 13"/>
          <p:cNvSpPr txBox="1"/>
          <p:nvPr/>
        </p:nvSpPr>
        <p:spPr>
          <a:xfrm>
            <a:off x="4436745" y="3567748"/>
            <a:ext cx="54292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1944370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2511108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307784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364299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4209733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2511108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3077845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36429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42144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4765358" y="3456623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1944370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8" name="文本框 23"/>
          <p:cNvSpPr txBox="1"/>
          <p:nvPr/>
        </p:nvSpPr>
        <p:spPr>
          <a:xfrm>
            <a:off x="1874520" y="3694748"/>
            <a:ext cx="7112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个时间片</a:t>
            </a:r>
            <a:endParaRPr lang="zh-CN" altLang="en-US" sz="9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1947545" y="3529648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2514283" y="3528060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265420" y="2889885"/>
            <a:ext cx="4548188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的优先级均为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；即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个任务同等优先级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287645" y="2373948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265420" y="2631123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450658" y="3110548"/>
            <a:ext cx="25717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cxnSp>
        <p:nvCxnSpPr>
          <p:cNvPr id="4098" name="直接箭头连接符 4097"/>
          <p:cNvCxnSpPr>
            <a:endCxn id="17" idx="0"/>
          </p:cNvCxnSpPr>
          <p:nvPr/>
        </p:nvCxnSpPr>
        <p:spPr>
          <a:xfrm>
            <a:off x="3357245" y="2859723"/>
            <a:ext cx="0" cy="26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0" name="矩形: 圆角 4099"/>
          <p:cNvSpPr/>
          <p:nvPr/>
        </p:nvSpPr>
        <p:spPr>
          <a:xfrm>
            <a:off x="3119120" y="2631123"/>
            <a:ext cx="4746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阻塞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177" name="文本框 4099"/>
          <p:cNvSpPr txBox="1"/>
          <p:nvPr/>
        </p:nvSpPr>
        <p:spPr>
          <a:xfrm>
            <a:off x="1039495" y="3947160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78" name="文本框 4100"/>
          <p:cNvSpPr txBox="1"/>
          <p:nvPr/>
        </p:nvSpPr>
        <p:spPr>
          <a:xfrm>
            <a:off x="1060133" y="4347210"/>
            <a:ext cx="38481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79" name="文本框 4100"/>
          <p:cNvSpPr txBox="1"/>
          <p:nvPr/>
        </p:nvSpPr>
        <p:spPr>
          <a:xfrm>
            <a:off x="1060133" y="4690110"/>
            <a:ext cx="45593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0" name="文本框 4100"/>
          <p:cNvSpPr txBox="1"/>
          <p:nvPr/>
        </p:nvSpPr>
        <p:spPr>
          <a:xfrm>
            <a:off x="1060133" y="5028248"/>
            <a:ext cx="85613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运行过程中（还不到一个时间片），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阻塞了（系统延时或等待信号量等），此时直接切换到下一个任务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1" name="文本框 4100"/>
          <p:cNvSpPr txBox="1"/>
          <p:nvPr/>
        </p:nvSpPr>
        <p:spPr>
          <a:xfrm>
            <a:off x="1060133" y="5329873"/>
            <a:ext cx="35734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2" name="文本框 42"/>
          <p:cNvSpPr txBox="1"/>
          <p:nvPr/>
        </p:nvSpPr>
        <p:spPr>
          <a:xfrm>
            <a:off x="999808" y="2000885"/>
            <a:ext cx="86836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同等优先级任务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轮流地享有相同的 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CPU 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时间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(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可设置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)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 叫时间片，在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FreeRTOS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中，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一个时间片就等于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SysTick 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中断周期</a:t>
            </a:r>
            <a:endParaRPr lang="zh-CN" altLang="en-US" sz="1200" dirty="0">
              <a:solidFill>
                <a:srgbClr val="FF000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6183" name="文本框 43"/>
          <p:cNvSpPr txBox="1"/>
          <p:nvPr/>
        </p:nvSpPr>
        <p:spPr>
          <a:xfrm>
            <a:off x="5268595" y="3999548"/>
            <a:ext cx="4545013" cy="6175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、注意没有用完的时间片不会再使用，下次任务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得到执行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还是按照一个时间片的时钟节拍运行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4" name="文本框 44"/>
          <p:cNvSpPr txBox="1"/>
          <p:nvPr/>
        </p:nvSpPr>
        <p:spPr>
          <a:xfrm>
            <a:off x="5268595" y="3705860"/>
            <a:ext cx="3743325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、一个时间片大小，取决为滴答定时器中断周期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42"/>
          <p:cNvSpPr txBox="1"/>
          <p:nvPr/>
        </p:nvSpPr>
        <p:spPr>
          <a:xfrm>
            <a:off x="5260658" y="3382010"/>
            <a:ext cx="3282950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、同等优先级任务，轮流执行；时间片流转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6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5" grpId="0"/>
      <p:bldP spid="6156" grpId="0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6168" grpId="0"/>
      <p:bldP spid="36" grpId="0"/>
      <p:bldP spid="37" grpId="0"/>
      <p:bldP spid="38" grpId="0"/>
      <p:bldP spid="39" grpId="0"/>
      <p:bldP spid="4100" grpId="0" bldLvl="0" animBg="1"/>
      <p:bldP spid="6177" grpId="0"/>
      <p:bldP spid="6178" grpId="0"/>
      <p:bldP spid="6179" grpId="0"/>
      <p:bldP spid="6180" grpId="0"/>
      <p:bldP spid="6181" grpId="0"/>
      <p:bldP spid="6182" grpId="0"/>
      <p:bldP spid="6183" grpId="0"/>
      <p:bldP spid="6184" grpId="0"/>
      <p:bldP spid="4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176" name="文本框 9"/>
          <p:cNvSpPr txBox="1"/>
          <p:nvPr/>
        </p:nvSpPr>
        <p:spPr>
          <a:xfrm>
            <a:off x="503238" y="12776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"/>
          <p:cNvSpPr txBox="1"/>
          <p:nvPr/>
        </p:nvSpPr>
        <p:spPr>
          <a:xfrm>
            <a:off x="858838" y="1907858"/>
            <a:ext cx="288448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中任务共存在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种状态：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" name="矩形: 圆角 2"/>
          <p:cNvSpPr/>
          <p:nvPr>
            <p:custDataLst>
              <p:tags r:id="rId1"/>
            </p:custDataLst>
          </p:nvPr>
        </p:nvSpPr>
        <p:spPr>
          <a:xfrm>
            <a:off x="982663" y="2539683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、运行态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982663" y="3132990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、就绪态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982663" y="3726297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、阻塞态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" name="矩形: 圆角 14"/>
          <p:cNvSpPr/>
          <p:nvPr/>
        </p:nvSpPr>
        <p:spPr>
          <a:xfrm>
            <a:off x="982663" y="4338320"/>
            <a:ext cx="1098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、挂起态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182" name="文本框 15"/>
          <p:cNvSpPr txBox="1"/>
          <p:nvPr>
            <p:custDataLst>
              <p:tags r:id="rId4"/>
            </p:custDataLst>
          </p:nvPr>
        </p:nvSpPr>
        <p:spPr>
          <a:xfrm>
            <a:off x="2101378" y="2544532"/>
            <a:ext cx="751253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正在执行的任务，该任务就处于运行态，注意在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中，同一时间仅一个任务处于运行态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3" name="文本框 16"/>
          <p:cNvSpPr txBox="1"/>
          <p:nvPr>
            <p:custDataLst>
              <p:tags r:id="rId5"/>
            </p:custDataLst>
          </p:nvPr>
        </p:nvSpPr>
        <p:spPr>
          <a:xfrm>
            <a:off x="2101378" y="3142690"/>
            <a:ext cx="603977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如果该任务已经能够被执行，但当前还未被执行，那么该任务处于就绪态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4" name="文本框 17"/>
          <p:cNvSpPr txBox="1"/>
          <p:nvPr>
            <p:custDataLst>
              <p:tags r:id="rId6"/>
            </p:custDataLst>
          </p:nvPr>
        </p:nvSpPr>
        <p:spPr>
          <a:xfrm>
            <a:off x="2101378" y="3740847"/>
            <a:ext cx="5895889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如果一个任务因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延时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或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等待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外部事件发生，那么这个任务就处于阻塞态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85" name="文本框 18"/>
          <p:cNvSpPr txBox="1"/>
          <p:nvPr/>
        </p:nvSpPr>
        <p:spPr>
          <a:xfrm>
            <a:off x="2081213" y="4174808"/>
            <a:ext cx="6942137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类似暂停，调用函数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进入挂起态，需要调用解挂函数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vTaskResume()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才可以进入就绪态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" grpId="0" bldLvl="0" animBg="1"/>
      <p:bldP spid="13" grpId="0" bldLvl="0" animBg="1"/>
      <p:bldP spid="14" grpId="0" bldLvl="0" animBg="1"/>
      <p:bldP spid="15" grpId="0" bldLvl="0" animBg="1"/>
      <p:bldP spid="7182" grpId="0"/>
      <p:bldP spid="7183" grpId="0"/>
      <p:bldP spid="7184" grpId="0"/>
      <p:bldP spid="718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7" name="文本框 9"/>
          <p:cNvSpPr txBox="1"/>
          <p:nvPr/>
        </p:nvSpPr>
        <p:spPr>
          <a:xfrm>
            <a:off x="111474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28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8755" y="2190433"/>
            <a:ext cx="3689350" cy="31464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" name="文本框 12"/>
          <p:cNvSpPr txBox="1"/>
          <p:nvPr/>
        </p:nvSpPr>
        <p:spPr>
          <a:xfrm>
            <a:off x="146875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四种任务状态之间的转换图：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0" name="文本框 12"/>
          <p:cNvSpPr txBox="1"/>
          <p:nvPr/>
        </p:nvSpPr>
        <p:spPr>
          <a:xfrm>
            <a:off x="515810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1" name="文本框 13"/>
          <p:cNvSpPr txBox="1"/>
          <p:nvPr/>
        </p:nvSpPr>
        <p:spPr>
          <a:xfrm>
            <a:off x="5158105" y="2319020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、仅就绪态可转变成运行态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2" name="文本框 14"/>
          <p:cNvSpPr txBox="1"/>
          <p:nvPr/>
        </p:nvSpPr>
        <p:spPr>
          <a:xfrm>
            <a:off x="5162868" y="2776220"/>
            <a:ext cx="42259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、其他状态的任务想运行，必须先转变成就绪态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224" name="文本框 9"/>
          <p:cNvSpPr txBox="1"/>
          <p:nvPr/>
        </p:nvSpPr>
        <p:spPr>
          <a:xfrm>
            <a:off x="1051878" y="128206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225" name="文本框 12"/>
          <p:cNvSpPr txBox="1"/>
          <p:nvPr/>
        </p:nvSpPr>
        <p:spPr>
          <a:xfrm>
            <a:off x="1405890" y="1912303"/>
            <a:ext cx="54879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中无非就四种状态，运行态，就绪态、阻塞态、挂起态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494790" y="2912428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494790" y="3393440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494790" y="3866515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9229" name="文本框 15"/>
          <p:cNvSpPr txBox="1"/>
          <p:nvPr/>
        </p:nvSpPr>
        <p:spPr>
          <a:xfrm>
            <a:off x="2718753" y="2891790"/>
            <a:ext cx="40640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，其中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x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代表任务优先级数值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9230" name="文本框 16"/>
          <p:cNvSpPr txBox="1"/>
          <p:nvPr/>
        </p:nvSpPr>
        <p:spPr>
          <a:xfrm>
            <a:off x="2718753" y="3387090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9231" name="文本框 17"/>
          <p:cNvSpPr txBox="1"/>
          <p:nvPr/>
        </p:nvSpPr>
        <p:spPr>
          <a:xfrm>
            <a:off x="2718753" y="3885565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  <a:endParaRPr lang="en-US" altLang="zh-CN" sz="14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9232" name="文本框 22"/>
          <p:cNvSpPr txBox="1"/>
          <p:nvPr/>
        </p:nvSpPr>
        <p:spPr>
          <a:xfrm>
            <a:off x="1405890" y="2282190"/>
            <a:ext cx="691673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这四种状态中，除了运行态，其他三种任务状态的任务都有其对应的任务状态列表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6576378" y="2755265"/>
            <a:ext cx="223838" cy="1911350"/>
          </a:xfrm>
          <a:prstGeom prst="leftBrace">
            <a:avLst>
              <a:gd name="adj1" fmla="val 8333"/>
              <a:gd name="adj2" fmla="val 1475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7233920" y="2704465"/>
            <a:ext cx="168973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7233920" y="305689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7233920" y="4116070"/>
            <a:ext cx="172593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7233920" y="341122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7233920" y="4463415"/>
            <a:ext cx="171704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7233920" y="3755390"/>
            <a:ext cx="176149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54190" y="2706053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54190" y="297116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6854190" y="326802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6854190" y="362839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854190" y="400780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6854190" y="439197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793865" y="2726690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793865" y="3025140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6793865" y="3353753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819265" y="3715703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6824028" y="4107815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824028" y="4444365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522153" y="5050790"/>
            <a:ext cx="52800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位的变量，当某个位，置一时，代表所对应的优先级就绪列表有任务存在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6" grpId="0" bldLvl="0" animBg="1"/>
      <p:bldP spid="17" grpId="0" bldLvl="0" animBg="1"/>
      <p:bldP spid="18" grpId="0" bldLvl="0" animBg="1"/>
      <p:bldP spid="9229" grpId="0"/>
      <p:bldP spid="9230" grpId="0"/>
      <p:bldP spid="9231" grpId="0"/>
      <p:bldP spid="9232" grpId="0"/>
      <p:bldP spid="2" grpId="0" bldLvl="0" animBg="1"/>
      <p:bldP spid="3" grpId="0" bldLvl="0" animBg="1"/>
      <p:bldP spid="23" grpId="0" bldLvl="0" animBg="1"/>
      <p:bldP spid="24" grpId="0" bldLvl="0" animBg="1"/>
      <p:bldP spid="27" grpId="0" bldLvl="0" animBg="1"/>
      <p:bldP spid="28" grpId="0" bldLvl="0" animBg="1"/>
      <p:bldP spid="29" grpId="0" bldLvl="0" animBg="1"/>
      <p:bldP spid="8" grpId="0" bldLvl="0" animBg="1"/>
      <p:bldP spid="13" grpId="0"/>
      <p:bldP spid="40" grpId="0"/>
      <p:bldP spid="41" grpId="0"/>
      <p:bldP spid="42" grpId="0"/>
      <p:bldP spid="43" grpId="0"/>
      <p:bldP spid="44" grpId="0"/>
      <p:bldP spid="1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248" name="文本框 9"/>
          <p:cNvSpPr txBox="1"/>
          <p:nvPr/>
        </p:nvSpPr>
        <p:spPr>
          <a:xfrm>
            <a:off x="1233488" y="135255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619250" y="3006725"/>
            <a:ext cx="1225550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1619250" y="3922713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619250" y="4864100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+mn-lt"/>
              <a:ea typeface="思源黑体 CN Normal" panose="020B0400000000000000"/>
              <a:cs typeface="+mn-cs"/>
            </a:endParaRPr>
          </a:p>
        </p:txBody>
      </p:sp>
      <p:sp>
        <p:nvSpPr>
          <p:cNvPr id="19" name="文本框 15"/>
          <p:cNvSpPr txBox="1"/>
          <p:nvPr/>
        </p:nvSpPr>
        <p:spPr>
          <a:xfrm>
            <a:off x="2844800" y="2986088"/>
            <a:ext cx="1701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20" name="文本框 16"/>
          <p:cNvSpPr txBox="1"/>
          <p:nvPr/>
        </p:nvSpPr>
        <p:spPr>
          <a:xfrm>
            <a:off x="2844800" y="3914775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21" name="文本框 17"/>
          <p:cNvSpPr txBox="1"/>
          <p:nvPr/>
        </p:nvSpPr>
        <p:spPr>
          <a:xfrm>
            <a:off x="2844800" y="4883150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  <a:endParaRPr lang="en-US" altLang="zh-CN" sz="14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619250" y="1870075"/>
            <a:ext cx="62896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假设，创建三个任务分别是：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676400" y="2359025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2705100" y="2349500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3733800" y="2349500"/>
            <a:ext cx="600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4460875" y="2657475"/>
            <a:ext cx="176213" cy="887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637088" y="252412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[3]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637088" y="2927350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[2]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637088" y="333057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[1]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10263" name="文本框 24"/>
          <p:cNvSpPr txBox="1"/>
          <p:nvPr/>
        </p:nvSpPr>
        <p:spPr>
          <a:xfrm>
            <a:off x="4546600" y="3852863"/>
            <a:ext cx="5605463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调度器总是在所有处于就绪列表的任务中，选择具有最高优先级的任务来执行 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546600" y="4273550"/>
            <a:ext cx="37338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，优先级均为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呢？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546600" y="4675188"/>
            <a:ext cx="3262313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相同优先级的任务会连接在同一个就绪列表上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14965 -3.08642E-6 C 0.21701 -3.08642E-6 0.29982 0.00988 0.29982 0.01821 L 0.29982 0.03642 " pathEditMode="relative" rAng="0" ptsTypes="AAAA">
                                      <p:cBhvr>
                                        <p:cTn id="66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00" y="18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2059 -3.08642E-6 C 0.29843 -3.08642E-6 0.41232 0.03087 0.41232 0.05618 L 0.41232 0.11327 " pathEditMode="relative" rAng="0" ptsTypes="AAAA">
                                      <p:cBhvr>
                                        <p:cTn id="7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00" y="5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93827E-6 L 0.26198 -4.93827E-6 C 0.37951 -4.93827E-6 0.52413 0.05247 0.52413 0.09507 L 0.52413 0.19044 " pathEditMode="relative" rAng="0" ptsTypes="AAAA">
                                      <p:cBhvr>
                                        <p:cTn id="7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200" y="9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232 0.11327 L 0.45139 0.11327 C 0.46909 0.11327 0.4908 0.13519 0.4908 0.15309 L 0.4908 0.19352 " pathEditMode="relative" rAng="0" ptsTypes="AAAA">
                                      <p:cBhvr>
                                        <p:cTn id="88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00" y="4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982 0.03148 L 0.37604 0.03148 C 0.41041 0.03148 0.45329 0.07562 0.45329 0.11173 L 0.45329 0.19321 " pathEditMode="relative" rAng="0" ptsTypes="AAAA">
                                      <p:cBhvr>
                                        <p:cTn id="9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700" y="81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ldLvl="0" animBg="1"/>
      <p:bldP spid="17" grpId="0" bldLvl="0" animBg="1"/>
      <p:bldP spid="18" grpId="0" bldLvl="0" animBg="1"/>
      <p:bldP spid="19" grpId="0"/>
      <p:bldP spid="20" grpId="0"/>
      <p:bldP spid="21" grpId="0"/>
      <p:bldP spid="22" grpId="0"/>
      <p:bldP spid="24" grpId="0" bldLvl="0" animBg="1"/>
      <p:bldP spid="24" grpId="1" bldLvl="0" animBg="1"/>
      <p:bldP spid="28" grpId="0" bldLvl="0" animBg="1"/>
      <p:bldP spid="28" grpId="1" bldLvl="0" animBg="1"/>
      <p:bldP spid="28" grpId="2" bldLvl="0" animBg="1"/>
      <p:bldP spid="29" grpId="0" bldLvl="0" animBg="1"/>
      <p:bldP spid="29" grpId="1" bldLvl="0" animBg="1"/>
      <p:bldP spid="29" grpId="2" bldLvl="0" animBg="1"/>
      <p:bldP spid="2" grpId="0" bldLvl="0" animBg="1"/>
      <p:bldP spid="30" grpId="0"/>
      <p:bldP spid="31" grpId="0"/>
      <p:bldP spid="32" grpId="0"/>
      <p:bldP spid="10263" grpId="0"/>
      <p:bldP spid="25" grpId="0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9"/>
          <p:cNvSpPr txBox="1"/>
          <p:nvPr/>
        </p:nvSpPr>
        <p:spPr>
          <a:xfrm>
            <a:off x="181293" y="736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任务是怎么调度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的？</a:t>
            </a:r>
            <a:endParaRPr lang="zh-CN" altLang="en-US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45110" y="784225"/>
            <a:ext cx="8455025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404040"/>
                </a:solidFill>
                <a:latin typeface="quote-cjk-patch"/>
                <a:ea typeface="quote-cjk-patch"/>
              </a:rPr>
              <a:t>调度器的核心任务是：始终让最高优先级的、就绪的任务运行。</a:t>
            </a:r>
            <a:endParaRPr lang="zh-CN" altLang="en-US" sz="1600" b="0" i="0">
              <a:solidFill>
                <a:srgbClr val="404040"/>
              </a:solidFill>
              <a:latin typeface="quote-cjk-patch"/>
              <a:ea typeface="quote-cjk-patch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6775" y="1151255"/>
            <a:ext cx="6088380" cy="461073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44475" y="1285875"/>
            <a:ext cx="5702300" cy="4476115"/>
          </a:xfrm>
          <a:prstGeom prst="rect">
            <a:avLst/>
          </a:prstGeom>
        </p:spPr>
        <p:txBody>
          <a:bodyPr wrap="square">
            <a:noAutofit/>
          </a:bodyPr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R0-R12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：通用寄存器 </a:t>
            </a:r>
            <a:endParaRPr lang="zh-CN" altLang="en-US" sz="100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R0‐R12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都是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位通用寄存器，用于数据操作。但是注意：绝大多数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16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指令只能访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R0‐R7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，而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Thumb‐2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指令可以访问所有寄存器。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 R13: 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两个堆栈指针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拥有两个堆栈指针，然而它们是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，因此任一时刻只能使用其中的一个。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indent="457200"/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主堆栈指针（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MSP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）：复位后缺省使用的堆栈指针，用于操作系统内核以及异常处理例程（包括中断服务例程）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indent="457200"/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进程堆栈指针（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PSP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）：由用户的应用程序代码使用。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堆栈指针的最低两位永远是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0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，这意味着堆栈总是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字节对齐的。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编程领域中，凡是打断程序顺序执行的事件，都被称为异常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(exception)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。除了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外部中断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外，当有指令执 行了“非法操作”，或者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访问被禁的内存区间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，因各种错误产生的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fault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，以及不可屏蔽中断发生时，都会打断程序的 执行，这些情况统称为异常。在不严格的上下文中，异常与中断也可以混用。另外，程序代码也可以主动请求进入 异常状态的（常用于系统调用）。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：连接寄存器 </a:t>
            </a:r>
            <a:endParaRPr lang="zh-CN" altLang="en-US" sz="100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当呼叫一个子程序时，由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存储返回地址不像大多数其它处理器，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为了减少访问内存的次数（访问内存的操作往往要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个以上指令周期，带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MMU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cache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的就更加不确定了），把返回地址直接存储在寄存器中。这样足以使很多只有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级子程序调用的代码无需访问内存（堆栈内存），从而提高了子程序调用的效率。如果多于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级，则需要把前一级的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值压到堆栈里。在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上编程时，应尽量只使用寄存器保存中间结果，迫不得以时才访问内存。在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RISC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处理器中，为了强调访内操作越过了处理器的界线，并且带来了对性能的不利影响，给它取了一个专业的术语：溅出。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R15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：程序计数寄存器 </a:t>
            </a:r>
            <a:endParaRPr lang="zh-CN" altLang="en-US" sz="100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指向当前的程序地址。如果修改它的值，就能改变程序的执行流（很多高级技巧就在这里面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——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译注）。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特殊功能寄存器 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还在内核水平上搭载了若干特殊功能寄存器，包括程序状态字寄存器组（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PSRs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）中断屏蔽寄存器组（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PRIMASK, FAULTMASK, BASEPRI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）控制寄存器（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CONTROL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000">
              <a:solidFill>
                <a:srgbClr val="000000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8" name="文本框 9"/>
          <p:cNvSpPr txBox="1"/>
          <p:nvPr/>
        </p:nvSpPr>
        <p:spPr>
          <a:xfrm>
            <a:off x="240348" y="13779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开启任务调度器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42"/>
          <p:cNvSpPr txBox="1"/>
          <p:nvPr/>
        </p:nvSpPr>
        <p:spPr>
          <a:xfrm>
            <a:off x="570548" y="674370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vTaskStartScheduler()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6" name="文本框 17"/>
          <p:cNvSpPr txBox="1"/>
          <p:nvPr/>
        </p:nvSpPr>
        <p:spPr>
          <a:xfrm>
            <a:off x="570548" y="1025208"/>
            <a:ext cx="77231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作用：用于启动任务调度器，任务调度器启动后，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便会开始进行任务调度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7" name="文本框 19"/>
          <p:cNvSpPr txBox="1"/>
          <p:nvPr/>
        </p:nvSpPr>
        <p:spPr>
          <a:xfrm>
            <a:off x="570548" y="1847533"/>
            <a:ext cx="400367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、创建空闲任务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8" name="文本框 21"/>
          <p:cNvSpPr txBox="1"/>
          <p:nvPr/>
        </p:nvSpPr>
        <p:spPr>
          <a:xfrm>
            <a:off x="570548" y="2253933"/>
            <a:ext cx="4567237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、如果使能软件定时器，则创建定时器任务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9" name="文本框 23"/>
          <p:cNvSpPr txBox="1"/>
          <p:nvPr/>
        </p:nvSpPr>
        <p:spPr>
          <a:xfrm>
            <a:off x="570548" y="2660333"/>
            <a:ext cx="6037262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、关闭中断，防止调度器开启之前或过程中，受中断干扰，会在运行第一个任务时打开中断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0" name="文本框 25"/>
          <p:cNvSpPr txBox="1"/>
          <p:nvPr/>
        </p:nvSpPr>
        <p:spPr>
          <a:xfrm>
            <a:off x="570548" y="3066733"/>
            <a:ext cx="428942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、初始化全局变量，并将任务调度器的运行标志设置为已运行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1" name="文本框 27"/>
          <p:cNvSpPr txBox="1"/>
          <p:nvPr/>
        </p:nvSpPr>
        <p:spPr>
          <a:xfrm>
            <a:off x="570548" y="3474720"/>
            <a:ext cx="4129087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、初始化任务运行时间统计功能的时基定时器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2" name="文本框 29"/>
          <p:cNvSpPr txBox="1"/>
          <p:nvPr/>
        </p:nvSpPr>
        <p:spPr>
          <a:xfrm>
            <a:off x="570548" y="3881120"/>
            <a:ext cx="4129087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xPortStartScheduler()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3" name="文本框 17"/>
          <p:cNvSpPr txBox="1"/>
          <p:nvPr/>
        </p:nvSpPr>
        <p:spPr>
          <a:xfrm>
            <a:off x="570548" y="144748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52" name="文本框 9"/>
          <p:cNvSpPr txBox="1"/>
          <p:nvPr/>
        </p:nvSpPr>
        <p:spPr>
          <a:xfrm>
            <a:off x="5463858" y="31273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</a:t>
            </a: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</a:t>
            </a:r>
            <a:r>
              <a:rPr lang="en-US" altLang="zh-CN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xPortStartScheduler() 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7"/>
          <p:cNvSpPr txBox="1"/>
          <p:nvPr/>
        </p:nvSpPr>
        <p:spPr>
          <a:xfrm>
            <a:off x="4139883" y="3684588"/>
            <a:ext cx="7467600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作用：该函数用于完成启动任务调度器中与硬件架构相关的配置部分，以及启动第一个任务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0" name="文本框 19"/>
          <p:cNvSpPr txBox="1"/>
          <p:nvPr/>
        </p:nvSpPr>
        <p:spPr>
          <a:xfrm>
            <a:off x="4170045" y="4481513"/>
            <a:ext cx="5675313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、检测用户在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FreeRTOSConfig.h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文件中对中断的相关配置是否有误 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1" name="文本框 21"/>
          <p:cNvSpPr txBox="1"/>
          <p:nvPr/>
        </p:nvSpPr>
        <p:spPr>
          <a:xfrm>
            <a:off x="4170045" y="4918075"/>
            <a:ext cx="5602288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、配置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的中断优先级为最低优先级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2" name="文本框 23"/>
          <p:cNvSpPr txBox="1"/>
          <p:nvPr/>
        </p:nvSpPr>
        <p:spPr>
          <a:xfrm>
            <a:off x="4170045" y="5354638"/>
            <a:ext cx="3779838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vPortSetupTimerInterrupt()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3" name="文本框 25"/>
          <p:cNvSpPr txBox="1"/>
          <p:nvPr/>
        </p:nvSpPr>
        <p:spPr>
          <a:xfrm>
            <a:off x="4170045" y="5791200"/>
            <a:ext cx="6535738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、初始化临界区嵌套计数器为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4" name="文本框 27"/>
          <p:cNvSpPr txBox="1"/>
          <p:nvPr/>
        </p:nvSpPr>
        <p:spPr>
          <a:xfrm>
            <a:off x="4170045" y="6227763"/>
            <a:ext cx="4129088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prvEnableVFP()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使能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FPU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5" name="文本框 29"/>
          <p:cNvSpPr txBox="1"/>
          <p:nvPr/>
        </p:nvSpPr>
        <p:spPr>
          <a:xfrm>
            <a:off x="4170045" y="6664325"/>
            <a:ext cx="4289425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prvStartFirstTask()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启动第一个任务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6" name="文本框 15"/>
          <p:cNvSpPr txBox="1"/>
          <p:nvPr/>
        </p:nvSpPr>
        <p:spPr>
          <a:xfrm>
            <a:off x="4139883" y="408781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>
                                            <p:txEl>
                                              <p:charRg st="0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6">
                                            <p:txEl>
                                              <p:charRg st="0" end="4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>
                                            <p:txEl>
                                              <p:charRg st="0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29">
                                            <p:txEl>
                                              <p:charRg st="0" end="4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4108" grpId="0"/>
      <p:bldP spid="4109" grpId="0"/>
      <p:bldP spid="4110" grpId="0"/>
      <p:bldP spid="4111" grpId="0"/>
      <p:bldP spid="4112" grpId="0"/>
      <p:bldP spid="4113" grpId="0"/>
      <p:bldP spid="5130" grpId="0"/>
      <p:bldP spid="5131" grpId="0"/>
      <p:bldP spid="5132" grpId="0"/>
      <p:bldP spid="5133" grpId="0"/>
      <p:bldP spid="5134" grpId="0"/>
      <p:bldP spid="5135" grpId="0"/>
      <p:bldP spid="51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4344" name="文本框 9"/>
          <p:cNvSpPr txBox="1"/>
          <p:nvPr/>
        </p:nvSpPr>
        <p:spPr>
          <a:xfrm>
            <a:off x="1432878" y="803275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659890" y="1327150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任务切换的本质：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就是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寄存器的切换。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298" name="文本框 12"/>
          <p:cNvSpPr txBox="1"/>
          <p:nvPr/>
        </p:nvSpPr>
        <p:spPr>
          <a:xfrm>
            <a:off x="1656715" y="3009900"/>
            <a:ext cx="68151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保存现场，对任务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恢复现场，这个整体的过程称之为：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上下文切换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299" name="文本框 13"/>
          <p:cNvSpPr txBox="1"/>
          <p:nvPr/>
        </p:nvSpPr>
        <p:spPr>
          <a:xfrm>
            <a:off x="1656715" y="2128838"/>
            <a:ext cx="79629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第一步：需暂停任务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的执行，并将此时任务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的寄存器保存到任务堆栈，这个过程叫做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保存现场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2300" name="文本框 14"/>
          <p:cNvSpPr txBox="1"/>
          <p:nvPr/>
        </p:nvSpPr>
        <p:spPr>
          <a:xfrm>
            <a:off x="1656715" y="2544763"/>
            <a:ext cx="837565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的各个寄存器值（被存于任务堆栈中）恢复到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寄存器中，这个过程叫做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恢复现场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1" name="文本框 16"/>
          <p:cNvSpPr txBox="1"/>
          <p:nvPr/>
        </p:nvSpPr>
        <p:spPr>
          <a:xfrm>
            <a:off x="1656715" y="178911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假设当由任务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切换到任务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时，主要分为两步：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3063" y="3760788"/>
            <a:ext cx="5080000" cy="1476375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堆的作用是提供全局的、动态的、生命周期可控的内存空间。当你需要在多个函数间共享一块数据，或者需要的数据大小在编译时无法确定（比如根据用户输入决定数组大小），就必须使用堆。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401118" y="3611880"/>
            <a:ext cx="5080000" cy="2491740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栈是为函数的执行而服务的，它的核心作用是维护函数调用的上下文。每当调用一个函数时，系统会在栈上为其分配一块称为 “栈帧 (Stack Frame)” 的内存区域，用于存放：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298" grpId="0"/>
      <p:bldP spid="12299" grpId="0"/>
      <p:bldP spid="12300" grpId="0"/>
      <p:bldP spid="1230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362" name="文本框 9"/>
          <p:cNvSpPr txBox="1"/>
          <p:nvPr/>
        </p:nvSpPr>
        <p:spPr>
          <a:xfrm>
            <a:off x="1669733" y="584200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13315" name="组合 18"/>
          <p:cNvGrpSpPr/>
          <p:nvPr/>
        </p:nvGrpSpPr>
        <p:grpSpPr>
          <a:xfrm>
            <a:off x="6648133" y="1768475"/>
            <a:ext cx="1263650" cy="3794125"/>
            <a:chOff x="3682471" y="835824"/>
            <a:chExt cx="1263487" cy="3794125"/>
          </a:xfrm>
        </p:grpSpPr>
        <p:sp>
          <p:nvSpPr>
            <p:cNvPr id="78" name="矩形 77"/>
            <p:cNvSpPr/>
            <p:nvPr/>
          </p:nvSpPr>
          <p:spPr>
            <a:xfrm>
              <a:off x="3711042" y="1078712"/>
              <a:ext cx="1199995" cy="3551237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425" name="文本框 112"/>
            <p:cNvSpPr txBox="1"/>
            <p:nvPr/>
          </p:nvSpPr>
          <p:spPr>
            <a:xfrm>
              <a:off x="3682471" y="835824"/>
              <a:ext cx="1263487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的任务堆栈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cxnSp>
          <p:nvCxnSpPr>
            <p:cNvPr id="80" name="直接连接符 79"/>
            <p:cNvCxnSpPr/>
            <p:nvPr/>
          </p:nvCxnSpPr>
          <p:spPr>
            <a:xfrm>
              <a:off x="3701519" y="12787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/>
            <p:cNvCxnSpPr/>
            <p:nvPr/>
          </p:nvCxnSpPr>
          <p:spPr>
            <a:xfrm>
              <a:off x="3701519" y="14993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/>
            <p:nvPr/>
          </p:nvCxnSpPr>
          <p:spPr>
            <a:xfrm>
              <a:off x="3701519" y="17200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701519" y="19407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/>
            <p:cNvCxnSpPr/>
            <p:nvPr/>
          </p:nvCxnSpPr>
          <p:spPr>
            <a:xfrm>
              <a:off x="3701519" y="21613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>
              <a:off x="3701519" y="238204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701519" y="260271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/>
            <p:cNvCxnSpPr/>
            <p:nvPr/>
          </p:nvCxnSpPr>
          <p:spPr>
            <a:xfrm>
              <a:off x="3701519" y="282337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>
            <a:xfrm>
              <a:off x="3701519" y="30440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连接符 88"/>
            <p:cNvCxnSpPr/>
            <p:nvPr/>
          </p:nvCxnSpPr>
          <p:spPr>
            <a:xfrm>
              <a:off x="3701519" y="32646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连接符 89"/>
            <p:cNvCxnSpPr/>
            <p:nvPr/>
          </p:nvCxnSpPr>
          <p:spPr>
            <a:xfrm>
              <a:off x="3701519" y="34853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/>
            <p:nvPr/>
          </p:nvCxnSpPr>
          <p:spPr>
            <a:xfrm>
              <a:off x="3701519" y="37060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/>
            <p:cNvCxnSpPr/>
            <p:nvPr/>
          </p:nvCxnSpPr>
          <p:spPr>
            <a:xfrm>
              <a:off x="3711042" y="39266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39" name="文本框 142"/>
            <p:cNvSpPr txBox="1"/>
            <p:nvPr/>
          </p:nvSpPr>
          <p:spPr>
            <a:xfrm>
              <a:off x="3877734" y="1066011"/>
              <a:ext cx="868362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xPSR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0" name="文本框 143"/>
            <p:cNvSpPr txBox="1"/>
            <p:nvPr/>
          </p:nvSpPr>
          <p:spPr>
            <a:xfrm>
              <a:off x="3965046" y="1285086"/>
              <a:ext cx="61266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Task_b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1" name="文本框 144"/>
            <p:cNvSpPr txBox="1"/>
            <p:nvPr/>
          </p:nvSpPr>
          <p:spPr>
            <a:xfrm>
              <a:off x="3938059" y="1513686"/>
              <a:ext cx="71755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LR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2" name="文本框 145"/>
            <p:cNvSpPr txBox="1"/>
            <p:nvPr/>
          </p:nvSpPr>
          <p:spPr>
            <a:xfrm>
              <a:off x="3919009" y="17216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3" name="文本框 146"/>
            <p:cNvSpPr txBox="1"/>
            <p:nvPr/>
          </p:nvSpPr>
          <p:spPr>
            <a:xfrm>
              <a:off x="3936471" y="2170911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4" name="文本框 154"/>
            <p:cNvSpPr txBox="1"/>
            <p:nvPr/>
          </p:nvSpPr>
          <p:spPr>
            <a:xfrm>
              <a:off x="3925359" y="19597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R3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5" name="文本框 155"/>
            <p:cNvSpPr txBox="1"/>
            <p:nvPr/>
          </p:nvSpPr>
          <p:spPr>
            <a:xfrm>
              <a:off x="3944409" y="24042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6" name="文本框 156"/>
            <p:cNvSpPr txBox="1"/>
            <p:nvPr/>
          </p:nvSpPr>
          <p:spPr>
            <a:xfrm>
              <a:off x="3934884" y="2623349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7" name="文本框 157"/>
            <p:cNvSpPr txBox="1"/>
            <p:nvPr/>
          </p:nvSpPr>
          <p:spPr>
            <a:xfrm>
              <a:off x="3780896" y="2839249"/>
              <a:ext cx="982663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EXC_RETURN</a:t>
              </a:r>
              <a:endParaRPr lang="en-US" altLang="zh-CN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8" name="文本框 158"/>
            <p:cNvSpPr txBox="1"/>
            <p:nvPr/>
          </p:nvSpPr>
          <p:spPr>
            <a:xfrm>
              <a:off x="3899959" y="3074199"/>
              <a:ext cx="79057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9" name="文本框 159"/>
            <p:cNvSpPr txBox="1"/>
            <p:nvPr/>
          </p:nvSpPr>
          <p:spPr>
            <a:xfrm>
              <a:off x="3899959" y="32837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0" name="文本框 160"/>
            <p:cNvSpPr txBox="1"/>
            <p:nvPr/>
          </p:nvSpPr>
          <p:spPr>
            <a:xfrm>
              <a:off x="4060296" y="3485361"/>
              <a:ext cx="46990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… …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1" name="文本框 161"/>
            <p:cNvSpPr txBox="1"/>
            <p:nvPr/>
          </p:nvSpPr>
          <p:spPr>
            <a:xfrm>
              <a:off x="3919009" y="3713961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R5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2" name="文本框 162"/>
            <p:cNvSpPr txBox="1"/>
            <p:nvPr/>
          </p:nvSpPr>
          <p:spPr>
            <a:xfrm>
              <a:off x="3919009" y="3952086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R4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cxnSp>
          <p:nvCxnSpPr>
            <p:cNvPr id="149" name="直接连接符 148"/>
            <p:cNvCxnSpPr/>
            <p:nvPr/>
          </p:nvCxnSpPr>
          <p:spPr>
            <a:xfrm>
              <a:off x="3701519" y="4182274"/>
              <a:ext cx="1209519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54" name="文本框 162"/>
            <p:cNvSpPr txBox="1"/>
            <p:nvPr/>
          </p:nvSpPr>
          <p:spPr>
            <a:xfrm>
              <a:off x="3769947" y="4334912"/>
              <a:ext cx="10823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其他任务栈空间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grpSp>
        <p:nvGrpSpPr>
          <p:cNvPr id="13316" name="组合 21"/>
          <p:cNvGrpSpPr/>
          <p:nvPr/>
        </p:nvGrpSpPr>
        <p:grpSpPr>
          <a:xfrm>
            <a:off x="3743008" y="1762125"/>
            <a:ext cx="2994025" cy="3794125"/>
            <a:chOff x="654944" y="1034655"/>
            <a:chExt cx="2993947" cy="3794125"/>
          </a:xfrm>
        </p:grpSpPr>
        <p:grpSp>
          <p:nvGrpSpPr>
            <p:cNvPr id="15388" name="组合 16"/>
            <p:cNvGrpSpPr/>
            <p:nvPr/>
          </p:nvGrpSpPr>
          <p:grpSpPr>
            <a:xfrm>
              <a:off x="654944" y="1034655"/>
              <a:ext cx="1257300" cy="3794125"/>
              <a:chOff x="537361" y="931072"/>
              <a:chExt cx="1257300" cy="3794125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565935" y="1173960"/>
                <a:ext cx="1200119" cy="3551237"/>
              </a:xfrm>
              <a:prstGeom prst="rect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94" name="文本框 112"/>
              <p:cNvSpPr txBox="1"/>
              <p:nvPr/>
            </p:nvSpPr>
            <p:spPr>
              <a:xfrm>
                <a:off x="537361" y="931072"/>
                <a:ext cx="1257300" cy="26193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任务</a:t>
                </a:r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A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的任务堆栈</a:t>
                </a:r>
                <a:endPara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cxnSp>
            <p:nvCxnSpPr>
              <p:cNvPr id="114" name="直接连接符 113"/>
              <p:cNvCxnSpPr/>
              <p:nvPr/>
            </p:nvCxnSpPr>
            <p:spPr>
              <a:xfrm>
                <a:off x="556411" y="13739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/>
              <p:cNvCxnSpPr/>
              <p:nvPr/>
            </p:nvCxnSpPr>
            <p:spPr>
              <a:xfrm>
                <a:off x="556411" y="15946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/>
              <p:cNvCxnSpPr/>
              <p:nvPr/>
            </p:nvCxnSpPr>
            <p:spPr>
              <a:xfrm>
                <a:off x="556411" y="18153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/>
              <p:cNvCxnSpPr/>
              <p:nvPr/>
            </p:nvCxnSpPr>
            <p:spPr>
              <a:xfrm>
                <a:off x="556411" y="20359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/>
              <p:nvPr/>
            </p:nvCxnSpPr>
            <p:spPr>
              <a:xfrm>
                <a:off x="556411" y="22566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/>
              <p:cNvCxnSpPr/>
              <p:nvPr/>
            </p:nvCxnSpPr>
            <p:spPr>
              <a:xfrm>
                <a:off x="556411" y="247729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连接符 119"/>
              <p:cNvCxnSpPr/>
              <p:nvPr/>
            </p:nvCxnSpPr>
            <p:spPr>
              <a:xfrm>
                <a:off x="556411" y="269796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连接符 120"/>
              <p:cNvCxnSpPr/>
              <p:nvPr/>
            </p:nvCxnSpPr>
            <p:spPr>
              <a:xfrm>
                <a:off x="556411" y="291862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连接符 121"/>
              <p:cNvCxnSpPr/>
              <p:nvPr/>
            </p:nvCxnSpPr>
            <p:spPr>
              <a:xfrm>
                <a:off x="556411" y="31392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>
                <a:off x="556411" y="33599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/>
              <p:cNvCxnSpPr/>
              <p:nvPr/>
            </p:nvCxnSpPr>
            <p:spPr>
              <a:xfrm>
                <a:off x="556411" y="35806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连接符 124"/>
              <p:cNvCxnSpPr/>
              <p:nvPr/>
            </p:nvCxnSpPr>
            <p:spPr>
              <a:xfrm>
                <a:off x="556411" y="38012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/>
              <p:nvPr/>
            </p:nvCxnSpPr>
            <p:spPr>
              <a:xfrm>
                <a:off x="565935" y="40219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08" name="文本框 142"/>
              <p:cNvSpPr txBox="1"/>
              <p:nvPr/>
            </p:nvSpPr>
            <p:spPr>
              <a:xfrm>
                <a:off x="732624" y="1161259"/>
                <a:ext cx="868362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xPSR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09" name="文本框 143"/>
              <p:cNvSpPr txBox="1"/>
              <p:nvPr/>
            </p:nvSpPr>
            <p:spPr>
              <a:xfrm>
                <a:off x="819936" y="1380334"/>
                <a:ext cx="606256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Task_a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0" name="文本框 144"/>
              <p:cNvSpPr txBox="1"/>
              <p:nvPr/>
            </p:nvSpPr>
            <p:spPr>
              <a:xfrm>
                <a:off x="792949" y="1608934"/>
                <a:ext cx="71755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LR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1" name="文本框 145"/>
              <p:cNvSpPr txBox="1"/>
              <p:nvPr/>
            </p:nvSpPr>
            <p:spPr>
              <a:xfrm>
                <a:off x="773899" y="18168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2" name="文本框 146"/>
              <p:cNvSpPr txBox="1"/>
              <p:nvPr/>
            </p:nvSpPr>
            <p:spPr>
              <a:xfrm>
                <a:off x="791361" y="2266159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3" name="文本框 154"/>
              <p:cNvSpPr txBox="1"/>
              <p:nvPr/>
            </p:nvSpPr>
            <p:spPr>
              <a:xfrm>
                <a:off x="780249" y="20550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R3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4" name="文本框 155"/>
              <p:cNvSpPr txBox="1"/>
              <p:nvPr/>
            </p:nvSpPr>
            <p:spPr>
              <a:xfrm>
                <a:off x="799299" y="24995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5" name="文本框 156"/>
              <p:cNvSpPr txBox="1"/>
              <p:nvPr/>
            </p:nvSpPr>
            <p:spPr>
              <a:xfrm>
                <a:off x="789774" y="2718597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6" name="文本框 157"/>
              <p:cNvSpPr txBox="1"/>
              <p:nvPr/>
            </p:nvSpPr>
            <p:spPr>
              <a:xfrm>
                <a:off x="635786" y="2934497"/>
                <a:ext cx="982663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EXC_RETURN</a:t>
                </a:r>
                <a:endPara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7" name="文本框 158"/>
              <p:cNvSpPr txBox="1"/>
              <p:nvPr/>
            </p:nvSpPr>
            <p:spPr>
              <a:xfrm>
                <a:off x="754849" y="3169447"/>
                <a:ext cx="79057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8" name="文本框 159"/>
              <p:cNvSpPr txBox="1"/>
              <p:nvPr/>
            </p:nvSpPr>
            <p:spPr>
              <a:xfrm>
                <a:off x="754849" y="33789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9" name="文本框 160"/>
              <p:cNvSpPr txBox="1"/>
              <p:nvPr/>
            </p:nvSpPr>
            <p:spPr>
              <a:xfrm>
                <a:off x="915186" y="3580609"/>
                <a:ext cx="46990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… …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20" name="文本框 161"/>
              <p:cNvSpPr txBox="1"/>
              <p:nvPr/>
            </p:nvSpPr>
            <p:spPr>
              <a:xfrm>
                <a:off x="773899" y="3809209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R5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21" name="文本框 162"/>
              <p:cNvSpPr txBox="1"/>
              <p:nvPr/>
            </p:nvSpPr>
            <p:spPr>
              <a:xfrm>
                <a:off x="773899" y="4047334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R4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cxnSp>
            <p:nvCxnSpPr>
              <p:cNvPr id="3" name="直接连接符 2"/>
              <p:cNvCxnSpPr/>
              <p:nvPr/>
            </p:nvCxnSpPr>
            <p:spPr>
              <a:xfrm>
                <a:off x="556411" y="4277522"/>
                <a:ext cx="1209643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23" name="文本框 162"/>
              <p:cNvSpPr txBox="1"/>
              <p:nvPr/>
            </p:nvSpPr>
            <p:spPr>
              <a:xfrm>
                <a:off x="624837" y="4430160"/>
                <a:ext cx="1082348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其他任务栈空间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</p:grpSp>
        <p:sp>
          <p:nvSpPr>
            <p:cNvPr id="14" name="右大括号 13"/>
            <p:cNvSpPr/>
            <p:nvPr/>
          </p:nvSpPr>
          <p:spPr>
            <a:xfrm>
              <a:off x="1912211" y="1350568"/>
              <a:ext cx="195257" cy="155733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0" name="文本框 14"/>
            <p:cNvSpPr txBox="1"/>
            <p:nvPr/>
          </p:nvSpPr>
          <p:spPr>
            <a:xfrm>
              <a:off x="2053687" y="2002001"/>
              <a:ext cx="1595204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由硬件自动保存（压栈）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6" name="右大括号 15"/>
            <p:cNvSpPr/>
            <p:nvPr/>
          </p:nvSpPr>
          <p:spPr>
            <a:xfrm>
              <a:off x="1912211" y="3158730"/>
              <a:ext cx="185732" cy="113347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2" name="文本框 151"/>
            <p:cNvSpPr txBox="1"/>
            <p:nvPr/>
          </p:nvSpPr>
          <p:spPr>
            <a:xfrm>
              <a:off x="2082107" y="3587354"/>
              <a:ext cx="1338740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需手动保存（压栈）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24" name="矩形 23"/>
          <p:cNvSpPr/>
          <p:nvPr/>
        </p:nvSpPr>
        <p:spPr>
          <a:xfrm>
            <a:off x="3771583" y="51085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6684645" y="51212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3319" name="组合 29"/>
          <p:cNvGrpSpPr/>
          <p:nvPr/>
        </p:nvGrpSpPr>
        <p:grpSpPr>
          <a:xfrm>
            <a:off x="1768158" y="1752600"/>
            <a:ext cx="1419225" cy="763588"/>
            <a:chOff x="6921572" y="319995"/>
            <a:chExt cx="1419225" cy="763742"/>
          </a:xfrm>
        </p:grpSpPr>
        <p:grpSp>
          <p:nvGrpSpPr>
            <p:cNvPr id="15383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7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</p:grpSp>
        <p:sp>
          <p:nvSpPr>
            <p:cNvPr id="29" name="矩形 28"/>
            <p:cNvSpPr/>
            <p:nvPr/>
          </p:nvSpPr>
          <p:spPr>
            <a:xfrm>
              <a:off x="69660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5" name="文本框 154"/>
            <p:cNvSpPr txBox="1"/>
            <p:nvPr/>
          </p:nvSpPr>
          <p:spPr>
            <a:xfrm>
              <a:off x="6999486" y="693141"/>
              <a:ext cx="1253869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A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231" name="右大括号 230"/>
          <p:cNvSpPr/>
          <p:nvPr/>
        </p:nvSpPr>
        <p:spPr>
          <a:xfrm>
            <a:off x="7919720" y="2105025"/>
            <a:ext cx="195263" cy="1557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1" name="文本框 231"/>
          <p:cNvSpPr txBox="1"/>
          <p:nvPr/>
        </p:nvSpPr>
        <p:spPr>
          <a:xfrm>
            <a:off x="8075295" y="2749550"/>
            <a:ext cx="1595438" cy="2476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由硬件自动恢复（出栈）</a:t>
            </a:r>
            <a:endParaRPr lang="zh-CN" altLang="en-US" sz="10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2" name="文本框 232"/>
          <p:cNvSpPr txBox="1"/>
          <p:nvPr/>
        </p:nvSpPr>
        <p:spPr>
          <a:xfrm>
            <a:off x="8075295" y="4286250"/>
            <a:ext cx="1339850" cy="24606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需手动恢复（出栈）</a:t>
            </a:r>
            <a:endParaRPr lang="zh-CN" altLang="en-US" sz="10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34" name="右大括号 233"/>
          <p:cNvSpPr/>
          <p:nvPr/>
        </p:nvSpPr>
        <p:spPr>
          <a:xfrm>
            <a:off x="7918133" y="3844925"/>
            <a:ext cx="185738" cy="1133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4" name="文本框 1"/>
          <p:cNvSpPr txBox="1"/>
          <p:nvPr/>
        </p:nvSpPr>
        <p:spPr>
          <a:xfrm>
            <a:off x="1728470" y="1473200"/>
            <a:ext cx="1571625" cy="2619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①当前任务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在执行：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5" name="文本框 92"/>
          <p:cNvSpPr txBox="1"/>
          <p:nvPr/>
        </p:nvSpPr>
        <p:spPr>
          <a:xfrm>
            <a:off x="3344545" y="1355725"/>
            <a:ext cx="2003425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②切换至任务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第一步：保存任务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6" name="文本框 93"/>
          <p:cNvSpPr txBox="1"/>
          <p:nvPr/>
        </p:nvSpPr>
        <p:spPr>
          <a:xfrm>
            <a:off x="6181408" y="1355725"/>
            <a:ext cx="2157412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③切换至任务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的寄存器恢复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3327" name="组合 29"/>
          <p:cNvGrpSpPr/>
          <p:nvPr/>
        </p:nvGrpSpPr>
        <p:grpSpPr>
          <a:xfrm>
            <a:off x="9057958" y="1739900"/>
            <a:ext cx="1419225" cy="763588"/>
            <a:chOff x="6921572" y="319995"/>
            <a:chExt cx="1419225" cy="763742"/>
          </a:xfrm>
        </p:grpSpPr>
        <p:grpSp>
          <p:nvGrpSpPr>
            <p:cNvPr id="15378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99" name="矩形 98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2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  <a:endPara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</p:grpSp>
        <p:sp>
          <p:nvSpPr>
            <p:cNvPr id="97" name="矩形 96"/>
            <p:cNvSpPr/>
            <p:nvPr/>
          </p:nvSpPr>
          <p:spPr>
            <a:xfrm>
              <a:off x="69787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0" name="文本框 154"/>
            <p:cNvSpPr txBox="1"/>
            <p:nvPr/>
          </p:nvSpPr>
          <p:spPr>
            <a:xfrm>
              <a:off x="6999486" y="693141"/>
              <a:ext cx="1263487" cy="2616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  <a:endPara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</p:grpSp>
      <p:sp>
        <p:nvSpPr>
          <p:cNvPr id="13328" name="文本框 100"/>
          <p:cNvSpPr txBox="1"/>
          <p:nvPr/>
        </p:nvSpPr>
        <p:spPr>
          <a:xfrm>
            <a:off x="8892858" y="1420813"/>
            <a:ext cx="1771650" cy="26193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④任务切换后的寄存器：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377" name="文本框 1"/>
          <p:cNvSpPr txBox="1"/>
          <p:nvPr/>
        </p:nvSpPr>
        <p:spPr>
          <a:xfrm>
            <a:off x="5679758" y="776288"/>
            <a:ext cx="47196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注意：任务切换的过程在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PendSV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中断服务函数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里边完成</a:t>
            </a:r>
            <a:endParaRPr lang="zh-CN" altLang="en-US" sz="1400" b="1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ldLvl="0" animBg="1"/>
      <p:bldP spid="154" grpId="0" bldLvl="0" animBg="1"/>
      <p:bldP spid="231" grpId="0" bldLvl="0" animBg="1"/>
      <p:bldP spid="13321" grpId="0"/>
      <p:bldP spid="13322" grpId="0"/>
      <p:bldP spid="234" grpId="0" bldLvl="0" animBg="1"/>
      <p:bldP spid="13324" grpId="0"/>
      <p:bldP spid="13325" grpId="0"/>
      <p:bldP spid="13326" grpId="0"/>
      <p:bldP spid="13328" grpId="0"/>
      <p:bldP spid="1537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392" name="文本框 9"/>
          <p:cNvSpPr txBox="1"/>
          <p:nvPr/>
        </p:nvSpPr>
        <p:spPr>
          <a:xfrm>
            <a:off x="1767840" y="1274763"/>
            <a:ext cx="4846638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PendSV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中断是如何触发的？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771015" y="1781175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、滴答定时器中断调用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1" name="文本框 16"/>
          <p:cNvSpPr txBox="1"/>
          <p:nvPr/>
        </p:nvSpPr>
        <p:spPr>
          <a:xfrm>
            <a:off x="1767840" y="227806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、执行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提供的相关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portYIELD()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767840" y="2946400"/>
            <a:ext cx="44386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本质：通过向中断控制和状态寄存器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ICSR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bit28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写入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来启动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6490" y="1327150"/>
            <a:ext cx="4021138" cy="3989388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18" name="文本框 16"/>
          <p:cNvSpPr txBox="1"/>
          <p:nvPr/>
        </p:nvSpPr>
        <p:spPr>
          <a:xfrm>
            <a:off x="1731328" y="4102100"/>
            <a:ext cx="4622800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上表摘取于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《Cortex M3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权威指南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中文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)》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131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页。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301" grpId="0"/>
      <p:bldP spid="15" grpId="0"/>
      <p:bldP spid="1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104" name="文本框 9"/>
          <p:cNvSpPr txBox="1"/>
          <p:nvPr/>
        </p:nvSpPr>
        <p:spPr>
          <a:xfrm>
            <a:off x="1658938" y="142557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任务的挂起与恢复的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2" name="表格 6"/>
          <p:cNvGraphicFramePr>
            <a:graphicFrameLocks noGrp="1"/>
          </p:cNvGraphicFramePr>
          <p:nvPr/>
        </p:nvGraphicFramePr>
        <p:xfrm>
          <a:off x="2054225" y="22748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/>
                <a:gridCol w="2604294"/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8" marR="91428" marT="45722" marB="45722" anchor="ctr"/>
                </a:tc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挂起任务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xTaskResumeFromISR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矩形: 圆角 8"/>
          <p:cNvSpPr/>
          <p:nvPr/>
        </p:nvSpPr>
        <p:spPr>
          <a:xfrm>
            <a:off x="2054225" y="4041775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挂起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2054225" y="5016500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“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FromISR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”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24" name="文本框 2"/>
          <p:cNvSpPr txBox="1"/>
          <p:nvPr/>
        </p:nvSpPr>
        <p:spPr>
          <a:xfrm>
            <a:off x="3565525" y="4071938"/>
            <a:ext cx="57912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挂起任务类似暂停，可恢复； 删除任务，无法恢复，类似“人死两清”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5" name="文本框 16"/>
          <p:cNvSpPr txBox="1"/>
          <p:nvPr/>
        </p:nvSpPr>
        <p:spPr>
          <a:xfrm>
            <a:off x="3556000" y="5016500"/>
            <a:ext cx="45354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带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后缀是在中断函数中专用的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2054225" y="45291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恢复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4127" name="文本框 15"/>
          <p:cNvSpPr txBox="1"/>
          <p:nvPr/>
        </p:nvSpPr>
        <p:spPr>
          <a:xfrm>
            <a:off x="3565525" y="4527550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恢复被挂起的任务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ldLvl="0" animBg="1"/>
      <p:bldP spid="27" grpId="0" bldLvl="0" animBg="1"/>
      <p:bldP spid="4124" grpId="0"/>
      <p:bldP spid="4125" grpId="0"/>
      <p:bldP spid="14" grpId="0" bldLvl="0" animBg="1"/>
      <p:bldP spid="41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8" name="文本框 9"/>
          <p:cNvSpPr txBox="1"/>
          <p:nvPr/>
        </p:nvSpPr>
        <p:spPr>
          <a:xfrm>
            <a:off x="1876108" y="13620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1961833" y="1912938"/>
            <a:ext cx="6537325" cy="3571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961833" y="2490788"/>
          <a:ext cx="6742113" cy="579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/>
                <a:gridCol w="3371056"/>
              </a:tblGrid>
              <a:tr h="30493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  <a:endParaRPr lang="zh-CN" altLang="en-US" sz="1400" dirty="0"/>
                    </a:p>
                  </a:txBody>
                  <a:tcPr marL="91426" marR="91426" marT="45751" marB="4575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751" marB="45751" anchor="ctr"/>
                </a:tc>
              </a:tr>
              <a:tr h="274505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待挂起任务的任务句柄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</a:tr>
            </a:tbl>
          </a:graphicData>
        </a:graphic>
      </p:graphicFrame>
      <p:sp>
        <p:nvSpPr>
          <p:cNvPr id="5141" name="文本框 12"/>
          <p:cNvSpPr txBox="1"/>
          <p:nvPr/>
        </p:nvSpPr>
        <p:spPr>
          <a:xfrm>
            <a:off x="1961833" y="3278188"/>
            <a:ext cx="63373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此函数用于挂起任务，使用时需将宏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 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972945" y="4327525"/>
            <a:ext cx="6424613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en-US" sz="1400" kern="1200" cap="none" spc="0" normalizeH="0" baseline="0" noProof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注意：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，则代表挂起任务自身（当前正在运行的任务）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43" name="文本框 14"/>
          <p:cNvSpPr txBox="1"/>
          <p:nvPr/>
        </p:nvSpPr>
        <p:spPr>
          <a:xfrm>
            <a:off x="1961833" y="3810000"/>
            <a:ext cx="6742112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无论优先级如何，被挂起的任务都将不再被执行，直到任务被恢复 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5141" grpId="0"/>
      <p:bldP spid="14" grpId="0"/>
      <p:bldP spid="514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152" name="文本框 9"/>
          <p:cNvSpPr txBox="1"/>
          <p:nvPr/>
        </p:nvSpPr>
        <p:spPr>
          <a:xfrm>
            <a:off x="1853248" y="1387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任务恢复函数介绍（任务中恢复）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6153" name="文本框 15"/>
          <p:cNvSpPr txBox="1"/>
          <p:nvPr/>
        </p:nvSpPr>
        <p:spPr>
          <a:xfrm>
            <a:off x="1858010" y="1992313"/>
            <a:ext cx="7585075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任务中恢复被挂起函数：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3" name="表格 9"/>
          <p:cNvGraphicFramePr>
            <a:graphicFrameLocks noGrp="1"/>
          </p:cNvGraphicFramePr>
          <p:nvPr/>
        </p:nvGraphicFramePr>
        <p:xfrm>
          <a:off x="1905635" y="2495550"/>
          <a:ext cx="6742114" cy="581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/>
                <a:gridCol w="3371057"/>
              </a:tblGrid>
              <a:tr h="30576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  <a:endParaRPr lang="zh-CN" altLang="en-US" sz="1400" dirty="0"/>
                    </a:p>
                  </a:txBody>
                  <a:tcPr marL="91426" marR="91426" marT="45876" marB="4587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  <a:endParaRPr lang="zh-CN" altLang="en-US" sz="1400" dirty="0"/>
                    </a:p>
                  </a:txBody>
                  <a:tcPr marL="91426" marR="91426" marT="45876" marB="45876" anchor="ctr"/>
                </a:tc>
              </a:tr>
              <a:tr h="27525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000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xTaskToResume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待恢复任务的任务句柄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</a:tr>
            </a:tbl>
          </a:graphicData>
        </a:graphic>
      </p:graphicFrame>
      <p:sp>
        <p:nvSpPr>
          <p:cNvPr id="6166" name="文本框 20"/>
          <p:cNvSpPr txBox="1"/>
          <p:nvPr/>
        </p:nvSpPr>
        <p:spPr>
          <a:xfrm>
            <a:off x="1853248" y="3306763"/>
            <a:ext cx="61737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使用该函数注意宏：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必须定义为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67" name="文本框 22"/>
          <p:cNvSpPr txBox="1"/>
          <p:nvPr/>
        </p:nvSpPr>
        <p:spPr>
          <a:xfrm>
            <a:off x="1853248" y="3770313"/>
            <a:ext cx="840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注意：任务无论被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挂起多少次，只需在任务中调用 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vTakResume()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恢复一次，就可以继续运行。且被恢复的任务会进入就绪态！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3" grpId="0"/>
      <p:bldP spid="6166" grpId="0"/>
      <p:bldP spid="616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>
                <a:sym typeface="+mn-ea"/>
              </a:rPr>
              <a:t>时间管理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时间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管理</a:t>
            </a:r>
            <a:endParaRPr lang="zh-CN" altLang="en-US" sz="1600" i="0">
              <a:solidFill>
                <a:srgbClr val="D92142"/>
              </a:solidFill>
              <a:latin typeface="PingFang SC"/>
              <a:ea typeface="PingFang SC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系统时基（tick）</a:t>
            </a:r>
            <a:br>
              <a:rPr>
                <a:sym typeface="+mn-ea"/>
              </a:rPr>
            </a:br>
            <a:r>
              <a:rPr>
                <a:sym typeface="+mn-ea"/>
              </a:rPr>
              <a:t>vTaskDelay / vTaskDelayUntil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定时器（软件定时器、硬件定时器）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延时的精度与功耗影响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15658" y="1128078"/>
            <a:ext cx="5080000" cy="506730"/>
          </a:xfrm>
          <a:prstGeom prst="rect">
            <a:avLst/>
          </a:prstGeom>
        </p:spPr>
        <p:txBody>
          <a:bodyPr>
            <a:spAutoFit/>
          </a:bodyPr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系统时基 (Tick)</a:t>
            </a:r>
            <a:endParaRPr lang="zh-CN" altLang="en-US" sz="1800" b="1" i="0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20520" y="1918970"/>
            <a:ext cx="7456805" cy="17532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是什么: 由硬件定时器产生的周期性中断，是FreeRTOS调度的时间基准。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驱动任务调度器（时间片轮转）。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实现任务延时 (vTaskDelay等)。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提供软件定时器的计时来源。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配置: configTICK_RATE_HZ in FreeRTOSConfig.h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例如 1000 Hz = 1个Tick是1ms。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延时函数介绍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2"/>
          <p:cNvGraphicFramePr>
            <a:graphicFrameLocks noGrp="1"/>
          </p:cNvGraphicFramePr>
          <p:nvPr/>
        </p:nvGraphicFramePr>
        <p:xfrm>
          <a:off x="1649413" y="1853883"/>
          <a:ext cx="5056188" cy="781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952"/>
                <a:gridCol w="2492235"/>
              </a:tblGrid>
              <a:tr h="2563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  <a:endParaRPr lang="zh-CN" altLang="en-US" sz="1000" dirty="0">
                        <a:solidFill>
                          <a:schemeClr val="bg1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  <a:endParaRPr lang="zh-CN" altLang="en-US" sz="1000" dirty="0">
                        <a:solidFill>
                          <a:schemeClr val="bg1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/>
                </a:tc>
              </a:tr>
              <a:tr h="27416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vTaskDelay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相对延时</a:t>
                      </a:r>
                      <a:endParaRPr lang="zh-CN" alt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</a:tr>
              <a:tr h="25053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xTaskDelayUntil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绝对延时</a:t>
                      </a:r>
                      <a:endParaRPr lang="zh-CN" alt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</a:tr>
            </a:tbl>
          </a:graphicData>
        </a:graphic>
      </p:graphicFrame>
      <p:sp>
        <p:nvSpPr>
          <p:cNvPr id="4119" name="文本框 12"/>
          <p:cNvSpPr txBox="1"/>
          <p:nvPr/>
        </p:nvSpPr>
        <p:spPr>
          <a:xfrm>
            <a:off x="1649413" y="2915920"/>
            <a:ext cx="721836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指每次延时都是从执行函数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开始，直到延时指定的时间结束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0" name="文本框 13"/>
          <p:cNvSpPr txBox="1"/>
          <p:nvPr/>
        </p:nvSpPr>
        <p:spPr>
          <a:xfrm>
            <a:off x="1649413" y="3344545"/>
            <a:ext cx="74945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绝对延时：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指将整个任务的运行周期看成一个整体，适用于需要按照一定频率运行的任务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pic>
        <p:nvPicPr>
          <p:cNvPr id="4121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7988" y="3916045"/>
            <a:ext cx="3951287" cy="1409700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4122" name="文本框 16"/>
          <p:cNvSpPr txBox="1"/>
          <p:nvPr/>
        </p:nvSpPr>
        <p:spPr>
          <a:xfrm>
            <a:off x="5951538" y="4009708"/>
            <a:ext cx="32813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(1)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为任务主体，也就是任务真正要做的工作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3" name="文本框 18"/>
          <p:cNvSpPr txBox="1"/>
          <p:nvPr/>
        </p:nvSpPr>
        <p:spPr>
          <a:xfrm>
            <a:off x="5951538" y="4420870"/>
            <a:ext cx="395128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(2)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是任务函数中调用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vTaskDelayUntil()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对任务进行延时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24" name="文本框 20"/>
          <p:cNvSpPr txBox="1"/>
          <p:nvPr/>
        </p:nvSpPr>
        <p:spPr>
          <a:xfrm>
            <a:off x="5951538" y="4873308"/>
            <a:ext cx="25193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(3)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为其他任务在运行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484630" y="1863725"/>
            <a:ext cx="8387715" cy="261493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硬件定时器: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芯片外设，精度极高，几乎不占用CPU。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用于产生系统Tick、PWM、捕获输入等。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与RTOS无关，中断服务程序(ISR)应保持简短。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FreeRTOS软件定时器: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建立在系统Tick之上，由RTOS内核管理。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创建: xTimerCreate()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启动: xTimerStart() (不要在中断中直接启动！用 xTimerStartFromISR())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回调函数在定时器服务任务中执行，可以调用大多数FreeRTOS API。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使用方便，功能强大。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缺点: 精度受系统Tick限制，回调执行时间受任务调度影响。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定时器：硬件与软件</a:t>
            </a:r>
            <a:endParaRPr lang="zh-CN" altLang="en-US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972628" y="51857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/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创建 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-&gt; 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启动 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-&gt; (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自动运行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...) -&gt; 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停止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/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删除。</a:t>
            </a:r>
            <a:endParaRPr lang="zh-CN" altLang="en-US" sz="1600" b="0" i="0">
              <a:solidFill>
                <a:srgbClr val="0F1115"/>
              </a:solidFill>
              <a:latin typeface="quote-cjk-patch"/>
              <a:ea typeface="quote-cjk-patch"/>
            </a:endParaRPr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842328" y="902653"/>
            <a:ext cx="5080000" cy="506730"/>
          </a:xfrm>
          <a:prstGeom prst="rect">
            <a:avLst/>
          </a:prstGeom>
        </p:spPr>
        <p:txBody>
          <a:bodyPr>
            <a:spAutoFit/>
          </a:bodyPr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关键考量：精度 vs 功耗</a:t>
            </a:r>
            <a:endParaRPr lang="zh-CN" altLang="en-US" sz="1800" b="1" i="0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49985" y="1464945"/>
            <a:ext cx="8414385" cy="255333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高精度 (High Precision):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提高 configTICK_RATE_HZ (如1000Hz -&gt; 1ms Tick)。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延时和定时器分辨率更高，响应更及时。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更频繁的Tick中断 -&gt; CPU功耗增加，更多时间花在上下文切换上。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低功耗 (Low Power):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降低 configTICK_RATE_HZ (如100Hz -&gt; 10ms Tick)，或启用 Tickless Idle 模式。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Tickless模式: 在空闲时暂停Tick中断，让CPU进入深度睡眠，仅在下一个任务到期时唤醒。大幅降低功耗。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延时和定时器的精度会下降，尤其在低Tick频率时。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结论: 没有完美方案，只有根据应用场景的权衡 (Trade-Off)！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49668" y="5279073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电池设备: 优先功耗，使用低Tick频率和Tickless模式。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实时控制: 优先精度，使用高Tick频率。</a:t>
            </a:r>
            <a:endParaRPr lang="zh-CN" altLang="en-US" sz="1400" b="1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>
                <a:sym typeface="+mn-ea"/>
              </a:rPr>
              <a:t>内存管理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内存管理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11563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FreeRTOS 提供的内存管理方案（heap_1 ~ heap_5）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任务栈大小估算栈溢出检测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动态分配 vs 静态分配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内存碎片与泄漏问题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104" name="文本框 9"/>
          <p:cNvSpPr txBox="1"/>
          <p:nvPr/>
        </p:nvSpPr>
        <p:spPr>
          <a:xfrm>
            <a:off x="1403668" y="129540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21180" y="1835150"/>
            <a:ext cx="7786688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在使用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创建任务、队列、信号量等对象的时，一般都提供了两种方法：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7" name="文本框 27"/>
          <p:cNvSpPr txBox="1"/>
          <p:nvPr/>
        </p:nvSpPr>
        <p:spPr>
          <a:xfrm>
            <a:off x="3535680" y="2255838"/>
            <a:ext cx="6816725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自动地从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管理的内存堆中申请创建对象所需的内存，并且在对象删除后，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可将这块内存释放回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1930718" y="2432050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① 动态方法创建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1930718" y="3233738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② 静态方法创建 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0" name="文本框 27"/>
          <p:cNvSpPr txBox="1"/>
          <p:nvPr/>
        </p:nvSpPr>
        <p:spPr>
          <a:xfrm>
            <a:off x="3535680" y="3052763"/>
            <a:ext cx="6742113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需用户提供各种内存空间，并且使用静态方式占用的内存空间一般固定下来了，即使任务、队列等被删除后，这些被占用的内存空间一般没有其他用途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0" name="文本框 21"/>
          <p:cNvSpPr txBox="1"/>
          <p:nvPr/>
        </p:nvSpPr>
        <p:spPr>
          <a:xfrm>
            <a:off x="1821180" y="4086225"/>
            <a:ext cx="64976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动态方式管理内存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相比与静态方式，更加灵活。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7" grpId="0" bldLvl="0" animBg="1"/>
      <p:bldP spid="19" grpId="0" bldLvl="0" animBg="1"/>
      <p:bldP spid="20" grpId="0"/>
      <p:bldP spid="41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8" name="文本框 9"/>
          <p:cNvSpPr txBox="1"/>
          <p:nvPr/>
        </p:nvSpPr>
        <p:spPr>
          <a:xfrm>
            <a:off x="1479868" y="134112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97380" y="1880870"/>
            <a:ext cx="80216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除了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提供的动态内存管理方法，标准的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库也提供了函数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malloc()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来实现动态地申请和释放内存 。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"/>
          <p:cNvSpPr txBox="1"/>
          <p:nvPr/>
        </p:nvSpPr>
        <p:spPr>
          <a:xfrm>
            <a:off x="1897380" y="2577783"/>
            <a:ext cx="4378325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疑问：为啥不用标准的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库自带的内存管理算法？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1" name="文本框 13"/>
          <p:cNvSpPr txBox="1"/>
          <p:nvPr/>
        </p:nvSpPr>
        <p:spPr>
          <a:xfrm>
            <a:off x="1897380" y="300482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因为标准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库的动态内存管理方法有如下几个缺点：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2" name="文本框 14"/>
          <p:cNvSpPr txBox="1"/>
          <p:nvPr/>
        </p:nvSpPr>
        <p:spPr>
          <a:xfrm>
            <a:off x="1897380" y="3430270"/>
            <a:ext cx="53308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占用大量的代码空间 不适合用在资源紧缺的嵌入式系统中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3" name="文本框 15"/>
          <p:cNvSpPr txBox="1"/>
          <p:nvPr/>
        </p:nvSpPr>
        <p:spPr>
          <a:xfrm>
            <a:off x="1897380" y="3793808"/>
            <a:ext cx="62134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没有线程安全的相关机制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4" name="文本框 16"/>
          <p:cNvSpPr txBox="1"/>
          <p:nvPr/>
        </p:nvSpPr>
        <p:spPr>
          <a:xfrm>
            <a:off x="1897380" y="4158933"/>
            <a:ext cx="5497513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运行有不确定性，每次调用这些函数时花费的时间可能都不相同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5" name="文本框 18"/>
          <p:cNvSpPr txBox="1"/>
          <p:nvPr/>
        </p:nvSpPr>
        <p:spPr>
          <a:xfrm>
            <a:off x="1897380" y="452247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内存碎片化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6" name="文本框 19"/>
          <p:cNvSpPr txBox="1"/>
          <p:nvPr/>
        </p:nvSpPr>
        <p:spPr>
          <a:xfrm>
            <a:off x="2165668" y="4886008"/>
            <a:ext cx="462121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… …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7" name="文本框 21"/>
          <p:cNvSpPr txBox="1"/>
          <p:nvPr/>
        </p:nvSpPr>
        <p:spPr>
          <a:xfrm>
            <a:off x="1897380" y="5157470"/>
            <a:ext cx="857726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因此，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提供了多种动态内存管理的算法，可针对不同的嵌入式系统！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13" grpId="0"/>
      <p:bldP spid="5131" grpId="0"/>
      <p:bldP spid="5132" grpId="0"/>
      <p:bldP spid="5133" grpId="0"/>
      <p:bldP spid="5134" grpId="0"/>
      <p:bldP spid="5135" grpId="0"/>
      <p:bldP spid="5136" grpId="0"/>
      <p:bldP spid="5137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373063" y="1095058"/>
            <a:ext cx="5080000" cy="1476375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局的、动态的、生命周期可控的内存空间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。当你需要在多个函数间共享一块数据，或者需要的数据大小在编译时无法确定（比如根据用户输入决定数组大小），就必须使用堆。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401118" y="946150"/>
            <a:ext cx="5080000" cy="2491740"/>
          </a:xfrm>
          <a:prstGeom prst="rect">
            <a:avLst/>
          </a:prstGeom>
        </p:spPr>
        <p:txBody>
          <a:bodyPr>
            <a:spAutoFit/>
          </a:bodyPr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  <a:endParaRPr lang="zh-CN" altLang="en-US" sz="1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维护函数调用的上下文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。每当调用一个函数时，系统会在栈上为其分配一块称为 “栈帧 (Stack Frame)” 的内存区域，用于存放：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  <a:endParaRPr lang="zh-CN" altLang="en-US" sz="14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152" name="文本框 9"/>
          <p:cNvSpPr txBox="1"/>
          <p:nvPr/>
        </p:nvSpPr>
        <p:spPr>
          <a:xfrm>
            <a:off x="1222693" y="123698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"/>
          <p:cNvSpPr txBox="1"/>
          <p:nvPr/>
        </p:nvSpPr>
        <p:spPr>
          <a:xfrm>
            <a:off x="1548130" y="1870393"/>
            <a:ext cx="87709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种动态内存管理算法，分别为：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heap_1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。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如下所示：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629093" y="2722880"/>
          <a:ext cx="7361238" cy="1731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291"/>
                <a:gridCol w="2885777"/>
                <a:gridCol w="3438170"/>
              </a:tblGrid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算法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优点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缺点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heap_1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分配简单，时间确定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只允许申请内存，不允许释放内存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heap_2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允许申请和释放内存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不能合并相邻的空闲内存块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会产生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碎片、时间不定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heap_3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直接调用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库函数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malloc()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和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free()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，简单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速度慢、时间不定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heap_4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相邻空闲内存可合并，减少内存碎片的产生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heap_5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能够管理多个非连续内存区域的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heap_4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</a:tr>
            </a:tbl>
          </a:graphicData>
        </a:graphic>
      </p:graphicFrame>
      <p:sp>
        <p:nvSpPr>
          <p:cNvPr id="6184" name="文本框 2"/>
          <p:cNvSpPr txBox="1"/>
          <p:nvPr/>
        </p:nvSpPr>
        <p:spPr>
          <a:xfrm>
            <a:off x="1548130" y="4724718"/>
            <a:ext cx="6280150" cy="3067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内存管理算法最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常用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618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296" name="文本框 9"/>
          <p:cNvSpPr txBox="1"/>
          <p:nvPr/>
        </p:nvSpPr>
        <p:spPr>
          <a:xfrm>
            <a:off x="1603058" y="12890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077720" y="22971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08114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08114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408114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4092258" y="4056063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4081145" y="3719513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4081145" y="3381375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4092258" y="3060700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2090420" y="2297113"/>
            <a:ext cx="752475" cy="242887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未分配的内存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8224520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8224520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8224520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8224520" y="3392488"/>
            <a:ext cx="752475" cy="10096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8224520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7" name="箭头: 右 66"/>
          <p:cNvSpPr/>
          <p:nvPr/>
        </p:nvSpPr>
        <p:spPr>
          <a:xfrm>
            <a:off x="2868295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8" name="箭头: 右 67"/>
          <p:cNvSpPr/>
          <p:nvPr/>
        </p:nvSpPr>
        <p:spPr>
          <a:xfrm>
            <a:off x="4863783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3" name="文本框 68"/>
          <p:cNvSpPr txBox="1"/>
          <p:nvPr/>
        </p:nvSpPr>
        <p:spPr>
          <a:xfrm>
            <a:off x="2906395" y="3194050"/>
            <a:ext cx="1108075" cy="2778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多次分配内存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14" name="文本框 69"/>
          <p:cNvSpPr txBox="1"/>
          <p:nvPr/>
        </p:nvSpPr>
        <p:spPr>
          <a:xfrm>
            <a:off x="4879658" y="3186113"/>
            <a:ext cx="110807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多次释放内存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1" name="右大括号 70"/>
          <p:cNvSpPr/>
          <p:nvPr/>
        </p:nvSpPr>
        <p:spPr>
          <a:xfrm>
            <a:off x="8988108" y="3378200"/>
            <a:ext cx="223838" cy="1020763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6" name="文本框 71"/>
          <p:cNvSpPr txBox="1"/>
          <p:nvPr/>
        </p:nvSpPr>
        <p:spPr>
          <a:xfrm>
            <a:off x="9211945" y="3676650"/>
            <a:ext cx="1436688" cy="4302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相邻空闲内存合并成一个大空闲内存</a:t>
            </a:r>
            <a:endParaRPr lang="zh-CN" altLang="en-US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613219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613219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3219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132195" y="4065588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132195" y="3719513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132195" y="3381375"/>
            <a:ext cx="752475" cy="3381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6132195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80" name="右大括号 79"/>
          <p:cNvSpPr/>
          <p:nvPr/>
        </p:nvSpPr>
        <p:spPr>
          <a:xfrm>
            <a:off x="6895783" y="3378200"/>
            <a:ext cx="136525" cy="111125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5" name="文本框 80"/>
          <p:cNvSpPr txBox="1"/>
          <p:nvPr/>
        </p:nvSpPr>
        <p:spPr>
          <a:xfrm>
            <a:off x="7006908" y="3579813"/>
            <a:ext cx="368300" cy="708025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内存碎片</a:t>
            </a:r>
            <a:endParaRPr lang="zh-CN" altLang="en-US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2" name="箭头: 右 81"/>
          <p:cNvSpPr/>
          <p:nvPr/>
        </p:nvSpPr>
        <p:spPr>
          <a:xfrm>
            <a:off x="6960870" y="3289300"/>
            <a:ext cx="1243013" cy="1555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7" name="文本框 82"/>
          <p:cNvSpPr txBox="1"/>
          <p:nvPr/>
        </p:nvSpPr>
        <p:spPr>
          <a:xfrm>
            <a:off x="1990408" y="1852613"/>
            <a:ext cx="8408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内存管理算法会把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相邻的空闲内存合并为一个更大的空闲内存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，这有助于减少内存的碎片问题。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28" name="文本框 83"/>
          <p:cNvSpPr txBox="1"/>
          <p:nvPr/>
        </p:nvSpPr>
        <p:spPr>
          <a:xfrm>
            <a:off x="7198995" y="3055938"/>
            <a:ext cx="7112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23"/>
          <p:cNvSpPr txBox="1"/>
          <p:nvPr/>
        </p:nvSpPr>
        <p:spPr>
          <a:xfrm>
            <a:off x="1990408" y="4922838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适用于这种场景：频繁地分配、释放不同大小的内存。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2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2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2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2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ldLvl="0" animBg="1"/>
      <p:bldP spid="52" grpId="0" bldLvl="0" animBg="1"/>
      <p:bldP spid="53" grpId="0" bldLvl="0" animBg="1"/>
      <p:bldP spid="54" grpId="0" bldLvl="0" animBg="1"/>
      <p:bldP spid="55" grpId="0" bldLvl="0" animBg="1"/>
      <p:bldP spid="56" grpId="0" bldLvl="0" animBg="1"/>
      <p:bldP spid="57" grpId="0" bldLvl="0" animBg="1"/>
      <p:bldP spid="58" grpId="0" bldLvl="0" animBg="1"/>
      <p:bldP spid="59" grpId="0" bldLvl="0" animBg="1"/>
      <p:bldP spid="60" grpId="0" bldLvl="0" animBg="1"/>
      <p:bldP spid="61" grpId="0" bldLvl="0" animBg="1"/>
      <p:bldP spid="62" grpId="0" bldLvl="0" animBg="1"/>
      <p:bldP spid="63" grpId="0" bldLvl="0" animBg="1"/>
      <p:bldP spid="66" grpId="0" bldLvl="0" animBg="1"/>
      <p:bldP spid="67" grpId="0" bldLvl="0" animBg="1"/>
      <p:bldP spid="68" grpId="0" bldLvl="0" animBg="1"/>
      <p:bldP spid="12313" grpId="0"/>
      <p:bldP spid="12314" grpId="0"/>
      <p:bldP spid="71" grpId="0" bldLvl="0" animBg="1"/>
      <p:bldP spid="12316" grpId="0"/>
      <p:bldP spid="73" grpId="0" bldLvl="0" animBg="1"/>
      <p:bldP spid="74" grpId="0" bldLvl="0" animBg="1"/>
      <p:bldP spid="75" grpId="0" bldLvl="0" animBg="1"/>
      <p:bldP spid="76" grpId="0" bldLvl="0" animBg="1"/>
      <p:bldP spid="77" grpId="0" bldLvl="0" animBg="1"/>
      <p:bldP spid="78" grpId="0" bldLvl="0" animBg="1"/>
      <p:bldP spid="79" grpId="0" bldLvl="0" animBg="1"/>
      <p:bldP spid="80" grpId="0" bldLvl="0" animBg="1"/>
      <p:bldP spid="12325" grpId="0"/>
      <p:bldP spid="82" grpId="0" bldLvl="0" animBg="1"/>
      <p:bldP spid="12327" grpId="0"/>
      <p:bldP spid="12328" grpId="0"/>
      <p:bldP spid="4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320" name="文本框 9"/>
          <p:cNvSpPr txBox="1"/>
          <p:nvPr/>
        </p:nvSpPr>
        <p:spPr>
          <a:xfrm>
            <a:off x="1385888" y="13271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321" name="文本框 12"/>
          <p:cNvSpPr txBox="1"/>
          <p:nvPr/>
        </p:nvSpPr>
        <p:spPr>
          <a:xfrm>
            <a:off x="1770063" y="1893888"/>
            <a:ext cx="84645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内存管理算法是在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内存管理算法的基础上实现的，但是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内存管理算法的基础上实现了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管理多个非连续内存区域的能力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322" name="文本框 13"/>
          <p:cNvSpPr txBox="1"/>
          <p:nvPr/>
        </p:nvSpPr>
        <p:spPr>
          <a:xfrm>
            <a:off x="1770063" y="2701925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内存管理算法默认并没有定义内存堆 ， 需要用户手动指定内存区域的信息，对其进行初始化。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pSp>
        <p:nvGrpSpPr>
          <p:cNvPr id="13323" name="组合 14"/>
          <p:cNvGrpSpPr/>
          <p:nvPr/>
        </p:nvGrpSpPr>
        <p:grpSpPr>
          <a:xfrm>
            <a:off x="1830705" y="3876675"/>
            <a:ext cx="8544560" cy="2030095"/>
            <a:chOff x="387350" y="843642"/>
            <a:chExt cx="6800462" cy="2029783"/>
          </a:xfrm>
        </p:grpSpPr>
        <p:sp>
          <p:nvSpPr>
            <p:cNvPr id="13326" name="文本框 15"/>
            <p:cNvSpPr txBox="1"/>
            <p:nvPr/>
          </p:nvSpPr>
          <p:spPr>
            <a:xfrm>
              <a:off x="461576" y="843642"/>
              <a:ext cx="6726236" cy="2029783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</a:t>
              </a:r>
              <a:b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uint8_t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* 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pucStartAddress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内存区域的起始地址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size_t 	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xSizeInBytes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内存区域的大小，单位：字节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}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b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387350" y="843642"/>
              <a:ext cx="6368687" cy="144943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1736725" y="3554413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使用如下结构体：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1" grpId="0"/>
      <p:bldP spid="13322" grpId="0"/>
      <p:bldP spid="1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14375" y="781685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任务栈大小估算</a:t>
            </a:r>
            <a:endParaRPr lang="zh-CN" altLang="en-US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0585" y="1197610"/>
            <a:ext cx="10231120" cy="76835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核心原则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堆栈分配的核心是在 “内存资源紧张” 和 “运行稳定性” 之间找到平衡。分配过小会导致堆栈溢出，系统崩溃；分配过大会浪费宝贵的RAM资源。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70585" y="2075180"/>
            <a:ext cx="10303510" cy="42614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影响任务堆栈大小的主要因素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计算一个任务需要多少堆栈，需要考虑以下所有开销的总和：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函数调用深度 (Call Nesting Depth)：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这是最大的影响因素。任务从入口函数开始，调用函数A，A再调用函数B，B再调用函数C... 每一层调用都会将返回地址、参数等压栈。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提示：代码结构越复杂，调用层次越深，需要的堆栈越大。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局部变量 (Local Variables)：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任务函数及其所有子函数中声明的局部变量（尤其是大型数组或结构体）都存储在堆栈上。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重要：避免在栈上分配大型数据结构（如 char buffer[1024]），改用静态变量或从堆分配。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中断上下文保存 (Context Saving)：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发生中断时，处理器会将当前任务的状态（寄存器值）压入当前运行任务的堆栈。这意味着即使是一个简单的任务，如果它运行时发生了频繁且复杂的中断，其堆栈使用量也会显著增加。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中断越复杂，需要保存的寄存器越多，堆栈开销越大。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自身开销 (RTOS Overhead)：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在任务切换时，FreeRTOS 需要保存剩余CPU寄存器的状态到任务堆栈。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 Cortex-M 内核，一次完整的上下文切换通常需要 ~500 字节 的堆栈空间（具体取决于端口和FPU是否启用）。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此外，使用 osDelay(), xQueueSend() 等API函数也会产生一定的调用开销。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对齐要求 (Alignment)：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为了满足处理器的内存对齐要求，堆栈指针可能会自动调整，这可能会造成一些微小的浪费。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90525" y="224155"/>
            <a:ext cx="11405870" cy="64008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确定堆栈大小的实践方法</a:t>
            </a:r>
            <a:endParaRPr lang="en-US" altLang="zh-CN" sz="2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不要盲目猜测，应采用以下科学方法：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1. 理论估算 (初步估算)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查看编译器的 Map 文件。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找到你的任务函数及其调用的所有函数，检查它们的帧大小 (Frame Size)。将它们相加，得到一个粗略的底限。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公式：总堆栈需求 ≈ (最深层调用路径上所有函数帧大小之和) + (中断保存开销) + (安全边际)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这是一个起点，但非常不准确，因为它无法计算指针引用、动态深度等。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2. 经验值 (快速启动)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对于简单的 LED闪烁、按键扫描 等任务，可以从 128 ~ 256 字节 开始。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对于中等复杂的任务（如处理串口数据），可以从 256 ~ 512 字节 开始。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对于复杂的任务（如运行加密算法、文件系统），可能需要 1KB ~ 4KB甚至更多。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注意：这只是一个非常粗略的参考，必须通过后续方法进行验证。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3. 实验测量 (最可靠的方法) - 强烈推荐</a:t>
            </a:r>
            <a:endParaRPr lang="en-US" altLang="zh-CN" sz="12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提供了极好的运行时堆栈使用量检测工具。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uxTaskGetStackHighWaterMark() 函数：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工作原理：FreeRTOS 在任务运行时会将堆栈空间初始化为一个已知值（如 0xA5）。这个函数会从堆栈末尾开始向上检查，找到从未被覆盖过的最大连续内存区域。这个值就是所谓的“高水位线”(High Water Mark)。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含义：“高水位线”告诉你任务从创建以来，最多的时候 使用了多少堆栈空间。(分配的堆栈总大小) - (高水位线) = 任务曾达到的最大使用量。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457200" lvl="2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如何使用：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在任务循环中调用此函数。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通过串口打印出水位数。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让系统充分运行，执行所有可能的业务流程和中断。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观察打印出的最小值，这就是该任务需要的 最大堆栈空间。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安全边际：根据测量到的最大值，额外增加</a:t>
            </a: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20% ~ 30% </a:t>
            </a:r>
            <a:r>
              <a:rPr lang="zh-CN" altLang="en-US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作为安全边际，以防止未测试到的边界情况。</a:t>
            </a:r>
            <a:endParaRPr lang="zh-CN" altLang="en-US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25195" y="1195705"/>
            <a:ext cx="8693150" cy="24765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启用 FreeRTOS 的堆栈溢出检测功能</a:t>
            </a:r>
            <a:endParaRPr lang="en-US" altLang="zh-CN" sz="240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这是一个极其重要的安全特性，强烈建议在开发阶段启用。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 FreeRTOSConfig.h 中定义 configCHECK_FOR_STACK_OVERFLOW：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0：不检测（默认）。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1：检测方法1。在任务切换时检查堆栈指针是否超出有效范围。成本低，但只能在上下文切换时捕获溢出。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2：检测方法2。任务创建时在堆栈顶部填充一个已知模式（校验和），在切换时检查该模式是否被破坏。这种方法能捕获到堆栈溢出对数据的破坏，更有效但成本稍高。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注意：一旦检测到溢出，会触发 vApplicationStackOverflowHook 回调函数，你可以在其中进行错误处理（如打印错误信息、重启系统）。</a:t>
            </a:r>
            <a:endParaRPr lang="en-US" altLang="zh-CN" sz="1200" b="0" i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>
                <a:sym typeface="+mn-ea"/>
              </a:rPr>
              <a:t>任务间通信与同步</a:t>
            </a:r>
            <a:endParaRPr lang="en-US"/>
          </a:p>
        </p:txBody>
      </p:sp>
    </p:spTree>
    <p:custDataLst>
      <p:tags r:id="rId2"/>
    </p:custData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任务间通信与同步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>
                <a:sym typeface="+mn-ea"/>
              </a:rPr>
              <a:t>中断</a:t>
            </a:r>
            <a:r>
              <a:rPr lang="zh-CN">
                <a:sym typeface="+mn-ea"/>
              </a:rPr>
              <a:t>管理</a:t>
            </a:r>
            <a:endParaRPr lang="zh-CN"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chemeClr val="bg2"/>
                </a:solidFill>
                <a:latin typeface="PingFang SC"/>
                <a:ea typeface="PingFang SC"/>
                <a:sym typeface="+mn-ea"/>
              </a:rPr>
              <a:t>中断</a:t>
            </a:r>
            <a:r>
              <a:rPr lang="zh-CN" altLang="en-US" sz="1600" i="0">
                <a:solidFill>
                  <a:schemeClr val="bg2"/>
                </a:solidFill>
                <a:latin typeface="PingFang SC"/>
                <a:ea typeface="PingFang SC"/>
                <a:sym typeface="+mn-ea"/>
              </a:rPr>
              <a:t>管理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>
                <a:sym typeface="+mn-ea"/>
              </a:rPr>
              <a:t>钩子</a:t>
            </a:r>
            <a:r>
              <a:rPr lang="zh-CN">
                <a:sym typeface="+mn-ea"/>
              </a:rPr>
              <a:t>函数</a:t>
            </a:r>
            <a:endParaRPr lang="zh-CN"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sz="1600">
                <a:solidFill>
                  <a:schemeClr val="bg2"/>
                </a:solidFill>
                <a:sym typeface="+mn-ea"/>
              </a:rPr>
              <a:t>钩子</a:t>
            </a:r>
            <a:r>
              <a:rPr lang="zh-CN" sz="1600">
                <a:solidFill>
                  <a:schemeClr val="bg2"/>
                </a:solidFill>
                <a:sym typeface="+mn-ea"/>
              </a:rPr>
              <a:t>函数</a:t>
            </a:r>
            <a:endParaRPr lang="zh-CN" sz="1600">
              <a:solidFill>
                <a:schemeClr val="bg2"/>
              </a:solidFill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UNIT_TYPE" val="i"/>
  <p:tag name="KSO_WM_UNIT_INDEX" val="2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28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30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1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2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9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5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CATEGORY" val="custom"/>
  <p:tag name="KSO_WM_TEMPLATE_INDEX" val="20230980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40"/>
  <p:tag name="KSO_WM_UNIT_TYPE" val="f"/>
  <p:tag name="KSO_WM_UNIT_INDEX" val="1"/>
  <p:tag name="KSO_WM_TEMPLATE_CATEGORY" val="custom"/>
  <p:tag name="KSO_WM_TEMPLATE_INDEX" val="20230980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980"/>
  <p:tag name="KSO_WM_TEMPLATE_THUMBS_INDEX" val="1、9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0980_4*l_h_i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7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0980_4*l_h_a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0980_4*l_h_i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0980_4*l_h_a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0980_4*l_h_i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0980_4*l_h_a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3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95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97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98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99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0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1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2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3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4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5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6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7.xml><?xml version="1.0" encoding="utf-8"?>
<p:tagLst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8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09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0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1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2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3.xml><?xml version="1.0" encoding="utf-8"?>
<p:tagLst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4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15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16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17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18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19.xml><?xml version="1.0" encoding="utf-8"?>
<p:tagLst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1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3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5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7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9.xml><?xml version="1.0" encoding="utf-8"?>
<p:tagLst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heme/theme1.xml><?xml version="1.0" encoding="utf-8"?>
<a:theme xmlns:a="http://schemas.openxmlformats.org/drawingml/2006/main" name="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主题字体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accent1"/>
            </a:solidFill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16504</Words>
  <Application>WPS 演示</Application>
  <PresentationFormat>自定义</PresentationFormat>
  <Paragraphs>1276</Paragraphs>
  <Slides>71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71</vt:i4>
      </vt:variant>
    </vt:vector>
  </HeadingPairs>
  <TitlesOfParts>
    <vt:vector size="100" baseType="lpstr">
      <vt:lpstr>Arial</vt:lpstr>
      <vt:lpstr>宋体</vt:lpstr>
      <vt:lpstr>Wingdings</vt:lpstr>
      <vt:lpstr>Lucida Sans</vt:lpstr>
      <vt:lpstr>Lucida Sans Unicode</vt:lpstr>
      <vt:lpstr>Calibri</vt:lpstr>
      <vt:lpstr>微软雅黑</vt:lpstr>
      <vt:lpstr>Times New Roman</vt:lpstr>
      <vt:lpstr>冬青黑体简体中文 W6</vt:lpstr>
      <vt:lpstr>黑体</vt:lpstr>
      <vt:lpstr>仿宋</vt:lpstr>
      <vt:lpstr>PingFang SC</vt:lpstr>
      <vt:lpstr>Segoe Print</vt:lpstr>
      <vt:lpstr>Arial Unicode MS</vt:lpstr>
      <vt:lpstr>思源黑体 CN Bold</vt:lpstr>
      <vt:lpstr>思源黑体 CN Normal</vt:lpstr>
      <vt:lpstr>等线</vt:lpstr>
      <vt:lpstr>Candara</vt:lpstr>
      <vt:lpstr>CourierNewPSMT</vt:lpstr>
      <vt:lpstr>Courier New</vt:lpstr>
      <vt:lpstr>思源黑体 CN Normal</vt:lpstr>
      <vt:lpstr>quote-cjk-patch</vt:lpstr>
      <vt:lpstr>思源黑体 CN Regular</vt:lpstr>
      <vt:lpstr>Arial</vt:lpstr>
      <vt:lpstr>var(--ds-font-family-code)</vt:lpstr>
      <vt:lpstr>Default Design</vt:lpstr>
      <vt:lpstr>自定义设计方案</vt:lpstr>
      <vt:lpstr>1_Default Design</vt:lpstr>
      <vt:lpstr>Office 主题​​</vt:lpstr>
      <vt:lpstr>PowerPoint 演示文稿</vt:lpstr>
      <vt:lpstr>PowerPoint 演示文稿</vt:lpstr>
      <vt:lpstr>FreeRTOS</vt:lpstr>
      <vt:lpstr>RTOS 基本概念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任务与调度机制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时间管理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内存管理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任务间通信与同步</vt:lpstr>
      <vt:lpstr>PowerPoint 演示文稿</vt:lpstr>
      <vt:lpstr>中断管理</vt:lpstr>
      <vt:lpstr>PowerPoint 演示文稿</vt:lpstr>
      <vt:lpstr>钩子函数</vt:lpstr>
      <vt:lpstr>PowerPoint 演示文稿</vt:lpstr>
    </vt:vector>
  </TitlesOfParts>
  <Company>Washington State University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Marketing</dc:creator>
  <cp:lastModifiedBy>企业用户_250283367</cp:lastModifiedBy>
  <cp:revision>695</cp:revision>
  <cp:lastPrinted>2014-04-21T18:27:00Z</cp:lastPrinted>
  <dcterms:created xsi:type="dcterms:W3CDTF">2001-10-04T20:08:00Z</dcterms:created>
  <dcterms:modified xsi:type="dcterms:W3CDTF">2025-09-06T13:24:42Z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C3CCAF5F06344E72BC95475314ED453F_12</vt:lpwstr>
  </property>
  <property fmtid="{D5CDD505-2E9C-101B-9397-08002B2CF9AE}" pid="3" name="KSOProductBuildVer">
    <vt:lpwstr>2052-12.1.0.22529</vt:lpwstr>
  </property>
</Properties>
</file>